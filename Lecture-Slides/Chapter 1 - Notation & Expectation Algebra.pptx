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  <p:sldId id="285" r:id="rId5"/>
    <p:sldId id="286" r:id="rId6"/>
    <p:sldId id="287" r:id="rId7"/>
    <p:sldId id="288" r:id="rId8"/>
    <p:sldId id="297" r:id="rId9"/>
    <p:sldId id="289" r:id="rId10"/>
    <p:sldId id="299" r:id="rId11"/>
    <p:sldId id="298" r:id="rId12"/>
    <p:sldId id="260" r:id="rId13"/>
    <p:sldId id="290" r:id="rId14"/>
    <p:sldId id="291" r:id="rId15"/>
    <p:sldId id="292" r:id="rId16"/>
    <p:sldId id="293" r:id="rId17"/>
    <p:sldId id="294" r:id="rId18"/>
    <p:sldId id="295" r:id="rId19"/>
    <p:sldId id="261" r:id="rId20"/>
    <p:sldId id="263" r:id="rId21"/>
    <p:sldId id="275" r:id="rId22"/>
    <p:sldId id="276" r:id="rId23"/>
    <p:sldId id="277" r:id="rId24"/>
    <p:sldId id="302" r:id="rId25"/>
    <p:sldId id="300" r:id="rId26"/>
    <p:sldId id="279" r:id="rId27"/>
    <p:sldId id="301" r:id="rId28"/>
    <p:sldId id="281" r:id="rId29"/>
    <p:sldId id="282" r:id="rId30"/>
    <p:sldId id="283" r:id="rId31"/>
    <p:sldId id="311" r:id="rId32"/>
    <p:sldId id="262" r:id="rId33"/>
    <p:sldId id="274" r:id="rId34"/>
    <p:sldId id="264" r:id="rId35"/>
    <p:sldId id="265" r:id="rId36"/>
    <p:sldId id="266" r:id="rId37"/>
    <p:sldId id="305" r:id="rId38"/>
    <p:sldId id="268" r:id="rId39"/>
    <p:sldId id="267" r:id="rId40"/>
    <p:sldId id="269" r:id="rId41"/>
    <p:sldId id="270" r:id="rId42"/>
    <p:sldId id="304" r:id="rId43"/>
    <p:sldId id="271" r:id="rId44"/>
    <p:sldId id="272" r:id="rId45"/>
    <p:sldId id="273" r:id="rId46"/>
    <p:sldId id="307" r:id="rId47"/>
    <p:sldId id="296" r:id="rId48"/>
    <p:sldId id="312" r:id="rId4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061" autoAdjust="0"/>
  </p:normalViewPr>
  <p:slideViewPr>
    <p:cSldViewPr snapToGrid="0">
      <p:cViewPr varScale="1">
        <p:scale>
          <a:sx n="70" d="100"/>
          <a:sy n="70" d="100"/>
        </p:scale>
        <p:origin x="738" y="4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815026246719161"/>
          <c:y val="0.1111111111111111"/>
          <c:w val="0.81229418197725289"/>
          <c:h val="0.68331802274715658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Sheet1!$I$1</c:f>
              <c:strCache>
                <c:ptCount val="1"/>
                <c:pt idx="0">
                  <c:v>Y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rgbClr val="FF0000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xVal>
            <c:numRef>
              <c:f>Sheet1!$H$2:$H$101</c:f>
              <c:numCache>
                <c:formatCode>General</c:formatCode>
                <c:ptCount val="100"/>
                <c:pt idx="0">
                  <c:v>12</c:v>
                </c:pt>
                <c:pt idx="1">
                  <c:v>89</c:v>
                </c:pt>
                <c:pt idx="2">
                  <c:v>56</c:v>
                </c:pt>
                <c:pt idx="3">
                  <c:v>49</c:v>
                </c:pt>
                <c:pt idx="4">
                  <c:v>79</c:v>
                </c:pt>
                <c:pt idx="5">
                  <c:v>54</c:v>
                </c:pt>
                <c:pt idx="6">
                  <c:v>63</c:v>
                </c:pt>
                <c:pt idx="7">
                  <c:v>6</c:v>
                </c:pt>
                <c:pt idx="8">
                  <c:v>12</c:v>
                </c:pt>
                <c:pt idx="9">
                  <c:v>92</c:v>
                </c:pt>
                <c:pt idx="10">
                  <c:v>18</c:v>
                </c:pt>
                <c:pt idx="11">
                  <c:v>96</c:v>
                </c:pt>
                <c:pt idx="12">
                  <c:v>94</c:v>
                </c:pt>
                <c:pt idx="13">
                  <c:v>17</c:v>
                </c:pt>
                <c:pt idx="14">
                  <c:v>79</c:v>
                </c:pt>
                <c:pt idx="15">
                  <c:v>9</c:v>
                </c:pt>
                <c:pt idx="16">
                  <c:v>63</c:v>
                </c:pt>
                <c:pt idx="17">
                  <c:v>55</c:v>
                </c:pt>
                <c:pt idx="18">
                  <c:v>13</c:v>
                </c:pt>
                <c:pt idx="19">
                  <c:v>34</c:v>
                </c:pt>
                <c:pt idx="20">
                  <c:v>58</c:v>
                </c:pt>
                <c:pt idx="21">
                  <c:v>62</c:v>
                </c:pt>
                <c:pt idx="22">
                  <c:v>27</c:v>
                </c:pt>
                <c:pt idx="23">
                  <c:v>85</c:v>
                </c:pt>
                <c:pt idx="24">
                  <c:v>78</c:v>
                </c:pt>
                <c:pt idx="25">
                  <c:v>72</c:v>
                </c:pt>
                <c:pt idx="26">
                  <c:v>4</c:v>
                </c:pt>
                <c:pt idx="27">
                  <c:v>83</c:v>
                </c:pt>
                <c:pt idx="28">
                  <c:v>45</c:v>
                </c:pt>
                <c:pt idx="29">
                  <c:v>90</c:v>
                </c:pt>
                <c:pt idx="30">
                  <c:v>86</c:v>
                </c:pt>
                <c:pt idx="31">
                  <c:v>19</c:v>
                </c:pt>
                <c:pt idx="32">
                  <c:v>34</c:v>
                </c:pt>
                <c:pt idx="33">
                  <c:v>13</c:v>
                </c:pt>
                <c:pt idx="34">
                  <c:v>68</c:v>
                </c:pt>
                <c:pt idx="35">
                  <c:v>40</c:v>
                </c:pt>
                <c:pt idx="36">
                  <c:v>6</c:v>
                </c:pt>
                <c:pt idx="37">
                  <c:v>50</c:v>
                </c:pt>
                <c:pt idx="38">
                  <c:v>43</c:v>
                </c:pt>
                <c:pt idx="39">
                  <c:v>25</c:v>
                </c:pt>
                <c:pt idx="40">
                  <c:v>24</c:v>
                </c:pt>
                <c:pt idx="41">
                  <c:v>4</c:v>
                </c:pt>
                <c:pt idx="42">
                  <c:v>71</c:v>
                </c:pt>
                <c:pt idx="43">
                  <c:v>52</c:v>
                </c:pt>
                <c:pt idx="44">
                  <c:v>4</c:v>
                </c:pt>
                <c:pt idx="45">
                  <c:v>1</c:v>
                </c:pt>
                <c:pt idx="46">
                  <c:v>95</c:v>
                </c:pt>
                <c:pt idx="47">
                  <c:v>76</c:v>
                </c:pt>
                <c:pt idx="48">
                  <c:v>66</c:v>
                </c:pt>
                <c:pt idx="49">
                  <c:v>27</c:v>
                </c:pt>
                <c:pt idx="50">
                  <c:v>90</c:v>
                </c:pt>
                <c:pt idx="51">
                  <c:v>41</c:v>
                </c:pt>
                <c:pt idx="52">
                  <c:v>96</c:v>
                </c:pt>
                <c:pt idx="53">
                  <c:v>25</c:v>
                </c:pt>
                <c:pt idx="54">
                  <c:v>10</c:v>
                </c:pt>
                <c:pt idx="55">
                  <c:v>85</c:v>
                </c:pt>
                <c:pt idx="56">
                  <c:v>21</c:v>
                </c:pt>
                <c:pt idx="57">
                  <c:v>66</c:v>
                </c:pt>
                <c:pt idx="58">
                  <c:v>23</c:v>
                </c:pt>
                <c:pt idx="59">
                  <c:v>31</c:v>
                </c:pt>
                <c:pt idx="60">
                  <c:v>16</c:v>
                </c:pt>
                <c:pt idx="61">
                  <c:v>7</c:v>
                </c:pt>
                <c:pt idx="62">
                  <c:v>10</c:v>
                </c:pt>
                <c:pt idx="63">
                  <c:v>14</c:v>
                </c:pt>
                <c:pt idx="64">
                  <c:v>100</c:v>
                </c:pt>
                <c:pt idx="65">
                  <c:v>11</c:v>
                </c:pt>
                <c:pt idx="66">
                  <c:v>62</c:v>
                </c:pt>
                <c:pt idx="67">
                  <c:v>19</c:v>
                </c:pt>
                <c:pt idx="68">
                  <c:v>3</c:v>
                </c:pt>
                <c:pt idx="69">
                  <c:v>81</c:v>
                </c:pt>
                <c:pt idx="70">
                  <c:v>34</c:v>
                </c:pt>
                <c:pt idx="71">
                  <c:v>61</c:v>
                </c:pt>
                <c:pt idx="72">
                  <c:v>50</c:v>
                </c:pt>
                <c:pt idx="73">
                  <c:v>93</c:v>
                </c:pt>
                <c:pt idx="74">
                  <c:v>58</c:v>
                </c:pt>
                <c:pt idx="75">
                  <c:v>9</c:v>
                </c:pt>
                <c:pt idx="76">
                  <c:v>49</c:v>
                </c:pt>
                <c:pt idx="77">
                  <c:v>31</c:v>
                </c:pt>
                <c:pt idx="78">
                  <c:v>7</c:v>
                </c:pt>
                <c:pt idx="79">
                  <c:v>91</c:v>
                </c:pt>
                <c:pt idx="80">
                  <c:v>45</c:v>
                </c:pt>
                <c:pt idx="81">
                  <c:v>16</c:v>
                </c:pt>
                <c:pt idx="82">
                  <c:v>29</c:v>
                </c:pt>
                <c:pt idx="83">
                  <c:v>93</c:v>
                </c:pt>
                <c:pt idx="84">
                  <c:v>35</c:v>
                </c:pt>
                <c:pt idx="85">
                  <c:v>14</c:v>
                </c:pt>
                <c:pt idx="86">
                  <c:v>72</c:v>
                </c:pt>
                <c:pt idx="87">
                  <c:v>83</c:v>
                </c:pt>
                <c:pt idx="88">
                  <c:v>78</c:v>
                </c:pt>
                <c:pt idx="89">
                  <c:v>60</c:v>
                </c:pt>
                <c:pt idx="90">
                  <c:v>37</c:v>
                </c:pt>
                <c:pt idx="91">
                  <c:v>63</c:v>
                </c:pt>
                <c:pt idx="92">
                  <c:v>4</c:v>
                </c:pt>
                <c:pt idx="93">
                  <c:v>71</c:v>
                </c:pt>
                <c:pt idx="94">
                  <c:v>72</c:v>
                </c:pt>
                <c:pt idx="95">
                  <c:v>78</c:v>
                </c:pt>
                <c:pt idx="96">
                  <c:v>38</c:v>
                </c:pt>
                <c:pt idx="97">
                  <c:v>65</c:v>
                </c:pt>
                <c:pt idx="98">
                  <c:v>79</c:v>
                </c:pt>
                <c:pt idx="99">
                  <c:v>65</c:v>
                </c:pt>
              </c:numCache>
            </c:numRef>
          </c:xVal>
          <c:yVal>
            <c:numRef>
              <c:f>Sheet1!$I$2:$I$101</c:f>
              <c:numCache>
                <c:formatCode>General</c:formatCode>
                <c:ptCount val="100"/>
                <c:pt idx="0">
                  <c:v>283</c:v>
                </c:pt>
                <c:pt idx="1">
                  <c:v>129</c:v>
                </c:pt>
                <c:pt idx="2">
                  <c:v>195</c:v>
                </c:pt>
                <c:pt idx="3">
                  <c:v>209</c:v>
                </c:pt>
                <c:pt idx="4">
                  <c:v>149</c:v>
                </c:pt>
                <c:pt idx="5">
                  <c:v>199</c:v>
                </c:pt>
                <c:pt idx="6">
                  <c:v>181</c:v>
                </c:pt>
                <c:pt idx="7">
                  <c:v>295</c:v>
                </c:pt>
                <c:pt idx="8">
                  <c:v>283</c:v>
                </c:pt>
                <c:pt idx="9">
                  <c:v>123</c:v>
                </c:pt>
                <c:pt idx="10">
                  <c:v>271</c:v>
                </c:pt>
                <c:pt idx="11">
                  <c:v>115</c:v>
                </c:pt>
                <c:pt idx="12">
                  <c:v>119</c:v>
                </c:pt>
                <c:pt idx="13">
                  <c:v>273</c:v>
                </c:pt>
                <c:pt idx="14">
                  <c:v>149</c:v>
                </c:pt>
                <c:pt idx="15">
                  <c:v>289</c:v>
                </c:pt>
                <c:pt idx="16">
                  <c:v>181</c:v>
                </c:pt>
                <c:pt idx="17">
                  <c:v>197</c:v>
                </c:pt>
                <c:pt idx="18">
                  <c:v>281</c:v>
                </c:pt>
                <c:pt idx="19">
                  <c:v>239</c:v>
                </c:pt>
                <c:pt idx="20">
                  <c:v>191</c:v>
                </c:pt>
                <c:pt idx="21">
                  <c:v>183</c:v>
                </c:pt>
                <c:pt idx="22">
                  <c:v>253</c:v>
                </c:pt>
                <c:pt idx="23">
                  <c:v>137</c:v>
                </c:pt>
                <c:pt idx="24">
                  <c:v>151</c:v>
                </c:pt>
                <c:pt idx="25">
                  <c:v>163</c:v>
                </c:pt>
                <c:pt idx="26">
                  <c:v>299</c:v>
                </c:pt>
                <c:pt idx="27">
                  <c:v>141</c:v>
                </c:pt>
                <c:pt idx="28">
                  <c:v>217</c:v>
                </c:pt>
                <c:pt idx="29">
                  <c:v>127</c:v>
                </c:pt>
                <c:pt idx="30">
                  <c:v>135</c:v>
                </c:pt>
                <c:pt idx="31">
                  <c:v>269</c:v>
                </c:pt>
                <c:pt idx="32">
                  <c:v>239</c:v>
                </c:pt>
                <c:pt idx="33">
                  <c:v>281</c:v>
                </c:pt>
                <c:pt idx="34">
                  <c:v>171</c:v>
                </c:pt>
                <c:pt idx="35">
                  <c:v>227</c:v>
                </c:pt>
                <c:pt idx="36">
                  <c:v>295</c:v>
                </c:pt>
                <c:pt idx="37">
                  <c:v>207</c:v>
                </c:pt>
                <c:pt idx="38">
                  <c:v>221</c:v>
                </c:pt>
                <c:pt idx="39">
                  <c:v>257</c:v>
                </c:pt>
                <c:pt idx="40">
                  <c:v>259</c:v>
                </c:pt>
                <c:pt idx="41">
                  <c:v>299</c:v>
                </c:pt>
                <c:pt idx="42">
                  <c:v>165</c:v>
                </c:pt>
                <c:pt idx="43">
                  <c:v>203</c:v>
                </c:pt>
                <c:pt idx="44">
                  <c:v>299</c:v>
                </c:pt>
                <c:pt idx="45">
                  <c:v>305</c:v>
                </c:pt>
                <c:pt idx="46">
                  <c:v>117</c:v>
                </c:pt>
                <c:pt idx="47">
                  <c:v>155</c:v>
                </c:pt>
                <c:pt idx="48">
                  <c:v>175</c:v>
                </c:pt>
                <c:pt idx="49">
                  <c:v>253</c:v>
                </c:pt>
                <c:pt idx="50">
                  <c:v>127</c:v>
                </c:pt>
                <c:pt idx="51">
                  <c:v>225</c:v>
                </c:pt>
                <c:pt idx="52">
                  <c:v>115</c:v>
                </c:pt>
                <c:pt idx="53">
                  <c:v>257</c:v>
                </c:pt>
                <c:pt idx="54">
                  <c:v>287</c:v>
                </c:pt>
                <c:pt idx="55">
                  <c:v>137</c:v>
                </c:pt>
                <c:pt idx="56">
                  <c:v>265</c:v>
                </c:pt>
                <c:pt idx="57">
                  <c:v>175</c:v>
                </c:pt>
                <c:pt idx="58">
                  <c:v>261</c:v>
                </c:pt>
                <c:pt idx="59">
                  <c:v>245</c:v>
                </c:pt>
                <c:pt idx="60">
                  <c:v>275</c:v>
                </c:pt>
                <c:pt idx="61">
                  <c:v>293</c:v>
                </c:pt>
                <c:pt idx="62">
                  <c:v>287</c:v>
                </c:pt>
                <c:pt idx="63">
                  <c:v>279</c:v>
                </c:pt>
                <c:pt idx="64">
                  <c:v>107</c:v>
                </c:pt>
                <c:pt idx="65">
                  <c:v>285</c:v>
                </c:pt>
                <c:pt idx="66">
                  <c:v>183</c:v>
                </c:pt>
                <c:pt idx="67">
                  <c:v>269</c:v>
                </c:pt>
                <c:pt idx="68">
                  <c:v>301</c:v>
                </c:pt>
                <c:pt idx="69">
                  <c:v>145</c:v>
                </c:pt>
                <c:pt idx="70">
                  <c:v>239</c:v>
                </c:pt>
                <c:pt idx="71">
                  <c:v>185</c:v>
                </c:pt>
                <c:pt idx="72">
                  <c:v>207</c:v>
                </c:pt>
                <c:pt idx="73">
                  <c:v>121</c:v>
                </c:pt>
                <c:pt idx="74">
                  <c:v>191</c:v>
                </c:pt>
                <c:pt idx="75">
                  <c:v>289</c:v>
                </c:pt>
                <c:pt idx="76">
                  <c:v>209</c:v>
                </c:pt>
                <c:pt idx="77">
                  <c:v>245</c:v>
                </c:pt>
                <c:pt idx="78">
                  <c:v>293</c:v>
                </c:pt>
                <c:pt idx="79">
                  <c:v>125</c:v>
                </c:pt>
                <c:pt idx="80">
                  <c:v>217</c:v>
                </c:pt>
                <c:pt idx="81">
                  <c:v>275</c:v>
                </c:pt>
                <c:pt idx="82">
                  <c:v>249</c:v>
                </c:pt>
                <c:pt idx="83">
                  <c:v>121</c:v>
                </c:pt>
                <c:pt idx="84">
                  <c:v>237</c:v>
                </c:pt>
                <c:pt idx="85">
                  <c:v>279</c:v>
                </c:pt>
                <c:pt idx="86">
                  <c:v>163</c:v>
                </c:pt>
                <c:pt idx="87">
                  <c:v>141</c:v>
                </c:pt>
                <c:pt idx="88">
                  <c:v>151</c:v>
                </c:pt>
                <c:pt idx="89">
                  <c:v>187</c:v>
                </c:pt>
                <c:pt idx="90">
                  <c:v>233</c:v>
                </c:pt>
                <c:pt idx="91">
                  <c:v>181</c:v>
                </c:pt>
                <c:pt idx="92">
                  <c:v>299</c:v>
                </c:pt>
                <c:pt idx="93">
                  <c:v>165</c:v>
                </c:pt>
                <c:pt idx="94">
                  <c:v>163</c:v>
                </c:pt>
                <c:pt idx="95">
                  <c:v>151</c:v>
                </c:pt>
                <c:pt idx="96">
                  <c:v>231</c:v>
                </c:pt>
                <c:pt idx="97">
                  <c:v>177</c:v>
                </c:pt>
                <c:pt idx="98">
                  <c:v>149</c:v>
                </c:pt>
                <c:pt idx="99">
                  <c:v>177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A6F2-426C-9F4D-A637F6DA7B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05909840"/>
        <c:axId val="1205889872"/>
      </c:scatterChart>
      <c:valAx>
        <c:axId val="1205909840"/>
        <c:scaling>
          <c:orientation val="minMax"/>
          <c:max val="10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X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05889872"/>
        <c:crosses val="autoZero"/>
        <c:crossBetween val="midCat"/>
      </c:valAx>
      <c:valAx>
        <c:axId val="12058898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0590984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815026246719161"/>
          <c:y val="0.1111111111111111"/>
          <c:w val="0.81229418197725289"/>
          <c:h val="0.68331802274715658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Sheet1!$J$1</c:f>
              <c:strCache>
                <c:ptCount val="1"/>
                <c:pt idx="0">
                  <c:v>Y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rgbClr val="FF0000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xVal>
            <c:numRef>
              <c:f>Sheet1!$H$2:$H$101</c:f>
              <c:numCache>
                <c:formatCode>General</c:formatCode>
                <c:ptCount val="100"/>
                <c:pt idx="0">
                  <c:v>12</c:v>
                </c:pt>
                <c:pt idx="1">
                  <c:v>89</c:v>
                </c:pt>
                <c:pt idx="2">
                  <c:v>56</c:v>
                </c:pt>
                <c:pt idx="3">
                  <c:v>49</c:v>
                </c:pt>
                <c:pt idx="4">
                  <c:v>79</c:v>
                </c:pt>
                <c:pt idx="5">
                  <c:v>54</c:v>
                </c:pt>
                <c:pt idx="6">
                  <c:v>63</c:v>
                </c:pt>
                <c:pt idx="7">
                  <c:v>6</c:v>
                </c:pt>
                <c:pt idx="8">
                  <c:v>12</c:v>
                </c:pt>
                <c:pt idx="9">
                  <c:v>92</c:v>
                </c:pt>
                <c:pt idx="10">
                  <c:v>18</c:v>
                </c:pt>
                <c:pt idx="11">
                  <c:v>96</c:v>
                </c:pt>
                <c:pt idx="12">
                  <c:v>94</c:v>
                </c:pt>
                <c:pt idx="13">
                  <c:v>17</c:v>
                </c:pt>
                <c:pt idx="14">
                  <c:v>79</c:v>
                </c:pt>
                <c:pt idx="15">
                  <c:v>9</c:v>
                </c:pt>
                <c:pt idx="16">
                  <c:v>63</c:v>
                </c:pt>
                <c:pt idx="17">
                  <c:v>55</c:v>
                </c:pt>
                <c:pt idx="18">
                  <c:v>13</c:v>
                </c:pt>
                <c:pt idx="19">
                  <c:v>34</c:v>
                </c:pt>
                <c:pt idx="20">
                  <c:v>58</c:v>
                </c:pt>
                <c:pt idx="21">
                  <c:v>62</c:v>
                </c:pt>
                <c:pt idx="22">
                  <c:v>27</c:v>
                </c:pt>
                <c:pt idx="23">
                  <c:v>85</c:v>
                </c:pt>
                <c:pt idx="24">
                  <c:v>78</c:v>
                </c:pt>
                <c:pt idx="25">
                  <c:v>72</c:v>
                </c:pt>
                <c:pt idx="26">
                  <c:v>4</c:v>
                </c:pt>
                <c:pt idx="27">
                  <c:v>83</c:v>
                </c:pt>
                <c:pt idx="28">
                  <c:v>45</c:v>
                </c:pt>
                <c:pt idx="29">
                  <c:v>90</c:v>
                </c:pt>
                <c:pt idx="30">
                  <c:v>86</c:v>
                </c:pt>
                <c:pt idx="31">
                  <c:v>19</c:v>
                </c:pt>
                <c:pt idx="32">
                  <c:v>34</c:v>
                </c:pt>
                <c:pt idx="33">
                  <c:v>13</c:v>
                </c:pt>
                <c:pt idx="34">
                  <c:v>68</c:v>
                </c:pt>
                <c:pt idx="35">
                  <c:v>40</c:v>
                </c:pt>
                <c:pt idx="36">
                  <c:v>6</c:v>
                </c:pt>
                <c:pt idx="37">
                  <c:v>50</c:v>
                </c:pt>
                <c:pt idx="38">
                  <c:v>43</c:v>
                </c:pt>
                <c:pt idx="39">
                  <c:v>25</c:v>
                </c:pt>
                <c:pt idx="40">
                  <c:v>24</c:v>
                </c:pt>
                <c:pt idx="41">
                  <c:v>4</c:v>
                </c:pt>
                <c:pt idx="42">
                  <c:v>71</c:v>
                </c:pt>
                <c:pt idx="43">
                  <c:v>52</c:v>
                </c:pt>
                <c:pt idx="44">
                  <c:v>4</c:v>
                </c:pt>
                <c:pt idx="45">
                  <c:v>1</c:v>
                </c:pt>
                <c:pt idx="46">
                  <c:v>95</c:v>
                </c:pt>
                <c:pt idx="47">
                  <c:v>76</c:v>
                </c:pt>
                <c:pt idx="48">
                  <c:v>66</c:v>
                </c:pt>
                <c:pt idx="49">
                  <c:v>27</c:v>
                </c:pt>
                <c:pt idx="50">
                  <c:v>90</c:v>
                </c:pt>
                <c:pt idx="51">
                  <c:v>41</c:v>
                </c:pt>
                <c:pt idx="52">
                  <c:v>96</c:v>
                </c:pt>
                <c:pt idx="53">
                  <c:v>25</c:v>
                </c:pt>
                <c:pt idx="54">
                  <c:v>10</c:v>
                </c:pt>
                <c:pt idx="55">
                  <c:v>85</c:v>
                </c:pt>
                <c:pt idx="56">
                  <c:v>21</c:v>
                </c:pt>
                <c:pt idx="57">
                  <c:v>66</c:v>
                </c:pt>
                <c:pt idx="58">
                  <c:v>23</c:v>
                </c:pt>
                <c:pt idx="59">
                  <c:v>31</c:v>
                </c:pt>
                <c:pt idx="60">
                  <c:v>16</c:v>
                </c:pt>
                <c:pt idx="61">
                  <c:v>7</c:v>
                </c:pt>
                <c:pt idx="62">
                  <c:v>10</c:v>
                </c:pt>
                <c:pt idx="63">
                  <c:v>14</c:v>
                </c:pt>
                <c:pt idx="64">
                  <c:v>100</c:v>
                </c:pt>
                <c:pt idx="65">
                  <c:v>11</c:v>
                </c:pt>
                <c:pt idx="66">
                  <c:v>62</c:v>
                </c:pt>
                <c:pt idx="67">
                  <c:v>19</c:v>
                </c:pt>
                <c:pt idx="68">
                  <c:v>3</c:v>
                </c:pt>
                <c:pt idx="69">
                  <c:v>81</c:v>
                </c:pt>
                <c:pt idx="70">
                  <c:v>34</c:v>
                </c:pt>
                <c:pt idx="71">
                  <c:v>61</c:v>
                </c:pt>
                <c:pt idx="72">
                  <c:v>50</c:v>
                </c:pt>
                <c:pt idx="73">
                  <c:v>93</c:v>
                </c:pt>
                <c:pt idx="74">
                  <c:v>58</c:v>
                </c:pt>
                <c:pt idx="75">
                  <c:v>9</c:v>
                </c:pt>
                <c:pt idx="76">
                  <c:v>49</c:v>
                </c:pt>
                <c:pt idx="77">
                  <c:v>31</c:v>
                </c:pt>
                <c:pt idx="78">
                  <c:v>7</c:v>
                </c:pt>
                <c:pt idx="79">
                  <c:v>91</c:v>
                </c:pt>
                <c:pt idx="80">
                  <c:v>45</c:v>
                </c:pt>
                <c:pt idx="81">
                  <c:v>16</c:v>
                </c:pt>
                <c:pt idx="82">
                  <c:v>29</c:v>
                </c:pt>
                <c:pt idx="83">
                  <c:v>93</c:v>
                </c:pt>
                <c:pt idx="84">
                  <c:v>35</c:v>
                </c:pt>
                <c:pt idx="85">
                  <c:v>14</c:v>
                </c:pt>
                <c:pt idx="86">
                  <c:v>72</c:v>
                </c:pt>
                <c:pt idx="87">
                  <c:v>83</c:v>
                </c:pt>
                <c:pt idx="88">
                  <c:v>78</c:v>
                </c:pt>
                <c:pt idx="89">
                  <c:v>60</c:v>
                </c:pt>
                <c:pt idx="90">
                  <c:v>37</c:v>
                </c:pt>
                <c:pt idx="91">
                  <c:v>63</c:v>
                </c:pt>
                <c:pt idx="92">
                  <c:v>4</c:v>
                </c:pt>
                <c:pt idx="93">
                  <c:v>71</c:v>
                </c:pt>
                <c:pt idx="94">
                  <c:v>72</c:v>
                </c:pt>
                <c:pt idx="95">
                  <c:v>78</c:v>
                </c:pt>
                <c:pt idx="96">
                  <c:v>38</c:v>
                </c:pt>
                <c:pt idx="97">
                  <c:v>65</c:v>
                </c:pt>
                <c:pt idx="98">
                  <c:v>79</c:v>
                </c:pt>
                <c:pt idx="99">
                  <c:v>65</c:v>
                </c:pt>
              </c:numCache>
            </c:numRef>
          </c:xVal>
          <c:yVal>
            <c:numRef>
              <c:f>Sheet1!$J$2:$J$101</c:f>
              <c:numCache>
                <c:formatCode>General</c:formatCode>
                <c:ptCount val="100"/>
                <c:pt idx="0">
                  <c:v>190</c:v>
                </c:pt>
                <c:pt idx="1">
                  <c:v>201</c:v>
                </c:pt>
                <c:pt idx="2">
                  <c:v>137</c:v>
                </c:pt>
                <c:pt idx="3">
                  <c:v>239</c:v>
                </c:pt>
                <c:pt idx="4">
                  <c:v>94</c:v>
                </c:pt>
                <c:pt idx="5">
                  <c:v>302</c:v>
                </c:pt>
                <c:pt idx="6">
                  <c:v>257</c:v>
                </c:pt>
                <c:pt idx="7">
                  <c:v>282</c:v>
                </c:pt>
                <c:pt idx="8">
                  <c:v>316</c:v>
                </c:pt>
                <c:pt idx="9">
                  <c:v>19</c:v>
                </c:pt>
                <c:pt idx="10">
                  <c:v>223</c:v>
                </c:pt>
                <c:pt idx="11">
                  <c:v>58</c:v>
                </c:pt>
                <c:pt idx="12">
                  <c:v>122</c:v>
                </c:pt>
                <c:pt idx="13">
                  <c:v>243</c:v>
                </c:pt>
                <c:pt idx="14">
                  <c:v>109</c:v>
                </c:pt>
                <c:pt idx="15">
                  <c:v>402</c:v>
                </c:pt>
                <c:pt idx="16">
                  <c:v>244</c:v>
                </c:pt>
                <c:pt idx="17">
                  <c:v>166</c:v>
                </c:pt>
                <c:pt idx="18">
                  <c:v>311</c:v>
                </c:pt>
                <c:pt idx="19">
                  <c:v>156</c:v>
                </c:pt>
                <c:pt idx="20">
                  <c:v>126</c:v>
                </c:pt>
                <c:pt idx="21">
                  <c:v>117</c:v>
                </c:pt>
                <c:pt idx="22">
                  <c:v>170</c:v>
                </c:pt>
                <c:pt idx="23">
                  <c:v>227</c:v>
                </c:pt>
                <c:pt idx="24">
                  <c:v>92</c:v>
                </c:pt>
                <c:pt idx="25">
                  <c:v>72</c:v>
                </c:pt>
                <c:pt idx="26">
                  <c:v>187</c:v>
                </c:pt>
                <c:pt idx="27">
                  <c:v>203</c:v>
                </c:pt>
                <c:pt idx="28">
                  <c:v>102</c:v>
                </c:pt>
                <c:pt idx="29">
                  <c:v>145</c:v>
                </c:pt>
                <c:pt idx="30">
                  <c:v>155</c:v>
                </c:pt>
                <c:pt idx="31">
                  <c:v>305</c:v>
                </c:pt>
                <c:pt idx="32">
                  <c:v>267</c:v>
                </c:pt>
                <c:pt idx="33">
                  <c:v>158</c:v>
                </c:pt>
                <c:pt idx="34">
                  <c:v>78</c:v>
                </c:pt>
                <c:pt idx="35">
                  <c:v>262</c:v>
                </c:pt>
                <c:pt idx="36">
                  <c:v>334</c:v>
                </c:pt>
                <c:pt idx="37">
                  <c:v>279</c:v>
                </c:pt>
                <c:pt idx="38">
                  <c:v>194</c:v>
                </c:pt>
                <c:pt idx="39">
                  <c:v>142</c:v>
                </c:pt>
                <c:pt idx="40">
                  <c:v>140</c:v>
                </c:pt>
                <c:pt idx="41">
                  <c:v>194</c:v>
                </c:pt>
                <c:pt idx="42">
                  <c:v>58</c:v>
                </c:pt>
                <c:pt idx="43">
                  <c:v>167</c:v>
                </c:pt>
                <c:pt idx="44">
                  <c:v>277</c:v>
                </c:pt>
                <c:pt idx="45">
                  <c:v>233</c:v>
                </c:pt>
                <c:pt idx="46">
                  <c:v>233</c:v>
                </c:pt>
                <c:pt idx="47">
                  <c:v>181</c:v>
                </c:pt>
                <c:pt idx="48">
                  <c:v>115</c:v>
                </c:pt>
                <c:pt idx="49">
                  <c:v>358</c:v>
                </c:pt>
                <c:pt idx="50">
                  <c:v>94</c:v>
                </c:pt>
                <c:pt idx="51">
                  <c:v>148</c:v>
                </c:pt>
                <c:pt idx="52">
                  <c:v>32</c:v>
                </c:pt>
                <c:pt idx="53">
                  <c:v>153</c:v>
                </c:pt>
                <c:pt idx="54">
                  <c:v>292</c:v>
                </c:pt>
                <c:pt idx="55">
                  <c:v>147</c:v>
                </c:pt>
                <c:pt idx="56">
                  <c:v>214</c:v>
                </c:pt>
                <c:pt idx="57">
                  <c:v>188</c:v>
                </c:pt>
                <c:pt idx="58">
                  <c:v>292</c:v>
                </c:pt>
                <c:pt idx="59">
                  <c:v>271</c:v>
                </c:pt>
                <c:pt idx="60">
                  <c:v>293</c:v>
                </c:pt>
                <c:pt idx="61">
                  <c:v>234</c:v>
                </c:pt>
                <c:pt idx="62">
                  <c:v>279</c:v>
                </c:pt>
                <c:pt idx="63">
                  <c:v>191</c:v>
                </c:pt>
                <c:pt idx="64">
                  <c:v>15</c:v>
                </c:pt>
                <c:pt idx="65">
                  <c:v>166</c:v>
                </c:pt>
                <c:pt idx="66">
                  <c:v>187</c:v>
                </c:pt>
                <c:pt idx="67">
                  <c:v>180</c:v>
                </c:pt>
                <c:pt idx="68">
                  <c:v>385</c:v>
                </c:pt>
                <c:pt idx="69">
                  <c:v>192</c:v>
                </c:pt>
                <c:pt idx="70">
                  <c:v>277</c:v>
                </c:pt>
                <c:pt idx="71">
                  <c:v>151</c:v>
                </c:pt>
                <c:pt idx="72">
                  <c:v>211</c:v>
                </c:pt>
                <c:pt idx="73">
                  <c:v>236</c:v>
                </c:pt>
                <c:pt idx="74">
                  <c:v>193</c:v>
                </c:pt>
                <c:pt idx="75">
                  <c:v>263</c:v>
                </c:pt>
                <c:pt idx="76">
                  <c:v>154</c:v>
                </c:pt>
                <c:pt idx="77">
                  <c:v>217</c:v>
                </c:pt>
                <c:pt idx="78">
                  <c:v>414</c:v>
                </c:pt>
                <c:pt idx="79">
                  <c:v>153</c:v>
                </c:pt>
                <c:pt idx="80">
                  <c:v>341</c:v>
                </c:pt>
                <c:pt idx="81">
                  <c:v>320</c:v>
                </c:pt>
                <c:pt idx="82">
                  <c:v>136</c:v>
                </c:pt>
                <c:pt idx="83">
                  <c:v>80</c:v>
                </c:pt>
                <c:pt idx="84">
                  <c:v>326</c:v>
                </c:pt>
                <c:pt idx="85">
                  <c:v>264</c:v>
                </c:pt>
                <c:pt idx="86">
                  <c:v>238</c:v>
                </c:pt>
                <c:pt idx="87">
                  <c:v>58</c:v>
                </c:pt>
                <c:pt idx="88">
                  <c:v>129</c:v>
                </c:pt>
                <c:pt idx="89">
                  <c:v>182</c:v>
                </c:pt>
                <c:pt idx="90">
                  <c:v>151</c:v>
                </c:pt>
                <c:pt idx="91">
                  <c:v>300</c:v>
                </c:pt>
                <c:pt idx="92">
                  <c:v>305</c:v>
                </c:pt>
                <c:pt idx="93">
                  <c:v>88</c:v>
                </c:pt>
                <c:pt idx="94">
                  <c:v>187</c:v>
                </c:pt>
                <c:pt idx="95">
                  <c:v>276</c:v>
                </c:pt>
                <c:pt idx="96">
                  <c:v>205</c:v>
                </c:pt>
                <c:pt idx="97">
                  <c:v>300</c:v>
                </c:pt>
                <c:pt idx="98">
                  <c:v>268</c:v>
                </c:pt>
                <c:pt idx="99">
                  <c:v>293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D092-400D-9C4F-2696B768A1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05909840"/>
        <c:axId val="1205889872"/>
      </c:scatterChart>
      <c:valAx>
        <c:axId val="1205909840"/>
        <c:scaling>
          <c:orientation val="minMax"/>
          <c:max val="10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X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05889872"/>
        <c:crosses val="autoZero"/>
        <c:crossBetween val="midCat"/>
      </c:valAx>
      <c:valAx>
        <c:axId val="12058898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0590984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815026246719161"/>
          <c:y val="0.1111111111111111"/>
          <c:w val="0.81229418197725289"/>
          <c:h val="0.68331802274715658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Sheet1!$K$1</c:f>
              <c:strCache>
                <c:ptCount val="1"/>
                <c:pt idx="0">
                  <c:v>Y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rgbClr val="FF0000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xVal>
            <c:numRef>
              <c:f>Sheet1!$H$2:$H$101</c:f>
              <c:numCache>
                <c:formatCode>General</c:formatCode>
                <c:ptCount val="100"/>
                <c:pt idx="0">
                  <c:v>12</c:v>
                </c:pt>
                <c:pt idx="1">
                  <c:v>89</c:v>
                </c:pt>
                <c:pt idx="2">
                  <c:v>56</c:v>
                </c:pt>
                <c:pt idx="3">
                  <c:v>49</c:v>
                </c:pt>
                <c:pt idx="4">
                  <c:v>79</c:v>
                </c:pt>
                <c:pt idx="5">
                  <c:v>54</c:v>
                </c:pt>
                <c:pt idx="6">
                  <c:v>63</c:v>
                </c:pt>
                <c:pt idx="7">
                  <c:v>6</c:v>
                </c:pt>
                <c:pt idx="8">
                  <c:v>12</c:v>
                </c:pt>
                <c:pt idx="9">
                  <c:v>92</c:v>
                </c:pt>
                <c:pt idx="10">
                  <c:v>18</c:v>
                </c:pt>
                <c:pt idx="11">
                  <c:v>96</c:v>
                </c:pt>
                <c:pt idx="12">
                  <c:v>94</c:v>
                </c:pt>
                <c:pt idx="13">
                  <c:v>17</c:v>
                </c:pt>
                <c:pt idx="14">
                  <c:v>79</c:v>
                </c:pt>
                <c:pt idx="15">
                  <c:v>9</c:v>
                </c:pt>
                <c:pt idx="16">
                  <c:v>63</c:v>
                </c:pt>
                <c:pt idx="17">
                  <c:v>55</c:v>
                </c:pt>
                <c:pt idx="18">
                  <c:v>13</c:v>
                </c:pt>
                <c:pt idx="19">
                  <c:v>34</c:v>
                </c:pt>
                <c:pt idx="20">
                  <c:v>58</c:v>
                </c:pt>
                <c:pt idx="21">
                  <c:v>62</c:v>
                </c:pt>
                <c:pt idx="22">
                  <c:v>27</c:v>
                </c:pt>
                <c:pt idx="23">
                  <c:v>85</c:v>
                </c:pt>
                <c:pt idx="24">
                  <c:v>78</c:v>
                </c:pt>
                <c:pt idx="25">
                  <c:v>72</c:v>
                </c:pt>
                <c:pt idx="26">
                  <c:v>4</c:v>
                </c:pt>
                <c:pt idx="27">
                  <c:v>83</c:v>
                </c:pt>
                <c:pt idx="28">
                  <c:v>45</c:v>
                </c:pt>
                <c:pt idx="29">
                  <c:v>90</c:v>
                </c:pt>
                <c:pt idx="30">
                  <c:v>86</c:v>
                </c:pt>
                <c:pt idx="31">
                  <c:v>19</c:v>
                </c:pt>
                <c:pt idx="32">
                  <c:v>34</c:v>
                </c:pt>
                <c:pt idx="33">
                  <c:v>13</c:v>
                </c:pt>
                <c:pt idx="34">
                  <c:v>68</c:v>
                </c:pt>
                <c:pt idx="35">
                  <c:v>40</c:v>
                </c:pt>
                <c:pt idx="36">
                  <c:v>6</c:v>
                </c:pt>
                <c:pt idx="37">
                  <c:v>50</c:v>
                </c:pt>
                <c:pt idx="38">
                  <c:v>43</c:v>
                </c:pt>
                <c:pt idx="39">
                  <c:v>25</c:v>
                </c:pt>
                <c:pt idx="40">
                  <c:v>24</c:v>
                </c:pt>
                <c:pt idx="41">
                  <c:v>4</c:v>
                </c:pt>
                <c:pt idx="42">
                  <c:v>71</c:v>
                </c:pt>
                <c:pt idx="43">
                  <c:v>52</c:v>
                </c:pt>
                <c:pt idx="44">
                  <c:v>4</c:v>
                </c:pt>
                <c:pt idx="45">
                  <c:v>1</c:v>
                </c:pt>
                <c:pt idx="46">
                  <c:v>95</c:v>
                </c:pt>
                <c:pt idx="47">
                  <c:v>76</c:v>
                </c:pt>
                <c:pt idx="48">
                  <c:v>66</c:v>
                </c:pt>
                <c:pt idx="49">
                  <c:v>27</c:v>
                </c:pt>
                <c:pt idx="50">
                  <c:v>90</c:v>
                </c:pt>
                <c:pt idx="51">
                  <c:v>41</c:v>
                </c:pt>
                <c:pt idx="52">
                  <c:v>96</c:v>
                </c:pt>
                <c:pt idx="53">
                  <c:v>25</c:v>
                </c:pt>
                <c:pt idx="54">
                  <c:v>10</c:v>
                </c:pt>
                <c:pt idx="55">
                  <c:v>85</c:v>
                </c:pt>
                <c:pt idx="56">
                  <c:v>21</c:v>
                </c:pt>
                <c:pt idx="57">
                  <c:v>66</c:v>
                </c:pt>
                <c:pt idx="58">
                  <c:v>23</c:v>
                </c:pt>
                <c:pt idx="59">
                  <c:v>31</c:v>
                </c:pt>
                <c:pt idx="60">
                  <c:v>16</c:v>
                </c:pt>
                <c:pt idx="61">
                  <c:v>7</c:v>
                </c:pt>
                <c:pt idx="62">
                  <c:v>10</c:v>
                </c:pt>
                <c:pt idx="63">
                  <c:v>14</c:v>
                </c:pt>
                <c:pt idx="64">
                  <c:v>100</c:v>
                </c:pt>
                <c:pt idx="65">
                  <c:v>11</c:v>
                </c:pt>
                <c:pt idx="66">
                  <c:v>62</c:v>
                </c:pt>
                <c:pt idx="67">
                  <c:v>19</c:v>
                </c:pt>
                <c:pt idx="68">
                  <c:v>3</c:v>
                </c:pt>
                <c:pt idx="69">
                  <c:v>81</c:v>
                </c:pt>
                <c:pt idx="70">
                  <c:v>34</c:v>
                </c:pt>
                <c:pt idx="71">
                  <c:v>61</c:v>
                </c:pt>
                <c:pt idx="72">
                  <c:v>50</c:v>
                </c:pt>
                <c:pt idx="73">
                  <c:v>93</c:v>
                </c:pt>
                <c:pt idx="74">
                  <c:v>58</c:v>
                </c:pt>
                <c:pt idx="75">
                  <c:v>9</c:v>
                </c:pt>
                <c:pt idx="76">
                  <c:v>49</c:v>
                </c:pt>
                <c:pt idx="77">
                  <c:v>31</c:v>
                </c:pt>
                <c:pt idx="78">
                  <c:v>7</c:v>
                </c:pt>
                <c:pt idx="79">
                  <c:v>91</c:v>
                </c:pt>
                <c:pt idx="80">
                  <c:v>45</c:v>
                </c:pt>
                <c:pt idx="81">
                  <c:v>16</c:v>
                </c:pt>
                <c:pt idx="82">
                  <c:v>29</c:v>
                </c:pt>
                <c:pt idx="83">
                  <c:v>93</c:v>
                </c:pt>
                <c:pt idx="84">
                  <c:v>35</c:v>
                </c:pt>
                <c:pt idx="85">
                  <c:v>14</c:v>
                </c:pt>
                <c:pt idx="86">
                  <c:v>72</c:v>
                </c:pt>
                <c:pt idx="87">
                  <c:v>83</c:v>
                </c:pt>
                <c:pt idx="88">
                  <c:v>78</c:v>
                </c:pt>
                <c:pt idx="89">
                  <c:v>60</c:v>
                </c:pt>
                <c:pt idx="90">
                  <c:v>37</c:v>
                </c:pt>
                <c:pt idx="91">
                  <c:v>63</c:v>
                </c:pt>
                <c:pt idx="92">
                  <c:v>4</c:v>
                </c:pt>
                <c:pt idx="93">
                  <c:v>71</c:v>
                </c:pt>
                <c:pt idx="94">
                  <c:v>72</c:v>
                </c:pt>
                <c:pt idx="95">
                  <c:v>78</c:v>
                </c:pt>
                <c:pt idx="96">
                  <c:v>38</c:v>
                </c:pt>
                <c:pt idx="97">
                  <c:v>65</c:v>
                </c:pt>
                <c:pt idx="98">
                  <c:v>79</c:v>
                </c:pt>
                <c:pt idx="99">
                  <c:v>65</c:v>
                </c:pt>
              </c:numCache>
            </c:numRef>
          </c:xVal>
          <c:yVal>
            <c:numRef>
              <c:f>Sheet1!$K$2:$K$101</c:f>
              <c:numCache>
                <c:formatCode>General</c:formatCode>
                <c:ptCount val="100"/>
                <c:pt idx="0">
                  <c:v>304</c:v>
                </c:pt>
                <c:pt idx="1">
                  <c:v>308</c:v>
                </c:pt>
                <c:pt idx="2">
                  <c:v>361</c:v>
                </c:pt>
                <c:pt idx="3">
                  <c:v>341</c:v>
                </c:pt>
                <c:pt idx="4">
                  <c:v>339</c:v>
                </c:pt>
                <c:pt idx="5">
                  <c:v>366</c:v>
                </c:pt>
                <c:pt idx="6">
                  <c:v>315</c:v>
                </c:pt>
                <c:pt idx="7">
                  <c:v>358</c:v>
                </c:pt>
                <c:pt idx="8">
                  <c:v>369</c:v>
                </c:pt>
                <c:pt idx="9">
                  <c:v>333</c:v>
                </c:pt>
                <c:pt idx="10">
                  <c:v>382</c:v>
                </c:pt>
                <c:pt idx="11">
                  <c:v>347</c:v>
                </c:pt>
                <c:pt idx="12">
                  <c:v>301</c:v>
                </c:pt>
                <c:pt idx="13">
                  <c:v>317</c:v>
                </c:pt>
                <c:pt idx="14">
                  <c:v>386</c:v>
                </c:pt>
                <c:pt idx="15">
                  <c:v>341</c:v>
                </c:pt>
                <c:pt idx="16">
                  <c:v>383</c:v>
                </c:pt>
                <c:pt idx="17">
                  <c:v>324</c:v>
                </c:pt>
                <c:pt idx="18">
                  <c:v>374</c:v>
                </c:pt>
                <c:pt idx="19">
                  <c:v>315</c:v>
                </c:pt>
                <c:pt idx="20">
                  <c:v>356</c:v>
                </c:pt>
                <c:pt idx="21">
                  <c:v>366</c:v>
                </c:pt>
                <c:pt idx="22">
                  <c:v>371</c:v>
                </c:pt>
                <c:pt idx="23">
                  <c:v>314</c:v>
                </c:pt>
                <c:pt idx="24">
                  <c:v>375</c:v>
                </c:pt>
                <c:pt idx="25">
                  <c:v>362</c:v>
                </c:pt>
                <c:pt idx="26">
                  <c:v>393</c:v>
                </c:pt>
                <c:pt idx="27">
                  <c:v>333</c:v>
                </c:pt>
                <c:pt idx="28">
                  <c:v>318</c:v>
                </c:pt>
                <c:pt idx="29">
                  <c:v>319</c:v>
                </c:pt>
                <c:pt idx="30">
                  <c:v>363</c:v>
                </c:pt>
                <c:pt idx="31">
                  <c:v>338</c:v>
                </c:pt>
                <c:pt idx="32">
                  <c:v>306</c:v>
                </c:pt>
                <c:pt idx="33">
                  <c:v>361</c:v>
                </c:pt>
                <c:pt idx="34">
                  <c:v>306</c:v>
                </c:pt>
                <c:pt idx="35">
                  <c:v>391</c:v>
                </c:pt>
                <c:pt idx="36">
                  <c:v>324</c:v>
                </c:pt>
                <c:pt idx="37">
                  <c:v>378</c:v>
                </c:pt>
                <c:pt idx="38">
                  <c:v>349</c:v>
                </c:pt>
                <c:pt idx="39">
                  <c:v>378</c:v>
                </c:pt>
                <c:pt idx="40">
                  <c:v>315</c:v>
                </c:pt>
                <c:pt idx="41">
                  <c:v>310</c:v>
                </c:pt>
                <c:pt idx="42">
                  <c:v>394</c:v>
                </c:pt>
                <c:pt idx="43">
                  <c:v>307</c:v>
                </c:pt>
                <c:pt idx="44">
                  <c:v>359</c:v>
                </c:pt>
                <c:pt idx="45">
                  <c:v>305</c:v>
                </c:pt>
                <c:pt idx="46">
                  <c:v>377</c:v>
                </c:pt>
                <c:pt idx="47">
                  <c:v>303</c:v>
                </c:pt>
                <c:pt idx="48">
                  <c:v>372</c:v>
                </c:pt>
                <c:pt idx="49">
                  <c:v>329</c:v>
                </c:pt>
                <c:pt idx="50">
                  <c:v>311</c:v>
                </c:pt>
                <c:pt idx="51">
                  <c:v>324</c:v>
                </c:pt>
                <c:pt idx="52">
                  <c:v>309</c:v>
                </c:pt>
                <c:pt idx="53">
                  <c:v>380</c:v>
                </c:pt>
                <c:pt idx="54">
                  <c:v>388</c:v>
                </c:pt>
                <c:pt idx="55">
                  <c:v>358</c:v>
                </c:pt>
                <c:pt idx="56">
                  <c:v>326</c:v>
                </c:pt>
                <c:pt idx="57">
                  <c:v>352</c:v>
                </c:pt>
                <c:pt idx="58">
                  <c:v>320</c:v>
                </c:pt>
                <c:pt idx="59">
                  <c:v>315</c:v>
                </c:pt>
                <c:pt idx="60">
                  <c:v>314</c:v>
                </c:pt>
                <c:pt idx="61">
                  <c:v>395</c:v>
                </c:pt>
                <c:pt idx="62">
                  <c:v>351</c:v>
                </c:pt>
                <c:pt idx="63">
                  <c:v>360</c:v>
                </c:pt>
                <c:pt idx="64">
                  <c:v>350</c:v>
                </c:pt>
                <c:pt idx="65">
                  <c:v>339</c:v>
                </c:pt>
                <c:pt idx="66">
                  <c:v>399</c:v>
                </c:pt>
                <c:pt idx="67">
                  <c:v>394</c:v>
                </c:pt>
                <c:pt idx="68">
                  <c:v>347</c:v>
                </c:pt>
                <c:pt idx="69">
                  <c:v>332</c:v>
                </c:pt>
                <c:pt idx="70">
                  <c:v>398</c:v>
                </c:pt>
                <c:pt idx="71">
                  <c:v>369</c:v>
                </c:pt>
                <c:pt idx="72">
                  <c:v>307</c:v>
                </c:pt>
                <c:pt idx="73">
                  <c:v>305</c:v>
                </c:pt>
                <c:pt idx="74">
                  <c:v>398</c:v>
                </c:pt>
                <c:pt idx="75">
                  <c:v>322</c:v>
                </c:pt>
                <c:pt idx="76">
                  <c:v>392</c:v>
                </c:pt>
                <c:pt idx="77">
                  <c:v>322</c:v>
                </c:pt>
                <c:pt idx="78">
                  <c:v>305</c:v>
                </c:pt>
                <c:pt idx="79">
                  <c:v>330</c:v>
                </c:pt>
                <c:pt idx="80">
                  <c:v>332</c:v>
                </c:pt>
                <c:pt idx="81">
                  <c:v>344</c:v>
                </c:pt>
                <c:pt idx="82">
                  <c:v>393</c:v>
                </c:pt>
                <c:pt idx="83">
                  <c:v>344</c:v>
                </c:pt>
                <c:pt idx="84">
                  <c:v>336</c:v>
                </c:pt>
                <c:pt idx="85">
                  <c:v>301</c:v>
                </c:pt>
                <c:pt idx="86">
                  <c:v>392</c:v>
                </c:pt>
                <c:pt idx="87">
                  <c:v>337</c:v>
                </c:pt>
                <c:pt idx="88">
                  <c:v>329</c:v>
                </c:pt>
                <c:pt idx="89">
                  <c:v>323</c:v>
                </c:pt>
                <c:pt idx="90">
                  <c:v>371</c:v>
                </c:pt>
                <c:pt idx="91">
                  <c:v>306</c:v>
                </c:pt>
                <c:pt idx="92">
                  <c:v>335</c:v>
                </c:pt>
                <c:pt idx="93">
                  <c:v>398</c:v>
                </c:pt>
                <c:pt idx="94">
                  <c:v>313</c:v>
                </c:pt>
                <c:pt idx="95">
                  <c:v>311</c:v>
                </c:pt>
                <c:pt idx="96">
                  <c:v>318</c:v>
                </c:pt>
                <c:pt idx="97">
                  <c:v>398</c:v>
                </c:pt>
                <c:pt idx="98">
                  <c:v>326</c:v>
                </c:pt>
                <c:pt idx="99">
                  <c:v>345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C921-48C2-9654-AF8595D5E4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05909840"/>
        <c:axId val="1205889872"/>
      </c:scatterChart>
      <c:valAx>
        <c:axId val="1205909840"/>
        <c:scaling>
          <c:orientation val="minMax"/>
          <c:max val="10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X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05889872"/>
        <c:crosses val="autoZero"/>
        <c:crossBetween val="midCat"/>
      </c:valAx>
      <c:valAx>
        <c:axId val="1205889872"/>
        <c:scaling>
          <c:orientation val="minMax"/>
          <c:min val="25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0590984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815026246719161"/>
          <c:y val="0.1111111111111111"/>
          <c:w val="0.81229418197725289"/>
          <c:h val="0.68331802274715658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Sheet1!$L$1</c:f>
              <c:strCache>
                <c:ptCount val="1"/>
                <c:pt idx="0">
                  <c:v>Y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rgbClr val="FF0000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xVal>
            <c:numRef>
              <c:f>Sheet1!$H$2:$H$101</c:f>
              <c:numCache>
                <c:formatCode>General</c:formatCode>
                <c:ptCount val="100"/>
                <c:pt idx="0">
                  <c:v>12</c:v>
                </c:pt>
                <c:pt idx="1">
                  <c:v>89</c:v>
                </c:pt>
                <c:pt idx="2">
                  <c:v>56</c:v>
                </c:pt>
                <c:pt idx="3">
                  <c:v>49</c:v>
                </c:pt>
                <c:pt idx="4">
                  <c:v>79</c:v>
                </c:pt>
                <c:pt idx="5">
                  <c:v>54</c:v>
                </c:pt>
                <c:pt idx="6">
                  <c:v>63</c:v>
                </c:pt>
                <c:pt idx="7">
                  <c:v>6</c:v>
                </c:pt>
                <c:pt idx="8">
                  <c:v>12</c:v>
                </c:pt>
                <c:pt idx="9">
                  <c:v>92</c:v>
                </c:pt>
                <c:pt idx="10">
                  <c:v>18</c:v>
                </c:pt>
                <c:pt idx="11">
                  <c:v>96</c:v>
                </c:pt>
                <c:pt idx="12">
                  <c:v>94</c:v>
                </c:pt>
                <c:pt idx="13">
                  <c:v>17</c:v>
                </c:pt>
                <c:pt idx="14">
                  <c:v>79</c:v>
                </c:pt>
                <c:pt idx="15">
                  <c:v>9</c:v>
                </c:pt>
                <c:pt idx="16">
                  <c:v>63</c:v>
                </c:pt>
                <c:pt idx="17">
                  <c:v>55</c:v>
                </c:pt>
                <c:pt idx="18">
                  <c:v>13</c:v>
                </c:pt>
                <c:pt idx="19">
                  <c:v>34</c:v>
                </c:pt>
                <c:pt idx="20">
                  <c:v>58</c:v>
                </c:pt>
                <c:pt idx="21">
                  <c:v>62</c:v>
                </c:pt>
                <c:pt idx="22">
                  <c:v>27</c:v>
                </c:pt>
                <c:pt idx="23">
                  <c:v>85</c:v>
                </c:pt>
                <c:pt idx="24">
                  <c:v>78</c:v>
                </c:pt>
                <c:pt idx="25">
                  <c:v>72</c:v>
                </c:pt>
                <c:pt idx="26">
                  <c:v>4</c:v>
                </c:pt>
                <c:pt idx="27">
                  <c:v>83</c:v>
                </c:pt>
                <c:pt idx="28">
                  <c:v>45</c:v>
                </c:pt>
                <c:pt idx="29">
                  <c:v>90</c:v>
                </c:pt>
                <c:pt idx="30">
                  <c:v>86</c:v>
                </c:pt>
                <c:pt idx="31">
                  <c:v>19</c:v>
                </c:pt>
                <c:pt idx="32">
                  <c:v>34</c:v>
                </c:pt>
                <c:pt idx="33">
                  <c:v>13</c:v>
                </c:pt>
                <c:pt idx="34">
                  <c:v>68</c:v>
                </c:pt>
                <c:pt idx="35">
                  <c:v>40</c:v>
                </c:pt>
                <c:pt idx="36">
                  <c:v>6</c:v>
                </c:pt>
                <c:pt idx="37">
                  <c:v>50</c:v>
                </c:pt>
                <c:pt idx="38">
                  <c:v>43</c:v>
                </c:pt>
                <c:pt idx="39">
                  <c:v>25</c:v>
                </c:pt>
                <c:pt idx="40">
                  <c:v>24</c:v>
                </c:pt>
                <c:pt idx="41">
                  <c:v>4</c:v>
                </c:pt>
                <c:pt idx="42">
                  <c:v>71</c:v>
                </c:pt>
                <c:pt idx="43">
                  <c:v>52</c:v>
                </c:pt>
                <c:pt idx="44">
                  <c:v>4</c:v>
                </c:pt>
                <c:pt idx="45">
                  <c:v>1</c:v>
                </c:pt>
                <c:pt idx="46">
                  <c:v>95</c:v>
                </c:pt>
                <c:pt idx="47">
                  <c:v>76</c:v>
                </c:pt>
                <c:pt idx="48">
                  <c:v>66</c:v>
                </c:pt>
                <c:pt idx="49">
                  <c:v>27</c:v>
                </c:pt>
                <c:pt idx="50">
                  <c:v>90</c:v>
                </c:pt>
                <c:pt idx="51">
                  <c:v>41</c:v>
                </c:pt>
                <c:pt idx="52">
                  <c:v>96</c:v>
                </c:pt>
                <c:pt idx="53">
                  <c:v>25</c:v>
                </c:pt>
                <c:pt idx="54">
                  <c:v>10</c:v>
                </c:pt>
                <c:pt idx="55">
                  <c:v>85</c:v>
                </c:pt>
                <c:pt idx="56">
                  <c:v>21</c:v>
                </c:pt>
                <c:pt idx="57">
                  <c:v>66</c:v>
                </c:pt>
                <c:pt idx="58">
                  <c:v>23</c:v>
                </c:pt>
                <c:pt idx="59">
                  <c:v>31</c:v>
                </c:pt>
                <c:pt idx="60">
                  <c:v>16</c:v>
                </c:pt>
                <c:pt idx="61">
                  <c:v>7</c:v>
                </c:pt>
                <c:pt idx="62">
                  <c:v>10</c:v>
                </c:pt>
                <c:pt idx="63">
                  <c:v>14</c:v>
                </c:pt>
                <c:pt idx="64">
                  <c:v>100</c:v>
                </c:pt>
                <c:pt idx="65">
                  <c:v>11</c:v>
                </c:pt>
                <c:pt idx="66">
                  <c:v>62</c:v>
                </c:pt>
                <c:pt idx="67">
                  <c:v>19</c:v>
                </c:pt>
                <c:pt idx="68">
                  <c:v>3</c:v>
                </c:pt>
                <c:pt idx="69">
                  <c:v>81</c:v>
                </c:pt>
                <c:pt idx="70">
                  <c:v>34</c:v>
                </c:pt>
                <c:pt idx="71">
                  <c:v>61</c:v>
                </c:pt>
                <c:pt idx="72">
                  <c:v>50</c:v>
                </c:pt>
                <c:pt idx="73">
                  <c:v>93</c:v>
                </c:pt>
                <c:pt idx="74">
                  <c:v>58</c:v>
                </c:pt>
                <c:pt idx="75">
                  <c:v>9</c:v>
                </c:pt>
                <c:pt idx="76">
                  <c:v>49</c:v>
                </c:pt>
                <c:pt idx="77">
                  <c:v>31</c:v>
                </c:pt>
                <c:pt idx="78">
                  <c:v>7</c:v>
                </c:pt>
                <c:pt idx="79">
                  <c:v>91</c:v>
                </c:pt>
                <c:pt idx="80">
                  <c:v>45</c:v>
                </c:pt>
                <c:pt idx="81">
                  <c:v>16</c:v>
                </c:pt>
                <c:pt idx="82">
                  <c:v>29</c:v>
                </c:pt>
                <c:pt idx="83">
                  <c:v>93</c:v>
                </c:pt>
                <c:pt idx="84">
                  <c:v>35</c:v>
                </c:pt>
                <c:pt idx="85">
                  <c:v>14</c:v>
                </c:pt>
                <c:pt idx="86">
                  <c:v>72</c:v>
                </c:pt>
                <c:pt idx="87">
                  <c:v>83</c:v>
                </c:pt>
                <c:pt idx="88">
                  <c:v>78</c:v>
                </c:pt>
                <c:pt idx="89">
                  <c:v>60</c:v>
                </c:pt>
                <c:pt idx="90">
                  <c:v>37</c:v>
                </c:pt>
                <c:pt idx="91">
                  <c:v>63</c:v>
                </c:pt>
                <c:pt idx="92">
                  <c:v>4</c:v>
                </c:pt>
                <c:pt idx="93">
                  <c:v>71</c:v>
                </c:pt>
                <c:pt idx="94">
                  <c:v>72</c:v>
                </c:pt>
                <c:pt idx="95">
                  <c:v>78</c:v>
                </c:pt>
                <c:pt idx="96">
                  <c:v>38</c:v>
                </c:pt>
                <c:pt idx="97">
                  <c:v>65</c:v>
                </c:pt>
                <c:pt idx="98">
                  <c:v>79</c:v>
                </c:pt>
                <c:pt idx="99">
                  <c:v>65</c:v>
                </c:pt>
              </c:numCache>
            </c:numRef>
          </c:xVal>
          <c:yVal>
            <c:numRef>
              <c:f>Sheet1!$L$2:$L$101</c:f>
              <c:numCache>
                <c:formatCode>General</c:formatCode>
                <c:ptCount val="100"/>
                <c:pt idx="0">
                  <c:v>303</c:v>
                </c:pt>
                <c:pt idx="1">
                  <c:v>362</c:v>
                </c:pt>
                <c:pt idx="2">
                  <c:v>469</c:v>
                </c:pt>
                <c:pt idx="3">
                  <c:v>457</c:v>
                </c:pt>
                <c:pt idx="4">
                  <c:v>493</c:v>
                </c:pt>
                <c:pt idx="5">
                  <c:v>338</c:v>
                </c:pt>
                <c:pt idx="6">
                  <c:v>341</c:v>
                </c:pt>
                <c:pt idx="7">
                  <c:v>404</c:v>
                </c:pt>
                <c:pt idx="8">
                  <c:v>234</c:v>
                </c:pt>
                <c:pt idx="9">
                  <c:v>432</c:v>
                </c:pt>
                <c:pt idx="10">
                  <c:v>379</c:v>
                </c:pt>
                <c:pt idx="11">
                  <c:v>531</c:v>
                </c:pt>
                <c:pt idx="12">
                  <c:v>392</c:v>
                </c:pt>
                <c:pt idx="13">
                  <c:v>458</c:v>
                </c:pt>
                <c:pt idx="14">
                  <c:v>542</c:v>
                </c:pt>
                <c:pt idx="15">
                  <c:v>348</c:v>
                </c:pt>
                <c:pt idx="16">
                  <c:v>354</c:v>
                </c:pt>
                <c:pt idx="17">
                  <c:v>427</c:v>
                </c:pt>
                <c:pt idx="18">
                  <c:v>418</c:v>
                </c:pt>
                <c:pt idx="19">
                  <c:v>496</c:v>
                </c:pt>
                <c:pt idx="20">
                  <c:v>450</c:v>
                </c:pt>
                <c:pt idx="21">
                  <c:v>491</c:v>
                </c:pt>
                <c:pt idx="22">
                  <c:v>469</c:v>
                </c:pt>
                <c:pt idx="23">
                  <c:v>542</c:v>
                </c:pt>
                <c:pt idx="24">
                  <c:v>542</c:v>
                </c:pt>
                <c:pt idx="25">
                  <c:v>552</c:v>
                </c:pt>
                <c:pt idx="26">
                  <c:v>322</c:v>
                </c:pt>
                <c:pt idx="27">
                  <c:v>399</c:v>
                </c:pt>
                <c:pt idx="28">
                  <c:v>330</c:v>
                </c:pt>
                <c:pt idx="29">
                  <c:v>414</c:v>
                </c:pt>
                <c:pt idx="30">
                  <c:v>419</c:v>
                </c:pt>
                <c:pt idx="31">
                  <c:v>465</c:v>
                </c:pt>
                <c:pt idx="32">
                  <c:v>263</c:v>
                </c:pt>
                <c:pt idx="33">
                  <c:v>441</c:v>
                </c:pt>
                <c:pt idx="34">
                  <c:v>325</c:v>
                </c:pt>
                <c:pt idx="35">
                  <c:v>510</c:v>
                </c:pt>
                <c:pt idx="36">
                  <c:v>212</c:v>
                </c:pt>
                <c:pt idx="37">
                  <c:v>523</c:v>
                </c:pt>
                <c:pt idx="38">
                  <c:v>319</c:v>
                </c:pt>
                <c:pt idx="39">
                  <c:v>392</c:v>
                </c:pt>
                <c:pt idx="40">
                  <c:v>476</c:v>
                </c:pt>
                <c:pt idx="41">
                  <c:v>212</c:v>
                </c:pt>
                <c:pt idx="42">
                  <c:v>371</c:v>
                </c:pt>
                <c:pt idx="43">
                  <c:v>329</c:v>
                </c:pt>
                <c:pt idx="44">
                  <c:v>332</c:v>
                </c:pt>
                <c:pt idx="45">
                  <c:v>283</c:v>
                </c:pt>
                <c:pt idx="46">
                  <c:v>544</c:v>
                </c:pt>
                <c:pt idx="47">
                  <c:v>429</c:v>
                </c:pt>
                <c:pt idx="48">
                  <c:v>451</c:v>
                </c:pt>
                <c:pt idx="49">
                  <c:v>481</c:v>
                </c:pt>
                <c:pt idx="50">
                  <c:v>449</c:v>
                </c:pt>
                <c:pt idx="51">
                  <c:v>420</c:v>
                </c:pt>
                <c:pt idx="52">
                  <c:v>426</c:v>
                </c:pt>
                <c:pt idx="53">
                  <c:v>303</c:v>
                </c:pt>
                <c:pt idx="54">
                  <c:v>320</c:v>
                </c:pt>
                <c:pt idx="55">
                  <c:v>555</c:v>
                </c:pt>
                <c:pt idx="56">
                  <c:v>425</c:v>
                </c:pt>
                <c:pt idx="57">
                  <c:v>430</c:v>
                </c:pt>
                <c:pt idx="58">
                  <c:v>234</c:v>
                </c:pt>
                <c:pt idx="59">
                  <c:v>475</c:v>
                </c:pt>
                <c:pt idx="60">
                  <c:v>237</c:v>
                </c:pt>
                <c:pt idx="61">
                  <c:v>437</c:v>
                </c:pt>
                <c:pt idx="62">
                  <c:v>324</c:v>
                </c:pt>
                <c:pt idx="63">
                  <c:v>420</c:v>
                </c:pt>
                <c:pt idx="64">
                  <c:v>584</c:v>
                </c:pt>
                <c:pt idx="65">
                  <c:v>300</c:v>
                </c:pt>
                <c:pt idx="66">
                  <c:v>402</c:v>
                </c:pt>
                <c:pt idx="67">
                  <c:v>398</c:v>
                </c:pt>
                <c:pt idx="68">
                  <c:v>384</c:v>
                </c:pt>
                <c:pt idx="69">
                  <c:v>419</c:v>
                </c:pt>
                <c:pt idx="70">
                  <c:v>449</c:v>
                </c:pt>
                <c:pt idx="71">
                  <c:v>491</c:v>
                </c:pt>
                <c:pt idx="72">
                  <c:v>484</c:v>
                </c:pt>
                <c:pt idx="73">
                  <c:v>532</c:v>
                </c:pt>
                <c:pt idx="74">
                  <c:v>535</c:v>
                </c:pt>
                <c:pt idx="75">
                  <c:v>283</c:v>
                </c:pt>
                <c:pt idx="76">
                  <c:v>348</c:v>
                </c:pt>
                <c:pt idx="77">
                  <c:v>302</c:v>
                </c:pt>
                <c:pt idx="78">
                  <c:v>292</c:v>
                </c:pt>
                <c:pt idx="79">
                  <c:v>396</c:v>
                </c:pt>
                <c:pt idx="80">
                  <c:v>471</c:v>
                </c:pt>
                <c:pt idx="81">
                  <c:v>411</c:v>
                </c:pt>
                <c:pt idx="82">
                  <c:v>352</c:v>
                </c:pt>
                <c:pt idx="83">
                  <c:v>413</c:v>
                </c:pt>
                <c:pt idx="84">
                  <c:v>440</c:v>
                </c:pt>
                <c:pt idx="85">
                  <c:v>214</c:v>
                </c:pt>
                <c:pt idx="86">
                  <c:v>497</c:v>
                </c:pt>
                <c:pt idx="87">
                  <c:v>495</c:v>
                </c:pt>
                <c:pt idx="88">
                  <c:v>562</c:v>
                </c:pt>
                <c:pt idx="89">
                  <c:v>517</c:v>
                </c:pt>
                <c:pt idx="90">
                  <c:v>497</c:v>
                </c:pt>
                <c:pt idx="91">
                  <c:v>412</c:v>
                </c:pt>
                <c:pt idx="92">
                  <c:v>403</c:v>
                </c:pt>
                <c:pt idx="93">
                  <c:v>385</c:v>
                </c:pt>
                <c:pt idx="94">
                  <c:v>430</c:v>
                </c:pt>
                <c:pt idx="95">
                  <c:v>338</c:v>
                </c:pt>
                <c:pt idx="96">
                  <c:v>367</c:v>
                </c:pt>
                <c:pt idx="97">
                  <c:v>450</c:v>
                </c:pt>
                <c:pt idx="98">
                  <c:v>354</c:v>
                </c:pt>
                <c:pt idx="99">
                  <c:v>422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4A33-4119-A81E-E6FB65A2BA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05909840"/>
        <c:axId val="1205889872"/>
      </c:scatterChart>
      <c:valAx>
        <c:axId val="1205909840"/>
        <c:scaling>
          <c:orientation val="minMax"/>
          <c:max val="10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X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05889872"/>
        <c:crosses val="autoZero"/>
        <c:crossBetween val="midCat"/>
      </c:valAx>
      <c:valAx>
        <c:axId val="12058898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0590984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815026246719161"/>
          <c:y val="0.1111111111111111"/>
          <c:w val="0.81229418197725289"/>
          <c:h val="0.68331802274715658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Sheet1!$M$1</c:f>
              <c:strCache>
                <c:ptCount val="1"/>
                <c:pt idx="0">
                  <c:v>Y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rgbClr val="FF0000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xVal>
            <c:numRef>
              <c:f>Sheet1!$H$2:$H$101</c:f>
              <c:numCache>
                <c:formatCode>General</c:formatCode>
                <c:ptCount val="100"/>
                <c:pt idx="0">
                  <c:v>12</c:v>
                </c:pt>
                <c:pt idx="1">
                  <c:v>89</c:v>
                </c:pt>
                <c:pt idx="2">
                  <c:v>56</c:v>
                </c:pt>
                <c:pt idx="3">
                  <c:v>49</c:v>
                </c:pt>
                <c:pt idx="4">
                  <c:v>79</c:v>
                </c:pt>
                <c:pt idx="5">
                  <c:v>54</c:v>
                </c:pt>
                <c:pt idx="6">
                  <c:v>63</c:v>
                </c:pt>
                <c:pt idx="7">
                  <c:v>6</c:v>
                </c:pt>
                <c:pt idx="8">
                  <c:v>12</c:v>
                </c:pt>
                <c:pt idx="9">
                  <c:v>92</c:v>
                </c:pt>
                <c:pt idx="10">
                  <c:v>18</c:v>
                </c:pt>
                <c:pt idx="11">
                  <c:v>96</c:v>
                </c:pt>
                <c:pt idx="12">
                  <c:v>94</c:v>
                </c:pt>
                <c:pt idx="13">
                  <c:v>17</c:v>
                </c:pt>
                <c:pt idx="14">
                  <c:v>79</c:v>
                </c:pt>
                <c:pt idx="15">
                  <c:v>9</c:v>
                </c:pt>
                <c:pt idx="16">
                  <c:v>63</c:v>
                </c:pt>
                <c:pt idx="17">
                  <c:v>55</c:v>
                </c:pt>
                <c:pt idx="18">
                  <c:v>13</c:v>
                </c:pt>
                <c:pt idx="19">
                  <c:v>34</c:v>
                </c:pt>
                <c:pt idx="20">
                  <c:v>58</c:v>
                </c:pt>
                <c:pt idx="21">
                  <c:v>62</c:v>
                </c:pt>
                <c:pt idx="22">
                  <c:v>27</c:v>
                </c:pt>
                <c:pt idx="23">
                  <c:v>85</c:v>
                </c:pt>
                <c:pt idx="24">
                  <c:v>78</c:v>
                </c:pt>
                <c:pt idx="25">
                  <c:v>72</c:v>
                </c:pt>
                <c:pt idx="26">
                  <c:v>4</c:v>
                </c:pt>
                <c:pt idx="27">
                  <c:v>83</c:v>
                </c:pt>
                <c:pt idx="28">
                  <c:v>45</c:v>
                </c:pt>
                <c:pt idx="29">
                  <c:v>90</c:v>
                </c:pt>
                <c:pt idx="30">
                  <c:v>86</c:v>
                </c:pt>
                <c:pt idx="31">
                  <c:v>19</c:v>
                </c:pt>
                <c:pt idx="32">
                  <c:v>34</c:v>
                </c:pt>
                <c:pt idx="33">
                  <c:v>13</c:v>
                </c:pt>
                <c:pt idx="34">
                  <c:v>68</c:v>
                </c:pt>
                <c:pt idx="35">
                  <c:v>40</c:v>
                </c:pt>
                <c:pt idx="36">
                  <c:v>6</c:v>
                </c:pt>
                <c:pt idx="37">
                  <c:v>50</c:v>
                </c:pt>
                <c:pt idx="38">
                  <c:v>43</c:v>
                </c:pt>
                <c:pt idx="39">
                  <c:v>25</c:v>
                </c:pt>
                <c:pt idx="40">
                  <c:v>24</c:v>
                </c:pt>
                <c:pt idx="41">
                  <c:v>4</c:v>
                </c:pt>
                <c:pt idx="42">
                  <c:v>71</c:v>
                </c:pt>
                <c:pt idx="43">
                  <c:v>52</c:v>
                </c:pt>
                <c:pt idx="44">
                  <c:v>4</c:v>
                </c:pt>
                <c:pt idx="45">
                  <c:v>1</c:v>
                </c:pt>
                <c:pt idx="46">
                  <c:v>95</c:v>
                </c:pt>
                <c:pt idx="47">
                  <c:v>76</c:v>
                </c:pt>
                <c:pt idx="48">
                  <c:v>66</c:v>
                </c:pt>
                <c:pt idx="49">
                  <c:v>27</c:v>
                </c:pt>
                <c:pt idx="50">
                  <c:v>90</c:v>
                </c:pt>
                <c:pt idx="51">
                  <c:v>41</c:v>
                </c:pt>
                <c:pt idx="52">
                  <c:v>96</c:v>
                </c:pt>
                <c:pt idx="53">
                  <c:v>25</c:v>
                </c:pt>
                <c:pt idx="54">
                  <c:v>10</c:v>
                </c:pt>
                <c:pt idx="55">
                  <c:v>85</c:v>
                </c:pt>
                <c:pt idx="56">
                  <c:v>21</c:v>
                </c:pt>
                <c:pt idx="57">
                  <c:v>66</c:v>
                </c:pt>
                <c:pt idx="58">
                  <c:v>23</c:v>
                </c:pt>
                <c:pt idx="59">
                  <c:v>31</c:v>
                </c:pt>
                <c:pt idx="60">
                  <c:v>16</c:v>
                </c:pt>
                <c:pt idx="61">
                  <c:v>7</c:v>
                </c:pt>
                <c:pt idx="62">
                  <c:v>10</c:v>
                </c:pt>
                <c:pt idx="63">
                  <c:v>14</c:v>
                </c:pt>
                <c:pt idx="64">
                  <c:v>100</c:v>
                </c:pt>
                <c:pt idx="65">
                  <c:v>11</c:v>
                </c:pt>
                <c:pt idx="66">
                  <c:v>62</c:v>
                </c:pt>
                <c:pt idx="67">
                  <c:v>19</c:v>
                </c:pt>
                <c:pt idx="68">
                  <c:v>3</c:v>
                </c:pt>
                <c:pt idx="69">
                  <c:v>81</c:v>
                </c:pt>
                <c:pt idx="70">
                  <c:v>34</c:v>
                </c:pt>
                <c:pt idx="71">
                  <c:v>61</c:v>
                </c:pt>
                <c:pt idx="72">
                  <c:v>50</c:v>
                </c:pt>
                <c:pt idx="73">
                  <c:v>93</c:v>
                </c:pt>
                <c:pt idx="74">
                  <c:v>58</c:v>
                </c:pt>
                <c:pt idx="75">
                  <c:v>9</c:v>
                </c:pt>
                <c:pt idx="76">
                  <c:v>49</c:v>
                </c:pt>
                <c:pt idx="77">
                  <c:v>31</c:v>
                </c:pt>
                <c:pt idx="78">
                  <c:v>7</c:v>
                </c:pt>
                <c:pt idx="79">
                  <c:v>91</c:v>
                </c:pt>
                <c:pt idx="80">
                  <c:v>45</c:v>
                </c:pt>
                <c:pt idx="81">
                  <c:v>16</c:v>
                </c:pt>
                <c:pt idx="82">
                  <c:v>29</c:v>
                </c:pt>
                <c:pt idx="83">
                  <c:v>93</c:v>
                </c:pt>
                <c:pt idx="84">
                  <c:v>35</c:v>
                </c:pt>
                <c:pt idx="85">
                  <c:v>14</c:v>
                </c:pt>
                <c:pt idx="86">
                  <c:v>72</c:v>
                </c:pt>
                <c:pt idx="87">
                  <c:v>83</c:v>
                </c:pt>
                <c:pt idx="88">
                  <c:v>78</c:v>
                </c:pt>
                <c:pt idx="89">
                  <c:v>60</c:v>
                </c:pt>
                <c:pt idx="90">
                  <c:v>37</c:v>
                </c:pt>
                <c:pt idx="91">
                  <c:v>63</c:v>
                </c:pt>
                <c:pt idx="92">
                  <c:v>4</c:v>
                </c:pt>
                <c:pt idx="93">
                  <c:v>71</c:v>
                </c:pt>
                <c:pt idx="94">
                  <c:v>72</c:v>
                </c:pt>
                <c:pt idx="95">
                  <c:v>78</c:v>
                </c:pt>
                <c:pt idx="96">
                  <c:v>38</c:v>
                </c:pt>
                <c:pt idx="97">
                  <c:v>65</c:v>
                </c:pt>
                <c:pt idx="98">
                  <c:v>79</c:v>
                </c:pt>
                <c:pt idx="99">
                  <c:v>65</c:v>
                </c:pt>
              </c:numCache>
            </c:numRef>
          </c:xVal>
          <c:yVal>
            <c:numRef>
              <c:f>Sheet1!$M$2:$M$101</c:f>
              <c:numCache>
                <c:formatCode>General</c:formatCode>
                <c:ptCount val="100"/>
                <c:pt idx="0">
                  <c:v>331</c:v>
                </c:pt>
                <c:pt idx="1">
                  <c:v>485</c:v>
                </c:pt>
                <c:pt idx="2">
                  <c:v>419</c:v>
                </c:pt>
                <c:pt idx="3">
                  <c:v>405</c:v>
                </c:pt>
                <c:pt idx="4">
                  <c:v>465</c:v>
                </c:pt>
                <c:pt idx="5">
                  <c:v>415</c:v>
                </c:pt>
                <c:pt idx="6">
                  <c:v>433</c:v>
                </c:pt>
                <c:pt idx="7">
                  <c:v>319</c:v>
                </c:pt>
                <c:pt idx="8">
                  <c:v>331</c:v>
                </c:pt>
                <c:pt idx="9">
                  <c:v>491</c:v>
                </c:pt>
                <c:pt idx="10">
                  <c:v>343</c:v>
                </c:pt>
                <c:pt idx="11">
                  <c:v>499</c:v>
                </c:pt>
                <c:pt idx="12">
                  <c:v>495</c:v>
                </c:pt>
                <c:pt idx="13">
                  <c:v>341</c:v>
                </c:pt>
                <c:pt idx="14">
                  <c:v>465</c:v>
                </c:pt>
                <c:pt idx="15">
                  <c:v>325</c:v>
                </c:pt>
                <c:pt idx="16">
                  <c:v>433</c:v>
                </c:pt>
                <c:pt idx="17">
                  <c:v>417</c:v>
                </c:pt>
                <c:pt idx="18">
                  <c:v>333</c:v>
                </c:pt>
                <c:pt idx="19">
                  <c:v>375</c:v>
                </c:pt>
                <c:pt idx="20">
                  <c:v>423</c:v>
                </c:pt>
                <c:pt idx="21">
                  <c:v>431</c:v>
                </c:pt>
                <c:pt idx="22">
                  <c:v>361</c:v>
                </c:pt>
                <c:pt idx="23">
                  <c:v>477</c:v>
                </c:pt>
                <c:pt idx="24">
                  <c:v>463</c:v>
                </c:pt>
                <c:pt idx="25">
                  <c:v>451</c:v>
                </c:pt>
                <c:pt idx="26">
                  <c:v>315</c:v>
                </c:pt>
                <c:pt idx="27">
                  <c:v>473</c:v>
                </c:pt>
                <c:pt idx="28">
                  <c:v>397</c:v>
                </c:pt>
                <c:pt idx="29">
                  <c:v>487</c:v>
                </c:pt>
                <c:pt idx="30">
                  <c:v>479</c:v>
                </c:pt>
                <c:pt idx="31">
                  <c:v>345</c:v>
                </c:pt>
                <c:pt idx="32">
                  <c:v>375</c:v>
                </c:pt>
                <c:pt idx="33">
                  <c:v>333</c:v>
                </c:pt>
                <c:pt idx="34">
                  <c:v>443</c:v>
                </c:pt>
                <c:pt idx="35">
                  <c:v>387</c:v>
                </c:pt>
                <c:pt idx="36">
                  <c:v>319</c:v>
                </c:pt>
                <c:pt idx="37">
                  <c:v>407</c:v>
                </c:pt>
                <c:pt idx="38">
                  <c:v>393</c:v>
                </c:pt>
                <c:pt idx="39">
                  <c:v>357</c:v>
                </c:pt>
                <c:pt idx="40">
                  <c:v>355</c:v>
                </c:pt>
                <c:pt idx="41">
                  <c:v>315</c:v>
                </c:pt>
                <c:pt idx="42">
                  <c:v>449</c:v>
                </c:pt>
                <c:pt idx="43">
                  <c:v>411</c:v>
                </c:pt>
                <c:pt idx="44">
                  <c:v>315</c:v>
                </c:pt>
                <c:pt idx="45">
                  <c:v>309</c:v>
                </c:pt>
                <c:pt idx="46">
                  <c:v>497</c:v>
                </c:pt>
                <c:pt idx="47">
                  <c:v>459</c:v>
                </c:pt>
                <c:pt idx="48">
                  <c:v>439</c:v>
                </c:pt>
                <c:pt idx="49">
                  <c:v>361</c:v>
                </c:pt>
                <c:pt idx="50">
                  <c:v>487</c:v>
                </c:pt>
                <c:pt idx="51">
                  <c:v>389</c:v>
                </c:pt>
                <c:pt idx="52">
                  <c:v>499</c:v>
                </c:pt>
                <c:pt idx="53">
                  <c:v>357</c:v>
                </c:pt>
                <c:pt idx="54">
                  <c:v>327</c:v>
                </c:pt>
                <c:pt idx="55">
                  <c:v>477</c:v>
                </c:pt>
                <c:pt idx="56">
                  <c:v>349</c:v>
                </c:pt>
                <c:pt idx="57">
                  <c:v>439</c:v>
                </c:pt>
                <c:pt idx="58">
                  <c:v>353</c:v>
                </c:pt>
                <c:pt idx="59">
                  <c:v>369</c:v>
                </c:pt>
                <c:pt idx="60">
                  <c:v>339</c:v>
                </c:pt>
                <c:pt idx="61">
                  <c:v>321</c:v>
                </c:pt>
                <c:pt idx="62">
                  <c:v>327</c:v>
                </c:pt>
                <c:pt idx="63">
                  <c:v>335</c:v>
                </c:pt>
                <c:pt idx="64">
                  <c:v>507</c:v>
                </c:pt>
                <c:pt idx="65">
                  <c:v>329</c:v>
                </c:pt>
                <c:pt idx="66">
                  <c:v>431</c:v>
                </c:pt>
                <c:pt idx="67">
                  <c:v>345</c:v>
                </c:pt>
                <c:pt idx="68">
                  <c:v>313</c:v>
                </c:pt>
                <c:pt idx="69">
                  <c:v>469</c:v>
                </c:pt>
                <c:pt idx="70">
                  <c:v>375</c:v>
                </c:pt>
                <c:pt idx="71">
                  <c:v>429</c:v>
                </c:pt>
                <c:pt idx="72">
                  <c:v>407</c:v>
                </c:pt>
                <c:pt idx="73">
                  <c:v>493</c:v>
                </c:pt>
                <c:pt idx="74">
                  <c:v>423</c:v>
                </c:pt>
                <c:pt idx="75">
                  <c:v>325</c:v>
                </c:pt>
                <c:pt idx="76">
                  <c:v>405</c:v>
                </c:pt>
                <c:pt idx="77">
                  <c:v>369</c:v>
                </c:pt>
                <c:pt idx="78">
                  <c:v>321</c:v>
                </c:pt>
                <c:pt idx="79">
                  <c:v>489</c:v>
                </c:pt>
                <c:pt idx="80">
                  <c:v>397</c:v>
                </c:pt>
                <c:pt idx="81">
                  <c:v>339</c:v>
                </c:pt>
                <c:pt idx="82">
                  <c:v>365</c:v>
                </c:pt>
                <c:pt idx="83">
                  <c:v>493</c:v>
                </c:pt>
                <c:pt idx="84">
                  <c:v>377</c:v>
                </c:pt>
                <c:pt idx="85">
                  <c:v>335</c:v>
                </c:pt>
                <c:pt idx="86">
                  <c:v>451</c:v>
                </c:pt>
                <c:pt idx="87">
                  <c:v>473</c:v>
                </c:pt>
                <c:pt idx="88">
                  <c:v>463</c:v>
                </c:pt>
                <c:pt idx="89">
                  <c:v>427</c:v>
                </c:pt>
                <c:pt idx="90">
                  <c:v>381</c:v>
                </c:pt>
                <c:pt idx="91">
                  <c:v>433</c:v>
                </c:pt>
                <c:pt idx="92">
                  <c:v>315</c:v>
                </c:pt>
                <c:pt idx="93">
                  <c:v>449</c:v>
                </c:pt>
                <c:pt idx="94">
                  <c:v>451</c:v>
                </c:pt>
                <c:pt idx="95">
                  <c:v>463</c:v>
                </c:pt>
                <c:pt idx="96">
                  <c:v>383</c:v>
                </c:pt>
                <c:pt idx="97">
                  <c:v>437</c:v>
                </c:pt>
                <c:pt idx="98">
                  <c:v>465</c:v>
                </c:pt>
                <c:pt idx="99">
                  <c:v>437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DE48-4D13-8F6E-AFBA0D2E9A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05909840"/>
        <c:axId val="1205889872"/>
      </c:scatterChart>
      <c:valAx>
        <c:axId val="1205909840"/>
        <c:scaling>
          <c:orientation val="minMax"/>
          <c:max val="10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X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05889872"/>
        <c:crosses val="autoZero"/>
        <c:crossBetween val="midCat"/>
      </c:valAx>
      <c:valAx>
        <c:axId val="12058898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0590984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E317D-B4B3-49FF-A581-52DA3797B8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7D1B94-82C5-46E5-9EE1-28AB8A7330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E43B2-B15D-4099-8746-DD99E50DB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15/07/2022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25FC5E-0CE5-4FB9-9BB4-ECE697CDD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77D2AF-5F8C-4771-98FC-EF00D7715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084452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383CE-5E9A-473E-8F92-32291246D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230B0-AC0C-4B6E-A4F5-4FAC675DD8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BAEB70-DC6E-4EE4-ABDB-D9F4B1250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15/07/2022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C9991B-0CBC-41B9-80F8-8DEAEE723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DD3A1-1FE1-4787-A35A-C16B93D6A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439920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14EA0-3971-4A70-AC19-921C78D90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2611F5-0784-4CBC-8768-D25827C13B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1B5F23-A571-41AA-B1EC-A876E11F8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15/07/2022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C112F-CDEB-4D92-ADE3-86AB8B719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C8463-30EC-4EEA-A19B-D84CED324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690601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969F9-639E-4E86-B905-361A72031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E7B1BF-80D7-4904-ACB2-42BD379AA3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29B174-563E-4F48-B5C9-95A627200A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11DC02-87F0-4A1D-814B-64EFA7C0B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15/07/2022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48FCFA-D637-43EC-A9A3-E70338057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4529AD-9E9D-4052-B7D9-D0ABBD465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271835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1600E-542F-4FAC-AAB5-8EC98DEDC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A7919A-1454-4109-8BB4-8CC19322D2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8D27C1-A966-4D82-8362-CDDD918F28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0123ED-5724-478B-AD91-AB6F0B8609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48748A-2608-4871-83D6-9304E2F0E5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AE35C4-EDAF-4BD6-9BFC-1EA10B4AD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15/07/2022</a:t>
            </a:fld>
            <a:endParaRPr lang="en-N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FD6A4F-56CD-4B0A-B844-E166B4526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330B7D-9487-4FC0-9C56-2353E1DE7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960082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5C3C4-2906-41C1-88A2-141162399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00F41E-FA6F-4E2A-82C4-91AA30005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15/07/2022</a:t>
            </a:fld>
            <a:endParaRPr lang="en-N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F7A56E-0DBD-4EA3-8EDD-71A7BE875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5D2D90-D199-4D9E-8339-CDC5C773A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719067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515A83-8386-4308-93A9-38AC8CB47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15/07/2022</a:t>
            </a:fld>
            <a:endParaRPr lang="en-N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A18E28-C4E7-438B-8852-AAC550790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789BCA-AF1F-4251-9148-6DC5AFDAD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989886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1047F-40DD-4BDF-9001-58E69C283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2E97F-46A8-4EA1-BCDC-A7C11AC8A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83CF31-99FA-4CD7-88D6-06ACA4199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009333-1C32-4955-A275-956BBBC46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15/07/2022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3C1F9E-9626-4A35-A52E-454BC798D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912061-68AF-49E0-BFE2-B0BDDAE2C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380861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44005-25DC-4DE2-9B63-AFDA0D59C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A3A2AC-6C82-44DD-87D0-DA52CB41B2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F6E4F4-5787-4725-861E-C195BB8448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202CCB-120B-4DD2-94BC-7891091CC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15/07/2022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66A5B3-8827-476F-8183-918928FCD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A53B3C-10A8-4EA5-B6F7-D5CCA0B99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034996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FF9CB-509B-46B8-B7D2-F360A55F5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F0ECD0-22A1-406D-8DC1-17433E09BB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DCFA5C-D24C-41B7-94F5-D416A1233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15/07/2022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157DE0-7248-42FF-9572-C708D27A7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FB283-1E90-4BE8-911F-1C7EFE656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96164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FE2739-245C-4111-A3C2-73970E9127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D012DF-D28D-4996-81BE-C8A9519B43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3C28B-C11D-4ED0-8304-E677041EB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15/07/2022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E24285-CE19-4637-BFEA-02DA1668B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82C048-E851-4CE1-8616-62FDD1483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780827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5A7951-8353-4D37-9B17-202BEBF3F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06BFE0-9436-4E6B-AF5B-C732AEE495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34AF23-4F70-4BD2-943B-70BE8CCE53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EA4C4C-8F90-4540-BA9B-F7C8969CE244}" type="datetimeFigureOut">
              <a:rPr lang="en-NZ" smtClean="0"/>
              <a:t>15/07/2022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C99E8B-B066-44AE-9836-C6C32D09A7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E5CC73-3019-45C0-9430-8C08AD9C2C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974031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11.png"/><Relationship Id="rId4" Type="http://schemas.openxmlformats.org/officeDocument/2006/relationships/image" Target="../media/image7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1.png"/><Relationship Id="rId4" Type="http://schemas.openxmlformats.org/officeDocument/2006/relationships/image" Target="../media/image104.pn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3.png"/><Relationship Id="rId7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11.png"/><Relationship Id="rId4" Type="http://schemas.openxmlformats.org/officeDocument/2006/relationships/image" Target="../media/image16.png"/><Relationship Id="rId9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1.png"/><Relationship Id="rId5" Type="http://schemas.openxmlformats.org/officeDocument/2006/relationships/image" Target="../media/image111.png"/><Relationship Id="rId4" Type="http://schemas.openxmlformats.org/officeDocument/2006/relationships/image" Target="../media/image2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3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3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1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.png"/><Relationship Id="rId7" Type="http://schemas.openxmlformats.org/officeDocument/2006/relationships/image" Target="../media/image3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1.png"/><Relationship Id="rId5" Type="http://schemas.openxmlformats.org/officeDocument/2006/relationships/image" Target="../media/image250.png"/><Relationship Id="rId9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.png"/><Relationship Id="rId7" Type="http://schemas.openxmlformats.org/officeDocument/2006/relationships/image" Target="../media/image3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291.png"/><Relationship Id="rId4" Type="http://schemas.openxmlformats.org/officeDocument/2006/relationships/image" Target="../media/image28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1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.png"/><Relationship Id="rId7" Type="http://schemas.openxmlformats.org/officeDocument/2006/relationships/image" Target="../media/image4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0.png"/><Relationship Id="rId5" Type="http://schemas.openxmlformats.org/officeDocument/2006/relationships/image" Target="../media/image330.png"/><Relationship Id="rId4" Type="http://schemas.openxmlformats.org/officeDocument/2006/relationships/image" Target="../media/image111.png"/><Relationship Id="rId9" Type="http://schemas.openxmlformats.org/officeDocument/2006/relationships/image" Target="../media/image4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3.png"/><Relationship Id="rId7" Type="http://schemas.openxmlformats.org/officeDocument/2006/relationships/image" Target="../media/image4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370.png"/><Relationship Id="rId4" Type="http://schemas.openxmlformats.org/officeDocument/2006/relationships/image" Target="../media/image36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39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5.png"/><Relationship Id="rId4" Type="http://schemas.openxmlformats.org/officeDocument/2006/relationships/image" Target="../media/image4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0.png"/><Relationship Id="rId7" Type="http://schemas.openxmlformats.org/officeDocument/2006/relationships/image" Target="../media/image4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10.png"/><Relationship Id="rId5" Type="http://schemas.openxmlformats.org/officeDocument/2006/relationships/image" Target="../media/image56.png"/><Relationship Id="rId4" Type="http://schemas.openxmlformats.org/officeDocument/2006/relationships/image" Target="../media/image7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7" Type="http://schemas.openxmlformats.org/officeDocument/2006/relationships/image" Target="../media/image43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0.png"/><Relationship Id="rId5" Type="http://schemas.openxmlformats.org/officeDocument/2006/relationships/image" Target="../media/image57.png"/><Relationship Id="rId4" Type="http://schemas.openxmlformats.org/officeDocument/2006/relationships/image" Target="../media/image12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0.png"/><Relationship Id="rId3" Type="http://schemas.openxmlformats.org/officeDocument/2006/relationships/image" Target="../media/image490.png"/><Relationship Id="rId7" Type="http://schemas.openxmlformats.org/officeDocument/2006/relationships/image" Target="../media/image53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0.png"/><Relationship Id="rId5" Type="http://schemas.openxmlformats.org/officeDocument/2006/relationships/image" Target="../media/image510.png"/><Relationship Id="rId4" Type="http://schemas.openxmlformats.org/officeDocument/2006/relationships/image" Target="../media/image50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0.png"/><Relationship Id="rId7" Type="http://schemas.openxmlformats.org/officeDocument/2006/relationships/image" Target="../media/image5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5" Type="http://schemas.openxmlformats.org/officeDocument/2006/relationships/image" Target="../media/image570.png"/><Relationship Id="rId4" Type="http://schemas.openxmlformats.org/officeDocument/2006/relationships/image" Target="../media/image560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png"/><Relationship Id="rId11" Type="http://schemas.openxmlformats.org/officeDocument/2006/relationships/image" Target="../media/image68.png"/><Relationship Id="rId5" Type="http://schemas.openxmlformats.org/officeDocument/2006/relationships/image" Target="../media/image62.png"/><Relationship Id="rId10" Type="http://schemas.openxmlformats.org/officeDocument/2006/relationships/image" Target="../media/image67.png"/><Relationship Id="rId4" Type="http://schemas.openxmlformats.org/officeDocument/2006/relationships/image" Target="../media/image61.png"/><Relationship Id="rId9" Type="http://schemas.openxmlformats.org/officeDocument/2006/relationships/image" Target="../media/image66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413.png"/><Relationship Id="rId7" Type="http://schemas.openxmlformats.org/officeDocument/2006/relationships/image" Target="../media/image7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0.png"/><Relationship Id="rId5" Type="http://schemas.openxmlformats.org/officeDocument/2006/relationships/image" Target="../media/image70.png"/><Relationship Id="rId10" Type="http://schemas.openxmlformats.org/officeDocument/2006/relationships/image" Target="../media/image74.png"/><Relationship Id="rId4" Type="http://schemas.openxmlformats.org/officeDocument/2006/relationships/image" Target="../media/image69.png"/><Relationship Id="rId9" Type="http://schemas.openxmlformats.org/officeDocument/2006/relationships/image" Target="../media/image73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1.png"/><Relationship Id="rId13" Type="http://schemas.openxmlformats.org/officeDocument/2006/relationships/image" Target="../media/image78.png"/><Relationship Id="rId3" Type="http://schemas.openxmlformats.org/officeDocument/2006/relationships/image" Target="../media/image681.png"/><Relationship Id="rId7" Type="http://schemas.openxmlformats.org/officeDocument/2006/relationships/image" Target="../media/image721.png"/><Relationship Id="rId12" Type="http://schemas.openxmlformats.org/officeDocument/2006/relationships/image" Target="../media/image7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13.png"/><Relationship Id="rId11" Type="http://schemas.openxmlformats.org/officeDocument/2006/relationships/image" Target="../media/image76.png"/><Relationship Id="rId5" Type="http://schemas.openxmlformats.org/officeDocument/2006/relationships/image" Target="../media/image701.png"/><Relationship Id="rId10" Type="http://schemas.openxmlformats.org/officeDocument/2006/relationships/image" Target="../media/image75.png"/><Relationship Id="rId4" Type="http://schemas.openxmlformats.org/officeDocument/2006/relationships/image" Target="../media/image691.png"/><Relationship Id="rId9" Type="http://schemas.openxmlformats.org/officeDocument/2006/relationships/image" Target="../media/image741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1.png"/><Relationship Id="rId7" Type="http://schemas.openxmlformats.org/officeDocument/2006/relationships/image" Target="../media/image45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0.png"/><Relationship Id="rId5" Type="http://schemas.openxmlformats.org/officeDocument/2006/relationships/image" Target="../media/image43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0.png"/><Relationship Id="rId5" Type="http://schemas.openxmlformats.org/officeDocument/2006/relationships/image" Target="../media/image430.png"/><Relationship Id="rId4" Type="http://schemas.openxmlformats.org/officeDocument/2006/relationships/image" Target="../media/image420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chart" Target="../charts/chart5.xml"/><Relationship Id="rId13" Type="http://schemas.openxmlformats.org/officeDocument/2006/relationships/image" Target="../media/image511.png"/><Relationship Id="rId3" Type="http://schemas.openxmlformats.org/officeDocument/2006/relationships/image" Target="../media/image460.png"/><Relationship Id="rId7" Type="http://schemas.openxmlformats.org/officeDocument/2006/relationships/chart" Target="../charts/chart4.xml"/><Relationship Id="rId12" Type="http://schemas.openxmlformats.org/officeDocument/2006/relationships/image" Target="../media/image50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3.xml"/><Relationship Id="rId11" Type="http://schemas.openxmlformats.org/officeDocument/2006/relationships/image" Target="../media/image781.png"/><Relationship Id="rId5" Type="http://schemas.openxmlformats.org/officeDocument/2006/relationships/chart" Target="../charts/chart2.xml"/><Relationship Id="rId10" Type="http://schemas.openxmlformats.org/officeDocument/2006/relationships/image" Target="../media/image480.png"/><Relationship Id="rId4" Type="http://schemas.openxmlformats.org/officeDocument/2006/relationships/chart" Target="../charts/chart1.xml"/><Relationship Id="rId9" Type="http://schemas.openxmlformats.org/officeDocument/2006/relationships/image" Target="../media/image470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13" Type="http://schemas.openxmlformats.org/officeDocument/2006/relationships/image" Target="../media/image89.png"/><Relationship Id="rId3" Type="http://schemas.openxmlformats.org/officeDocument/2006/relationships/image" Target="../media/image79.png"/><Relationship Id="rId7" Type="http://schemas.openxmlformats.org/officeDocument/2006/relationships/image" Target="../media/image83.png"/><Relationship Id="rId12" Type="http://schemas.openxmlformats.org/officeDocument/2006/relationships/image" Target="../media/image8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2.png"/><Relationship Id="rId11" Type="http://schemas.openxmlformats.org/officeDocument/2006/relationships/image" Target="../media/image87.png"/><Relationship Id="rId5" Type="http://schemas.openxmlformats.org/officeDocument/2006/relationships/image" Target="../media/image81.png"/><Relationship Id="rId10" Type="http://schemas.openxmlformats.org/officeDocument/2006/relationships/image" Target="../media/image86.png"/><Relationship Id="rId4" Type="http://schemas.openxmlformats.org/officeDocument/2006/relationships/image" Target="../media/image80.png"/><Relationship Id="rId9" Type="http://schemas.openxmlformats.org/officeDocument/2006/relationships/image" Target="../media/image85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2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0.png"/><Relationship Id="rId7" Type="http://schemas.openxmlformats.org/officeDocument/2006/relationships/image" Target="../media/image4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0.png"/><Relationship Id="rId5" Type="http://schemas.openxmlformats.org/officeDocument/2006/relationships/image" Target="../media/image650.png"/><Relationship Id="rId4" Type="http://schemas.openxmlformats.org/officeDocument/2006/relationships/image" Target="../media/image64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0.png"/><Relationship Id="rId7" Type="http://schemas.openxmlformats.org/officeDocument/2006/relationships/image" Target="../media/image5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0.png"/><Relationship Id="rId5" Type="http://schemas.openxmlformats.org/officeDocument/2006/relationships/image" Target="../media/image650.png"/><Relationship Id="rId4" Type="http://schemas.openxmlformats.org/officeDocument/2006/relationships/image" Target="../media/image64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0.png"/><Relationship Id="rId7" Type="http://schemas.openxmlformats.org/officeDocument/2006/relationships/image" Target="../media/image5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5" Type="http://schemas.openxmlformats.org/officeDocument/2006/relationships/image" Target="../media/image650.png"/><Relationship Id="rId4" Type="http://schemas.openxmlformats.org/officeDocument/2006/relationships/image" Target="../media/image640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2.png"/><Relationship Id="rId3" Type="http://schemas.openxmlformats.org/officeDocument/2006/relationships/image" Target="../media/image831.png"/><Relationship Id="rId7" Type="http://schemas.openxmlformats.org/officeDocument/2006/relationships/image" Target="../media/image87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61.png"/><Relationship Id="rId5" Type="http://schemas.openxmlformats.org/officeDocument/2006/relationships/image" Target="../media/image851.png"/><Relationship Id="rId4" Type="http://schemas.openxmlformats.org/officeDocument/2006/relationships/image" Target="../media/image841.png"/><Relationship Id="rId9" Type="http://schemas.openxmlformats.org/officeDocument/2006/relationships/image" Target="../media/image53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630.png"/><Relationship Id="rId7" Type="http://schemas.openxmlformats.org/officeDocument/2006/relationships/image" Target="../media/image75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0.png"/><Relationship Id="rId5" Type="http://schemas.openxmlformats.org/officeDocument/2006/relationships/image" Target="../media/image730.png"/><Relationship Id="rId4" Type="http://schemas.openxmlformats.org/officeDocument/2006/relationships/image" Target="../media/image720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3" Type="http://schemas.openxmlformats.org/officeDocument/2006/relationships/image" Target="../media/image630.png"/><Relationship Id="rId7" Type="http://schemas.openxmlformats.org/officeDocument/2006/relationships/image" Target="../media/image75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0.png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3" Type="http://schemas.openxmlformats.org/officeDocument/2006/relationships/image" Target="../media/image630.png"/><Relationship Id="rId7" Type="http://schemas.openxmlformats.org/officeDocument/2006/relationships/image" Target="../media/image75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0.png"/><Relationship Id="rId5" Type="http://schemas.openxmlformats.org/officeDocument/2006/relationships/image" Target="../media/image93.png"/><Relationship Id="rId4" Type="http://schemas.openxmlformats.org/officeDocument/2006/relationships/image" Target="../media/image90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3" Type="http://schemas.openxmlformats.org/officeDocument/2006/relationships/image" Target="../media/image630.png"/><Relationship Id="rId7" Type="http://schemas.openxmlformats.org/officeDocument/2006/relationships/image" Target="../media/image75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0.png"/><Relationship Id="rId5" Type="http://schemas.openxmlformats.org/officeDocument/2006/relationships/image" Target="../media/image95.png"/><Relationship Id="rId4" Type="http://schemas.openxmlformats.org/officeDocument/2006/relationships/image" Target="../media/image90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1.png"/><Relationship Id="rId3" Type="http://schemas.openxmlformats.org/officeDocument/2006/relationships/image" Target="../media/image881.png"/><Relationship Id="rId7" Type="http://schemas.openxmlformats.org/officeDocument/2006/relationships/image" Target="../media/image9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12.png"/><Relationship Id="rId5" Type="http://schemas.openxmlformats.org/officeDocument/2006/relationships/image" Target="../media/image901.png"/><Relationship Id="rId10" Type="http://schemas.openxmlformats.org/officeDocument/2006/relationships/image" Target="../media/image97.png"/><Relationship Id="rId4" Type="http://schemas.openxmlformats.org/officeDocument/2006/relationships/image" Target="../media/image891.png"/><Relationship Id="rId9" Type="http://schemas.openxmlformats.org/officeDocument/2006/relationships/image" Target="../media/image94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50.png"/><Relationship Id="rId4" Type="http://schemas.openxmlformats.org/officeDocument/2006/relationships/image" Target="../media/image840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1.png"/><Relationship Id="rId3" Type="http://schemas.openxmlformats.org/officeDocument/2006/relationships/image" Target="../media/image860.png"/><Relationship Id="rId7" Type="http://schemas.openxmlformats.org/officeDocument/2006/relationships/image" Target="../media/image90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90.png"/><Relationship Id="rId5" Type="http://schemas.openxmlformats.org/officeDocument/2006/relationships/image" Target="../media/image880.png"/><Relationship Id="rId10" Type="http://schemas.openxmlformats.org/officeDocument/2006/relationships/image" Target="../media/image960.png"/><Relationship Id="rId4" Type="http://schemas.openxmlformats.org/officeDocument/2006/relationships/image" Target="../media/image870.png"/><Relationship Id="rId9" Type="http://schemas.openxmlformats.org/officeDocument/2006/relationships/image" Target="../media/image951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3" Type="http://schemas.openxmlformats.org/officeDocument/2006/relationships/image" Target="../media/image941.png"/><Relationship Id="rId7" Type="http://schemas.openxmlformats.org/officeDocument/2006/relationships/image" Target="../media/image97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50.png"/><Relationship Id="rId11" Type="http://schemas.openxmlformats.org/officeDocument/2006/relationships/image" Target="../media/image1001.png"/><Relationship Id="rId5" Type="http://schemas.openxmlformats.org/officeDocument/2006/relationships/image" Target="../media/image940.png"/><Relationship Id="rId10" Type="http://schemas.openxmlformats.org/officeDocument/2006/relationships/image" Target="../media/image100.png"/><Relationship Id="rId4" Type="http://schemas.openxmlformats.org/officeDocument/2006/relationships/image" Target="../media/image930.png"/><Relationship Id="rId9" Type="http://schemas.openxmlformats.org/officeDocument/2006/relationships/image" Target="../media/image99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3" Type="http://schemas.openxmlformats.org/officeDocument/2006/relationships/image" Target="../media/image101.png"/><Relationship Id="rId7" Type="http://schemas.openxmlformats.org/officeDocument/2006/relationships/image" Target="../media/image10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5.png"/><Relationship Id="rId5" Type="http://schemas.openxmlformats.org/officeDocument/2006/relationships/image" Target="../media/image103.png"/><Relationship Id="rId4" Type="http://schemas.openxmlformats.org/officeDocument/2006/relationships/image" Target="../media/image10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00.png"/><Relationship Id="rId4" Type="http://schemas.openxmlformats.org/officeDocument/2006/relationships/image" Target="../media/image108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3" Type="http://schemas.openxmlformats.org/officeDocument/2006/relationships/image" Target="../media/image1080.png"/><Relationship Id="rId7" Type="http://schemas.openxmlformats.org/officeDocument/2006/relationships/image" Target="../media/image1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3.png"/><Relationship Id="rId5" Type="http://schemas.openxmlformats.org/officeDocument/2006/relationships/image" Target="../media/image112.png"/><Relationship Id="rId4" Type="http://schemas.openxmlformats.org/officeDocument/2006/relationships/image" Target="../media/image109.png"/><Relationship Id="rId9" Type="http://schemas.openxmlformats.org/officeDocument/2006/relationships/image" Target="../media/image1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0" name="Rectangle 72">
            <a:extLst>
              <a:ext uri="{FF2B5EF4-FFF2-40B4-BE49-F238E27FC236}">
                <a16:creationId xmlns:a16="http://schemas.microsoft.com/office/drawing/2014/main" id="{FD073016-B734-483B-8953-5BADEE145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0"/>
            <a:ext cx="8157458" cy="6858000"/>
          </a:xfrm>
          <a:prstGeom prst="rect">
            <a:avLst/>
          </a:prstGeom>
          <a:gradFill>
            <a:gsLst>
              <a:gs pos="2000">
                <a:schemeClr val="accent1"/>
              </a:gs>
              <a:gs pos="78000">
                <a:schemeClr val="accent1">
                  <a:lumMod val="50000"/>
                </a:schemeClr>
              </a:gs>
              <a:gs pos="100000">
                <a:srgbClr val="000000">
                  <a:alpha val="85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1" name="Rectangle 74">
            <a:extLst>
              <a:ext uri="{FF2B5EF4-FFF2-40B4-BE49-F238E27FC236}">
                <a16:creationId xmlns:a16="http://schemas.microsoft.com/office/drawing/2014/main" id="{90A7EAB6-59D3-4325-8DE6-E0CA4009C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4537" y="1839884"/>
            <a:ext cx="8157460" cy="501768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30000"/>
                </a:schemeClr>
              </a:gs>
              <a:gs pos="100000">
                <a:srgbClr val="000000">
                  <a:alpha val="44000"/>
                </a:srgb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2" name="Rectangle 76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63179" y="-33131"/>
            <a:ext cx="6857999" cy="6923403"/>
          </a:xfrm>
          <a:prstGeom prst="rect">
            <a:avLst/>
          </a:prstGeom>
          <a:gradFill>
            <a:gsLst>
              <a:gs pos="56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Programmes and courses | Study at Wellington | Victoria University of  Wellington">
            <a:extLst>
              <a:ext uri="{FF2B5EF4-FFF2-40B4-BE49-F238E27FC236}">
                <a16:creationId xmlns:a16="http://schemas.microsoft.com/office/drawing/2014/main" id="{087F352A-9067-4A20-840B-9F57464891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5" r="1" b="1"/>
          <a:stretch/>
        </p:blipFill>
        <p:spPr bwMode="auto">
          <a:xfrm>
            <a:off x="457200" y="457200"/>
            <a:ext cx="11277600" cy="594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F6EF4C4-5CC1-4D9D-A4EE-9A6C2CC6D81C}"/>
              </a:ext>
            </a:extLst>
          </p:cNvPr>
          <p:cNvSpPr txBox="1"/>
          <p:nvPr/>
        </p:nvSpPr>
        <p:spPr>
          <a:xfrm>
            <a:off x="3858329" y="913501"/>
            <a:ext cx="692340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NZ" sz="3500" b="1" u="sng" dirty="0">
                <a:solidFill>
                  <a:schemeClr val="bg1"/>
                </a:solidFill>
              </a:rPr>
              <a:t>STATS 293 </a:t>
            </a:r>
            <a:br>
              <a:rPr lang="en-NZ" sz="3500" b="1" dirty="0">
                <a:solidFill>
                  <a:schemeClr val="bg1"/>
                </a:solidFill>
              </a:rPr>
            </a:br>
            <a:r>
              <a:rPr lang="en-NZ" sz="3500" dirty="0">
                <a:solidFill>
                  <a:schemeClr val="bg1"/>
                </a:solidFill>
              </a:rPr>
              <a:t>Applied Statistics with 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5E15834-4C1C-48A4-9F77-1A195C7F3F70}"/>
              </a:ext>
            </a:extLst>
          </p:cNvPr>
          <p:cNvSpPr txBox="1"/>
          <p:nvPr/>
        </p:nvSpPr>
        <p:spPr>
          <a:xfrm>
            <a:off x="4038600" y="4646474"/>
            <a:ext cx="69234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NZ" sz="2800" dirty="0">
                <a:solidFill>
                  <a:schemeClr val="bg1"/>
                </a:solidFill>
              </a:rPr>
              <a:t>Chapter 1 – Notation &amp; Expectation Algebra</a:t>
            </a:r>
          </a:p>
        </p:txBody>
      </p:sp>
    </p:spTree>
    <p:extLst>
      <p:ext uri="{BB962C8B-B14F-4D97-AF65-F5344CB8AC3E}">
        <p14:creationId xmlns:p14="http://schemas.microsoft.com/office/powerpoint/2010/main" val="2477869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0" name="Rectangle 72">
            <a:extLst>
              <a:ext uri="{FF2B5EF4-FFF2-40B4-BE49-F238E27FC236}">
                <a16:creationId xmlns:a16="http://schemas.microsoft.com/office/drawing/2014/main" id="{FD073016-B734-483B-8953-5BADEE145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0"/>
            <a:ext cx="8157458" cy="6858000"/>
          </a:xfrm>
          <a:prstGeom prst="rect">
            <a:avLst/>
          </a:prstGeom>
          <a:gradFill>
            <a:gsLst>
              <a:gs pos="2000">
                <a:schemeClr val="accent1"/>
              </a:gs>
              <a:gs pos="78000">
                <a:schemeClr val="accent1">
                  <a:lumMod val="50000"/>
                </a:schemeClr>
              </a:gs>
              <a:gs pos="100000">
                <a:srgbClr val="000000">
                  <a:alpha val="85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1" name="Rectangle 74">
            <a:extLst>
              <a:ext uri="{FF2B5EF4-FFF2-40B4-BE49-F238E27FC236}">
                <a16:creationId xmlns:a16="http://schemas.microsoft.com/office/drawing/2014/main" id="{90A7EAB6-59D3-4325-8DE6-E0CA4009C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4537" y="1839884"/>
            <a:ext cx="8157460" cy="501768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30000"/>
                </a:schemeClr>
              </a:gs>
              <a:gs pos="100000">
                <a:srgbClr val="000000">
                  <a:alpha val="44000"/>
                </a:srgb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2" name="Rectangle 76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63179" y="-33131"/>
            <a:ext cx="6857999" cy="6923403"/>
          </a:xfrm>
          <a:prstGeom prst="rect">
            <a:avLst/>
          </a:prstGeom>
          <a:gradFill>
            <a:gsLst>
              <a:gs pos="56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14062D-E1C1-4F63-B0FD-D013BDA5782B}"/>
              </a:ext>
            </a:extLst>
          </p:cNvPr>
          <p:cNvSpPr txBox="1"/>
          <p:nvPr/>
        </p:nvSpPr>
        <p:spPr>
          <a:xfrm>
            <a:off x="43707" y="2844225"/>
            <a:ext cx="1210458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NZ" sz="4500" b="1" dirty="0">
                <a:solidFill>
                  <a:srgbClr val="FFC000"/>
                </a:solidFill>
              </a:rPr>
              <a:t>1.1 - Summation notation and algebra for </a:t>
            </a:r>
            <a:br>
              <a:rPr lang="en-NZ" sz="4500" b="1" dirty="0">
                <a:solidFill>
                  <a:srgbClr val="FFC000"/>
                </a:solidFill>
              </a:rPr>
            </a:br>
            <a:r>
              <a:rPr lang="en-NZ" sz="4500" b="1" dirty="0">
                <a:solidFill>
                  <a:srgbClr val="FFC000"/>
                </a:solidFill>
              </a:rPr>
              <a:t>data presented in rows and columns</a:t>
            </a:r>
          </a:p>
        </p:txBody>
      </p:sp>
      <p:pic>
        <p:nvPicPr>
          <p:cNvPr id="1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078A8151-9BD3-4B62-8210-A87BCD0941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6733"/>
            <a:ext cx="2185386" cy="741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1326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6733"/>
            <a:ext cx="2185386" cy="741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4AD89C-DF1E-4948-B597-5DD47B34A9CA}" type="slidenum">
              <a:rPr kumimoji="1" lang="ja-JP" altLang="en-US" smtClean="0">
                <a:solidFill>
                  <a:srgbClr val="575454">
                    <a:lumMod val="20000"/>
                    <a:lumOff val="80000"/>
                  </a:srgbClr>
                </a:solidFill>
                <a:latin typeface="Coo Hew"/>
              </a:rPr>
              <a:pPr/>
              <a:t>3</a:t>
            </a:fld>
            <a:endParaRPr kumimoji="1" lang="ja-JP" altLang="en-US" dirty="0">
              <a:solidFill>
                <a:srgbClr val="575454">
                  <a:lumMod val="20000"/>
                  <a:lumOff val="80000"/>
                </a:srgbClr>
              </a:solidFill>
              <a:latin typeface="Coo Hew"/>
            </a:endParaRP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E01D7A31-5FF0-43DC-9F4D-F2B96A58DE6A}"/>
              </a:ext>
            </a:extLst>
          </p:cNvPr>
          <p:cNvSpPr txBox="1">
            <a:spLocks/>
          </p:cNvSpPr>
          <p:nvPr/>
        </p:nvSpPr>
        <p:spPr>
          <a:xfrm>
            <a:off x="8694057" y="86139"/>
            <a:ext cx="33953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1600" dirty="0">
                <a:solidFill>
                  <a:srgbClr val="DEDDDD"/>
                </a:solidFill>
                <a:latin typeface="Gidole"/>
              </a:rPr>
              <a:t>1.1 - Summation Notation &amp; Algebra</a:t>
            </a:r>
            <a:endParaRPr kumimoji="1" lang="ja-JP" altLang="en-US" sz="1600" dirty="0">
              <a:solidFill>
                <a:srgbClr val="DEDDDD"/>
              </a:solidFill>
              <a:latin typeface="Gidole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4F3E9ADB-6AEC-42EA-808B-5A433C8B4560}"/>
              </a:ext>
            </a:extLst>
          </p:cNvPr>
          <p:cNvSpPr txBox="1">
            <a:spLocks/>
          </p:cNvSpPr>
          <p:nvPr/>
        </p:nvSpPr>
        <p:spPr>
          <a:xfrm>
            <a:off x="319463" y="310113"/>
            <a:ext cx="8168429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b="1" u="sng" dirty="0">
                <a:latin typeface="+mn-lt"/>
              </a:rPr>
              <a:t>1.1a - Summation Notation:</a:t>
            </a:r>
            <a:endParaRPr lang="ja-JP" altLang="en-US" b="1" u="sng" dirty="0">
              <a:latin typeface="+mn-lt"/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65B06D6C-CCB3-4D8F-9171-6B4779FED53B}"/>
              </a:ext>
            </a:extLst>
          </p:cNvPr>
          <p:cNvSpPr txBox="1">
            <a:spLocks/>
          </p:cNvSpPr>
          <p:nvPr/>
        </p:nvSpPr>
        <p:spPr>
          <a:xfrm>
            <a:off x="319463" y="1050542"/>
            <a:ext cx="11553074" cy="60720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US" altLang="ja-JP" sz="2000" dirty="0">
                <a:solidFill>
                  <a:schemeClr val="tx1"/>
                </a:solidFill>
              </a:rPr>
              <a:t>Suppose that we have </a:t>
            </a:r>
            <a:r>
              <a:rPr lang="en-US" altLang="ja-JP" sz="2000" b="1" i="1" dirty="0">
                <a:solidFill>
                  <a:schemeClr val="tx1"/>
                </a:solidFill>
              </a:rPr>
              <a:t>N</a:t>
            </a:r>
            <a:r>
              <a:rPr lang="en-US" altLang="ja-JP" sz="2000" dirty="0">
                <a:solidFill>
                  <a:schemeClr val="tx1"/>
                </a:solidFill>
              </a:rPr>
              <a:t> observations that can be grouped into </a:t>
            </a:r>
            <a:r>
              <a:rPr lang="en-US" altLang="ja-JP" sz="2000" b="1" i="1" dirty="0">
                <a:solidFill>
                  <a:schemeClr val="tx1"/>
                </a:solidFill>
              </a:rPr>
              <a:t>r</a:t>
            </a:r>
            <a:r>
              <a:rPr lang="en-US" altLang="ja-JP" sz="2000" dirty="0">
                <a:solidFill>
                  <a:schemeClr val="tx1"/>
                </a:solidFill>
              </a:rPr>
              <a:t> rows and </a:t>
            </a:r>
            <a:r>
              <a:rPr lang="en-US" altLang="ja-JP" sz="2000" b="1" i="1" dirty="0">
                <a:solidFill>
                  <a:schemeClr val="tx1"/>
                </a:solidFill>
              </a:rPr>
              <a:t>c</a:t>
            </a:r>
            <a:r>
              <a:rPr lang="en-US" altLang="ja-JP" sz="2000" dirty="0">
                <a:solidFill>
                  <a:schemeClr val="tx1"/>
                </a:solidFill>
              </a:rPr>
              <a:t> columns (</a:t>
            </a:r>
            <a:r>
              <a:rPr lang="en-US" altLang="ja-JP" sz="2000" b="1" i="1" dirty="0">
                <a:solidFill>
                  <a:schemeClr val="tx1"/>
                </a:solidFill>
              </a:rPr>
              <a:t>N = </a:t>
            </a:r>
            <a:r>
              <a:rPr lang="en-US" altLang="ja-JP" sz="2000" b="1" i="1" dirty="0" err="1">
                <a:solidFill>
                  <a:schemeClr val="tx1"/>
                </a:solidFill>
              </a:rPr>
              <a:t>rc</a:t>
            </a:r>
            <a:r>
              <a:rPr lang="en-US" altLang="ja-JP" sz="2000" dirty="0">
                <a:solidFill>
                  <a:schemeClr val="tx1"/>
                </a:solidFill>
              </a:rPr>
              <a:t>).</a:t>
            </a:r>
            <a:endParaRPr lang="en-US" altLang="ja-JP" sz="2000" b="1" i="1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281044D1-CDA5-4D0B-AE06-D330F2B8865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1543445"/>
                <a:ext cx="12192000" cy="13157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𝒀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  <m: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𝒀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  <m: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𝒀</m:t>
                                          </m:r>
                                        </m:e>
                                        <m:sub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  <m: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𝒀</m:t>
                                          </m:r>
                                        </m:e>
                                        <m:sub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  <m: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𝒀</m:t>
                                          </m:r>
                                        </m:e>
                                        <m:sub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  <m: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𝒀</m:t>
                                          </m:r>
                                        </m:e>
                                        <m:sub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  <m: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 = 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sz="20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sz="20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NZ" altLang="ja-JP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n-NZ" altLang="ja-JP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e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𝟒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lang="en-NZ" altLang="ja-JP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e>
                              <m:e>
                                <m:r>
                                  <a:rPr lang="en-NZ" altLang="ja-JP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𝟕</m:t>
                                      </m:r>
                                    </m:e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𝟖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lang="en-NZ" altLang="ja-JP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</m:e>
                              <m:e>
                                <m:r>
                                  <a:rPr lang="en-NZ" altLang="ja-JP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𝟏𝟎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𝟏𝟏</m:t>
                                      </m:r>
                                    </m:e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𝟏𝟐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ja-JP" sz="2000" b="1" i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281044D1-CDA5-4D0B-AE06-D330F2B886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543445"/>
                <a:ext cx="12192000" cy="131571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Placeholder 5">
                <a:extLst>
                  <a:ext uri="{FF2B5EF4-FFF2-40B4-BE49-F238E27FC236}">
                    <a16:creationId xmlns:a16="http://schemas.microsoft.com/office/drawing/2014/main" id="{895C119D-B8FB-45C6-91ED-D2576584A0F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3053748"/>
                <a:ext cx="11553074" cy="1508120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:r>
                  <a:rPr lang="en-US" altLang="ja-JP" sz="2000" dirty="0">
                    <a:solidFill>
                      <a:schemeClr val="tx1"/>
                    </a:solidFill>
                  </a:rPr>
                  <a:t>We index the rows of the matrix above with an </a:t>
                </a:r>
                <a:r>
                  <a:rPr lang="en-US" altLang="ja-JP" sz="2000" b="1" i="1" dirty="0" err="1">
                    <a:solidFill>
                      <a:schemeClr val="tx1"/>
                    </a:solidFill>
                  </a:rPr>
                  <a:t>i</a:t>
                </a:r>
                <a:r>
                  <a:rPr lang="en-US" altLang="ja-JP" sz="2000" dirty="0">
                    <a:solidFill>
                      <a:schemeClr val="tx1"/>
                    </a:solidFill>
                  </a:rPr>
                  <a:t> and the columns with a </a:t>
                </a:r>
                <a:r>
                  <a:rPr lang="en-US" altLang="ja-JP" sz="2000" b="1" i="1" dirty="0">
                    <a:solidFill>
                      <a:schemeClr val="tx1"/>
                    </a:solidFill>
                  </a:rPr>
                  <a:t>j </a:t>
                </a:r>
                <a:r>
                  <a:rPr lang="en-US" altLang="ja-JP" sz="2000" dirty="0">
                    <a:solidFill>
                      <a:schemeClr val="tx1"/>
                    </a:solidFill>
                  </a:rPr>
                  <a:t>such that we may use the notation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NZ" altLang="ja-JP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lang="en-NZ" altLang="ja-JP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NZ" altLang="ja-JP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NZ" altLang="ja-JP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  <m:r>
                      <a:rPr lang="en-NZ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en-NZ" altLang="ja-JP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lang="en-NZ" altLang="ja-JP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𝒊𝒋</m:t>
                        </m:r>
                      </m:sub>
                    </m:sSub>
                  </m:oMath>
                </a14:m>
                <a:r>
                  <a:rPr lang="en-US" altLang="ja-JP" sz="2000" dirty="0">
                    <a:solidFill>
                      <a:schemeClr val="tx1"/>
                    </a:solidFill>
                  </a:rPr>
                  <a:t>  to denote any element of the matrix.</a:t>
                </a:r>
              </a:p>
              <a:p>
                <a:pPr algn="just">
                  <a:lnSpc>
                    <a:spcPct val="100000"/>
                  </a:lnSpc>
                </a:pPr>
                <a:endParaRPr lang="en-US" altLang="ja-JP" sz="2000" dirty="0">
                  <a:solidFill>
                    <a:schemeClr val="tx1"/>
                  </a:solidFill>
                </a:endParaRPr>
              </a:p>
              <a:p>
                <a:pPr algn="just">
                  <a:lnSpc>
                    <a:spcPct val="100000"/>
                  </a:lnSpc>
                </a:pPr>
                <a:r>
                  <a:rPr lang="en-US" altLang="ja-JP" sz="2000" dirty="0">
                    <a:solidFill>
                      <a:schemeClr val="tx1"/>
                    </a:solidFill>
                  </a:rPr>
                  <a:t>For instance, </a:t>
                </a:r>
                <a:r>
                  <a:rPr lang="en-US" altLang="ja-JP" sz="2000" b="1" i="1" dirty="0">
                    <a:solidFill>
                      <a:schemeClr val="tx1"/>
                    </a:solidFill>
                  </a:rPr>
                  <a:t>Y</a:t>
                </a:r>
                <a:r>
                  <a:rPr lang="en-US" altLang="ja-JP" sz="2000" b="1" i="1" baseline="-25000" dirty="0">
                    <a:solidFill>
                      <a:schemeClr val="tx1"/>
                    </a:solidFill>
                  </a:rPr>
                  <a:t>2,4</a:t>
                </a:r>
                <a:r>
                  <a:rPr lang="en-US" altLang="ja-JP" sz="2000" b="1" i="1" dirty="0">
                    <a:solidFill>
                      <a:schemeClr val="tx1"/>
                    </a:solidFill>
                  </a:rPr>
                  <a:t> </a:t>
                </a:r>
                <a:r>
                  <a:rPr lang="en-US" altLang="ja-JP" sz="2000" dirty="0">
                    <a:solidFill>
                      <a:schemeClr val="tx1"/>
                    </a:solidFill>
                  </a:rPr>
                  <a:t>means the element in the second row and fourth column (i.e. 8).</a:t>
                </a:r>
                <a:endParaRPr lang="en-US" altLang="ja-JP" sz="2000" b="1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Text Placeholder 5">
                <a:extLst>
                  <a:ext uri="{FF2B5EF4-FFF2-40B4-BE49-F238E27FC236}">
                    <a16:creationId xmlns:a16="http://schemas.microsoft.com/office/drawing/2014/main" id="{895C119D-B8FB-45C6-91ED-D2576584A0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3053748"/>
                <a:ext cx="11553074" cy="1508120"/>
              </a:xfrm>
              <a:prstGeom prst="rect">
                <a:avLst/>
              </a:prstGeom>
              <a:blipFill>
                <a:blip r:embed="rId4"/>
                <a:stretch>
                  <a:fillRect l="-527" t="-2429" r="-527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BA3421D3-A41C-4DB3-9B4A-E758E46DE37F}"/>
              </a:ext>
            </a:extLst>
          </p:cNvPr>
          <p:cNvSpPr txBox="1">
            <a:spLocks/>
          </p:cNvSpPr>
          <p:nvPr/>
        </p:nvSpPr>
        <p:spPr>
          <a:xfrm>
            <a:off x="319463" y="4463109"/>
            <a:ext cx="11553074" cy="150812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US" altLang="ja-JP" sz="2000" b="1" i="1" dirty="0">
                <a:solidFill>
                  <a:srgbClr val="FF0000"/>
                </a:solidFill>
              </a:rPr>
              <a:t>What is Y</a:t>
            </a:r>
            <a:r>
              <a:rPr lang="en-US" altLang="ja-JP" sz="2000" b="1" i="1" baseline="-25000" dirty="0">
                <a:solidFill>
                  <a:srgbClr val="FF0000"/>
                </a:solidFill>
              </a:rPr>
              <a:t>3,1</a:t>
            </a:r>
            <a:r>
              <a:rPr lang="en-US" altLang="ja-JP" sz="2000" b="1" i="1" dirty="0">
                <a:solidFill>
                  <a:srgbClr val="FF0000"/>
                </a:solidFill>
              </a:rPr>
              <a:t> ?</a:t>
            </a:r>
          </a:p>
          <a:p>
            <a:pPr algn="just">
              <a:lnSpc>
                <a:spcPct val="100000"/>
              </a:lnSpc>
            </a:pPr>
            <a:endParaRPr lang="en-US" altLang="ja-JP" sz="2000" b="1" i="1" dirty="0">
              <a:solidFill>
                <a:srgbClr val="FF0000"/>
              </a:solidFill>
            </a:endParaRPr>
          </a:p>
          <a:p>
            <a:pPr algn="just">
              <a:lnSpc>
                <a:spcPct val="100000"/>
              </a:lnSpc>
            </a:pPr>
            <a:r>
              <a:rPr lang="en-US" altLang="ja-JP" sz="2000" b="1" i="1" dirty="0">
                <a:solidFill>
                  <a:srgbClr val="FF0000"/>
                </a:solidFill>
              </a:rPr>
              <a:t>What is Y</a:t>
            </a:r>
            <a:r>
              <a:rPr lang="en-US" altLang="ja-JP" sz="2000" b="1" i="1" baseline="-25000" dirty="0">
                <a:solidFill>
                  <a:srgbClr val="FF0000"/>
                </a:solidFill>
              </a:rPr>
              <a:t>2,2</a:t>
            </a:r>
            <a:r>
              <a:rPr lang="en-US" altLang="ja-JP" sz="2000" b="1" i="1" dirty="0">
                <a:solidFill>
                  <a:srgbClr val="FF0000"/>
                </a:solidFill>
              </a:rPr>
              <a:t> ?</a:t>
            </a:r>
          </a:p>
          <a:p>
            <a:pPr algn="just">
              <a:lnSpc>
                <a:spcPct val="100000"/>
              </a:lnSpc>
            </a:pPr>
            <a:endParaRPr lang="en-US" altLang="ja-JP" sz="2000" b="1" i="1" dirty="0">
              <a:solidFill>
                <a:srgbClr val="FF0000"/>
              </a:solidFill>
            </a:endParaRPr>
          </a:p>
          <a:p>
            <a:pPr algn="just">
              <a:lnSpc>
                <a:spcPct val="100000"/>
              </a:lnSpc>
            </a:pPr>
            <a:r>
              <a:rPr lang="en-US" altLang="ja-JP" sz="2000" b="1" i="1" dirty="0">
                <a:solidFill>
                  <a:srgbClr val="FF0000"/>
                </a:solidFill>
              </a:rPr>
              <a:t>What is Y</a:t>
            </a:r>
            <a:r>
              <a:rPr lang="en-US" altLang="ja-JP" sz="2000" b="1" i="1" baseline="-25000" dirty="0">
                <a:solidFill>
                  <a:srgbClr val="FF0000"/>
                </a:solidFill>
              </a:rPr>
              <a:t>1,3</a:t>
            </a:r>
            <a:r>
              <a:rPr lang="en-US" altLang="ja-JP" sz="2000" b="1" i="1" dirty="0">
                <a:solidFill>
                  <a:srgbClr val="FF0000"/>
                </a:solidFill>
              </a:rPr>
              <a:t> ?</a:t>
            </a:r>
          </a:p>
          <a:p>
            <a:pPr algn="just">
              <a:lnSpc>
                <a:spcPct val="100000"/>
              </a:lnSpc>
            </a:pPr>
            <a:endParaRPr lang="en-US" altLang="ja-JP" sz="2000" b="1" i="1" dirty="0">
              <a:solidFill>
                <a:schemeClr val="tx1"/>
              </a:solidFill>
            </a:endParaRPr>
          </a:p>
          <a:p>
            <a:pPr algn="just">
              <a:lnSpc>
                <a:spcPct val="100000"/>
              </a:lnSpc>
            </a:pPr>
            <a:endParaRPr lang="en-US" altLang="ja-JP" sz="2000" b="1" i="1" dirty="0">
              <a:solidFill>
                <a:schemeClr val="tx1"/>
              </a:solidFill>
            </a:endParaRP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DDFAB34-C706-0E1B-3437-9C0EDA405B79}"/>
              </a:ext>
            </a:extLst>
          </p:cNvPr>
          <p:cNvSpPr txBox="1">
            <a:spLocks/>
          </p:cNvSpPr>
          <p:nvPr/>
        </p:nvSpPr>
        <p:spPr>
          <a:xfrm>
            <a:off x="2185386" y="4459721"/>
            <a:ext cx="583894" cy="41572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US" altLang="ja-JP" sz="2000" b="1" i="1" dirty="0">
                <a:solidFill>
                  <a:schemeClr val="tx1"/>
                </a:solidFill>
              </a:rPr>
              <a:t>= 9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951D97C8-74AB-47C5-6D59-C00FE3A2E73E}"/>
              </a:ext>
            </a:extLst>
          </p:cNvPr>
          <p:cNvSpPr txBox="1">
            <a:spLocks/>
          </p:cNvSpPr>
          <p:nvPr/>
        </p:nvSpPr>
        <p:spPr>
          <a:xfrm>
            <a:off x="2185386" y="5106694"/>
            <a:ext cx="583894" cy="41572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US" altLang="ja-JP" sz="2000" b="1" i="1" dirty="0">
                <a:solidFill>
                  <a:schemeClr val="tx1"/>
                </a:solidFill>
              </a:rPr>
              <a:t>= 6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9B1787C7-D0B8-C831-2485-F65D981AA669}"/>
              </a:ext>
            </a:extLst>
          </p:cNvPr>
          <p:cNvSpPr txBox="1">
            <a:spLocks/>
          </p:cNvSpPr>
          <p:nvPr/>
        </p:nvSpPr>
        <p:spPr>
          <a:xfrm>
            <a:off x="2211466" y="5701011"/>
            <a:ext cx="583894" cy="41572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US" altLang="ja-JP" sz="2000" b="1" i="1" dirty="0">
                <a:solidFill>
                  <a:schemeClr val="tx1"/>
                </a:solidFill>
              </a:rPr>
              <a:t>= 3</a:t>
            </a:r>
          </a:p>
        </p:txBody>
      </p:sp>
    </p:spTree>
    <p:extLst>
      <p:ext uri="{BB962C8B-B14F-4D97-AF65-F5344CB8AC3E}">
        <p14:creationId xmlns:p14="http://schemas.microsoft.com/office/powerpoint/2010/main" val="3835915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6733"/>
            <a:ext cx="2185386" cy="741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4AD89C-DF1E-4948-B597-5DD47B34A9CA}" type="slidenum">
              <a:rPr kumimoji="1" lang="ja-JP" altLang="en-US" smtClean="0">
                <a:solidFill>
                  <a:srgbClr val="575454">
                    <a:lumMod val="20000"/>
                    <a:lumOff val="80000"/>
                  </a:srgbClr>
                </a:solidFill>
                <a:latin typeface="Coo Hew"/>
              </a:rPr>
              <a:pPr/>
              <a:t>4</a:t>
            </a:fld>
            <a:endParaRPr kumimoji="1" lang="ja-JP" altLang="en-US" dirty="0">
              <a:solidFill>
                <a:srgbClr val="575454">
                  <a:lumMod val="20000"/>
                  <a:lumOff val="80000"/>
                </a:srgbClr>
              </a:solidFill>
              <a:latin typeface="Coo Hew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4F3E9ADB-6AEC-42EA-808B-5A433C8B4560}"/>
              </a:ext>
            </a:extLst>
          </p:cNvPr>
          <p:cNvSpPr txBox="1">
            <a:spLocks/>
          </p:cNvSpPr>
          <p:nvPr/>
        </p:nvSpPr>
        <p:spPr>
          <a:xfrm>
            <a:off x="319463" y="310113"/>
            <a:ext cx="8168429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b="1" u="sng" dirty="0">
                <a:latin typeface="+mn-lt"/>
              </a:rPr>
              <a:t>1.1a - Summation Notation:</a:t>
            </a:r>
            <a:endParaRPr lang="ja-JP" altLang="en-US" b="1" u="sng" dirty="0">
              <a:latin typeface="+mn-lt"/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65B06D6C-CCB3-4D8F-9171-6B4779FED53B}"/>
              </a:ext>
            </a:extLst>
          </p:cNvPr>
          <p:cNvSpPr txBox="1">
            <a:spLocks/>
          </p:cNvSpPr>
          <p:nvPr/>
        </p:nvSpPr>
        <p:spPr>
          <a:xfrm>
            <a:off x="319463" y="1050542"/>
            <a:ext cx="11553074" cy="60720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US" altLang="ja-JP" sz="2000" dirty="0">
                <a:solidFill>
                  <a:schemeClr val="tx1"/>
                </a:solidFill>
              </a:rPr>
              <a:t>Suppose that we have </a:t>
            </a:r>
            <a:r>
              <a:rPr lang="en-US" altLang="ja-JP" sz="2000" b="1" i="1" dirty="0">
                <a:solidFill>
                  <a:schemeClr val="tx1"/>
                </a:solidFill>
              </a:rPr>
              <a:t>N</a:t>
            </a:r>
            <a:r>
              <a:rPr lang="en-US" altLang="ja-JP" sz="2000" dirty="0">
                <a:solidFill>
                  <a:schemeClr val="tx1"/>
                </a:solidFill>
              </a:rPr>
              <a:t> observations that can be grouped into </a:t>
            </a:r>
            <a:r>
              <a:rPr lang="en-US" altLang="ja-JP" sz="2000" b="1" i="1" dirty="0">
                <a:solidFill>
                  <a:schemeClr val="tx1"/>
                </a:solidFill>
              </a:rPr>
              <a:t>r</a:t>
            </a:r>
            <a:r>
              <a:rPr lang="en-US" altLang="ja-JP" sz="2000" dirty="0">
                <a:solidFill>
                  <a:schemeClr val="tx1"/>
                </a:solidFill>
              </a:rPr>
              <a:t> rows and </a:t>
            </a:r>
            <a:r>
              <a:rPr lang="en-US" altLang="ja-JP" sz="2000" b="1" i="1" dirty="0">
                <a:solidFill>
                  <a:schemeClr val="tx1"/>
                </a:solidFill>
              </a:rPr>
              <a:t>c</a:t>
            </a:r>
            <a:r>
              <a:rPr lang="en-US" altLang="ja-JP" sz="2000" dirty="0">
                <a:solidFill>
                  <a:schemeClr val="tx1"/>
                </a:solidFill>
              </a:rPr>
              <a:t> columns (</a:t>
            </a:r>
            <a:r>
              <a:rPr lang="en-US" altLang="ja-JP" sz="2000" b="1" i="1" dirty="0">
                <a:solidFill>
                  <a:schemeClr val="tx1"/>
                </a:solidFill>
              </a:rPr>
              <a:t>N = </a:t>
            </a:r>
            <a:r>
              <a:rPr lang="en-US" altLang="ja-JP" sz="2000" b="1" i="1" dirty="0" err="1">
                <a:solidFill>
                  <a:schemeClr val="tx1"/>
                </a:solidFill>
              </a:rPr>
              <a:t>rc</a:t>
            </a:r>
            <a:r>
              <a:rPr lang="en-US" altLang="ja-JP" sz="2000" dirty="0">
                <a:solidFill>
                  <a:schemeClr val="tx1"/>
                </a:solidFill>
              </a:rPr>
              <a:t>).</a:t>
            </a:r>
            <a:endParaRPr lang="en-US" altLang="ja-JP" sz="2000" b="1" i="1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281044D1-CDA5-4D0B-AE06-D330F2B8865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1543445"/>
                <a:ext cx="12192000" cy="13157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𝒀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  <m: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𝒀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  <m: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𝒀</m:t>
                                          </m:r>
                                        </m:e>
                                        <m:sub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  <m: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𝒀</m:t>
                                          </m:r>
                                        </m:e>
                                        <m:sub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  <m: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𝒀</m:t>
                                          </m:r>
                                        </m:e>
                                        <m:sub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  <m: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𝒀</m:t>
                                          </m:r>
                                        </m:e>
                                        <m:sub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  <m: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 = 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sz="20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sz="20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NZ" altLang="ja-JP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n-NZ" altLang="ja-JP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e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𝟒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lang="en-NZ" altLang="ja-JP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e>
                              <m:e>
                                <m:r>
                                  <a:rPr lang="en-NZ" altLang="ja-JP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𝟕</m:t>
                                      </m:r>
                                    </m:e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𝟖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lang="en-NZ" altLang="ja-JP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</m:e>
                              <m:e>
                                <m:r>
                                  <a:rPr lang="en-NZ" altLang="ja-JP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𝟏𝟎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𝟏𝟏</m:t>
                                      </m:r>
                                    </m:e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𝟏𝟐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ja-JP" sz="2000" b="1" i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281044D1-CDA5-4D0B-AE06-D330F2B886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543445"/>
                <a:ext cx="12192000" cy="131571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Placeholder 5">
                <a:extLst>
                  <a:ext uri="{FF2B5EF4-FFF2-40B4-BE49-F238E27FC236}">
                    <a16:creationId xmlns:a16="http://schemas.microsoft.com/office/drawing/2014/main" id="{895C119D-B8FB-45C6-91ED-D2576584A0F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4150" y="2908202"/>
                <a:ext cx="1023582" cy="115418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altLang="ja-JP" sz="20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NZ" altLang="ja-JP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NZ" altLang="ja-JP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NZ" altLang="ja-JP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p>
                        <m:e>
                          <m:sSub>
                            <m:sSubPr>
                              <m:ctrlPr>
                                <a:rPr lang="en-NZ" altLang="ja-JP" sz="20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20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NZ" altLang="ja-JP" sz="20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NZ" altLang="ja-JP" sz="20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NZ" altLang="ja-JP" sz="20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ja-JP" sz="20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Text Placeholder 5">
                <a:extLst>
                  <a:ext uri="{FF2B5EF4-FFF2-40B4-BE49-F238E27FC236}">
                    <a16:creationId xmlns:a16="http://schemas.microsoft.com/office/drawing/2014/main" id="{895C119D-B8FB-45C6-91ED-D2576584A0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150" y="2908202"/>
                <a:ext cx="1023582" cy="11541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8AFE2AC4-117F-4A7C-89A6-3B83DE32A501}"/>
              </a:ext>
            </a:extLst>
          </p:cNvPr>
          <p:cNvSpPr txBox="1">
            <a:spLocks/>
          </p:cNvSpPr>
          <p:nvPr/>
        </p:nvSpPr>
        <p:spPr>
          <a:xfrm>
            <a:off x="1663751" y="3181694"/>
            <a:ext cx="9103057" cy="5271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US" altLang="ja-JP" sz="2000" dirty="0">
                <a:solidFill>
                  <a:srgbClr val="002060"/>
                </a:solidFill>
              </a:rPr>
              <a:t>Means sum the </a:t>
            </a:r>
            <a:r>
              <a:rPr lang="en-US" altLang="ja-JP" sz="2000" dirty="0" err="1">
                <a:solidFill>
                  <a:srgbClr val="002060"/>
                </a:solidFill>
              </a:rPr>
              <a:t>i</a:t>
            </a:r>
            <a:r>
              <a:rPr lang="en-US" altLang="ja-JP" sz="2000" baseline="30000" dirty="0" err="1">
                <a:solidFill>
                  <a:srgbClr val="002060"/>
                </a:solidFill>
              </a:rPr>
              <a:t>th</a:t>
            </a:r>
            <a:r>
              <a:rPr lang="en-US" altLang="ja-JP" sz="2000" dirty="0">
                <a:solidFill>
                  <a:srgbClr val="002060"/>
                </a:solidFill>
              </a:rPr>
              <a:t> row</a:t>
            </a:r>
            <a:endParaRPr lang="en-US" altLang="ja-JP" sz="2000" b="1" i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EF6503A9-30EB-4347-95DC-254D54001CD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80902" y="3928837"/>
                <a:ext cx="9245486" cy="115418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altLang="ja-JP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  <m:e>
                          <m:sSub>
                            <m:sSubPr>
                              <m:ctrlP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2,</m:t>
                              </m:r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=  </m:t>
                      </m:r>
                      <m:sSub>
                        <m:sSubPr>
                          <m:ctrlP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2,1</m:t>
                          </m:r>
                        </m:sub>
                      </m:sSub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+</m:t>
                      </m:r>
                      <m:sSub>
                        <m:sSubPr>
                          <m:ctrlP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</m:t>
                          </m:r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+</m:t>
                      </m:r>
                      <m:sSub>
                        <m:sSubPr>
                          <m:ctrlP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</m:t>
                          </m:r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+</m:t>
                      </m:r>
                      <m:sSub>
                        <m:sSubPr>
                          <m:ctrlP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</m:t>
                          </m:r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 5+6+7+8=26</m:t>
                      </m:r>
                    </m:oMath>
                  </m:oMathPara>
                </a14:m>
                <a:endParaRPr lang="en-US" altLang="ja-JP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EF6503A9-30EB-4347-95DC-254D54001C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902" y="3928837"/>
                <a:ext cx="9245486" cy="115418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A67153F2-D2EE-4217-8016-3C6C80CAD7E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80902" y="5028471"/>
                <a:ext cx="1023582" cy="115418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altLang="ja-JP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NZ" altLang="ja-JP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NZ" altLang="ja-JP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NZ" altLang="ja-JP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  <m:e>
                          <m:sSub>
                            <m:sSubPr>
                              <m:ctrlPr>
                                <a:rPr lang="en-NZ" altLang="ja-JP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NZ" altLang="ja-JP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3,</m:t>
                              </m:r>
                              <m:r>
                                <a:rPr lang="en-NZ" altLang="ja-JP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en-NZ" altLang="ja-JP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US" altLang="ja-JP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A67153F2-D2EE-4217-8016-3C6C80CAD7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902" y="5028471"/>
                <a:ext cx="1023582" cy="11541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70A9ECA8-A023-4F65-9C80-F264221E8484}"/>
              </a:ext>
            </a:extLst>
          </p:cNvPr>
          <p:cNvSpPr txBox="1">
            <a:spLocks/>
          </p:cNvSpPr>
          <p:nvPr/>
        </p:nvSpPr>
        <p:spPr>
          <a:xfrm>
            <a:off x="6687896" y="4940810"/>
            <a:ext cx="4769646" cy="50443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US" altLang="ja-JP" sz="2000" dirty="0">
                <a:solidFill>
                  <a:srgbClr val="FF0000"/>
                </a:solidFill>
              </a:rPr>
              <a:t>How do we write the sum of the first row?</a:t>
            </a:r>
          </a:p>
        </p:txBody>
      </p:sp>
      <p:sp>
        <p:nvSpPr>
          <p:cNvPr id="16" name="Footer Placeholder 2">
            <a:extLst>
              <a:ext uri="{FF2B5EF4-FFF2-40B4-BE49-F238E27FC236}">
                <a16:creationId xmlns:a16="http://schemas.microsoft.com/office/drawing/2014/main" id="{2C686446-964D-E8D6-824B-E78AF84336DF}"/>
              </a:ext>
            </a:extLst>
          </p:cNvPr>
          <p:cNvSpPr txBox="1">
            <a:spLocks/>
          </p:cNvSpPr>
          <p:nvPr/>
        </p:nvSpPr>
        <p:spPr>
          <a:xfrm>
            <a:off x="8694057" y="86139"/>
            <a:ext cx="33953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1600" dirty="0">
                <a:solidFill>
                  <a:srgbClr val="DEDDDD"/>
                </a:solidFill>
                <a:latin typeface="Gidole"/>
              </a:rPr>
              <a:t>1.1 - Summation Notation &amp; Algebra</a:t>
            </a:r>
            <a:endParaRPr kumimoji="1" lang="ja-JP" altLang="en-US" sz="1600" dirty="0">
              <a:solidFill>
                <a:srgbClr val="DEDDDD"/>
              </a:solidFill>
              <a:latin typeface="Gidol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Placeholder 5">
                <a:extLst>
                  <a:ext uri="{FF2B5EF4-FFF2-40B4-BE49-F238E27FC236}">
                    <a16:creationId xmlns:a16="http://schemas.microsoft.com/office/drawing/2014/main" id="{5BA761B4-6EC0-EC08-BC21-AA9A48A220D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78699" y="5314554"/>
                <a:ext cx="5849956" cy="734551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   </m:t>
                      </m:r>
                      <m:sSub>
                        <m:sSubPr>
                          <m:ctrlPr>
                            <a:rPr lang="en-NZ" altLang="ja-JP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</m:sSub>
                      <m:r>
                        <a:rPr lang="en-NZ" altLang="ja-JP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+</m:t>
                      </m:r>
                      <m:sSub>
                        <m:sSubPr>
                          <m:ctrlP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,2</m:t>
                          </m:r>
                        </m:sub>
                      </m:sSub>
                      <m:r>
                        <a:rPr lang="en-NZ" altLang="ja-JP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+</m:t>
                      </m:r>
                      <m:sSub>
                        <m:sSubPr>
                          <m:ctrlP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,3</m:t>
                          </m:r>
                        </m:sub>
                      </m:sSub>
                      <m:r>
                        <a:rPr lang="en-NZ" altLang="ja-JP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+</m:t>
                      </m:r>
                      <m:sSub>
                        <m:sSubPr>
                          <m:ctrlP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,4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NZ" altLang="ja-JP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 </m:t>
                      </m:r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9     +10   +11  +12 </m:t>
                      </m:r>
                      <m:r>
                        <a:rPr lang="en-NZ" altLang="ja-JP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42</m:t>
                      </m:r>
                    </m:oMath>
                  </m:oMathPara>
                </a14:m>
                <a:endParaRPr lang="en-US" altLang="ja-JP" sz="2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Text Placeholder 5">
                <a:extLst>
                  <a:ext uri="{FF2B5EF4-FFF2-40B4-BE49-F238E27FC236}">
                    <a16:creationId xmlns:a16="http://schemas.microsoft.com/office/drawing/2014/main" id="{5BA761B4-6EC0-EC08-BC21-AA9A48A220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8699" y="5314554"/>
                <a:ext cx="5849956" cy="73455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Placeholder 5">
                <a:extLst>
                  <a:ext uri="{FF2B5EF4-FFF2-40B4-BE49-F238E27FC236}">
                    <a16:creationId xmlns:a16="http://schemas.microsoft.com/office/drawing/2014/main" id="{9D4BF687-57FF-55ED-37A5-84C9281AF3C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939228" y="5282360"/>
                <a:ext cx="2266981" cy="115418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altLang="ja-JP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  <m:e>
                          <m:sSub>
                            <m:sSubPr>
                              <m:ctrlP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ja-JP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Text Placeholder 5">
                <a:extLst>
                  <a:ext uri="{FF2B5EF4-FFF2-40B4-BE49-F238E27FC236}">
                    <a16:creationId xmlns:a16="http://schemas.microsoft.com/office/drawing/2014/main" id="{9D4BF687-57FF-55ED-37A5-84C9281AF3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9228" y="5282360"/>
                <a:ext cx="2266981" cy="115418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0122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6733"/>
            <a:ext cx="2185386" cy="741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4AD89C-DF1E-4948-B597-5DD47B34A9CA}" type="slidenum">
              <a:rPr kumimoji="1" lang="ja-JP" altLang="en-US" smtClean="0">
                <a:solidFill>
                  <a:srgbClr val="575454">
                    <a:lumMod val="20000"/>
                    <a:lumOff val="80000"/>
                  </a:srgbClr>
                </a:solidFill>
                <a:latin typeface="Coo Hew"/>
              </a:rPr>
              <a:pPr/>
              <a:t>5</a:t>
            </a:fld>
            <a:endParaRPr kumimoji="1" lang="ja-JP" altLang="en-US" dirty="0">
              <a:solidFill>
                <a:srgbClr val="575454">
                  <a:lumMod val="20000"/>
                  <a:lumOff val="80000"/>
                </a:srgbClr>
              </a:solidFill>
              <a:latin typeface="Coo Hew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4F3E9ADB-6AEC-42EA-808B-5A433C8B4560}"/>
              </a:ext>
            </a:extLst>
          </p:cNvPr>
          <p:cNvSpPr txBox="1">
            <a:spLocks/>
          </p:cNvSpPr>
          <p:nvPr/>
        </p:nvSpPr>
        <p:spPr>
          <a:xfrm>
            <a:off x="319463" y="310113"/>
            <a:ext cx="8168429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b="1" u="sng" dirty="0">
                <a:latin typeface="+mn-lt"/>
              </a:rPr>
              <a:t>1.1a - Summation Notation:</a:t>
            </a:r>
            <a:endParaRPr lang="ja-JP" altLang="en-US" b="1" u="sng" dirty="0">
              <a:latin typeface="+mn-lt"/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65B06D6C-CCB3-4D8F-9171-6B4779FED53B}"/>
              </a:ext>
            </a:extLst>
          </p:cNvPr>
          <p:cNvSpPr txBox="1">
            <a:spLocks/>
          </p:cNvSpPr>
          <p:nvPr/>
        </p:nvSpPr>
        <p:spPr>
          <a:xfrm>
            <a:off x="319463" y="1050542"/>
            <a:ext cx="11553074" cy="60720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US" altLang="ja-JP" sz="2000" dirty="0">
                <a:solidFill>
                  <a:schemeClr val="tx1"/>
                </a:solidFill>
              </a:rPr>
              <a:t>Suppose that we have </a:t>
            </a:r>
            <a:r>
              <a:rPr lang="en-US" altLang="ja-JP" sz="2000" b="1" i="1" dirty="0">
                <a:solidFill>
                  <a:schemeClr val="tx1"/>
                </a:solidFill>
              </a:rPr>
              <a:t>N</a:t>
            </a:r>
            <a:r>
              <a:rPr lang="en-US" altLang="ja-JP" sz="2000" dirty="0">
                <a:solidFill>
                  <a:schemeClr val="tx1"/>
                </a:solidFill>
              </a:rPr>
              <a:t> observations that can be grouped into </a:t>
            </a:r>
            <a:r>
              <a:rPr lang="en-US" altLang="ja-JP" sz="2000" b="1" i="1" dirty="0">
                <a:solidFill>
                  <a:schemeClr val="tx1"/>
                </a:solidFill>
              </a:rPr>
              <a:t>r</a:t>
            </a:r>
            <a:r>
              <a:rPr lang="en-US" altLang="ja-JP" sz="2000" dirty="0">
                <a:solidFill>
                  <a:schemeClr val="tx1"/>
                </a:solidFill>
              </a:rPr>
              <a:t> rows and </a:t>
            </a:r>
            <a:r>
              <a:rPr lang="en-US" altLang="ja-JP" sz="2000" b="1" i="1" dirty="0">
                <a:solidFill>
                  <a:schemeClr val="tx1"/>
                </a:solidFill>
              </a:rPr>
              <a:t>c</a:t>
            </a:r>
            <a:r>
              <a:rPr lang="en-US" altLang="ja-JP" sz="2000" dirty="0">
                <a:solidFill>
                  <a:schemeClr val="tx1"/>
                </a:solidFill>
              </a:rPr>
              <a:t> columns (</a:t>
            </a:r>
            <a:r>
              <a:rPr lang="en-US" altLang="ja-JP" sz="2000" b="1" i="1" dirty="0">
                <a:solidFill>
                  <a:schemeClr val="tx1"/>
                </a:solidFill>
              </a:rPr>
              <a:t>N = </a:t>
            </a:r>
            <a:r>
              <a:rPr lang="en-US" altLang="ja-JP" sz="2000" b="1" i="1" dirty="0" err="1">
                <a:solidFill>
                  <a:schemeClr val="tx1"/>
                </a:solidFill>
              </a:rPr>
              <a:t>rc</a:t>
            </a:r>
            <a:r>
              <a:rPr lang="en-US" altLang="ja-JP" sz="2000" dirty="0">
                <a:solidFill>
                  <a:schemeClr val="tx1"/>
                </a:solidFill>
              </a:rPr>
              <a:t>).</a:t>
            </a:r>
            <a:endParaRPr lang="en-US" altLang="ja-JP" sz="2000" b="1" i="1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281044D1-CDA5-4D0B-AE06-D330F2B8865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1543445"/>
                <a:ext cx="12192000" cy="13157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𝒀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  <m: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𝒀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  <m: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𝒀</m:t>
                                          </m:r>
                                        </m:e>
                                        <m:sub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  <m: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𝒀</m:t>
                                          </m:r>
                                        </m:e>
                                        <m:sub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  <m: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𝒀</m:t>
                                          </m:r>
                                        </m:e>
                                        <m:sub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  <m: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𝒀</m:t>
                                          </m:r>
                                        </m:e>
                                        <m:sub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  <m: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 = 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sz="20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sz="20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NZ" altLang="ja-JP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n-NZ" altLang="ja-JP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e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𝟒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lang="en-NZ" altLang="ja-JP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e>
                              <m:e>
                                <m:r>
                                  <a:rPr lang="en-NZ" altLang="ja-JP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𝟕</m:t>
                                      </m:r>
                                    </m:e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𝟖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lang="en-NZ" altLang="ja-JP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</m:e>
                              <m:e>
                                <m:r>
                                  <a:rPr lang="en-NZ" altLang="ja-JP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𝟏𝟎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𝟏𝟏</m:t>
                                      </m:r>
                                    </m:e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𝟏𝟐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ja-JP" sz="2000" b="1" i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281044D1-CDA5-4D0B-AE06-D330F2B886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543445"/>
                <a:ext cx="12192000" cy="131571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Placeholder 5">
                <a:extLst>
                  <a:ext uri="{FF2B5EF4-FFF2-40B4-BE49-F238E27FC236}">
                    <a16:creationId xmlns:a16="http://schemas.microsoft.com/office/drawing/2014/main" id="{895C119D-B8FB-45C6-91ED-D2576584A0F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4150" y="2908202"/>
                <a:ext cx="1023582" cy="115418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altLang="ja-JP" sz="20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NZ" altLang="ja-JP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NZ" altLang="ja-JP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NZ" altLang="ja-JP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  <m:e>
                          <m:sSub>
                            <m:sSubPr>
                              <m:ctrlPr>
                                <a:rPr lang="en-NZ" altLang="ja-JP" sz="20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20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NZ" altLang="ja-JP" sz="20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NZ" altLang="ja-JP" sz="20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NZ" altLang="ja-JP" sz="20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ja-JP" sz="20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Text Placeholder 5">
                <a:extLst>
                  <a:ext uri="{FF2B5EF4-FFF2-40B4-BE49-F238E27FC236}">
                    <a16:creationId xmlns:a16="http://schemas.microsoft.com/office/drawing/2014/main" id="{895C119D-B8FB-45C6-91ED-D2576584A0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150" y="2908202"/>
                <a:ext cx="1023582" cy="11541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8AFE2AC4-117F-4A7C-89A6-3B83DE32A501}"/>
              </a:ext>
            </a:extLst>
          </p:cNvPr>
          <p:cNvSpPr txBox="1">
            <a:spLocks/>
          </p:cNvSpPr>
          <p:nvPr/>
        </p:nvSpPr>
        <p:spPr>
          <a:xfrm>
            <a:off x="1663751" y="3181694"/>
            <a:ext cx="9103057" cy="5271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US" altLang="ja-JP" sz="2000" dirty="0">
                <a:solidFill>
                  <a:srgbClr val="002060"/>
                </a:solidFill>
              </a:rPr>
              <a:t>Means sum the </a:t>
            </a:r>
            <a:r>
              <a:rPr lang="en-US" altLang="ja-JP" sz="2000" dirty="0" err="1">
                <a:solidFill>
                  <a:srgbClr val="002060"/>
                </a:solidFill>
              </a:rPr>
              <a:t>j</a:t>
            </a:r>
            <a:r>
              <a:rPr lang="en-US" altLang="ja-JP" sz="2000" baseline="30000" dirty="0" err="1">
                <a:solidFill>
                  <a:srgbClr val="002060"/>
                </a:solidFill>
              </a:rPr>
              <a:t>th</a:t>
            </a:r>
            <a:r>
              <a:rPr lang="en-US" altLang="ja-JP" sz="2000" dirty="0">
                <a:solidFill>
                  <a:srgbClr val="002060"/>
                </a:solidFill>
              </a:rPr>
              <a:t> column</a:t>
            </a:r>
            <a:endParaRPr lang="en-US" altLang="ja-JP" sz="2000" b="1" i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EF6503A9-30EB-4347-95DC-254D54001CD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80902" y="3928837"/>
                <a:ext cx="9245486" cy="115418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altLang="ja-JP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sSub>
                            <m:sSubPr>
                              <m:ctrlP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,3</m:t>
                              </m:r>
                            </m:sub>
                          </m:sSub>
                        </m:e>
                      </m:nary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=  </m:t>
                      </m:r>
                      <m:sSub>
                        <m:sSubPr>
                          <m:ctrlP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1,3</m:t>
                          </m:r>
                        </m:sub>
                      </m:sSub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+</m:t>
                      </m:r>
                      <m:sSub>
                        <m:sSubPr>
                          <m:ctrlP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</m:t>
                          </m:r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+</m:t>
                      </m:r>
                      <m:sSub>
                        <m:sSubPr>
                          <m:ctrlP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=  3+7+11=21</m:t>
                      </m:r>
                    </m:oMath>
                  </m:oMathPara>
                </a14:m>
                <a:endParaRPr lang="en-US" altLang="ja-JP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EF6503A9-30EB-4347-95DC-254D54001C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902" y="3928837"/>
                <a:ext cx="9245486" cy="115418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A67153F2-D2EE-4217-8016-3C6C80CAD7E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80902" y="5028471"/>
                <a:ext cx="1807633" cy="115418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altLang="ja-JP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NZ" altLang="ja-JP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NZ" altLang="ja-JP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NZ" altLang="ja-JP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sSub>
                            <m:sSubPr>
                              <m:ctrlPr>
                                <a:rPr lang="en-NZ" altLang="ja-JP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NZ" altLang="ja-JP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NZ" altLang="ja-JP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,1</m:t>
                              </m:r>
                            </m:sub>
                          </m:sSub>
                        </m:e>
                      </m:nary>
                      <m:r>
                        <a:rPr lang="en-NZ" altLang="ja-JP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US" altLang="ja-JP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A67153F2-D2EE-4217-8016-3C6C80CAD7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902" y="5028471"/>
                <a:ext cx="1807633" cy="11541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E85C71AE-0BC2-45D8-88F6-EFAB882C08FF}"/>
              </a:ext>
            </a:extLst>
          </p:cNvPr>
          <p:cNvSpPr txBox="1">
            <a:spLocks/>
          </p:cNvSpPr>
          <p:nvPr/>
        </p:nvSpPr>
        <p:spPr>
          <a:xfrm>
            <a:off x="6549910" y="5050811"/>
            <a:ext cx="5322627" cy="50443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US" altLang="ja-JP" sz="2000" dirty="0">
                <a:solidFill>
                  <a:srgbClr val="FF0000"/>
                </a:solidFill>
              </a:rPr>
              <a:t>How do we write the sum of the fourth column?</a:t>
            </a:r>
          </a:p>
        </p:txBody>
      </p:sp>
      <p:sp>
        <p:nvSpPr>
          <p:cNvPr id="16" name="Footer Placeholder 2">
            <a:extLst>
              <a:ext uri="{FF2B5EF4-FFF2-40B4-BE49-F238E27FC236}">
                <a16:creationId xmlns:a16="http://schemas.microsoft.com/office/drawing/2014/main" id="{A480C7A3-DB78-4C37-746E-838A225CF87D}"/>
              </a:ext>
            </a:extLst>
          </p:cNvPr>
          <p:cNvSpPr txBox="1">
            <a:spLocks/>
          </p:cNvSpPr>
          <p:nvPr/>
        </p:nvSpPr>
        <p:spPr>
          <a:xfrm>
            <a:off x="8694057" y="86139"/>
            <a:ext cx="33953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1600" dirty="0">
                <a:solidFill>
                  <a:srgbClr val="DEDDDD"/>
                </a:solidFill>
                <a:latin typeface="Gidole"/>
              </a:rPr>
              <a:t>1.1 - Summation Notation &amp; Algebra</a:t>
            </a:r>
            <a:endParaRPr kumimoji="1" lang="ja-JP" altLang="en-US" sz="1600" dirty="0">
              <a:solidFill>
                <a:srgbClr val="DEDDDD"/>
              </a:solidFill>
              <a:latin typeface="Gidol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Placeholder 5">
                <a:extLst>
                  <a:ext uri="{FF2B5EF4-FFF2-40B4-BE49-F238E27FC236}">
                    <a16:creationId xmlns:a16="http://schemas.microsoft.com/office/drawing/2014/main" id="{DF288829-6814-D643-301A-1B0C9F0C307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21322" y="5325034"/>
                <a:ext cx="3282690" cy="879963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+</m:t>
                      </m:r>
                      <m:sSub>
                        <m:sSubPr>
                          <m:ctrlP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</m:t>
                          </m:r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+</m:t>
                      </m:r>
                      <m:sSub>
                        <m:sSubPr>
                          <m:ctrlP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</m:oMath>
                    <m:oMath xmlns:m="http://schemas.openxmlformats.org/officeDocument/2006/math"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 1    +5     +9     =15</m:t>
                      </m:r>
                    </m:oMath>
                  </m:oMathPara>
                </a14:m>
                <a:endParaRPr lang="en-US" altLang="ja-JP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Text Placeholder 5">
                <a:extLst>
                  <a:ext uri="{FF2B5EF4-FFF2-40B4-BE49-F238E27FC236}">
                    <a16:creationId xmlns:a16="http://schemas.microsoft.com/office/drawing/2014/main" id="{DF288829-6814-D643-301A-1B0C9F0C30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1322" y="5325034"/>
                <a:ext cx="3282690" cy="87996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Placeholder 5">
                <a:extLst>
                  <a:ext uri="{FF2B5EF4-FFF2-40B4-BE49-F238E27FC236}">
                    <a16:creationId xmlns:a16="http://schemas.microsoft.com/office/drawing/2014/main" id="{1FB0F641-2FDE-334C-152B-4DA5DC66573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487892" y="5393701"/>
                <a:ext cx="1599063" cy="115418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altLang="ja-JP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sSub>
                            <m:sSubPr>
                              <m:ctrlP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,4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ja-JP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Text Placeholder 5">
                <a:extLst>
                  <a:ext uri="{FF2B5EF4-FFF2-40B4-BE49-F238E27FC236}">
                    <a16:creationId xmlns:a16="http://schemas.microsoft.com/office/drawing/2014/main" id="{1FB0F641-2FDE-334C-152B-4DA5DC6657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7892" y="5393701"/>
                <a:ext cx="1599063" cy="115418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377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6733"/>
            <a:ext cx="2185386" cy="741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4AD89C-DF1E-4948-B597-5DD47B34A9CA}" type="slidenum">
              <a:rPr kumimoji="1" lang="ja-JP" altLang="en-US" smtClean="0">
                <a:solidFill>
                  <a:srgbClr val="575454">
                    <a:lumMod val="20000"/>
                    <a:lumOff val="80000"/>
                  </a:srgbClr>
                </a:solidFill>
                <a:latin typeface="Coo Hew"/>
              </a:rPr>
              <a:pPr/>
              <a:t>6</a:t>
            </a:fld>
            <a:endParaRPr kumimoji="1" lang="ja-JP" altLang="en-US" dirty="0">
              <a:solidFill>
                <a:srgbClr val="575454">
                  <a:lumMod val="20000"/>
                  <a:lumOff val="80000"/>
                </a:srgbClr>
              </a:solidFill>
              <a:latin typeface="Coo Hew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4F3E9ADB-6AEC-42EA-808B-5A433C8B4560}"/>
              </a:ext>
            </a:extLst>
          </p:cNvPr>
          <p:cNvSpPr txBox="1">
            <a:spLocks/>
          </p:cNvSpPr>
          <p:nvPr/>
        </p:nvSpPr>
        <p:spPr>
          <a:xfrm>
            <a:off x="319463" y="310113"/>
            <a:ext cx="8168429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b="1" u="sng" dirty="0">
                <a:latin typeface="+mn-lt"/>
              </a:rPr>
              <a:t>1.1a - Summation Notation:</a:t>
            </a:r>
            <a:endParaRPr lang="ja-JP" altLang="en-US" b="1" u="sng" dirty="0">
              <a:latin typeface="+mn-lt"/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65B06D6C-CCB3-4D8F-9171-6B4779FED53B}"/>
              </a:ext>
            </a:extLst>
          </p:cNvPr>
          <p:cNvSpPr txBox="1">
            <a:spLocks/>
          </p:cNvSpPr>
          <p:nvPr/>
        </p:nvSpPr>
        <p:spPr>
          <a:xfrm>
            <a:off x="319463" y="1050542"/>
            <a:ext cx="11553074" cy="60720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US" altLang="ja-JP" sz="2000" dirty="0">
                <a:solidFill>
                  <a:schemeClr val="tx1"/>
                </a:solidFill>
              </a:rPr>
              <a:t>Suppose that we have </a:t>
            </a:r>
            <a:r>
              <a:rPr lang="en-US" altLang="ja-JP" sz="2000" b="1" i="1" dirty="0">
                <a:solidFill>
                  <a:schemeClr val="tx1"/>
                </a:solidFill>
              </a:rPr>
              <a:t>N</a:t>
            </a:r>
            <a:r>
              <a:rPr lang="en-US" altLang="ja-JP" sz="2000" dirty="0">
                <a:solidFill>
                  <a:schemeClr val="tx1"/>
                </a:solidFill>
              </a:rPr>
              <a:t> observations that can be grouped into </a:t>
            </a:r>
            <a:r>
              <a:rPr lang="en-US" altLang="ja-JP" sz="2000" b="1" i="1" dirty="0">
                <a:solidFill>
                  <a:schemeClr val="tx1"/>
                </a:solidFill>
              </a:rPr>
              <a:t>r</a:t>
            </a:r>
            <a:r>
              <a:rPr lang="en-US" altLang="ja-JP" sz="2000" dirty="0">
                <a:solidFill>
                  <a:schemeClr val="tx1"/>
                </a:solidFill>
              </a:rPr>
              <a:t> rows and </a:t>
            </a:r>
            <a:r>
              <a:rPr lang="en-US" altLang="ja-JP" sz="2000" b="1" i="1" dirty="0">
                <a:solidFill>
                  <a:schemeClr val="tx1"/>
                </a:solidFill>
              </a:rPr>
              <a:t>c</a:t>
            </a:r>
            <a:r>
              <a:rPr lang="en-US" altLang="ja-JP" sz="2000" dirty="0">
                <a:solidFill>
                  <a:schemeClr val="tx1"/>
                </a:solidFill>
              </a:rPr>
              <a:t> columns (</a:t>
            </a:r>
            <a:r>
              <a:rPr lang="en-US" altLang="ja-JP" sz="2000" b="1" i="1" dirty="0">
                <a:solidFill>
                  <a:schemeClr val="tx1"/>
                </a:solidFill>
              </a:rPr>
              <a:t>N = </a:t>
            </a:r>
            <a:r>
              <a:rPr lang="en-US" altLang="ja-JP" sz="2000" b="1" i="1" dirty="0" err="1">
                <a:solidFill>
                  <a:schemeClr val="tx1"/>
                </a:solidFill>
              </a:rPr>
              <a:t>rc</a:t>
            </a:r>
            <a:r>
              <a:rPr lang="en-US" altLang="ja-JP" sz="2000" dirty="0">
                <a:solidFill>
                  <a:schemeClr val="tx1"/>
                </a:solidFill>
              </a:rPr>
              <a:t>).</a:t>
            </a:r>
            <a:endParaRPr lang="en-US" altLang="ja-JP" sz="2000" b="1" i="1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281044D1-CDA5-4D0B-AE06-D330F2B8865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1543445"/>
                <a:ext cx="12192000" cy="13157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𝒀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  <m: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𝒀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  <m: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𝒀</m:t>
                                          </m:r>
                                        </m:e>
                                        <m:sub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  <m: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𝒀</m:t>
                                          </m:r>
                                        </m:e>
                                        <m:sub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  <m: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𝒀</m:t>
                                          </m:r>
                                        </m:e>
                                        <m:sub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  <m: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𝒀</m:t>
                                          </m:r>
                                        </m:e>
                                        <m:sub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  <m: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 = 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sz="20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sz="20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NZ" altLang="ja-JP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n-NZ" altLang="ja-JP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e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𝟒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lang="en-NZ" altLang="ja-JP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e>
                              <m:e>
                                <m:r>
                                  <a:rPr lang="en-NZ" altLang="ja-JP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𝟕</m:t>
                                      </m:r>
                                    </m:e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𝟖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lang="en-NZ" altLang="ja-JP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</m:e>
                              <m:e>
                                <m:r>
                                  <a:rPr lang="en-NZ" altLang="ja-JP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𝟏𝟎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𝟏𝟏</m:t>
                                      </m:r>
                                    </m:e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𝟏𝟐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ja-JP" sz="2000" b="1" i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281044D1-CDA5-4D0B-AE06-D330F2B886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543445"/>
                <a:ext cx="12192000" cy="131571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Placeholder 5">
                <a:extLst>
                  <a:ext uri="{FF2B5EF4-FFF2-40B4-BE49-F238E27FC236}">
                    <a16:creationId xmlns:a16="http://schemas.microsoft.com/office/drawing/2014/main" id="{895C119D-B8FB-45C6-91ED-D2576584A0F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59809" y="2603466"/>
                <a:ext cx="4995080" cy="115418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altLang="ja-JP" sz="20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NZ" altLang="ja-JP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NZ" altLang="ja-JP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NZ" altLang="ja-JP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ja-JP" sz="20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NZ" altLang="ja-JP" sz="20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NZ" altLang="ja-JP" sz="20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NZ" altLang="ja-JP" sz="20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NZ" altLang="ja-JP" sz="20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20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NZ" altLang="ja-JP" sz="20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NZ" altLang="ja-JP" sz="20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NZ" altLang="ja-JP" sz="20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  <m:r>
                            <a:rPr lang="en-NZ" altLang="ja-JP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</m:e>
                      </m:nary>
                    </m:oMath>
                  </m:oMathPara>
                </a14:m>
                <a:endParaRPr lang="en-US" altLang="ja-JP" sz="20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Text Placeholder 5">
                <a:extLst>
                  <a:ext uri="{FF2B5EF4-FFF2-40B4-BE49-F238E27FC236}">
                    <a16:creationId xmlns:a16="http://schemas.microsoft.com/office/drawing/2014/main" id="{895C119D-B8FB-45C6-91ED-D2576584A0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809" y="2603466"/>
                <a:ext cx="4995080" cy="11541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8AFE2AC4-117F-4A7C-89A6-3B83DE32A501}"/>
              </a:ext>
            </a:extLst>
          </p:cNvPr>
          <p:cNvSpPr txBox="1">
            <a:spLocks/>
          </p:cNvSpPr>
          <p:nvPr/>
        </p:nvSpPr>
        <p:spPr>
          <a:xfrm>
            <a:off x="2369162" y="2980095"/>
            <a:ext cx="9238259" cy="5271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US" altLang="ja-JP" sz="2000" dirty="0">
                <a:solidFill>
                  <a:srgbClr val="002060"/>
                </a:solidFill>
              </a:rPr>
              <a:t>Means sum all the elements of the matrix</a:t>
            </a:r>
            <a:endParaRPr lang="en-US" altLang="ja-JP" sz="2000" b="1" i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Placeholder 5">
                <a:extLst>
                  <a:ext uri="{FF2B5EF4-FFF2-40B4-BE49-F238E27FC236}">
                    <a16:creationId xmlns:a16="http://schemas.microsoft.com/office/drawing/2014/main" id="{BA9AD72C-C571-4453-8050-A0EC3E2D23A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12209" y="5004576"/>
                <a:ext cx="4995080" cy="115418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ja-JP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Text Placeholder 5">
                <a:extLst>
                  <a:ext uri="{FF2B5EF4-FFF2-40B4-BE49-F238E27FC236}">
                    <a16:creationId xmlns:a16="http://schemas.microsoft.com/office/drawing/2014/main" id="{BA9AD72C-C571-4453-8050-A0EC3E2D23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2209" y="5004576"/>
                <a:ext cx="4995080" cy="115418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Placeholder 5">
                <a:extLst>
                  <a:ext uri="{FF2B5EF4-FFF2-40B4-BE49-F238E27FC236}">
                    <a16:creationId xmlns:a16="http://schemas.microsoft.com/office/drawing/2014/main" id="{41373940-6123-4693-B1D7-0965B1F0534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12209" y="3687191"/>
                <a:ext cx="11016018" cy="115418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altLang="ja-JP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ja-JP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NZ" altLang="ja-JP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NZ" altLang="ja-JP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NZ" altLang="ja-JP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NZ" altLang="ja-JP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NZ" altLang="ja-JP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</m:e>
                      </m:nary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=  </m:t>
                      </m:r>
                      <m:nary>
                        <m:naryPr>
                          <m:chr m:val="∑"/>
                          <m:ctrlP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d>
                            <m:dPr>
                              <m:ctrlP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NZ" altLang="ja-JP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NZ" altLang="ja-JP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NZ" altLang="ja-JP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b>
                              </m:sSub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+</m:t>
                              </m:r>
                              <m:sSub>
                                <m:sSubPr>
                                  <m:ctrlPr>
                                    <a:rPr lang="en-NZ" altLang="ja-JP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NZ" altLang="ja-JP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NZ" altLang="ja-JP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,2</m:t>
                                  </m:r>
                                </m:sub>
                              </m:sSub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+</m:t>
                              </m:r>
                              <m:sSub>
                                <m:sSubPr>
                                  <m:ctrlPr>
                                    <a:rPr lang="en-NZ" altLang="ja-JP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NZ" altLang="ja-JP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NZ" altLang="ja-JP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,3</m:t>
                                  </m:r>
                                </m:sub>
                              </m:sSub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+</m:t>
                              </m:r>
                              <m:sSub>
                                <m:sSubPr>
                                  <m:ctrlPr>
                                    <a:rPr lang="en-NZ" altLang="ja-JP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NZ" altLang="ja-JP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NZ" altLang="ja-JP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,4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ja-JP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Text Placeholder 5">
                <a:extLst>
                  <a:ext uri="{FF2B5EF4-FFF2-40B4-BE49-F238E27FC236}">
                    <a16:creationId xmlns:a16="http://schemas.microsoft.com/office/drawing/2014/main" id="{41373940-6123-4693-B1D7-0965B1F053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2209" y="3687191"/>
                <a:ext cx="11016018" cy="11541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Placeholder 5">
                <a:extLst>
                  <a:ext uri="{FF2B5EF4-FFF2-40B4-BE49-F238E27FC236}">
                    <a16:creationId xmlns:a16="http://schemas.microsoft.com/office/drawing/2014/main" id="{A3118327-FAC8-49F6-97C9-5A7BDFC8318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369162" y="4670990"/>
                <a:ext cx="9659065" cy="675343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NZ" altLang="ja-JP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NZ" altLang="ja-JP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NZ" altLang="ja-JP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NZ" altLang="ja-JP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NZ" altLang="ja-JP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NZ" altLang="ja-JP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,1</m:t>
                            </m:r>
                          </m:sub>
                        </m:sSub>
                        <m:r>
                          <a:rPr lang="en-NZ" altLang="ja-JP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+</m:t>
                        </m:r>
                        <m:sSub>
                          <m:sSubPr>
                            <m:ctrlPr>
                              <a:rPr lang="en-NZ" altLang="ja-JP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NZ" altLang="ja-JP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NZ" altLang="ja-JP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NZ" altLang="ja-JP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,2</m:t>
                            </m:r>
                          </m:sub>
                        </m:sSub>
                        <m:r>
                          <a:rPr lang="en-NZ" altLang="ja-JP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+</m:t>
                        </m:r>
                        <m:sSub>
                          <m:sSubPr>
                            <m:ctrlPr>
                              <a:rPr lang="en-NZ" altLang="ja-JP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NZ" altLang="ja-JP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NZ" altLang="ja-JP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NZ" altLang="ja-JP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,3</m:t>
                            </m:r>
                          </m:sub>
                        </m:sSub>
                        <m:r>
                          <a:rPr lang="en-NZ" altLang="ja-JP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+</m:t>
                        </m:r>
                        <m:sSub>
                          <m:sSubPr>
                            <m:ctrlPr>
                              <a:rPr lang="en-NZ" altLang="ja-JP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NZ" altLang="ja-JP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NZ" altLang="ja-JP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NZ" altLang="ja-JP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,4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ja-JP" sz="2000" dirty="0">
                    <a:solidFill>
                      <a:schemeClr val="tx1"/>
                    </a:solidFill>
                  </a:rPr>
                  <a:t>  +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NZ" altLang="ja-JP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NZ" altLang="ja-JP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NZ" altLang="ja-JP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NZ" altLang="ja-JP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NZ" altLang="ja-JP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,1</m:t>
                            </m:r>
                          </m:sub>
                        </m:sSub>
                        <m:r>
                          <a:rPr lang="en-NZ" altLang="ja-JP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+</m:t>
                        </m:r>
                        <m:sSub>
                          <m:sSubPr>
                            <m:ctrlPr>
                              <a:rPr lang="en-NZ" altLang="ja-JP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NZ" altLang="ja-JP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NZ" altLang="ja-JP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NZ" altLang="ja-JP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,2</m:t>
                            </m:r>
                          </m:sub>
                        </m:sSub>
                        <m:r>
                          <a:rPr lang="en-NZ" altLang="ja-JP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+</m:t>
                        </m:r>
                        <m:sSub>
                          <m:sSubPr>
                            <m:ctrlPr>
                              <a:rPr lang="en-NZ" altLang="ja-JP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NZ" altLang="ja-JP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NZ" altLang="ja-JP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NZ" altLang="ja-JP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,3</m:t>
                            </m:r>
                          </m:sub>
                        </m:sSub>
                        <m:r>
                          <a:rPr lang="en-NZ" altLang="ja-JP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+</m:t>
                        </m:r>
                        <m:sSub>
                          <m:sSubPr>
                            <m:ctrlPr>
                              <a:rPr lang="en-NZ" altLang="ja-JP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NZ" altLang="ja-JP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NZ" altLang="ja-JP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NZ" altLang="ja-JP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,4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ja-JP" sz="2000" dirty="0">
                    <a:solidFill>
                      <a:schemeClr val="tx1"/>
                    </a:solidFill>
                  </a:rPr>
                  <a:t>  +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NZ" altLang="ja-JP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NZ" altLang="ja-JP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NZ" altLang="ja-JP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NZ" altLang="ja-JP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NZ" altLang="ja-JP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,1</m:t>
                            </m:r>
                          </m:sub>
                        </m:sSub>
                        <m:r>
                          <a:rPr lang="en-NZ" altLang="ja-JP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+</m:t>
                        </m:r>
                        <m:sSub>
                          <m:sSubPr>
                            <m:ctrlPr>
                              <a:rPr lang="en-NZ" altLang="ja-JP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NZ" altLang="ja-JP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NZ" altLang="ja-JP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NZ" altLang="ja-JP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,2</m:t>
                            </m:r>
                          </m:sub>
                        </m:sSub>
                        <m:r>
                          <a:rPr lang="en-NZ" altLang="ja-JP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+</m:t>
                        </m:r>
                        <m:sSub>
                          <m:sSubPr>
                            <m:ctrlPr>
                              <a:rPr lang="en-NZ" altLang="ja-JP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NZ" altLang="ja-JP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NZ" altLang="ja-JP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NZ" altLang="ja-JP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,3</m:t>
                            </m:r>
                          </m:sub>
                        </m:sSub>
                        <m:r>
                          <a:rPr lang="en-NZ" altLang="ja-JP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+</m:t>
                        </m:r>
                        <m:sSub>
                          <m:sSubPr>
                            <m:ctrlPr>
                              <a:rPr lang="en-NZ" altLang="ja-JP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NZ" altLang="ja-JP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NZ" altLang="ja-JP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NZ" altLang="ja-JP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,4</m:t>
                            </m:r>
                          </m:sub>
                        </m:sSub>
                      </m:e>
                    </m:d>
                  </m:oMath>
                </a14:m>
                <a:endParaRPr lang="en-US" altLang="ja-JP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Text Placeholder 5">
                <a:extLst>
                  <a:ext uri="{FF2B5EF4-FFF2-40B4-BE49-F238E27FC236}">
                    <a16:creationId xmlns:a16="http://schemas.microsoft.com/office/drawing/2014/main" id="{A3118327-FAC8-49F6-97C9-5A7BDFC831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9162" y="4670990"/>
                <a:ext cx="9659065" cy="675343"/>
              </a:xfrm>
              <a:prstGeom prst="rect">
                <a:avLst/>
              </a:prstGeom>
              <a:blipFill>
                <a:blip r:embed="rId7"/>
                <a:stretch>
                  <a:fillRect t="-901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 Placeholder 5">
                <a:extLst>
                  <a:ext uri="{FF2B5EF4-FFF2-40B4-BE49-F238E27FC236}">
                    <a16:creationId xmlns:a16="http://schemas.microsoft.com/office/drawing/2014/main" id="{29B73FAF-2B2A-434C-8AB5-61339AA0DD0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369162" y="5279590"/>
                <a:ext cx="9503375" cy="37519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 </m:t>
                      </m:r>
                      <m:d>
                        <m:dPr>
                          <m:ctrlP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1+2+3+4 </m:t>
                          </m:r>
                        </m:e>
                      </m:d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+  </m:t>
                      </m:r>
                      <m:d>
                        <m:dPr>
                          <m:ctrlP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5+6+7+8</m:t>
                          </m:r>
                        </m:e>
                      </m:d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  </m:t>
                      </m:r>
                      <m:d>
                        <m:dPr>
                          <m:ctrlP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9+10+11+12</m:t>
                          </m:r>
                        </m:e>
                      </m:d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   78</m:t>
                      </m:r>
                    </m:oMath>
                  </m:oMathPara>
                </a14:m>
                <a:endParaRPr lang="en-US" altLang="ja-JP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Text Placeholder 5">
                <a:extLst>
                  <a:ext uri="{FF2B5EF4-FFF2-40B4-BE49-F238E27FC236}">
                    <a16:creationId xmlns:a16="http://schemas.microsoft.com/office/drawing/2014/main" id="{29B73FAF-2B2A-434C-8AB5-61339AA0DD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9162" y="5279590"/>
                <a:ext cx="9503375" cy="3751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911352CD-7EBE-4618-81AE-A729D123C25F}"/>
              </a:ext>
            </a:extLst>
          </p:cNvPr>
          <p:cNvSpPr txBox="1">
            <a:spLocks/>
          </p:cNvSpPr>
          <p:nvPr/>
        </p:nvSpPr>
        <p:spPr>
          <a:xfrm>
            <a:off x="2369162" y="6083878"/>
            <a:ext cx="5573835" cy="3751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US" altLang="ja-JP" sz="2000" dirty="0">
                <a:solidFill>
                  <a:srgbClr val="FF0000"/>
                </a:solidFill>
              </a:rPr>
              <a:t>In terms of the above example satisfy yourself that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F8BFC05-C5D4-4057-A832-0D15799A9F1A}"/>
                  </a:ext>
                </a:extLst>
              </p:cNvPr>
              <p:cNvSpPr txBox="1"/>
              <p:nvPr/>
            </p:nvSpPr>
            <p:spPr>
              <a:xfrm>
                <a:off x="7866935" y="5754715"/>
                <a:ext cx="3312856" cy="9024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altLang="ja-JP" sz="1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NZ" altLang="ja-JP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NZ" altLang="ja-JP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NZ" altLang="ja-JP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ja-JP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NZ" altLang="ja-JP" sz="1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NZ" altLang="ja-JP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NZ" altLang="ja-JP" sz="1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NZ" altLang="ja-JP" sz="18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18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NZ" altLang="ja-JP" sz="18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NZ" altLang="ja-JP" sz="18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NZ" altLang="ja-JP" sz="18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  <m:r>
                            <a:rPr lang="en-NZ" altLang="ja-JP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=</m:t>
                          </m:r>
                          <m:nary>
                            <m:naryPr>
                              <m:chr m:val="∑"/>
                              <m:ctrlPr>
                                <a:rPr lang="en-US" altLang="ja-JP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NZ" altLang="ja-JP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NZ" altLang="ja-JP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NZ" altLang="ja-JP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ja-JP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NZ" altLang="ja-JP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NZ" altLang="ja-JP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NZ" altLang="ja-JP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NZ" altLang="ja-JP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NZ" altLang="ja-JP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NZ" altLang="ja-JP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NZ" altLang="ja-JP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NZ" altLang="ja-JP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nary>
                              <m:r>
                                <a:rPr lang="en-NZ" altLang="ja-JP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NZ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F8BFC05-C5D4-4057-A832-0D15799A9F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6935" y="5754715"/>
                <a:ext cx="3312856" cy="90242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E985A83A-245D-9550-C941-1C94C5314586}"/>
              </a:ext>
            </a:extLst>
          </p:cNvPr>
          <p:cNvSpPr txBox="1">
            <a:spLocks/>
          </p:cNvSpPr>
          <p:nvPr/>
        </p:nvSpPr>
        <p:spPr>
          <a:xfrm>
            <a:off x="8694057" y="86139"/>
            <a:ext cx="33953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1600" dirty="0">
                <a:solidFill>
                  <a:srgbClr val="DEDDDD"/>
                </a:solidFill>
                <a:latin typeface="Gidole"/>
              </a:rPr>
              <a:t>1.1 - Summation Notation &amp; Algebra</a:t>
            </a:r>
            <a:endParaRPr kumimoji="1" lang="ja-JP" altLang="en-US" sz="1600" dirty="0">
              <a:solidFill>
                <a:srgbClr val="DEDDDD"/>
              </a:solidFill>
              <a:latin typeface="Gidole"/>
            </a:endParaRPr>
          </a:p>
        </p:txBody>
      </p:sp>
    </p:spTree>
    <p:extLst>
      <p:ext uri="{BB962C8B-B14F-4D97-AF65-F5344CB8AC3E}">
        <p14:creationId xmlns:p14="http://schemas.microsoft.com/office/powerpoint/2010/main" val="934632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/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6733"/>
            <a:ext cx="2185386" cy="741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4AD89C-DF1E-4948-B597-5DD47B34A9CA}" type="slidenum">
              <a:rPr kumimoji="1" lang="ja-JP" altLang="en-US" smtClean="0">
                <a:solidFill>
                  <a:srgbClr val="575454">
                    <a:lumMod val="20000"/>
                    <a:lumOff val="80000"/>
                  </a:srgbClr>
                </a:solidFill>
                <a:latin typeface="Coo Hew"/>
              </a:rPr>
              <a:pPr/>
              <a:t>7</a:t>
            </a:fld>
            <a:endParaRPr kumimoji="1" lang="ja-JP" altLang="en-US" dirty="0">
              <a:solidFill>
                <a:srgbClr val="575454">
                  <a:lumMod val="20000"/>
                  <a:lumOff val="80000"/>
                </a:srgbClr>
              </a:solidFill>
              <a:latin typeface="Coo Hew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4F3E9ADB-6AEC-42EA-808B-5A433C8B4560}"/>
              </a:ext>
            </a:extLst>
          </p:cNvPr>
          <p:cNvSpPr txBox="1">
            <a:spLocks/>
          </p:cNvSpPr>
          <p:nvPr/>
        </p:nvSpPr>
        <p:spPr>
          <a:xfrm>
            <a:off x="319463" y="310113"/>
            <a:ext cx="8168429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b="1" u="sng" dirty="0">
                <a:latin typeface="+mn-lt"/>
              </a:rPr>
              <a:t>1.1b - Bracket Notation:</a:t>
            </a:r>
            <a:endParaRPr lang="ja-JP" altLang="en-US" b="1" u="sng" dirty="0">
              <a:latin typeface="+mn-lt"/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65B06D6C-CCB3-4D8F-9171-6B4779FED53B}"/>
              </a:ext>
            </a:extLst>
          </p:cNvPr>
          <p:cNvSpPr txBox="1">
            <a:spLocks/>
          </p:cNvSpPr>
          <p:nvPr/>
        </p:nvSpPr>
        <p:spPr>
          <a:xfrm>
            <a:off x="319463" y="1050542"/>
            <a:ext cx="11553074" cy="60720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US" altLang="ja-JP" sz="2000" dirty="0">
                <a:solidFill>
                  <a:schemeClr val="tx1"/>
                </a:solidFill>
              </a:rPr>
              <a:t>Suppose that we have </a:t>
            </a:r>
            <a:r>
              <a:rPr lang="en-US" altLang="ja-JP" sz="2000" b="1" i="1" dirty="0">
                <a:solidFill>
                  <a:schemeClr val="tx1"/>
                </a:solidFill>
              </a:rPr>
              <a:t>N</a:t>
            </a:r>
            <a:r>
              <a:rPr lang="en-US" altLang="ja-JP" sz="2000" dirty="0">
                <a:solidFill>
                  <a:schemeClr val="tx1"/>
                </a:solidFill>
              </a:rPr>
              <a:t> observations that can be grouped into </a:t>
            </a:r>
            <a:r>
              <a:rPr lang="en-US" altLang="ja-JP" sz="2000" b="1" i="1" dirty="0">
                <a:solidFill>
                  <a:schemeClr val="tx1"/>
                </a:solidFill>
              </a:rPr>
              <a:t>r</a:t>
            </a:r>
            <a:r>
              <a:rPr lang="en-US" altLang="ja-JP" sz="2000" dirty="0">
                <a:solidFill>
                  <a:schemeClr val="tx1"/>
                </a:solidFill>
              </a:rPr>
              <a:t> rows and </a:t>
            </a:r>
            <a:r>
              <a:rPr lang="en-US" altLang="ja-JP" sz="2000" b="1" i="1" dirty="0">
                <a:solidFill>
                  <a:schemeClr val="tx1"/>
                </a:solidFill>
              </a:rPr>
              <a:t>c</a:t>
            </a:r>
            <a:r>
              <a:rPr lang="en-US" altLang="ja-JP" sz="2000" dirty="0">
                <a:solidFill>
                  <a:schemeClr val="tx1"/>
                </a:solidFill>
              </a:rPr>
              <a:t> columns (</a:t>
            </a:r>
            <a:r>
              <a:rPr lang="en-US" altLang="ja-JP" sz="2000" b="1" i="1" dirty="0">
                <a:solidFill>
                  <a:schemeClr val="tx1"/>
                </a:solidFill>
              </a:rPr>
              <a:t>N = </a:t>
            </a:r>
            <a:r>
              <a:rPr lang="en-US" altLang="ja-JP" sz="2000" b="1" i="1" dirty="0" err="1">
                <a:solidFill>
                  <a:schemeClr val="tx1"/>
                </a:solidFill>
              </a:rPr>
              <a:t>rc</a:t>
            </a:r>
            <a:r>
              <a:rPr lang="en-US" altLang="ja-JP" sz="2000" dirty="0">
                <a:solidFill>
                  <a:schemeClr val="tx1"/>
                </a:solidFill>
              </a:rPr>
              <a:t>).</a:t>
            </a:r>
            <a:endParaRPr lang="en-US" altLang="ja-JP" sz="2000" b="1" i="1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281044D1-CDA5-4D0B-AE06-D330F2B8865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1543445"/>
                <a:ext cx="12192000" cy="13157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𝒀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  <m: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𝒀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  <m: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𝒀</m:t>
                                          </m:r>
                                        </m:e>
                                        <m:sub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  <m: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𝒀</m:t>
                                          </m:r>
                                        </m:e>
                                        <m:sub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  <m: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𝒀</m:t>
                                          </m:r>
                                        </m:e>
                                        <m:sub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  <m: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𝒀</m:t>
                                          </m:r>
                                        </m:e>
                                        <m:sub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  <m: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 = 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sz="20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sz="20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NZ" altLang="ja-JP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n-NZ" altLang="ja-JP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e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𝟒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lang="en-NZ" altLang="ja-JP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e>
                              <m:e>
                                <m:r>
                                  <a:rPr lang="en-NZ" altLang="ja-JP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𝟕</m:t>
                                      </m:r>
                                    </m:e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𝟖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lang="en-NZ" altLang="ja-JP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</m:e>
                              <m:e>
                                <m:r>
                                  <a:rPr lang="en-NZ" altLang="ja-JP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𝟏𝟎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𝟏𝟏</m:t>
                                      </m:r>
                                    </m:e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𝟏𝟐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ja-JP" sz="2000" b="1" i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281044D1-CDA5-4D0B-AE06-D330F2B886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543445"/>
                <a:ext cx="12192000" cy="131571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Placeholder 5">
                <a:extLst>
                  <a:ext uri="{FF2B5EF4-FFF2-40B4-BE49-F238E27FC236}">
                    <a16:creationId xmlns:a16="http://schemas.microsoft.com/office/drawing/2014/main" id="{895C119D-B8FB-45C6-91ED-D2576584A0F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59809" y="2603466"/>
                <a:ext cx="4995080" cy="115418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altLang="ja-JP" sz="20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NZ" altLang="ja-JP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NZ" altLang="ja-JP" sz="20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NZ" altLang="ja-JP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p>
                        <m:e>
                          <m:sSubSup>
                            <m:sSubSupPr>
                              <m:ctrlPr>
                                <a:rPr lang="en-NZ" altLang="ja-JP" sz="20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NZ" altLang="ja-JP" sz="20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NZ" altLang="ja-JP" sz="20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NZ" altLang="ja-JP" sz="20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NZ" altLang="ja-JP" sz="20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NZ" altLang="ja-JP" sz="20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altLang="ja-JP" sz="20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Text Placeholder 5">
                <a:extLst>
                  <a:ext uri="{FF2B5EF4-FFF2-40B4-BE49-F238E27FC236}">
                    <a16:creationId xmlns:a16="http://schemas.microsoft.com/office/drawing/2014/main" id="{895C119D-B8FB-45C6-91ED-D2576584A0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809" y="2603466"/>
                <a:ext cx="4995080" cy="11541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8AFE2AC4-117F-4A7C-89A6-3B83DE32A501}"/>
              </a:ext>
            </a:extLst>
          </p:cNvPr>
          <p:cNvSpPr txBox="1">
            <a:spLocks/>
          </p:cNvSpPr>
          <p:nvPr/>
        </p:nvSpPr>
        <p:spPr>
          <a:xfrm>
            <a:off x="2086705" y="2899433"/>
            <a:ext cx="9238259" cy="5271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US" altLang="ja-JP" sz="2000" dirty="0">
                <a:solidFill>
                  <a:srgbClr val="002060"/>
                </a:solidFill>
              </a:rPr>
              <a:t>Means square each element of the </a:t>
            </a:r>
            <a:r>
              <a:rPr lang="en-US" altLang="ja-JP" sz="2000" dirty="0" err="1">
                <a:solidFill>
                  <a:srgbClr val="002060"/>
                </a:solidFill>
              </a:rPr>
              <a:t>i</a:t>
            </a:r>
            <a:r>
              <a:rPr lang="en-US" altLang="ja-JP" sz="2000" baseline="30000" dirty="0" err="1">
                <a:solidFill>
                  <a:srgbClr val="002060"/>
                </a:solidFill>
              </a:rPr>
              <a:t>th</a:t>
            </a:r>
            <a:r>
              <a:rPr lang="en-US" altLang="ja-JP" sz="2000" baseline="30000" dirty="0">
                <a:solidFill>
                  <a:srgbClr val="002060"/>
                </a:solidFill>
              </a:rPr>
              <a:t> </a:t>
            </a:r>
            <a:r>
              <a:rPr lang="en-US" altLang="ja-JP" sz="2000" dirty="0">
                <a:solidFill>
                  <a:srgbClr val="002060"/>
                </a:solidFill>
              </a:rPr>
              <a:t>row and sum the result</a:t>
            </a:r>
            <a:endParaRPr lang="en-US" altLang="ja-JP" sz="2000" b="1" i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Placeholder 5">
                <a:extLst>
                  <a:ext uri="{FF2B5EF4-FFF2-40B4-BE49-F238E27FC236}">
                    <a16:creationId xmlns:a16="http://schemas.microsoft.com/office/drawing/2014/main" id="{BA9AD72C-C571-4453-8050-A0EC3E2D23A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12209" y="5004576"/>
                <a:ext cx="4995080" cy="115418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ja-JP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Text Placeholder 5">
                <a:extLst>
                  <a:ext uri="{FF2B5EF4-FFF2-40B4-BE49-F238E27FC236}">
                    <a16:creationId xmlns:a16="http://schemas.microsoft.com/office/drawing/2014/main" id="{BA9AD72C-C571-4453-8050-A0EC3E2D23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2209" y="5004576"/>
                <a:ext cx="4995080" cy="115418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 Placeholder 5">
                <a:extLst>
                  <a:ext uri="{FF2B5EF4-FFF2-40B4-BE49-F238E27FC236}">
                    <a16:creationId xmlns:a16="http://schemas.microsoft.com/office/drawing/2014/main" id="{E2F0119F-7143-4C75-AA8C-0642D5A7A41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73257" y="3240149"/>
                <a:ext cx="9245486" cy="115418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altLang="ja-JP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  <m:e>
                          <m:sSubSup>
                            <m:sSubSupPr>
                              <m:ctrlP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2,</m:t>
                              </m:r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=  </m:t>
                      </m:r>
                      <m:sSubSup>
                        <m:sSubSupPr>
                          <m:ctrlP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2,1</m:t>
                          </m:r>
                        </m:sub>
                        <m:sup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+</m:t>
                      </m:r>
                      <m:sSubSup>
                        <m:sSubSupPr>
                          <m:ctrlP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</m:t>
                          </m:r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+</m:t>
                      </m:r>
                      <m:sSubSup>
                        <m:sSubSupPr>
                          <m:ctrlP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</m:t>
                          </m:r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+</m:t>
                      </m:r>
                      <m:sSubSup>
                        <m:sSubSupPr>
                          <m:ctrlP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</m:t>
                          </m:r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 </m:t>
                      </m:r>
                      <m:sSup>
                        <m:sSupPr>
                          <m:ctrlP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  <m:sup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  <m:sup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  <m:sup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  <m:sup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=174</m:t>
                      </m:r>
                    </m:oMath>
                  </m:oMathPara>
                </a14:m>
                <a:endParaRPr lang="en-US" altLang="ja-JP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Text Placeholder 5">
                <a:extLst>
                  <a:ext uri="{FF2B5EF4-FFF2-40B4-BE49-F238E27FC236}">
                    <a16:creationId xmlns:a16="http://schemas.microsoft.com/office/drawing/2014/main" id="{E2F0119F-7143-4C75-AA8C-0642D5A7A4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3257" y="3240149"/>
                <a:ext cx="9245486" cy="11541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Placeholder 5">
                <a:extLst>
                  <a:ext uri="{FF2B5EF4-FFF2-40B4-BE49-F238E27FC236}">
                    <a16:creationId xmlns:a16="http://schemas.microsoft.com/office/drawing/2014/main" id="{B1A2F5FD-6712-481A-83C6-6E408729531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86854" y="4180962"/>
                <a:ext cx="4995080" cy="115418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NZ" altLang="ja-JP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ja-JP" sz="20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ja-JP" sz="20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NZ" altLang="ja-JP" sz="20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NZ" altLang="ja-JP" sz="20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NZ" altLang="ja-JP" sz="20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NZ" altLang="ja-JP" sz="20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NZ" altLang="ja-JP" sz="20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NZ" altLang="ja-JP" sz="20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NZ" altLang="ja-JP" sz="20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NZ" altLang="ja-JP" sz="20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NZ" altLang="ja-JP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ja-JP" sz="20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2" name="Text Placeholder 5">
                <a:extLst>
                  <a:ext uri="{FF2B5EF4-FFF2-40B4-BE49-F238E27FC236}">
                    <a16:creationId xmlns:a16="http://schemas.microsoft.com/office/drawing/2014/main" id="{B1A2F5FD-6712-481A-83C6-6E40872953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854" y="4180962"/>
                <a:ext cx="4995080" cy="115418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7F690A5F-9DDC-4B9F-98A0-26F5EFDE5148}"/>
              </a:ext>
            </a:extLst>
          </p:cNvPr>
          <p:cNvSpPr txBox="1">
            <a:spLocks/>
          </p:cNvSpPr>
          <p:nvPr/>
        </p:nvSpPr>
        <p:spPr>
          <a:xfrm>
            <a:off x="2103265" y="4538991"/>
            <a:ext cx="9238259" cy="5271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US" altLang="ja-JP" sz="2000" dirty="0">
                <a:solidFill>
                  <a:srgbClr val="002060"/>
                </a:solidFill>
              </a:rPr>
              <a:t>Means sum the elements of the </a:t>
            </a:r>
            <a:r>
              <a:rPr lang="en-US" altLang="ja-JP" sz="2000" dirty="0" err="1">
                <a:solidFill>
                  <a:srgbClr val="002060"/>
                </a:solidFill>
              </a:rPr>
              <a:t>i</a:t>
            </a:r>
            <a:r>
              <a:rPr lang="en-US" altLang="ja-JP" sz="2000" baseline="30000" dirty="0" err="1">
                <a:solidFill>
                  <a:srgbClr val="002060"/>
                </a:solidFill>
              </a:rPr>
              <a:t>th</a:t>
            </a:r>
            <a:r>
              <a:rPr lang="en-US" altLang="ja-JP" sz="2000" baseline="30000" dirty="0">
                <a:solidFill>
                  <a:srgbClr val="002060"/>
                </a:solidFill>
              </a:rPr>
              <a:t> </a:t>
            </a:r>
            <a:r>
              <a:rPr lang="en-US" altLang="ja-JP" sz="2000" dirty="0">
                <a:solidFill>
                  <a:srgbClr val="002060"/>
                </a:solidFill>
              </a:rPr>
              <a:t>row and </a:t>
            </a:r>
            <a:r>
              <a:rPr lang="en-US" altLang="ja-JP" sz="2000" b="1" dirty="0">
                <a:solidFill>
                  <a:srgbClr val="002060"/>
                </a:solidFill>
              </a:rPr>
              <a:t>then </a:t>
            </a:r>
            <a:r>
              <a:rPr lang="en-US" altLang="ja-JP" sz="2000" dirty="0">
                <a:solidFill>
                  <a:srgbClr val="002060"/>
                </a:solidFill>
              </a:rPr>
              <a:t>square the result</a:t>
            </a:r>
            <a:endParaRPr lang="en-US" altLang="ja-JP" sz="2000" b="1" i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 Placeholder 5">
                <a:extLst>
                  <a:ext uri="{FF2B5EF4-FFF2-40B4-BE49-F238E27FC236}">
                    <a16:creationId xmlns:a16="http://schemas.microsoft.com/office/drawing/2014/main" id="{26E12EB3-0AC8-4E4A-A51C-B10A802319D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359660" y="4838962"/>
                <a:ext cx="9245486" cy="115418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ja-JP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NZ" altLang="ja-JP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NZ" altLang="ja-JP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NZ" altLang="ja-JP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NZ" altLang="ja-JP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NZ" altLang="ja-JP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NZ" altLang="ja-JP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2,</m:t>
                                      </m:r>
                                      <m:r>
                                        <a:rPr lang="en-NZ" altLang="ja-JP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 </m:t>
                      </m:r>
                      <m:sSup>
                        <m:sSupPr>
                          <m:ctrlP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NZ" altLang="ja-JP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NZ" altLang="ja-JP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2,1</m:t>
                                  </m:r>
                                </m:sub>
                              </m:sSub>
                              <m:r>
                                <a:rPr lang="en-NZ" altLang="ja-JP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+</m:t>
                              </m:r>
                              <m:sSub>
                                <m:sSubPr>
                                  <m:ctrlPr>
                                    <a:rPr lang="en-NZ" altLang="ja-JP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NZ" altLang="ja-JP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2,2</m:t>
                                  </m:r>
                                </m:sub>
                              </m:sSub>
                              <m:r>
                                <a:rPr lang="en-NZ" altLang="ja-JP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+</m:t>
                              </m:r>
                              <m:sSub>
                                <m:sSubPr>
                                  <m:ctrlPr>
                                    <a:rPr lang="en-NZ" altLang="ja-JP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NZ" altLang="ja-JP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2,3</m:t>
                                  </m:r>
                                </m:sub>
                              </m:sSub>
                              <m:r>
                                <a:rPr lang="en-NZ" altLang="ja-JP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+</m:t>
                              </m:r>
                              <m:sSub>
                                <m:sSubPr>
                                  <m:ctrlPr>
                                    <a:rPr lang="en-NZ" altLang="ja-JP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NZ" altLang="ja-JP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2,4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 </m:t>
                      </m:r>
                      <m:sSup>
                        <m:sSupPr>
                          <m:ctrlP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5+6+7+8</m:t>
                              </m:r>
                            </m:e>
                          </m:d>
                        </m:e>
                        <m:sup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=676</m:t>
                      </m:r>
                    </m:oMath>
                  </m:oMathPara>
                </a14:m>
                <a:endParaRPr lang="en-US" altLang="ja-JP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Text Placeholder 5">
                <a:extLst>
                  <a:ext uri="{FF2B5EF4-FFF2-40B4-BE49-F238E27FC236}">
                    <a16:creationId xmlns:a16="http://schemas.microsoft.com/office/drawing/2014/main" id="{26E12EB3-0AC8-4E4A-A51C-B10A802319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9660" y="4838962"/>
                <a:ext cx="9245486" cy="115418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 Placeholder 5">
                <a:extLst>
                  <a:ext uri="{FF2B5EF4-FFF2-40B4-BE49-F238E27FC236}">
                    <a16:creationId xmlns:a16="http://schemas.microsoft.com/office/drawing/2014/main" id="{889D692A-9791-433F-BA0B-74E07937DB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35104" y="5763415"/>
                <a:ext cx="4995080" cy="1059407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altLang="ja-JP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NZ" altLang="ja-JP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NZ" altLang="ja-JP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NZ" altLang="ja-JP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p>
                        <m:e>
                          <m:sSubSup>
                            <m:sSubSupPr>
                              <m:ctrlPr>
                                <a:rPr lang="en-NZ" altLang="ja-JP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NZ" altLang="ja-JP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NZ" altLang="ja-JP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NZ" altLang="ja-JP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NZ" altLang="ja-JP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NZ" altLang="ja-JP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  <m:r>
                        <a:rPr lang="en-NZ" altLang="ja-JP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NZ" altLang="ja-JP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sSup>
                        <m:sSupPr>
                          <m:ctrlPr>
                            <a:rPr lang="en-NZ" altLang="ja-JP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ja-JP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ja-JP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NZ" altLang="ja-JP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NZ" altLang="ja-JP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NZ" altLang="ja-JP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NZ" altLang="ja-JP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NZ" altLang="ja-JP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NZ" altLang="ja-JP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NZ" altLang="ja-JP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NZ" altLang="ja-JP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NZ" altLang="ja-JP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ja-JP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6" name="Text Placeholder 5">
                <a:extLst>
                  <a:ext uri="{FF2B5EF4-FFF2-40B4-BE49-F238E27FC236}">
                    <a16:creationId xmlns:a16="http://schemas.microsoft.com/office/drawing/2014/main" id="{889D692A-9791-433F-BA0B-74E07937DB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5104" y="5763415"/>
                <a:ext cx="4995080" cy="1059407"/>
              </a:xfrm>
              <a:prstGeom prst="rect">
                <a:avLst/>
              </a:prstGeom>
              <a:blipFill>
                <a:blip r:embed="rId9"/>
                <a:stretch>
                  <a:fillRect b="-2299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63000171-5103-46B9-B5CE-ABD7E4CD5B76}"/>
              </a:ext>
            </a:extLst>
          </p:cNvPr>
          <p:cNvSpPr txBox="1">
            <a:spLocks/>
          </p:cNvSpPr>
          <p:nvPr/>
        </p:nvSpPr>
        <p:spPr>
          <a:xfrm>
            <a:off x="2644694" y="6183997"/>
            <a:ext cx="2497866" cy="5271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</a:pPr>
            <a:r>
              <a:rPr lang="en-US" altLang="ja-JP" sz="2000" dirty="0">
                <a:solidFill>
                  <a:srgbClr val="FF0000"/>
                </a:solidFill>
              </a:rPr>
              <a:t>Note that in general</a:t>
            </a:r>
            <a:endParaRPr lang="en-US" altLang="ja-JP" sz="2000" b="1" i="1" dirty="0">
              <a:solidFill>
                <a:srgbClr val="FF0000"/>
              </a:solidFill>
            </a:endParaRPr>
          </a:p>
        </p:txBody>
      </p:sp>
      <p:sp>
        <p:nvSpPr>
          <p:cNvPr id="18" name="Footer Placeholder 2">
            <a:extLst>
              <a:ext uri="{FF2B5EF4-FFF2-40B4-BE49-F238E27FC236}">
                <a16:creationId xmlns:a16="http://schemas.microsoft.com/office/drawing/2014/main" id="{46306E9A-FC82-17B0-68FD-D73833C9A5E1}"/>
              </a:ext>
            </a:extLst>
          </p:cNvPr>
          <p:cNvSpPr txBox="1">
            <a:spLocks/>
          </p:cNvSpPr>
          <p:nvPr/>
        </p:nvSpPr>
        <p:spPr>
          <a:xfrm>
            <a:off x="8694057" y="86139"/>
            <a:ext cx="33953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1600" dirty="0">
                <a:solidFill>
                  <a:srgbClr val="DEDDDD"/>
                </a:solidFill>
                <a:latin typeface="Gidole"/>
              </a:rPr>
              <a:t>1.1 - Summation Notation &amp; Algebra</a:t>
            </a:r>
            <a:endParaRPr kumimoji="1" lang="ja-JP" altLang="en-US" sz="1600" dirty="0">
              <a:solidFill>
                <a:srgbClr val="DEDDDD"/>
              </a:solidFill>
              <a:latin typeface="Gidole"/>
            </a:endParaRPr>
          </a:p>
        </p:txBody>
      </p:sp>
    </p:spTree>
    <p:extLst>
      <p:ext uri="{BB962C8B-B14F-4D97-AF65-F5344CB8AC3E}">
        <p14:creationId xmlns:p14="http://schemas.microsoft.com/office/powerpoint/2010/main" val="931619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  <p:bldP spid="25" grpId="0"/>
      <p:bldP spid="26" grpId="0"/>
      <p:bldP spid="2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6733"/>
            <a:ext cx="2185386" cy="741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4AD89C-DF1E-4948-B597-5DD47B34A9CA}" type="slidenum">
              <a:rPr kumimoji="1" lang="ja-JP" altLang="en-US" smtClean="0">
                <a:solidFill>
                  <a:srgbClr val="575454">
                    <a:lumMod val="20000"/>
                    <a:lumOff val="80000"/>
                  </a:srgbClr>
                </a:solidFill>
                <a:latin typeface="Coo Hew"/>
              </a:rPr>
              <a:pPr/>
              <a:t>8</a:t>
            </a:fld>
            <a:endParaRPr kumimoji="1" lang="ja-JP" altLang="en-US" dirty="0">
              <a:solidFill>
                <a:srgbClr val="575454">
                  <a:lumMod val="20000"/>
                  <a:lumOff val="80000"/>
                </a:srgbClr>
              </a:solidFill>
              <a:latin typeface="Coo Hew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4F3E9ADB-6AEC-42EA-808B-5A433C8B4560}"/>
              </a:ext>
            </a:extLst>
          </p:cNvPr>
          <p:cNvSpPr txBox="1">
            <a:spLocks/>
          </p:cNvSpPr>
          <p:nvPr/>
        </p:nvSpPr>
        <p:spPr>
          <a:xfrm>
            <a:off x="319463" y="310113"/>
            <a:ext cx="8168429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b="1" u="sng" dirty="0">
                <a:latin typeface="+mn-lt"/>
              </a:rPr>
              <a:t>1.1b - Bracket Notation:</a:t>
            </a:r>
            <a:endParaRPr lang="ja-JP" altLang="en-US" b="1" u="sng" dirty="0">
              <a:latin typeface="+mn-lt"/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65B06D6C-CCB3-4D8F-9171-6B4779FED53B}"/>
              </a:ext>
            </a:extLst>
          </p:cNvPr>
          <p:cNvSpPr txBox="1">
            <a:spLocks/>
          </p:cNvSpPr>
          <p:nvPr/>
        </p:nvSpPr>
        <p:spPr>
          <a:xfrm>
            <a:off x="319463" y="1050542"/>
            <a:ext cx="11553074" cy="60720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US" altLang="ja-JP" sz="2000" dirty="0">
                <a:solidFill>
                  <a:schemeClr val="tx1"/>
                </a:solidFill>
              </a:rPr>
              <a:t>Suppose that we have </a:t>
            </a:r>
            <a:r>
              <a:rPr lang="en-US" altLang="ja-JP" sz="2000" b="1" i="1" dirty="0">
                <a:solidFill>
                  <a:schemeClr val="tx1"/>
                </a:solidFill>
              </a:rPr>
              <a:t>N</a:t>
            </a:r>
            <a:r>
              <a:rPr lang="en-US" altLang="ja-JP" sz="2000" dirty="0">
                <a:solidFill>
                  <a:schemeClr val="tx1"/>
                </a:solidFill>
              </a:rPr>
              <a:t> observations that can be grouped into </a:t>
            </a:r>
            <a:r>
              <a:rPr lang="en-US" altLang="ja-JP" sz="2000" b="1" i="1" dirty="0">
                <a:solidFill>
                  <a:schemeClr val="tx1"/>
                </a:solidFill>
              </a:rPr>
              <a:t>r</a:t>
            </a:r>
            <a:r>
              <a:rPr lang="en-US" altLang="ja-JP" sz="2000" dirty="0">
                <a:solidFill>
                  <a:schemeClr val="tx1"/>
                </a:solidFill>
              </a:rPr>
              <a:t> rows and </a:t>
            </a:r>
            <a:r>
              <a:rPr lang="en-US" altLang="ja-JP" sz="2000" b="1" i="1" dirty="0">
                <a:solidFill>
                  <a:schemeClr val="tx1"/>
                </a:solidFill>
              </a:rPr>
              <a:t>c</a:t>
            </a:r>
            <a:r>
              <a:rPr lang="en-US" altLang="ja-JP" sz="2000" dirty="0">
                <a:solidFill>
                  <a:schemeClr val="tx1"/>
                </a:solidFill>
              </a:rPr>
              <a:t> columns (</a:t>
            </a:r>
            <a:r>
              <a:rPr lang="en-US" altLang="ja-JP" sz="2000" b="1" i="1" dirty="0">
                <a:solidFill>
                  <a:schemeClr val="tx1"/>
                </a:solidFill>
              </a:rPr>
              <a:t>N = </a:t>
            </a:r>
            <a:r>
              <a:rPr lang="en-US" altLang="ja-JP" sz="2000" b="1" i="1" dirty="0" err="1">
                <a:solidFill>
                  <a:schemeClr val="tx1"/>
                </a:solidFill>
              </a:rPr>
              <a:t>rc</a:t>
            </a:r>
            <a:r>
              <a:rPr lang="en-US" altLang="ja-JP" sz="2000" dirty="0">
                <a:solidFill>
                  <a:schemeClr val="tx1"/>
                </a:solidFill>
              </a:rPr>
              <a:t>).</a:t>
            </a:r>
            <a:endParaRPr lang="en-US" altLang="ja-JP" sz="2000" b="1" i="1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281044D1-CDA5-4D0B-AE06-D330F2B8865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1543445"/>
                <a:ext cx="12192000" cy="13157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𝒀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  <m: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𝒀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  <m: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𝒀</m:t>
                                          </m:r>
                                        </m:e>
                                        <m:sub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  <m: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𝒀</m:t>
                                          </m:r>
                                        </m:e>
                                        <m:sub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  <m: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𝒀</m:t>
                                          </m:r>
                                        </m:e>
                                        <m:sub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  <m: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𝒀</m:t>
                                          </m:r>
                                        </m:e>
                                        <m:sub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  <m: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 = 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sz="20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sz="20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NZ" altLang="ja-JP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n-NZ" altLang="ja-JP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e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𝟒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lang="en-NZ" altLang="ja-JP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e>
                              <m:e>
                                <m:r>
                                  <a:rPr lang="en-NZ" altLang="ja-JP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𝟕</m:t>
                                      </m:r>
                                    </m:e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𝟖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lang="en-NZ" altLang="ja-JP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</m:e>
                              <m:e>
                                <m:r>
                                  <a:rPr lang="en-NZ" altLang="ja-JP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𝟏𝟎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𝟏𝟏</m:t>
                                      </m:r>
                                    </m:e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𝟏𝟐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ja-JP" sz="2000" b="1" i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281044D1-CDA5-4D0B-AE06-D330F2B886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543445"/>
                <a:ext cx="12192000" cy="131571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Placeholder 5">
                <a:extLst>
                  <a:ext uri="{FF2B5EF4-FFF2-40B4-BE49-F238E27FC236}">
                    <a16:creationId xmlns:a16="http://schemas.microsoft.com/office/drawing/2014/main" id="{895C119D-B8FB-45C6-91ED-D2576584A0F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59809" y="2603466"/>
                <a:ext cx="4995080" cy="115418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altLang="ja-JP" sz="20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NZ" altLang="ja-JP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NZ" altLang="ja-JP" sz="20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NZ" altLang="ja-JP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  <m:e>
                          <m:sSubSup>
                            <m:sSubSupPr>
                              <m:ctrlPr>
                                <a:rPr lang="en-NZ" altLang="ja-JP" sz="20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NZ" altLang="ja-JP" sz="20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NZ" altLang="ja-JP" sz="20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NZ" altLang="ja-JP" sz="20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NZ" altLang="ja-JP" sz="20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NZ" altLang="ja-JP" sz="20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altLang="ja-JP" sz="20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Text Placeholder 5">
                <a:extLst>
                  <a:ext uri="{FF2B5EF4-FFF2-40B4-BE49-F238E27FC236}">
                    <a16:creationId xmlns:a16="http://schemas.microsoft.com/office/drawing/2014/main" id="{895C119D-B8FB-45C6-91ED-D2576584A0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809" y="2603466"/>
                <a:ext cx="4995080" cy="11541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8AFE2AC4-117F-4A7C-89A6-3B83DE32A501}"/>
              </a:ext>
            </a:extLst>
          </p:cNvPr>
          <p:cNvSpPr txBox="1">
            <a:spLocks/>
          </p:cNvSpPr>
          <p:nvPr/>
        </p:nvSpPr>
        <p:spPr>
          <a:xfrm>
            <a:off x="2086705" y="2899433"/>
            <a:ext cx="9238259" cy="5271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US" altLang="ja-JP" sz="2000" dirty="0">
                <a:solidFill>
                  <a:srgbClr val="002060"/>
                </a:solidFill>
              </a:rPr>
              <a:t>Means square each element of the </a:t>
            </a:r>
            <a:r>
              <a:rPr lang="en-US" altLang="ja-JP" sz="2000" dirty="0" err="1">
                <a:solidFill>
                  <a:srgbClr val="002060"/>
                </a:solidFill>
              </a:rPr>
              <a:t>j</a:t>
            </a:r>
            <a:r>
              <a:rPr lang="en-US" altLang="ja-JP" sz="2000" baseline="30000" dirty="0" err="1">
                <a:solidFill>
                  <a:srgbClr val="002060"/>
                </a:solidFill>
              </a:rPr>
              <a:t>th</a:t>
            </a:r>
            <a:r>
              <a:rPr lang="en-US" altLang="ja-JP" sz="2000" baseline="30000" dirty="0">
                <a:solidFill>
                  <a:srgbClr val="002060"/>
                </a:solidFill>
              </a:rPr>
              <a:t> </a:t>
            </a:r>
            <a:r>
              <a:rPr lang="en-US" altLang="ja-JP" sz="2000" dirty="0">
                <a:solidFill>
                  <a:srgbClr val="002060"/>
                </a:solidFill>
              </a:rPr>
              <a:t>column and sum the result</a:t>
            </a:r>
            <a:endParaRPr lang="en-US" altLang="ja-JP" sz="2000" b="1" i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Placeholder 5">
                <a:extLst>
                  <a:ext uri="{FF2B5EF4-FFF2-40B4-BE49-F238E27FC236}">
                    <a16:creationId xmlns:a16="http://schemas.microsoft.com/office/drawing/2014/main" id="{BA9AD72C-C571-4453-8050-A0EC3E2D23A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12209" y="5004576"/>
                <a:ext cx="4995080" cy="115418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ja-JP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Text Placeholder 5">
                <a:extLst>
                  <a:ext uri="{FF2B5EF4-FFF2-40B4-BE49-F238E27FC236}">
                    <a16:creationId xmlns:a16="http://schemas.microsoft.com/office/drawing/2014/main" id="{BA9AD72C-C571-4453-8050-A0EC3E2D23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2209" y="5004576"/>
                <a:ext cx="4995080" cy="115418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 Placeholder 5">
                <a:extLst>
                  <a:ext uri="{FF2B5EF4-FFF2-40B4-BE49-F238E27FC236}">
                    <a16:creationId xmlns:a16="http://schemas.microsoft.com/office/drawing/2014/main" id="{E2F0119F-7143-4C75-AA8C-0642D5A7A41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73257" y="3240149"/>
                <a:ext cx="9245486" cy="115418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altLang="ja-JP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sSubSup>
                            <m:sSubSupPr>
                              <m:ctrlP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,3</m:t>
                              </m:r>
                            </m:sub>
                            <m:sup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=  </m:t>
                      </m:r>
                      <m:sSubSup>
                        <m:sSubSupPr>
                          <m:ctrlP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1,3</m:t>
                          </m:r>
                        </m:sub>
                        <m:sup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+</m:t>
                      </m:r>
                      <m:sSubSup>
                        <m:sSubSupPr>
                          <m:ctrlP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</m:t>
                          </m:r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+</m:t>
                      </m:r>
                      <m:sSubSup>
                        <m:sSubSupPr>
                          <m:ctrlP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  </m:t>
                      </m:r>
                      <m:sSup>
                        <m:sSupPr>
                          <m:ctrlP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  <m:sup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e>
                        <m:sup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=179</m:t>
                      </m:r>
                    </m:oMath>
                  </m:oMathPara>
                </a14:m>
                <a:endParaRPr lang="en-US" altLang="ja-JP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Text Placeholder 5">
                <a:extLst>
                  <a:ext uri="{FF2B5EF4-FFF2-40B4-BE49-F238E27FC236}">
                    <a16:creationId xmlns:a16="http://schemas.microsoft.com/office/drawing/2014/main" id="{E2F0119F-7143-4C75-AA8C-0642D5A7A4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3257" y="3240149"/>
                <a:ext cx="9245486" cy="11541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Placeholder 5">
                <a:extLst>
                  <a:ext uri="{FF2B5EF4-FFF2-40B4-BE49-F238E27FC236}">
                    <a16:creationId xmlns:a16="http://schemas.microsoft.com/office/drawing/2014/main" id="{B1A2F5FD-6712-481A-83C6-6E408729531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86854" y="4180962"/>
                <a:ext cx="4995080" cy="115418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NZ" altLang="ja-JP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ja-JP" sz="20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ja-JP" sz="20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NZ" altLang="ja-JP" sz="20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NZ" altLang="ja-JP" sz="20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NZ" altLang="ja-JP" sz="20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NZ" altLang="ja-JP" sz="20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NZ" altLang="ja-JP" sz="20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NZ" altLang="ja-JP" sz="20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NZ" altLang="ja-JP" sz="20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NZ" altLang="ja-JP" sz="20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NZ" altLang="ja-JP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ja-JP" sz="20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2" name="Text Placeholder 5">
                <a:extLst>
                  <a:ext uri="{FF2B5EF4-FFF2-40B4-BE49-F238E27FC236}">
                    <a16:creationId xmlns:a16="http://schemas.microsoft.com/office/drawing/2014/main" id="{B1A2F5FD-6712-481A-83C6-6E40872953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854" y="4180962"/>
                <a:ext cx="4995080" cy="115418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7F690A5F-9DDC-4B9F-98A0-26F5EFDE5148}"/>
              </a:ext>
            </a:extLst>
          </p:cNvPr>
          <p:cNvSpPr txBox="1">
            <a:spLocks/>
          </p:cNvSpPr>
          <p:nvPr/>
        </p:nvSpPr>
        <p:spPr>
          <a:xfrm>
            <a:off x="2103265" y="4538991"/>
            <a:ext cx="9238259" cy="5271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US" altLang="ja-JP" sz="2000" dirty="0">
                <a:solidFill>
                  <a:srgbClr val="002060"/>
                </a:solidFill>
              </a:rPr>
              <a:t>Means sum the elements of the </a:t>
            </a:r>
            <a:r>
              <a:rPr lang="en-US" altLang="ja-JP" sz="2000" dirty="0" err="1">
                <a:solidFill>
                  <a:srgbClr val="002060"/>
                </a:solidFill>
              </a:rPr>
              <a:t>j</a:t>
            </a:r>
            <a:r>
              <a:rPr lang="en-US" altLang="ja-JP" sz="2000" baseline="30000" dirty="0" err="1">
                <a:solidFill>
                  <a:srgbClr val="002060"/>
                </a:solidFill>
              </a:rPr>
              <a:t>th</a:t>
            </a:r>
            <a:r>
              <a:rPr lang="en-US" altLang="ja-JP" sz="2000" baseline="30000" dirty="0">
                <a:solidFill>
                  <a:srgbClr val="002060"/>
                </a:solidFill>
              </a:rPr>
              <a:t> </a:t>
            </a:r>
            <a:r>
              <a:rPr lang="en-US" altLang="ja-JP" sz="2000" dirty="0">
                <a:solidFill>
                  <a:srgbClr val="002060"/>
                </a:solidFill>
              </a:rPr>
              <a:t>column and </a:t>
            </a:r>
            <a:r>
              <a:rPr lang="en-US" altLang="ja-JP" sz="2000" b="1" dirty="0">
                <a:solidFill>
                  <a:srgbClr val="002060"/>
                </a:solidFill>
              </a:rPr>
              <a:t>then </a:t>
            </a:r>
            <a:r>
              <a:rPr lang="en-US" altLang="ja-JP" sz="2000" dirty="0">
                <a:solidFill>
                  <a:srgbClr val="002060"/>
                </a:solidFill>
              </a:rPr>
              <a:t>square the result</a:t>
            </a:r>
            <a:endParaRPr lang="en-US" altLang="ja-JP" sz="2000" b="1" i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 Placeholder 5">
                <a:extLst>
                  <a:ext uri="{FF2B5EF4-FFF2-40B4-BE49-F238E27FC236}">
                    <a16:creationId xmlns:a16="http://schemas.microsoft.com/office/drawing/2014/main" id="{26E12EB3-0AC8-4E4A-A51C-B10A802319D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359660" y="4838962"/>
                <a:ext cx="9245486" cy="115418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ja-JP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NZ" altLang="ja-JP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NZ" altLang="ja-JP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NZ" altLang="ja-JP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NZ" altLang="ja-JP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NZ" altLang="ja-JP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NZ" altLang="ja-JP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NZ" altLang="ja-JP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NZ" altLang="ja-JP" sz="20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 </m:t>
                      </m:r>
                      <m:sSup>
                        <m:sSupPr>
                          <m:ctrlP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NZ" altLang="ja-JP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NZ" altLang="ja-JP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NZ" altLang="ja-JP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NZ" altLang="ja-JP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NZ" altLang="ja-JP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+</m:t>
                              </m:r>
                              <m:sSub>
                                <m:sSubPr>
                                  <m:ctrlPr>
                                    <a:rPr lang="en-NZ" altLang="ja-JP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NZ" altLang="ja-JP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2,</m:t>
                                  </m:r>
                                  <m:r>
                                    <a:rPr lang="en-NZ" altLang="ja-JP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NZ" altLang="ja-JP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+</m:t>
                              </m:r>
                              <m:sSub>
                                <m:sSubPr>
                                  <m:ctrlPr>
                                    <a:rPr lang="en-NZ" altLang="ja-JP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NZ" altLang="ja-JP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NZ" altLang="ja-JP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NZ" altLang="ja-JP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NZ" altLang="ja-JP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  <m:sup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 </m:t>
                      </m:r>
                      <m:sSup>
                        <m:sSupPr>
                          <m:ctrlP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NZ" altLang="ja-JP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  <m:r>
                                <a:rPr lang="en-NZ" altLang="ja-JP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e>
                          </m:d>
                        </m:e>
                        <m:sup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=441</m:t>
                      </m:r>
                    </m:oMath>
                  </m:oMathPara>
                </a14:m>
                <a:endParaRPr lang="en-US" altLang="ja-JP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Text Placeholder 5">
                <a:extLst>
                  <a:ext uri="{FF2B5EF4-FFF2-40B4-BE49-F238E27FC236}">
                    <a16:creationId xmlns:a16="http://schemas.microsoft.com/office/drawing/2014/main" id="{26E12EB3-0AC8-4E4A-A51C-B10A802319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9660" y="4838962"/>
                <a:ext cx="9245486" cy="115418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 Placeholder 5">
                <a:extLst>
                  <a:ext uri="{FF2B5EF4-FFF2-40B4-BE49-F238E27FC236}">
                    <a16:creationId xmlns:a16="http://schemas.microsoft.com/office/drawing/2014/main" id="{889D692A-9791-433F-BA0B-74E07937DB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35104" y="5763415"/>
                <a:ext cx="4995080" cy="1059407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altLang="ja-JP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NZ" altLang="ja-JP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NZ" altLang="ja-JP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NZ" altLang="ja-JP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  <m:e>
                          <m:sSubSup>
                            <m:sSubSupPr>
                              <m:ctrlPr>
                                <a:rPr lang="en-NZ" altLang="ja-JP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NZ" altLang="ja-JP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NZ" altLang="ja-JP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NZ" altLang="ja-JP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NZ" altLang="ja-JP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NZ" altLang="ja-JP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  <m:r>
                        <a:rPr lang="en-NZ" altLang="ja-JP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NZ" altLang="ja-JP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sSup>
                        <m:sSupPr>
                          <m:ctrlPr>
                            <a:rPr lang="en-NZ" altLang="ja-JP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ja-JP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ja-JP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NZ" altLang="ja-JP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NZ" altLang="ja-JP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NZ" altLang="ja-JP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NZ" altLang="ja-JP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NZ" altLang="ja-JP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NZ" altLang="ja-JP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NZ" altLang="ja-JP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NZ" altLang="ja-JP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NZ" altLang="ja-JP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ja-JP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6" name="Text Placeholder 5">
                <a:extLst>
                  <a:ext uri="{FF2B5EF4-FFF2-40B4-BE49-F238E27FC236}">
                    <a16:creationId xmlns:a16="http://schemas.microsoft.com/office/drawing/2014/main" id="{889D692A-9791-433F-BA0B-74E07937DB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5104" y="5763415"/>
                <a:ext cx="4995080" cy="105940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63000171-5103-46B9-B5CE-ABD7E4CD5B76}"/>
              </a:ext>
            </a:extLst>
          </p:cNvPr>
          <p:cNvSpPr txBox="1">
            <a:spLocks/>
          </p:cNvSpPr>
          <p:nvPr/>
        </p:nvSpPr>
        <p:spPr>
          <a:xfrm>
            <a:off x="2644694" y="6183997"/>
            <a:ext cx="2497866" cy="5271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</a:pPr>
            <a:r>
              <a:rPr lang="en-US" altLang="ja-JP" sz="2000" dirty="0">
                <a:solidFill>
                  <a:srgbClr val="FF0000"/>
                </a:solidFill>
              </a:rPr>
              <a:t>Note that in general</a:t>
            </a:r>
            <a:endParaRPr lang="en-US" altLang="ja-JP" sz="2000" b="1" i="1" dirty="0">
              <a:solidFill>
                <a:srgbClr val="FF0000"/>
              </a:solidFill>
            </a:endParaRPr>
          </a:p>
        </p:txBody>
      </p:sp>
      <p:sp>
        <p:nvSpPr>
          <p:cNvPr id="18" name="Footer Placeholder 2">
            <a:extLst>
              <a:ext uri="{FF2B5EF4-FFF2-40B4-BE49-F238E27FC236}">
                <a16:creationId xmlns:a16="http://schemas.microsoft.com/office/drawing/2014/main" id="{46306E9A-FC82-17B0-68FD-D73833C9A5E1}"/>
              </a:ext>
            </a:extLst>
          </p:cNvPr>
          <p:cNvSpPr txBox="1">
            <a:spLocks/>
          </p:cNvSpPr>
          <p:nvPr/>
        </p:nvSpPr>
        <p:spPr>
          <a:xfrm>
            <a:off x="8694057" y="86139"/>
            <a:ext cx="33953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1600" dirty="0">
                <a:solidFill>
                  <a:srgbClr val="DEDDDD"/>
                </a:solidFill>
                <a:latin typeface="Gidole"/>
              </a:rPr>
              <a:t>1.1 - Summation Notation &amp; Algebra</a:t>
            </a:r>
            <a:endParaRPr kumimoji="1" lang="ja-JP" altLang="en-US" sz="1600" dirty="0">
              <a:solidFill>
                <a:srgbClr val="DEDDDD"/>
              </a:solidFill>
              <a:latin typeface="Gidole"/>
            </a:endParaRPr>
          </a:p>
        </p:txBody>
      </p:sp>
    </p:spTree>
    <p:extLst>
      <p:ext uri="{BB962C8B-B14F-4D97-AF65-F5344CB8AC3E}">
        <p14:creationId xmlns:p14="http://schemas.microsoft.com/office/powerpoint/2010/main" val="578028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  <p:bldP spid="25" grpId="0"/>
      <p:bldP spid="26" grpId="0"/>
      <p:bldP spid="2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6733"/>
            <a:ext cx="2185386" cy="741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4AD89C-DF1E-4948-B597-5DD47B34A9CA}" type="slidenum">
              <a:rPr kumimoji="1" lang="ja-JP" altLang="en-US" smtClean="0">
                <a:solidFill>
                  <a:srgbClr val="575454">
                    <a:lumMod val="20000"/>
                    <a:lumOff val="80000"/>
                  </a:srgbClr>
                </a:solidFill>
                <a:latin typeface="Coo Hew"/>
              </a:rPr>
              <a:pPr/>
              <a:t>9</a:t>
            </a:fld>
            <a:endParaRPr kumimoji="1" lang="ja-JP" altLang="en-US" dirty="0">
              <a:solidFill>
                <a:srgbClr val="575454">
                  <a:lumMod val="20000"/>
                  <a:lumOff val="80000"/>
                </a:srgbClr>
              </a:solidFill>
              <a:latin typeface="Coo Hew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4F3E9ADB-6AEC-42EA-808B-5A433C8B4560}"/>
              </a:ext>
            </a:extLst>
          </p:cNvPr>
          <p:cNvSpPr txBox="1">
            <a:spLocks/>
          </p:cNvSpPr>
          <p:nvPr/>
        </p:nvSpPr>
        <p:spPr>
          <a:xfrm>
            <a:off x="319463" y="310113"/>
            <a:ext cx="8168429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b="1" u="sng" dirty="0">
                <a:latin typeface="+mn-lt"/>
              </a:rPr>
              <a:t>1.1b - Bracket Notation:</a:t>
            </a:r>
            <a:endParaRPr lang="ja-JP" altLang="en-US" b="1" u="sng" dirty="0">
              <a:latin typeface="+mn-lt"/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65B06D6C-CCB3-4D8F-9171-6B4779FED53B}"/>
              </a:ext>
            </a:extLst>
          </p:cNvPr>
          <p:cNvSpPr txBox="1">
            <a:spLocks/>
          </p:cNvSpPr>
          <p:nvPr/>
        </p:nvSpPr>
        <p:spPr>
          <a:xfrm>
            <a:off x="319463" y="1050542"/>
            <a:ext cx="11553074" cy="60720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US" altLang="ja-JP" sz="2000" dirty="0">
                <a:solidFill>
                  <a:schemeClr val="tx1"/>
                </a:solidFill>
              </a:rPr>
              <a:t>Suppose that we have </a:t>
            </a:r>
            <a:r>
              <a:rPr lang="en-US" altLang="ja-JP" sz="2000" b="1" i="1" dirty="0">
                <a:solidFill>
                  <a:schemeClr val="tx1"/>
                </a:solidFill>
              </a:rPr>
              <a:t>N</a:t>
            </a:r>
            <a:r>
              <a:rPr lang="en-US" altLang="ja-JP" sz="2000" dirty="0">
                <a:solidFill>
                  <a:schemeClr val="tx1"/>
                </a:solidFill>
              </a:rPr>
              <a:t> observations that can be grouped into </a:t>
            </a:r>
            <a:r>
              <a:rPr lang="en-US" altLang="ja-JP" sz="2000" b="1" i="1" dirty="0">
                <a:solidFill>
                  <a:schemeClr val="tx1"/>
                </a:solidFill>
              </a:rPr>
              <a:t>r</a:t>
            </a:r>
            <a:r>
              <a:rPr lang="en-US" altLang="ja-JP" sz="2000" dirty="0">
                <a:solidFill>
                  <a:schemeClr val="tx1"/>
                </a:solidFill>
              </a:rPr>
              <a:t> rows and </a:t>
            </a:r>
            <a:r>
              <a:rPr lang="en-US" altLang="ja-JP" sz="2000" b="1" i="1" dirty="0">
                <a:solidFill>
                  <a:schemeClr val="tx1"/>
                </a:solidFill>
              </a:rPr>
              <a:t>c</a:t>
            </a:r>
            <a:r>
              <a:rPr lang="en-US" altLang="ja-JP" sz="2000" dirty="0">
                <a:solidFill>
                  <a:schemeClr val="tx1"/>
                </a:solidFill>
              </a:rPr>
              <a:t> columns (</a:t>
            </a:r>
            <a:r>
              <a:rPr lang="en-US" altLang="ja-JP" sz="2000" b="1" i="1" dirty="0">
                <a:solidFill>
                  <a:schemeClr val="tx1"/>
                </a:solidFill>
              </a:rPr>
              <a:t>N = </a:t>
            </a:r>
            <a:r>
              <a:rPr lang="en-US" altLang="ja-JP" sz="2000" b="1" i="1" dirty="0" err="1">
                <a:solidFill>
                  <a:schemeClr val="tx1"/>
                </a:solidFill>
              </a:rPr>
              <a:t>rc</a:t>
            </a:r>
            <a:r>
              <a:rPr lang="en-US" altLang="ja-JP" sz="2000" dirty="0">
                <a:solidFill>
                  <a:schemeClr val="tx1"/>
                </a:solidFill>
              </a:rPr>
              <a:t>).</a:t>
            </a:r>
            <a:endParaRPr lang="en-US" altLang="ja-JP" sz="2000" b="1" i="1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281044D1-CDA5-4D0B-AE06-D330F2B8865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1543445"/>
                <a:ext cx="12192000" cy="13157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𝒀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  <m: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𝒀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  <m: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𝒀</m:t>
                                          </m:r>
                                        </m:e>
                                        <m:sub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  <m: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𝒀</m:t>
                                          </m:r>
                                        </m:e>
                                        <m:sub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  <m: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𝒀</m:t>
                                          </m:r>
                                        </m:e>
                                        <m:sub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  <m: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𝒀</m:t>
                                          </m:r>
                                        </m:e>
                                        <m:sub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  <m: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 = 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sz="20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sz="20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NZ" altLang="ja-JP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n-NZ" altLang="ja-JP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e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𝟒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lang="en-NZ" altLang="ja-JP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e>
                              <m:e>
                                <m:r>
                                  <a:rPr lang="en-NZ" altLang="ja-JP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𝟕</m:t>
                                      </m:r>
                                    </m:e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𝟖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lang="en-NZ" altLang="ja-JP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</m:e>
                              <m:e>
                                <m:r>
                                  <a:rPr lang="en-NZ" altLang="ja-JP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𝟏𝟎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𝟏𝟏</m:t>
                                      </m:r>
                                    </m:e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𝟏𝟐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ja-JP" sz="2000" b="1" i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281044D1-CDA5-4D0B-AE06-D330F2B886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543445"/>
                <a:ext cx="12192000" cy="131571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Placeholder 5">
                <a:extLst>
                  <a:ext uri="{FF2B5EF4-FFF2-40B4-BE49-F238E27FC236}">
                    <a16:creationId xmlns:a16="http://schemas.microsoft.com/office/drawing/2014/main" id="{895C119D-B8FB-45C6-91ED-D2576584A0F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59809" y="2603466"/>
                <a:ext cx="4995080" cy="115418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altLang="ja-JP" sz="20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NZ" altLang="ja-JP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NZ" altLang="ja-JP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NZ" altLang="ja-JP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ja-JP" sz="20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NZ" altLang="ja-JP" sz="20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NZ" altLang="ja-JP" sz="20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NZ" altLang="ja-JP" sz="20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NZ" altLang="ja-JP" sz="20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NZ" altLang="ja-JP" sz="20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NZ" altLang="ja-JP" sz="20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NZ" altLang="ja-JP" sz="20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NZ" altLang="ja-JP" sz="20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NZ" altLang="ja-JP" sz="20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</m:e>
                      </m:nary>
                    </m:oMath>
                  </m:oMathPara>
                </a14:m>
                <a:endParaRPr lang="en-US" altLang="ja-JP" sz="20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Text Placeholder 5">
                <a:extLst>
                  <a:ext uri="{FF2B5EF4-FFF2-40B4-BE49-F238E27FC236}">
                    <a16:creationId xmlns:a16="http://schemas.microsoft.com/office/drawing/2014/main" id="{895C119D-B8FB-45C6-91ED-D2576584A0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809" y="2603466"/>
                <a:ext cx="4995080" cy="11541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8AFE2AC4-117F-4A7C-89A6-3B83DE32A501}"/>
              </a:ext>
            </a:extLst>
          </p:cNvPr>
          <p:cNvSpPr txBox="1">
            <a:spLocks/>
          </p:cNvSpPr>
          <p:nvPr/>
        </p:nvSpPr>
        <p:spPr>
          <a:xfrm>
            <a:off x="2185386" y="2899433"/>
            <a:ext cx="9139578" cy="5271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US" altLang="ja-JP" sz="2000" dirty="0">
                <a:solidFill>
                  <a:srgbClr val="002060"/>
                </a:solidFill>
              </a:rPr>
              <a:t>Means square each element of the matrix and sum the result</a:t>
            </a:r>
            <a:endParaRPr lang="en-US" altLang="ja-JP" sz="2000" b="1" i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Placeholder 5">
                <a:extLst>
                  <a:ext uri="{FF2B5EF4-FFF2-40B4-BE49-F238E27FC236}">
                    <a16:creationId xmlns:a16="http://schemas.microsoft.com/office/drawing/2014/main" id="{BA9AD72C-C571-4453-8050-A0EC3E2D23A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12209" y="5004576"/>
                <a:ext cx="4995080" cy="115418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ja-JP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Text Placeholder 5">
                <a:extLst>
                  <a:ext uri="{FF2B5EF4-FFF2-40B4-BE49-F238E27FC236}">
                    <a16:creationId xmlns:a16="http://schemas.microsoft.com/office/drawing/2014/main" id="{BA9AD72C-C571-4453-8050-A0EC3E2D23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2209" y="5004576"/>
                <a:ext cx="4995080" cy="115418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 Placeholder 5">
                <a:extLst>
                  <a:ext uri="{FF2B5EF4-FFF2-40B4-BE49-F238E27FC236}">
                    <a16:creationId xmlns:a16="http://schemas.microsoft.com/office/drawing/2014/main" id="{E2F0119F-7143-4C75-AA8C-0642D5A7A41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73257" y="3240149"/>
                <a:ext cx="9245486" cy="115418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NZ" altLang="ja-JP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NZ" altLang="ja-JP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NZ" altLang="ja-JP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NZ" altLang="ja-JP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ja-JP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NZ" altLang="ja-JP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NZ" altLang="ja-JP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NZ" altLang="ja-JP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NZ" altLang="ja-JP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NZ" altLang="ja-JP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NZ" altLang="ja-JP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NZ" altLang="ja-JP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NZ" altLang="ja-JP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NZ" altLang="ja-JP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</m:e>
                      </m:nary>
                      <m:r>
                        <a:rPr lang="en-NZ" altLang="ja-JP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NZ" altLang="ja-JP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NZ" altLang="ja-JP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p>
                          <m:r>
                            <a:rPr lang="en-NZ" altLang="ja-JP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NZ" altLang="ja-JP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+</m:t>
                      </m:r>
                      <m:sSup>
                        <m:sSupPr>
                          <m:ctrlPr>
                            <a:rPr lang="en-NZ" altLang="ja-JP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NZ" altLang="ja-JP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NZ" altLang="ja-JP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NZ" altLang="ja-JP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NZ" altLang="ja-JP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NZ" altLang="ja-JP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NZ" altLang="ja-JP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NZ" altLang="ja-JP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 ⋯ +  </m:t>
                      </m:r>
                      <m:sSup>
                        <m:sSupPr>
                          <m:ctrlPr>
                            <a:rPr lang="en-NZ" altLang="ja-JP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NZ" altLang="ja-JP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e>
                        <m:sup>
                          <m:r>
                            <a:rPr lang="en-NZ" altLang="ja-JP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NZ" altLang="ja-JP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+  </m:t>
                      </m:r>
                      <m:sSup>
                        <m:sSupPr>
                          <m:ctrlPr>
                            <a:rPr lang="en-NZ" altLang="ja-JP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NZ" altLang="ja-JP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e>
                        <m:sup>
                          <m:r>
                            <a:rPr lang="en-NZ" altLang="ja-JP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NZ" altLang="ja-JP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=650</m:t>
                      </m:r>
                    </m:oMath>
                  </m:oMathPara>
                </a14:m>
                <a:endParaRPr lang="en-US" altLang="ja-JP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Text Placeholder 5">
                <a:extLst>
                  <a:ext uri="{FF2B5EF4-FFF2-40B4-BE49-F238E27FC236}">
                    <a16:creationId xmlns:a16="http://schemas.microsoft.com/office/drawing/2014/main" id="{E2F0119F-7143-4C75-AA8C-0642D5A7A4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3257" y="3240149"/>
                <a:ext cx="9245486" cy="11541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Footer Placeholder 2">
            <a:extLst>
              <a:ext uri="{FF2B5EF4-FFF2-40B4-BE49-F238E27FC236}">
                <a16:creationId xmlns:a16="http://schemas.microsoft.com/office/drawing/2014/main" id="{B83D49E6-11E7-83C7-3B52-FA7D956F3135}"/>
              </a:ext>
            </a:extLst>
          </p:cNvPr>
          <p:cNvSpPr txBox="1">
            <a:spLocks/>
          </p:cNvSpPr>
          <p:nvPr/>
        </p:nvSpPr>
        <p:spPr>
          <a:xfrm>
            <a:off x="8694057" y="86139"/>
            <a:ext cx="33953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1600" dirty="0">
                <a:solidFill>
                  <a:srgbClr val="DEDDDD"/>
                </a:solidFill>
                <a:latin typeface="Gidole"/>
              </a:rPr>
              <a:t>1.1 - Summation Notation &amp; Algebra</a:t>
            </a:r>
            <a:endParaRPr kumimoji="1" lang="ja-JP" altLang="en-US" sz="1600" dirty="0">
              <a:solidFill>
                <a:srgbClr val="DEDDDD"/>
              </a:solidFill>
              <a:latin typeface="Gidole"/>
            </a:endParaRPr>
          </a:p>
        </p:txBody>
      </p:sp>
    </p:spTree>
    <p:extLst>
      <p:ext uri="{BB962C8B-B14F-4D97-AF65-F5344CB8AC3E}">
        <p14:creationId xmlns:p14="http://schemas.microsoft.com/office/powerpoint/2010/main" val="3064754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6733"/>
            <a:ext cx="2185386" cy="741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4AD89C-DF1E-4948-B597-5DD47B34A9CA}" type="slidenum">
              <a:rPr kumimoji="1" lang="ja-JP" altLang="en-US" smtClean="0">
                <a:solidFill>
                  <a:srgbClr val="575454">
                    <a:lumMod val="20000"/>
                    <a:lumOff val="80000"/>
                  </a:srgbClr>
                </a:solidFill>
                <a:latin typeface="Coo Hew"/>
              </a:rPr>
              <a:pPr/>
              <a:t>10</a:t>
            </a:fld>
            <a:endParaRPr kumimoji="1" lang="ja-JP" altLang="en-US" dirty="0">
              <a:solidFill>
                <a:srgbClr val="575454">
                  <a:lumMod val="20000"/>
                  <a:lumOff val="80000"/>
                </a:srgbClr>
              </a:solidFill>
              <a:latin typeface="Coo Hew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4F3E9ADB-6AEC-42EA-808B-5A433C8B4560}"/>
              </a:ext>
            </a:extLst>
          </p:cNvPr>
          <p:cNvSpPr txBox="1">
            <a:spLocks/>
          </p:cNvSpPr>
          <p:nvPr/>
        </p:nvSpPr>
        <p:spPr>
          <a:xfrm>
            <a:off x="319463" y="310113"/>
            <a:ext cx="8168429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b="1" u="sng" dirty="0">
                <a:latin typeface="+mn-lt"/>
              </a:rPr>
              <a:t>1.1b - Bracket Notation:</a:t>
            </a:r>
            <a:endParaRPr lang="ja-JP" altLang="en-US" b="1" u="sng" dirty="0">
              <a:latin typeface="+mn-lt"/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65B06D6C-CCB3-4D8F-9171-6B4779FED53B}"/>
              </a:ext>
            </a:extLst>
          </p:cNvPr>
          <p:cNvSpPr txBox="1">
            <a:spLocks/>
          </p:cNvSpPr>
          <p:nvPr/>
        </p:nvSpPr>
        <p:spPr>
          <a:xfrm>
            <a:off x="319463" y="1050542"/>
            <a:ext cx="11553074" cy="60720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US" altLang="ja-JP" sz="2000" dirty="0">
                <a:solidFill>
                  <a:schemeClr val="tx1"/>
                </a:solidFill>
              </a:rPr>
              <a:t>Suppose that we have </a:t>
            </a:r>
            <a:r>
              <a:rPr lang="en-US" altLang="ja-JP" sz="2000" b="1" i="1" dirty="0">
                <a:solidFill>
                  <a:schemeClr val="tx1"/>
                </a:solidFill>
              </a:rPr>
              <a:t>N</a:t>
            </a:r>
            <a:r>
              <a:rPr lang="en-US" altLang="ja-JP" sz="2000" dirty="0">
                <a:solidFill>
                  <a:schemeClr val="tx1"/>
                </a:solidFill>
              </a:rPr>
              <a:t> observations that can be grouped into </a:t>
            </a:r>
            <a:r>
              <a:rPr lang="en-US" altLang="ja-JP" sz="2000" b="1" i="1" dirty="0">
                <a:solidFill>
                  <a:schemeClr val="tx1"/>
                </a:solidFill>
              </a:rPr>
              <a:t>r</a:t>
            </a:r>
            <a:r>
              <a:rPr lang="en-US" altLang="ja-JP" sz="2000" dirty="0">
                <a:solidFill>
                  <a:schemeClr val="tx1"/>
                </a:solidFill>
              </a:rPr>
              <a:t> rows and </a:t>
            </a:r>
            <a:r>
              <a:rPr lang="en-US" altLang="ja-JP" sz="2000" b="1" i="1" dirty="0">
                <a:solidFill>
                  <a:schemeClr val="tx1"/>
                </a:solidFill>
              </a:rPr>
              <a:t>c</a:t>
            </a:r>
            <a:r>
              <a:rPr lang="en-US" altLang="ja-JP" sz="2000" dirty="0">
                <a:solidFill>
                  <a:schemeClr val="tx1"/>
                </a:solidFill>
              </a:rPr>
              <a:t> columns (</a:t>
            </a:r>
            <a:r>
              <a:rPr lang="en-US" altLang="ja-JP" sz="2000" b="1" i="1" dirty="0">
                <a:solidFill>
                  <a:schemeClr val="tx1"/>
                </a:solidFill>
              </a:rPr>
              <a:t>N = </a:t>
            </a:r>
            <a:r>
              <a:rPr lang="en-US" altLang="ja-JP" sz="2000" b="1" i="1" dirty="0" err="1">
                <a:solidFill>
                  <a:schemeClr val="tx1"/>
                </a:solidFill>
              </a:rPr>
              <a:t>rc</a:t>
            </a:r>
            <a:r>
              <a:rPr lang="en-US" altLang="ja-JP" sz="2000" dirty="0">
                <a:solidFill>
                  <a:schemeClr val="tx1"/>
                </a:solidFill>
              </a:rPr>
              <a:t>).</a:t>
            </a:r>
            <a:endParaRPr lang="en-US" altLang="ja-JP" sz="2000" b="1" i="1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281044D1-CDA5-4D0B-AE06-D330F2B8865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1543445"/>
                <a:ext cx="12192000" cy="13157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𝒀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  <m: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𝒀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  <m: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𝒀</m:t>
                                          </m:r>
                                        </m:e>
                                        <m:sub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  <m: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𝒀</m:t>
                                          </m:r>
                                        </m:e>
                                        <m:sub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  <m: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𝒀</m:t>
                                          </m:r>
                                        </m:e>
                                        <m:sub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  <m: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𝒀</m:t>
                                          </m:r>
                                        </m:e>
                                        <m:sub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  <m: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 = 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sz="20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sz="20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NZ" altLang="ja-JP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n-NZ" altLang="ja-JP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e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𝟒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lang="en-NZ" altLang="ja-JP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e>
                              <m:e>
                                <m:r>
                                  <a:rPr lang="en-NZ" altLang="ja-JP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𝟕</m:t>
                                      </m:r>
                                    </m:e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𝟖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lang="en-NZ" altLang="ja-JP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</m:e>
                              <m:e>
                                <m:r>
                                  <a:rPr lang="en-NZ" altLang="ja-JP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𝟏𝟎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𝟏𝟏</m:t>
                                      </m:r>
                                    </m:e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𝟏𝟐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ja-JP" sz="2000" b="1" i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281044D1-CDA5-4D0B-AE06-D330F2B886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543445"/>
                <a:ext cx="12192000" cy="131571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Placeholder 5">
                <a:extLst>
                  <a:ext uri="{FF2B5EF4-FFF2-40B4-BE49-F238E27FC236}">
                    <a16:creationId xmlns:a16="http://schemas.microsoft.com/office/drawing/2014/main" id="{B1A2F5FD-6712-481A-83C6-6E408729531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5987" y="2586588"/>
                <a:ext cx="4995080" cy="115418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altLang="ja-JP" sz="20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NZ" altLang="ja-JP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NZ" altLang="ja-JP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NZ" altLang="ja-JP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  <m:e>
                          <m:sSup>
                            <m:sSupPr>
                              <m:ctrlPr>
                                <a:rPr lang="en-NZ" altLang="ja-JP" sz="20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sz="20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ctrlPr>
                                        <a:rPr lang="en-US" altLang="ja-JP" sz="20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NZ" altLang="ja-JP" sz="20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NZ" altLang="ja-JP" sz="20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NZ" altLang="ja-JP" sz="20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p>
                                    <m:e>
                                      <m:sSub>
                                        <m:sSubPr>
                                          <m:ctrlPr>
                                            <a:rPr lang="en-NZ" altLang="ja-JP" sz="20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NZ" altLang="ja-JP" sz="20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  <m:sub>
                                          <m:r>
                                            <a:rPr lang="en-NZ" altLang="ja-JP" sz="20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NZ" altLang="ja-JP" sz="20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NZ" altLang="ja-JP" sz="20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</m:e>
                            <m:sup>
                              <m:r>
                                <a:rPr lang="en-NZ" altLang="ja-JP" sz="20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ja-JP" sz="20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2" name="Text Placeholder 5">
                <a:extLst>
                  <a:ext uri="{FF2B5EF4-FFF2-40B4-BE49-F238E27FC236}">
                    <a16:creationId xmlns:a16="http://schemas.microsoft.com/office/drawing/2014/main" id="{B1A2F5FD-6712-481A-83C6-6E40872953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987" y="2586588"/>
                <a:ext cx="4995080" cy="115418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 Placeholder 5">
                <a:extLst>
                  <a:ext uri="{FF2B5EF4-FFF2-40B4-BE49-F238E27FC236}">
                    <a16:creationId xmlns:a16="http://schemas.microsoft.com/office/drawing/2014/main" id="{26E12EB3-0AC8-4E4A-A51C-B10A802319D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12209" y="3850155"/>
                <a:ext cx="11179790" cy="115418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NZ" altLang="ja-JP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NZ" altLang="ja-JP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NZ" altLang="ja-JP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NZ" altLang="ja-JP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sSup>
                            <m:sSupPr>
                              <m:ctrlPr>
                                <a:rPr lang="en-NZ" altLang="ja-JP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NZ" altLang="ja-JP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ctrlPr>
                                        <a:rPr lang="en-US" altLang="ja-JP" sz="1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3"/>
                                        </m:rPr>
                                        <a:rPr lang="en-NZ" altLang="ja-JP" sz="1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NZ" altLang="ja-JP" sz="1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NZ" altLang="ja-JP" sz="1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sup>
                                    <m:e>
                                      <m:sSub>
                                        <m:sSubPr>
                                          <m:ctrlPr>
                                            <a:rPr lang="en-NZ" altLang="ja-JP" sz="18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NZ" altLang="ja-JP" sz="18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  <m:sub>
                                          <m:r>
                                            <a:rPr lang="en-NZ" altLang="ja-JP" sz="18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NZ" altLang="ja-JP" sz="18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NZ" altLang="ja-JP" sz="18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</m:e>
                            <m:sup>
                              <m:r>
                                <a:rPr lang="en-NZ" altLang="ja-JP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NZ" altLang="ja-JP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=  </m:t>
                      </m:r>
                      <m:nary>
                        <m:naryPr>
                          <m:chr m:val="∑"/>
                          <m:ctrlPr>
                            <a:rPr lang="en-NZ" altLang="ja-JP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NZ" altLang="ja-JP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NZ" altLang="ja-JP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NZ" altLang="ja-JP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sSup>
                            <m:sSupPr>
                              <m:ctrlPr>
                                <a:rPr lang="en-NZ" altLang="ja-JP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NZ" altLang="ja-JP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NZ" altLang="ja-JP" sz="1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NZ" altLang="ja-JP" sz="1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NZ" altLang="ja-JP" sz="1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NZ" altLang="ja-JP" sz="1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,1</m:t>
                                      </m:r>
                                    </m:sub>
                                  </m:sSub>
                                  <m:r>
                                    <a:rPr lang="en-NZ" altLang="ja-JP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NZ" altLang="ja-JP" sz="1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NZ" altLang="ja-JP" sz="1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NZ" altLang="ja-JP" sz="1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NZ" altLang="ja-JP" sz="1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,2</m:t>
                                      </m:r>
                                    </m:sub>
                                  </m:sSub>
                                  <m:r>
                                    <a:rPr lang="en-NZ" altLang="ja-JP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NZ" altLang="ja-JP" sz="1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NZ" altLang="ja-JP" sz="1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NZ" altLang="ja-JP" sz="1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NZ" altLang="ja-JP" sz="1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,3</m:t>
                                      </m:r>
                                    </m:sub>
                                  </m:sSub>
                                  <m:r>
                                    <a:rPr lang="en-NZ" altLang="ja-JP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NZ" altLang="ja-JP" sz="1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NZ" altLang="ja-JP" sz="1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NZ" altLang="ja-JP" sz="1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NZ" altLang="ja-JP" sz="1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,4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NZ" altLang="ja-JP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ja-JP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Text Placeholder 5">
                <a:extLst>
                  <a:ext uri="{FF2B5EF4-FFF2-40B4-BE49-F238E27FC236}">
                    <a16:creationId xmlns:a16="http://schemas.microsoft.com/office/drawing/2014/main" id="{26E12EB3-0AC8-4E4A-A51C-B10A802319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2209" y="3850155"/>
                <a:ext cx="11179790" cy="11541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9B13EA9B-33E8-4105-8312-325C0824F08B}"/>
              </a:ext>
            </a:extLst>
          </p:cNvPr>
          <p:cNvSpPr txBox="1">
            <a:spLocks/>
          </p:cNvSpPr>
          <p:nvPr/>
        </p:nvSpPr>
        <p:spPr>
          <a:xfrm>
            <a:off x="2185385" y="2992971"/>
            <a:ext cx="9139578" cy="5271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US" altLang="ja-JP" sz="2000" dirty="0">
                <a:solidFill>
                  <a:srgbClr val="002060"/>
                </a:solidFill>
              </a:rPr>
              <a:t>Means sum the elements of each row, square the result and add together</a:t>
            </a:r>
            <a:endParaRPr lang="en-US" altLang="ja-JP" sz="2000" b="1" i="1" dirty="0">
              <a:solidFill>
                <a:srgbClr val="002060"/>
              </a:solidFill>
            </a:endParaRPr>
          </a:p>
        </p:txBody>
      </p:sp>
      <p:sp>
        <p:nvSpPr>
          <p:cNvPr id="19" name="Footer Placeholder 2">
            <a:extLst>
              <a:ext uri="{FF2B5EF4-FFF2-40B4-BE49-F238E27FC236}">
                <a16:creationId xmlns:a16="http://schemas.microsoft.com/office/drawing/2014/main" id="{B83D49E6-11E7-83C7-3B52-FA7D956F3135}"/>
              </a:ext>
            </a:extLst>
          </p:cNvPr>
          <p:cNvSpPr txBox="1">
            <a:spLocks/>
          </p:cNvSpPr>
          <p:nvPr/>
        </p:nvSpPr>
        <p:spPr>
          <a:xfrm>
            <a:off x="8694057" y="86139"/>
            <a:ext cx="33953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1600" dirty="0">
                <a:solidFill>
                  <a:srgbClr val="DEDDDD"/>
                </a:solidFill>
                <a:latin typeface="Gidole"/>
              </a:rPr>
              <a:t>1.1 - Summation Notation &amp; Algebra</a:t>
            </a:r>
            <a:endParaRPr kumimoji="1" lang="ja-JP" altLang="en-US" sz="1600" dirty="0">
              <a:solidFill>
                <a:srgbClr val="DEDDDD"/>
              </a:solidFill>
              <a:latin typeface="Gidol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B66E2E72-7B76-E2AC-AD4B-C88CF0D7944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52132" y="4841145"/>
                <a:ext cx="8898340" cy="1706741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NZ" altLang="ja-JP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NZ" altLang="ja-JP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ctrlPr>
                                <a:rPr lang="en-NZ" altLang="ja-JP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NZ" altLang="ja-JP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NZ" altLang="ja-JP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1,1</m:t>
                                  </m:r>
                                </m:sub>
                              </m:sSub>
                              <m:r>
                                <a:rPr lang="en-NZ" altLang="ja-JP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NZ" altLang="ja-JP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NZ" altLang="ja-JP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1,2</m:t>
                                  </m:r>
                                </m:sub>
                              </m:sSub>
                              <m:r>
                                <a:rPr lang="en-NZ" altLang="ja-JP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NZ" altLang="ja-JP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NZ" altLang="ja-JP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1,3</m:t>
                                  </m:r>
                                </m:sub>
                              </m:sSub>
                              <m:r>
                                <a:rPr lang="en-NZ" altLang="ja-JP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NZ" altLang="ja-JP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NZ" altLang="ja-JP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1,4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NZ" altLang="ja-JP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NZ" altLang="ja-JP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+ </m:t>
                      </m:r>
                      <m:sSup>
                        <m:sSupPr>
                          <m:ctrlPr>
                            <a:rPr lang="en-NZ" altLang="ja-JP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NZ" altLang="ja-JP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NZ" altLang="ja-JP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NZ" altLang="ja-JP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NZ" altLang="ja-JP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b>
                              </m:sSub>
                              <m:r>
                                <a:rPr lang="en-NZ" altLang="ja-JP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NZ" altLang="ja-JP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NZ" altLang="ja-JP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NZ" altLang="ja-JP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,2</m:t>
                                  </m:r>
                                </m:sub>
                              </m:sSub>
                              <m:r>
                                <a:rPr lang="en-NZ" altLang="ja-JP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NZ" altLang="ja-JP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NZ" altLang="ja-JP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NZ" altLang="ja-JP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,3</m:t>
                                  </m:r>
                                </m:sub>
                              </m:sSub>
                              <m:r>
                                <a:rPr lang="en-NZ" altLang="ja-JP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NZ" altLang="ja-JP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NZ" altLang="ja-JP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NZ" altLang="ja-JP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,4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NZ" altLang="ja-JP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NZ" altLang="ja-JP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+</m:t>
                      </m:r>
                      <m:sSup>
                        <m:sSupPr>
                          <m:ctrlPr>
                            <a:rPr lang="en-NZ" altLang="ja-JP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NZ" altLang="ja-JP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NZ" altLang="ja-JP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NZ" altLang="ja-JP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NZ" altLang="ja-JP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NZ" altLang="ja-JP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b>
                              </m:sSub>
                              <m:r>
                                <a:rPr lang="en-NZ" altLang="ja-JP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NZ" altLang="ja-JP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NZ" altLang="ja-JP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NZ" altLang="ja-JP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,2</m:t>
                                  </m:r>
                                </m:sub>
                              </m:sSub>
                              <m:r>
                                <a:rPr lang="en-NZ" altLang="ja-JP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NZ" altLang="ja-JP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NZ" altLang="ja-JP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NZ" altLang="ja-JP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,3</m:t>
                                  </m:r>
                                </m:sub>
                              </m:sSub>
                              <m:r>
                                <a:rPr lang="en-NZ" altLang="ja-JP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NZ" altLang="ja-JP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NZ" altLang="ja-JP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NZ" altLang="ja-JP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,4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NZ" altLang="ja-JP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NZ" altLang="ja-JP" sz="18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just">
                  <a:lnSpc>
                    <a:spcPct val="100000"/>
                  </a:lnSpc>
                </a:pPr>
                <a:endParaRPr lang="en-NZ" altLang="ja-JP" sz="18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NZ" altLang="ja-JP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 </m:t>
                      </m:r>
                      <m:sSup>
                        <m:sSupPr>
                          <m:ctrlPr>
                            <a:rPr lang="en-NZ" altLang="ja-JP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NZ" altLang="ja-JP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1+2+3+4</m:t>
                              </m:r>
                            </m:e>
                          </m:d>
                        </m:e>
                        <m:sup>
                          <m:r>
                            <a:rPr lang="en-NZ" altLang="ja-JP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NZ" altLang="ja-JP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+ </m:t>
                      </m:r>
                      <m:sSup>
                        <m:sSupPr>
                          <m:ctrlPr>
                            <a:rPr lang="en-NZ" altLang="ja-JP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NZ" altLang="ja-JP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5+6+7+8</m:t>
                              </m:r>
                            </m:e>
                          </m:d>
                        </m:e>
                        <m:sup>
                          <m:r>
                            <a:rPr lang="en-NZ" altLang="ja-JP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NZ" altLang="ja-JP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+</m:t>
                      </m:r>
                      <m:sSup>
                        <m:sSupPr>
                          <m:ctrlPr>
                            <a:rPr lang="en-NZ" altLang="ja-JP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NZ" altLang="ja-JP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NZ" altLang="ja-JP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  <m:r>
                                <a:rPr lang="en-NZ" altLang="ja-JP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NZ" altLang="ja-JP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  <m:r>
                                <a:rPr lang="en-NZ" altLang="ja-JP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NZ" altLang="ja-JP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  <m:r>
                                <a:rPr lang="en-NZ" altLang="ja-JP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NZ" altLang="ja-JP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d>
                        </m:e>
                        <m:sup>
                          <m:r>
                            <a:rPr lang="en-NZ" altLang="ja-JP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NZ" altLang="ja-JP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NZ" altLang="ja-JP" sz="18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just">
                  <a:lnSpc>
                    <a:spcPct val="100000"/>
                  </a:lnSpc>
                </a:pPr>
                <a:endParaRPr lang="en-NZ" altLang="ja-JP" sz="18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NZ" altLang="ja-JP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=2,540</m:t>
                      </m:r>
                    </m:oMath>
                  </m:oMathPara>
                </a14:m>
                <a:endParaRPr lang="en-US" altLang="ja-JP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B66E2E72-7B76-E2AC-AD4B-C88CF0D794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2132" y="4841145"/>
                <a:ext cx="8898340" cy="170674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9946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6733"/>
            <a:ext cx="2185386" cy="741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4AD89C-DF1E-4948-B597-5DD47B34A9CA}" type="slidenum">
              <a:rPr kumimoji="1" lang="ja-JP" altLang="en-US" smtClean="0">
                <a:solidFill>
                  <a:srgbClr val="575454">
                    <a:lumMod val="20000"/>
                    <a:lumOff val="80000"/>
                  </a:srgbClr>
                </a:solidFill>
                <a:latin typeface="Coo Hew"/>
              </a:rPr>
              <a:pPr/>
              <a:t>11</a:t>
            </a:fld>
            <a:endParaRPr kumimoji="1" lang="ja-JP" altLang="en-US" dirty="0">
              <a:solidFill>
                <a:srgbClr val="575454">
                  <a:lumMod val="20000"/>
                  <a:lumOff val="80000"/>
                </a:srgbClr>
              </a:solidFill>
              <a:latin typeface="Coo Hew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4F3E9ADB-6AEC-42EA-808B-5A433C8B4560}"/>
              </a:ext>
            </a:extLst>
          </p:cNvPr>
          <p:cNvSpPr txBox="1">
            <a:spLocks/>
          </p:cNvSpPr>
          <p:nvPr/>
        </p:nvSpPr>
        <p:spPr>
          <a:xfrm>
            <a:off x="319463" y="310113"/>
            <a:ext cx="8168429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b="1" u="sng" dirty="0">
                <a:latin typeface="+mn-lt"/>
              </a:rPr>
              <a:t>1.1b - Bracket Notation:</a:t>
            </a:r>
            <a:endParaRPr lang="ja-JP" altLang="en-US" b="1" u="sng" dirty="0">
              <a:latin typeface="+mn-lt"/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65B06D6C-CCB3-4D8F-9171-6B4779FED53B}"/>
              </a:ext>
            </a:extLst>
          </p:cNvPr>
          <p:cNvSpPr txBox="1">
            <a:spLocks/>
          </p:cNvSpPr>
          <p:nvPr/>
        </p:nvSpPr>
        <p:spPr>
          <a:xfrm>
            <a:off x="319463" y="1050542"/>
            <a:ext cx="11553074" cy="60720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US" altLang="ja-JP" sz="2000" dirty="0">
                <a:solidFill>
                  <a:schemeClr val="tx1"/>
                </a:solidFill>
              </a:rPr>
              <a:t>Suppose that we have </a:t>
            </a:r>
            <a:r>
              <a:rPr lang="en-US" altLang="ja-JP" sz="2000" b="1" i="1" dirty="0">
                <a:solidFill>
                  <a:schemeClr val="tx1"/>
                </a:solidFill>
              </a:rPr>
              <a:t>N</a:t>
            </a:r>
            <a:r>
              <a:rPr lang="en-US" altLang="ja-JP" sz="2000" dirty="0">
                <a:solidFill>
                  <a:schemeClr val="tx1"/>
                </a:solidFill>
              </a:rPr>
              <a:t> observations that can be grouped into </a:t>
            </a:r>
            <a:r>
              <a:rPr lang="en-US" altLang="ja-JP" sz="2000" b="1" i="1" dirty="0">
                <a:solidFill>
                  <a:schemeClr val="tx1"/>
                </a:solidFill>
              </a:rPr>
              <a:t>r</a:t>
            </a:r>
            <a:r>
              <a:rPr lang="en-US" altLang="ja-JP" sz="2000" dirty="0">
                <a:solidFill>
                  <a:schemeClr val="tx1"/>
                </a:solidFill>
              </a:rPr>
              <a:t> rows and </a:t>
            </a:r>
            <a:r>
              <a:rPr lang="en-US" altLang="ja-JP" sz="2000" b="1" i="1" dirty="0">
                <a:solidFill>
                  <a:schemeClr val="tx1"/>
                </a:solidFill>
              </a:rPr>
              <a:t>c</a:t>
            </a:r>
            <a:r>
              <a:rPr lang="en-US" altLang="ja-JP" sz="2000" dirty="0">
                <a:solidFill>
                  <a:schemeClr val="tx1"/>
                </a:solidFill>
              </a:rPr>
              <a:t> columns (</a:t>
            </a:r>
            <a:r>
              <a:rPr lang="en-US" altLang="ja-JP" sz="2000" b="1" i="1" dirty="0">
                <a:solidFill>
                  <a:schemeClr val="tx1"/>
                </a:solidFill>
              </a:rPr>
              <a:t>N = </a:t>
            </a:r>
            <a:r>
              <a:rPr lang="en-US" altLang="ja-JP" sz="2000" b="1" i="1" dirty="0" err="1">
                <a:solidFill>
                  <a:schemeClr val="tx1"/>
                </a:solidFill>
              </a:rPr>
              <a:t>rc</a:t>
            </a:r>
            <a:r>
              <a:rPr lang="en-US" altLang="ja-JP" sz="2000" dirty="0">
                <a:solidFill>
                  <a:schemeClr val="tx1"/>
                </a:solidFill>
              </a:rPr>
              <a:t>).</a:t>
            </a:r>
            <a:endParaRPr lang="en-US" altLang="ja-JP" sz="2000" b="1" i="1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281044D1-CDA5-4D0B-AE06-D330F2B8865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1543445"/>
                <a:ext cx="12192000" cy="13157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𝒀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  <m: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𝒀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  <m: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𝒀</m:t>
                                          </m:r>
                                        </m:e>
                                        <m:sub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  <m: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𝒀</m:t>
                                          </m:r>
                                        </m:e>
                                        <m:sub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  <m: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𝒀</m:t>
                                          </m:r>
                                        </m:e>
                                        <m:sub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  <m: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𝒀</m:t>
                                          </m:r>
                                        </m:e>
                                        <m:sub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  <m: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 = 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sz="20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sz="20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NZ" altLang="ja-JP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n-NZ" altLang="ja-JP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e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𝟒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lang="en-NZ" altLang="ja-JP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e>
                              <m:e>
                                <m:r>
                                  <a:rPr lang="en-NZ" altLang="ja-JP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𝟕</m:t>
                                      </m:r>
                                    </m:e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𝟖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lang="en-NZ" altLang="ja-JP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</m:e>
                              <m:e>
                                <m:r>
                                  <a:rPr lang="en-NZ" altLang="ja-JP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𝟏𝟎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𝟏𝟏</m:t>
                                      </m:r>
                                    </m:e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𝟏𝟐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ja-JP" sz="2000" b="1" i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281044D1-CDA5-4D0B-AE06-D330F2B886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543445"/>
                <a:ext cx="12192000" cy="131571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Placeholder 5">
                <a:extLst>
                  <a:ext uri="{FF2B5EF4-FFF2-40B4-BE49-F238E27FC236}">
                    <a16:creationId xmlns:a16="http://schemas.microsoft.com/office/drawing/2014/main" id="{BA9AD72C-C571-4453-8050-A0EC3E2D23A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12209" y="5004576"/>
                <a:ext cx="4995080" cy="115418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ja-JP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Text Placeholder 5">
                <a:extLst>
                  <a:ext uri="{FF2B5EF4-FFF2-40B4-BE49-F238E27FC236}">
                    <a16:creationId xmlns:a16="http://schemas.microsoft.com/office/drawing/2014/main" id="{BA9AD72C-C571-4453-8050-A0EC3E2D23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2209" y="5004576"/>
                <a:ext cx="4995080" cy="11541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Placeholder 5">
                <a:extLst>
                  <a:ext uri="{FF2B5EF4-FFF2-40B4-BE49-F238E27FC236}">
                    <a16:creationId xmlns:a16="http://schemas.microsoft.com/office/drawing/2014/main" id="{B1A2F5FD-6712-481A-83C6-6E408729531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5988" y="2729359"/>
                <a:ext cx="4995080" cy="115418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altLang="ja-JP" sz="20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NZ" altLang="ja-JP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NZ" altLang="ja-JP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NZ" altLang="ja-JP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p>
                        <m:e>
                          <m:sSup>
                            <m:sSupPr>
                              <m:ctrlPr>
                                <a:rPr lang="en-NZ" altLang="ja-JP" sz="20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sz="20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ctrlPr>
                                        <a:rPr lang="en-US" altLang="ja-JP" sz="20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NZ" altLang="ja-JP" sz="20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NZ" altLang="ja-JP" sz="20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NZ" altLang="ja-JP" sz="20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sup>
                                    <m:e>
                                      <m:sSub>
                                        <m:sSubPr>
                                          <m:ctrlPr>
                                            <a:rPr lang="en-NZ" altLang="ja-JP" sz="20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NZ" altLang="ja-JP" sz="20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  <m:sub>
                                          <m:r>
                                            <a:rPr lang="en-NZ" altLang="ja-JP" sz="20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NZ" altLang="ja-JP" sz="20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NZ" altLang="ja-JP" sz="20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</m:e>
                            <m:sup>
                              <m:r>
                                <a:rPr lang="en-NZ" altLang="ja-JP" sz="20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ja-JP" sz="20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2" name="Text Placeholder 5">
                <a:extLst>
                  <a:ext uri="{FF2B5EF4-FFF2-40B4-BE49-F238E27FC236}">
                    <a16:creationId xmlns:a16="http://schemas.microsoft.com/office/drawing/2014/main" id="{B1A2F5FD-6712-481A-83C6-6E40872953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988" y="2729359"/>
                <a:ext cx="4995080" cy="115418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 Placeholder 5">
                <a:extLst>
                  <a:ext uri="{FF2B5EF4-FFF2-40B4-BE49-F238E27FC236}">
                    <a16:creationId xmlns:a16="http://schemas.microsoft.com/office/drawing/2014/main" id="{26E12EB3-0AC8-4E4A-A51C-B10A802319D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56519" y="3929843"/>
                <a:ext cx="4262010" cy="115418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NZ" altLang="ja-JP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NZ" altLang="ja-JP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NZ" altLang="ja-JP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NZ" altLang="ja-JP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  <m:e>
                          <m:sSup>
                            <m:sSupPr>
                              <m:ctrlPr>
                                <a:rPr lang="en-NZ" altLang="ja-JP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NZ" altLang="ja-JP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ctrlPr>
                                        <a:rPr lang="en-US" altLang="ja-JP" sz="1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NZ" altLang="ja-JP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NZ" altLang="ja-JP" sz="1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NZ" altLang="ja-JP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  <m:e>
                                      <m:sSub>
                                        <m:sSubPr>
                                          <m:ctrlPr>
                                            <a:rPr lang="en-NZ" altLang="ja-JP" sz="18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NZ" altLang="ja-JP" sz="18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  <m:sub>
                                          <m:r>
                                            <a:rPr lang="en-NZ" altLang="ja-JP" sz="18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NZ" altLang="ja-JP" sz="18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NZ" altLang="ja-JP" sz="18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</m:e>
                            <m:sup>
                              <m:r>
                                <a:rPr lang="en-NZ" altLang="ja-JP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NZ" altLang="ja-JP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n-NZ" altLang="ja-JP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NZ" altLang="ja-JP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NZ" altLang="ja-JP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NZ" altLang="ja-JP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NZ" altLang="ja-JP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  <m:e>
                          <m:sSup>
                            <m:sSupPr>
                              <m:ctrlPr>
                                <a:rPr lang="en-NZ" altLang="ja-JP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NZ" altLang="ja-JP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NZ" altLang="ja-JP" sz="1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NZ" altLang="ja-JP" sz="1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NZ" altLang="ja-JP" sz="1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1,</m:t>
                                      </m:r>
                                      <m:r>
                                        <a:rPr lang="en-NZ" altLang="ja-JP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NZ" altLang="ja-JP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NZ" altLang="ja-JP" sz="1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NZ" altLang="ja-JP" sz="1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NZ" altLang="ja-JP" sz="1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2,</m:t>
                                      </m:r>
                                      <m:r>
                                        <a:rPr lang="en-NZ" altLang="ja-JP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NZ" altLang="ja-JP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+</m:t>
                                  </m:r>
                                  <m:sSub>
                                    <m:sSubPr>
                                      <m:ctrlPr>
                                        <a:rPr lang="en-NZ" altLang="ja-JP" sz="1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NZ" altLang="ja-JP" sz="1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NZ" altLang="ja-JP" sz="1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3,</m:t>
                                      </m:r>
                                      <m:r>
                                        <a:rPr lang="en-NZ" altLang="ja-JP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NZ" altLang="ja-JP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ja-JP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Text Placeholder 5">
                <a:extLst>
                  <a:ext uri="{FF2B5EF4-FFF2-40B4-BE49-F238E27FC236}">
                    <a16:creationId xmlns:a16="http://schemas.microsoft.com/office/drawing/2014/main" id="{26E12EB3-0AC8-4E4A-A51C-B10A802319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519" y="3929843"/>
                <a:ext cx="4262010" cy="11541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9B13EA9B-33E8-4105-8312-325C0824F08B}"/>
              </a:ext>
            </a:extLst>
          </p:cNvPr>
          <p:cNvSpPr txBox="1">
            <a:spLocks/>
          </p:cNvSpPr>
          <p:nvPr/>
        </p:nvSpPr>
        <p:spPr>
          <a:xfrm>
            <a:off x="2185386" y="3135742"/>
            <a:ext cx="9139578" cy="5271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US" altLang="ja-JP" sz="2000" dirty="0">
                <a:solidFill>
                  <a:srgbClr val="002060"/>
                </a:solidFill>
              </a:rPr>
              <a:t>Means sum the elements of each column, square the result and add together</a:t>
            </a:r>
            <a:endParaRPr lang="en-US" altLang="ja-JP" sz="2000" b="1" i="1" dirty="0">
              <a:solidFill>
                <a:srgbClr val="002060"/>
              </a:solidFill>
            </a:endParaRPr>
          </a:p>
        </p:txBody>
      </p:sp>
      <p:sp>
        <p:nvSpPr>
          <p:cNvPr id="19" name="Footer Placeholder 2">
            <a:extLst>
              <a:ext uri="{FF2B5EF4-FFF2-40B4-BE49-F238E27FC236}">
                <a16:creationId xmlns:a16="http://schemas.microsoft.com/office/drawing/2014/main" id="{B83D49E6-11E7-83C7-3B52-FA7D956F3135}"/>
              </a:ext>
            </a:extLst>
          </p:cNvPr>
          <p:cNvSpPr txBox="1">
            <a:spLocks/>
          </p:cNvSpPr>
          <p:nvPr/>
        </p:nvSpPr>
        <p:spPr>
          <a:xfrm>
            <a:off x="8694057" y="86139"/>
            <a:ext cx="33953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1600" dirty="0">
                <a:solidFill>
                  <a:srgbClr val="DEDDDD"/>
                </a:solidFill>
                <a:latin typeface="Gidole"/>
              </a:rPr>
              <a:t>1.1 - Summation Notation &amp; Algebra</a:t>
            </a:r>
            <a:endParaRPr kumimoji="1" lang="ja-JP" altLang="en-US" sz="1600" dirty="0">
              <a:solidFill>
                <a:srgbClr val="DEDDDD"/>
              </a:solidFill>
              <a:latin typeface="Gidol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6F21B1E8-7228-AE34-38D3-CD6C033D899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357437" y="4967490"/>
                <a:ext cx="9515100" cy="115418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NZ" altLang="ja-JP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NZ" altLang="ja-JP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NZ" altLang="ja-JP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NZ" altLang="ja-JP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NZ" altLang="ja-JP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1,1</m:t>
                                  </m:r>
                                </m:sub>
                              </m:sSub>
                              <m:r>
                                <a:rPr lang="en-NZ" altLang="ja-JP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NZ" altLang="ja-JP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NZ" altLang="ja-JP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2,1</m:t>
                                  </m:r>
                                </m:sub>
                              </m:sSub>
                              <m:r>
                                <a:rPr lang="en-NZ" altLang="ja-JP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+</m:t>
                              </m:r>
                              <m:sSub>
                                <m:sSubPr>
                                  <m:ctrlPr>
                                    <a:rPr lang="en-NZ" altLang="ja-JP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NZ" altLang="ja-JP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3,1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NZ" altLang="ja-JP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NZ" altLang="ja-JP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+ </m:t>
                      </m:r>
                      <m:sSup>
                        <m:sSupPr>
                          <m:ctrlPr>
                            <a:rPr lang="en-NZ" altLang="ja-JP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NZ" altLang="ja-JP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NZ" altLang="ja-JP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NZ" altLang="ja-JP" sz="1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NZ" altLang="ja-JP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NZ" altLang="ja-JP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NZ" altLang="ja-JP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NZ" altLang="ja-JP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NZ" altLang="ja-JP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2,</m:t>
                                  </m:r>
                                  <m:r>
                                    <a:rPr lang="en-NZ" altLang="ja-JP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NZ" altLang="ja-JP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+</m:t>
                              </m:r>
                              <m:sSub>
                                <m:sSubPr>
                                  <m:ctrlPr>
                                    <a:rPr lang="en-NZ" altLang="ja-JP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NZ" altLang="ja-JP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3,</m:t>
                                  </m:r>
                                  <m:r>
                                    <a:rPr lang="en-NZ" altLang="ja-JP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NZ" altLang="ja-JP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NZ" altLang="ja-JP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+</m:t>
                      </m:r>
                      <m:sSup>
                        <m:sSupPr>
                          <m:ctrlPr>
                            <a:rPr lang="en-NZ" altLang="ja-JP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NZ" altLang="ja-JP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NZ" altLang="ja-JP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NZ" altLang="ja-JP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NZ" altLang="ja-JP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NZ" altLang="ja-JP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NZ" altLang="ja-JP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NZ" altLang="ja-JP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2,</m:t>
                                  </m:r>
                                  <m:r>
                                    <a:rPr lang="en-NZ" altLang="ja-JP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NZ" altLang="ja-JP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+</m:t>
                              </m:r>
                              <m:sSub>
                                <m:sSubPr>
                                  <m:ctrlPr>
                                    <a:rPr lang="en-NZ" altLang="ja-JP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NZ" altLang="ja-JP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3,</m:t>
                                  </m:r>
                                  <m:r>
                                    <a:rPr lang="en-NZ" altLang="ja-JP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NZ" altLang="ja-JP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NZ" altLang="ja-JP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+</m:t>
                      </m:r>
                      <m:sSup>
                        <m:sSupPr>
                          <m:ctrlPr>
                            <a:rPr lang="en-NZ" altLang="ja-JP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NZ" altLang="ja-JP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NZ" altLang="ja-JP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NZ" altLang="ja-JP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NZ" altLang="ja-JP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NZ" altLang="ja-JP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NZ" altLang="ja-JP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NZ" altLang="ja-JP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2,</m:t>
                                  </m:r>
                                  <m:r>
                                    <a:rPr lang="en-NZ" altLang="ja-JP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NZ" altLang="ja-JP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+</m:t>
                              </m:r>
                              <m:sSub>
                                <m:sSubPr>
                                  <m:ctrlPr>
                                    <a:rPr lang="en-NZ" altLang="ja-JP" sz="1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NZ" altLang="ja-JP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3,</m:t>
                                  </m:r>
                                  <m:r>
                                    <a:rPr lang="en-NZ" altLang="ja-JP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NZ" altLang="ja-JP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NZ" altLang="ja-JP" sz="1800" b="0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00000"/>
                  </a:lnSpc>
                </a:pPr>
                <a:endParaRPr lang="en-NZ" altLang="ja-JP" sz="1800" b="0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NZ" altLang="ja-JP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 </m:t>
                      </m:r>
                      <m:sSup>
                        <m:sSupPr>
                          <m:ctrlPr>
                            <a:rPr lang="en-NZ" altLang="ja-JP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NZ" altLang="ja-JP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1+5+9</m:t>
                              </m:r>
                            </m:e>
                          </m:d>
                        </m:e>
                        <m:sup>
                          <m:r>
                            <a:rPr lang="en-NZ" altLang="ja-JP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NZ" altLang="ja-JP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+ </m:t>
                      </m:r>
                      <m:sSup>
                        <m:sSupPr>
                          <m:ctrlPr>
                            <a:rPr lang="en-NZ" altLang="ja-JP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NZ" altLang="ja-JP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2+6+10</m:t>
                              </m:r>
                            </m:e>
                          </m:d>
                        </m:e>
                        <m:sup>
                          <m:r>
                            <a:rPr lang="en-NZ" altLang="ja-JP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NZ" altLang="ja-JP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+</m:t>
                      </m:r>
                      <m:sSup>
                        <m:sSupPr>
                          <m:ctrlPr>
                            <a:rPr lang="en-NZ" altLang="ja-JP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NZ" altLang="ja-JP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NZ" altLang="ja-JP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3+7+11</m:t>
                              </m:r>
                            </m:e>
                          </m:d>
                        </m:e>
                        <m:sup>
                          <m:r>
                            <a:rPr lang="en-NZ" altLang="ja-JP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NZ" altLang="ja-JP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+ </m:t>
                      </m:r>
                      <m:sSup>
                        <m:sSupPr>
                          <m:ctrlPr>
                            <a:rPr lang="en-NZ" altLang="ja-JP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NZ" altLang="ja-JP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NZ" altLang="ja-JP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4+8+12</m:t>
                              </m:r>
                            </m:e>
                          </m:d>
                        </m:e>
                        <m:sup>
                          <m:r>
                            <a:rPr lang="en-NZ" altLang="ja-JP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NZ" altLang="ja-JP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NZ" altLang="ja-JP" sz="18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00000"/>
                  </a:lnSpc>
                </a:pPr>
                <a:endParaRPr lang="en-NZ" altLang="ja-JP" sz="18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NZ" altLang="ja-JP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 1,566</m:t>
                      </m:r>
                    </m:oMath>
                  </m:oMathPara>
                </a14:m>
                <a:endParaRPr lang="en-US" altLang="ja-JP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6F21B1E8-7228-AE34-38D3-CD6C033D89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7437" y="4967490"/>
                <a:ext cx="9515100" cy="1154186"/>
              </a:xfrm>
              <a:prstGeom prst="rect">
                <a:avLst/>
              </a:prstGeom>
              <a:blipFill>
                <a:blip r:embed="rId7"/>
                <a:stretch>
                  <a:fillRect b="-32804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9451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1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0" name="Rectangle 72">
            <a:extLst>
              <a:ext uri="{FF2B5EF4-FFF2-40B4-BE49-F238E27FC236}">
                <a16:creationId xmlns:a16="http://schemas.microsoft.com/office/drawing/2014/main" id="{FD073016-B734-483B-8953-5BADEE145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0"/>
            <a:ext cx="8157458" cy="6858000"/>
          </a:xfrm>
          <a:prstGeom prst="rect">
            <a:avLst/>
          </a:prstGeom>
          <a:gradFill>
            <a:gsLst>
              <a:gs pos="2000">
                <a:schemeClr val="accent1"/>
              </a:gs>
              <a:gs pos="78000">
                <a:schemeClr val="accent1">
                  <a:lumMod val="50000"/>
                </a:schemeClr>
              </a:gs>
              <a:gs pos="100000">
                <a:srgbClr val="000000">
                  <a:alpha val="85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1" name="Rectangle 74">
            <a:extLst>
              <a:ext uri="{FF2B5EF4-FFF2-40B4-BE49-F238E27FC236}">
                <a16:creationId xmlns:a16="http://schemas.microsoft.com/office/drawing/2014/main" id="{90A7EAB6-59D3-4325-8DE6-E0CA4009C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4537" y="1839884"/>
            <a:ext cx="8157460" cy="501768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30000"/>
                </a:schemeClr>
              </a:gs>
              <a:gs pos="100000">
                <a:srgbClr val="000000">
                  <a:alpha val="44000"/>
                </a:srgb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2" name="Rectangle 76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63179" y="-33131"/>
            <a:ext cx="6857999" cy="6923403"/>
          </a:xfrm>
          <a:prstGeom prst="rect">
            <a:avLst/>
          </a:prstGeom>
          <a:gradFill>
            <a:gsLst>
              <a:gs pos="56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14062D-E1C1-4F63-B0FD-D013BDA5782B}"/>
              </a:ext>
            </a:extLst>
          </p:cNvPr>
          <p:cNvSpPr txBox="1"/>
          <p:nvPr/>
        </p:nvSpPr>
        <p:spPr>
          <a:xfrm>
            <a:off x="43707" y="2844225"/>
            <a:ext cx="12104586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NZ" sz="4500" b="1" dirty="0">
                <a:solidFill>
                  <a:srgbClr val="FFC000"/>
                </a:solidFill>
              </a:rPr>
              <a:t>1.2 - Bar-Dot Notation</a:t>
            </a:r>
            <a:br>
              <a:rPr lang="en-NZ" sz="4000" b="1" dirty="0">
                <a:solidFill>
                  <a:srgbClr val="FFC000"/>
                </a:solidFill>
              </a:rPr>
            </a:br>
            <a:r>
              <a:rPr lang="en-NZ" sz="2000" b="1" i="1" dirty="0">
                <a:solidFill>
                  <a:srgbClr val="FFC000"/>
                </a:solidFill>
              </a:rPr>
              <a:t>Commonly used shorthand notation in Analysis of Variance</a:t>
            </a:r>
          </a:p>
        </p:txBody>
      </p:sp>
      <p:pic>
        <p:nvPicPr>
          <p:cNvPr id="1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078A8151-9BD3-4B62-8210-A87BCD0941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6733"/>
            <a:ext cx="2185386" cy="741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06661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6733"/>
            <a:ext cx="2185386" cy="741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4AD89C-DF1E-4948-B597-5DD47B34A9CA}" type="slidenum">
              <a:rPr kumimoji="1" lang="ja-JP" altLang="en-US" smtClean="0">
                <a:solidFill>
                  <a:srgbClr val="575454">
                    <a:lumMod val="20000"/>
                    <a:lumOff val="80000"/>
                  </a:srgbClr>
                </a:solidFill>
                <a:latin typeface="Coo Hew"/>
              </a:rPr>
              <a:pPr/>
              <a:t>13</a:t>
            </a:fld>
            <a:endParaRPr kumimoji="1" lang="ja-JP" altLang="en-US" dirty="0">
              <a:solidFill>
                <a:srgbClr val="575454">
                  <a:lumMod val="20000"/>
                  <a:lumOff val="80000"/>
                </a:srgbClr>
              </a:solidFill>
              <a:latin typeface="Coo Hew"/>
            </a:endParaRP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E01D7A31-5FF0-43DC-9F4D-F2B96A58DE6A}"/>
              </a:ext>
            </a:extLst>
          </p:cNvPr>
          <p:cNvSpPr txBox="1">
            <a:spLocks/>
          </p:cNvSpPr>
          <p:nvPr/>
        </p:nvSpPr>
        <p:spPr>
          <a:xfrm>
            <a:off x="9444251" y="86139"/>
            <a:ext cx="2645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1600" dirty="0">
                <a:solidFill>
                  <a:srgbClr val="DEDDDD"/>
                </a:solidFill>
                <a:latin typeface="Gidole"/>
              </a:rPr>
              <a:t>1.2 - Bar-Dot Notation</a:t>
            </a:r>
            <a:endParaRPr kumimoji="1" lang="ja-JP" altLang="en-US" sz="1600" dirty="0">
              <a:solidFill>
                <a:srgbClr val="DEDDDD"/>
              </a:solidFill>
              <a:latin typeface="Gidole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4F3E9ADB-6AEC-42EA-808B-5A433C8B4560}"/>
              </a:ext>
            </a:extLst>
          </p:cNvPr>
          <p:cNvSpPr txBox="1">
            <a:spLocks/>
          </p:cNvSpPr>
          <p:nvPr/>
        </p:nvSpPr>
        <p:spPr>
          <a:xfrm>
            <a:off x="319463" y="310113"/>
            <a:ext cx="8168429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b="1" u="sng" dirty="0">
                <a:latin typeface="+mn-lt"/>
              </a:rPr>
              <a:t>1.2a - Dot Notation for Row Sums:</a:t>
            </a:r>
            <a:endParaRPr lang="ja-JP" altLang="en-US" b="1" u="sng" dirty="0">
              <a:latin typeface="+mn-lt"/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65B06D6C-CCB3-4D8F-9171-6B4779FED53B}"/>
              </a:ext>
            </a:extLst>
          </p:cNvPr>
          <p:cNvSpPr txBox="1">
            <a:spLocks/>
          </p:cNvSpPr>
          <p:nvPr/>
        </p:nvSpPr>
        <p:spPr>
          <a:xfrm>
            <a:off x="319463" y="1050542"/>
            <a:ext cx="11553074" cy="60720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US" altLang="ja-JP" sz="2000" dirty="0">
                <a:solidFill>
                  <a:schemeClr val="tx1"/>
                </a:solidFill>
              </a:rPr>
              <a:t>Suppose that we have </a:t>
            </a:r>
            <a:r>
              <a:rPr lang="en-US" altLang="ja-JP" sz="2000" b="1" i="1" dirty="0">
                <a:solidFill>
                  <a:schemeClr val="tx1"/>
                </a:solidFill>
              </a:rPr>
              <a:t>N</a:t>
            </a:r>
            <a:r>
              <a:rPr lang="en-US" altLang="ja-JP" sz="2000" dirty="0">
                <a:solidFill>
                  <a:schemeClr val="tx1"/>
                </a:solidFill>
              </a:rPr>
              <a:t> observations that can be grouped into </a:t>
            </a:r>
            <a:r>
              <a:rPr lang="en-US" altLang="ja-JP" sz="2000" b="1" i="1" dirty="0">
                <a:solidFill>
                  <a:schemeClr val="tx1"/>
                </a:solidFill>
              </a:rPr>
              <a:t>r</a:t>
            </a:r>
            <a:r>
              <a:rPr lang="en-US" altLang="ja-JP" sz="2000" dirty="0">
                <a:solidFill>
                  <a:schemeClr val="tx1"/>
                </a:solidFill>
              </a:rPr>
              <a:t> rows and </a:t>
            </a:r>
            <a:r>
              <a:rPr lang="en-US" altLang="ja-JP" sz="2000" b="1" i="1" dirty="0">
                <a:solidFill>
                  <a:schemeClr val="tx1"/>
                </a:solidFill>
              </a:rPr>
              <a:t>c</a:t>
            </a:r>
            <a:r>
              <a:rPr lang="en-US" altLang="ja-JP" sz="2000" dirty="0">
                <a:solidFill>
                  <a:schemeClr val="tx1"/>
                </a:solidFill>
              </a:rPr>
              <a:t> columns (</a:t>
            </a:r>
            <a:r>
              <a:rPr lang="en-US" altLang="ja-JP" sz="2000" b="1" i="1" dirty="0">
                <a:solidFill>
                  <a:schemeClr val="tx1"/>
                </a:solidFill>
              </a:rPr>
              <a:t>N = </a:t>
            </a:r>
            <a:r>
              <a:rPr lang="en-US" altLang="ja-JP" sz="2000" b="1" i="1" dirty="0" err="1">
                <a:solidFill>
                  <a:schemeClr val="tx1"/>
                </a:solidFill>
              </a:rPr>
              <a:t>rc</a:t>
            </a:r>
            <a:r>
              <a:rPr lang="en-US" altLang="ja-JP" sz="2000" dirty="0">
                <a:solidFill>
                  <a:schemeClr val="tx1"/>
                </a:solidFill>
              </a:rPr>
              <a:t>).</a:t>
            </a:r>
            <a:endParaRPr lang="en-US" altLang="ja-JP" sz="2000" b="1" i="1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281044D1-CDA5-4D0B-AE06-D330F2B8865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1543445"/>
                <a:ext cx="12192000" cy="13157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𝒀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  <m: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𝒀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  <m: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𝒀</m:t>
                                          </m:r>
                                        </m:e>
                                        <m:sub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  <m: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𝒀</m:t>
                                          </m:r>
                                        </m:e>
                                        <m:sub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  <m: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𝒀</m:t>
                                          </m:r>
                                        </m:e>
                                        <m:sub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  <m: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𝒀</m:t>
                                          </m:r>
                                        </m:e>
                                        <m:sub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  <m: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 = 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sz="20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sz="20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NZ" altLang="ja-JP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n-NZ" altLang="ja-JP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e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𝟒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lang="en-NZ" altLang="ja-JP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e>
                              <m:e>
                                <m:r>
                                  <a:rPr lang="en-NZ" altLang="ja-JP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𝟕</m:t>
                                      </m:r>
                                    </m:e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𝟖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lang="en-NZ" altLang="ja-JP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</m:e>
                              <m:e>
                                <m:r>
                                  <a:rPr lang="en-NZ" altLang="ja-JP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𝟏𝟎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𝟏𝟏</m:t>
                                      </m:r>
                                    </m:e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𝟏𝟐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ja-JP" sz="2000" b="1" i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281044D1-CDA5-4D0B-AE06-D330F2B886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543445"/>
                <a:ext cx="12192000" cy="131571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Placeholder 5">
                <a:extLst>
                  <a:ext uri="{FF2B5EF4-FFF2-40B4-BE49-F238E27FC236}">
                    <a16:creationId xmlns:a16="http://schemas.microsoft.com/office/drawing/2014/main" id="{B72FB88B-C94D-4C7B-8DE7-B2C00A33731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96036" y="2628369"/>
                <a:ext cx="2047164" cy="115418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NZ" altLang="ja-JP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NZ" altLang="ja-JP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NZ" altLang="ja-JP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</m:sub>
                      </m:sSub>
                      <m:r>
                        <a:rPr lang="en-NZ" altLang="ja-JP" sz="20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lit/>
                        </m:rPr>
                        <a:rPr lang="en-NZ" altLang="ja-JP" sz="20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NZ" altLang="ja-JP" sz="20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≡</m:t>
                      </m:r>
                      <m:nary>
                        <m:naryPr>
                          <m:chr m:val="∑"/>
                          <m:ctrlPr>
                            <a:rPr lang="en-US" altLang="ja-JP" sz="20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NZ" altLang="ja-JP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NZ" altLang="ja-JP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NZ" altLang="ja-JP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p>
                        <m:e>
                          <m:sSub>
                            <m:sSubPr>
                              <m:ctrlPr>
                                <a:rPr lang="en-NZ" altLang="ja-JP" sz="20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20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NZ" altLang="ja-JP" sz="20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NZ" altLang="ja-JP" sz="20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NZ" altLang="ja-JP" sz="20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ja-JP" sz="20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6" name="Text Placeholder 5">
                <a:extLst>
                  <a:ext uri="{FF2B5EF4-FFF2-40B4-BE49-F238E27FC236}">
                    <a16:creationId xmlns:a16="http://schemas.microsoft.com/office/drawing/2014/main" id="{B72FB88B-C94D-4C7B-8DE7-B2C00A3373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036" y="2628369"/>
                <a:ext cx="2047164" cy="115418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7348011-9E4F-40CD-AB22-3130C895AD12}"/>
              </a:ext>
            </a:extLst>
          </p:cNvPr>
          <p:cNvSpPr txBox="1">
            <a:spLocks/>
          </p:cNvSpPr>
          <p:nvPr/>
        </p:nvSpPr>
        <p:spPr>
          <a:xfrm>
            <a:off x="2415654" y="2901861"/>
            <a:ext cx="8433041" cy="5271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US" altLang="ja-JP" sz="2000" dirty="0">
                <a:solidFill>
                  <a:srgbClr val="002060"/>
                </a:solidFill>
              </a:rPr>
              <a:t>Means sum the </a:t>
            </a:r>
            <a:r>
              <a:rPr lang="en-US" altLang="ja-JP" sz="2000" dirty="0" err="1">
                <a:solidFill>
                  <a:srgbClr val="002060"/>
                </a:solidFill>
              </a:rPr>
              <a:t>i</a:t>
            </a:r>
            <a:r>
              <a:rPr lang="en-US" altLang="ja-JP" sz="2000" baseline="30000" dirty="0" err="1">
                <a:solidFill>
                  <a:srgbClr val="002060"/>
                </a:solidFill>
              </a:rPr>
              <a:t>th</a:t>
            </a:r>
            <a:r>
              <a:rPr lang="en-US" altLang="ja-JP" sz="2000" dirty="0">
                <a:solidFill>
                  <a:srgbClr val="002060"/>
                </a:solidFill>
              </a:rPr>
              <a:t> row</a:t>
            </a:r>
            <a:endParaRPr lang="en-US" altLang="ja-JP" sz="2000" b="1" i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 Placeholder 5">
                <a:extLst>
                  <a:ext uri="{FF2B5EF4-FFF2-40B4-BE49-F238E27FC236}">
                    <a16:creationId xmlns:a16="http://schemas.microsoft.com/office/drawing/2014/main" id="{43D425E8-9733-4980-BAFB-2DDEF85EC15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62789" y="3649004"/>
                <a:ext cx="9245486" cy="115418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NZ" altLang="ja-JP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</m:sub>
                      </m:sSub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≡</m:t>
                      </m:r>
                      <m:nary>
                        <m:naryPr>
                          <m:chr m:val="∑"/>
                          <m:ctrlPr>
                            <a:rPr lang="en-US" altLang="ja-JP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  <m:e>
                          <m:sSub>
                            <m:sSubPr>
                              <m:ctrlP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2,</m:t>
                              </m:r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=  </m:t>
                      </m:r>
                      <m:sSub>
                        <m:sSubPr>
                          <m:ctrlP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2,1</m:t>
                          </m:r>
                        </m:sub>
                      </m:sSub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+</m:t>
                      </m:r>
                      <m:sSub>
                        <m:sSubPr>
                          <m:ctrlP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</m:t>
                          </m:r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+</m:t>
                      </m:r>
                      <m:sSub>
                        <m:sSubPr>
                          <m:ctrlP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</m:t>
                          </m:r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+</m:t>
                      </m:r>
                      <m:sSub>
                        <m:sSubPr>
                          <m:ctrlP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</m:t>
                          </m:r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 5+6+7+8=26</m:t>
                      </m:r>
                    </m:oMath>
                  </m:oMathPara>
                </a14:m>
                <a:endParaRPr lang="en-US" altLang="ja-JP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Text Placeholder 5">
                <a:extLst>
                  <a:ext uri="{FF2B5EF4-FFF2-40B4-BE49-F238E27FC236}">
                    <a16:creationId xmlns:a16="http://schemas.microsoft.com/office/drawing/2014/main" id="{43D425E8-9733-4980-BAFB-2DDEF85EC1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789" y="3649004"/>
                <a:ext cx="9245486" cy="11541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 Placeholder 5">
                <a:extLst>
                  <a:ext uri="{FF2B5EF4-FFF2-40B4-BE49-F238E27FC236}">
                    <a16:creationId xmlns:a16="http://schemas.microsoft.com/office/drawing/2014/main" id="{8CC66D56-579E-4B7B-99EC-4A8B0FCCB4A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62789" y="4748638"/>
                <a:ext cx="1752865" cy="115418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NZ" altLang="ja-JP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NZ" altLang="ja-JP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NZ" altLang="ja-JP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</m:sub>
                      </m:sSub>
                      <m:r>
                        <a:rPr lang="en-NZ" altLang="ja-JP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lit/>
                        </m:rPr>
                        <a:rPr lang="en-NZ" altLang="ja-JP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NZ" altLang="ja-JP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r>
                        <a:rPr lang="en-NZ" altLang="ja-JP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ctrlPr>
                            <a:rPr lang="en-US" altLang="ja-JP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NZ" altLang="ja-JP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NZ" altLang="ja-JP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NZ" altLang="ja-JP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  <m:e>
                          <m:sSub>
                            <m:sSubPr>
                              <m:ctrlPr>
                                <a:rPr lang="en-NZ" altLang="ja-JP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NZ" altLang="ja-JP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3,</m:t>
                              </m:r>
                              <m:r>
                                <a:rPr lang="en-NZ" altLang="ja-JP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ja-JP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Text Placeholder 5">
                <a:extLst>
                  <a:ext uri="{FF2B5EF4-FFF2-40B4-BE49-F238E27FC236}">
                    <a16:creationId xmlns:a16="http://schemas.microsoft.com/office/drawing/2014/main" id="{8CC66D56-579E-4B7B-99EC-4A8B0FCCB4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789" y="4748638"/>
                <a:ext cx="1752865" cy="115418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FA2D7EA0-3020-420C-9839-C0F4F3447736}"/>
              </a:ext>
            </a:extLst>
          </p:cNvPr>
          <p:cNvSpPr txBox="1">
            <a:spLocks/>
          </p:cNvSpPr>
          <p:nvPr/>
        </p:nvSpPr>
        <p:spPr>
          <a:xfrm>
            <a:off x="7002786" y="4770978"/>
            <a:ext cx="4121624" cy="50443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altLang="ja-JP" sz="2000" dirty="0">
                <a:solidFill>
                  <a:srgbClr val="FF0000"/>
                </a:solidFill>
              </a:rPr>
              <a:t>How do we write the sum of the first row in dot notation?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Placeholder 5">
                <a:extLst>
                  <a:ext uri="{FF2B5EF4-FFF2-40B4-BE49-F238E27FC236}">
                    <a16:creationId xmlns:a16="http://schemas.microsoft.com/office/drawing/2014/main" id="{3173E925-B64B-7421-441A-C777E39C400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360554" y="5031115"/>
                <a:ext cx="3999303" cy="734551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   </m:t>
                      </m:r>
                      <m:sSub>
                        <m:sSubPr>
                          <m:ctrlPr>
                            <a:rPr lang="en-NZ" altLang="ja-JP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</m:sSub>
                      <m:r>
                        <a:rPr lang="en-NZ" altLang="ja-JP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+</m:t>
                      </m:r>
                      <m:sSub>
                        <m:sSubPr>
                          <m:ctrlP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,2</m:t>
                          </m:r>
                        </m:sub>
                      </m:sSub>
                      <m:r>
                        <a:rPr lang="en-NZ" altLang="ja-JP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+</m:t>
                      </m:r>
                      <m:sSub>
                        <m:sSubPr>
                          <m:ctrlP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,3</m:t>
                          </m:r>
                        </m:sub>
                      </m:sSub>
                      <m:r>
                        <a:rPr lang="en-NZ" altLang="ja-JP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+</m:t>
                      </m:r>
                      <m:sSub>
                        <m:sSubPr>
                          <m:ctrlP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,4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NZ" altLang="ja-JP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 </m:t>
                      </m:r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9     +10   +11  +12 </m:t>
                      </m:r>
                      <m:r>
                        <a:rPr lang="en-NZ" altLang="ja-JP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42</m:t>
                      </m:r>
                    </m:oMath>
                  </m:oMathPara>
                </a14:m>
                <a:endParaRPr lang="en-US" altLang="ja-JP" sz="2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Text Placeholder 5">
                <a:extLst>
                  <a:ext uri="{FF2B5EF4-FFF2-40B4-BE49-F238E27FC236}">
                    <a16:creationId xmlns:a16="http://schemas.microsoft.com/office/drawing/2014/main" id="{3173E925-B64B-7421-441A-C777E39C40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0554" y="5031115"/>
                <a:ext cx="3999303" cy="73455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 Placeholder 5">
                <a:extLst>
                  <a:ext uri="{FF2B5EF4-FFF2-40B4-BE49-F238E27FC236}">
                    <a16:creationId xmlns:a16="http://schemas.microsoft.com/office/drawing/2014/main" id="{B802A5D3-C3F4-0CC2-543E-ECA2DBB9E3A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057622" y="5398390"/>
                <a:ext cx="1752865" cy="115418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NZ" altLang="ja-JP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</m:sub>
                      </m:sSub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lit/>
                        </m:rP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r>
                        <a:rPr lang="en-NZ" altLang="ja-JP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ctrlPr>
                            <a:rPr lang="en-US" altLang="ja-JP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  <m:e>
                          <m:sSub>
                            <m:sSubPr>
                              <m:ctrlP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ja-JP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Text Placeholder 5">
                <a:extLst>
                  <a:ext uri="{FF2B5EF4-FFF2-40B4-BE49-F238E27FC236}">
                    <a16:creationId xmlns:a16="http://schemas.microsoft.com/office/drawing/2014/main" id="{B802A5D3-C3F4-0CC2-543E-ECA2DBB9E3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7622" y="5398390"/>
                <a:ext cx="1752865" cy="115418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7448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3" grpId="0"/>
      <p:bldP spid="17" grpId="0"/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6733"/>
            <a:ext cx="2185386" cy="741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4AD89C-DF1E-4948-B597-5DD47B34A9CA}" type="slidenum">
              <a:rPr kumimoji="1" lang="ja-JP" altLang="en-US" smtClean="0">
                <a:solidFill>
                  <a:srgbClr val="575454">
                    <a:lumMod val="20000"/>
                    <a:lumOff val="80000"/>
                  </a:srgbClr>
                </a:solidFill>
                <a:latin typeface="Coo Hew"/>
              </a:rPr>
              <a:pPr/>
              <a:t>14</a:t>
            </a:fld>
            <a:endParaRPr kumimoji="1" lang="ja-JP" altLang="en-US" dirty="0">
              <a:solidFill>
                <a:srgbClr val="575454">
                  <a:lumMod val="20000"/>
                  <a:lumOff val="80000"/>
                </a:srgbClr>
              </a:solidFill>
              <a:latin typeface="Coo Hew"/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65B06D6C-CCB3-4D8F-9171-6B4779FED53B}"/>
              </a:ext>
            </a:extLst>
          </p:cNvPr>
          <p:cNvSpPr txBox="1">
            <a:spLocks/>
          </p:cNvSpPr>
          <p:nvPr/>
        </p:nvSpPr>
        <p:spPr>
          <a:xfrm>
            <a:off x="319463" y="1050542"/>
            <a:ext cx="11553074" cy="60720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US" altLang="ja-JP" sz="2000" dirty="0">
                <a:solidFill>
                  <a:schemeClr val="tx1"/>
                </a:solidFill>
              </a:rPr>
              <a:t>Suppose that we have </a:t>
            </a:r>
            <a:r>
              <a:rPr lang="en-US" altLang="ja-JP" sz="2000" b="1" i="1" dirty="0">
                <a:solidFill>
                  <a:schemeClr val="tx1"/>
                </a:solidFill>
              </a:rPr>
              <a:t>N</a:t>
            </a:r>
            <a:r>
              <a:rPr lang="en-US" altLang="ja-JP" sz="2000" dirty="0">
                <a:solidFill>
                  <a:schemeClr val="tx1"/>
                </a:solidFill>
              </a:rPr>
              <a:t> observations that can be grouped into </a:t>
            </a:r>
            <a:r>
              <a:rPr lang="en-US" altLang="ja-JP" sz="2000" b="1" i="1" dirty="0">
                <a:solidFill>
                  <a:schemeClr val="tx1"/>
                </a:solidFill>
              </a:rPr>
              <a:t>r</a:t>
            </a:r>
            <a:r>
              <a:rPr lang="en-US" altLang="ja-JP" sz="2000" dirty="0">
                <a:solidFill>
                  <a:schemeClr val="tx1"/>
                </a:solidFill>
              </a:rPr>
              <a:t> rows and </a:t>
            </a:r>
            <a:r>
              <a:rPr lang="en-US" altLang="ja-JP" sz="2000" b="1" i="1" dirty="0">
                <a:solidFill>
                  <a:schemeClr val="tx1"/>
                </a:solidFill>
              </a:rPr>
              <a:t>c</a:t>
            </a:r>
            <a:r>
              <a:rPr lang="en-US" altLang="ja-JP" sz="2000" dirty="0">
                <a:solidFill>
                  <a:schemeClr val="tx1"/>
                </a:solidFill>
              </a:rPr>
              <a:t> columns (</a:t>
            </a:r>
            <a:r>
              <a:rPr lang="en-US" altLang="ja-JP" sz="2000" b="1" i="1" dirty="0">
                <a:solidFill>
                  <a:schemeClr val="tx1"/>
                </a:solidFill>
              </a:rPr>
              <a:t>N = </a:t>
            </a:r>
            <a:r>
              <a:rPr lang="en-US" altLang="ja-JP" sz="2000" b="1" i="1" dirty="0" err="1">
                <a:solidFill>
                  <a:schemeClr val="tx1"/>
                </a:solidFill>
              </a:rPr>
              <a:t>rc</a:t>
            </a:r>
            <a:r>
              <a:rPr lang="en-US" altLang="ja-JP" sz="2000" dirty="0">
                <a:solidFill>
                  <a:schemeClr val="tx1"/>
                </a:solidFill>
              </a:rPr>
              <a:t>).</a:t>
            </a:r>
            <a:endParaRPr lang="en-US" altLang="ja-JP" sz="2000" b="1" i="1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281044D1-CDA5-4D0B-AE06-D330F2B8865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1543445"/>
                <a:ext cx="12192000" cy="13157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𝒀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  <m: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𝒀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  <m: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𝒀</m:t>
                                          </m:r>
                                        </m:e>
                                        <m:sub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  <m: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𝒀</m:t>
                                          </m:r>
                                        </m:e>
                                        <m:sub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  <m: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𝒀</m:t>
                                          </m:r>
                                        </m:e>
                                        <m:sub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  <m: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𝒀</m:t>
                                          </m:r>
                                        </m:e>
                                        <m:sub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  <m: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 = 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sz="20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sz="20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NZ" altLang="ja-JP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n-NZ" altLang="ja-JP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e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𝟒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lang="en-NZ" altLang="ja-JP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e>
                              <m:e>
                                <m:r>
                                  <a:rPr lang="en-NZ" altLang="ja-JP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𝟕</m:t>
                                      </m:r>
                                    </m:e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𝟖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lang="en-NZ" altLang="ja-JP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</m:e>
                              <m:e>
                                <m:r>
                                  <a:rPr lang="en-NZ" altLang="ja-JP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𝟏𝟎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𝟏𝟏</m:t>
                                      </m:r>
                                    </m:e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𝟏𝟐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ja-JP" sz="2000" b="1" i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281044D1-CDA5-4D0B-AE06-D330F2B886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543445"/>
                <a:ext cx="12192000" cy="131571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Placeholder 5">
                <a:extLst>
                  <a:ext uri="{FF2B5EF4-FFF2-40B4-BE49-F238E27FC236}">
                    <a16:creationId xmlns:a16="http://schemas.microsoft.com/office/drawing/2014/main" id="{895C119D-B8FB-45C6-91ED-D2576584A0F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4150" y="2908202"/>
                <a:ext cx="1807632" cy="115418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NZ" altLang="ja-JP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NZ" altLang="ja-JP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NZ" altLang="ja-JP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NZ" altLang="ja-JP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NZ" altLang="ja-JP" sz="20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≡</m:t>
                      </m:r>
                      <m:nary>
                        <m:naryPr>
                          <m:chr m:val="∑"/>
                          <m:ctrlPr>
                            <a:rPr lang="en-US" altLang="ja-JP" sz="20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NZ" altLang="ja-JP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NZ" altLang="ja-JP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NZ" altLang="ja-JP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  <m:e>
                          <m:sSub>
                            <m:sSubPr>
                              <m:ctrlPr>
                                <a:rPr lang="en-NZ" altLang="ja-JP" sz="20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20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NZ" altLang="ja-JP" sz="20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NZ" altLang="ja-JP" sz="20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NZ" altLang="ja-JP" sz="20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ja-JP" sz="20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Text Placeholder 5">
                <a:extLst>
                  <a:ext uri="{FF2B5EF4-FFF2-40B4-BE49-F238E27FC236}">
                    <a16:creationId xmlns:a16="http://schemas.microsoft.com/office/drawing/2014/main" id="{895C119D-B8FB-45C6-91ED-D2576584A0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150" y="2908202"/>
                <a:ext cx="1807632" cy="11541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8AFE2AC4-117F-4A7C-89A6-3B83DE32A501}"/>
              </a:ext>
            </a:extLst>
          </p:cNvPr>
          <p:cNvSpPr txBox="1">
            <a:spLocks/>
          </p:cNvSpPr>
          <p:nvPr/>
        </p:nvSpPr>
        <p:spPr>
          <a:xfrm>
            <a:off x="2388535" y="3181694"/>
            <a:ext cx="8378273" cy="5271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US" altLang="ja-JP" sz="2000" dirty="0">
                <a:solidFill>
                  <a:srgbClr val="002060"/>
                </a:solidFill>
              </a:rPr>
              <a:t>Means sum the </a:t>
            </a:r>
            <a:r>
              <a:rPr lang="en-US" altLang="ja-JP" sz="2000" dirty="0" err="1">
                <a:solidFill>
                  <a:srgbClr val="002060"/>
                </a:solidFill>
              </a:rPr>
              <a:t>j</a:t>
            </a:r>
            <a:r>
              <a:rPr lang="en-US" altLang="ja-JP" sz="2000" baseline="30000" dirty="0" err="1">
                <a:solidFill>
                  <a:srgbClr val="002060"/>
                </a:solidFill>
              </a:rPr>
              <a:t>th</a:t>
            </a:r>
            <a:r>
              <a:rPr lang="en-US" altLang="ja-JP" sz="2000" dirty="0">
                <a:solidFill>
                  <a:srgbClr val="002060"/>
                </a:solidFill>
              </a:rPr>
              <a:t> column</a:t>
            </a:r>
            <a:endParaRPr lang="en-US" altLang="ja-JP" sz="2000" b="1" i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EF6503A9-30EB-4347-95DC-254D54001CD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80902" y="3928837"/>
                <a:ext cx="9245486" cy="115418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NZ" altLang="ja-JP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NZ" altLang="ja-JP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≡</m:t>
                      </m:r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ctrlPr>
                            <a:rPr lang="en-US" altLang="ja-JP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sSub>
                            <m:sSubPr>
                              <m:ctrlP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,3</m:t>
                              </m:r>
                            </m:sub>
                          </m:sSub>
                        </m:e>
                      </m:nary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=  </m:t>
                      </m:r>
                      <m:sSub>
                        <m:sSubPr>
                          <m:ctrlP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1,3</m:t>
                          </m:r>
                        </m:sub>
                      </m:sSub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+</m:t>
                      </m:r>
                      <m:sSub>
                        <m:sSubPr>
                          <m:ctrlP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</m:t>
                          </m:r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+</m:t>
                      </m:r>
                      <m:sSub>
                        <m:sSubPr>
                          <m:ctrlP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=  3+7+11=21</m:t>
                      </m:r>
                    </m:oMath>
                  </m:oMathPara>
                </a14:m>
                <a:endParaRPr lang="en-US" altLang="ja-JP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EF6503A9-30EB-4347-95DC-254D54001C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902" y="3928837"/>
                <a:ext cx="9245486" cy="115418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A67153F2-D2EE-4217-8016-3C6C80CAD7E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80902" y="5028471"/>
                <a:ext cx="2394310" cy="115418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NZ" altLang="ja-JP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NZ" altLang="ja-JP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NZ" altLang="ja-JP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NZ" altLang="ja-JP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NZ" altLang="ja-JP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≡</m:t>
                      </m:r>
                      <m:nary>
                        <m:naryPr>
                          <m:chr m:val="∑"/>
                          <m:ctrlPr>
                            <a:rPr lang="en-US" altLang="ja-JP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NZ" altLang="ja-JP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NZ" altLang="ja-JP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NZ" altLang="ja-JP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sSub>
                            <m:sSubPr>
                              <m:ctrlPr>
                                <a:rPr lang="en-NZ" altLang="ja-JP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NZ" altLang="ja-JP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NZ" altLang="ja-JP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,1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ja-JP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A67153F2-D2EE-4217-8016-3C6C80CAD7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902" y="5028471"/>
                <a:ext cx="2394310" cy="11541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E85C71AE-0BC2-45D8-88F6-EFAB882C08FF}"/>
              </a:ext>
            </a:extLst>
          </p:cNvPr>
          <p:cNvSpPr txBox="1">
            <a:spLocks/>
          </p:cNvSpPr>
          <p:nvPr/>
        </p:nvSpPr>
        <p:spPr>
          <a:xfrm>
            <a:off x="6810231" y="5062339"/>
            <a:ext cx="4106701" cy="50443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altLang="ja-JP" sz="2000" dirty="0">
                <a:solidFill>
                  <a:srgbClr val="FF0000"/>
                </a:solidFill>
              </a:rPr>
              <a:t>How do we write the sum of the fourth column in dot notation?</a:t>
            </a:r>
          </a:p>
        </p:txBody>
      </p:sp>
      <p:sp>
        <p:nvSpPr>
          <p:cNvPr id="15" name="Title 6">
            <a:extLst>
              <a:ext uri="{FF2B5EF4-FFF2-40B4-BE49-F238E27FC236}">
                <a16:creationId xmlns:a16="http://schemas.microsoft.com/office/drawing/2014/main" id="{AD57DE93-06E9-46C3-9E10-E254A8D6A875}"/>
              </a:ext>
            </a:extLst>
          </p:cNvPr>
          <p:cNvSpPr txBox="1">
            <a:spLocks/>
          </p:cNvSpPr>
          <p:nvPr/>
        </p:nvSpPr>
        <p:spPr>
          <a:xfrm>
            <a:off x="319463" y="310113"/>
            <a:ext cx="8168429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b="1" u="sng" dirty="0">
                <a:latin typeface="+mn-lt"/>
              </a:rPr>
              <a:t>1.2b - Dot Notation for Column Sums:</a:t>
            </a:r>
            <a:endParaRPr lang="ja-JP" altLang="en-US" b="1" u="sng" dirty="0">
              <a:latin typeface="+mn-lt"/>
            </a:endParaRPr>
          </a:p>
        </p:txBody>
      </p:sp>
      <p:sp>
        <p:nvSpPr>
          <p:cNvPr id="18" name="Footer Placeholder 2">
            <a:extLst>
              <a:ext uri="{FF2B5EF4-FFF2-40B4-BE49-F238E27FC236}">
                <a16:creationId xmlns:a16="http://schemas.microsoft.com/office/drawing/2014/main" id="{6927375D-29DA-0325-C3BF-4A385EC5ED36}"/>
              </a:ext>
            </a:extLst>
          </p:cNvPr>
          <p:cNvSpPr txBox="1">
            <a:spLocks/>
          </p:cNvSpPr>
          <p:nvPr/>
        </p:nvSpPr>
        <p:spPr>
          <a:xfrm>
            <a:off x="9444251" y="86139"/>
            <a:ext cx="2645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1600" dirty="0">
                <a:solidFill>
                  <a:srgbClr val="DEDDDD"/>
                </a:solidFill>
                <a:latin typeface="Gidole"/>
              </a:rPr>
              <a:t>1.2 - Bar-Dot Notation</a:t>
            </a:r>
            <a:endParaRPr kumimoji="1" lang="ja-JP" altLang="en-US" sz="1600" dirty="0">
              <a:solidFill>
                <a:srgbClr val="DEDDDD"/>
              </a:solidFill>
              <a:latin typeface="Gidol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Placeholder 5">
                <a:extLst>
                  <a:ext uri="{FF2B5EF4-FFF2-40B4-BE49-F238E27FC236}">
                    <a16:creationId xmlns:a16="http://schemas.microsoft.com/office/drawing/2014/main" id="{3BCD3180-7243-82FC-CA36-14C4C4DE8E6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328284" y="5292834"/>
                <a:ext cx="3282690" cy="879963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+</m:t>
                      </m:r>
                      <m:sSub>
                        <m:sSubPr>
                          <m:ctrlP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</m:t>
                          </m:r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+</m:t>
                      </m:r>
                      <m:sSub>
                        <m:sSubPr>
                          <m:ctrlP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</m:oMath>
                    <m:oMath xmlns:m="http://schemas.openxmlformats.org/officeDocument/2006/math"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 1    +5     +9     =15</m:t>
                      </m:r>
                    </m:oMath>
                  </m:oMathPara>
                </a14:m>
                <a:endParaRPr lang="en-US" altLang="ja-JP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Text Placeholder 5">
                <a:extLst>
                  <a:ext uri="{FF2B5EF4-FFF2-40B4-BE49-F238E27FC236}">
                    <a16:creationId xmlns:a16="http://schemas.microsoft.com/office/drawing/2014/main" id="{3BCD3180-7243-82FC-CA36-14C4C4DE8E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8284" y="5292834"/>
                <a:ext cx="3282690" cy="87996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Placeholder 5">
                <a:extLst>
                  <a:ext uri="{FF2B5EF4-FFF2-40B4-BE49-F238E27FC236}">
                    <a16:creationId xmlns:a16="http://schemas.microsoft.com/office/drawing/2014/main" id="{289B598F-2A0B-7A10-D447-ED44C15A6B0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641002" y="5679090"/>
                <a:ext cx="2185386" cy="115418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NZ" altLang="ja-JP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NZ" altLang="ja-JP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≡</m:t>
                      </m:r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ctrlPr>
                            <a:rPr lang="en-US" altLang="ja-JP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sSub>
                            <m:sSubPr>
                              <m:ctrlP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,4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ja-JP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Text Placeholder 5">
                <a:extLst>
                  <a:ext uri="{FF2B5EF4-FFF2-40B4-BE49-F238E27FC236}">
                    <a16:creationId xmlns:a16="http://schemas.microsoft.com/office/drawing/2014/main" id="{289B598F-2A0B-7A10-D447-ED44C15A6B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1002" y="5679090"/>
                <a:ext cx="2185386" cy="115418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359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6" grpId="0"/>
      <p:bldP spid="1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6733"/>
            <a:ext cx="2185386" cy="741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4AD89C-DF1E-4948-B597-5DD47B34A9CA}" type="slidenum">
              <a:rPr kumimoji="1" lang="ja-JP" altLang="en-US" smtClean="0">
                <a:solidFill>
                  <a:srgbClr val="575454">
                    <a:lumMod val="20000"/>
                    <a:lumOff val="80000"/>
                  </a:srgbClr>
                </a:solidFill>
                <a:latin typeface="Coo Hew"/>
              </a:rPr>
              <a:pPr/>
              <a:t>15</a:t>
            </a:fld>
            <a:endParaRPr kumimoji="1" lang="ja-JP" altLang="en-US" dirty="0">
              <a:solidFill>
                <a:srgbClr val="575454">
                  <a:lumMod val="20000"/>
                  <a:lumOff val="80000"/>
                </a:srgbClr>
              </a:solidFill>
              <a:latin typeface="Coo Hew"/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65B06D6C-CCB3-4D8F-9171-6B4779FED53B}"/>
              </a:ext>
            </a:extLst>
          </p:cNvPr>
          <p:cNvSpPr txBox="1">
            <a:spLocks/>
          </p:cNvSpPr>
          <p:nvPr/>
        </p:nvSpPr>
        <p:spPr>
          <a:xfrm>
            <a:off x="319463" y="1050542"/>
            <a:ext cx="11553074" cy="60720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US" altLang="ja-JP" sz="2000" dirty="0">
                <a:solidFill>
                  <a:schemeClr val="tx1"/>
                </a:solidFill>
              </a:rPr>
              <a:t>Suppose that we have </a:t>
            </a:r>
            <a:r>
              <a:rPr lang="en-US" altLang="ja-JP" sz="2000" b="1" i="1" dirty="0">
                <a:solidFill>
                  <a:schemeClr val="tx1"/>
                </a:solidFill>
              </a:rPr>
              <a:t>N</a:t>
            </a:r>
            <a:r>
              <a:rPr lang="en-US" altLang="ja-JP" sz="2000" dirty="0">
                <a:solidFill>
                  <a:schemeClr val="tx1"/>
                </a:solidFill>
              </a:rPr>
              <a:t> observations that can be grouped into </a:t>
            </a:r>
            <a:r>
              <a:rPr lang="en-US" altLang="ja-JP" sz="2000" b="1" i="1" dirty="0">
                <a:solidFill>
                  <a:schemeClr val="tx1"/>
                </a:solidFill>
              </a:rPr>
              <a:t>r</a:t>
            </a:r>
            <a:r>
              <a:rPr lang="en-US" altLang="ja-JP" sz="2000" dirty="0">
                <a:solidFill>
                  <a:schemeClr val="tx1"/>
                </a:solidFill>
              </a:rPr>
              <a:t> rows and </a:t>
            </a:r>
            <a:r>
              <a:rPr lang="en-US" altLang="ja-JP" sz="2000" b="1" i="1" dirty="0">
                <a:solidFill>
                  <a:schemeClr val="tx1"/>
                </a:solidFill>
              </a:rPr>
              <a:t>c</a:t>
            </a:r>
            <a:r>
              <a:rPr lang="en-US" altLang="ja-JP" sz="2000" dirty="0">
                <a:solidFill>
                  <a:schemeClr val="tx1"/>
                </a:solidFill>
              </a:rPr>
              <a:t> columns (</a:t>
            </a:r>
            <a:r>
              <a:rPr lang="en-US" altLang="ja-JP" sz="2000" b="1" i="1" dirty="0">
                <a:solidFill>
                  <a:schemeClr val="tx1"/>
                </a:solidFill>
              </a:rPr>
              <a:t>N = </a:t>
            </a:r>
            <a:r>
              <a:rPr lang="en-US" altLang="ja-JP" sz="2000" b="1" i="1" dirty="0" err="1">
                <a:solidFill>
                  <a:schemeClr val="tx1"/>
                </a:solidFill>
              </a:rPr>
              <a:t>rc</a:t>
            </a:r>
            <a:r>
              <a:rPr lang="en-US" altLang="ja-JP" sz="2000" dirty="0">
                <a:solidFill>
                  <a:schemeClr val="tx1"/>
                </a:solidFill>
              </a:rPr>
              <a:t>).</a:t>
            </a:r>
            <a:endParaRPr lang="en-US" altLang="ja-JP" sz="2000" b="1" i="1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281044D1-CDA5-4D0B-AE06-D330F2B8865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1543445"/>
                <a:ext cx="12192000" cy="13157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𝒀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  <m: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𝒀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  <m: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𝒀</m:t>
                                          </m:r>
                                        </m:e>
                                        <m:sub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  <m: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𝒀</m:t>
                                          </m:r>
                                        </m:e>
                                        <m:sub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  <m: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𝒀</m:t>
                                          </m:r>
                                        </m:e>
                                        <m:sub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  <m: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𝒀</m:t>
                                          </m:r>
                                        </m:e>
                                        <m:sub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  <m: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 = 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sz="20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sz="20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NZ" altLang="ja-JP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n-NZ" altLang="ja-JP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e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𝟒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lang="en-NZ" altLang="ja-JP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e>
                              <m:e>
                                <m:r>
                                  <a:rPr lang="en-NZ" altLang="ja-JP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𝟕</m:t>
                                      </m:r>
                                    </m:e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𝟖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lang="en-NZ" altLang="ja-JP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</m:e>
                              <m:e>
                                <m:r>
                                  <a:rPr lang="en-NZ" altLang="ja-JP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𝟏𝟎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𝟏𝟏</m:t>
                                      </m:r>
                                    </m:e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𝟏𝟐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ja-JP" sz="2000" b="1" i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281044D1-CDA5-4D0B-AE06-D330F2B886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543445"/>
                <a:ext cx="12192000" cy="131571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Placeholder 5">
                <a:extLst>
                  <a:ext uri="{FF2B5EF4-FFF2-40B4-BE49-F238E27FC236}">
                    <a16:creationId xmlns:a16="http://schemas.microsoft.com/office/drawing/2014/main" id="{895C119D-B8FB-45C6-91ED-D2576584A0F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4150" y="2908202"/>
                <a:ext cx="5800298" cy="115418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NZ" altLang="ja-JP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NZ" altLang="ja-JP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NZ" altLang="ja-JP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 ∙</m:t>
                          </m:r>
                        </m:sub>
                      </m:sSub>
                      <m:r>
                        <a:rPr lang="en-NZ" altLang="ja-JP" sz="20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≡</m:t>
                      </m:r>
                      <m:nary>
                        <m:naryPr>
                          <m:chr m:val="∑"/>
                          <m:ctrlPr>
                            <a:rPr lang="en-US" altLang="ja-JP" sz="20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NZ" altLang="ja-JP" sz="20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NZ" altLang="ja-JP" sz="20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NZ" altLang="ja-JP" sz="20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ja-JP" sz="20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NZ" altLang="ja-JP" sz="20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NZ" altLang="ja-JP" sz="20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NZ" altLang="ja-JP" sz="20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NZ" altLang="ja-JP" sz="20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20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NZ" altLang="ja-JP" sz="20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NZ" altLang="ja-JP" sz="20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NZ" altLang="ja-JP" sz="20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  <m:r>
                            <a:rPr lang="en-NZ" altLang="ja-JP" sz="20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</m:e>
                      </m:nary>
                      <m:r>
                        <a:rPr lang="en-NZ" altLang="ja-JP" sz="20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US" altLang="ja-JP" sz="20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NZ" altLang="ja-JP" sz="20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NZ" altLang="ja-JP" sz="20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NZ" altLang="ja-JP" sz="20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  <m:e>
                          <m:sSub>
                            <m:sSubPr>
                              <m:ctrlPr>
                                <a:rPr lang="en-NZ" altLang="ja-JP" sz="20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20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NZ" altLang="ja-JP" sz="20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NZ" altLang="ja-JP" sz="20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</m:sub>
                          </m:sSub>
                          <m:r>
                            <a:rPr lang="en-NZ" altLang="ja-JP" sz="20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</m:e>
                      </m:nary>
                      <m:r>
                        <a:rPr lang="en-NZ" altLang="ja-JP" sz="20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nary>
                        <m:naryPr>
                          <m:chr m:val="∑"/>
                          <m:ctrlPr>
                            <a:rPr lang="en-US" altLang="ja-JP" sz="20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NZ" altLang="ja-JP" sz="20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NZ" altLang="ja-JP" sz="20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NZ" altLang="ja-JP" sz="20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p>
                        <m:e>
                          <m:sSub>
                            <m:sSubPr>
                              <m:ctrlPr>
                                <a:rPr lang="en-NZ" altLang="ja-JP" sz="20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20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NZ" altLang="ja-JP" sz="20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NZ" altLang="ja-JP" sz="20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ja-JP" sz="20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Text Placeholder 5">
                <a:extLst>
                  <a:ext uri="{FF2B5EF4-FFF2-40B4-BE49-F238E27FC236}">
                    <a16:creationId xmlns:a16="http://schemas.microsoft.com/office/drawing/2014/main" id="{895C119D-B8FB-45C6-91ED-D2576584A0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150" y="2908202"/>
                <a:ext cx="5800298" cy="11541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8AFE2AC4-117F-4A7C-89A6-3B83DE32A501}"/>
              </a:ext>
            </a:extLst>
          </p:cNvPr>
          <p:cNvSpPr txBox="1">
            <a:spLocks/>
          </p:cNvSpPr>
          <p:nvPr/>
        </p:nvSpPr>
        <p:spPr>
          <a:xfrm>
            <a:off x="5131736" y="3165430"/>
            <a:ext cx="5568110" cy="5271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US" altLang="ja-JP" sz="2000" dirty="0">
                <a:solidFill>
                  <a:srgbClr val="002060"/>
                </a:solidFill>
              </a:rPr>
              <a:t>Means sum all the elements of the matrix</a:t>
            </a:r>
            <a:endParaRPr lang="en-US" altLang="ja-JP" sz="2000" b="1" i="1" dirty="0">
              <a:solidFill>
                <a:srgbClr val="002060"/>
              </a:solidFill>
            </a:endParaRPr>
          </a:p>
        </p:txBody>
      </p:sp>
      <p:sp>
        <p:nvSpPr>
          <p:cNvPr id="15" name="Title 6">
            <a:extLst>
              <a:ext uri="{FF2B5EF4-FFF2-40B4-BE49-F238E27FC236}">
                <a16:creationId xmlns:a16="http://schemas.microsoft.com/office/drawing/2014/main" id="{AD57DE93-06E9-46C3-9E10-E254A8D6A875}"/>
              </a:ext>
            </a:extLst>
          </p:cNvPr>
          <p:cNvSpPr txBox="1">
            <a:spLocks/>
          </p:cNvSpPr>
          <p:nvPr/>
        </p:nvSpPr>
        <p:spPr>
          <a:xfrm>
            <a:off x="319463" y="310113"/>
            <a:ext cx="8168429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b="1" u="sng" dirty="0">
                <a:latin typeface="+mn-lt"/>
              </a:rPr>
              <a:t>1.2c - Dot Notation for Grand Sums:</a:t>
            </a:r>
            <a:endParaRPr lang="ja-JP" altLang="en-US" b="1" u="sng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Placeholder 5">
                <a:extLst>
                  <a:ext uri="{FF2B5EF4-FFF2-40B4-BE49-F238E27FC236}">
                    <a16:creationId xmlns:a16="http://schemas.microsoft.com/office/drawing/2014/main" id="{1DF63BCD-12C9-414E-A421-DE19B7AD279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4150" y="4686143"/>
                <a:ext cx="791569" cy="741267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NZ" altLang="ja-JP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NZ" altLang="ja-JP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NZ" altLang="ja-JP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∙∙</m:t>
                          </m:r>
                        </m:sub>
                      </m:sSub>
                      <m:r>
                        <a:rPr lang="en-NZ" altLang="ja-JP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NZ" altLang="ja-JP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US" altLang="ja-JP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Text Placeholder 5">
                <a:extLst>
                  <a:ext uri="{FF2B5EF4-FFF2-40B4-BE49-F238E27FC236}">
                    <a16:creationId xmlns:a16="http://schemas.microsoft.com/office/drawing/2014/main" id="{1DF63BCD-12C9-414E-A421-DE19B7AD27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150" y="4686143"/>
                <a:ext cx="791569" cy="74126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Footer Placeholder 2">
            <a:extLst>
              <a:ext uri="{FF2B5EF4-FFF2-40B4-BE49-F238E27FC236}">
                <a16:creationId xmlns:a16="http://schemas.microsoft.com/office/drawing/2014/main" id="{EBBB2544-A4DE-0431-AA6D-79664CC6538F}"/>
              </a:ext>
            </a:extLst>
          </p:cNvPr>
          <p:cNvSpPr txBox="1">
            <a:spLocks/>
          </p:cNvSpPr>
          <p:nvPr/>
        </p:nvSpPr>
        <p:spPr>
          <a:xfrm>
            <a:off x="9444251" y="86139"/>
            <a:ext cx="2645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1600" dirty="0">
                <a:solidFill>
                  <a:srgbClr val="DEDDDD"/>
                </a:solidFill>
                <a:latin typeface="Gidole"/>
              </a:rPr>
              <a:t>1.2 - Bar-Dot Notation</a:t>
            </a:r>
            <a:endParaRPr kumimoji="1" lang="ja-JP" altLang="en-US" sz="1600" dirty="0">
              <a:solidFill>
                <a:srgbClr val="DEDDDD"/>
              </a:solidFill>
              <a:latin typeface="Gidol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1D20AC5D-15BA-FD10-F00A-4928F912F73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63433" y="4793636"/>
                <a:ext cx="9503375" cy="37519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1+2+3+4 </m:t>
                          </m:r>
                        </m:e>
                      </m:d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+  </m:t>
                      </m:r>
                      <m:d>
                        <m:dPr>
                          <m:ctrlP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5+6+7+8</m:t>
                          </m:r>
                        </m:e>
                      </m:d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  </m:t>
                      </m:r>
                      <m:d>
                        <m:dPr>
                          <m:ctrlP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9+10+11+12</m:t>
                          </m:r>
                        </m:e>
                      </m:d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   78</m:t>
                      </m:r>
                    </m:oMath>
                  </m:oMathPara>
                </a14:m>
                <a:endParaRPr lang="en-US" altLang="ja-JP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1D20AC5D-15BA-FD10-F00A-4928F912F7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3433" y="4793636"/>
                <a:ext cx="9503375" cy="3751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0011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6733"/>
            <a:ext cx="2185386" cy="741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4AD89C-DF1E-4948-B597-5DD47B34A9CA}" type="slidenum">
              <a:rPr kumimoji="1" lang="ja-JP" altLang="en-US" smtClean="0">
                <a:solidFill>
                  <a:srgbClr val="575454">
                    <a:lumMod val="20000"/>
                    <a:lumOff val="80000"/>
                  </a:srgbClr>
                </a:solidFill>
                <a:latin typeface="Coo Hew"/>
              </a:rPr>
              <a:pPr/>
              <a:t>16</a:t>
            </a:fld>
            <a:endParaRPr kumimoji="1" lang="ja-JP" altLang="en-US" dirty="0">
              <a:solidFill>
                <a:srgbClr val="575454">
                  <a:lumMod val="20000"/>
                  <a:lumOff val="80000"/>
                </a:srgbClr>
              </a:solidFill>
              <a:latin typeface="Coo Hew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4F3E9ADB-6AEC-42EA-808B-5A433C8B4560}"/>
              </a:ext>
            </a:extLst>
          </p:cNvPr>
          <p:cNvSpPr txBox="1">
            <a:spLocks/>
          </p:cNvSpPr>
          <p:nvPr/>
        </p:nvSpPr>
        <p:spPr>
          <a:xfrm>
            <a:off x="319463" y="310113"/>
            <a:ext cx="8168429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b="1" u="sng" dirty="0">
                <a:latin typeface="+mn-lt"/>
              </a:rPr>
              <a:t>1.2d - Bar-Dot Notation for Row Means:</a:t>
            </a:r>
            <a:endParaRPr lang="ja-JP" altLang="en-US" b="1" u="sng" dirty="0">
              <a:latin typeface="+mn-lt"/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65B06D6C-CCB3-4D8F-9171-6B4779FED53B}"/>
              </a:ext>
            </a:extLst>
          </p:cNvPr>
          <p:cNvSpPr txBox="1">
            <a:spLocks/>
          </p:cNvSpPr>
          <p:nvPr/>
        </p:nvSpPr>
        <p:spPr>
          <a:xfrm>
            <a:off x="319463" y="1050542"/>
            <a:ext cx="11553074" cy="60720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US" altLang="ja-JP" sz="2000" dirty="0">
                <a:solidFill>
                  <a:schemeClr val="tx1"/>
                </a:solidFill>
              </a:rPr>
              <a:t>Suppose that we have </a:t>
            </a:r>
            <a:r>
              <a:rPr lang="en-US" altLang="ja-JP" sz="2000" b="1" i="1" dirty="0">
                <a:solidFill>
                  <a:schemeClr val="tx1"/>
                </a:solidFill>
              </a:rPr>
              <a:t>N</a:t>
            </a:r>
            <a:r>
              <a:rPr lang="en-US" altLang="ja-JP" sz="2000" dirty="0">
                <a:solidFill>
                  <a:schemeClr val="tx1"/>
                </a:solidFill>
              </a:rPr>
              <a:t> observations that can be grouped into </a:t>
            </a:r>
            <a:r>
              <a:rPr lang="en-US" altLang="ja-JP" sz="2000" b="1" i="1" dirty="0">
                <a:solidFill>
                  <a:schemeClr val="tx1"/>
                </a:solidFill>
              </a:rPr>
              <a:t>r</a:t>
            </a:r>
            <a:r>
              <a:rPr lang="en-US" altLang="ja-JP" sz="2000" dirty="0">
                <a:solidFill>
                  <a:schemeClr val="tx1"/>
                </a:solidFill>
              </a:rPr>
              <a:t> rows and </a:t>
            </a:r>
            <a:r>
              <a:rPr lang="en-US" altLang="ja-JP" sz="2000" b="1" i="1" dirty="0">
                <a:solidFill>
                  <a:schemeClr val="tx1"/>
                </a:solidFill>
              </a:rPr>
              <a:t>c</a:t>
            </a:r>
            <a:r>
              <a:rPr lang="en-US" altLang="ja-JP" sz="2000" dirty="0">
                <a:solidFill>
                  <a:schemeClr val="tx1"/>
                </a:solidFill>
              </a:rPr>
              <a:t> columns (</a:t>
            </a:r>
            <a:r>
              <a:rPr lang="en-US" altLang="ja-JP" sz="2000" b="1" i="1" dirty="0">
                <a:solidFill>
                  <a:schemeClr val="tx1"/>
                </a:solidFill>
              </a:rPr>
              <a:t>N = </a:t>
            </a:r>
            <a:r>
              <a:rPr lang="en-US" altLang="ja-JP" sz="2000" b="1" i="1" dirty="0" err="1">
                <a:solidFill>
                  <a:schemeClr val="tx1"/>
                </a:solidFill>
              </a:rPr>
              <a:t>rc</a:t>
            </a:r>
            <a:r>
              <a:rPr lang="en-US" altLang="ja-JP" sz="2000" dirty="0">
                <a:solidFill>
                  <a:schemeClr val="tx1"/>
                </a:solidFill>
              </a:rPr>
              <a:t>).</a:t>
            </a:r>
            <a:endParaRPr lang="en-US" altLang="ja-JP" sz="2000" b="1" i="1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281044D1-CDA5-4D0B-AE06-D330F2B8865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1543445"/>
                <a:ext cx="12192000" cy="13157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𝒀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  <m: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𝒀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  <m: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𝒀</m:t>
                                          </m:r>
                                        </m:e>
                                        <m:sub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  <m: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𝒀</m:t>
                                          </m:r>
                                        </m:e>
                                        <m:sub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  <m: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𝒀</m:t>
                                          </m:r>
                                        </m:e>
                                        <m:sub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  <m: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𝒀</m:t>
                                          </m:r>
                                        </m:e>
                                        <m:sub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  <m: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 = 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sz="20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sz="20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NZ" altLang="ja-JP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n-NZ" altLang="ja-JP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e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𝟒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lang="en-NZ" altLang="ja-JP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e>
                              <m:e>
                                <m:r>
                                  <a:rPr lang="en-NZ" altLang="ja-JP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𝟕</m:t>
                                      </m:r>
                                    </m:e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𝟖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lang="en-NZ" altLang="ja-JP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</m:e>
                              <m:e>
                                <m:r>
                                  <a:rPr lang="en-NZ" altLang="ja-JP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𝟏𝟎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𝟏𝟏</m:t>
                                      </m:r>
                                    </m:e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𝟏𝟐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ja-JP" sz="2000" b="1" i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281044D1-CDA5-4D0B-AE06-D330F2B886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543445"/>
                <a:ext cx="12192000" cy="131571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Placeholder 5">
                <a:extLst>
                  <a:ext uri="{FF2B5EF4-FFF2-40B4-BE49-F238E27FC236}">
                    <a16:creationId xmlns:a16="http://schemas.microsoft.com/office/drawing/2014/main" id="{BA9AD72C-C571-4453-8050-A0EC3E2D23A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12209" y="5004576"/>
                <a:ext cx="4995080" cy="115418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ja-JP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Text Placeholder 5">
                <a:extLst>
                  <a:ext uri="{FF2B5EF4-FFF2-40B4-BE49-F238E27FC236}">
                    <a16:creationId xmlns:a16="http://schemas.microsoft.com/office/drawing/2014/main" id="{BA9AD72C-C571-4453-8050-A0EC3E2D23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2209" y="5004576"/>
                <a:ext cx="4995080" cy="11541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Placeholder 5">
                <a:extLst>
                  <a:ext uri="{FF2B5EF4-FFF2-40B4-BE49-F238E27FC236}">
                    <a16:creationId xmlns:a16="http://schemas.microsoft.com/office/drawing/2014/main" id="{B72FB88B-C94D-4C7B-8DE7-B2C00A33731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96036" y="2628369"/>
                <a:ext cx="2047164" cy="115418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NZ" altLang="ja-JP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NZ" altLang="ja-JP" sz="20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NZ" altLang="ja-JP" sz="20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  <m:sub>
                          <m:r>
                            <a:rPr lang="en-NZ" altLang="ja-JP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NZ" altLang="ja-JP" sz="20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NZ" altLang="ja-JP" sz="20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≡ </m:t>
                      </m:r>
                      <m:f>
                        <m:fPr>
                          <m:ctrlPr>
                            <a:rPr lang="en-NZ" altLang="ja-JP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NZ" altLang="ja-JP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NZ" altLang="ja-JP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den>
                      </m:f>
                      <m:r>
                        <a:rPr lang="en-NZ" altLang="ja-JP" sz="20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ctrlPr>
                            <a:rPr lang="en-US" altLang="ja-JP" sz="20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NZ" altLang="ja-JP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NZ" altLang="ja-JP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NZ" altLang="ja-JP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p>
                        <m:e>
                          <m:sSub>
                            <m:sSubPr>
                              <m:ctrlPr>
                                <a:rPr lang="en-NZ" altLang="ja-JP" sz="20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20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NZ" altLang="ja-JP" sz="20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NZ" altLang="ja-JP" sz="20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NZ" altLang="ja-JP" sz="20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ja-JP" sz="20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6" name="Text Placeholder 5">
                <a:extLst>
                  <a:ext uri="{FF2B5EF4-FFF2-40B4-BE49-F238E27FC236}">
                    <a16:creationId xmlns:a16="http://schemas.microsoft.com/office/drawing/2014/main" id="{B72FB88B-C94D-4C7B-8DE7-B2C00A3373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036" y="2628369"/>
                <a:ext cx="2047164" cy="115418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7348011-9E4F-40CD-AB22-3130C895AD12}"/>
              </a:ext>
            </a:extLst>
          </p:cNvPr>
          <p:cNvSpPr txBox="1">
            <a:spLocks/>
          </p:cNvSpPr>
          <p:nvPr/>
        </p:nvSpPr>
        <p:spPr>
          <a:xfrm>
            <a:off x="2776447" y="2901861"/>
            <a:ext cx="8072248" cy="5271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US" altLang="ja-JP" sz="2000" dirty="0">
                <a:solidFill>
                  <a:srgbClr val="002060"/>
                </a:solidFill>
              </a:rPr>
              <a:t>Means take the average of the </a:t>
            </a:r>
            <a:r>
              <a:rPr lang="en-US" altLang="ja-JP" sz="2000" dirty="0" err="1">
                <a:solidFill>
                  <a:srgbClr val="002060"/>
                </a:solidFill>
              </a:rPr>
              <a:t>i</a:t>
            </a:r>
            <a:r>
              <a:rPr lang="en-US" altLang="ja-JP" sz="2000" baseline="30000" dirty="0" err="1">
                <a:solidFill>
                  <a:srgbClr val="002060"/>
                </a:solidFill>
              </a:rPr>
              <a:t>th</a:t>
            </a:r>
            <a:r>
              <a:rPr lang="en-US" altLang="ja-JP" sz="2000" dirty="0">
                <a:solidFill>
                  <a:srgbClr val="002060"/>
                </a:solidFill>
              </a:rPr>
              <a:t> row</a:t>
            </a:r>
            <a:endParaRPr lang="en-US" altLang="ja-JP" sz="2000" b="1" i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 Placeholder 5">
                <a:extLst>
                  <a:ext uri="{FF2B5EF4-FFF2-40B4-BE49-F238E27FC236}">
                    <a16:creationId xmlns:a16="http://schemas.microsoft.com/office/drawing/2014/main" id="{43D425E8-9733-4980-BAFB-2DDEF85EC15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62789" y="3649004"/>
                <a:ext cx="9245486" cy="115418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NZ" altLang="ja-JP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NZ" altLang="ja-JP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NZ" altLang="ja-JP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  <m:sub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NZ" altLang="ja-JP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 </m:t>
                      </m:r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ctrlPr>
                            <a:rPr lang="en-US" altLang="ja-JP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  <m:e>
                          <m:sSub>
                            <m:sSubPr>
                              <m:ctrlP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2,</m:t>
                              </m:r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=  </m:t>
                      </m:r>
                      <m:f>
                        <m:fPr>
                          <m:type m:val="lin"/>
                          <m:ctrlP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4 </m:t>
                          </m:r>
                        </m:den>
                      </m:f>
                      <m:d>
                        <m:dPr>
                          <m:ctrlP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2,1</m:t>
                              </m:r>
                            </m:sub>
                          </m:sSub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+</m:t>
                          </m:r>
                          <m:sSub>
                            <m:sSubPr>
                              <m:ctrlPr>
                                <a:rPr lang="en-NZ" altLang="ja-JP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NZ" altLang="ja-JP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2,</m:t>
                              </m:r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+</m:t>
                          </m:r>
                          <m:sSub>
                            <m:sSubPr>
                              <m:ctrlPr>
                                <a:rPr lang="en-NZ" altLang="ja-JP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NZ" altLang="ja-JP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2,</m:t>
                              </m:r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+</m:t>
                          </m:r>
                          <m:sSub>
                            <m:sSubPr>
                              <m:ctrlPr>
                                <a:rPr lang="en-NZ" altLang="ja-JP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NZ" altLang="ja-JP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2,</m:t>
                              </m:r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type m:val="lin"/>
                          <m:ctrlP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4 </m:t>
                          </m:r>
                        </m:den>
                      </m:f>
                      <m:d>
                        <m:dPr>
                          <m:ctrlP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5+6+7+8</m:t>
                          </m:r>
                        </m:e>
                      </m:d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 6.5</m:t>
                      </m:r>
                    </m:oMath>
                  </m:oMathPara>
                </a14:m>
                <a:endParaRPr lang="en-US" altLang="ja-JP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Text Placeholder 5">
                <a:extLst>
                  <a:ext uri="{FF2B5EF4-FFF2-40B4-BE49-F238E27FC236}">
                    <a16:creationId xmlns:a16="http://schemas.microsoft.com/office/drawing/2014/main" id="{43D425E8-9733-4980-BAFB-2DDEF85EC1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789" y="3649004"/>
                <a:ext cx="9245486" cy="11541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 Placeholder 5">
                <a:extLst>
                  <a:ext uri="{FF2B5EF4-FFF2-40B4-BE49-F238E27FC236}">
                    <a16:creationId xmlns:a16="http://schemas.microsoft.com/office/drawing/2014/main" id="{8CC66D56-579E-4B7B-99EC-4A8B0FCCB4A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62789" y="4748638"/>
                <a:ext cx="2113658" cy="115418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NZ" altLang="ja-JP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NZ" altLang="ja-JP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NZ" altLang="ja-JP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  <m:sub>
                          <m:r>
                            <a:rPr lang="en-NZ" altLang="ja-JP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NZ" altLang="ja-JP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NZ" altLang="ja-JP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r>
                        <a:rPr lang="en-NZ" altLang="ja-JP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NZ" altLang="ja-JP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NZ" altLang="ja-JP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NZ" altLang="ja-JP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NZ" altLang="ja-JP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ctrlPr>
                            <a:rPr lang="en-US" altLang="ja-JP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NZ" altLang="ja-JP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NZ" altLang="ja-JP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NZ" altLang="ja-JP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  <m:e>
                          <m:sSub>
                            <m:sSubPr>
                              <m:ctrlPr>
                                <a:rPr lang="en-NZ" altLang="ja-JP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NZ" altLang="ja-JP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3,</m:t>
                              </m:r>
                              <m:r>
                                <a:rPr lang="en-NZ" altLang="ja-JP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en-NZ" altLang="ja-JP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ja-JP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Text Placeholder 5">
                <a:extLst>
                  <a:ext uri="{FF2B5EF4-FFF2-40B4-BE49-F238E27FC236}">
                    <a16:creationId xmlns:a16="http://schemas.microsoft.com/office/drawing/2014/main" id="{8CC66D56-579E-4B7B-99EC-4A8B0FCCB4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789" y="4748638"/>
                <a:ext cx="2113658" cy="115418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FA2D7EA0-3020-420C-9839-C0F4F3447736}"/>
              </a:ext>
            </a:extLst>
          </p:cNvPr>
          <p:cNvSpPr txBox="1">
            <a:spLocks/>
          </p:cNvSpPr>
          <p:nvPr/>
        </p:nvSpPr>
        <p:spPr>
          <a:xfrm>
            <a:off x="7058862" y="4938663"/>
            <a:ext cx="4267201" cy="50443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altLang="ja-JP" sz="2000" dirty="0">
                <a:solidFill>
                  <a:srgbClr val="FF0000"/>
                </a:solidFill>
              </a:rPr>
              <a:t>How do we write the average of the first row in bar-dot notation?</a:t>
            </a: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0E2703C2-4BC1-3F0C-6DF9-A2A8EB7E376B}"/>
              </a:ext>
            </a:extLst>
          </p:cNvPr>
          <p:cNvSpPr txBox="1">
            <a:spLocks/>
          </p:cNvSpPr>
          <p:nvPr/>
        </p:nvSpPr>
        <p:spPr>
          <a:xfrm>
            <a:off x="9444251" y="86139"/>
            <a:ext cx="2645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1600" dirty="0">
                <a:solidFill>
                  <a:srgbClr val="DEDDDD"/>
                </a:solidFill>
                <a:latin typeface="Gidole"/>
              </a:rPr>
              <a:t>1.2 - Bar-Dot Notation</a:t>
            </a:r>
            <a:endParaRPr kumimoji="1" lang="ja-JP" altLang="en-US" sz="1600" dirty="0">
              <a:solidFill>
                <a:srgbClr val="DEDDDD"/>
              </a:solidFill>
              <a:latin typeface="Gidol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Placeholder 5">
                <a:extLst>
                  <a:ext uri="{FF2B5EF4-FFF2-40B4-BE49-F238E27FC236}">
                    <a16:creationId xmlns:a16="http://schemas.microsoft.com/office/drawing/2014/main" id="{1E489187-47FF-FE0C-6508-C7B0F214A9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05300" y="4938663"/>
                <a:ext cx="4307271" cy="115418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4 </m:t>
                          </m:r>
                        </m:den>
                      </m:f>
                      <m:d>
                        <m:dPr>
                          <m:ctrlP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3,1</m:t>
                              </m:r>
                            </m:sub>
                          </m:sSub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+</m:t>
                          </m:r>
                          <m:sSub>
                            <m:sSubPr>
                              <m:ctrlPr>
                                <a:rPr lang="en-NZ" altLang="ja-JP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NZ" altLang="ja-JP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+</m:t>
                          </m:r>
                          <m:sSub>
                            <m:sSubPr>
                              <m:ctrlPr>
                                <a:rPr lang="en-NZ" altLang="ja-JP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NZ" altLang="ja-JP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+</m:t>
                          </m:r>
                          <m:sSub>
                            <m:sSubPr>
                              <m:ctrlPr>
                                <a:rPr lang="en-NZ" altLang="ja-JP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NZ" altLang="ja-JP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type m:val="lin"/>
                          <m:ctrlP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4 </m:t>
                          </m:r>
                        </m:den>
                      </m:f>
                      <m:d>
                        <m:dPr>
                          <m:ctrlP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9+10+11+12</m:t>
                          </m:r>
                        </m:e>
                      </m:d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=10.5</m:t>
                      </m:r>
                    </m:oMath>
                  </m:oMathPara>
                </a14:m>
                <a:endParaRPr lang="en-US" altLang="ja-JP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Text Placeholder 5">
                <a:extLst>
                  <a:ext uri="{FF2B5EF4-FFF2-40B4-BE49-F238E27FC236}">
                    <a16:creationId xmlns:a16="http://schemas.microsoft.com/office/drawing/2014/main" id="{1E489187-47FF-FE0C-6508-C7B0F214A9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5300" y="4938663"/>
                <a:ext cx="4307271" cy="1154186"/>
              </a:xfrm>
              <a:prstGeom prst="rect">
                <a:avLst/>
              </a:prstGeom>
              <a:blipFill>
                <a:blip r:embed="rId8"/>
                <a:stretch>
                  <a:fillRect t="-38624" b="-26984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 Placeholder 5">
                <a:extLst>
                  <a:ext uri="{FF2B5EF4-FFF2-40B4-BE49-F238E27FC236}">
                    <a16:creationId xmlns:a16="http://schemas.microsoft.com/office/drawing/2014/main" id="{00A91DB0-1E85-2B53-6BD9-70CCF48C934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959325" y="5593030"/>
                <a:ext cx="1997123" cy="115418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NZ" altLang="ja-JP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NZ" altLang="ja-JP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NZ" altLang="ja-JP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  <m:sub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NZ" altLang="ja-JP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 </m:t>
                      </m:r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ctrlPr>
                            <a:rPr lang="en-US" altLang="ja-JP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  <m:e>
                          <m:sSub>
                            <m:sSubPr>
                              <m:ctrlP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ja-JP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Text Placeholder 5">
                <a:extLst>
                  <a:ext uri="{FF2B5EF4-FFF2-40B4-BE49-F238E27FC236}">
                    <a16:creationId xmlns:a16="http://schemas.microsoft.com/office/drawing/2014/main" id="{00A91DB0-1E85-2B53-6BD9-70CCF48C93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9325" y="5593030"/>
                <a:ext cx="1997123" cy="115418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2665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3" grpId="0"/>
      <p:bldP spid="14" grpId="0"/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6733"/>
            <a:ext cx="2185386" cy="741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4AD89C-DF1E-4948-B597-5DD47B34A9CA}" type="slidenum">
              <a:rPr kumimoji="1" lang="ja-JP" altLang="en-US" smtClean="0">
                <a:solidFill>
                  <a:srgbClr val="575454">
                    <a:lumMod val="20000"/>
                    <a:lumOff val="80000"/>
                  </a:srgbClr>
                </a:solidFill>
                <a:latin typeface="Coo Hew"/>
              </a:rPr>
              <a:pPr/>
              <a:t>17</a:t>
            </a:fld>
            <a:endParaRPr kumimoji="1" lang="ja-JP" altLang="en-US" dirty="0">
              <a:solidFill>
                <a:srgbClr val="575454">
                  <a:lumMod val="20000"/>
                  <a:lumOff val="80000"/>
                </a:srgbClr>
              </a:solidFill>
              <a:latin typeface="Coo Hew"/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65B06D6C-CCB3-4D8F-9171-6B4779FED53B}"/>
              </a:ext>
            </a:extLst>
          </p:cNvPr>
          <p:cNvSpPr txBox="1">
            <a:spLocks/>
          </p:cNvSpPr>
          <p:nvPr/>
        </p:nvSpPr>
        <p:spPr>
          <a:xfrm>
            <a:off x="319463" y="1050542"/>
            <a:ext cx="11553074" cy="60720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US" altLang="ja-JP" sz="2000" dirty="0">
                <a:solidFill>
                  <a:schemeClr val="tx1"/>
                </a:solidFill>
              </a:rPr>
              <a:t>Suppose that we have </a:t>
            </a:r>
            <a:r>
              <a:rPr lang="en-US" altLang="ja-JP" sz="2000" b="1" i="1" dirty="0">
                <a:solidFill>
                  <a:schemeClr val="tx1"/>
                </a:solidFill>
              </a:rPr>
              <a:t>N</a:t>
            </a:r>
            <a:r>
              <a:rPr lang="en-US" altLang="ja-JP" sz="2000" dirty="0">
                <a:solidFill>
                  <a:schemeClr val="tx1"/>
                </a:solidFill>
              </a:rPr>
              <a:t> observations that can be grouped into </a:t>
            </a:r>
            <a:r>
              <a:rPr lang="en-US" altLang="ja-JP" sz="2000" b="1" i="1" dirty="0">
                <a:solidFill>
                  <a:schemeClr val="tx1"/>
                </a:solidFill>
              </a:rPr>
              <a:t>r</a:t>
            </a:r>
            <a:r>
              <a:rPr lang="en-US" altLang="ja-JP" sz="2000" dirty="0">
                <a:solidFill>
                  <a:schemeClr val="tx1"/>
                </a:solidFill>
              </a:rPr>
              <a:t> rows and </a:t>
            </a:r>
            <a:r>
              <a:rPr lang="en-US" altLang="ja-JP" sz="2000" b="1" i="1" dirty="0">
                <a:solidFill>
                  <a:schemeClr val="tx1"/>
                </a:solidFill>
              </a:rPr>
              <a:t>c</a:t>
            </a:r>
            <a:r>
              <a:rPr lang="en-US" altLang="ja-JP" sz="2000" dirty="0">
                <a:solidFill>
                  <a:schemeClr val="tx1"/>
                </a:solidFill>
              </a:rPr>
              <a:t> columns (</a:t>
            </a:r>
            <a:r>
              <a:rPr lang="en-US" altLang="ja-JP" sz="2000" b="1" i="1" dirty="0">
                <a:solidFill>
                  <a:schemeClr val="tx1"/>
                </a:solidFill>
              </a:rPr>
              <a:t>N = </a:t>
            </a:r>
            <a:r>
              <a:rPr lang="en-US" altLang="ja-JP" sz="2000" b="1" i="1" dirty="0" err="1">
                <a:solidFill>
                  <a:schemeClr val="tx1"/>
                </a:solidFill>
              </a:rPr>
              <a:t>rc</a:t>
            </a:r>
            <a:r>
              <a:rPr lang="en-US" altLang="ja-JP" sz="2000" dirty="0">
                <a:solidFill>
                  <a:schemeClr val="tx1"/>
                </a:solidFill>
              </a:rPr>
              <a:t>).</a:t>
            </a:r>
            <a:endParaRPr lang="en-US" altLang="ja-JP" sz="2000" b="1" i="1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281044D1-CDA5-4D0B-AE06-D330F2B8865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1543445"/>
                <a:ext cx="12192000" cy="13157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𝒀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  <m: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𝒀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  <m: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𝒀</m:t>
                                          </m:r>
                                        </m:e>
                                        <m:sub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  <m: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𝒀</m:t>
                                          </m:r>
                                        </m:e>
                                        <m:sub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  <m: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𝒀</m:t>
                                          </m:r>
                                        </m:e>
                                        <m:sub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  <m: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𝒀</m:t>
                                          </m:r>
                                        </m:e>
                                        <m:sub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  <m: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 = 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sz="20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sz="20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NZ" altLang="ja-JP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n-NZ" altLang="ja-JP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e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𝟒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lang="en-NZ" altLang="ja-JP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e>
                              <m:e>
                                <m:r>
                                  <a:rPr lang="en-NZ" altLang="ja-JP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𝟕</m:t>
                                      </m:r>
                                    </m:e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𝟖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lang="en-NZ" altLang="ja-JP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</m:e>
                              <m:e>
                                <m:r>
                                  <a:rPr lang="en-NZ" altLang="ja-JP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𝟏𝟎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𝟏𝟏</m:t>
                                      </m:r>
                                    </m:e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𝟏𝟐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ja-JP" sz="2000" b="1" i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281044D1-CDA5-4D0B-AE06-D330F2B886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543445"/>
                <a:ext cx="12192000" cy="131571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Placeholder 5">
                <a:extLst>
                  <a:ext uri="{FF2B5EF4-FFF2-40B4-BE49-F238E27FC236}">
                    <a16:creationId xmlns:a16="http://schemas.microsoft.com/office/drawing/2014/main" id="{895C119D-B8FB-45C6-91ED-D2576584A0F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4149" y="2908202"/>
                <a:ext cx="2552131" cy="115418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NZ" altLang="ja-JP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NZ" altLang="ja-JP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acc>
                      <m:sSub>
                        <m:sSubPr>
                          <m:ctrlPr>
                            <a:rPr lang="en-NZ" altLang="ja-JP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</m:e>
                        <m:sub>
                          <m:r>
                            <a:rPr lang="en-NZ" altLang="ja-JP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NZ" altLang="ja-JP" sz="20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≡ </m:t>
                      </m:r>
                      <m:f>
                        <m:fPr>
                          <m:ctrlPr>
                            <a:rPr lang="en-NZ" altLang="ja-JP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NZ" altLang="ja-JP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NZ" altLang="ja-JP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a:rPr lang="en-NZ" altLang="ja-JP" sz="20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ctrlPr>
                            <a:rPr lang="en-US" altLang="ja-JP" sz="20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NZ" altLang="ja-JP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NZ" altLang="ja-JP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NZ" altLang="ja-JP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  <m:e>
                          <m:sSub>
                            <m:sSubPr>
                              <m:ctrlPr>
                                <a:rPr lang="en-NZ" altLang="ja-JP" sz="20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20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NZ" altLang="ja-JP" sz="20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NZ" altLang="ja-JP" sz="20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NZ" altLang="ja-JP" sz="20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ja-JP" sz="20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Text Placeholder 5">
                <a:extLst>
                  <a:ext uri="{FF2B5EF4-FFF2-40B4-BE49-F238E27FC236}">
                    <a16:creationId xmlns:a16="http://schemas.microsoft.com/office/drawing/2014/main" id="{895C119D-B8FB-45C6-91ED-D2576584A0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149" y="2908202"/>
                <a:ext cx="2552131" cy="11541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8AFE2AC4-117F-4A7C-89A6-3B83DE32A501}"/>
              </a:ext>
            </a:extLst>
          </p:cNvPr>
          <p:cNvSpPr txBox="1">
            <a:spLocks/>
          </p:cNvSpPr>
          <p:nvPr/>
        </p:nvSpPr>
        <p:spPr>
          <a:xfrm>
            <a:off x="2975212" y="3181694"/>
            <a:ext cx="7791596" cy="5271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US" altLang="ja-JP" sz="2000" dirty="0">
                <a:solidFill>
                  <a:srgbClr val="002060"/>
                </a:solidFill>
              </a:rPr>
              <a:t>Means take the average of the </a:t>
            </a:r>
            <a:r>
              <a:rPr lang="en-US" altLang="ja-JP" sz="2000" dirty="0" err="1">
                <a:solidFill>
                  <a:srgbClr val="002060"/>
                </a:solidFill>
              </a:rPr>
              <a:t>j</a:t>
            </a:r>
            <a:r>
              <a:rPr lang="en-US" altLang="ja-JP" sz="2000" baseline="30000" dirty="0" err="1">
                <a:solidFill>
                  <a:srgbClr val="002060"/>
                </a:solidFill>
              </a:rPr>
              <a:t>th</a:t>
            </a:r>
            <a:r>
              <a:rPr lang="en-US" altLang="ja-JP" sz="2000" dirty="0">
                <a:solidFill>
                  <a:srgbClr val="002060"/>
                </a:solidFill>
              </a:rPr>
              <a:t> column</a:t>
            </a:r>
            <a:endParaRPr lang="en-US" altLang="ja-JP" sz="2000" b="1" i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EF6503A9-30EB-4347-95DC-254D54001CD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80902" y="3928837"/>
                <a:ext cx="9245486" cy="115418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NZ" altLang="ja-JP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acc>
                      <m:sSub>
                        <m:sSubPr>
                          <m:ctrlP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</m:e>
                        <m:sub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NZ" altLang="ja-JP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ctrlPr>
                            <a:rPr lang="en-US" altLang="ja-JP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sSub>
                            <m:sSubPr>
                              <m:ctrlP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,3</m:t>
                              </m:r>
                            </m:sub>
                          </m:sSub>
                        </m:e>
                      </m:nary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=  </m:t>
                      </m:r>
                      <m:f>
                        <m:fPr>
                          <m:ctrlP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1,3</m:t>
                              </m:r>
                            </m:sub>
                          </m:sSub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+</m:t>
                          </m:r>
                          <m:sSub>
                            <m:sSubPr>
                              <m:ctrlPr>
                                <a:rPr lang="en-NZ" altLang="ja-JP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NZ" altLang="ja-JP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2,</m:t>
                              </m:r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+</m:t>
                          </m:r>
                          <m:sSub>
                            <m:sSubPr>
                              <m:ctrlPr>
                                <a:rPr lang="en-NZ" altLang="ja-JP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NZ" altLang="ja-JP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=  </m:t>
                      </m:r>
                      <m:f>
                        <m:fPr>
                          <m:ctrlP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(3+7+11 )=7</m:t>
                      </m:r>
                    </m:oMath>
                  </m:oMathPara>
                </a14:m>
                <a:endParaRPr lang="en-US" altLang="ja-JP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EF6503A9-30EB-4347-95DC-254D54001C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902" y="3928837"/>
                <a:ext cx="9245486" cy="115418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A67153F2-D2EE-4217-8016-3C6C80CAD7E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80902" y="5028471"/>
                <a:ext cx="2721856" cy="115418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NZ" altLang="ja-JP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NZ" altLang="ja-JP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acc>
                      <m:sSub>
                        <m:sSubPr>
                          <m:ctrlPr>
                            <a:rPr lang="en-NZ" altLang="ja-JP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</m:e>
                        <m:sub>
                          <m:r>
                            <a:rPr lang="en-NZ" altLang="ja-JP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NZ" altLang="ja-JP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NZ" altLang="ja-JP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NZ" altLang="ja-JP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NZ" altLang="ja-JP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NZ" altLang="ja-JP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NZ" altLang="ja-JP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ctrlPr>
                            <a:rPr lang="en-US" altLang="ja-JP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NZ" altLang="ja-JP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NZ" altLang="ja-JP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NZ" altLang="ja-JP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sSub>
                            <m:sSubPr>
                              <m:ctrlPr>
                                <a:rPr lang="en-NZ" altLang="ja-JP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NZ" altLang="ja-JP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NZ" altLang="ja-JP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,1</m:t>
                              </m:r>
                            </m:sub>
                          </m:sSub>
                        </m:e>
                      </m:nary>
                      <m:r>
                        <a:rPr lang="en-NZ" altLang="ja-JP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ja-JP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A67153F2-D2EE-4217-8016-3C6C80CAD7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902" y="5028471"/>
                <a:ext cx="2721856" cy="11541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E85C71AE-0BC2-45D8-88F6-EFAB882C08FF}"/>
              </a:ext>
            </a:extLst>
          </p:cNvPr>
          <p:cNvSpPr txBox="1">
            <a:spLocks/>
          </p:cNvSpPr>
          <p:nvPr/>
        </p:nvSpPr>
        <p:spPr>
          <a:xfrm>
            <a:off x="7220304" y="5128408"/>
            <a:ext cx="4447894" cy="50443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altLang="ja-JP" sz="2000" dirty="0">
                <a:solidFill>
                  <a:srgbClr val="FF0000"/>
                </a:solidFill>
              </a:rPr>
              <a:t>How do we write the average  of the fourth column in bar-dot notation?</a:t>
            </a:r>
          </a:p>
        </p:txBody>
      </p:sp>
      <p:sp>
        <p:nvSpPr>
          <p:cNvPr id="17" name="Title 6">
            <a:extLst>
              <a:ext uri="{FF2B5EF4-FFF2-40B4-BE49-F238E27FC236}">
                <a16:creationId xmlns:a16="http://schemas.microsoft.com/office/drawing/2014/main" id="{C197F27D-D985-4D07-A72C-66F7A464679B}"/>
              </a:ext>
            </a:extLst>
          </p:cNvPr>
          <p:cNvSpPr txBox="1">
            <a:spLocks/>
          </p:cNvSpPr>
          <p:nvPr/>
        </p:nvSpPr>
        <p:spPr>
          <a:xfrm>
            <a:off x="319463" y="310113"/>
            <a:ext cx="8168429" cy="607201"/>
          </a:xfrm>
          <a:prstGeom prst="rect">
            <a:avLst/>
          </a:prstGeom>
        </p:spPr>
        <p:txBody>
          <a:bodyPr anchor="t">
            <a:normAutofit fontScale="92500"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b="1" u="sng" dirty="0">
                <a:latin typeface="+mn-lt"/>
              </a:rPr>
              <a:t>1.2e - Bar-Dot Notation for Column Means:</a:t>
            </a:r>
            <a:endParaRPr lang="ja-JP" altLang="en-US" b="1" u="sng" dirty="0">
              <a:latin typeface="+mn-lt"/>
            </a:endParaRPr>
          </a:p>
        </p:txBody>
      </p:sp>
      <p:sp>
        <p:nvSpPr>
          <p:cNvPr id="18" name="Footer Placeholder 2">
            <a:extLst>
              <a:ext uri="{FF2B5EF4-FFF2-40B4-BE49-F238E27FC236}">
                <a16:creationId xmlns:a16="http://schemas.microsoft.com/office/drawing/2014/main" id="{6F3EDA44-5228-B293-5780-034C5ED19F9D}"/>
              </a:ext>
            </a:extLst>
          </p:cNvPr>
          <p:cNvSpPr txBox="1">
            <a:spLocks/>
          </p:cNvSpPr>
          <p:nvPr/>
        </p:nvSpPr>
        <p:spPr>
          <a:xfrm>
            <a:off x="9444251" y="86139"/>
            <a:ext cx="2645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1600" dirty="0">
                <a:solidFill>
                  <a:srgbClr val="DEDDDD"/>
                </a:solidFill>
                <a:latin typeface="Gidole"/>
              </a:rPr>
              <a:t>1.2 - Bar-Dot Notation</a:t>
            </a:r>
            <a:endParaRPr kumimoji="1" lang="ja-JP" altLang="en-US" sz="1600" dirty="0">
              <a:solidFill>
                <a:srgbClr val="DEDDDD"/>
              </a:solidFill>
              <a:latin typeface="Gidol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Placeholder 5">
                <a:extLst>
                  <a:ext uri="{FF2B5EF4-FFF2-40B4-BE49-F238E27FC236}">
                    <a16:creationId xmlns:a16="http://schemas.microsoft.com/office/drawing/2014/main" id="{A8D3355E-2358-7BD7-2C4B-24CBD6D631B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422712" y="5162022"/>
                <a:ext cx="3186518" cy="115418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 </m:t>
                      </m:r>
                      <m:f>
                        <m:fPr>
                          <m:ctrlP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1,1</m:t>
                              </m:r>
                            </m:sub>
                          </m:sSub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+</m:t>
                          </m:r>
                          <m:sSub>
                            <m:sSubPr>
                              <m:ctrlPr>
                                <a:rPr lang="en-NZ" altLang="ja-JP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NZ" altLang="ja-JP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2,</m:t>
                              </m:r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+</m:t>
                          </m:r>
                          <m:sSub>
                            <m:sSubPr>
                              <m:ctrlPr>
                                <a:rPr lang="en-NZ" altLang="ja-JP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NZ" altLang="ja-JP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</m:oMath>
                    <m:oMath xmlns:m="http://schemas.openxmlformats.org/officeDocument/2006/math"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 </m:t>
                      </m:r>
                      <m:f>
                        <m:fPr>
                          <m:ctrlP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(1+5+9 )=5</m:t>
                      </m:r>
                    </m:oMath>
                  </m:oMathPara>
                </a14:m>
                <a:endParaRPr lang="en-US" altLang="ja-JP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Text Placeholder 5">
                <a:extLst>
                  <a:ext uri="{FF2B5EF4-FFF2-40B4-BE49-F238E27FC236}">
                    <a16:creationId xmlns:a16="http://schemas.microsoft.com/office/drawing/2014/main" id="{A8D3355E-2358-7BD7-2C4B-24CBD6D631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2712" y="5162022"/>
                <a:ext cx="3186518" cy="1154186"/>
              </a:xfrm>
              <a:prstGeom prst="rect">
                <a:avLst/>
              </a:prstGeom>
              <a:blipFill>
                <a:blip r:embed="rId7"/>
                <a:stretch>
                  <a:fillRect b="-3704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Placeholder 5">
                <a:extLst>
                  <a:ext uri="{FF2B5EF4-FFF2-40B4-BE49-F238E27FC236}">
                    <a16:creationId xmlns:a16="http://schemas.microsoft.com/office/drawing/2014/main" id="{3CAC1C23-BEF8-B6F5-330D-37A111F11A8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18733" y="5703814"/>
                <a:ext cx="2212259" cy="115418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NZ" altLang="ja-JP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acc>
                      <m:sSub>
                        <m:sSubPr>
                          <m:ctrlPr>
                            <a:rPr lang="en-NZ" altLang="ja-JP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</m:e>
                        <m:sub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NZ" altLang="ja-JP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ctrlPr>
                            <a:rPr lang="en-US" altLang="ja-JP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sSub>
                            <m:sSubPr>
                              <m:ctrlP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,4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ja-JP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Text Placeholder 5">
                <a:extLst>
                  <a:ext uri="{FF2B5EF4-FFF2-40B4-BE49-F238E27FC236}">
                    <a16:creationId xmlns:a16="http://schemas.microsoft.com/office/drawing/2014/main" id="{3CAC1C23-BEF8-B6F5-330D-37A111F11A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8733" y="5703814"/>
                <a:ext cx="2212259" cy="115418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2696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6733"/>
            <a:ext cx="2185386" cy="741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4AD89C-DF1E-4948-B597-5DD47B34A9CA}" type="slidenum">
              <a:rPr kumimoji="1" lang="ja-JP" altLang="en-US" smtClean="0">
                <a:solidFill>
                  <a:srgbClr val="575454">
                    <a:lumMod val="20000"/>
                    <a:lumOff val="80000"/>
                  </a:srgbClr>
                </a:solidFill>
                <a:latin typeface="Coo Hew"/>
              </a:rPr>
              <a:pPr/>
              <a:t>18</a:t>
            </a:fld>
            <a:endParaRPr kumimoji="1" lang="ja-JP" altLang="en-US" dirty="0">
              <a:solidFill>
                <a:srgbClr val="575454">
                  <a:lumMod val="20000"/>
                  <a:lumOff val="80000"/>
                </a:srgbClr>
              </a:solidFill>
              <a:latin typeface="Coo Hew"/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65B06D6C-CCB3-4D8F-9171-6B4779FED53B}"/>
              </a:ext>
            </a:extLst>
          </p:cNvPr>
          <p:cNvSpPr txBox="1">
            <a:spLocks/>
          </p:cNvSpPr>
          <p:nvPr/>
        </p:nvSpPr>
        <p:spPr>
          <a:xfrm>
            <a:off x="319463" y="1050542"/>
            <a:ext cx="11553074" cy="60720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US" altLang="ja-JP" sz="2000" dirty="0">
                <a:solidFill>
                  <a:schemeClr val="tx1"/>
                </a:solidFill>
              </a:rPr>
              <a:t>Suppose that we have </a:t>
            </a:r>
            <a:r>
              <a:rPr lang="en-US" altLang="ja-JP" sz="2000" b="1" i="1" dirty="0">
                <a:solidFill>
                  <a:schemeClr val="tx1"/>
                </a:solidFill>
              </a:rPr>
              <a:t>N</a:t>
            </a:r>
            <a:r>
              <a:rPr lang="en-US" altLang="ja-JP" sz="2000" dirty="0">
                <a:solidFill>
                  <a:schemeClr val="tx1"/>
                </a:solidFill>
              </a:rPr>
              <a:t> observations that can be grouped into </a:t>
            </a:r>
            <a:r>
              <a:rPr lang="en-US" altLang="ja-JP" sz="2000" b="1" i="1" dirty="0">
                <a:solidFill>
                  <a:schemeClr val="tx1"/>
                </a:solidFill>
              </a:rPr>
              <a:t>r</a:t>
            </a:r>
            <a:r>
              <a:rPr lang="en-US" altLang="ja-JP" sz="2000" dirty="0">
                <a:solidFill>
                  <a:schemeClr val="tx1"/>
                </a:solidFill>
              </a:rPr>
              <a:t> rows and </a:t>
            </a:r>
            <a:r>
              <a:rPr lang="en-US" altLang="ja-JP" sz="2000" b="1" i="1" dirty="0">
                <a:solidFill>
                  <a:schemeClr val="tx1"/>
                </a:solidFill>
              </a:rPr>
              <a:t>c</a:t>
            </a:r>
            <a:r>
              <a:rPr lang="en-US" altLang="ja-JP" sz="2000" dirty="0">
                <a:solidFill>
                  <a:schemeClr val="tx1"/>
                </a:solidFill>
              </a:rPr>
              <a:t> columns (</a:t>
            </a:r>
            <a:r>
              <a:rPr lang="en-US" altLang="ja-JP" sz="2000" b="1" i="1" dirty="0">
                <a:solidFill>
                  <a:schemeClr val="tx1"/>
                </a:solidFill>
              </a:rPr>
              <a:t>N = </a:t>
            </a:r>
            <a:r>
              <a:rPr lang="en-US" altLang="ja-JP" sz="2000" b="1" i="1" dirty="0" err="1">
                <a:solidFill>
                  <a:schemeClr val="tx1"/>
                </a:solidFill>
              </a:rPr>
              <a:t>rc</a:t>
            </a:r>
            <a:r>
              <a:rPr lang="en-US" altLang="ja-JP" sz="2000" dirty="0">
                <a:solidFill>
                  <a:schemeClr val="tx1"/>
                </a:solidFill>
              </a:rPr>
              <a:t>).</a:t>
            </a:r>
            <a:endParaRPr lang="en-US" altLang="ja-JP" sz="2000" b="1" i="1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281044D1-CDA5-4D0B-AE06-D330F2B8865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1543445"/>
                <a:ext cx="12192000" cy="13157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𝒀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  <m: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𝒀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  <m: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𝒀</m:t>
                                          </m:r>
                                        </m:e>
                                        <m:sub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  <m: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𝒀</m:t>
                                          </m:r>
                                        </m:e>
                                        <m:sub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  <m: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NZ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NZ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ja-JP" sz="2000" b="1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𝒀</m:t>
                                          </m:r>
                                        </m:e>
                                        <m:sub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  <m: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𝒀</m:t>
                                          </m:r>
                                        </m:e>
                                        <m:sub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  <m:r>
                                            <a:rPr lang="en-NZ" altLang="ja-JP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NZ" altLang="ja-JP" sz="2000" b="1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 = 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sz="20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sz="20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NZ" altLang="ja-JP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n-NZ" altLang="ja-JP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e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𝟒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lang="en-NZ" altLang="ja-JP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e>
                              <m:e>
                                <m:r>
                                  <a:rPr lang="en-NZ" altLang="ja-JP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𝟕</m:t>
                                      </m:r>
                                    </m:e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𝟖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lang="en-NZ" altLang="ja-JP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</m:e>
                              <m:e>
                                <m:r>
                                  <a:rPr lang="en-NZ" altLang="ja-JP" sz="20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𝟏𝟎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ja-JP" sz="2000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𝟏𝟏</m:t>
                                      </m:r>
                                    </m:e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𝟏𝟐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ja-JP" sz="2000" b="1" i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281044D1-CDA5-4D0B-AE06-D330F2B886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543445"/>
                <a:ext cx="12192000" cy="131571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Placeholder 5">
                <a:extLst>
                  <a:ext uri="{FF2B5EF4-FFF2-40B4-BE49-F238E27FC236}">
                    <a16:creationId xmlns:a16="http://schemas.microsoft.com/office/drawing/2014/main" id="{895C119D-B8FB-45C6-91ED-D2576584A0F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4150" y="2908202"/>
                <a:ext cx="5800298" cy="115418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NZ" altLang="ja-JP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NZ" altLang="ja-JP" sz="20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20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NZ" altLang="ja-JP" sz="20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</m:e>
                      </m:acc>
                      <m:r>
                        <a:rPr lang="en-NZ" altLang="ja-JP" sz="20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..</m:t>
                      </m:r>
                      <m:r>
                        <a:rPr lang="en-NZ" altLang="ja-JP" sz="20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≡  </m:t>
                      </m:r>
                      <m:f>
                        <m:fPr>
                          <m:ctrlPr>
                            <a:rPr lang="en-NZ" altLang="ja-JP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NZ" altLang="ja-JP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NZ" altLang="ja-JP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𝑟𝑐</m:t>
                          </m:r>
                        </m:den>
                      </m:f>
                      <m:r>
                        <a:rPr lang="en-NZ" altLang="ja-JP" sz="20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ctrlPr>
                            <a:rPr lang="en-US" altLang="ja-JP" sz="20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NZ" altLang="ja-JP" sz="20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NZ" altLang="ja-JP" sz="20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NZ" altLang="ja-JP" sz="20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ja-JP" sz="20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NZ" altLang="ja-JP" sz="20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NZ" altLang="ja-JP" sz="20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NZ" altLang="ja-JP" sz="20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NZ" altLang="ja-JP" sz="20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20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NZ" altLang="ja-JP" sz="20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NZ" altLang="ja-JP" sz="20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NZ" altLang="ja-JP" sz="20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  <m:r>
                            <a:rPr lang="en-NZ" altLang="ja-JP" sz="20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</m:e>
                      </m:nary>
                      <m:r>
                        <a:rPr lang="en-NZ" altLang="ja-JP" sz="20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  </m:t>
                      </m:r>
                      <m:f>
                        <m:fPr>
                          <m:ctrlPr>
                            <a:rPr lang="en-NZ" altLang="ja-JP" sz="20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NZ" altLang="ja-JP" sz="20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NZ" altLang="ja-JP" sz="20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𝑟𝑐</m:t>
                          </m:r>
                        </m:den>
                      </m:f>
                      <m:r>
                        <a:rPr lang="en-NZ" altLang="ja-JP" sz="20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ctrlPr>
                            <a:rPr lang="en-US" altLang="ja-JP" sz="20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NZ" altLang="ja-JP" sz="20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NZ" altLang="ja-JP" sz="20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NZ" altLang="ja-JP" sz="20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  <m:e>
                          <m:sSub>
                            <m:sSubPr>
                              <m:ctrlPr>
                                <a:rPr lang="en-NZ" altLang="ja-JP" sz="20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20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NZ" altLang="ja-JP" sz="20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NZ" altLang="ja-JP" sz="20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</m:sub>
                          </m:sSub>
                          <m:r>
                            <a:rPr lang="en-NZ" altLang="ja-JP" sz="20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</m:e>
                      </m:nary>
                      <m:r>
                        <a:rPr lang="en-NZ" altLang="ja-JP" sz="20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=  </m:t>
                      </m:r>
                      <m:f>
                        <m:fPr>
                          <m:ctrlPr>
                            <a:rPr lang="en-NZ" altLang="ja-JP" sz="20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NZ" altLang="ja-JP" sz="20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NZ" altLang="ja-JP" sz="20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𝑟𝑐</m:t>
                          </m:r>
                        </m:den>
                      </m:f>
                      <m:r>
                        <a:rPr lang="en-NZ" altLang="ja-JP" sz="20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ctrlPr>
                            <a:rPr lang="en-US" altLang="ja-JP" sz="20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NZ" altLang="ja-JP" sz="20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NZ" altLang="ja-JP" sz="20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NZ" altLang="ja-JP" sz="20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p>
                        <m:e>
                          <m:sSub>
                            <m:sSubPr>
                              <m:ctrlPr>
                                <a:rPr lang="en-NZ" altLang="ja-JP" sz="20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20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NZ" altLang="ja-JP" sz="20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NZ" altLang="ja-JP" sz="20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ja-JP" sz="20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Text Placeholder 5">
                <a:extLst>
                  <a:ext uri="{FF2B5EF4-FFF2-40B4-BE49-F238E27FC236}">
                    <a16:creationId xmlns:a16="http://schemas.microsoft.com/office/drawing/2014/main" id="{895C119D-B8FB-45C6-91ED-D2576584A0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150" y="2908202"/>
                <a:ext cx="5800298" cy="11541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8AFE2AC4-117F-4A7C-89A6-3B83DE32A501}"/>
              </a:ext>
            </a:extLst>
          </p:cNvPr>
          <p:cNvSpPr txBox="1">
            <a:spLocks/>
          </p:cNvSpPr>
          <p:nvPr/>
        </p:nvSpPr>
        <p:spPr>
          <a:xfrm>
            <a:off x="6646460" y="3165430"/>
            <a:ext cx="4931390" cy="5271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US" altLang="ja-JP" sz="2000" dirty="0">
                <a:solidFill>
                  <a:srgbClr val="002060"/>
                </a:solidFill>
              </a:rPr>
              <a:t>Means take the average of all elements</a:t>
            </a:r>
            <a:endParaRPr lang="en-US" altLang="ja-JP" sz="2000" b="1" i="1" dirty="0">
              <a:solidFill>
                <a:srgbClr val="002060"/>
              </a:solidFill>
            </a:endParaRPr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A5AFB7A0-C8CB-4E1A-967D-0EC438B6C9DF}"/>
              </a:ext>
            </a:extLst>
          </p:cNvPr>
          <p:cNvSpPr txBox="1">
            <a:spLocks/>
          </p:cNvSpPr>
          <p:nvPr/>
        </p:nvSpPr>
        <p:spPr>
          <a:xfrm>
            <a:off x="319463" y="310113"/>
            <a:ext cx="8168429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b="1" u="sng" dirty="0">
                <a:latin typeface="+mn-lt"/>
              </a:rPr>
              <a:t>1.2f - Bar-Dot Notation for Grand Means:</a:t>
            </a:r>
            <a:endParaRPr lang="ja-JP" altLang="en-US" b="1" u="sng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22B04695-9914-47A3-BDF2-BE7335DB807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4150" y="4686143"/>
                <a:ext cx="814600" cy="628412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NZ" altLang="ja-JP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NZ" altLang="ja-JP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NZ" altLang="ja-JP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</m:e>
                      </m:acc>
                      <m:r>
                        <a:rPr lang="en-NZ" altLang="ja-JP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..</m:t>
                      </m:r>
                      <m:r>
                        <a:rPr lang="en-NZ" altLang="ja-JP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US" altLang="ja-JP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22B04695-9914-47A3-BDF2-BE7335DB80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150" y="4686143"/>
                <a:ext cx="814600" cy="62841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Footer Placeholder 2">
            <a:extLst>
              <a:ext uri="{FF2B5EF4-FFF2-40B4-BE49-F238E27FC236}">
                <a16:creationId xmlns:a16="http://schemas.microsoft.com/office/drawing/2014/main" id="{BC8F408A-58C6-5CBC-7B10-A812658315F7}"/>
              </a:ext>
            </a:extLst>
          </p:cNvPr>
          <p:cNvSpPr txBox="1">
            <a:spLocks/>
          </p:cNvSpPr>
          <p:nvPr/>
        </p:nvSpPr>
        <p:spPr>
          <a:xfrm>
            <a:off x="9444251" y="86139"/>
            <a:ext cx="2645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1600" dirty="0">
                <a:solidFill>
                  <a:srgbClr val="DEDDDD"/>
                </a:solidFill>
                <a:latin typeface="Gidole"/>
              </a:rPr>
              <a:t>1.2 - Bar-Dot Notation</a:t>
            </a:r>
            <a:endParaRPr kumimoji="1" lang="ja-JP" altLang="en-US" sz="1600" dirty="0">
              <a:solidFill>
                <a:srgbClr val="DEDDDD"/>
              </a:solidFill>
              <a:latin typeface="Gidol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B27C3B3B-35FD-4456-BD32-9D2043A9585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44312" y="4629715"/>
                <a:ext cx="9503375" cy="741267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 </m:t>
                      </m:r>
                      <m:f>
                        <m:fPr>
                          <m:ctrlP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NZ" altLang="ja-JP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1+2+3+4 </m:t>
                              </m:r>
                            </m:e>
                          </m:d>
                          <m: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+  </m:t>
                          </m:r>
                          <m:d>
                            <m:dPr>
                              <m:ctrlPr>
                                <a:rPr lang="en-NZ" altLang="ja-JP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5+6+7+8</m:t>
                              </m:r>
                            </m:e>
                          </m:d>
                          <m: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  </m:t>
                          </m:r>
                          <m:d>
                            <m:dPr>
                              <m:ctrlPr>
                                <a:rPr lang="en-NZ" altLang="ja-JP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9+10+11+12</m:t>
                              </m:r>
                            </m:e>
                          </m:d>
                        </m:e>
                      </m:d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 </m:t>
                      </m:r>
                      <m:f>
                        <m:fPr>
                          <m:ctrlP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78</m:t>
                          </m:r>
                        </m:num>
                        <m:den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 6.5</m:t>
                      </m:r>
                    </m:oMath>
                  </m:oMathPara>
                </a14:m>
                <a:endParaRPr lang="en-US" altLang="ja-JP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B27C3B3B-35FD-4456-BD32-9D2043A958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4312" y="4629715"/>
                <a:ext cx="9503375" cy="74126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8581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0" name="Rectangle 72">
            <a:extLst>
              <a:ext uri="{FF2B5EF4-FFF2-40B4-BE49-F238E27FC236}">
                <a16:creationId xmlns:a16="http://schemas.microsoft.com/office/drawing/2014/main" id="{FD073016-B734-483B-8953-5BADEE145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0"/>
            <a:ext cx="8157458" cy="6858000"/>
          </a:xfrm>
          <a:prstGeom prst="rect">
            <a:avLst/>
          </a:prstGeom>
          <a:gradFill>
            <a:gsLst>
              <a:gs pos="2000">
                <a:schemeClr val="accent1"/>
              </a:gs>
              <a:gs pos="78000">
                <a:schemeClr val="accent1">
                  <a:lumMod val="50000"/>
                </a:schemeClr>
              </a:gs>
              <a:gs pos="100000">
                <a:srgbClr val="000000">
                  <a:alpha val="85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1" name="Rectangle 74">
            <a:extLst>
              <a:ext uri="{FF2B5EF4-FFF2-40B4-BE49-F238E27FC236}">
                <a16:creationId xmlns:a16="http://schemas.microsoft.com/office/drawing/2014/main" id="{90A7EAB6-59D3-4325-8DE6-E0CA4009C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4537" y="1839884"/>
            <a:ext cx="8157460" cy="501768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30000"/>
                </a:schemeClr>
              </a:gs>
              <a:gs pos="100000">
                <a:srgbClr val="000000">
                  <a:alpha val="44000"/>
                </a:srgb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2" name="Rectangle 76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63179" y="-33131"/>
            <a:ext cx="6857999" cy="6923403"/>
          </a:xfrm>
          <a:prstGeom prst="rect">
            <a:avLst/>
          </a:prstGeom>
          <a:gradFill>
            <a:gsLst>
              <a:gs pos="56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14062D-E1C1-4F63-B0FD-D013BDA5782B}"/>
              </a:ext>
            </a:extLst>
          </p:cNvPr>
          <p:cNvSpPr txBox="1"/>
          <p:nvPr/>
        </p:nvSpPr>
        <p:spPr>
          <a:xfrm>
            <a:off x="43707" y="2844225"/>
            <a:ext cx="1210458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NZ" sz="4500" b="1" dirty="0">
                <a:solidFill>
                  <a:srgbClr val="FFC000"/>
                </a:solidFill>
              </a:rPr>
              <a:t>1.3 - Expectation and Variance </a:t>
            </a:r>
            <a:br>
              <a:rPr lang="en-NZ" sz="4500" b="1" dirty="0">
                <a:solidFill>
                  <a:srgbClr val="FFC000"/>
                </a:solidFill>
              </a:rPr>
            </a:br>
            <a:r>
              <a:rPr lang="en-NZ" sz="4500" b="1" dirty="0">
                <a:solidFill>
                  <a:srgbClr val="FFC000"/>
                </a:solidFill>
              </a:rPr>
              <a:t>of a Random Variable</a:t>
            </a:r>
          </a:p>
        </p:txBody>
      </p:sp>
      <p:pic>
        <p:nvPicPr>
          <p:cNvPr id="1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078A8151-9BD3-4B62-8210-A87BCD0941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6733"/>
            <a:ext cx="2185386" cy="741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46075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6733"/>
            <a:ext cx="2185386" cy="741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4AD89C-DF1E-4948-B597-5DD47B34A9CA}" type="slidenum">
              <a:rPr kumimoji="1" lang="ja-JP" altLang="en-US" smtClean="0">
                <a:solidFill>
                  <a:srgbClr val="575454">
                    <a:lumMod val="20000"/>
                    <a:lumOff val="80000"/>
                  </a:srgbClr>
                </a:solidFill>
                <a:latin typeface="Coo Hew"/>
              </a:rPr>
              <a:pPr/>
              <a:t>20</a:t>
            </a:fld>
            <a:endParaRPr kumimoji="1" lang="ja-JP" altLang="en-US" dirty="0">
              <a:solidFill>
                <a:srgbClr val="575454">
                  <a:lumMod val="20000"/>
                  <a:lumOff val="80000"/>
                </a:srgbClr>
              </a:solidFill>
              <a:latin typeface="Coo Hew"/>
            </a:endParaRP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E01D7A31-5FF0-43DC-9F4D-F2B96A58DE6A}"/>
              </a:ext>
            </a:extLst>
          </p:cNvPr>
          <p:cNvSpPr txBox="1">
            <a:spLocks/>
          </p:cNvSpPr>
          <p:nvPr/>
        </p:nvSpPr>
        <p:spPr>
          <a:xfrm>
            <a:off x="8723086" y="86139"/>
            <a:ext cx="33662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1600" dirty="0">
                <a:solidFill>
                  <a:srgbClr val="DEDDDD"/>
                </a:solidFill>
                <a:latin typeface="Gidole"/>
              </a:rPr>
              <a:t>1.3 – Expectation &amp; Variance of RVs</a:t>
            </a:r>
            <a:endParaRPr kumimoji="1" lang="ja-JP" altLang="en-US" sz="1600" dirty="0">
              <a:solidFill>
                <a:srgbClr val="DEDDDD"/>
              </a:solidFill>
              <a:latin typeface="Gidole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DCE95AA1-F247-4D03-9A84-A08A95E2EB81}"/>
              </a:ext>
            </a:extLst>
          </p:cNvPr>
          <p:cNvSpPr txBox="1">
            <a:spLocks/>
          </p:cNvSpPr>
          <p:nvPr/>
        </p:nvSpPr>
        <p:spPr>
          <a:xfrm>
            <a:off x="319463" y="310113"/>
            <a:ext cx="8168429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b="1" u="sng" dirty="0">
                <a:latin typeface="+mn-lt"/>
              </a:rPr>
              <a:t>1.3a - Random Variables:</a:t>
            </a:r>
            <a:endParaRPr lang="ja-JP" altLang="en-US" b="1" u="sng" dirty="0">
              <a:latin typeface="+mn-lt"/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CF0EF27-D66E-440A-ADCA-1A987E76987F}"/>
              </a:ext>
            </a:extLst>
          </p:cNvPr>
          <p:cNvSpPr txBox="1">
            <a:spLocks/>
          </p:cNvSpPr>
          <p:nvPr/>
        </p:nvSpPr>
        <p:spPr>
          <a:xfrm>
            <a:off x="319463" y="1050542"/>
            <a:ext cx="11553074" cy="105696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ja-JP" sz="2000" dirty="0">
                <a:solidFill>
                  <a:schemeClr val="tx1"/>
                </a:solidFill>
              </a:rPr>
              <a:t>A random variable </a:t>
            </a:r>
            <a:r>
              <a:rPr lang="en-US" altLang="ja-JP" sz="2000" b="1" dirty="0">
                <a:solidFill>
                  <a:schemeClr val="tx1"/>
                </a:solidFill>
              </a:rPr>
              <a:t>X </a:t>
            </a:r>
            <a:r>
              <a:rPr lang="en-US" altLang="ja-JP" sz="2000" dirty="0">
                <a:solidFill>
                  <a:schemeClr val="tx1"/>
                </a:solidFill>
              </a:rPr>
              <a:t>is an experiment with an unknown outcome. </a:t>
            </a:r>
            <a:br>
              <a:rPr lang="en-US" altLang="ja-JP" sz="2000" dirty="0">
                <a:solidFill>
                  <a:schemeClr val="tx1"/>
                </a:solidFill>
              </a:rPr>
            </a:br>
            <a:r>
              <a:rPr lang="en-US" altLang="ja-JP" sz="2000" dirty="0">
                <a:solidFill>
                  <a:schemeClr val="tx1"/>
                </a:solidFill>
              </a:rPr>
              <a:t>If </a:t>
            </a:r>
            <a:r>
              <a:rPr lang="en-US" altLang="ja-JP" sz="2000" b="1" i="1" dirty="0">
                <a:solidFill>
                  <a:schemeClr val="tx1"/>
                </a:solidFill>
              </a:rPr>
              <a:t>X</a:t>
            </a:r>
            <a:r>
              <a:rPr lang="en-US" altLang="ja-JP" sz="2000" dirty="0">
                <a:solidFill>
                  <a:schemeClr val="tx1"/>
                </a:solidFill>
              </a:rPr>
              <a:t> can only take certain discrete outcomes it is known as a </a:t>
            </a:r>
            <a:r>
              <a:rPr lang="en-US" altLang="ja-JP" sz="2000" b="1" i="1" dirty="0">
                <a:solidFill>
                  <a:schemeClr val="tx1"/>
                </a:solidFill>
              </a:rPr>
              <a:t>discrete </a:t>
            </a:r>
            <a:r>
              <a:rPr lang="en-US" altLang="ja-JP" sz="2000" b="1" i="1" dirty="0" err="1">
                <a:solidFill>
                  <a:schemeClr val="tx1"/>
                </a:solidFill>
              </a:rPr>
              <a:t>r.v.</a:t>
            </a:r>
            <a:r>
              <a:rPr lang="en-US" altLang="ja-JP" sz="2000" i="1" dirty="0">
                <a:solidFill>
                  <a:schemeClr val="tx1"/>
                </a:solidFill>
              </a:rPr>
              <a:t> </a:t>
            </a:r>
            <a:br>
              <a:rPr lang="en-US" altLang="ja-JP" sz="2000" i="1" dirty="0">
                <a:solidFill>
                  <a:schemeClr val="tx1"/>
                </a:solidFill>
              </a:rPr>
            </a:br>
            <a:r>
              <a:rPr lang="en-US" altLang="ja-JP" sz="2000" i="1" dirty="0">
                <a:solidFill>
                  <a:schemeClr val="tx1"/>
                </a:solidFill>
              </a:rPr>
              <a:t>If </a:t>
            </a:r>
            <a:r>
              <a:rPr lang="en-US" altLang="ja-JP" sz="2000" b="1" i="1" dirty="0">
                <a:solidFill>
                  <a:schemeClr val="tx1"/>
                </a:solidFill>
              </a:rPr>
              <a:t>X </a:t>
            </a:r>
            <a:r>
              <a:rPr lang="en-US" altLang="ja-JP" sz="2000" dirty="0">
                <a:solidFill>
                  <a:schemeClr val="tx1"/>
                </a:solidFill>
              </a:rPr>
              <a:t>can take any value in a given interval </a:t>
            </a:r>
            <a:r>
              <a:rPr lang="en-US" altLang="ja-JP" sz="2000" b="1" i="1" dirty="0">
                <a:solidFill>
                  <a:schemeClr val="tx1"/>
                </a:solidFill>
              </a:rPr>
              <a:t>[</a:t>
            </a:r>
            <a:r>
              <a:rPr lang="en-US" altLang="ja-JP" sz="2000" b="1" i="1" dirty="0" err="1">
                <a:solidFill>
                  <a:schemeClr val="tx1"/>
                </a:solidFill>
              </a:rPr>
              <a:t>a,b</a:t>
            </a:r>
            <a:r>
              <a:rPr lang="en-US" altLang="ja-JP" sz="2000" b="1" i="1" dirty="0">
                <a:solidFill>
                  <a:schemeClr val="tx1"/>
                </a:solidFill>
              </a:rPr>
              <a:t>] </a:t>
            </a:r>
            <a:r>
              <a:rPr lang="en-US" altLang="ja-JP" sz="2000" dirty="0">
                <a:solidFill>
                  <a:schemeClr val="tx1"/>
                </a:solidFill>
              </a:rPr>
              <a:t>it is known as a </a:t>
            </a:r>
            <a:r>
              <a:rPr lang="en-US" altLang="ja-JP" sz="2000" b="1" i="1" dirty="0">
                <a:solidFill>
                  <a:schemeClr val="tx1"/>
                </a:solidFill>
              </a:rPr>
              <a:t>continuous </a:t>
            </a:r>
            <a:r>
              <a:rPr lang="en-US" altLang="ja-JP" sz="2000" b="1" i="1" dirty="0" err="1">
                <a:solidFill>
                  <a:schemeClr val="tx1"/>
                </a:solidFill>
              </a:rPr>
              <a:t>r.v.</a:t>
            </a:r>
            <a:endParaRPr lang="en-US" altLang="ja-JP" sz="2000" b="1" i="1" dirty="0">
              <a:solidFill>
                <a:schemeClr val="tx1"/>
              </a:solidFill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BE186E23-7D2D-4CF0-8FBB-5CADCBB44C53}"/>
              </a:ext>
            </a:extLst>
          </p:cNvPr>
          <p:cNvSpPr txBox="1">
            <a:spLocks/>
          </p:cNvSpPr>
          <p:nvPr/>
        </p:nvSpPr>
        <p:spPr>
          <a:xfrm>
            <a:off x="475153" y="2117160"/>
            <a:ext cx="5620847" cy="74126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altLang="ja-JP" sz="2000" b="1" i="1" u="sng" dirty="0">
                <a:latin typeface="Gidole"/>
              </a:rPr>
              <a:t>Discrete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A55C1AB4-33AA-404A-A4ED-98566FFC7F49}"/>
              </a:ext>
            </a:extLst>
          </p:cNvPr>
          <p:cNvSpPr txBox="1">
            <a:spLocks/>
          </p:cNvSpPr>
          <p:nvPr/>
        </p:nvSpPr>
        <p:spPr>
          <a:xfrm>
            <a:off x="6096000" y="2117160"/>
            <a:ext cx="5620847" cy="55780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altLang="ja-JP" sz="2000" b="1" i="1" u="sng" dirty="0">
                <a:latin typeface="Gidole"/>
              </a:rPr>
              <a:t>Continuous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37D419E3-C1B2-463A-9903-2BC6519FEF4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5153" y="2659053"/>
                <a:ext cx="5620847" cy="1295217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:r>
                  <a:rPr lang="en-US" altLang="ja-JP" sz="1600" dirty="0">
                    <a:solidFill>
                      <a:schemeClr val="tx1"/>
                    </a:solidFill>
                  </a:rPr>
                  <a:t>A </a:t>
                </a:r>
                <a:r>
                  <a:rPr lang="en-US" altLang="ja-JP" sz="1600" b="1" dirty="0">
                    <a:solidFill>
                      <a:schemeClr val="tx1"/>
                    </a:solidFill>
                  </a:rPr>
                  <a:t>probability mass function</a:t>
                </a:r>
                <a:r>
                  <a:rPr lang="en-US" altLang="ja-JP" sz="16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ja-JP" sz="1600" b="1" dirty="0">
                    <a:solidFill>
                      <a:schemeClr val="tx1"/>
                    </a:solidFill>
                  </a:rPr>
                  <a:t>P</a:t>
                </a:r>
                <a:r>
                  <a:rPr lang="en-US" altLang="ja-JP" sz="1600" b="1" baseline="-25000" dirty="0">
                    <a:solidFill>
                      <a:schemeClr val="tx1"/>
                    </a:solidFill>
                  </a:rPr>
                  <a:t>X</a:t>
                </a:r>
                <a:r>
                  <a:rPr lang="en-US" altLang="ja-JP" sz="1600" dirty="0">
                    <a:solidFill>
                      <a:schemeClr val="tx1"/>
                    </a:solidFill>
                  </a:rPr>
                  <a:t> is a mapping from outcomes of X to the real line with the properties that:</a:t>
                </a:r>
              </a:p>
              <a:p>
                <a:pPr marL="1085793" lvl="1" indent="-400050" algn="just">
                  <a:lnSpc>
                    <a:spcPct val="100000"/>
                  </a:lnSpc>
                  <a:buFont typeface="+mj-lt"/>
                  <a:buAutoNum type="romanLcPeriod"/>
                </a:pPr>
                <a14:m>
                  <m:oMath xmlns:m="http://schemas.openxmlformats.org/officeDocument/2006/math">
                    <m:r>
                      <a:rPr lang="en-NZ" altLang="ja-JP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0≤</m:t>
                    </m:r>
                    <m:sSub>
                      <m:sSubPr>
                        <m:ctrlPr>
                          <a:rPr lang="en-NZ" altLang="ja-JP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NZ" altLang="ja-JP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NZ" altLang="ja-JP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NZ" altLang="ja-JP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NZ" altLang="ja-JP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NZ" altLang="ja-JP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NZ" altLang="ja-JP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≤1</m:t>
                    </m:r>
                  </m:oMath>
                </a14:m>
                <a:endParaRPr lang="en-NZ" altLang="ja-JP" sz="1600" b="0" dirty="0">
                  <a:solidFill>
                    <a:schemeClr val="tx1"/>
                  </a:solidFill>
                </a:endParaRPr>
              </a:p>
              <a:p>
                <a:pPr marL="1085793" lvl="1" indent="-400050" algn="just">
                  <a:lnSpc>
                    <a:spcPct val="100000"/>
                  </a:lnSpc>
                  <a:buFont typeface="+mj-lt"/>
                  <a:buAutoNum type="romanLcPeriod"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NZ" altLang="ja-JP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NZ" altLang="ja-JP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NZ" altLang="ja-JP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NZ" altLang="ja-JP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NZ" altLang="ja-JP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NZ" altLang="ja-JP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NZ" altLang="ja-JP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d>
                          <m:dPr>
                            <m:ctrlPr>
                              <a:rPr lang="en-NZ" altLang="ja-JP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NZ" altLang="ja-JP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NZ" altLang="ja-JP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NZ" altLang="ja-JP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NZ" altLang="ja-JP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nary>
                  </m:oMath>
                </a14:m>
                <a:endParaRPr lang="en-NZ" altLang="ja-JP" sz="1600" b="0" dirty="0">
                  <a:solidFill>
                    <a:schemeClr val="tx1"/>
                  </a:solidFill>
                </a:endParaRPr>
              </a:p>
              <a:p>
                <a:pPr marL="1085793" lvl="1" indent="-400050" algn="just">
                  <a:lnSpc>
                    <a:spcPct val="100000"/>
                  </a:lnSpc>
                  <a:buFont typeface="+mj-lt"/>
                  <a:buAutoNum type="romanLcPeriod"/>
                </a:pPr>
                <a:endParaRPr lang="en-NZ" altLang="ja-JP" sz="1600" b="0" dirty="0">
                  <a:solidFill>
                    <a:schemeClr val="tx1"/>
                  </a:solidFill>
                </a:endParaRPr>
              </a:p>
              <a:p>
                <a:pPr marL="1085793" lvl="1" indent="-400050" algn="just">
                  <a:lnSpc>
                    <a:spcPct val="100000"/>
                  </a:lnSpc>
                  <a:buFont typeface="+mj-lt"/>
                  <a:buAutoNum type="romanLcPeriod"/>
                </a:pPr>
                <a:endParaRPr lang="en-US" altLang="ja-JP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37D419E3-C1B2-463A-9903-2BC6519FEF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153" y="2659053"/>
                <a:ext cx="5620847" cy="1295217"/>
              </a:xfrm>
              <a:prstGeom prst="rect">
                <a:avLst/>
              </a:prstGeom>
              <a:blipFill>
                <a:blip r:embed="rId3"/>
                <a:stretch>
                  <a:fillRect l="-651" t="-1408" r="-542" b="-36620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Placeholder 5">
                <a:extLst>
                  <a:ext uri="{FF2B5EF4-FFF2-40B4-BE49-F238E27FC236}">
                    <a16:creationId xmlns:a16="http://schemas.microsoft.com/office/drawing/2014/main" id="{C15B94E9-0717-4437-8FAE-C4572C614E5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07380" y="2659052"/>
                <a:ext cx="5620847" cy="1295217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:r>
                  <a:rPr lang="en-US" altLang="ja-JP" sz="1600" dirty="0">
                    <a:solidFill>
                      <a:schemeClr val="tx1"/>
                    </a:solidFill>
                  </a:rPr>
                  <a:t>A </a:t>
                </a:r>
                <a:r>
                  <a:rPr lang="en-US" altLang="ja-JP" sz="1600" b="1" dirty="0">
                    <a:solidFill>
                      <a:schemeClr val="tx1"/>
                    </a:solidFill>
                  </a:rPr>
                  <a:t>probability density function</a:t>
                </a:r>
                <a:r>
                  <a:rPr lang="en-US" altLang="ja-JP" sz="16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ja-JP" sz="1600" b="1" dirty="0" err="1">
                    <a:solidFill>
                      <a:schemeClr val="tx1"/>
                    </a:solidFill>
                  </a:rPr>
                  <a:t>f</a:t>
                </a:r>
                <a:r>
                  <a:rPr lang="en-US" altLang="ja-JP" sz="1600" b="1" baseline="-25000" dirty="0" err="1">
                    <a:solidFill>
                      <a:schemeClr val="tx1"/>
                    </a:solidFill>
                  </a:rPr>
                  <a:t>X</a:t>
                </a:r>
                <a:r>
                  <a:rPr lang="en-US" altLang="ja-JP" sz="1600" dirty="0">
                    <a:solidFill>
                      <a:schemeClr val="tx1"/>
                    </a:solidFill>
                  </a:rPr>
                  <a:t> is a mapping from outcomes of X to the real line with the properties that:</a:t>
                </a:r>
              </a:p>
              <a:p>
                <a:pPr marL="1085793" lvl="1" indent="-400050" algn="just">
                  <a:lnSpc>
                    <a:spcPct val="100000"/>
                  </a:lnSpc>
                  <a:buFont typeface="+mj-lt"/>
                  <a:buAutoNum type="romanL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NZ" altLang="ja-JP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NZ" altLang="ja-JP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NZ" altLang="ja-JP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NZ" altLang="ja-JP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endParaRPr lang="en-NZ" altLang="ja-JP" sz="1600" b="0" dirty="0">
                  <a:solidFill>
                    <a:schemeClr val="tx1"/>
                  </a:solidFill>
                </a:endParaRPr>
              </a:p>
              <a:p>
                <a:pPr marL="1085793" lvl="1" indent="-400050" algn="just">
                  <a:lnSpc>
                    <a:spcPct val="100000"/>
                  </a:lnSpc>
                  <a:buFont typeface="+mj-lt"/>
                  <a:buAutoNum type="romanLcPeriod"/>
                </a:pPr>
                <a14:m>
                  <m:oMath xmlns:m="http://schemas.openxmlformats.org/officeDocument/2006/math">
                    <m:nary>
                      <m:naryPr>
                        <m:limLoc m:val="undOvr"/>
                        <m:ctrlPr>
                          <a:rPr lang="en-NZ" altLang="ja-JP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NZ" altLang="ja-JP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NZ" altLang="ja-JP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sSub>
                          <m:sSubPr>
                            <m:ctrlPr>
                              <a:rPr lang="en-NZ" altLang="ja-JP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NZ" altLang="ja-JP" sz="16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NZ" altLang="ja-JP" sz="16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d>
                          <m:dPr>
                            <m:ctrlPr>
                              <a:rPr lang="en-NZ" altLang="ja-JP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NZ" altLang="ja-JP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nary>
                    <m:r>
                      <a:rPr lang="en-NZ" altLang="ja-JP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𝑑𝑥</m:t>
                    </m:r>
                    <m:r>
                      <a:rPr lang="en-NZ" altLang="ja-JP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=1</m:t>
                    </m:r>
                  </m:oMath>
                </a14:m>
                <a:endParaRPr lang="en-NZ" altLang="ja-JP" sz="1600" b="0" dirty="0">
                  <a:solidFill>
                    <a:schemeClr val="tx1"/>
                  </a:solidFill>
                </a:endParaRPr>
              </a:p>
              <a:p>
                <a:pPr marL="1085793" lvl="1" indent="-400050" algn="just">
                  <a:lnSpc>
                    <a:spcPct val="100000"/>
                  </a:lnSpc>
                  <a:buFont typeface="+mj-lt"/>
                  <a:buAutoNum type="romanLcPeriod"/>
                </a:pPr>
                <a:endParaRPr lang="en-NZ" altLang="ja-JP" sz="1600" b="0" dirty="0">
                  <a:solidFill>
                    <a:schemeClr val="tx1"/>
                  </a:solidFill>
                </a:endParaRPr>
              </a:p>
              <a:p>
                <a:pPr marL="1085793" lvl="1" indent="-400050" algn="just">
                  <a:lnSpc>
                    <a:spcPct val="100000"/>
                  </a:lnSpc>
                  <a:buFont typeface="+mj-lt"/>
                  <a:buAutoNum type="romanLcPeriod"/>
                </a:pPr>
                <a:endParaRPr lang="en-US" altLang="ja-JP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Text Placeholder 5">
                <a:extLst>
                  <a:ext uri="{FF2B5EF4-FFF2-40B4-BE49-F238E27FC236}">
                    <a16:creationId xmlns:a16="http://schemas.microsoft.com/office/drawing/2014/main" id="{C15B94E9-0717-4437-8FAE-C4572C614E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7380" y="2659052"/>
                <a:ext cx="5620847" cy="1295217"/>
              </a:xfrm>
              <a:prstGeom prst="rect">
                <a:avLst/>
              </a:prstGeom>
              <a:blipFill>
                <a:blip r:embed="rId4"/>
                <a:stretch>
                  <a:fillRect l="-542" t="-1408" r="-651" b="-52582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AB4782E5-E8F6-47F3-87C2-130D69AE9A04}"/>
              </a:ext>
            </a:extLst>
          </p:cNvPr>
          <p:cNvSpPr txBox="1">
            <a:spLocks/>
          </p:cNvSpPr>
          <p:nvPr/>
        </p:nvSpPr>
        <p:spPr>
          <a:xfrm>
            <a:off x="475153" y="4256913"/>
            <a:ext cx="5620847" cy="49358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NZ" altLang="ja-JP" sz="1600" b="1" i="1" dirty="0">
                <a:solidFill>
                  <a:schemeClr val="tx1"/>
                </a:solidFill>
              </a:rPr>
              <a:t>Example - # Heads out of three coin-tosses</a:t>
            </a:r>
            <a:endParaRPr lang="en-NZ" altLang="ja-JP" sz="1600" b="0" dirty="0">
              <a:solidFill>
                <a:schemeClr val="tx1"/>
              </a:solidFill>
            </a:endParaRPr>
          </a:p>
          <a:p>
            <a:pPr marL="1085793" lvl="1" indent="-400050" algn="just">
              <a:lnSpc>
                <a:spcPct val="100000"/>
              </a:lnSpc>
              <a:buFont typeface="+mj-lt"/>
              <a:buAutoNum type="romanLcPeriod"/>
            </a:pPr>
            <a:endParaRPr lang="en-US" altLang="ja-JP" sz="1600" dirty="0">
              <a:solidFill>
                <a:schemeClr val="tx1"/>
              </a:solidFill>
            </a:endParaRP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599CEFE0-C16D-4A1C-BEE8-75AF577724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2598699"/>
              </p:ext>
            </p:extLst>
          </p:nvPr>
        </p:nvGraphicFramePr>
        <p:xfrm>
          <a:off x="475153" y="4750494"/>
          <a:ext cx="3748585" cy="9661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49717">
                  <a:extLst>
                    <a:ext uri="{9D8B030D-6E8A-4147-A177-3AD203B41FA5}">
                      <a16:colId xmlns:a16="http://schemas.microsoft.com/office/drawing/2014/main" val="2172846292"/>
                    </a:ext>
                  </a:extLst>
                </a:gridCol>
                <a:gridCol w="749717">
                  <a:extLst>
                    <a:ext uri="{9D8B030D-6E8A-4147-A177-3AD203B41FA5}">
                      <a16:colId xmlns:a16="http://schemas.microsoft.com/office/drawing/2014/main" val="3564939060"/>
                    </a:ext>
                  </a:extLst>
                </a:gridCol>
                <a:gridCol w="749717">
                  <a:extLst>
                    <a:ext uri="{9D8B030D-6E8A-4147-A177-3AD203B41FA5}">
                      <a16:colId xmlns:a16="http://schemas.microsoft.com/office/drawing/2014/main" val="2041427015"/>
                    </a:ext>
                  </a:extLst>
                </a:gridCol>
                <a:gridCol w="749717">
                  <a:extLst>
                    <a:ext uri="{9D8B030D-6E8A-4147-A177-3AD203B41FA5}">
                      <a16:colId xmlns:a16="http://schemas.microsoft.com/office/drawing/2014/main" val="2703515310"/>
                    </a:ext>
                  </a:extLst>
                </a:gridCol>
                <a:gridCol w="749717">
                  <a:extLst>
                    <a:ext uri="{9D8B030D-6E8A-4147-A177-3AD203B41FA5}">
                      <a16:colId xmlns:a16="http://schemas.microsoft.com/office/drawing/2014/main" val="1569213684"/>
                    </a:ext>
                  </a:extLst>
                </a:gridCol>
              </a:tblGrid>
              <a:tr h="483084">
                <a:tc>
                  <a:txBody>
                    <a:bodyPr/>
                    <a:lstStyle/>
                    <a:p>
                      <a:pPr algn="ctr" fontAlgn="ctr"/>
                      <a:endParaRPr lang="en-NZ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400" b="1" u="none" strike="noStrike" dirty="0">
                          <a:effectLst/>
                        </a:rPr>
                        <a:t>X=0</a:t>
                      </a:r>
                      <a:endParaRPr lang="en-NZ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400" b="1" u="none" strike="noStrike" dirty="0">
                          <a:effectLst/>
                        </a:rPr>
                        <a:t>X=1</a:t>
                      </a:r>
                      <a:endParaRPr lang="en-NZ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400" b="1" u="none" strike="noStrike" dirty="0">
                          <a:effectLst/>
                        </a:rPr>
                        <a:t>X=2</a:t>
                      </a:r>
                      <a:endParaRPr lang="en-NZ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400" b="1" u="none" strike="noStrike" dirty="0">
                          <a:effectLst/>
                        </a:rPr>
                        <a:t>X=3</a:t>
                      </a:r>
                      <a:endParaRPr lang="en-NZ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2727335"/>
                  </a:ext>
                </a:extLst>
              </a:tr>
              <a:tr h="483084"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400" b="1" u="none" strike="noStrike" dirty="0">
                          <a:effectLst/>
                        </a:rPr>
                        <a:t>P(X = x)</a:t>
                      </a:r>
                      <a:endParaRPr lang="en-NZ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400" u="none" strike="noStrike">
                          <a:effectLst/>
                        </a:rPr>
                        <a:t>1/8</a:t>
                      </a:r>
                      <a:endParaRPr lang="en-NZ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400" u="none" strike="noStrike" dirty="0">
                          <a:effectLst/>
                        </a:rPr>
                        <a:t>3/8</a:t>
                      </a:r>
                      <a:endParaRPr lang="en-NZ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400" u="none" strike="noStrike" dirty="0">
                          <a:effectLst/>
                        </a:rPr>
                        <a:t>3/8</a:t>
                      </a:r>
                      <a:endParaRPr lang="en-NZ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400" u="none" strike="noStrike" dirty="0">
                          <a:effectLst/>
                        </a:rPr>
                        <a:t>1/8</a:t>
                      </a:r>
                      <a:endParaRPr lang="en-NZ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48292474"/>
                  </a:ext>
                </a:extLst>
              </a:tr>
            </a:tbl>
          </a:graphicData>
        </a:graphic>
      </p:graphicFrame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6394E460-32CF-433B-BDA5-0F0FFC9E1112}"/>
              </a:ext>
            </a:extLst>
          </p:cNvPr>
          <p:cNvSpPr txBox="1">
            <a:spLocks/>
          </p:cNvSpPr>
          <p:nvPr/>
        </p:nvSpPr>
        <p:spPr>
          <a:xfrm>
            <a:off x="6407380" y="4256913"/>
            <a:ext cx="5620847" cy="5645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NZ" altLang="ja-JP" sz="1600" b="1" i="1" dirty="0">
                <a:solidFill>
                  <a:schemeClr val="tx1"/>
                </a:solidFill>
              </a:rPr>
              <a:t>Example – A </a:t>
            </a:r>
            <a:r>
              <a:rPr lang="en-NZ" altLang="ja-JP" sz="1600" b="1" i="1" dirty="0" err="1">
                <a:solidFill>
                  <a:schemeClr val="tx1"/>
                </a:solidFill>
              </a:rPr>
              <a:t>r.v.</a:t>
            </a:r>
            <a:r>
              <a:rPr lang="en-NZ" altLang="ja-JP" sz="1600" b="1" i="1" dirty="0">
                <a:solidFill>
                  <a:schemeClr val="tx1"/>
                </a:solidFill>
              </a:rPr>
              <a:t> that is equally likely to take any value in the interval [0,10]</a:t>
            </a:r>
            <a:endParaRPr lang="en-NZ" altLang="ja-JP" sz="1600" b="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 Placeholder 5">
                <a:extLst>
                  <a:ext uri="{FF2B5EF4-FFF2-40B4-BE49-F238E27FC236}">
                    <a16:creationId xmlns:a16="http://schemas.microsoft.com/office/drawing/2014/main" id="{BF9C4B5A-A1D0-493E-8E30-BA1959D2B22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07380" y="4937485"/>
                <a:ext cx="5620847" cy="56459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lang="en-NZ" altLang="ja-JP" sz="1600" b="0" dirty="0">
                    <a:solidFill>
                      <a:schemeClr val="tx1"/>
                    </a:solidFill>
                  </a:rPr>
                  <a:t>We say that </a:t>
                </a:r>
                <a14:m>
                  <m:oMath xmlns:m="http://schemas.openxmlformats.org/officeDocument/2006/math">
                    <m:r>
                      <a:rPr lang="en-NZ" altLang="ja-JP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NZ" altLang="ja-JP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NZ" altLang="ja-JP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a:rPr lang="en-NZ" altLang="ja-JP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(0,10)</m:t>
                    </m:r>
                  </m:oMath>
                </a14:m>
                <a:endParaRPr lang="en-NZ" altLang="ja-JP" sz="16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NZ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NZ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NZ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NZ" altLang="ja-JP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NZ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NZ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NZ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NZ" altLang="ja-JP" sz="1600" b="0" dirty="0">
                  <a:solidFill>
                    <a:schemeClr val="tx1"/>
                  </a:solidFill>
                </a:endParaRPr>
              </a:p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ctrlPr>
                            <a:rPr lang="en-NZ" altLang="ja-JP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NZ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NZ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NZ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NZ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=10</m:t>
                          </m:r>
                        </m:sup>
                        <m:e>
                          <m:f>
                            <m:fPr>
                              <m:ctrlP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nary>
                      <m:r>
                        <a:rPr lang="en-NZ" altLang="ja-JP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NZ" altLang="ja-JP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NZ" altLang="ja-JP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=  </m:t>
                      </m:r>
                      <m:sSub>
                        <m:sSubPr>
                          <m:ctrlPr>
                            <a:rPr lang="en-NZ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Sup>
                            <m:sSubSupPr>
                              <m:ctrlP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NZ" altLang="ja-JP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NZ" altLang="ja-JP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f>
                                    <m:fPr>
                                      <m:ctrlPr>
                                        <a:rPr lang="en-NZ" altLang="ja-JP" sz="16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NZ" altLang="ja-JP" sz="16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num>
                                    <m:den>
                                      <m:r>
                                        <a:rPr lang="en-NZ" altLang="ja-JP" sz="16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den>
                                  </m:f>
                                  <m:r>
                                    <a:rPr lang="en-NZ" altLang="ja-JP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d>
                            </m:e>
                            <m:sub>
                              <m: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=10</m:t>
                              </m:r>
                            </m:sup>
                          </m:sSubSup>
                        </m:e>
                        <m:sub/>
                      </m:sSub>
                      <m:r>
                        <a:rPr lang="en-NZ" altLang="ja-JP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 1 </m:t>
                      </m:r>
                    </m:oMath>
                  </m:oMathPara>
                </a14:m>
                <a:endParaRPr lang="en-NZ" altLang="ja-JP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Text Placeholder 5">
                <a:extLst>
                  <a:ext uri="{FF2B5EF4-FFF2-40B4-BE49-F238E27FC236}">
                    <a16:creationId xmlns:a16="http://schemas.microsoft.com/office/drawing/2014/main" id="{BF9C4B5A-A1D0-493E-8E30-BA1959D2B2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7380" y="4937485"/>
                <a:ext cx="5620847" cy="564599"/>
              </a:xfrm>
              <a:prstGeom prst="rect">
                <a:avLst/>
              </a:prstGeom>
              <a:blipFill>
                <a:blip r:embed="rId5"/>
                <a:stretch>
                  <a:fillRect t="-3226" b="-162366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6083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13" grpId="0"/>
      <p:bldP spid="14" grpId="0"/>
      <p:bldP spid="15" grpId="0"/>
      <p:bldP spid="19" grpId="0"/>
      <p:bldP spid="2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6733"/>
            <a:ext cx="2185386" cy="741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4AD89C-DF1E-4948-B597-5DD47B34A9CA}" type="slidenum">
              <a:rPr kumimoji="1" lang="ja-JP" altLang="en-US" smtClean="0">
                <a:solidFill>
                  <a:srgbClr val="575454">
                    <a:lumMod val="20000"/>
                    <a:lumOff val="80000"/>
                  </a:srgbClr>
                </a:solidFill>
                <a:latin typeface="Coo Hew"/>
              </a:rPr>
              <a:pPr/>
              <a:t>21</a:t>
            </a:fld>
            <a:endParaRPr kumimoji="1" lang="ja-JP" altLang="en-US" dirty="0">
              <a:solidFill>
                <a:srgbClr val="575454">
                  <a:lumMod val="20000"/>
                  <a:lumOff val="80000"/>
                </a:srgbClr>
              </a:solidFill>
              <a:latin typeface="Coo Hew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DCE95AA1-F247-4D03-9A84-A08A95E2EB81}"/>
              </a:ext>
            </a:extLst>
          </p:cNvPr>
          <p:cNvSpPr txBox="1">
            <a:spLocks/>
          </p:cNvSpPr>
          <p:nvPr/>
        </p:nvSpPr>
        <p:spPr>
          <a:xfrm>
            <a:off x="319463" y="310113"/>
            <a:ext cx="8168429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b="1" u="sng" dirty="0">
                <a:latin typeface="+mn-lt"/>
              </a:rPr>
              <a:t>1.3b - Expectation of a Random Variable:</a:t>
            </a:r>
            <a:endParaRPr lang="ja-JP" altLang="en-US" b="1" u="sng" dirty="0">
              <a:latin typeface="+mn-lt"/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CF0EF27-D66E-440A-ADCA-1A987E76987F}"/>
              </a:ext>
            </a:extLst>
          </p:cNvPr>
          <p:cNvSpPr txBox="1">
            <a:spLocks/>
          </p:cNvSpPr>
          <p:nvPr/>
        </p:nvSpPr>
        <p:spPr>
          <a:xfrm>
            <a:off x="319463" y="1050542"/>
            <a:ext cx="11553074" cy="74126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US" altLang="ja-JP" sz="2000" dirty="0">
                <a:solidFill>
                  <a:schemeClr val="tx1"/>
                </a:solidFill>
              </a:rPr>
              <a:t>The </a:t>
            </a:r>
            <a:r>
              <a:rPr lang="en-US" altLang="ja-JP" sz="2000" b="1" dirty="0">
                <a:solidFill>
                  <a:schemeClr val="tx1"/>
                </a:solidFill>
              </a:rPr>
              <a:t>expectation</a:t>
            </a:r>
            <a:r>
              <a:rPr lang="en-US" altLang="ja-JP" sz="2000" dirty="0">
                <a:solidFill>
                  <a:schemeClr val="tx1"/>
                </a:solidFill>
              </a:rPr>
              <a:t> of a random variable </a:t>
            </a:r>
            <a:r>
              <a:rPr lang="en-US" altLang="ja-JP" sz="2000" b="1" i="1" dirty="0">
                <a:solidFill>
                  <a:schemeClr val="tx1"/>
                </a:solidFill>
              </a:rPr>
              <a:t>E[X]</a:t>
            </a:r>
            <a:r>
              <a:rPr lang="en-US" altLang="ja-JP" sz="2000" dirty="0">
                <a:solidFill>
                  <a:schemeClr val="tx1"/>
                </a:solidFill>
              </a:rPr>
              <a:t> is a probability weighted average of the outcomes of </a:t>
            </a:r>
            <a:r>
              <a:rPr lang="en-US" altLang="ja-JP" sz="2000" b="1" i="1" dirty="0">
                <a:solidFill>
                  <a:schemeClr val="tx1"/>
                </a:solidFill>
              </a:rPr>
              <a:t>X</a:t>
            </a:r>
            <a:r>
              <a:rPr lang="en-US" altLang="ja-JP" sz="2000" dirty="0">
                <a:solidFill>
                  <a:schemeClr val="tx1"/>
                </a:solidFill>
              </a:rPr>
              <a:t>. </a:t>
            </a:r>
            <a:br>
              <a:rPr lang="en-US" altLang="ja-JP" sz="2000" dirty="0">
                <a:solidFill>
                  <a:schemeClr val="tx1"/>
                </a:solidFill>
              </a:rPr>
            </a:br>
            <a:r>
              <a:rPr lang="en-US" altLang="ja-JP" sz="2000" dirty="0">
                <a:solidFill>
                  <a:schemeClr val="tx1"/>
                </a:solidFill>
              </a:rPr>
              <a:t>Its the value you would get if you repeated the experiment many-many times and averaged all the outcomes.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BE186E23-7D2D-4CF0-8FBB-5CADCBB44C53}"/>
              </a:ext>
            </a:extLst>
          </p:cNvPr>
          <p:cNvSpPr txBox="1">
            <a:spLocks/>
          </p:cNvSpPr>
          <p:nvPr/>
        </p:nvSpPr>
        <p:spPr>
          <a:xfrm>
            <a:off x="475153" y="1940442"/>
            <a:ext cx="5620847" cy="74126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altLang="ja-JP" sz="2000" b="1" i="1" u="sng" dirty="0">
                <a:latin typeface="Gidole"/>
              </a:rPr>
              <a:t>Discrete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A55C1AB4-33AA-404A-A4ED-98566FFC7F49}"/>
              </a:ext>
            </a:extLst>
          </p:cNvPr>
          <p:cNvSpPr txBox="1">
            <a:spLocks/>
          </p:cNvSpPr>
          <p:nvPr/>
        </p:nvSpPr>
        <p:spPr>
          <a:xfrm>
            <a:off x="6096000" y="1978479"/>
            <a:ext cx="5620847" cy="55780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altLang="ja-JP" sz="2000" b="1" i="1" u="sng" dirty="0">
                <a:latin typeface="Gidole"/>
              </a:rPr>
              <a:t>Continuous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37D419E3-C1B2-463A-9903-2BC6519FEF4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5153" y="2463144"/>
                <a:ext cx="5620847" cy="1295217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:r>
                  <a:rPr lang="en-NZ" altLang="ja-JP" sz="1600" dirty="0">
                    <a:solidFill>
                      <a:schemeClr val="tx1"/>
                    </a:solidFill>
                  </a:rPr>
                  <a:t>The expectation of a discrete random variable is calculated according to the formula:</a:t>
                </a:r>
              </a:p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NZ" altLang="ja-JP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NZ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NZ" altLang="ja-JP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 </m:t>
                      </m:r>
                      <m:nary>
                        <m:naryPr>
                          <m:chr m:val="∑"/>
                          <m:ctrlPr>
                            <a:rPr lang="en-NZ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NZ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NZ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NZ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NZ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∗</m:t>
                          </m:r>
                          <m:sSub>
                            <m:sSubPr>
                              <m:ctrlP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r>
                            <a:rPr lang="en-NZ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NZ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NZ" altLang="ja-JP" sz="1600" b="0" dirty="0">
                  <a:solidFill>
                    <a:schemeClr val="tx1"/>
                  </a:solidFill>
                </a:endParaRPr>
              </a:p>
              <a:p>
                <a:pPr marL="1085793" lvl="1" indent="-400050" algn="just">
                  <a:lnSpc>
                    <a:spcPct val="100000"/>
                  </a:lnSpc>
                  <a:buFont typeface="+mj-lt"/>
                  <a:buAutoNum type="romanLcPeriod"/>
                </a:pPr>
                <a:endParaRPr lang="en-NZ" altLang="ja-JP" sz="1600" b="0" dirty="0">
                  <a:solidFill>
                    <a:schemeClr val="tx1"/>
                  </a:solidFill>
                </a:endParaRPr>
              </a:p>
              <a:p>
                <a:pPr marL="1085793" lvl="1" indent="-400050" algn="just">
                  <a:lnSpc>
                    <a:spcPct val="100000"/>
                  </a:lnSpc>
                  <a:buFont typeface="+mj-lt"/>
                  <a:buAutoNum type="romanLcPeriod"/>
                </a:pPr>
                <a:endParaRPr lang="en-US" altLang="ja-JP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37D419E3-C1B2-463A-9903-2BC6519FEF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153" y="2463144"/>
                <a:ext cx="5620847" cy="1295217"/>
              </a:xfrm>
              <a:prstGeom prst="rect">
                <a:avLst/>
              </a:prstGeom>
              <a:blipFill>
                <a:blip r:embed="rId3"/>
                <a:stretch>
                  <a:fillRect l="-651" t="-1408" r="-542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AB4782E5-E8F6-47F3-87C2-130D69AE9A04}"/>
              </a:ext>
            </a:extLst>
          </p:cNvPr>
          <p:cNvSpPr txBox="1">
            <a:spLocks/>
          </p:cNvSpPr>
          <p:nvPr/>
        </p:nvSpPr>
        <p:spPr>
          <a:xfrm>
            <a:off x="475152" y="3856841"/>
            <a:ext cx="5620847" cy="49358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NZ" altLang="ja-JP" sz="1600" b="1" i="1" dirty="0">
                <a:solidFill>
                  <a:schemeClr val="tx1"/>
                </a:solidFill>
              </a:rPr>
              <a:t>Example - # Heads out of three coin-tosses</a:t>
            </a:r>
            <a:endParaRPr lang="en-NZ" altLang="ja-JP" sz="1600" b="0" dirty="0">
              <a:solidFill>
                <a:schemeClr val="tx1"/>
              </a:solidFill>
            </a:endParaRPr>
          </a:p>
          <a:p>
            <a:pPr marL="1085793" lvl="1" indent="-400050" algn="just">
              <a:lnSpc>
                <a:spcPct val="100000"/>
              </a:lnSpc>
              <a:buFont typeface="+mj-lt"/>
              <a:buAutoNum type="romanLcPeriod"/>
            </a:pPr>
            <a:endParaRPr lang="en-US" altLang="ja-JP" sz="1600" dirty="0">
              <a:solidFill>
                <a:schemeClr val="tx1"/>
              </a:solidFill>
            </a:endParaRP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599CEFE0-C16D-4A1C-BEE8-75AF577724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4614964"/>
              </p:ext>
            </p:extLst>
          </p:nvPr>
        </p:nvGraphicFramePr>
        <p:xfrm>
          <a:off x="475152" y="4243026"/>
          <a:ext cx="3748585" cy="9661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49717">
                  <a:extLst>
                    <a:ext uri="{9D8B030D-6E8A-4147-A177-3AD203B41FA5}">
                      <a16:colId xmlns:a16="http://schemas.microsoft.com/office/drawing/2014/main" val="2172846292"/>
                    </a:ext>
                  </a:extLst>
                </a:gridCol>
                <a:gridCol w="749717">
                  <a:extLst>
                    <a:ext uri="{9D8B030D-6E8A-4147-A177-3AD203B41FA5}">
                      <a16:colId xmlns:a16="http://schemas.microsoft.com/office/drawing/2014/main" val="3564939060"/>
                    </a:ext>
                  </a:extLst>
                </a:gridCol>
                <a:gridCol w="749717">
                  <a:extLst>
                    <a:ext uri="{9D8B030D-6E8A-4147-A177-3AD203B41FA5}">
                      <a16:colId xmlns:a16="http://schemas.microsoft.com/office/drawing/2014/main" val="2041427015"/>
                    </a:ext>
                  </a:extLst>
                </a:gridCol>
                <a:gridCol w="749717">
                  <a:extLst>
                    <a:ext uri="{9D8B030D-6E8A-4147-A177-3AD203B41FA5}">
                      <a16:colId xmlns:a16="http://schemas.microsoft.com/office/drawing/2014/main" val="2703515310"/>
                    </a:ext>
                  </a:extLst>
                </a:gridCol>
                <a:gridCol w="749717">
                  <a:extLst>
                    <a:ext uri="{9D8B030D-6E8A-4147-A177-3AD203B41FA5}">
                      <a16:colId xmlns:a16="http://schemas.microsoft.com/office/drawing/2014/main" val="1569213684"/>
                    </a:ext>
                  </a:extLst>
                </a:gridCol>
              </a:tblGrid>
              <a:tr h="483084">
                <a:tc>
                  <a:txBody>
                    <a:bodyPr/>
                    <a:lstStyle/>
                    <a:p>
                      <a:pPr algn="ctr" fontAlgn="ctr"/>
                      <a:endParaRPr lang="en-NZ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400" b="1" u="none" strike="noStrike" dirty="0">
                          <a:effectLst/>
                        </a:rPr>
                        <a:t>X=0</a:t>
                      </a:r>
                      <a:endParaRPr lang="en-NZ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400" b="1" u="none" strike="noStrike" dirty="0">
                          <a:effectLst/>
                        </a:rPr>
                        <a:t>X=1</a:t>
                      </a:r>
                      <a:endParaRPr lang="en-NZ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400" b="1" u="none" strike="noStrike" dirty="0">
                          <a:effectLst/>
                        </a:rPr>
                        <a:t>X=2</a:t>
                      </a:r>
                      <a:endParaRPr lang="en-NZ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400" b="1" u="none" strike="noStrike" dirty="0">
                          <a:effectLst/>
                        </a:rPr>
                        <a:t>X=3</a:t>
                      </a:r>
                      <a:endParaRPr lang="en-NZ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2727335"/>
                  </a:ext>
                </a:extLst>
              </a:tr>
              <a:tr h="483084"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400" b="1" u="none" strike="noStrike" dirty="0">
                          <a:effectLst/>
                        </a:rPr>
                        <a:t>P(X = x)</a:t>
                      </a:r>
                      <a:endParaRPr lang="en-NZ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400" u="none" strike="noStrike">
                          <a:effectLst/>
                        </a:rPr>
                        <a:t>1/8</a:t>
                      </a:r>
                      <a:endParaRPr lang="en-NZ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400" u="none" strike="noStrike" dirty="0">
                          <a:effectLst/>
                        </a:rPr>
                        <a:t>3/8</a:t>
                      </a:r>
                      <a:endParaRPr lang="en-NZ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400" u="none" strike="noStrike" dirty="0">
                          <a:effectLst/>
                        </a:rPr>
                        <a:t>3/8</a:t>
                      </a:r>
                      <a:endParaRPr lang="en-NZ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400" u="none" strike="noStrike" dirty="0">
                          <a:effectLst/>
                        </a:rPr>
                        <a:t>1/8</a:t>
                      </a:r>
                      <a:endParaRPr lang="en-NZ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4829247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 Placeholder 5">
                <a:extLst>
                  <a:ext uri="{FF2B5EF4-FFF2-40B4-BE49-F238E27FC236}">
                    <a16:creationId xmlns:a16="http://schemas.microsoft.com/office/drawing/2014/main" id="{6394E460-32CF-433B-BDA5-0F0FFC9E111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71153" y="3881583"/>
                <a:ext cx="5620847" cy="493582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:r>
                  <a:rPr lang="en-NZ" altLang="ja-JP" sz="1600" b="1" i="1" dirty="0">
                    <a:solidFill>
                      <a:schemeClr val="tx1"/>
                    </a:solidFill>
                  </a:rPr>
                  <a:t>Example – </a:t>
                </a:r>
                <a14:m>
                  <m:oMath xmlns:m="http://schemas.openxmlformats.org/officeDocument/2006/math">
                    <m:r>
                      <a:rPr lang="en-NZ" altLang="ja-JP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NZ" altLang="ja-JP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~</m:t>
                    </m:r>
                    <m:r>
                      <a:rPr lang="en-NZ" altLang="ja-JP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𝑼</m:t>
                    </m:r>
                    <m:r>
                      <a:rPr lang="en-NZ" altLang="ja-JP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NZ" altLang="ja-JP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NZ" altLang="ja-JP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NZ" altLang="ja-JP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𝟏𝟎</m:t>
                    </m:r>
                    <m:r>
                      <a:rPr lang="en-NZ" altLang="ja-JP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NZ" altLang="ja-JP" sz="1600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Text Placeholder 5">
                <a:extLst>
                  <a:ext uri="{FF2B5EF4-FFF2-40B4-BE49-F238E27FC236}">
                    <a16:creationId xmlns:a16="http://schemas.microsoft.com/office/drawing/2014/main" id="{6394E460-32CF-433B-BDA5-0F0FFC9E11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1153" y="3881583"/>
                <a:ext cx="5620847" cy="493582"/>
              </a:xfrm>
              <a:prstGeom prst="rect">
                <a:avLst/>
              </a:prstGeom>
              <a:blipFill>
                <a:blip r:embed="rId4"/>
                <a:stretch>
                  <a:fillRect l="-651" t="-3704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 Placeholder 5">
                <a:extLst>
                  <a:ext uri="{FF2B5EF4-FFF2-40B4-BE49-F238E27FC236}">
                    <a16:creationId xmlns:a16="http://schemas.microsoft.com/office/drawing/2014/main" id="{BF9C4B5A-A1D0-493E-8E30-BA1959D2B22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07378" y="4429696"/>
                <a:ext cx="5620847" cy="56459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NZ" altLang="ja-JP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NZ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NZ" altLang="ja-JP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limLoc m:val="undOvr"/>
                          <m:ctrlPr>
                            <a:rPr lang="en-NZ" altLang="ja-JP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NZ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NZ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NZ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NZ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=10</m:t>
                          </m:r>
                        </m:sup>
                        <m:e>
                          <m:r>
                            <a:rPr lang="en-NZ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NZ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∗</m:t>
                          </m:r>
                          <m:f>
                            <m:fPr>
                              <m:ctrlP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nary>
                      <m:r>
                        <a:rPr lang="en-NZ" altLang="ja-JP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NZ" altLang="ja-JP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NZ" altLang="ja-JP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=  </m:t>
                      </m:r>
                      <m:sSub>
                        <m:sSubPr>
                          <m:ctrlPr>
                            <a:rPr lang="en-NZ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Sup>
                            <m:sSubSupPr>
                              <m:ctrlP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NZ" altLang="ja-JP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NZ" altLang="ja-JP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f>
                                    <m:fPr>
                                      <m:ctrlPr>
                                        <a:rPr lang="en-NZ" altLang="ja-JP" sz="16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NZ" altLang="ja-JP" sz="16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NZ" altLang="ja-JP" sz="16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en-NZ" altLang="ja-JP" sz="16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r>
                                        <a:rPr lang="en-NZ" altLang="ja-JP" sz="16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20</m:t>
                                      </m:r>
                                    </m:den>
                                  </m:f>
                                  <m:r>
                                    <a:rPr lang="en-NZ" altLang="ja-JP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d>
                            </m:e>
                            <m:sub>
                              <m: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=10</m:t>
                              </m:r>
                            </m:sup>
                          </m:sSubSup>
                        </m:e>
                        <m:sub/>
                      </m:sSub>
                      <m:r>
                        <a:rPr lang="en-NZ" altLang="ja-JP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=5 </m:t>
                      </m:r>
                    </m:oMath>
                  </m:oMathPara>
                </a14:m>
                <a:endParaRPr lang="en-NZ" altLang="ja-JP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Text Placeholder 5">
                <a:extLst>
                  <a:ext uri="{FF2B5EF4-FFF2-40B4-BE49-F238E27FC236}">
                    <a16:creationId xmlns:a16="http://schemas.microsoft.com/office/drawing/2014/main" id="{BF9C4B5A-A1D0-493E-8E30-BA1959D2B2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7378" y="4429696"/>
                <a:ext cx="5620847" cy="564599"/>
              </a:xfrm>
              <a:prstGeom prst="rect">
                <a:avLst/>
              </a:prstGeom>
              <a:blipFill>
                <a:blip r:embed="rId5"/>
                <a:stretch>
                  <a:fillRect b="-40217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 Placeholder 5">
                <a:extLst>
                  <a:ext uri="{FF2B5EF4-FFF2-40B4-BE49-F238E27FC236}">
                    <a16:creationId xmlns:a16="http://schemas.microsoft.com/office/drawing/2014/main" id="{F0B069AF-0348-4778-9142-D29BFE95955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5151" y="5406706"/>
                <a:ext cx="5620847" cy="56459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NZ" altLang="ja-JP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NZ" altLang="ja-JP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NZ" altLang="ja-JP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 0 ∗</m:t>
                      </m:r>
                      <m:f>
                        <m:fPr>
                          <m:ctrlPr>
                            <a:rPr lang="en-NZ" altLang="ja-JP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NZ" altLang="ja-JP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NZ" altLang="ja-JP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en-NZ" altLang="ja-JP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+   1∗</m:t>
                      </m:r>
                      <m:f>
                        <m:fPr>
                          <m:ctrlPr>
                            <a:rPr lang="en-NZ" altLang="ja-JP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NZ" altLang="ja-JP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NZ" altLang="ja-JP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en-NZ" altLang="ja-JP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+   2∗</m:t>
                      </m:r>
                      <m:f>
                        <m:fPr>
                          <m:ctrlPr>
                            <a:rPr lang="en-NZ" altLang="ja-JP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NZ" altLang="ja-JP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NZ" altLang="ja-JP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en-NZ" altLang="ja-JP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+   3 ∗</m:t>
                      </m:r>
                      <m:f>
                        <m:fPr>
                          <m:ctrlPr>
                            <a:rPr lang="en-NZ" altLang="ja-JP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NZ" altLang="ja-JP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NZ" altLang="ja-JP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en-NZ" altLang="ja-JP" sz="1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NZ" altLang="ja-JP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=1.5</m:t>
                      </m:r>
                    </m:oMath>
                  </m:oMathPara>
                </a14:m>
                <a:endParaRPr lang="en-NZ" altLang="ja-JP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Text Placeholder 5">
                <a:extLst>
                  <a:ext uri="{FF2B5EF4-FFF2-40B4-BE49-F238E27FC236}">
                    <a16:creationId xmlns:a16="http://schemas.microsoft.com/office/drawing/2014/main" id="{F0B069AF-0348-4778-9142-D29BFE9595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151" y="5406706"/>
                <a:ext cx="5620847" cy="5645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 Placeholder 5">
                <a:extLst>
                  <a:ext uri="{FF2B5EF4-FFF2-40B4-BE49-F238E27FC236}">
                    <a16:creationId xmlns:a16="http://schemas.microsoft.com/office/drawing/2014/main" id="{B8930FCD-C846-42BA-9D64-CFBAA31BD99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07379" y="2463144"/>
                <a:ext cx="5620847" cy="1295217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:r>
                  <a:rPr lang="en-NZ" altLang="ja-JP" sz="1600" dirty="0">
                    <a:solidFill>
                      <a:schemeClr val="tx1"/>
                    </a:solidFill>
                  </a:rPr>
                  <a:t>The expectation of a continuous random variable is calculated according to the formula:</a:t>
                </a:r>
              </a:p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NZ" altLang="ja-JP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NZ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NZ" altLang="ja-JP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trlPr>
                            <a:rPr lang="en-NZ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NZ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NZ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en-NZ" altLang="ja-JP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NZ" altLang="ja-JP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∗</m:t>
                          </m:r>
                          <m:sSub>
                            <m:sSubPr>
                              <m:ctrlPr>
                                <a:rPr lang="en-NZ" altLang="ja-JP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NZ" altLang="ja-JP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d>
                            <m:dPr>
                              <m:ctrlPr>
                                <a:rPr lang="en-NZ" altLang="ja-JP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nary>
                      <m:r>
                        <a:rPr lang="en-NZ" altLang="ja-JP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NZ" altLang="ja-JP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𝑑𝑥</m:t>
                      </m:r>
                    </m:oMath>
                  </m:oMathPara>
                </a14:m>
                <a:endParaRPr lang="en-US" altLang="ja-JP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Text Placeholder 5">
                <a:extLst>
                  <a:ext uri="{FF2B5EF4-FFF2-40B4-BE49-F238E27FC236}">
                    <a16:creationId xmlns:a16="http://schemas.microsoft.com/office/drawing/2014/main" id="{B8930FCD-C846-42BA-9D64-CFBAA31BD9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7379" y="2463144"/>
                <a:ext cx="5620847" cy="1295217"/>
              </a:xfrm>
              <a:prstGeom prst="rect">
                <a:avLst/>
              </a:prstGeom>
              <a:blipFill>
                <a:blip r:embed="rId7"/>
                <a:stretch>
                  <a:fillRect l="-542" t="-1408" r="-651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695B8BBD-0E30-97A2-9464-0B6845062259}"/>
              </a:ext>
            </a:extLst>
          </p:cNvPr>
          <p:cNvSpPr txBox="1">
            <a:spLocks/>
          </p:cNvSpPr>
          <p:nvPr/>
        </p:nvSpPr>
        <p:spPr>
          <a:xfrm>
            <a:off x="8723086" y="86139"/>
            <a:ext cx="33662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1600" dirty="0">
                <a:solidFill>
                  <a:srgbClr val="DEDDDD"/>
                </a:solidFill>
                <a:latin typeface="Gidole"/>
              </a:rPr>
              <a:t>1.3 – Expectation &amp; Variance of RVs</a:t>
            </a:r>
            <a:endParaRPr kumimoji="1" lang="ja-JP" altLang="en-US" sz="1600" dirty="0">
              <a:solidFill>
                <a:srgbClr val="DEDDDD"/>
              </a:solidFill>
              <a:latin typeface="Gidole"/>
            </a:endParaRPr>
          </a:p>
        </p:txBody>
      </p:sp>
    </p:spTree>
    <p:extLst>
      <p:ext uri="{BB962C8B-B14F-4D97-AF65-F5344CB8AC3E}">
        <p14:creationId xmlns:p14="http://schemas.microsoft.com/office/powerpoint/2010/main" val="3208909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13" grpId="0"/>
      <p:bldP spid="15" grpId="0"/>
      <p:bldP spid="19" grpId="0"/>
      <p:bldP spid="20" grpId="0"/>
      <p:bldP spid="18" grpId="0"/>
      <p:bldP spid="2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6733"/>
            <a:ext cx="2185386" cy="741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4AD89C-DF1E-4948-B597-5DD47B34A9CA}" type="slidenum">
              <a:rPr kumimoji="1" lang="ja-JP" altLang="en-US" smtClean="0">
                <a:solidFill>
                  <a:srgbClr val="575454">
                    <a:lumMod val="20000"/>
                    <a:lumOff val="80000"/>
                  </a:srgbClr>
                </a:solidFill>
                <a:latin typeface="Coo Hew"/>
              </a:rPr>
              <a:pPr/>
              <a:t>22</a:t>
            </a:fld>
            <a:endParaRPr kumimoji="1" lang="ja-JP" altLang="en-US" dirty="0">
              <a:solidFill>
                <a:srgbClr val="575454">
                  <a:lumMod val="20000"/>
                  <a:lumOff val="80000"/>
                </a:srgbClr>
              </a:solidFill>
              <a:latin typeface="Coo Hew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DCE95AA1-F247-4D03-9A84-A08A95E2EB81}"/>
              </a:ext>
            </a:extLst>
          </p:cNvPr>
          <p:cNvSpPr txBox="1">
            <a:spLocks/>
          </p:cNvSpPr>
          <p:nvPr/>
        </p:nvSpPr>
        <p:spPr>
          <a:xfrm>
            <a:off x="319463" y="310113"/>
            <a:ext cx="9124788" cy="607201"/>
          </a:xfrm>
          <a:prstGeom prst="rect">
            <a:avLst/>
          </a:prstGeom>
        </p:spPr>
        <p:txBody>
          <a:bodyPr anchor="t">
            <a:normAutofit fontScale="85000" lnSpcReduction="10000"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b="1" u="sng" dirty="0">
                <a:latin typeface="+mn-lt"/>
              </a:rPr>
              <a:t>1.3c - Expectation of a Function of a Random Variable:</a:t>
            </a:r>
            <a:endParaRPr lang="ja-JP" altLang="en-US" b="1" u="sng" dirty="0">
              <a:latin typeface="+mn-lt"/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CF0EF27-D66E-440A-ADCA-1A987E76987F}"/>
              </a:ext>
            </a:extLst>
          </p:cNvPr>
          <p:cNvSpPr txBox="1">
            <a:spLocks/>
          </p:cNvSpPr>
          <p:nvPr/>
        </p:nvSpPr>
        <p:spPr>
          <a:xfrm>
            <a:off x="319463" y="1050542"/>
            <a:ext cx="11553074" cy="74126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US" altLang="ja-JP" sz="2000" dirty="0">
                <a:solidFill>
                  <a:schemeClr val="tx1"/>
                </a:solidFill>
              </a:rPr>
              <a:t>The </a:t>
            </a:r>
            <a:r>
              <a:rPr lang="en-US" altLang="ja-JP" sz="2000" b="1" dirty="0">
                <a:solidFill>
                  <a:schemeClr val="tx1"/>
                </a:solidFill>
              </a:rPr>
              <a:t>expectation</a:t>
            </a:r>
            <a:r>
              <a:rPr lang="en-US" altLang="ja-JP" sz="2000" dirty="0">
                <a:solidFill>
                  <a:schemeClr val="tx1"/>
                </a:solidFill>
              </a:rPr>
              <a:t> of a function </a:t>
            </a:r>
            <a:r>
              <a:rPr lang="en-US" altLang="ja-JP" sz="2000" b="1" i="1" dirty="0">
                <a:solidFill>
                  <a:schemeClr val="tx1"/>
                </a:solidFill>
              </a:rPr>
              <a:t>g</a:t>
            </a:r>
            <a:r>
              <a:rPr lang="en-US" altLang="ja-JP" sz="2000" dirty="0">
                <a:solidFill>
                  <a:schemeClr val="tx1"/>
                </a:solidFill>
              </a:rPr>
              <a:t> of random variable </a:t>
            </a:r>
            <a:r>
              <a:rPr lang="en-US" altLang="ja-JP" sz="2000" b="1" i="1" dirty="0">
                <a:solidFill>
                  <a:schemeClr val="tx1"/>
                </a:solidFill>
              </a:rPr>
              <a:t>X</a:t>
            </a:r>
            <a:r>
              <a:rPr lang="en-US" altLang="ja-JP" sz="2000" dirty="0">
                <a:solidFill>
                  <a:schemeClr val="tx1"/>
                </a:solidFill>
              </a:rPr>
              <a:t> is denoted by </a:t>
            </a:r>
            <a:r>
              <a:rPr lang="en-US" altLang="ja-JP" sz="2000" b="1" i="1" dirty="0">
                <a:solidFill>
                  <a:schemeClr val="tx1"/>
                </a:solidFill>
              </a:rPr>
              <a:t>E[g(X)]</a:t>
            </a:r>
            <a:r>
              <a:rPr lang="en-US" altLang="ja-JP" sz="2000" dirty="0">
                <a:solidFill>
                  <a:schemeClr val="tx1"/>
                </a:solidFill>
              </a:rPr>
              <a:t>. It is a probability weighted average of the outcomes of </a:t>
            </a:r>
            <a:r>
              <a:rPr lang="en-US" altLang="ja-JP" sz="2000" b="1" i="1" dirty="0">
                <a:solidFill>
                  <a:schemeClr val="tx1"/>
                </a:solidFill>
              </a:rPr>
              <a:t>X</a:t>
            </a:r>
            <a:r>
              <a:rPr lang="en-US" altLang="ja-JP" sz="2000" dirty="0">
                <a:solidFill>
                  <a:schemeClr val="tx1"/>
                </a:solidFill>
              </a:rPr>
              <a:t> under the image of </a:t>
            </a:r>
            <a:r>
              <a:rPr lang="en-US" altLang="ja-JP" sz="2000" b="1" i="1" dirty="0">
                <a:solidFill>
                  <a:schemeClr val="tx1"/>
                </a:solidFill>
              </a:rPr>
              <a:t>g</a:t>
            </a:r>
            <a:r>
              <a:rPr lang="en-US" altLang="ja-JP" sz="2000" dirty="0">
                <a:solidFill>
                  <a:schemeClr val="tx1"/>
                </a:solidFill>
              </a:rPr>
              <a:t>. Whilst this sounds complicated… it really isn’t!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BE186E23-7D2D-4CF0-8FBB-5CADCBB44C53}"/>
              </a:ext>
            </a:extLst>
          </p:cNvPr>
          <p:cNvSpPr txBox="1">
            <a:spLocks/>
          </p:cNvSpPr>
          <p:nvPr/>
        </p:nvSpPr>
        <p:spPr>
          <a:xfrm>
            <a:off x="475151" y="1940442"/>
            <a:ext cx="5620847" cy="74126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altLang="ja-JP" sz="2000" b="1" i="1" u="sng" dirty="0">
                <a:latin typeface="Gidole"/>
              </a:rPr>
              <a:t>Discrete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A55C1AB4-33AA-404A-A4ED-98566FFC7F49}"/>
              </a:ext>
            </a:extLst>
          </p:cNvPr>
          <p:cNvSpPr txBox="1">
            <a:spLocks/>
          </p:cNvSpPr>
          <p:nvPr/>
        </p:nvSpPr>
        <p:spPr>
          <a:xfrm>
            <a:off x="6096000" y="1978479"/>
            <a:ext cx="5620847" cy="55780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altLang="ja-JP" sz="2000" b="1" i="1" u="sng" dirty="0">
                <a:latin typeface="Gidole"/>
              </a:rPr>
              <a:t>Continuous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37D419E3-C1B2-463A-9903-2BC6519FEF4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5153" y="2463144"/>
                <a:ext cx="5620847" cy="1295217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:r>
                  <a:rPr lang="en-NZ" altLang="ja-JP" sz="1600" dirty="0">
                    <a:solidFill>
                      <a:schemeClr val="tx1"/>
                    </a:solidFill>
                  </a:rPr>
                  <a:t>The expectation of a discrete random variable under the image of the function g is calculated according to the formula:</a:t>
                </a:r>
              </a:p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NZ" altLang="ja-JP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NZ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NZ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NZ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NZ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NZ" altLang="ja-JP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 </m:t>
                      </m:r>
                      <m:nary>
                        <m:naryPr>
                          <m:chr m:val="∑"/>
                          <m:ctrlPr>
                            <a:rPr lang="en-NZ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NZ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NZ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NZ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NZ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NZ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NZ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 ∗</m:t>
                          </m:r>
                          <m:sSub>
                            <m:sSubPr>
                              <m:ctrlP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r>
                            <a:rPr lang="en-NZ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NZ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NZ" altLang="ja-JP" sz="1600" b="0" dirty="0">
                  <a:solidFill>
                    <a:schemeClr val="tx1"/>
                  </a:solidFill>
                </a:endParaRPr>
              </a:p>
              <a:p>
                <a:pPr marL="1085793" lvl="1" indent="-400050" algn="just">
                  <a:lnSpc>
                    <a:spcPct val="100000"/>
                  </a:lnSpc>
                  <a:buFont typeface="+mj-lt"/>
                  <a:buAutoNum type="romanLcPeriod"/>
                </a:pPr>
                <a:endParaRPr lang="en-NZ" altLang="ja-JP" sz="1600" b="0" dirty="0">
                  <a:solidFill>
                    <a:schemeClr val="tx1"/>
                  </a:solidFill>
                </a:endParaRPr>
              </a:p>
              <a:p>
                <a:pPr marL="1085793" lvl="1" indent="-400050" algn="just">
                  <a:lnSpc>
                    <a:spcPct val="100000"/>
                  </a:lnSpc>
                  <a:buFont typeface="+mj-lt"/>
                  <a:buAutoNum type="romanLcPeriod"/>
                </a:pPr>
                <a:endParaRPr lang="en-US" altLang="ja-JP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37D419E3-C1B2-463A-9903-2BC6519FEF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153" y="2463144"/>
                <a:ext cx="5620847" cy="1295217"/>
              </a:xfrm>
              <a:prstGeom prst="rect">
                <a:avLst/>
              </a:prstGeom>
              <a:blipFill>
                <a:blip r:embed="rId3"/>
                <a:stretch>
                  <a:fillRect l="-651" t="-1408" r="-542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AB4782E5-E8F6-47F3-87C2-130D69AE9A04}"/>
              </a:ext>
            </a:extLst>
          </p:cNvPr>
          <p:cNvSpPr txBox="1">
            <a:spLocks/>
          </p:cNvSpPr>
          <p:nvPr/>
        </p:nvSpPr>
        <p:spPr>
          <a:xfrm>
            <a:off x="475152" y="3856841"/>
            <a:ext cx="5620847" cy="49358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NZ" altLang="ja-JP" sz="1600" b="1" i="1" dirty="0">
                <a:solidFill>
                  <a:schemeClr val="tx1"/>
                </a:solidFill>
              </a:rPr>
              <a:t>Example - # Heads out of three coin-tosses and g(x) = X</a:t>
            </a:r>
            <a:r>
              <a:rPr lang="en-NZ" altLang="ja-JP" sz="1600" b="1" i="1" baseline="30000" dirty="0">
                <a:solidFill>
                  <a:schemeClr val="tx1"/>
                </a:solidFill>
              </a:rPr>
              <a:t>2</a:t>
            </a:r>
            <a:r>
              <a:rPr lang="en-NZ" altLang="ja-JP" sz="1600" b="1" i="1" dirty="0">
                <a:solidFill>
                  <a:schemeClr val="tx1"/>
                </a:solidFill>
              </a:rPr>
              <a:t> </a:t>
            </a:r>
            <a:endParaRPr lang="en-NZ" altLang="ja-JP" sz="1600" b="0" dirty="0">
              <a:solidFill>
                <a:schemeClr val="tx1"/>
              </a:solidFill>
            </a:endParaRPr>
          </a:p>
          <a:p>
            <a:pPr marL="1085793" lvl="1" indent="-400050" algn="just">
              <a:lnSpc>
                <a:spcPct val="100000"/>
              </a:lnSpc>
              <a:buFont typeface="+mj-lt"/>
              <a:buAutoNum type="romanLcPeriod"/>
            </a:pPr>
            <a:endParaRPr lang="en-US" altLang="ja-JP" sz="1600" dirty="0">
              <a:solidFill>
                <a:schemeClr val="tx1"/>
              </a:solidFill>
            </a:endParaRP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599CEFE0-C16D-4A1C-BEE8-75AF5777241F}"/>
              </a:ext>
            </a:extLst>
          </p:cNvPr>
          <p:cNvGraphicFramePr>
            <a:graphicFrameLocks noGrp="1"/>
          </p:cNvGraphicFramePr>
          <p:nvPr/>
        </p:nvGraphicFramePr>
        <p:xfrm>
          <a:off x="475152" y="4243026"/>
          <a:ext cx="3748585" cy="9661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49717">
                  <a:extLst>
                    <a:ext uri="{9D8B030D-6E8A-4147-A177-3AD203B41FA5}">
                      <a16:colId xmlns:a16="http://schemas.microsoft.com/office/drawing/2014/main" val="2172846292"/>
                    </a:ext>
                  </a:extLst>
                </a:gridCol>
                <a:gridCol w="749717">
                  <a:extLst>
                    <a:ext uri="{9D8B030D-6E8A-4147-A177-3AD203B41FA5}">
                      <a16:colId xmlns:a16="http://schemas.microsoft.com/office/drawing/2014/main" val="3564939060"/>
                    </a:ext>
                  </a:extLst>
                </a:gridCol>
                <a:gridCol w="749717">
                  <a:extLst>
                    <a:ext uri="{9D8B030D-6E8A-4147-A177-3AD203B41FA5}">
                      <a16:colId xmlns:a16="http://schemas.microsoft.com/office/drawing/2014/main" val="2041427015"/>
                    </a:ext>
                  </a:extLst>
                </a:gridCol>
                <a:gridCol w="749717">
                  <a:extLst>
                    <a:ext uri="{9D8B030D-6E8A-4147-A177-3AD203B41FA5}">
                      <a16:colId xmlns:a16="http://schemas.microsoft.com/office/drawing/2014/main" val="2703515310"/>
                    </a:ext>
                  </a:extLst>
                </a:gridCol>
                <a:gridCol w="749717">
                  <a:extLst>
                    <a:ext uri="{9D8B030D-6E8A-4147-A177-3AD203B41FA5}">
                      <a16:colId xmlns:a16="http://schemas.microsoft.com/office/drawing/2014/main" val="1569213684"/>
                    </a:ext>
                  </a:extLst>
                </a:gridCol>
              </a:tblGrid>
              <a:tr h="483084">
                <a:tc>
                  <a:txBody>
                    <a:bodyPr/>
                    <a:lstStyle/>
                    <a:p>
                      <a:pPr algn="ctr" fontAlgn="ctr"/>
                      <a:endParaRPr lang="en-NZ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400" b="1" u="none" strike="noStrike" dirty="0">
                          <a:effectLst/>
                        </a:rPr>
                        <a:t>X=0</a:t>
                      </a:r>
                      <a:endParaRPr lang="en-NZ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400" b="1" u="none" strike="noStrike" dirty="0">
                          <a:effectLst/>
                        </a:rPr>
                        <a:t>X=1</a:t>
                      </a:r>
                      <a:endParaRPr lang="en-NZ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400" b="1" u="none" strike="noStrike" dirty="0">
                          <a:effectLst/>
                        </a:rPr>
                        <a:t>X=2</a:t>
                      </a:r>
                      <a:endParaRPr lang="en-NZ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400" b="1" u="none" strike="noStrike" dirty="0">
                          <a:effectLst/>
                        </a:rPr>
                        <a:t>X=3</a:t>
                      </a:r>
                      <a:endParaRPr lang="en-NZ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2727335"/>
                  </a:ext>
                </a:extLst>
              </a:tr>
              <a:tr h="483084"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400" b="1" u="none" strike="noStrike" dirty="0">
                          <a:effectLst/>
                        </a:rPr>
                        <a:t>P(X = x)</a:t>
                      </a:r>
                      <a:endParaRPr lang="en-NZ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400" u="none" strike="noStrike">
                          <a:effectLst/>
                        </a:rPr>
                        <a:t>1/8</a:t>
                      </a:r>
                      <a:endParaRPr lang="en-NZ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400" u="none" strike="noStrike" dirty="0">
                          <a:effectLst/>
                        </a:rPr>
                        <a:t>3/8</a:t>
                      </a:r>
                      <a:endParaRPr lang="en-NZ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400" u="none" strike="noStrike" dirty="0">
                          <a:effectLst/>
                        </a:rPr>
                        <a:t>3/8</a:t>
                      </a:r>
                      <a:endParaRPr lang="en-NZ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400" u="none" strike="noStrike" dirty="0">
                          <a:effectLst/>
                        </a:rPr>
                        <a:t>1/8</a:t>
                      </a:r>
                      <a:endParaRPr lang="en-NZ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4829247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 Placeholder 5">
                <a:extLst>
                  <a:ext uri="{FF2B5EF4-FFF2-40B4-BE49-F238E27FC236}">
                    <a16:creationId xmlns:a16="http://schemas.microsoft.com/office/drawing/2014/main" id="{6394E460-32CF-433B-BDA5-0F0FFC9E111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71153" y="3881583"/>
                <a:ext cx="5620847" cy="493582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:r>
                  <a:rPr lang="en-NZ" altLang="ja-JP" sz="1600" b="1" i="1" dirty="0">
                    <a:solidFill>
                      <a:schemeClr val="tx1"/>
                    </a:solidFill>
                  </a:rPr>
                  <a:t>Example – </a:t>
                </a:r>
                <a14:m>
                  <m:oMath xmlns:m="http://schemas.openxmlformats.org/officeDocument/2006/math">
                    <m:r>
                      <a:rPr lang="en-NZ" altLang="ja-JP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NZ" altLang="ja-JP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~</m:t>
                    </m:r>
                    <m:r>
                      <a:rPr lang="en-NZ" altLang="ja-JP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𝑼</m:t>
                    </m:r>
                    <m:r>
                      <a:rPr lang="en-NZ" altLang="ja-JP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NZ" altLang="ja-JP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NZ" altLang="ja-JP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NZ" altLang="ja-JP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𝟏𝟎</m:t>
                    </m:r>
                    <m:r>
                      <a:rPr lang="en-NZ" altLang="ja-JP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NZ" altLang="ja-JP" sz="1600" b="0" dirty="0">
                    <a:solidFill>
                      <a:schemeClr val="tx1"/>
                    </a:solidFill>
                  </a:rPr>
                  <a:t>  </a:t>
                </a:r>
                <a:r>
                  <a:rPr lang="en-NZ" altLang="ja-JP" sz="1600" b="1" i="1" dirty="0">
                    <a:solidFill>
                      <a:schemeClr val="tx1"/>
                    </a:solidFill>
                  </a:rPr>
                  <a:t>and</a:t>
                </a:r>
                <a:r>
                  <a:rPr lang="en-NZ" altLang="ja-JP" sz="1600" b="0" dirty="0">
                    <a:solidFill>
                      <a:schemeClr val="tx1"/>
                    </a:solidFill>
                  </a:rPr>
                  <a:t> </a:t>
                </a:r>
                <a:r>
                  <a:rPr lang="en-NZ" altLang="ja-JP" sz="1600" b="1" i="1" dirty="0">
                    <a:solidFill>
                      <a:schemeClr val="tx1"/>
                    </a:solidFill>
                  </a:rPr>
                  <a:t>g(x) = x</a:t>
                </a:r>
                <a:r>
                  <a:rPr lang="en-NZ" altLang="ja-JP" sz="1600" b="1" i="1" baseline="30000" dirty="0">
                    <a:solidFill>
                      <a:schemeClr val="tx1"/>
                    </a:solidFill>
                  </a:rPr>
                  <a:t>2</a:t>
                </a:r>
                <a:r>
                  <a:rPr lang="en-NZ" altLang="ja-JP" sz="1600" b="1" i="1" dirty="0">
                    <a:solidFill>
                      <a:schemeClr val="tx1"/>
                    </a:solidFill>
                  </a:rPr>
                  <a:t> </a:t>
                </a:r>
                <a:endParaRPr lang="en-NZ" altLang="ja-JP" sz="1600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Text Placeholder 5">
                <a:extLst>
                  <a:ext uri="{FF2B5EF4-FFF2-40B4-BE49-F238E27FC236}">
                    <a16:creationId xmlns:a16="http://schemas.microsoft.com/office/drawing/2014/main" id="{6394E460-32CF-433B-BDA5-0F0FFC9E11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1153" y="3881583"/>
                <a:ext cx="5620847" cy="493582"/>
              </a:xfrm>
              <a:prstGeom prst="rect">
                <a:avLst/>
              </a:prstGeom>
              <a:blipFill>
                <a:blip r:embed="rId4"/>
                <a:stretch>
                  <a:fillRect l="-651" t="-3704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 Placeholder 5">
                <a:extLst>
                  <a:ext uri="{FF2B5EF4-FFF2-40B4-BE49-F238E27FC236}">
                    <a16:creationId xmlns:a16="http://schemas.microsoft.com/office/drawing/2014/main" id="{BF9C4B5A-A1D0-493E-8E30-BA1959D2B22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07378" y="4429696"/>
                <a:ext cx="5620847" cy="56459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NZ" altLang="ja-JP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NZ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NZ" altLang="ja-JP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limLoc m:val="undOvr"/>
                          <m:ctrlPr>
                            <a:rPr lang="en-NZ" altLang="ja-JP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NZ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NZ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NZ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NZ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=10</m:t>
                          </m:r>
                        </m:sup>
                        <m:e>
                          <m:sSup>
                            <m:sSupPr>
                              <m:ctrlP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NZ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∗</m:t>
                          </m:r>
                          <m:f>
                            <m:fPr>
                              <m:ctrlP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nary>
                      <m:r>
                        <a:rPr lang="en-NZ" altLang="ja-JP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NZ" altLang="ja-JP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NZ" altLang="ja-JP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=  </m:t>
                      </m:r>
                      <m:sSub>
                        <m:sSubPr>
                          <m:ctrlPr>
                            <a:rPr lang="en-NZ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Sup>
                            <m:sSubSupPr>
                              <m:ctrlP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NZ" altLang="ja-JP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NZ" altLang="ja-JP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f>
                                    <m:fPr>
                                      <m:ctrlPr>
                                        <a:rPr lang="en-NZ" altLang="ja-JP" sz="16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NZ" altLang="ja-JP" sz="16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NZ" altLang="ja-JP" sz="16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en-NZ" altLang="ja-JP" sz="16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r>
                                        <a:rPr lang="en-NZ" altLang="ja-JP" sz="16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30</m:t>
                                      </m:r>
                                    </m:den>
                                  </m:f>
                                  <m:r>
                                    <a:rPr lang="en-NZ" altLang="ja-JP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d>
                            </m:e>
                            <m:sub>
                              <m: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=10</m:t>
                              </m:r>
                            </m:sup>
                          </m:sSubSup>
                        </m:e>
                        <m:sub/>
                      </m:sSub>
                      <m:r>
                        <a:rPr lang="en-NZ" altLang="ja-JP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=100/3 </m:t>
                      </m:r>
                    </m:oMath>
                  </m:oMathPara>
                </a14:m>
                <a:endParaRPr lang="en-NZ" altLang="ja-JP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Text Placeholder 5">
                <a:extLst>
                  <a:ext uri="{FF2B5EF4-FFF2-40B4-BE49-F238E27FC236}">
                    <a16:creationId xmlns:a16="http://schemas.microsoft.com/office/drawing/2014/main" id="{BF9C4B5A-A1D0-493E-8E30-BA1959D2B2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7378" y="4429696"/>
                <a:ext cx="5620847" cy="564599"/>
              </a:xfrm>
              <a:prstGeom prst="rect">
                <a:avLst/>
              </a:prstGeom>
              <a:blipFill>
                <a:blip r:embed="rId5"/>
                <a:stretch>
                  <a:fillRect b="-40217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 Placeholder 5">
                <a:extLst>
                  <a:ext uri="{FF2B5EF4-FFF2-40B4-BE49-F238E27FC236}">
                    <a16:creationId xmlns:a16="http://schemas.microsoft.com/office/drawing/2014/main" id="{F0B069AF-0348-4778-9142-D29BFE95955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5151" y="5406706"/>
                <a:ext cx="5620847" cy="56459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NZ" altLang="ja-JP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NZ" altLang="ja-JP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NZ" altLang="ja-JP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NZ" altLang="ja-JP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NZ" altLang="ja-JP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NZ" altLang="ja-JP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sSup>
                        <m:sSupPr>
                          <m:ctrlPr>
                            <a:rPr lang="en-NZ" altLang="ja-JP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NZ" altLang="ja-JP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  <m:sup>
                          <m:r>
                            <a:rPr lang="en-NZ" altLang="ja-JP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NZ" altLang="ja-JP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∗</m:t>
                      </m:r>
                      <m:f>
                        <m:fPr>
                          <m:ctrlPr>
                            <a:rPr lang="en-NZ" altLang="ja-JP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NZ" altLang="ja-JP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NZ" altLang="ja-JP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en-NZ" altLang="ja-JP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+   </m:t>
                      </m:r>
                      <m:sSup>
                        <m:sSupPr>
                          <m:ctrlPr>
                            <a:rPr lang="en-NZ" altLang="ja-JP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NZ" altLang="ja-JP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  <m:sup>
                          <m:r>
                            <a:rPr lang="en-NZ" altLang="ja-JP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NZ" altLang="ja-JP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NZ" altLang="ja-JP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NZ" altLang="ja-JP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NZ" altLang="ja-JP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en-NZ" altLang="ja-JP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+   </m:t>
                      </m:r>
                      <m:sSup>
                        <m:sSupPr>
                          <m:ctrlPr>
                            <a:rPr lang="en-NZ" altLang="ja-JP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NZ" altLang="ja-JP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e>
                        <m:sup>
                          <m:r>
                            <a:rPr lang="en-NZ" altLang="ja-JP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NZ" altLang="ja-JP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NZ" altLang="ja-JP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NZ" altLang="ja-JP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NZ" altLang="ja-JP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en-NZ" altLang="ja-JP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+   </m:t>
                      </m:r>
                      <m:sSup>
                        <m:sSupPr>
                          <m:ctrlPr>
                            <a:rPr lang="en-NZ" altLang="ja-JP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NZ" altLang="ja-JP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e>
                        <m:sup>
                          <m:r>
                            <a:rPr lang="en-NZ" altLang="ja-JP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NZ" altLang="ja-JP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∗</m:t>
                      </m:r>
                      <m:f>
                        <m:fPr>
                          <m:ctrlPr>
                            <a:rPr lang="en-NZ" altLang="ja-JP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NZ" altLang="ja-JP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NZ" altLang="ja-JP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en-NZ" altLang="ja-JP" sz="1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NZ" altLang="ja-JP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3</m:t>
                      </m:r>
                    </m:oMath>
                  </m:oMathPara>
                </a14:m>
                <a:endParaRPr lang="en-NZ" altLang="ja-JP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Text Placeholder 5">
                <a:extLst>
                  <a:ext uri="{FF2B5EF4-FFF2-40B4-BE49-F238E27FC236}">
                    <a16:creationId xmlns:a16="http://schemas.microsoft.com/office/drawing/2014/main" id="{F0B069AF-0348-4778-9142-D29BFE9595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151" y="5406706"/>
                <a:ext cx="5620847" cy="5645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 Placeholder 5">
                <a:extLst>
                  <a:ext uri="{FF2B5EF4-FFF2-40B4-BE49-F238E27FC236}">
                    <a16:creationId xmlns:a16="http://schemas.microsoft.com/office/drawing/2014/main" id="{B8930FCD-C846-42BA-9D64-CFBAA31BD99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07379" y="2463144"/>
                <a:ext cx="5620847" cy="1295217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:r>
                  <a:rPr lang="en-NZ" altLang="ja-JP" sz="1600" dirty="0">
                    <a:solidFill>
                      <a:schemeClr val="tx1"/>
                    </a:solidFill>
                  </a:rPr>
                  <a:t>The expectation of a continuous random variable under the image of the function g is calculated according to the formula:</a:t>
                </a:r>
              </a:p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NZ" altLang="ja-JP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NZ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NZ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NZ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NZ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NZ" altLang="ja-JP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trlPr>
                            <a:rPr lang="en-NZ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NZ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NZ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en-NZ" altLang="ja-JP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NZ" altLang="ja-JP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NZ" altLang="ja-JP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NZ" altLang="ja-JP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 ∗</m:t>
                          </m:r>
                          <m:sSub>
                            <m:sSubPr>
                              <m:ctrlPr>
                                <a:rPr lang="en-NZ" altLang="ja-JP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NZ" altLang="ja-JP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d>
                            <m:dPr>
                              <m:ctrlPr>
                                <a:rPr lang="en-NZ" altLang="ja-JP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nary>
                      <m:r>
                        <a:rPr lang="en-NZ" altLang="ja-JP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𝑑𝑥</m:t>
                      </m:r>
                    </m:oMath>
                  </m:oMathPara>
                </a14:m>
                <a:endParaRPr lang="en-US" altLang="ja-JP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Text Placeholder 5">
                <a:extLst>
                  <a:ext uri="{FF2B5EF4-FFF2-40B4-BE49-F238E27FC236}">
                    <a16:creationId xmlns:a16="http://schemas.microsoft.com/office/drawing/2014/main" id="{B8930FCD-C846-42BA-9D64-CFBAA31BD9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7379" y="2463144"/>
                <a:ext cx="5620847" cy="1295217"/>
              </a:xfrm>
              <a:prstGeom prst="rect">
                <a:avLst/>
              </a:prstGeom>
              <a:blipFill>
                <a:blip r:embed="rId7"/>
                <a:stretch>
                  <a:fillRect l="-542" t="-1408" r="-651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Footer Placeholder 2">
            <a:extLst>
              <a:ext uri="{FF2B5EF4-FFF2-40B4-BE49-F238E27FC236}">
                <a16:creationId xmlns:a16="http://schemas.microsoft.com/office/drawing/2014/main" id="{83A2EDC9-6F85-BBB1-1E72-950FF82774FA}"/>
              </a:ext>
            </a:extLst>
          </p:cNvPr>
          <p:cNvSpPr txBox="1">
            <a:spLocks/>
          </p:cNvSpPr>
          <p:nvPr/>
        </p:nvSpPr>
        <p:spPr>
          <a:xfrm>
            <a:off x="8723086" y="86139"/>
            <a:ext cx="33662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1600" dirty="0">
                <a:solidFill>
                  <a:srgbClr val="DEDDDD"/>
                </a:solidFill>
                <a:latin typeface="Gidole"/>
              </a:rPr>
              <a:t>1.3 – Expectation &amp; Variance of RVs</a:t>
            </a:r>
            <a:endParaRPr kumimoji="1" lang="ja-JP" altLang="en-US" sz="1600" dirty="0">
              <a:solidFill>
                <a:srgbClr val="DEDDDD"/>
              </a:solidFill>
              <a:latin typeface="Gidole"/>
            </a:endParaRPr>
          </a:p>
        </p:txBody>
      </p:sp>
    </p:spTree>
    <p:extLst>
      <p:ext uri="{BB962C8B-B14F-4D97-AF65-F5344CB8AC3E}">
        <p14:creationId xmlns:p14="http://schemas.microsoft.com/office/powerpoint/2010/main" val="1308485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13" grpId="0"/>
      <p:bldP spid="15" grpId="0"/>
      <p:bldP spid="19" grpId="0"/>
      <p:bldP spid="20" grpId="0"/>
      <p:bldP spid="18" grpId="0"/>
      <p:bldP spid="2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6733"/>
            <a:ext cx="2185386" cy="741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4AD89C-DF1E-4948-B597-5DD47B34A9CA}" type="slidenum">
              <a:rPr kumimoji="1" lang="ja-JP" altLang="en-US" smtClean="0">
                <a:solidFill>
                  <a:srgbClr val="575454">
                    <a:lumMod val="20000"/>
                    <a:lumOff val="80000"/>
                  </a:srgbClr>
                </a:solidFill>
                <a:latin typeface="Coo Hew"/>
              </a:rPr>
              <a:pPr/>
              <a:t>23</a:t>
            </a:fld>
            <a:endParaRPr kumimoji="1" lang="ja-JP" altLang="en-US" dirty="0">
              <a:solidFill>
                <a:srgbClr val="575454">
                  <a:lumMod val="20000"/>
                  <a:lumOff val="80000"/>
                </a:srgbClr>
              </a:solidFill>
              <a:latin typeface="Coo Hew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DCE95AA1-F247-4D03-9A84-A08A95E2EB81}"/>
              </a:ext>
            </a:extLst>
          </p:cNvPr>
          <p:cNvSpPr txBox="1">
            <a:spLocks/>
          </p:cNvSpPr>
          <p:nvPr/>
        </p:nvSpPr>
        <p:spPr>
          <a:xfrm>
            <a:off x="319463" y="310113"/>
            <a:ext cx="9124788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b="1" u="sng" dirty="0">
                <a:latin typeface="+mn-lt"/>
              </a:rPr>
              <a:t>1.3d - Facts About Expectation:</a:t>
            </a:r>
            <a:endParaRPr lang="ja-JP" altLang="en-US" b="1" u="sng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7CF0EF27-D66E-440A-ADCA-1A987E76987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1337145"/>
                <a:ext cx="11553074" cy="607201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:r>
                  <a:rPr lang="en-US" altLang="ja-JP" sz="2000" dirty="0">
                    <a:solidFill>
                      <a:schemeClr val="tx1"/>
                    </a:solidFill>
                  </a:rPr>
                  <a:t>Expectation is a linear operator, i.e. </a:t>
                </a:r>
                <a14:m>
                  <m:oMath xmlns:m="http://schemas.openxmlformats.org/officeDocument/2006/math">
                    <m:r>
                      <a:rPr lang="en-NZ" altLang="ja-JP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NZ" altLang="ja-JP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𝒂𝑿</m:t>
                        </m:r>
                        <m:r>
                          <a:rPr lang="en-NZ" altLang="ja-JP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NZ" altLang="ja-JP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  <m:r>
                          <a:rPr lang="en-NZ" altLang="ja-JP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NZ" altLang="ja-JP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NZ" altLang="ja-JP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NZ" altLang="ja-JP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NZ" altLang="ja-JP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d>
                    <m:r>
                      <a:rPr lang="en-NZ" altLang="ja-JP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NZ" altLang="ja-JP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endParaRPr lang="en-US" altLang="ja-JP" sz="2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7CF0EF27-D66E-440A-ADCA-1A987E7698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1337145"/>
                <a:ext cx="11553074" cy="607201"/>
              </a:xfrm>
              <a:prstGeom prst="rect">
                <a:avLst/>
              </a:prstGeom>
              <a:blipFill>
                <a:blip r:embed="rId3"/>
                <a:stretch>
                  <a:fillRect l="-527" t="-5000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8783D498-8968-4D95-B703-FB7BC44201E1}"/>
              </a:ext>
            </a:extLst>
          </p:cNvPr>
          <p:cNvSpPr txBox="1">
            <a:spLocks/>
          </p:cNvSpPr>
          <p:nvPr/>
        </p:nvSpPr>
        <p:spPr>
          <a:xfrm>
            <a:off x="319463" y="2218097"/>
            <a:ext cx="11553074" cy="46281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NZ" altLang="ja-JP" sz="2000" b="1" i="1" dirty="0">
                <a:solidFill>
                  <a:srgbClr val="002060"/>
                </a:solidFill>
              </a:rPr>
              <a:t>Proof in the discrete case (FYI Only):</a:t>
            </a:r>
            <a:endParaRPr lang="en-US" altLang="ja-JP" sz="2000" b="1" i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Placeholder 5">
                <a:extLst>
                  <a:ext uri="{FF2B5EF4-FFF2-40B4-BE49-F238E27FC236}">
                    <a16:creationId xmlns:a16="http://schemas.microsoft.com/office/drawing/2014/main" id="{3E058C2B-F68D-4C32-906B-30EB68CE261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38927" y="2580864"/>
                <a:ext cx="4614202" cy="101306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𝑎𝑋</m:t>
                          </m:r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  </m:t>
                      </m:r>
                      <m:nary>
                        <m:naryPr>
                          <m:chr m:val="∑"/>
                          <m:ctrlP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NZ" altLang="ja-JP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NZ" altLang="ja-JP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+</m:t>
                              </m:r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d>
                            <m:dPr>
                              <m:ctrlP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NZ" altLang="ja-JP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NZ" altLang="ja-JP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altLang="ja-JP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Text Placeholder 5">
                <a:extLst>
                  <a:ext uri="{FF2B5EF4-FFF2-40B4-BE49-F238E27FC236}">
                    <a16:creationId xmlns:a16="http://schemas.microsoft.com/office/drawing/2014/main" id="{3E058C2B-F68D-4C32-906B-30EB68CE26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927" y="2580864"/>
                <a:ext cx="4614202" cy="10130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EA3A7AD-7BBA-49D1-843C-BAF2EB4CD943}"/>
              </a:ext>
            </a:extLst>
          </p:cNvPr>
          <p:cNvSpPr txBox="1">
            <a:spLocks/>
          </p:cNvSpPr>
          <p:nvPr/>
        </p:nvSpPr>
        <p:spPr>
          <a:xfrm>
            <a:off x="517615" y="5351222"/>
            <a:ext cx="5620847" cy="35104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US" altLang="ja-JP" sz="1400" b="1" i="1" dirty="0">
                <a:solidFill>
                  <a:schemeClr val="tx1"/>
                </a:solidFill>
              </a:rPr>
              <a:t>Optional Exercise</a:t>
            </a:r>
            <a:r>
              <a:rPr lang="en-US" altLang="ja-JP" sz="1400" i="1" dirty="0">
                <a:solidFill>
                  <a:schemeClr val="tx1"/>
                </a:solidFill>
              </a:rPr>
              <a:t>: Try proving this for yourself in the continuous case!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9E6E046A-94FE-39F5-C402-1B0AF84D6DF6}"/>
              </a:ext>
            </a:extLst>
          </p:cNvPr>
          <p:cNvSpPr txBox="1">
            <a:spLocks/>
          </p:cNvSpPr>
          <p:nvPr/>
        </p:nvSpPr>
        <p:spPr>
          <a:xfrm>
            <a:off x="8215086" y="1396594"/>
            <a:ext cx="2909324" cy="44483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ja-JP" sz="1400" b="1" i="1" dirty="0">
                <a:solidFill>
                  <a:schemeClr val="tx1"/>
                </a:solidFill>
              </a:rPr>
              <a:t>a</a:t>
            </a:r>
            <a:r>
              <a:rPr lang="en-US" altLang="ja-JP" sz="1400" dirty="0">
                <a:solidFill>
                  <a:schemeClr val="tx1"/>
                </a:solidFill>
              </a:rPr>
              <a:t> and </a:t>
            </a:r>
            <a:r>
              <a:rPr lang="en-US" altLang="ja-JP" sz="1400" b="1" i="1" dirty="0">
                <a:solidFill>
                  <a:schemeClr val="tx1"/>
                </a:solidFill>
              </a:rPr>
              <a:t>b</a:t>
            </a:r>
            <a:r>
              <a:rPr lang="en-US" altLang="ja-JP" sz="1400" dirty="0">
                <a:solidFill>
                  <a:schemeClr val="tx1"/>
                </a:solidFill>
              </a:rPr>
              <a:t> are just numbers</a:t>
            </a:r>
            <a:endParaRPr lang="en-US" altLang="ja-JP" sz="1400" b="1" i="1" dirty="0">
              <a:solidFill>
                <a:schemeClr val="tx1"/>
              </a:solidFill>
            </a:endParaRP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611C1339-42FB-94A1-AFCD-CA11BBD238C1}"/>
              </a:ext>
            </a:extLst>
          </p:cNvPr>
          <p:cNvSpPr txBox="1">
            <a:spLocks/>
          </p:cNvSpPr>
          <p:nvPr/>
        </p:nvSpPr>
        <p:spPr>
          <a:xfrm>
            <a:off x="8723086" y="86139"/>
            <a:ext cx="33662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1600" dirty="0">
                <a:solidFill>
                  <a:srgbClr val="DEDDDD"/>
                </a:solidFill>
                <a:latin typeface="Gidole"/>
              </a:rPr>
              <a:t>1.3 – Expectation &amp; Variance of RVs</a:t>
            </a:r>
            <a:endParaRPr kumimoji="1" lang="ja-JP" altLang="en-US" sz="1600" dirty="0">
              <a:solidFill>
                <a:srgbClr val="DEDDDD"/>
              </a:solidFill>
              <a:latin typeface="Gidol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Placeholder 5">
                <a:extLst>
                  <a:ext uri="{FF2B5EF4-FFF2-40B4-BE49-F238E27FC236}">
                    <a16:creationId xmlns:a16="http://schemas.microsoft.com/office/drawing/2014/main" id="{49E19812-C302-ED88-6E0D-DA35AAFCE3E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78926" y="3509537"/>
                <a:ext cx="3999806" cy="101306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NZ" altLang="ja-JP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NZ" altLang="ja-JP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en-NZ" altLang="ja-JP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NZ" altLang="ja-JP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d>
                            <m:dPr>
                              <m:ctrlPr>
                                <a:rPr lang="en-NZ" altLang="ja-JP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NZ" altLang="ja-JP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NZ" altLang="ja-JP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+</m:t>
                      </m:r>
                      <m:r>
                        <a:rPr lang="en-NZ" altLang="ja-JP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ctrlP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NZ" altLang="ja-JP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NZ" altLang="ja-JP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NZ" altLang="ja-JP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d>
                            <m:dPr>
                              <m:ctrlPr>
                                <a:rPr lang="en-NZ" altLang="ja-JP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NZ" altLang="ja-JP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NZ" altLang="ja-JP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altLang="ja-JP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Text Placeholder 5">
                <a:extLst>
                  <a:ext uri="{FF2B5EF4-FFF2-40B4-BE49-F238E27FC236}">
                    <a16:creationId xmlns:a16="http://schemas.microsoft.com/office/drawing/2014/main" id="{49E19812-C302-ED88-6E0D-DA35AAFCE3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8926" y="3509537"/>
                <a:ext cx="3999806" cy="101306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 Placeholder 5">
                <a:extLst>
                  <a:ext uri="{FF2B5EF4-FFF2-40B4-BE49-F238E27FC236}">
                    <a16:creationId xmlns:a16="http://schemas.microsoft.com/office/drawing/2014/main" id="{5C07FF12-1A72-EC02-4C74-A8B17E77B68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78925" y="4606065"/>
                <a:ext cx="2988861" cy="45054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 </m:t>
                      </m:r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altLang="ja-JP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Text Placeholder 5">
                <a:extLst>
                  <a:ext uri="{FF2B5EF4-FFF2-40B4-BE49-F238E27FC236}">
                    <a16:creationId xmlns:a16="http://schemas.microsoft.com/office/drawing/2014/main" id="{5C07FF12-1A72-EC02-4C74-A8B17E77B6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8925" y="4606065"/>
                <a:ext cx="2988861" cy="45054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 Placeholder 5">
                <a:extLst>
                  <a:ext uri="{FF2B5EF4-FFF2-40B4-BE49-F238E27FC236}">
                    <a16:creationId xmlns:a16="http://schemas.microsoft.com/office/drawing/2014/main" id="{80A32B55-AD50-C660-A77B-23437947E38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38462" y="3528773"/>
                <a:ext cx="4562875" cy="101306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  </m:t>
                      </m:r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nary>
                        <m:naryPr>
                          <m:chr m:val="∑"/>
                          <m:ctrlP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d>
                            <m:dPr>
                              <m:ctrlP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NZ" altLang="ja-JP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NZ" altLang="ja-JP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+    </m:t>
                      </m:r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ctrlP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d>
                            <m:dPr>
                              <m:ctrlP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NZ" altLang="ja-JP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NZ" altLang="ja-JP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altLang="ja-JP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Text Placeholder 5">
                <a:extLst>
                  <a:ext uri="{FF2B5EF4-FFF2-40B4-BE49-F238E27FC236}">
                    <a16:creationId xmlns:a16="http://schemas.microsoft.com/office/drawing/2014/main" id="{80A32B55-AD50-C660-A77B-23437947E3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8462" y="3528773"/>
                <a:ext cx="4562875" cy="101306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 Placeholder 5">
                <a:extLst>
                  <a:ext uri="{FF2B5EF4-FFF2-40B4-BE49-F238E27FC236}">
                    <a16:creationId xmlns:a16="http://schemas.microsoft.com/office/drawing/2014/main" id="{F31CCA0B-C4A2-3D37-D7E3-1A12CA21795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253128" y="2579077"/>
                <a:ext cx="5068869" cy="101306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    </m:t>
                      </m:r>
                      <m:nary>
                        <m:naryPr>
                          <m:chr m:val="∑"/>
                          <m:ctrlP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NZ" altLang="ja-JP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NZ" altLang="ja-JP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NZ" altLang="ja-JP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NZ" altLang="ja-JP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NZ" altLang="ja-JP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NZ" altLang="ja-JP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sSub>
                                <m:sSubPr>
                                  <m:ctrlPr>
                                    <a:rPr lang="en-NZ" altLang="ja-JP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NZ" altLang="ja-JP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NZ" altLang="ja-JP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NZ" altLang="ja-JP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NZ" altLang="ja-JP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NZ" altLang="ja-JP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NZ" altLang="ja-JP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  +   </m:t>
                              </m:r>
                              <m:r>
                                <a:rPr lang="en-NZ" altLang="ja-JP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NZ" altLang="ja-JP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NZ" altLang="ja-JP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NZ" altLang="ja-JP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NZ" altLang="ja-JP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NZ" altLang="ja-JP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NZ" altLang="ja-JP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NZ" altLang="ja-JP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NZ" altLang="ja-JP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altLang="ja-JP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Text Placeholder 5">
                <a:extLst>
                  <a:ext uri="{FF2B5EF4-FFF2-40B4-BE49-F238E27FC236}">
                    <a16:creationId xmlns:a16="http://schemas.microsoft.com/office/drawing/2014/main" id="{F31CCA0B-C4A2-3D37-D7E3-1A12CA2179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3128" y="2579077"/>
                <a:ext cx="5068869" cy="101306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6CC1E3B7-982C-FBBC-E16A-234B85A4E348}"/>
              </a:ext>
            </a:extLst>
          </p:cNvPr>
          <p:cNvSpPr txBox="1">
            <a:spLocks/>
          </p:cNvSpPr>
          <p:nvPr/>
        </p:nvSpPr>
        <p:spPr>
          <a:xfrm>
            <a:off x="9690331" y="4700622"/>
            <a:ext cx="530263" cy="3932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NZ" altLang="ja-JP" sz="1400" i="1" dirty="0">
                <a:solidFill>
                  <a:srgbClr val="002060"/>
                </a:solidFill>
              </a:rPr>
              <a:t>=1</a:t>
            </a:r>
            <a:endParaRPr lang="en-US" altLang="ja-JP" sz="1400" b="1" i="1" dirty="0">
              <a:solidFill>
                <a:srgbClr val="002060"/>
              </a:solidFill>
            </a:endParaRPr>
          </a:p>
        </p:txBody>
      </p:sp>
      <p:sp>
        <p:nvSpPr>
          <p:cNvPr id="26" name="Right Brace 25">
            <a:extLst>
              <a:ext uri="{FF2B5EF4-FFF2-40B4-BE49-F238E27FC236}">
                <a16:creationId xmlns:a16="http://schemas.microsoft.com/office/drawing/2014/main" id="{0EAC1E2A-615B-438E-ED75-68D5C99E5FD0}"/>
              </a:ext>
            </a:extLst>
          </p:cNvPr>
          <p:cNvSpPr/>
          <p:nvPr/>
        </p:nvSpPr>
        <p:spPr>
          <a:xfrm rot="5400000">
            <a:off x="9890274" y="4156122"/>
            <a:ext cx="186739" cy="958169"/>
          </a:xfrm>
          <a:prstGeom prst="rightBrac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08729790-97EF-B2E8-8091-6E84D689A66C}"/>
              </a:ext>
            </a:extLst>
          </p:cNvPr>
          <p:cNvSpPr txBox="1">
            <a:spLocks/>
          </p:cNvSpPr>
          <p:nvPr/>
        </p:nvSpPr>
        <p:spPr>
          <a:xfrm>
            <a:off x="7318731" y="4682176"/>
            <a:ext cx="838824" cy="32784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NZ" altLang="ja-JP" sz="1400" i="1" dirty="0">
                <a:solidFill>
                  <a:srgbClr val="002060"/>
                </a:solidFill>
              </a:rPr>
              <a:t>= E[X]</a:t>
            </a:r>
            <a:endParaRPr lang="en-US" altLang="ja-JP" sz="1400" b="1" i="1" dirty="0">
              <a:solidFill>
                <a:srgbClr val="002060"/>
              </a:solidFill>
            </a:endParaRPr>
          </a:p>
        </p:txBody>
      </p:sp>
      <p:sp>
        <p:nvSpPr>
          <p:cNvPr id="28" name="Right Brace 27">
            <a:extLst>
              <a:ext uri="{FF2B5EF4-FFF2-40B4-BE49-F238E27FC236}">
                <a16:creationId xmlns:a16="http://schemas.microsoft.com/office/drawing/2014/main" id="{3137165F-D350-34D2-1AFF-252D1112A7D7}"/>
              </a:ext>
            </a:extLst>
          </p:cNvPr>
          <p:cNvSpPr/>
          <p:nvPr/>
        </p:nvSpPr>
        <p:spPr>
          <a:xfrm rot="5400000">
            <a:off x="7652189" y="3827962"/>
            <a:ext cx="155667" cy="1515729"/>
          </a:xfrm>
          <a:prstGeom prst="rightBrac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656397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17" grpId="0"/>
      <p:bldP spid="18" grpId="0"/>
      <p:bldP spid="19" grpId="0"/>
      <p:bldP spid="20" grpId="0"/>
      <p:bldP spid="21" grpId="0"/>
      <p:bldP spid="26" grpId="0" animBg="1"/>
      <p:bldP spid="27" grpId="0"/>
      <p:bldP spid="2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6733"/>
            <a:ext cx="2185386" cy="741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4AD89C-DF1E-4948-B597-5DD47B34A9CA}" type="slidenum">
              <a:rPr kumimoji="1" lang="ja-JP" altLang="en-US" smtClean="0">
                <a:solidFill>
                  <a:srgbClr val="575454">
                    <a:lumMod val="20000"/>
                    <a:lumOff val="80000"/>
                  </a:srgbClr>
                </a:solidFill>
                <a:latin typeface="Coo Hew"/>
              </a:rPr>
              <a:pPr/>
              <a:t>24</a:t>
            </a:fld>
            <a:endParaRPr kumimoji="1" lang="ja-JP" altLang="en-US" dirty="0">
              <a:solidFill>
                <a:srgbClr val="575454">
                  <a:lumMod val="20000"/>
                  <a:lumOff val="80000"/>
                </a:srgbClr>
              </a:solidFill>
              <a:latin typeface="Coo Hew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DCE95AA1-F247-4D03-9A84-A08A95E2EB81}"/>
              </a:ext>
            </a:extLst>
          </p:cNvPr>
          <p:cNvSpPr txBox="1">
            <a:spLocks/>
          </p:cNvSpPr>
          <p:nvPr/>
        </p:nvSpPr>
        <p:spPr>
          <a:xfrm>
            <a:off x="319463" y="310113"/>
            <a:ext cx="9124788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b="1" u="sng" dirty="0">
                <a:latin typeface="+mn-lt"/>
              </a:rPr>
              <a:t>1.3d - Facts About Expectation:</a:t>
            </a:r>
            <a:endParaRPr lang="ja-JP" altLang="en-US" b="1" u="sng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7CF0EF27-D66E-440A-ADCA-1A987E76987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2190176"/>
                <a:ext cx="11553074" cy="444838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0" indent="-457200" algn="just">
                  <a:lnSpc>
                    <a:spcPct val="100000"/>
                  </a:lnSpc>
                  <a:buFont typeface="+mj-lt"/>
                  <a:buAutoNum type="arabicPeriod" startAt="2"/>
                </a:pPr>
                <a:r>
                  <a:rPr lang="en-US" altLang="ja-JP" sz="20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NZ" altLang="ja-JP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NZ" altLang="ja-JP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𝒂𝑿</m:t>
                        </m:r>
                        <m:r>
                          <a:rPr lang="en-NZ" altLang="ja-JP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NZ" altLang="ja-JP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NZ" altLang="ja-JP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NZ" altLang="ja-JP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NZ" altLang="ja-JP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d>
                  </m:oMath>
                </a14:m>
                <a:endParaRPr lang="en-US" altLang="ja-JP" sz="2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7CF0EF27-D66E-440A-ADCA-1A987E7698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2190176"/>
                <a:ext cx="11553074" cy="444838"/>
              </a:xfrm>
              <a:prstGeom prst="rect">
                <a:avLst/>
              </a:prstGeom>
              <a:blipFill>
                <a:blip r:embed="rId3"/>
                <a:stretch>
                  <a:fillRect l="-580" t="-8219" b="-15068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 Placeholder 5">
                <a:extLst>
                  <a:ext uri="{FF2B5EF4-FFF2-40B4-BE49-F238E27FC236}">
                    <a16:creationId xmlns:a16="http://schemas.microsoft.com/office/drawing/2014/main" id="{9391736B-86E4-4D55-A771-866010D40A9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4025489"/>
                <a:ext cx="11553074" cy="607201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0" indent="-457200">
                  <a:lnSpc>
                    <a:spcPct val="100000"/>
                  </a:lnSpc>
                  <a:buFont typeface="+mj-lt"/>
                  <a:buAutoNum type="arabicPeriod" startAt="5"/>
                </a:pPr>
                <a:r>
                  <a:rPr lang="en-NZ" altLang="ja-JP" sz="2000" dirty="0">
                    <a:solidFill>
                      <a:schemeClr val="tx1"/>
                    </a:solidFill>
                  </a:rPr>
                  <a:t>If </a:t>
                </a:r>
                <a:r>
                  <a:rPr lang="en-NZ" altLang="ja-JP" sz="2000" b="1" i="1" dirty="0">
                    <a:solidFill>
                      <a:schemeClr val="tx1"/>
                    </a:solidFill>
                  </a:rPr>
                  <a:t>X</a:t>
                </a:r>
                <a:r>
                  <a:rPr lang="en-NZ" altLang="ja-JP" sz="2000" dirty="0">
                    <a:solidFill>
                      <a:schemeClr val="tx1"/>
                    </a:solidFill>
                  </a:rPr>
                  <a:t> and</a:t>
                </a:r>
                <a:r>
                  <a:rPr lang="en-NZ" altLang="ja-JP" sz="2000" b="1" i="1" dirty="0">
                    <a:solidFill>
                      <a:schemeClr val="tx1"/>
                    </a:solidFill>
                  </a:rPr>
                  <a:t> Y </a:t>
                </a:r>
                <a:r>
                  <a:rPr lang="en-NZ" altLang="ja-JP" sz="2000" dirty="0">
                    <a:solidFill>
                      <a:schemeClr val="tx1"/>
                    </a:solidFill>
                  </a:rPr>
                  <a:t>are two </a:t>
                </a:r>
                <a:r>
                  <a:rPr lang="en-NZ" altLang="ja-JP" sz="2000" b="1" i="1" dirty="0">
                    <a:solidFill>
                      <a:schemeClr val="tx1"/>
                    </a:solidFill>
                  </a:rPr>
                  <a:t>independent* </a:t>
                </a:r>
                <a:r>
                  <a:rPr lang="en-NZ" altLang="ja-JP" sz="2000" dirty="0">
                    <a:solidFill>
                      <a:schemeClr val="tx1"/>
                    </a:solidFill>
                  </a:rPr>
                  <a:t>random variables </a:t>
                </a:r>
                <a:br>
                  <a:rPr lang="en-NZ" altLang="ja-JP" sz="2000" dirty="0">
                    <a:solidFill>
                      <a:schemeClr val="tx1"/>
                    </a:solidFill>
                  </a:rPr>
                </a:br>
                <a:r>
                  <a:rPr lang="en-NZ" altLang="ja-JP" sz="2000" dirty="0">
                    <a:solidFill>
                      <a:schemeClr val="tx1"/>
                    </a:solidFill>
                  </a:rPr>
                  <a:t>(i.e. the outcome of one has no bearing on the outcome of the other) </a:t>
                </a:r>
                <a:br>
                  <a:rPr lang="en-NZ" altLang="ja-JP" sz="2000" dirty="0">
                    <a:solidFill>
                      <a:schemeClr val="tx1"/>
                    </a:solidFill>
                  </a:rPr>
                </a:br>
                <a14:m>
                  <m:oMath xmlns:m="http://schemas.openxmlformats.org/officeDocument/2006/math">
                    <m:r>
                      <a:rPr lang="en-NZ" altLang="ja-JP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NZ" altLang="ja-JP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𝑿𝒀</m:t>
                        </m:r>
                        <m:r>
                          <a:rPr lang="en-NZ" altLang="ja-JP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NZ" altLang="ja-JP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  </m:t>
                    </m:r>
                    <m:r>
                      <a:rPr lang="en-NZ" altLang="ja-JP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d>
                    <m:r>
                      <a:rPr lang="en-NZ" altLang="ja-JP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∗ </m:t>
                    </m:r>
                    <m:r>
                      <a:rPr lang="en-NZ" altLang="ja-JP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NZ" altLang="ja-JP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NZ" altLang="ja-JP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NZ" altLang="ja-JP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NZ" altLang="ja-JP" sz="2000" dirty="0">
                    <a:solidFill>
                      <a:schemeClr val="tx1"/>
                    </a:solidFill>
                  </a:rPr>
                  <a:t> </a:t>
                </a:r>
                <a:endParaRPr lang="en-US" altLang="ja-JP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Text Placeholder 5">
                <a:extLst>
                  <a:ext uri="{FF2B5EF4-FFF2-40B4-BE49-F238E27FC236}">
                    <a16:creationId xmlns:a16="http://schemas.microsoft.com/office/drawing/2014/main" id="{9391736B-86E4-4D55-A771-866010D40A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4025489"/>
                <a:ext cx="11553074" cy="607201"/>
              </a:xfrm>
              <a:prstGeom prst="rect">
                <a:avLst/>
              </a:prstGeom>
              <a:blipFill>
                <a:blip r:embed="rId4"/>
                <a:stretch>
                  <a:fillRect l="-580" t="-6000" b="-76000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44CAB614-EFA9-4B15-9799-867A1441A9FB}"/>
              </a:ext>
            </a:extLst>
          </p:cNvPr>
          <p:cNvSpPr txBox="1">
            <a:spLocks/>
          </p:cNvSpPr>
          <p:nvPr/>
        </p:nvSpPr>
        <p:spPr>
          <a:xfrm>
            <a:off x="7710985" y="6413163"/>
            <a:ext cx="3587149" cy="44483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</a:pPr>
            <a:r>
              <a:rPr lang="en-US" altLang="ja-JP" sz="1400" dirty="0">
                <a:solidFill>
                  <a:schemeClr val="bg2">
                    <a:lumMod val="50000"/>
                  </a:schemeClr>
                </a:solidFill>
              </a:rPr>
              <a:t>* This will always be the case in STAT 293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9E6E046A-94FE-39F5-C402-1B0AF84D6DF6}"/>
              </a:ext>
            </a:extLst>
          </p:cNvPr>
          <p:cNvSpPr txBox="1">
            <a:spLocks/>
          </p:cNvSpPr>
          <p:nvPr/>
        </p:nvSpPr>
        <p:spPr>
          <a:xfrm>
            <a:off x="7578788" y="1638730"/>
            <a:ext cx="2909324" cy="44483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ja-JP" sz="1400" b="1" i="1" dirty="0">
                <a:solidFill>
                  <a:schemeClr val="tx1"/>
                </a:solidFill>
              </a:rPr>
              <a:t>a</a:t>
            </a:r>
            <a:r>
              <a:rPr lang="en-US" altLang="ja-JP" sz="1400" dirty="0">
                <a:solidFill>
                  <a:schemeClr val="tx1"/>
                </a:solidFill>
              </a:rPr>
              <a:t> and </a:t>
            </a:r>
            <a:r>
              <a:rPr lang="en-US" altLang="ja-JP" sz="1400" b="1" i="1" dirty="0">
                <a:solidFill>
                  <a:schemeClr val="tx1"/>
                </a:solidFill>
              </a:rPr>
              <a:t>b</a:t>
            </a:r>
            <a:r>
              <a:rPr lang="en-US" altLang="ja-JP" sz="1400" dirty="0">
                <a:solidFill>
                  <a:schemeClr val="tx1"/>
                </a:solidFill>
              </a:rPr>
              <a:t> are just numbers</a:t>
            </a:r>
            <a:endParaRPr lang="en-US" altLang="ja-JP" sz="1400" b="1" i="1" dirty="0">
              <a:solidFill>
                <a:schemeClr val="tx1"/>
              </a:solidFill>
            </a:endParaRP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611C1339-42FB-94A1-AFCD-CA11BBD238C1}"/>
              </a:ext>
            </a:extLst>
          </p:cNvPr>
          <p:cNvSpPr txBox="1">
            <a:spLocks/>
          </p:cNvSpPr>
          <p:nvPr/>
        </p:nvSpPr>
        <p:spPr>
          <a:xfrm>
            <a:off x="8723086" y="86139"/>
            <a:ext cx="33662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1600" dirty="0">
                <a:solidFill>
                  <a:srgbClr val="DEDDDD"/>
                </a:solidFill>
                <a:latin typeface="Gidole"/>
              </a:rPr>
              <a:t>1.3 – Expectation &amp; Variance of RVs</a:t>
            </a:r>
            <a:endParaRPr kumimoji="1" lang="ja-JP" altLang="en-US" sz="1600" dirty="0">
              <a:solidFill>
                <a:srgbClr val="DEDDDD"/>
              </a:solidFill>
              <a:latin typeface="Gidol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 Placeholder 5">
                <a:extLst>
                  <a:ext uri="{FF2B5EF4-FFF2-40B4-BE49-F238E27FC236}">
                    <a16:creationId xmlns:a16="http://schemas.microsoft.com/office/drawing/2014/main" id="{6C5A1602-FF8B-3EC6-342C-46BA05D5EE6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2731515"/>
                <a:ext cx="11553074" cy="444838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0" indent="-457200" algn="just">
                  <a:lnSpc>
                    <a:spcPct val="100000"/>
                  </a:lnSpc>
                  <a:buFont typeface="+mj-lt"/>
                  <a:buAutoNum type="arabicPeriod" startAt="3"/>
                </a:pPr>
                <a:r>
                  <a:rPr lang="en-US" altLang="ja-JP" sz="20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NZ" altLang="ja-JP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NZ" altLang="ja-JP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  <m:r>
                          <a:rPr lang="en-NZ" altLang="ja-JP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NZ" altLang="ja-JP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NZ" altLang="ja-JP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endParaRPr lang="en-US" altLang="ja-JP" sz="2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Text Placeholder 5">
                <a:extLst>
                  <a:ext uri="{FF2B5EF4-FFF2-40B4-BE49-F238E27FC236}">
                    <a16:creationId xmlns:a16="http://schemas.microsoft.com/office/drawing/2014/main" id="{6C5A1602-FF8B-3EC6-342C-46BA05D5EE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2731515"/>
                <a:ext cx="11553074" cy="444838"/>
              </a:xfrm>
              <a:prstGeom prst="rect">
                <a:avLst/>
              </a:prstGeom>
              <a:blipFill>
                <a:blip r:embed="rId5"/>
                <a:stretch>
                  <a:fillRect l="-580" t="-9589" b="-15068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 Placeholder 5">
                <a:extLst>
                  <a:ext uri="{FF2B5EF4-FFF2-40B4-BE49-F238E27FC236}">
                    <a16:creationId xmlns:a16="http://schemas.microsoft.com/office/drawing/2014/main" id="{37F6FECD-6A84-FE5F-48DA-F96C50C7380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3345192"/>
                <a:ext cx="11553074" cy="444838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0" indent="-457200" algn="just">
                  <a:lnSpc>
                    <a:spcPct val="100000"/>
                  </a:lnSpc>
                  <a:buFont typeface="+mj-lt"/>
                  <a:buAutoNum type="arabicPeriod" startAt="4"/>
                </a:pPr>
                <a:r>
                  <a:rPr lang="en-US" altLang="ja-JP" sz="20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NZ" altLang="ja-JP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NZ" altLang="ja-JP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NZ" altLang="ja-JP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NZ" altLang="ja-JP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  <m:r>
                          <a:rPr lang="en-NZ" altLang="ja-JP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NZ" altLang="ja-JP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NZ" altLang="ja-JP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NZ" altLang="ja-JP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NZ" altLang="ja-JP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NZ" altLang="ja-JP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  </m:t>
                    </m:r>
                    <m:r>
                      <a:rPr lang="en-NZ" altLang="ja-JP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NZ" altLang="ja-JP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[ </m:t>
                    </m:r>
                    <m:r>
                      <a:rPr lang="en-NZ" altLang="ja-JP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NZ" altLang="ja-JP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]</m:t>
                    </m:r>
                  </m:oMath>
                </a14:m>
                <a:endParaRPr lang="en-US" altLang="ja-JP" sz="2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Text Placeholder 5">
                <a:extLst>
                  <a:ext uri="{FF2B5EF4-FFF2-40B4-BE49-F238E27FC236}">
                    <a16:creationId xmlns:a16="http://schemas.microsoft.com/office/drawing/2014/main" id="{37F6FECD-6A84-FE5F-48DA-F96C50C738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3345192"/>
                <a:ext cx="11553074" cy="444838"/>
              </a:xfrm>
              <a:prstGeom prst="rect">
                <a:avLst/>
              </a:prstGeom>
              <a:blipFill>
                <a:blip r:embed="rId6"/>
                <a:stretch>
                  <a:fillRect l="-580" t="-9589" b="-13699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 Placeholder 5">
                <a:extLst>
                  <a:ext uri="{FF2B5EF4-FFF2-40B4-BE49-F238E27FC236}">
                    <a16:creationId xmlns:a16="http://schemas.microsoft.com/office/drawing/2014/main" id="{FA037BBB-5B37-1994-6C77-D8AD51D7141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1611536"/>
                <a:ext cx="11553074" cy="48213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0" indent="-457200" algn="just">
                  <a:lnSpc>
                    <a:spcPct val="100000"/>
                  </a:lnSpc>
                  <a:buFont typeface="+mj-lt"/>
                  <a:buAutoNum type="arabicPeriod"/>
                </a:pPr>
                <a:r>
                  <a:rPr lang="en-US" altLang="ja-JP" sz="2000" dirty="0">
                    <a:solidFill>
                      <a:schemeClr val="tx1"/>
                    </a:solidFill>
                  </a:rPr>
                  <a:t>Expectation is a linear operator, i.e. </a:t>
                </a:r>
                <a14:m>
                  <m:oMath xmlns:m="http://schemas.openxmlformats.org/officeDocument/2006/math">
                    <m:r>
                      <a:rPr lang="en-NZ" altLang="ja-JP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NZ" altLang="ja-JP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𝒂𝑿</m:t>
                        </m:r>
                        <m:r>
                          <a:rPr lang="en-NZ" altLang="ja-JP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NZ" altLang="ja-JP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  <m:r>
                          <a:rPr lang="en-NZ" altLang="ja-JP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NZ" altLang="ja-JP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NZ" altLang="ja-JP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NZ" altLang="ja-JP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NZ" altLang="ja-JP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d>
                    <m:r>
                      <a:rPr lang="en-NZ" altLang="ja-JP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NZ" altLang="ja-JP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endParaRPr lang="en-US" altLang="ja-JP" sz="2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Text Placeholder 5">
                <a:extLst>
                  <a:ext uri="{FF2B5EF4-FFF2-40B4-BE49-F238E27FC236}">
                    <a16:creationId xmlns:a16="http://schemas.microsoft.com/office/drawing/2014/main" id="{FA037BBB-5B37-1994-6C77-D8AD51D714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1611536"/>
                <a:ext cx="11553074" cy="482139"/>
              </a:xfrm>
              <a:prstGeom prst="rect">
                <a:avLst/>
              </a:prstGeom>
              <a:blipFill>
                <a:blip r:embed="rId7"/>
                <a:stretch>
                  <a:fillRect l="-580" t="-7595" b="-6329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C0C090C0-7819-7666-43E9-B372A3744F8E}"/>
              </a:ext>
            </a:extLst>
          </p:cNvPr>
          <p:cNvSpPr txBox="1">
            <a:spLocks/>
          </p:cNvSpPr>
          <p:nvPr/>
        </p:nvSpPr>
        <p:spPr>
          <a:xfrm>
            <a:off x="3427195" y="2238427"/>
            <a:ext cx="2909324" cy="32424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ja-JP" sz="1400" i="1" dirty="0">
                <a:solidFill>
                  <a:schemeClr val="tx1"/>
                </a:solidFill>
              </a:rPr>
              <a:t>Holds immediately from 1 (let b = 0)</a:t>
            </a:r>
          </a:p>
        </p:txBody>
      </p: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B180E128-8797-B691-4A5C-4ED92A8E780E}"/>
              </a:ext>
            </a:extLst>
          </p:cNvPr>
          <p:cNvSpPr txBox="1">
            <a:spLocks/>
          </p:cNvSpPr>
          <p:nvPr/>
        </p:nvSpPr>
        <p:spPr>
          <a:xfrm>
            <a:off x="3427195" y="2753908"/>
            <a:ext cx="2909324" cy="32424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ja-JP" sz="1400" i="1" dirty="0">
                <a:solidFill>
                  <a:schemeClr val="tx1"/>
                </a:solidFill>
              </a:rPr>
              <a:t>Holds immediately from 1 (let a = 0)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2F735EB-5042-7B53-A2E8-44EB3F0BF43D}"/>
              </a:ext>
            </a:extLst>
          </p:cNvPr>
          <p:cNvSpPr txBox="1">
            <a:spLocks/>
          </p:cNvSpPr>
          <p:nvPr/>
        </p:nvSpPr>
        <p:spPr>
          <a:xfrm>
            <a:off x="4257235" y="3399334"/>
            <a:ext cx="2909324" cy="44483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ja-JP" sz="1400" b="1" i="1" dirty="0">
                <a:solidFill>
                  <a:schemeClr val="tx1"/>
                </a:solidFill>
              </a:rPr>
              <a:t>X</a:t>
            </a:r>
            <a:r>
              <a:rPr lang="en-US" altLang="ja-JP" sz="1400" dirty="0">
                <a:solidFill>
                  <a:schemeClr val="tx1"/>
                </a:solidFill>
              </a:rPr>
              <a:t> and </a:t>
            </a:r>
            <a:r>
              <a:rPr lang="en-US" altLang="ja-JP" sz="1400" b="1" i="1" dirty="0">
                <a:solidFill>
                  <a:schemeClr val="tx1"/>
                </a:solidFill>
              </a:rPr>
              <a:t>Y</a:t>
            </a:r>
            <a:r>
              <a:rPr lang="en-US" altLang="ja-JP" sz="1400" dirty="0">
                <a:solidFill>
                  <a:schemeClr val="tx1"/>
                </a:solidFill>
              </a:rPr>
              <a:t> are random variables</a:t>
            </a:r>
            <a:endParaRPr lang="en-US" altLang="ja-JP" sz="1400" b="1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45898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6733"/>
            <a:ext cx="2185386" cy="741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81732" y="6182204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4AD89C-DF1E-4948-B597-5DD47B34A9CA}" type="slidenum">
              <a:rPr kumimoji="1" lang="ja-JP" altLang="en-US" smtClean="0">
                <a:solidFill>
                  <a:srgbClr val="575454">
                    <a:lumMod val="20000"/>
                    <a:lumOff val="80000"/>
                  </a:srgbClr>
                </a:solidFill>
                <a:latin typeface="Coo Hew"/>
              </a:rPr>
              <a:pPr/>
              <a:t>25</a:t>
            </a:fld>
            <a:endParaRPr kumimoji="1" lang="ja-JP" altLang="en-US" dirty="0">
              <a:solidFill>
                <a:srgbClr val="575454">
                  <a:lumMod val="20000"/>
                  <a:lumOff val="80000"/>
                </a:srgbClr>
              </a:solidFill>
              <a:latin typeface="Coo Hew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DCE95AA1-F247-4D03-9A84-A08A95E2EB81}"/>
              </a:ext>
            </a:extLst>
          </p:cNvPr>
          <p:cNvSpPr txBox="1">
            <a:spLocks/>
          </p:cNvSpPr>
          <p:nvPr/>
        </p:nvSpPr>
        <p:spPr>
          <a:xfrm>
            <a:off x="319463" y="310113"/>
            <a:ext cx="9124788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b="1" u="sng" dirty="0">
                <a:latin typeface="+mn-lt"/>
              </a:rPr>
              <a:t>1.3e - Variance of a Random Variable:</a:t>
            </a:r>
            <a:endParaRPr lang="ja-JP" altLang="en-US" b="1" u="sng" dirty="0">
              <a:latin typeface="+mn-lt"/>
            </a:endParaRP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EA42250D-0182-4060-BC49-9EE95132F55F}"/>
              </a:ext>
            </a:extLst>
          </p:cNvPr>
          <p:cNvSpPr txBox="1">
            <a:spLocks/>
          </p:cNvSpPr>
          <p:nvPr/>
        </p:nvSpPr>
        <p:spPr>
          <a:xfrm>
            <a:off x="319463" y="1050542"/>
            <a:ext cx="11553074" cy="10512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US" altLang="ja-JP" sz="2000" dirty="0">
                <a:solidFill>
                  <a:schemeClr val="tx1"/>
                </a:solidFill>
              </a:rPr>
              <a:t>The </a:t>
            </a:r>
            <a:r>
              <a:rPr lang="en-US" altLang="ja-JP" sz="2000" b="1" dirty="0">
                <a:solidFill>
                  <a:schemeClr val="tx1"/>
                </a:solidFill>
              </a:rPr>
              <a:t>variance</a:t>
            </a:r>
            <a:r>
              <a:rPr lang="en-US" altLang="ja-JP" sz="2000" dirty="0">
                <a:solidFill>
                  <a:schemeClr val="tx1"/>
                </a:solidFill>
              </a:rPr>
              <a:t> of a random variable </a:t>
            </a:r>
            <a:r>
              <a:rPr lang="en-US" altLang="ja-JP" sz="2000" b="1" i="1" dirty="0">
                <a:solidFill>
                  <a:schemeClr val="tx1"/>
                </a:solidFill>
              </a:rPr>
              <a:t>X</a:t>
            </a:r>
            <a:r>
              <a:rPr lang="en-US" altLang="ja-JP" sz="2000" dirty="0">
                <a:solidFill>
                  <a:schemeClr val="tx1"/>
                </a:solidFill>
              </a:rPr>
              <a:t> is the average squared distance of outcomes of </a:t>
            </a:r>
            <a:r>
              <a:rPr lang="en-US" altLang="ja-JP" sz="2000" b="1" i="1" dirty="0">
                <a:solidFill>
                  <a:schemeClr val="tx1"/>
                </a:solidFill>
              </a:rPr>
              <a:t>X</a:t>
            </a:r>
            <a:r>
              <a:rPr lang="en-US" altLang="ja-JP" sz="2000" dirty="0">
                <a:solidFill>
                  <a:schemeClr val="tx1"/>
                </a:solidFill>
              </a:rPr>
              <a:t> from its expected value. The variance gives an indication of how spread out the outcomes of </a:t>
            </a:r>
            <a:r>
              <a:rPr lang="en-US" altLang="ja-JP" sz="2000" b="1" i="1" dirty="0">
                <a:solidFill>
                  <a:schemeClr val="tx1"/>
                </a:solidFill>
              </a:rPr>
              <a:t>X</a:t>
            </a:r>
            <a:r>
              <a:rPr lang="en-US" altLang="ja-JP" sz="2000" dirty="0">
                <a:solidFill>
                  <a:schemeClr val="tx1"/>
                </a:solidFill>
              </a:rPr>
              <a:t> are. </a:t>
            </a:r>
          </a:p>
          <a:p>
            <a:pPr algn="just">
              <a:lnSpc>
                <a:spcPct val="100000"/>
              </a:lnSpc>
            </a:pPr>
            <a:r>
              <a:rPr lang="en-US" altLang="ja-JP" sz="2000" dirty="0">
                <a:solidFill>
                  <a:schemeClr val="tx1"/>
                </a:solidFill>
              </a:rPr>
              <a:t>A large variance indicates that the outcomes of </a:t>
            </a:r>
            <a:r>
              <a:rPr lang="en-US" altLang="ja-JP" sz="2000" b="1" i="1" dirty="0">
                <a:solidFill>
                  <a:schemeClr val="tx1"/>
                </a:solidFill>
              </a:rPr>
              <a:t>X</a:t>
            </a:r>
            <a:r>
              <a:rPr lang="en-US" altLang="ja-JP" sz="2000" dirty="0">
                <a:solidFill>
                  <a:schemeClr val="tx1"/>
                </a:solidFill>
              </a:rPr>
              <a:t> are highly spread out around the expected value.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11E057D-8BC5-4C24-B716-F90DB39FC410}"/>
                  </a:ext>
                </a:extLst>
              </p:cNvPr>
              <p:cNvSpPr txBox="1"/>
              <p:nvPr/>
            </p:nvSpPr>
            <p:spPr>
              <a:xfrm>
                <a:off x="2501742" y="2271847"/>
                <a:ext cx="7188516" cy="4397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𝑽𝒂𝒓</m:t>
                      </m:r>
                      <m:d>
                        <m:dPr>
                          <m:begChr m:val="["/>
                          <m:endChr m:val="]"/>
                          <m:ctrlP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≡  </m:t>
                      </m:r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  <m: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−</m:t>
                                  </m:r>
                                  <m: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𝑬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</m:d>
                                  <m: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d>
                            </m:e>
                            <m:sup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d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=  </m:t>
                      </m:r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begChr m:val="["/>
                          <m:endChr m:val="]"/>
                          <m:ctrlP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d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−  ( </m:t>
                      </m:r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sSup>
                        <m:sSupPr>
                          <m:ctrlP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)</m:t>
                          </m:r>
                        </m:e>
                        <m:sup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NZ" sz="20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11E057D-8BC5-4C24-B716-F90DB39FC4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1742" y="2271847"/>
                <a:ext cx="7188516" cy="439736"/>
              </a:xfrm>
              <a:prstGeom prst="rect">
                <a:avLst/>
              </a:prstGeom>
              <a:blipFill>
                <a:blip r:embed="rId3"/>
                <a:stretch>
                  <a:fillRect b="-9722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FCED09A-AB5B-43D4-8AFD-C64A0CEFBEA4}"/>
              </a:ext>
            </a:extLst>
          </p:cNvPr>
          <p:cNvSpPr txBox="1">
            <a:spLocks/>
          </p:cNvSpPr>
          <p:nvPr/>
        </p:nvSpPr>
        <p:spPr>
          <a:xfrm>
            <a:off x="319462" y="2966181"/>
            <a:ext cx="3665683" cy="46281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NZ" altLang="ja-JP" sz="2000" b="1" i="1" dirty="0">
                <a:solidFill>
                  <a:srgbClr val="002060"/>
                </a:solidFill>
              </a:rPr>
              <a:t>Proof of Equivalence (FYI Only):</a:t>
            </a:r>
            <a:endParaRPr lang="en-US" altLang="ja-JP" sz="2000" b="1" i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ECD2A8E-E9E8-4CCB-9637-079D766787FB}"/>
                  </a:ext>
                </a:extLst>
              </p:cNvPr>
              <p:cNvSpPr txBox="1"/>
              <p:nvPr/>
            </p:nvSpPr>
            <p:spPr>
              <a:xfrm>
                <a:off x="941696" y="3467896"/>
                <a:ext cx="11250304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NZ" altLang="ja-JP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NZ" altLang="ja-JP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NZ" altLang="ja-JP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≡  </m:t>
                      </m:r>
                      <m:r>
                        <a:rPr lang="en-NZ" altLang="ja-JP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NZ" altLang="ja-JP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NZ" altLang="ja-JP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NZ" altLang="ja-JP" sz="16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d>
                                <m:dPr>
                                  <m:ctrlPr>
                                    <a:rPr lang="en-NZ" altLang="ja-JP" sz="16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NZ" altLang="ja-JP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NZ" altLang="ja-JP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NZ" altLang="ja-JP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−</m:t>
                                  </m:r>
                                  <m:r>
                                    <a:rPr lang="en-NZ" altLang="ja-JP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NZ" altLang="ja-JP" sz="160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NZ" altLang="ja-JP" sz="16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d>
                                  <m:r>
                                    <a:rPr lang="en-NZ" altLang="ja-JP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d>
                            </m:e>
                            <m:sup>
                              <m: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NZ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</m:e>
                      </m:d>
                      <m:r>
                        <a:rPr lang="en-NZ" altLang="ja-JP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  </m:t>
                      </m:r>
                      <m:r>
                        <a:rPr lang="en-NZ" altLang="ja-JP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NZ" altLang="ja-JP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 </m:t>
                          </m:r>
                          <m:d>
                            <m:dPr>
                              <m:ctrlPr>
                                <a:rPr lang="en-NZ" altLang="ja-JP" sz="16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NZ" altLang="ja-JP" sz="16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NZ" altLang="ja-JP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  <m: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NZ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∗ </m:t>
                          </m:r>
                          <m:d>
                            <m:dPr>
                              <m:ctrlPr>
                                <a:rPr lang="en-NZ" altLang="ja-JP" sz="16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NZ" altLang="ja-JP" sz="16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NZ" altLang="ja-JP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  <m: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NZ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 </m:t>
                          </m:r>
                        </m:e>
                      </m:d>
                      <m:r>
                        <a:rPr lang="en-NZ" altLang="ja-JP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NZ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ECD2A8E-E9E8-4CCB-9637-079D766787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696" y="3467896"/>
                <a:ext cx="11250304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A458C94-90F9-4449-9BBE-A86E60B88173}"/>
                  </a:ext>
                </a:extLst>
              </p:cNvPr>
              <p:cNvSpPr txBox="1"/>
              <p:nvPr/>
            </p:nvSpPr>
            <p:spPr>
              <a:xfrm>
                <a:off x="1669828" y="3916359"/>
                <a:ext cx="3765494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NZ" altLang="ja-JP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  </m:t>
                    </m:r>
                    <m:r>
                      <a:rPr lang="en-NZ" altLang="ja-JP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sSup>
                          <m:sSupPr>
                            <m:ctrlPr>
                              <a:rPr lang="en-NZ" altLang="ja-JP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NZ" altLang="ja-JP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NZ" altLang="ja-JP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NZ" altLang="ja-JP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+  </m:t>
                        </m:r>
                        <m:sSup>
                          <m:sSupPr>
                            <m:ctrlPr>
                              <a:rPr lang="en-NZ" altLang="ja-JP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NZ" altLang="ja-JP" sz="16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NZ" altLang="ja-JP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NZ" altLang="ja-JP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NZ" altLang="ja-JP" sz="16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NZ" altLang="ja-JP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lang="en-NZ" altLang="ja-JP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d>
                          </m:e>
                          <m:sup>
                            <m:r>
                              <a:rPr lang="en-NZ" altLang="ja-JP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NZ" altLang="ja-JP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−2 </m:t>
                        </m:r>
                        <m:r>
                          <a:rPr lang="en-NZ" altLang="ja-JP" sz="1600" i="1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NZ" altLang="ja-JP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NZ" altLang="ja-JP" sz="16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  <m:r>
                          <a:rPr lang="en-NZ" altLang="ja-JP" sz="1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NZ" altLang="ja-JP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NZ" altLang="ja-JP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 </m:t>
                        </m:r>
                      </m:e>
                    </m:d>
                  </m:oMath>
                </a14:m>
                <a:r>
                  <a:rPr lang="en-NZ" sz="1600" dirty="0">
                    <a:solidFill>
                      <a:schemeClr val="tx1"/>
                    </a:solidFill>
                  </a:rPr>
                  <a:t>    </a:t>
                </a:r>
                <a:endParaRPr lang="en-NZ" sz="16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A458C94-90F9-4449-9BBE-A86E60B881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9828" y="3916359"/>
                <a:ext cx="3765494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A3BE144-0135-4EF4-A75E-200C83EF7ABA}"/>
                  </a:ext>
                </a:extLst>
              </p:cNvPr>
              <p:cNvSpPr txBox="1"/>
              <p:nvPr/>
            </p:nvSpPr>
            <p:spPr>
              <a:xfrm>
                <a:off x="1669827" y="5210914"/>
                <a:ext cx="3574699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NZ" altLang="ja-JP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 </m:t>
                      </m:r>
                      <m:r>
                        <a:rPr lang="en-NZ" altLang="ja-JP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NZ" altLang="ja-JP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NZ" altLang="ja-JP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NZ" altLang="ja-JP" sz="16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NZ" altLang="ja-JP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+  </m:t>
                      </m:r>
                      <m:sSup>
                        <m:sSupPr>
                          <m:ctrlPr>
                            <a:rPr lang="en-NZ" altLang="ja-JP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NZ" altLang="ja-JP" sz="1600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p>
                          <m:r>
                            <a:rPr lang="en-NZ" altLang="ja-JP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NZ" altLang="ja-JP" sz="1600" b="0" i="1" smtClean="0">
                          <a:latin typeface="Cambria Math" panose="02040503050406030204" pitchFamily="18" charset="0"/>
                        </a:rPr>
                        <m:t>         </m:t>
                      </m:r>
                      <m:r>
                        <a:rPr lang="en-NZ" altLang="ja-JP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   2 </m:t>
                      </m:r>
                      <m:r>
                        <a:rPr lang="en-NZ" altLang="ja-JP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NZ" altLang="ja-JP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NZ" altLang="ja-JP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NZ" altLang="ja-JP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</m:oMath>
                  </m:oMathPara>
                </a14:m>
                <a:endParaRPr lang="en-NZ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A3BE144-0135-4EF4-A75E-200C83EF7A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9827" y="5210914"/>
                <a:ext cx="3574699" cy="338554"/>
              </a:xfrm>
              <a:prstGeom prst="rect">
                <a:avLst/>
              </a:prstGeom>
              <a:blipFill>
                <a:blip r:embed="rId6"/>
                <a:stretch>
                  <a:fillRect b="-1818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44577CC-0DDD-481B-89DA-081ED31C3629}"/>
                  </a:ext>
                </a:extLst>
              </p:cNvPr>
              <p:cNvSpPr txBox="1"/>
              <p:nvPr/>
            </p:nvSpPr>
            <p:spPr>
              <a:xfrm>
                <a:off x="1669827" y="5638181"/>
                <a:ext cx="4744894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NZ" altLang="ja-JP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 </m:t>
                      </m:r>
                      <m:r>
                        <a:rPr lang="en-NZ" altLang="ja-JP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NZ" altLang="ja-JP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NZ" altLang="ja-JP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NZ" altLang="ja-JP" sz="16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NZ" altLang="ja-JP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+  </m:t>
                      </m:r>
                      <m:sSup>
                        <m:sSupPr>
                          <m:ctrlPr>
                            <a:rPr lang="en-NZ" altLang="ja-JP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NZ" altLang="ja-JP" sz="16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NZ" altLang="ja-JP" sz="16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NZ" altLang="ja-JP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  <m: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  <m:sup>
                          <m:r>
                            <a:rPr lang="en-NZ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NZ" altLang="ja-JP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−   2</m:t>
                      </m:r>
                      <m:sSup>
                        <m:sSupPr>
                          <m:ctrlPr>
                            <a:rPr lang="en-NZ" altLang="ja-JP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NZ" altLang="ja-JP" sz="16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NZ" altLang="ja-JP" sz="16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NZ" altLang="ja-JP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  <m: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  <m:sup>
                          <m:r>
                            <a:rPr lang="en-NZ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NZ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44577CC-0DDD-481B-89DA-081ED31C36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9827" y="5638181"/>
                <a:ext cx="4744894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423FF61-C73E-42BF-B362-194C200B79CB}"/>
                  </a:ext>
                </a:extLst>
              </p:cNvPr>
              <p:cNvSpPr txBox="1"/>
              <p:nvPr/>
            </p:nvSpPr>
            <p:spPr>
              <a:xfrm>
                <a:off x="2253625" y="6151649"/>
                <a:ext cx="4235378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NZ" altLang="ja-JP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 </m:t>
                      </m:r>
                      <m:r>
                        <a:rPr lang="en-NZ" altLang="ja-JP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NZ" altLang="ja-JP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NZ" altLang="ja-JP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NZ" altLang="ja-JP" sz="16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NZ" altLang="ja-JP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− </m:t>
                      </m:r>
                      <m:sSup>
                        <m:sSupPr>
                          <m:ctrlPr>
                            <a:rPr lang="en-NZ" altLang="ja-JP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NZ" altLang="ja-JP" sz="16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NZ" altLang="ja-JP" sz="16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NZ" altLang="ja-JP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  <m: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  <m:sup>
                          <m:r>
                            <a:rPr lang="en-NZ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NZ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423FF61-C73E-42BF-B362-194C200B79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3625" y="6151649"/>
                <a:ext cx="4235378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ight Brace 1">
            <a:extLst>
              <a:ext uri="{FF2B5EF4-FFF2-40B4-BE49-F238E27FC236}">
                <a16:creationId xmlns:a16="http://schemas.microsoft.com/office/drawing/2014/main" id="{23B662D1-7595-43F3-8FA8-AAA8D43F0D8B}"/>
              </a:ext>
            </a:extLst>
          </p:cNvPr>
          <p:cNvSpPr/>
          <p:nvPr/>
        </p:nvSpPr>
        <p:spPr>
          <a:xfrm rot="5400000">
            <a:off x="7805912" y="1970018"/>
            <a:ext cx="378274" cy="1861169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sz="1600"/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26EB2208-82B0-44AD-B8D6-5639AE77DFE7}"/>
              </a:ext>
            </a:extLst>
          </p:cNvPr>
          <p:cNvSpPr txBox="1">
            <a:spLocks/>
          </p:cNvSpPr>
          <p:nvPr/>
        </p:nvSpPr>
        <p:spPr>
          <a:xfrm>
            <a:off x="7064464" y="3098856"/>
            <a:ext cx="5127536" cy="3932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NZ" altLang="ja-JP" sz="1600" i="1" dirty="0">
                <a:solidFill>
                  <a:srgbClr val="FF0000"/>
                </a:solidFill>
              </a:rPr>
              <a:t>It is often much easier to do calculations with this formula!</a:t>
            </a:r>
            <a:endParaRPr lang="en-US" altLang="ja-JP" sz="1600" b="1" i="1" dirty="0">
              <a:solidFill>
                <a:srgbClr val="FF0000"/>
              </a:solidFill>
            </a:endParaRPr>
          </a:p>
        </p:txBody>
      </p:sp>
      <p:sp>
        <p:nvSpPr>
          <p:cNvPr id="24" name="Footer Placeholder 2">
            <a:extLst>
              <a:ext uri="{FF2B5EF4-FFF2-40B4-BE49-F238E27FC236}">
                <a16:creationId xmlns:a16="http://schemas.microsoft.com/office/drawing/2014/main" id="{909C49C2-6E36-6204-FBFD-080EE5012CA2}"/>
              </a:ext>
            </a:extLst>
          </p:cNvPr>
          <p:cNvSpPr txBox="1">
            <a:spLocks/>
          </p:cNvSpPr>
          <p:nvPr/>
        </p:nvSpPr>
        <p:spPr>
          <a:xfrm>
            <a:off x="8723086" y="86139"/>
            <a:ext cx="33662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1600" dirty="0">
                <a:solidFill>
                  <a:srgbClr val="DEDDDD"/>
                </a:solidFill>
                <a:latin typeface="Gidole"/>
              </a:rPr>
              <a:t>1.3 – Expectation &amp; Variance of RVs</a:t>
            </a:r>
            <a:endParaRPr kumimoji="1" lang="ja-JP" altLang="en-US" sz="1600" dirty="0">
              <a:solidFill>
                <a:srgbClr val="DEDDDD"/>
              </a:solidFill>
              <a:latin typeface="Gidol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AD67C9F-77B3-B662-2664-448F3FD81A8D}"/>
                  </a:ext>
                </a:extLst>
              </p:cNvPr>
              <p:cNvSpPr txBox="1"/>
              <p:nvPr/>
            </p:nvSpPr>
            <p:spPr>
              <a:xfrm>
                <a:off x="1669828" y="4364822"/>
                <a:ext cx="38711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NZ" altLang="ja-JP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  </m:t>
                    </m:r>
                    <m:r>
                      <a:rPr lang="en-NZ" altLang="ja-JP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sSup>
                          <m:sSupPr>
                            <m:ctrlPr>
                              <a:rPr lang="en-NZ" altLang="ja-JP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NZ" altLang="ja-JP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NZ" altLang="ja-JP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NZ" altLang="ja-JP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+   </m:t>
                        </m:r>
                        <m:sSup>
                          <m:sSupPr>
                            <m:ctrlPr>
                              <a:rPr lang="en-NZ" altLang="ja-JP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NZ" altLang="ja-JP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p>
                            <m:r>
                              <a:rPr lang="en-NZ" altLang="ja-JP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NZ" altLang="ja-JP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−  2 </m:t>
                        </m:r>
                        <m:r>
                          <a:rPr lang="en-NZ" altLang="ja-JP" sz="16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NZ" altLang="ja-JP" sz="1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NZ" altLang="ja-JP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NZ" altLang="ja-JP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 </m:t>
                        </m:r>
                      </m:e>
                    </m:d>
                  </m:oMath>
                </a14:m>
                <a:r>
                  <a:rPr lang="en-NZ" sz="1600" dirty="0">
                    <a:solidFill>
                      <a:schemeClr val="tx1"/>
                    </a:solidFill>
                  </a:rPr>
                  <a:t>          </a:t>
                </a:r>
                <a:endParaRPr lang="en-NZ" sz="16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AD67C9F-77B3-B662-2664-448F3FD81A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9828" y="4364822"/>
                <a:ext cx="3871163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664473DE-5EB2-3E9F-F320-AD9FE5094FF2}"/>
              </a:ext>
            </a:extLst>
          </p:cNvPr>
          <p:cNvSpPr txBox="1">
            <a:spLocks/>
          </p:cNvSpPr>
          <p:nvPr/>
        </p:nvSpPr>
        <p:spPr>
          <a:xfrm>
            <a:off x="5650173" y="5635580"/>
            <a:ext cx="1392419" cy="3932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NZ" sz="1400" i="1" dirty="0">
                <a:solidFill>
                  <a:srgbClr val="002060"/>
                </a:solidFill>
              </a:rPr>
              <a:t>Since </a:t>
            </a:r>
            <a:r>
              <a:rPr lang="el-GR" sz="1400" i="1" dirty="0">
                <a:solidFill>
                  <a:srgbClr val="002060"/>
                </a:solidFill>
              </a:rPr>
              <a:t>μ </a:t>
            </a:r>
            <a:r>
              <a:rPr lang="en-NZ" sz="1400" i="1" dirty="0">
                <a:solidFill>
                  <a:srgbClr val="002060"/>
                </a:solidFill>
              </a:rPr>
              <a:t>= E[X]</a:t>
            </a:r>
            <a:endParaRPr lang="en-US" altLang="ja-JP" sz="1400" b="1" i="1" dirty="0">
              <a:solidFill>
                <a:srgbClr val="002060"/>
              </a:solidFill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6E7E01D7-CF08-DB37-9276-85AFC24F73FF}"/>
              </a:ext>
            </a:extLst>
          </p:cNvPr>
          <p:cNvSpPr txBox="1">
            <a:spLocks/>
          </p:cNvSpPr>
          <p:nvPr/>
        </p:nvSpPr>
        <p:spPr>
          <a:xfrm>
            <a:off x="5650172" y="3954707"/>
            <a:ext cx="3465515" cy="3932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NZ" sz="1400" i="1" dirty="0">
                <a:solidFill>
                  <a:srgbClr val="002060"/>
                </a:solidFill>
              </a:rPr>
              <a:t>Note E[X] is just a number. So let E[X] = </a:t>
            </a:r>
            <a:r>
              <a:rPr lang="el-GR" sz="1400" i="1" dirty="0">
                <a:solidFill>
                  <a:srgbClr val="002060"/>
                </a:solidFill>
              </a:rPr>
              <a:t>μ</a:t>
            </a:r>
            <a:endParaRPr lang="en-US" altLang="ja-JP" sz="1400" b="1" i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8BBCEEE-C79A-3365-D1F5-99D2B1A81DDC}"/>
                  </a:ext>
                </a:extLst>
              </p:cNvPr>
              <p:cNvSpPr txBox="1"/>
              <p:nvPr/>
            </p:nvSpPr>
            <p:spPr>
              <a:xfrm>
                <a:off x="1669827" y="4789488"/>
                <a:ext cx="387116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NZ" altLang="ja-JP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  </m:t>
                    </m:r>
                    <m:r>
                      <a:rPr lang="en-NZ" altLang="ja-JP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sSup>
                          <m:sSupPr>
                            <m:ctrlPr>
                              <a:rPr lang="en-NZ" altLang="ja-JP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NZ" altLang="ja-JP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NZ" altLang="ja-JP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NZ" altLang="ja-JP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]  +  </m:t>
                        </m:r>
                        <m:r>
                          <a:rPr lang="en-NZ" altLang="ja-JP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NZ" altLang="ja-JP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[ </m:t>
                        </m:r>
                        <m:sSup>
                          <m:sSupPr>
                            <m:ctrlPr>
                              <a:rPr lang="en-NZ" altLang="ja-JP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NZ" altLang="ja-JP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p>
                            <m:r>
                              <a:rPr lang="en-NZ" altLang="ja-JP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NZ" altLang="ja-JP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] −  </m:t>
                        </m:r>
                        <m:r>
                          <a:rPr lang="en-NZ" altLang="ja-JP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NZ" altLang="ja-JP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[ 2 </m:t>
                        </m:r>
                        <m:r>
                          <a:rPr lang="en-NZ" altLang="ja-JP" sz="16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NZ" altLang="ja-JP" sz="1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NZ" altLang="ja-JP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NZ" altLang="ja-JP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</m:e>
                    </m:d>
                  </m:oMath>
                </a14:m>
                <a:r>
                  <a:rPr lang="en-NZ" sz="1600" dirty="0">
                    <a:solidFill>
                      <a:schemeClr val="tx1"/>
                    </a:solidFill>
                  </a:rPr>
                  <a:t>          </a:t>
                </a:r>
                <a:endParaRPr lang="en-NZ" sz="16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8BBCEEE-C79A-3365-D1F5-99D2B1A81D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9827" y="4789488"/>
                <a:ext cx="3871163" cy="338554"/>
              </a:xfrm>
              <a:prstGeom prst="rect">
                <a:avLst/>
              </a:prstGeom>
              <a:blipFill>
                <a:blip r:embed="rId10"/>
                <a:stretch>
                  <a:fillRect b="-10909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 Placeholder 5">
                <a:extLst>
                  <a:ext uri="{FF2B5EF4-FFF2-40B4-BE49-F238E27FC236}">
                    <a16:creationId xmlns:a16="http://schemas.microsoft.com/office/drawing/2014/main" id="{B3D39C6B-A3D9-B84E-5CB6-19B6C20129F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913502" y="5832219"/>
                <a:ext cx="2462405" cy="792517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</a:pPr>
                <a:r>
                  <a:rPr lang="en-NZ" altLang="ja-JP" sz="1300" b="1" dirty="0">
                    <a:solidFill>
                      <a:srgbClr val="002060"/>
                    </a:solidFill>
                  </a:rPr>
                  <a:t>1.   </a:t>
                </a:r>
                <a14:m>
                  <m:oMath xmlns:m="http://schemas.openxmlformats.org/officeDocument/2006/math">
                    <m:r>
                      <a:rPr lang="en-NZ" altLang="ja-JP" sz="13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13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13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NZ" altLang="ja-JP" sz="13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𝒂𝑿</m:t>
                        </m:r>
                        <m:r>
                          <a:rPr lang="en-NZ" altLang="ja-JP" sz="13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NZ" altLang="ja-JP" sz="13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  <m:r>
                          <a:rPr lang="en-NZ" altLang="ja-JP" sz="13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NZ" altLang="ja-JP" sz="13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NZ" altLang="ja-JP" sz="13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NZ" altLang="ja-JP" sz="13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NZ" altLang="ja-JP" sz="13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13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13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d>
                    <m:r>
                      <a:rPr lang="en-NZ" altLang="ja-JP" sz="13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NZ" altLang="ja-JP" sz="13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br>
                  <a:rPr lang="en-NZ" altLang="ja-JP" sz="1300" b="1" dirty="0">
                    <a:solidFill>
                      <a:srgbClr val="002060"/>
                    </a:solidFill>
                  </a:rPr>
                </a:br>
                <a:r>
                  <a:rPr lang="en-NZ" altLang="ja-JP" sz="1300" b="1" dirty="0">
                    <a:solidFill>
                      <a:srgbClr val="002060"/>
                    </a:solidFill>
                  </a:rPr>
                  <a:t>2.   </a:t>
                </a:r>
                <a14:m>
                  <m:oMath xmlns:m="http://schemas.openxmlformats.org/officeDocument/2006/math">
                    <m:r>
                      <a:rPr lang="en-NZ" altLang="ja-JP" sz="13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13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13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NZ" altLang="ja-JP" sz="13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𝒂𝑿</m:t>
                        </m:r>
                        <m:r>
                          <a:rPr lang="en-NZ" altLang="ja-JP" sz="13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NZ" altLang="ja-JP" sz="13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NZ" altLang="ja-JP" sz="13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NZ" altLang="ja-JP" sz="13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NZ" altLang="ja-JP" sz="13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13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13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d>
                  </m:oMath>
                </a14:m>
                <a:endParaRPr lang="en-NZ" altLang="ja-JP" sz="1300" b="1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NZ" altLang="ja-JP" sz="1300" b="1" dirty="0">
                    <a:solidFill>
                      <a:srgbClr val="002060"/>
                    </a:solidFill>
                  </a:rPr>
                  <a:t>3.   </a:t>
                </a:r>
                <a14:m>
                  <m:oMath xmlns:m="http://schemas.openxmlformats.org/officeDocument/2006/math">
                    <m:r>
                      <a:rPr lang="en-NZ" altLang="ja-JP" sz="13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13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13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NZ" altLang="ja-JP" sz="13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  <m:r>
                          <a:rPr lang="en-NZ" altLang="ja-JP" sz="13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NZ" altLang="ja-JP" sz="13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NZ" altLang="ja-JP" sz="13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br>
                  <a:rPr lang="en-NZ" altLang="ja-JP" sz="1300" b="1" dirty="0">
                    <a:solidFill>
                      <a:srgbClr val="002060"/>
                    </a:solidFill>
                  </a:rPr>
                </a:br>
                <a:r>
                  <a:rPr lang="en-NZ" altLang="ja-JP" sz="1300" b="1" dirty="0">
                    <a:solidFill>
                      <a:srgbClr val="002060"/>
                    </a:solidFill>
                  </a:rPr>
                  <a:t>4.   </a:t>
                </a:r>
                <a14:m>
                  <m:oMath xmlns:m="http://schemas.openxmlformats.org/officeDocument/2006/math">
                    <m:r>
                      <a:rPr lang="en-NZ" altLang="ja-JP" sz="13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13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13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NZ" altLang="ja-JP" sz="13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NZ" altLang="ja-JP" sz="13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NZ" altLang="ja-JP" sz="13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  <m:r>
                          <a:rPr lang="en-NZ" altLang="ja-JP" sz="13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NZ" altLang="ja-JP" sz="13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NZ" altLang="ja-JP" sz="13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13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13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NZ" altLang="ja-JP" sz="13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NZ" altLang="ja-JP" sz="13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NZ" altLang="ja-JP" sz="13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  </m:t>
                    </m:r>
                    <m:r>
                      <a:rPr lang="en-NZ" altLang="ja-JP" sz="13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NZ" altLang="ja-JP" sz="13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[ </m:t>
                    </m:r>
                    <m:r>
                      <a:rPr lang="en-NZ" altLang="ja-JP" sz="13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NZ" altLang="ja-JP" sz="13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]</m:t>
                    </m:r>
                  </m:oMath>
                </a14:m>
                <a:endParaRPr lang="en-US" altLang="ja-JP" sz="1300" b="1" dirty="0">
                  <a:solidFill>
                    <a:srgbClr val="002060"/>
                  </a:solidFill>
                </a:endParaRPr>
              </a:p>
              <a:p>
                <a:pPr algn="just">
                  <a:lnSpc>
                    <a:spcPct val="100000"/>
                  </a:lnSpc>
                </a:pPr>
                <a:endParaRPr lang="en-US" altLang="ja-JP" sz="13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9" name="Text Placeholder 5">
                <a:extLst>
                  <a:ext uri="{FF2B5EF4-FFF2-40B4-BE49-F238E27FC236}">
                    <a16:creationId xmlns:a16="http://schemas.microsoft.com/office/drawing/2014/main" id="{B3D39C6B-A3D9-B84E-5CB6-19B6C20129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3502" y="5832219"/>
                <a:ext cx="2462405" cy="792517"/>
              </a:xfrm>
              <a:prstGeom prst="rect">
                <a:avLst/>
              </a:prstGeom>
              <a:blipFill>
                <a:blip r:embed="rId11"/>
                <a:stretch>
                  <a:fillRect l="-248" t="-769" b="-18462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5077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  <p:bldP spid="18" grpId="0"/>
      <p:bldP spid="19" grpId="0"/>
      <p:bldP spid="20" grpId="0"/>
      <p:bldP spid="21" grpId="0"/>
      <p:bldP spid="2" grpId="0" animBg="1"/>
      <p:bldP spid="27" grpId="0"/>
      <p:bldP spid="22" grpId="0"/>
      <p:bldP spid="23" grpId="0"/>
      <p:bldP spid="25" grpId="0"/>
      <p:bldP spid="28" grpId="0"/>
      <p:bldP spid="2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6733"/>
            <a:ext cx="2185386" cy="741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4AD89C-DF1E-4948-B597-5DD47B34A9CA}" type="slidenum">
              <a:rPr kumimoji="1" lang="ja-JP" altLang="en-US" smtClean="0">
                <a:solidFill>
                  <a:srgbClr val="575454">
                    <a:lumMod val="20000"/>
                    <a:lumOff val="80000"/>
                  </a:srgbClr>
                </a:solidFill>
                <a:latin typeface="Coo Hew"/>
              </a:rPr>
              <a:pPr/>
              <a:t>26</a:t>
            </a:fld>
            <a:endParaRPr kumimoji="1" lang="ja-JP" altLang="en-US" dirty="0">
              <a:solidFill>
                <a:srgbClr val="575454">
                  <a:lumMod val="20000"/>
                  <a:lumOff val="80000"/>
                </a:srgbClr>
              </a:solidFill>
              <a:latin typeface="Coo Hew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DCE95AA1-F247-4D03-9A84-A08A95E2EB81}"/>
              </a:ext>
            </a:extLst>
          </p:cNvPr>
          <p:cNvSpPr txBox="1">
            <a:spLocks/>
          </p:cNvSpPr>
          <p:nvPr/>
        </p:nvSpPr>
        <p:spPr>
          <a:xfrm>
            <a:off x="319463" y="310113"/>
            <a:ext cx="9124788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b="1" u="sng" dirty="0">
                <a:latin typeface="+mn-lt"/>
              </a:rPr>
              <a:t>1.3f - Examples of Calculating Variance:</a:t>
            </a:r>
            <a:endParaRPr lang="ja-JP" altLang="en-US" b="1" u="sng" dirty="0">
              <a:latin typeface="+mn-lt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BE186E23-7D2D-4CF0-8FBB-5CADCBB44C53}"/>
              </a:ext>
            </a:extLst>
          </p:cNvPr>
          <p:cNvSpPr txBox="1">
            <a:spLocks/>
          </p:cNvSpPr>
          <p:nvPr/>
        </p:nvSpPr>
        <p:spPr>
          <a:xfrm>
            <a:off x="475150" y="1690855"/>
            <a:ext cx="5620847" cy="74126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altLang="ja-JP" sz="2000" b="1" i="1" u="sng" dirty="0">
                <a:latin typeface="Gidole"/>
              </a:rPr>
              <a:t>Discrete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A55C1AB4-33AA-404A-A4ED-98566FFC7F49}"/>
              </a:ext>
            </a:extLst>
          </p:cNvPr>
          <p:cNvSpPr txBox="1">
            <a:spLocks/>
          </p:cNvSpPr>
          <p:nvPr/>
        </p:nvSpPr>
        <p:spPr>
          <a:xfrm>
            <a:off x="6095999" y="1728892"/>
            <a:ext cx="5620847" cy="55780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altLang="ja-JP" sz="2000" b="1" i="1" u="sng" dirty="0">
                <a:latin typeface="Gidole"/>
              </a:rPr>
              <a:t>Continuous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AB4782E5-E8F6-47F3-87C2-130D69AE9A04}"/>
              </a:ext>
            </a:extLst>
          </p:cNvPr>
          <p:cNvSpPr txBox="1">
            <a:spLocks/>
          </p:cNvSpPr>
          <p:nvPr/>
        </p:nvSpPr>
        <p:spPr>
          <a:xfrm>
            <a:off x="475150" y="2284087"/>
            <a:ext cx="5620847" cy="49358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NZ" altLang="ja-JP" sz="1600" b="1" i="1" dirty="0">
                <a:solidFill>
                  <a:schemeClr val="tx1"/>
                </a:solidFill>
              </a:rPr>
              <a:t>Example - # Heads out of three coin-tosses</a:t>
            </a:r>
            <a:endParaRPr lang="en-NZ" altLang="ja-JP" sz="1600" b="0" dirty="0">
              <a:solidFill>
                <a:schemeClr val="tx1"/>
              </a:solidFill>
            </a:endParaRPr>
          </a:p>
          <a:p>
            <a:pPr marL="1085793" lvl="1" indent="-400050" algn="just">
              <a:lnSpc>
                <a:spcPct val="100000"/>
              </a:lnSpc>
              <a:buFont typeface="+mj-lt"/>
              <a:buAutoNum type="romanLcPeriod"/>
            </a:pPr>
            <a:endParaRPr lang="en-US" altLang="ja-JP" sz="1600" dirty="0">
              <a:solidFill>
                <a:schemeClr val="tx1"/>
              </a:solidFill>
            </a:endParaRP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599CEFE0-C16D-4A1C-BEE8-75AF577724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2362380"/>
              </p:ext>
            </p:extLst>
          </p:nvPr>
        </p:nvGraphicFramePr>
        <p:xfrm>
          <a:off x="475150" y="2828124"/>
          <a:ext cx="3748585" cy="9661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49717">
                  <a:extLst>
                    <a:ext uri="{9D8B030D-6E8A-4147-A177-3AD203B41FA5}">
                      <a16:colId xmlns:a16="http://schemas.microsoft.com/office/drawing/2014/main" val="2172846292"/>
                    </a:ext>
                  </a:extLst>
                </a:gridCol>
                <a:gridCol w="749717">
                  <a:extLst>
                    <a:ext uri="{9D8B030D-6E8A-4147-A177-3AD203B41FA5}">
                      <a16:colId xmlns:a16="http://schemas.microsoft.com/office/drawing/2014/main" val="3564939060"/>
                    </a:ext>
                  </a:extLst>
                </a:gridCol>
                <a:gridCol w="749717">
                  <a:extLst>
                    <a:ext uri="{9D8B030D-6E8A-4147-A177-3AD203B41FA5}">
                      <a16:colId xmlns:a16="http://schemas.microsoft.com/office/drawing/2014/main" val="2041427015"/>
                    </a:ext>
                  </a:extLst>
                </a:gridCol>
                <a:gridCol w="749717">
                  <a:extLst>
                    <a:ext uri="{9D8B030D-6E8A-4147-A177-3AD203B41FA5}">
                      <a16:colId xmlns:a16="http://schemas.microsoft.com/office/drawing/2014/main" val="2703515310"/>
                    </a:ext>
                  </a:extLst>
                </a:gridCol>
                <a:gridCol w="749717">
                  <a:extLst>
                    <a:ext uri="{9D8B030D-6E8A-4147-A177-3AD203B41FA5}">
                      <a16:colId xmlns:a16="http://schemas.microsoft.com/office/drawing/2014/main" val="1569213684"/>
                    </a:ext>
                  </a:extLst>
                </a:gridCol>
              </a:tblGrid>
              <a:tr h="483084">
                <a:tc>
                  <a:txBody>
                    <a:bodyPr/>
                    <a:lstStyle/>
                    <a:p>
                      <a:pPr algn="ctr" fontAlgn="ctr"/>
                      <a:endParaRPr lang="en-NZ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400" b="1" u="none" strike="noStrike" dirty="0">
                          <a:effectLst/>
                        </a:rPr>
                        <a:t>X=0</a:t>
                      </a:r>
                      <a:endParaRPr lang="en-NZ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400" b="1" u="none" strike="noStrike" dirty="0">
                          <a:effectLst/>
                        </a:rPr>
                        <a:t>X=1</a:t>
                      </a:r>
                      <a:endParaRPr lang="en-NZ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400" b="1" u="none" strike="noStrike" dirty="0">
                          <a:effectLst/>
                        </a:rPr>
                        <a:t>X=2</a:t>
                      </a:r>
                      <a:endParaRPr lang="en-NZ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400" b="1" u="none" strike="noStrike" dirty="0">
                          <a:effectLst/>
                        </a:rPr>
                        <a:t>X=3</a:t>
                      </a:r>
                      <a:endParaRPr lang="en-NZ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2727335"/>
                  </a:ext>
                </a:extLst>
              </a:tr>
              <a:tr h="483084"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400" b="1" u="none" strike="noStrike" dirty="0">
                          <a:effectLst/>
                        </a:rPr>
                        <a:t>P(X = x)</a:t>
                      </a:r>
                      <a:endParaRPr lang="en-NZ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400" u="none" strike="noStrike">
                          <a:effectLst/>
                        </a:rPr>
                        <a:t>1/8</a:t>
                      </a:r>
                      <a:endParaRPr lang="en-NZ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400" u="none" strike="noStrike" dirty="0">
                          <a:effectLst/>
                        </a:rPr>
                        <a:t>3/8</a:t>
                      </a:r>
                      <a:endParaRPr lang="en-NZ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400" u="none" strike="noStrike" dirty="0">
                          <a:effectLst/>
                        </a:rPr>
                        <a:t>3/8</a:t>
                      </a:r>
                      <a:endParaRPr lang="en-NZ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400" u="none" strike="noStrike" dirty="0">
                          <a:effectLst/>
                        </a:rPr>
                        <a:t>1/8</a:t>
                      </a:r>
                      <a:endParaRPr lang="en-NZ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4829247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 Placeholder 5">
                <a:extLst>
                  <a:ext uri="{FF2B5EF4-FFF2-40B4-BE49-F238E27FC236}">
                    <a16:creationId xmlns:a16="http://schemas.microsoft.com/office/drawing/2014/main" id="{6394E460-32CF-433B-BDA5-0F0FFC9E111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71153" y="2459413"/>
                <a:ext cx="5620847" cy="493582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:r>
                  <a:rPr lang="en-NZ" altLang="ja-JP" sz="1600" b="1" i="1" dirty="0">
                    <a:solidFill>
                      <a:schemeClr val="tx1"/>
                    </a:solidFill>
                  </a:rPr>
                  <a:t>Example – </a:t>
                </a:r>
                <a14:m>
                  <m:oMath xmlns:m="http://schemas.openxmlformats.org/officeDocument/2006/math">
                    <m:r>
                      <a:rPr lang="en-NZ" altLang="ja-JP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NZ" altLang="ja-JP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~</m:t>
                    </m:r>
                    <m:r>
                      <a:rPr lang="en-NZ" altLang="ja-JP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𝑼</m:t>
                    </m:r>
                    <m:r>
                      <a:rPr lang="en-NZ" altLang="ja-JP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NZ" altLang="ja-JP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NZ" altLang="ja-JP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NZ" altLang="ja-JP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𝟏𝟎</m:t>
                    </m:r>
                    <m:r>
                      <a:rPr lang="en-NZ" altLang="ja-JP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NZ" altLang="ja-JP" sz="1600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Text Placeholder 5">
                <a:extLst>
                  <a:ext uri="{FF2B5EF4-FFF2-40B4-BE49-F238E27FC236}">
                    <a16:creationId xmlns:a16="http://schemas.microsoft.com/office/drawing/2014/main" id="{6394E460-32CF-433B-BDA5-0F0FFC9E11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1153" y="2459413"/>
                <a:ext cx="5620847" cy="493582"/>
              </a:xfrm>
              <a:prstGeom prst="rect">
                <a:avLst/>
              </a:prstGeom>
              <a:blipFill>
                <a:blip r:embed="rId3"/>
                <a:stretch>
                  <a:fillRect l="-651" t="-3704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 Placeholder 5">
                <a:extLst>
                  <a:ext uri="{FF2B5EF4-FFF2-40B4-BE49-F238E27FC236}">
                    <a16:creationId xmlns:a16="http://schemas.microsoft.com/office/drawing/2014/main" id="{BF9C4B5A-A1D0-493E-8E30-BA1959D2B22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311842" y="3851145"/>
                <a:ext cx="5620847" cy="56459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NZ" altLang="ja-JP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NZ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NZ" altLang="ja-JP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limLoc m:val="undOvr"/>
                          <m:ctrlPr>
                            <a:rPr lang="en-NZ" altLang="ja-JP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NZ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NZ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NZ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NZ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=10</m:t>
                          </m:r>
                        </m:sup>
                        <m:e>
                          <m:sSup>
                            <m:sSupPr>
                              <m:ctrlP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NZ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∗</m:t>
                          </m:r>
                          <m:f>
                            <m:fPr>
                              <m:ctrlP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nary>
                      <m:r>
                        <a:rPr lang="en-NZ" altLang="ja-JP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NZ" altLang="ja-JP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NZ" altLang="ja-JP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=  </m:t>
                      </m:r>
                      <m:sSub>
                        <m:sSubPr>
                          <m:ctrlPr>
                            <a:rPr lang="en-NZ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Sup>
                            <m:sSubSupPr>
                              <m:ctrlP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NZ" altLang="ja-JP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NZ" altLang="ja-JP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f>
                                    <m:fPr>
                                      <m:ctrlPr>
                                        <a:rPr lang="en-NZ" altLang="ja-JP" sz="16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NZ" altLang="ja-JP" sz="16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NZ" altLang="ja-JP" sz="16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en-NZ" altLang="ja-JP" sz="16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r>
                                        <a:rPr lang="en-NZ" altLang="ja-JP" sz="16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30</m:t>
                                      </m:r>
                                    </m:den>
                                  </m:f>
                                  <m:r>
                                    <a:rPr lang="en-NZ" altLang="ja-JP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d>
                            </m:e>
                            <m:sub>
                              <m: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=10</m:t>
                              </m:r>
                            </m:sup>
                          </m:sSubSup>
                        </m:e>
                        <m:sub/>
                      </m:sSub>
                      <m:r>
                        <a:rPr lang="en-NZ" altLang="ja-JP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=100/3 </m:t>
                      </m:r>
                    </m:oMath>
                  </m:oMathPara>
                </a14:m>
                <a:endParaRPr lang="en-NZ" altLang="ja-JP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Text Placeholder 5">
                <a:extLst>
                  <a:ext uri="{FF2B5EF4-FFF2-40B4-BE49-F238E27FC236}">
                    <a16:creationId xmlns:a16="http://schemas.microsoft.com/office/drawing/2014/main" id="{BF9C4B5A-A1D0-493E-8E30-BA1959D2B2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1842" y="3851145"/>
                <a:ext cx="5620847" cy="564599"/>
              </a:xfrm>
              <a:prstGeom prst="rect">
                <a:avLst/>
              </a:prstGeom>
              <a:blipFill>
                <a:blip r:embed="rId4"/>
                <a:stretch>
                  <a:fillRect b="-40217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 Placeholder 5">
                <a:extLst>
                  <a:ext uri="{FF2B5EF4-FFF2-40B4-BE49-F238E27FC236}">
                    <a16:creationId xmlns:a16="http://schemas.microsoft.com/office/drawing/2014/main" id="{F0B069AF-0348-4778-9142-D29BFE95955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5148" y="4475116"/>
                <a:ext cx="5620847" cy="56459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NZ" altLang="ja-JP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NZ" altLang="ja-JP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NZ" altLang="ja-JP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NZ" altLang="ja-JP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NZ" altLang="ja-JP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NZ" altLang="ja-JP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sSup>
                        <m:sSupPr>
                          <m:ctrlPr>
                            <a:rPr lang="en-NZ" altLang="ja-JP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NZ" altLang="ja-JP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  <m:sup>
                          <m:r>
                            <a:rPr lang="en-NZ" altLang="ja-JP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NZ" altLang="ja-JP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∗</m:t>
                      </m:r>
                      <m:f>
                        <m:fPr>
                          <m:ctrlPr>
                            <a:rPr lang="en-NZ" altLang="ja-JP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NZ" altLang="ja-JP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NZ" altLang="ja-JP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en-NZ" altLang="ja-JP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+   </m:t>
                      </m:r>
                      <m:sSup>
                        <m:sSupPr>
                          <m:ctrlPr>
                            <a:rPr lang="en-NZ" altLang="ja-JP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NZ" altLang="ja-JP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  <m:sup>
                          <m:r>
                            <a:rPr lang="en-NZ" altLang="ja-JP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NZ" altLang="ja-JP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NZ" altLang="ja-JP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NZ" altLang="ja-JP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NZ" altLang="ja-JP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en-NZ" altLang="ja-JP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+   </m:t>
                      </m:r>
                      <m:sSup>
                        <m:sSupPr>
                          <m:ctrlPr>
                            <a:rPr lang="en-NZ" altLang="ja-JP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NZ" altLang="ja-JP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e>
                        <m:sup>
                          <m:r>
                            <a:rPr lang="en-NZ" altLang="ja-JP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NZ" altLang="ja-JP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NZ" altLang="ja-JP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NZ" altLang="ja-JP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NZ" altLang="ja-JP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en-NZ" altLang="ja-JP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+   </m:t>
                      </m:r>
                      <m:sSup>
                        <m:sSupPr>
                          <m:ctrlPr>
                            <a:rPr lang="en-NZ" altLang="ja-JP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NZ" altLang="ja-JP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e>
                        <m:sup>
                          <m:r>
                            <a:rPr lang="en-NZ" altLang="ja-JP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NZ" altLang="ja-JP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∗</m:t>
                      </m:r>
                      <m:f>
                        <m:fPr>
                          <m:ctrlPr>
                            <a:rPr lang="en-NZ" altLang="ja-JP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NZ" altLang="ja-JP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NZ" altLang="ja-JP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en-NZ" altLang="ja-JP" sz="1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NZ" altLang="ja-JP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3</m:t>
                      </m:r>
                    </m:oMath>
                  </m:oMathPara>
                </a14:m>
                <a:endParaRPr lang="en-NZ" altLang="ja-JP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Text Placeholder 5">
                <a:extLst>
                  <a:ext uri="{FF2B5EF4-FFF2-40B4-BE49-F238E27FC236}">
                    <a16:creationId xmlns:a16="http://schemas.microsoft.com/office/drawing/2014/main" id="{F0B069AF-0348-4778-9142-D29BFE9595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148" y="4475116"/>
                <a:ext cx="5620847" cy="5645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6E1A1E4-D5EC-4775-97E3-0E7681B8CE26}"/>
                  </a:ext>
                </a:extLst>
              </p:cNvPr>
              <p:cNvSpPr txBox="1"/>
              <p:nvPr/>
            </p:nvSpPr>
            <p:spPr>
              <a:xfrm>
                <a:off x="2501740" y="1109718"/>
                <a:ext cx="7188516" cy="4397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𝑽𝒂𝒓</m:t>
                      </m:r>
                      <m:d>
                        <m:dPr>
                          <m:begChr m:val="["/>
                          <m:endChr m:val="]"/>
                          <m:ctrlP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≡  </m:t>
                      </m:r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  <m: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−</m:t>
                                  </m:r>
                                  <m: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𝑬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</m:d>
                                  <m: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d>
                            </m:e>
                            <m:sup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d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=  </m:t>
                      </m:r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begChr m:val="["/>
                          <m:endChr m:val="]"/>
                          <m:ctrlP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d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−  ( </m:t>
                      </m:r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sSup>
                        <m:sSupPr>
                          <m:ctrlP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)</m:t>
                          </m:r>
                        </m:e>
                        <m:sup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NZ" sz="20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6E1A1E4-D5EC-4775-97E3-0E7681B8CE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1740" y="1109718"/>
                <a:ext cx="7188516" cy="439736"/>
              </a:xfrm>
              <a:prstGeom prst="rect">
                <a:avLst/>
              </a:prstGeom>
              <a:blipFill>
                <a:blip r:embed="rId6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Placeholder 5">
                <a:extLst>
                  <a:ext uri="{FF2B5EF4-FFF2-40B4-BE49-F238E27FC236}">
                    <a16:creationId xmlns:a16="http://schemas.microsoft.com/office/drawing/2014/main" id="{2D99B84D-C646-4390-98C2-435BD5E4745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5149" y="4023092"/>
                <a:ext cx="5620847" cy="56459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NZ" altLang="ja-JP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NZ" altLang="ja-JP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NZ" altLang="ja-JP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 0 ∗</m:t>
                      </m:r>
                      <m:f>
                        <m:fPr>
                          <m:ctrlPr>
                            <a:rPr lang="en-NZ" altLang="ja-JP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NZ" altLang="ja-JP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NZ" altLang="ja-JP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en-NZ" altLang="ja-JP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+   1∗</m:t>
                      </m:r>
                      <m:f>
                        <m:fPr>
                          <m:ctrlPr>
                            <a:rPr lang="en-NZ" altLang="ja-JP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NZ" altLang="ja-JP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NZ" altLang="ja-JP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en-NZ" altLang="ja-JP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+   2∗</m:t>
                      </m:r>
                      <m:f>
                        <m:fPr>
                          <m:ctrlPr>
                            <a:rPr lang="en-NZ" altLang="ja-JP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NZ" altLang="ja-JP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NZ" altLang="ja-JP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en-NZ" altLang="ja-JP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+   3 ∗</m:t>
                      </m:r>
                      <m:f>
                        <m:fPr>
                          <m:ctrlPr>
                            <a:rPr lang="en-NZ" altLang="ja-JP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NZ" altLang="ja-JP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NZ" altLang="ja-JP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en-NZ" altLang="ja-JP" sz="1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NZ" altLang="ja-JP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=1.5</m:t>
                      </m:r>
                    </m:oMath>
                  </m:oMathPara>
                </a14:m>
                <a:endParaRPr lang="en-NZ" altLang="ja-JP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Text Placeholder 5">
                <a:extLst>
                  <a:ext uri="{FF2B5EF4-FFF2-40B4-BE49-F238E27FC236}">
                    <a16:creationId xmlns:a16="http://schemas.microsoft.com/office/drawing/2014/main" id="{2D99B84D-C646-4390-98C2-435BD5E474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149" y="4023092"/>
                <a:ext cx="5620847" cy="5645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 Placeholder 5">
                <a:extLst>
                  <a:ext uri="{FF2B5EF4-FFF2-40B4-BE49-F238E27FC236}">
                    <a16:creationId xmlns:a16="http://schemas.microsoft.com/office/drawing/2014/main" id="{0F7E0DEB-0C0A-4E2B-BA42-4172D04CFC0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5995" y="2815704"/>
                <a:ext cx="5620847" cy="56459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NZ" altLang="ja-JP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NZ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NZ" altLang="ja-JP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limLoc m:val="undOvr"/>
                          <m:ctrlPr>
                            <a:rPr lang="en-NZ" altLang="ja-JP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NZ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NZ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NZ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NZ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=10</m:t>
                          </m:r>
                        </m:sup>
                        <m:e>
                          <m:r>
                            <a:rPr lang="en-NZ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NZ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∗</m:t>
                          </m:r>
                          <m:f>
                            <m:fPr>
                              <m:ctrlP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e>
                      </m:nary>
                      <m:r>
                        <a:rPr lang="en-NZ" altLang="ja-JP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NZ" altLang="ja-JP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NZ" altLang="ja-JP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=  </m:t>
                      </m:r>
                      <m:sSub>
                        <m:sSubPr>
                          <m:ctrlPr>
                            <a:rPr lang="en-NZ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Sup>
                            <m:sSubSupPr>
                              <m:ctrlP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NZ" altLang="ja-JP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NZ" altLang="ja-JP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f>
                                    <m:fPr>
                                      <m:ctrlPr>
                                        <a:rPr lang="en-NZ" altLang="ja-JP" sz="16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NZ" altLang="ja-JP" sz="16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NZ" altLang="ja-JP" sz="16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en-NZ" altLang="ja-JP" sz="16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r>
                                        <a:rPr lang="en-NZ" altLang="ja-JP" sz="16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20</m:t>
                                      </m:r>
                                    </m:den>
                                  </m:f>
                                  <m:r>
                                    <a:rPr lang="en-NZ" altLang="ja-JP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d>
                            </m:e>
                            <m:sub>
                              <m: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=10</m:t>
                              </m:r>
                            </m:sup>
                          </m:sSubSup>
                        </m:e>
                        <m:sub/>
                      </m:sSub>
                      <m:r>
                        <a:rPr lang="en-NZ" altLang="ja-JP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=5 </m:t>
                      </m:r>
                    </m:oMath>
                  </m:oMathPara>
                </a14:m>
                <a:endParaRPr lang="en-NZ" altLang="ja-JP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Text Placeholder 5">
                <a:extLst>
                  <a:ext uri="{FF2B5EF4-FFF2-40B4-BE49-F238E27FC236}">
                    <a16:creationId xmlns:a16="http://schemas.microsoft.com/office/drawing/2014/main" id="{0F7E0DEB-0C0A-4E2B-BA42-4172D04CFC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95" y="2815704"/>
                <a:ext cx="5620847" cy="564599"/>
              </a:xfrm>
              <a:prstGeom prst="rect">
                <a:avLst/>
              </a:prstGeom>
              <a:blipFill>
                <a:blip r:embed="rId8"/>
                <a:stretch>
                  <a:fillRect b="-38710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 Placeholder 5">
                <a:extLst>
                  <a:ext uri="{FF2B5EF4-FFF2-40B4-BE49-F238E27FC236}">
                    <a16:creationId xmlns:a16="http://schemas.microsoft.com/office/drawing/2014/main" id="{F7E3CBFF-6EFC-4AFD-BD6C-F8A45F684D7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5148" y="5158604"/>
                <a:ext cx="5620847" cy="56459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NZ" altLang="ja-JP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NZ" altLang="ja-JP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NZ" altLang="ja-JP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NZ" altLang="ja-JP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NZ" altLang="ja-JP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NZ" altLang="ja-JP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NZ" altLang="ja-JP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NZ" altLang="ja-JP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NZ" altLang="ja-JP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NZ" altLang="ja-JP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NZ" altLang="ja-JP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NZ" altLang="ja-JP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NZ" altLang="ja-JP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NZ" altLang="ja-JP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  <m:r>
                                <a:rPr lang="en-NZ" altLang="ja-JP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  <m:sup>
                          <m:r>
                            <a:rPr lang="en-NZ" altLang="ja-JP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NZ" altLang="ja-JP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=3  −</m:t>
                      </m:r>
                      <m:sSup>
                        <m:sSupPr>
                          <m:ctrlPr>
                            <a:rPr lang="en-NZ" altLang="ja-JP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NZ" altLang="ja-JP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1.5</m:t>
                          </m:r>
                        </m:e>
                        <m:sup>
                          <m:r>
                            <a:rPr lang="en-NZ" altLang="ja-JP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NZ" altLang="ja-JP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  0.75</m:t>
                      </m:r>
                    </m:oMath>
                  </m:oMathPara>
                </a14:m>
                <a:endParaRPr lang="en-NZ" altLang="ja-JP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Text Placeholder 5">
                <a:extLst>
                  <a:ext uri="{FF2B5EF4-FFF2-40B4-BE49-F238E27FC236}">
                    <a16:creationId xmlns:a16="http://schemas.microsoft.com/office/drawing/2014/main" id="{F7E3CBFF-6EFC-4AFD-BD6C-F8A45F684D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148" y="5158604"/>
                <a:ext cx="5620847" cy="5645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 Placeholder 5">
                <a:extLst>
                  <a:ext uri="{FF2B5EF4-FFF2-40B4-BE49-F238E27FC236}">
                    <a16:creationId xmlns:a16="http://schemas.microsoft.com/office/drawing/2014/main" id="{A3795AAF-063C-43E1-8532-7AF1CE2A104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633827" y="5158603"/>
                <a:ext cx="5455538" cy="56459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NZ" altLang="ja-JP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NZ" altLang="ja-JP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NZ" altLang="ja-JP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NZ" altLang="ja-JP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NZ" altLang="ja-JP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NZ" altLang="ja-JP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NZ" altLang="ja-JP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NZ" altLang="ja-JP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NZ" altLang="ja-JP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NZ" altLang="ja-JP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NZ" altLang="ja-JP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NZ" altLang="ja-JP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NZ" altLang="ja-JP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d>
                            <m:r>
                              <a:rPr lang="en-NZ" altLang="ja-JP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</m:e>
                      <m:sup>
                        <m:r>
                          <a:rPr lang="en-NZ" altLang="ja-JP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NZ" altLang="ja-JP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=100/3  −</m:t>
                    </m:r>
                    <m:sSup>
                      <m:sSupPr>
                        <m:ctrlPr>
                          <a:rPr lang="en-NZ" altLang="ja-JP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NZ" altLang="ja-JP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NZ" altLang="ja-JP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NZ" altLang="ja-JP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=  25/3</m:t>
                    </m:r>
                  </m:oMath>
                </a14:m>
                <a:r>
                  <a:rPr lang="en-NZ" altLang="ja-JP" sz="1400" dirty="0">
                    <a:solidFill>
                      <a:schemeClr val="tx1"/>
                    </a:solidFill>
                  </a:rPr>
                  <a:t>  ≈  8.3333</a:t>
                </a:r>
              </a:p>
            </p:txBody>
          </p:sp>
        </mc:Choice>
        <mc:Fallback xmlns="">
          <p:sp>
            <p:nvSpPr>
              <p:cNvPr id="25" name="Text Placeholder 5">
                <a:extLst>
                  <a:ext uri="{FF2B5EF4-FFF2-40B4-BE49-F238E27FC236}">
                    <a16:creationId xmlns:a16="http://schemas.microsoft.com/office/drawing/2014/main" id="{A3795AAF-063C-43E1-8532-7AF1CE2A10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3827" y="5158603"/>
                <a:ext cx="5455538" cy="564599"/>
              </a:xfrm>
              <a:prstGeom prst="rect">
                <a:avLst/>
              </a:prstGeom>
              <a:blipFill>
                <a:blip r:embed="rId10"/>
                <a:stretch>
                  <a:fillRect t="-1075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Footer Placeholder 2">
            <a:extLst>
              <a:ext uri="{FF2B5EF4-FFF2-40B4-BE49-F238E27FC236}">
                <a16:creationId xmlns:a16="http://schemas.microsoft.com/office/drawing/2014/main" id="{C7880CBE-BC37-4F7E-AA38-46C857CF0357}"/>
              </a:ext>
            </a:extLst>
          </p:cNvPr>
          <p:cNvSpPr txBox="1">
            <a:spLocks/>
          </p:cNvSpPr>
          <p:nvPr/>
        </p:nvSpPr>
        <p:spPr>
          <a:xfrm>
            <a:off x="8723086" y="86139"/>
            <a:ext cx="33662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1600" dirty="0">
                <a:solidFill>
                  <a:srgbClr val="DEDDDD"/>
                </a:solidFill>
                <a:latin typeface="Gidole"/>
              </a:rPr>
              <a:t>1.3 – Expectation &amp; Variance of RVs</a:t>
            </a:r>
            <a:endParaRPr kumimoji="1" lang="ja-JP" altLang="en-US" sz="1600" dirty="0">
              <a:solidFill>
                <a:srgbClr val="DEDDDD"/>
              </a:solidFill>
              <a:latin typeface="Gidole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495C0AB-BD90-1B72-0B8D-35CACDC2FF9E}"/>
              </a:ext>
            </a:extLst>
          </p:cNvPr>
          <p:cNvCxnSpPr/>
          <p:nvPr/>
        </p:nvCxnSpPr>
        <p:spPr>
          <a:xfrm>
            <a:off x="2501740" y="6387152"/>
            <a:ext cx="238415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6B4B7711-0E1D-A41C-14F0-575E08717179}"/>
              </a:ext>
            </a:extLst>
          </p:cNvPr>
          <p:cNvSpPr txBox="1">
            <a:spLocks/>
          </p:cNvSpPr>
          <p:nvPr/>
        </p:nvSpPr>
        <p:spPr>
          <a:xfrm>
            <a:off x="2349443" y="6423555"/>
            <a:ext cx="382384" cy="31018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NZ" altLang="ja-JP" sz="1600" b="1" dirty="0">
                <a:solidFill>
                  <a:schemeClr val="tx1"/>
                </a:solidFill>
              </a:rPr>
              <a:t>0</a:t>
            </a:r>
            <a:endParaRPr lang="en-NZ" altLang="ja-JP" sz="1600" b="0" dirty="0">
              <a:solidFill>
                <a:schemeClr val="tx1"/>
              </a:solidFill>
            </a:endParaRPr>
          </a:p>
          <a:p>
            <a:pPr marL="1085793" lvl="1" indent="-400050" algn="just">
              <a:lnSpc>
                <a:spcPct val="100000"/>
              </a:lnSpc>
              <a:buFont typeface="+mj-lt"/>
              <a:buAutoNum type="romanLcPeriod"/>
            </a:pPr>
            <a:endParaRPr lang="en-US" altLang="ja-JP" sz="1600" dirty="0">
              <a:solidFill>
                <a:schemeClr val="tx1"/>
              </a:solidFill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F086ECD-BAD0-2DFC-BBBA-CBB73B2E8747}"/>
              </a:ext>
            </a:extLst>
          </p:cNvPr>
          <p:cNvSpPr txBox="1">
            <a:spLocks/>
          </p:cNvSpPr>
          <p:nvPr/>
        </p:nvSpPr>
        <p:spPr>
          <a:xfrm>
            <a:off x="4690665" y="6417614"/>
            <a:ext cx="382384" cy="31018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NZ" altLang="ja-JP" sz="1600" b="1" dirty="0">
                <a:solidFill>
                  <a:schemeClr val="tx1"/>
                </a:solidFill>
              </a:rPr>
              <a:t>3</a:t>
            </a:r>
            <a:endParaRPr lang="en-NZ" altLang="ja-JP" sz="1600" b="0" dirty="0">
              <a:solidFill>
                <a:schemeClr val="tx1"/>
              </a:solidFill>
            </a:endParaRP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273C74A0-C8F9-F942-D6B5-A9F3F8B231D6}"/>
              </a:ext>
            </a:extLst>
          </p:cNvPr>
          <p:cNvSpPr txBox="1">
            <a:spLocks/>
          </p:cNvSpPr>
          <p:nvPr/>
        </p:nvSpPr>
        <p:spPr>
          <a:xfrm>
            <a:off x="3055641" y="6423554"/>
            <a:ext cx="382384" cy="31018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NZ" altLang="ja-JP" sz="1600" b="1" dirty="0">
                <a:solidFill>
                  <a:schemeClr val="tx1"/>
                </a:solidFill>
              </a:rPr>
              <a:t>1</a:t>
            </a:r>
            <a:endParaRPr lang="en-NZ" altLang="ja-JP" sz="1600" b="0" dirty="0">
              <a:solidFill>
                <a:schemeClr val="tx1"/>
              </a:solidFill>
            </a:endParaRPr>
          </a:p>
          <a:p>
            <a:pPr marL="1085793" lvl="1" indent="-400050" algn="just">
              <a:lnSpc>
                <a:spcPct val="100000"/>
              </a:lnSpc>
              <a:buFont typeface="+mj-lt"/>
              <a:buAutoNum type="romanLcPeriod"/>
            </a:pPr>
            <a:endParaRPr lang="en-US" altLang="ja-JP" sz="1600" dirty="0">
              <a:solidFill>
                <a:schemeClr val="tx1"/>
              </a:solidFill>
            </a:endParaRP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255C079E-7210-2461-B6FC-D319A1CE2A66}"/>
              </a:ext>
            </a:extLst>
          </p:cNvPr>
          <p:cNvSpPr txBox="1">
            <a:spLocks/>
          </p:cNvSpPr>
          <p:nvPr/>
        </p:nvSpPr>
        <p:spPr>
          <a:xfrm>
            <a:off x="3873153" y="6423554"/>
            <a:ext cx="382384" cy="31018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NZ" altLang="ja-JP" sz="16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B042414-EA1A-1A64-EB60-21CC6B18E826}"/>
              </a:ext>
            </a:extLst>
          </p:cNvPr>
          <p:cNvSpPr/>
          <p:nvPr/>
        </p:nvSpPr>
        <p:spPr>
          <a:xfrm>
            <a:off x="2420302" y="6224276"/>
            <a:ext cx="162876" cy="16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E458566E-6C19-49C0-3CF0-A9FB3C16809E}"/>
              </a:ext>
            </a:extLst>
          </p:cNvPr>
          <p:cNvSpPr/>
          <p:nvPr/>
        </p:nvSpPr>
        <p:spPr>
          <a:xfrm>
            <a:off x="3165395" y="6217191"/>
            <a:ext cx="162876" cy="16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2F0D231-7641-43FF-AA48-6FD8FC5AB03B}"/>
              </a:ext>
            </a:extLst>
          </p:cNvPr>
          <p:cNvSpPr/>
          <p:nvPr/>
        </p:nvSpPr>
        <p:spPr>
          <a:xfrm>
            <a:off x="3165395" y="6035295"/>
            <a:ext cx="162876" cy="16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6A49151B-8DA6-E5C1-0EBD-5B9FB353CF13}"/>
              </a:ext>
            </a:extLst>
          </p:cNvPr>
          <p:cNvSpPr/>
          <p:nvPr/>
        </p:nvSpPr>
        <p:spPr>
          <a:xfrm>
            <a:off x="3165395" y="5853399"/>
            <a:ext cx="162876" cy="16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6C0DC328-B7B5-FD6C-C1C4-06F786EA9142}"/>
              </a:ext>
            </a:extLst>
          </p:cNvPr>
          <p:cNvSpPr/>
          <p:nvPr/>
        </p:nvSpPr>
        <p:spPr>
          <a:xfrm>
            <a:off x="3982907" y="6217191"/>
            <a:ext cx="162876" cy="16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7281AED-FE5A-6476-804A-0D8153ECF088}"/>
              </a:ext>
            </a:extLst>
          </p:cNvPr>
          <p:cNvSpPr/>
          <p:nvPr/>
        </p:nvSpPr>
        <p:spPr>
          <a:xfrm>
            <a:off x="3982907" y="6035295"/>
            <a:ext cx="162876" cy="16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537F3B89-CE1B-5D8B-3A7E-6A9FF33BEB0A}"/>
              </a:ext>
            </a:extLst>
          </p:cNvPr>
          <p:cNvSpPr/>
          <p:nvPr/>
        </p:nvSpPr>
        <p:spPr>
          <a:xfrm>
            <a:off x="3982907" y="5853399"/>
            <a:ext cx="162876" cy="16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2B02E48-8AFC-A94F-1219-69CFCF7B47E6}"/>
              </a:ext>
            </a:extLst>
          </p:cNvPr>
          <p:cNvSpPr/>
          <p:nvPr/>
        </p:nvSpPr>
        <p:spPr>
          <a:xfrm>
            <a:off x="4800419" y="6224276"/>
            <a:ext cx="162876" cy="16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7" name="Text Placeholder 5">
            <a:extLst>
              <a:ext uri="{FF2B5EF4-FFF2-40B4-BE49-F238E27FC236}">
                <a16:creationId xmlns:a16="http://schemas.microsoft.com/office/drawing/2014/main" id="{319F147D-C641-045D-D3C9-61994FEA8853}"/>
              </a:ext>
            </a:extLst>
          </p:cNvPr>
          <p:cNvSpPr txBox="1">
            <a:spLocks/>
          </p:cNvSpPr>
          <p:nvPr/>
        </p:nvSpPr>
        <p:spPr>
          <a:xfrm>
            <a:off x="3076751" y="5649847"/>
            <a:ext cx="1178786" cy="31018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NZ" altLang="ja-JP" sz="1200" b="1" dirty="0">
                <a:solidFill>
                  <a:schemeClr val="tx1"/>
                </a:solidFill>
              </a:rPr>
              <a:t>E[X] </a:t>
            </a:r>
            <a:br>
              <a:rPr lang="en-NZ" altLang="ja-JP" sz="1200" b="1" dirty="0">
                <a:solidFill>
                  <a:schemeClr val="tx1"/>
                </a:solidFill>
              </a:rPr>
            </a:br>
            <a:r>
              <a:rPr lang="en-NZ" altLang="ja-JP" sz="1200" b="1" dirty="0">
                <a:solidFill>
                  <a:schemeClr val="tx1"/>
                </a:solidFill>
              </a:rPr>
              <a:t>= 1.5</a:t>
            </a:r>
          </a:p>
          <a:p>
            <a:pPr marL="1085793" lvl="1" indent="-400050" algn="just">
              <a:lnSpc>
                <a:spcPct val="100000"/>
              </a:lnSpc>
              <a:buFont typeface="+mj-lt"/>
              <a:buAutoNum type="romanLcPeriod"/>
            </a:pPr>
            <a:endParaRPr lang="en-US" altLang="ja-JP" sz="1200" b="1" dirty="0">
              <a:solidFill>
                <a:schemeClr val="tx1"/>
              </a:solidFill>
            </a:endParaRP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1355AE3-A4C4-3A5E-E20B-BD9EA619896E}"/>
              </a:ext>
            </a:extLst>
          </p:cNvPr>
          <p:cNvCxnSpPr/>
          <p:nvPr/>
        </p:nvCxnSpPr>
        <p:spPr>
          <a:xfrm>
            <a:off x="3673418" y="6089090"/>
            <a:ext cx="0" cy="3008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4FF1ACB-A58B-5E54-6C69-F4A923350AF3}"/>
              </a:ext>
            </a:extLst>
          </p:cNvPr>
          <p:cNvCxnSpPr>
            <a:cxnSpLocks/>
          </p:cNvCxnSpPr>
          <p:nvPr/>
        </p:nvCxnSpPr>
        <p:spPr>
          <a:xfrm>
            <a:off x="7239000" y="6380067"/>
            <a:ext cx="3500642" cy="70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 Placeholder 5">
            <a:extLst>
              <a:ext uri="{FF2B5EF4-FFF2-40B4-BE49-F238E27FC236}">
                <a16:creationId xmlns:a16="http://schemas.microsoft.com/office/drawing/2014/main" id="{BA08F37C-80C8-ECFA-8F53-5D40BA2B8673}"/>
              </a:ext>
            </a:extLst>
          </p:cNvPr>
          <p:cNvSpPr txBox="1">
            <a:spLocks/>
          </p:cNvSpPr>
          <p:nvPr/>
        </p:nvSpPr>
        <p:spPr>
          <a:xfrm>
            <a:off x="7086892" y="6383609"/>
            <a:ext cx="382384" cy="31018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NZ" altLang="ja-JP" sz="1600" b="1" dirty="0">
                <a:solidFill>
                  <a:schemeClr val="tx1"/>
                </a:solidFill>
              </a:rPr>
              <a:t>0</a:t>
            </a:r>
            <a:endParaRPr lang="en-NZ" altLang="ja-JP" sz="1600" b="0" dirty="0">
              <a:solidFill>
                <a:schemeClr val="tx1"/>
              </a:solidFill>
            </a:endParaRPr>
          </a:p>
          <a:p>
            <a:pPr marL="1085793" lvl="1" indent="-400050" algn="just">
              <a:lnSpc>
                <a:spcPct val="100000"/>
              </a:lnSpc>
              <a:buFont typeface="+mj-lt"/>
              <a:buAutoNum type="romanLcPeriod"/>
            </a:pPr>
            <a:endParaRPr lang="en-US" altLang="ja-JP" sz="1600" dirty="0">
              <a:solidFill>
                <a:schemeClr val="tx1"/>
              </a:solidFill>
            </a:endParaRPr>
          </a:p>
        </p:txBody>
      </p:sp>
      <p:sp>
        <p:nvSpPr>
          <p:cNvPr id="45" name="Text Placeholder 5">
            <a:extLst>
              <a:ext uri="{FF2B5EF4-FFF2-40B4-BE49-F238E27FC236}">
                <a16:creationId xmlns:a16="http://schemas.microsoft.com/office/drawing/2014/main" id="{45E74835-7F69-6781-813D-356DA4BA3A40}"/>
              </a:ext>
            </a:extLst>
          </p:cNvPr>
          <p:cNvSpPr txBox="1">
            <a:spLocks/>
          </p:cNvSpPr>
          <p:nvPr/>
        </p:nvSpPr>
        <p:spPr>
          <a:xfrm>
            <a:off x="10544408" y="6417614"/>
            <a:ext cx="493698" cy="31018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NZ" altLang="ja-JP" sz="1600" b="1" dirty="0">
                <a:solidFill>
                  <a:schemeClr val="tx1"/>
                </a:solidFill>
              </a:rPr>
              <a:t>10</a:t>
            </a:r>
            <a:endParaRPr lang="en-NZ" altLang="ja-JP" sz="1600" b="0" dirty="0">
              <a:solidFill>
                <a:schemeClr val="tx1"/>
              </a:solidFill>
            </a:endParaRPr>
          </a:p>
        </p:txBody>
      </p:sp>
      <p:sp>
        <p:nvSpPr>
          <p:cNvPr id="46" name="Text Placeholder 5">
            <a:extLst>
              <a:ext uri="{FF2B5EF4-FFF2-40B4-BE49-F238E27FC236}">
                <a16:creationId xmlns:a16="http://schemas.microsoft.com/office/drawing/2014/main" id="{AB101125-A225-6E68-3982-A3919FB060B9}"/>
              </a:ext>
            </a:extLst>
          </p:cNvPr>
          <p:cNvSpPr txBox="1">
            <a:spLocks/>
          </p:cNvSpPr>
          <p:nvPr/>
        </p:nvSpPr>
        <p:spPr>
          <a:xfrm>
            <a:off x="8399928" y="5681050"/>
            <a:ext cx="1178786" cy="31018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NZ" altLang="ja-JP" sz="1200" b="1" dirty="0">
                <a:solidFill>
                  <a:schemeClr val="tx1"/>
                </a:solidFill>
              </a:rPr>
              <a:t>E[X] </a:t>
            </a:r>
            <a:br>
              <a:rPr lang="en-NZ" altLang="ja-JP" sz="1200" b="1" dirty="0">
                <a:solidFill>
                  <a:schemeClr val="tx1"/>
                </a:solidFill>
              </a:rPr>
            </a:br>
            <a:r>
              <a:rPr lang="en-NZ" altLang="ja-JP" sz="1200" b="1" dirty="0">
                <a:solidFill>
                  <a:schemeClr val="tx1"/>
                </a:solidFill>
              </a:rPr>
              <a:t>= 5</a:t>
            </a:r>
          </a:p>
          <a:p>
            <a:pPr marL="1085793" lvl="1" indent="-400050" algn="just">
              <a:lnSpc>
                <a:spcPct val="100000"/>
              </a:lnSpc>
              <a:buFont typeface="+mj-lt"/>
              <a:buAutoNum type="romanLcPeriod"/>
            </a:pPr>
            <a:endParaRPr lang="en-US" altLang="ja-JP" sz="1200" b="1" dirty="0">
              <a:solidFill>
                <a:schemeClr val="tx1"/>
              </a:solidFill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2424660-069F-FA50-048A-8C0D39D356C2}"/>
              </a:ext>
            </a:extLst>
          </p:cNvPr>
          <p:cNvCxnSpPr/>
          <p:nvPr/>
        </p:nvCxnSpPr>
        <p:spPr>
          <a:xfrm>
            <a:off x="8989321" y="6103066"/>
            <a:ext cx="0" cy="3008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9762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15" grpId="0"/>
      <p:bldP spid="19" grpId="0"/>
      <p:bldP spid="20" grpId="0"/>
      <p:bldP spid="18" grpId="0"/>
      <p:bldP spid="22" grpId="0"/>
      <p:bldP spid="23" grpId="0"/>
      <p:bldP spid="24" grpId="0"/>
      <p:bldP spid="25" grpId="0"/>
      <p:bldP spid="21" grpId="0"/>
      <p:bldP spid="26" grpId="0"/>
      <p:bldP spid="28" grpId="0"/>
      <p:bldP spid="29" grpId="0"/>
      <p:bldP spid="5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/>
      <p:bldP spid="44" grpId="0"/>
      <p:bldP spid="45" grpId="0"/>
      <p:bldP spid="4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6733"/>
            <a:ext cx="2185386" cy="741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4AD89C-DF1E-4948-B597-5DD47B34A9CA}" type="slidenum">
              <a:rPr kumimoji="1" lang="ja-JP" altLang="en-US" smtClean="0">
                <a:solidFill>
                  <a:srgbClr val="575454">
                    <a:lumMod val="20000"/>
                    <a:lumOff val="80000"/>
                  </a:srgbClr>
                </a:solidFill>
                <a:latin typeface="Coo Hew"/>
              </a:rPr>
              <a:pPr/>
              <a:t>27</a:t>
            </a:fld>
            <a:endParaRPr kumimoji="1" lang="ja-JP" altLang="en-US" dirty="0">
              <a:solidFill>
                <a:srgbClr val="575454">
                  <a:lumMod val="20000"/>
                  <a:lumOff val="80000"/>
                </a:srgbClr>
              </a:solidFill>
              <a:latin typeface="Coo Hew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DCE95AA1-F247-4D03-9A84-A08A95E2EB81}"/>
              </a:ext>
            </a:extLst>
          </p:cNvPr>
          <p:cNvSpPr txBox="1">
            <a:spLocks/>
          </p:cNvSpPr>
          <p:nvPr/>
        </p:nvSpPr>
        <p:spPr>
          <a:xfrm>
            <a:off x="319463" y="310113"/>
            <a:ext cx="9124788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b="1" u="sng" dirty="0">
                <a:latin typeface="+mn-lt"/>
              </a:rPr>
              <a:t>1.3g - A Fact About Variance:</a:t>
            </a:r>
            <a:endParaRPr lang="ja-JP" altLang="en-US" b="1" u="sng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7CF0EF27-D66E-440A-ADCA-1A987E76987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1337145"/>
                <a:ext cx="11553074" cy="607201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0" indent="-457200" algn="just">
                  <a:lnSpc>
                    <a:spcPct val="100000"/>
                  </a:lnSpc>
                  <a:buFont typeface="+mj-lt"/>
                  <a:buAutoNum type="arabicPeriod"/>
                </a:pPr>
                <a:r>
                  <a:rPr lang="en-US" altLang="ja-JP" sz="2000" dirty="0">
                    <a:solidFill>
                      <a:schemeClr val="tx1"/>
                    </a:solidFill>
                  </a:rPr>
                  <a:t>Variance is </a:t>
                </a:r>
                <a:r>
                  <a:rPr lang="en-US" altLang="ja-JP" sz="2000" b="1" dirty="0">
                    <a:solidFill>
                      <a:schemeClr val="tx1"/>
                    </a:solidFill>
                  </a:rPr>
                  <a:t>not </a:t>
                </a:r>
                <a:r>
                  <a:rPr lang="en-US" altLang="ja-JP" sz="2000" dirty="0">
                    <a:solidFill>
                      <a:schemeClr val="tx1"/>
                    </a:solidFill>
                  </a:rPr>
                  <a:t>a</a:t>
                </a:r>
                <a:r>
                  <a:rPr lang="en-US" altLang="ja-JP" sz="2000" b="1" dirty="0">
                    <a:solidFill>
                      <a:schemeClr val="tx1"/>
                    </a:solidFill>
                  </a:rPr>
                  <a:t> </a:t>
                </a:r>
                <a:r>
                  <a:rPr lang="en-US" altLang="ja-JP" sz="2000" dirty="0">
                    <a:solidFill>
                      <a:schemeClr val="tx1"/>
                    </a:solidFill>
                  </a:rPr>
                  <a:t>linear operator, i.e. </a:t>
                </a:r>
                <a14:m>
                  <m:oMath xmlns:m="http://schemas.openxmlformats.org/officeDocument/2006/math">
                    <m:r>
                      <a:rPr lang="en-NZ" altLang="ja-JP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𝑽𝒂𝒓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NZ" altLang="ja-JP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𝒂𝑿</m:t>
                        </m:r>
                        <m:r>
                          <a:rPr lang="en-NZ" altLang="ja-JP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NZ" altLang="ja-JP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  <m:r>
                          <a:rPr lang="en-NZ" altLang="ja-JP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NZ" altLang="ja-JP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NZ" altLang="ja-JP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NZ" altLang="ja-JP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NZ" altLang="ja-JP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NZ" altLang="ja-JP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NZ" altLang="ja-JP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𝑽𝒂𝒓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d>
                  </m:oMath>
                </a14:m>
                <a:endParaRPr lang="en-US" altLang="ja-JP" sz="2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7CF0EF27-D66E-440A-ADCA-1A987E7698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1337145"/>
                <a:ext cx="11553074" cy="607201"/>
              </a:xfrm>
              <a:prstGeom prst="rect">
                <a:avLst/>
              </a:prstGeom>
              <a:blipFill>
                <a:blip r:embed="rId3"/>
                <a:stretch>
                  <a:fillRect l="-580" t="-4000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8783D498-8968-4D95-B703-FB7BC44201E1}"/>
              </a:ext>
            </a:extLst>
          </p:cNvPr>
          <p:cNvSpPr txBox="1">
            <a:spLocks/>
          </p:cNvSpPr>
          <p:nvPr/>
        </p:nvSpPr>
        <p:spPr>
          <a:xfrm>
            <a:off x="319463" y="1932072"/>
            <a:ext cx="11553074" cy="46281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NZ" altLang="ja-JP" sz="2000" b="1" i="1" dirty="0">
                <a:solidFill>
                  <a:srgbClr val="002060"/>
                </a:solidFill>
              </a:rPr>
              <a:t>Proof (FYI Only):</a:t>
            </a:r>
            <a:endParaRPr lang="en-US" altLang="ja-JP" sz="2000" b="1" i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Placeholder 5">
                <a:extLst>
                  <a:ext uri="{FF2B5EF4-FFF2-40B4-BE49-F238E27FC236}">
                    <a16:creationId xmlns:a16="http://schemas.microsoft.com/office/drawing/2014/main" id="{3E058C2B-F68D-4C32-906B-30EB68CE261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38926" y="2294839"/>
                <a:ext cx="6294137" cy="535388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𝑎𝑋</m:t>
                          </m:r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=  </m:t>
                      </m:r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NZ" altLang="ja-JP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NZ" altLang="ja-JP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𝑎𝑋</m:t>
                                  </m:r>
                                  <m:r>
                                    <a:rPr lang="en-NZ" altLang="ja-JP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NZ" altLang="ja-JP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</m:e>
                            <m:sup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−  </m:t>
                      </m:r>
                      <m:sSup>
                        <m:sSupPr>
                          <m:ctrlP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NZ" altLang="ja-JP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NZ" altLang="ja-JP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NZ" altLang="ja-JP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𝑎𝑋</m:t>
                                  </m:r>
                                  <m:r>
                                    <a:rPr lang="en-NZ" altLang="ja-JP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NZ" altLang="ja-JP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en-NZ" altLang="ja-JP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d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  <m:sup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ja-JP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Text Placeholder 5">
                <a:extLst>
                  <a:ext uri="{FF2B5EF4-FFF2-40B4-BE49-F238E27FC236}">
                    <a16:creationId xmlns:a16="http://schemas.microsoft.com/office/drawing/2014/main" id="{3E058C2B-F68D-4C32-906B-30EB68CE26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926" y="2294839"/>
                <a:ext cx="6294137" cy="53538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BE7627A1-35EC-406A-A635-31BE789883E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306472" y="3300589"/>
                <a:ext cx="9885528" cy="535388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NZ" altLang="ja-JP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  </m:t>
                    </m:r>
                    <m:r>
                      <a:rPr lang="en-NZ" altLang="ja-JP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d>
                          <m:dPr>
                            <m:ctrlPr>
                              <a:rPr lang="en-NZ" altLang="ja-JP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NZ" altLang="ja-JP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𝑎𝑋</m:t>
                            </m:r>
                            <m:r>
                              <a:rPr lang="en-NZ" altLang="ja-JP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NZ" altLang="ja-JP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r>
                          <a:rPr lang="en-NZ" altLang="ja-JP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d>
                          <m:dPr>
                            <m:ctrlPr>
                              <a:rPr lang="en-NZ" altLang="ja-JP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NZ" altLang="ja-JP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𝑎𝑋</m:t>
                            </m:r>
                            <m:r>
                              <a:rPr lang="en-NZ" altLang="ja-JP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NZ" altLang="ja-JP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r>
                          <a:rPr lang="en-NZ" altLang="ja-JP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</m:e>
                    </m:d>
                    <m:r>
                      <a:rPr lang="en-NZ" altLang="ja-JP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      −</m:t>
                    </m:r>
                  </m:oMath>
                </a14:m>
                <a:r>
                  <a:rPr lang="en-US" altLang="ja-JP" sz="2000" dirty="0">
                    <a:solidFill>
                      <a:schemeClr val="tx1"/>
                    </a:solidFill>
                  </a:rPr>
                  <a:t>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NZ" altLang="ja-JP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NZ" altLang="ja-JP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NZ" altLang="ja-JP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NZ" altLang="ja-JP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NZ" altLang="ja-JP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NZ" altLang="ja-JP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  <m:r>
                          <a:rPr lang="en-NZ" altLang="ja-JP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NZ" altLang="ja-JP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NZ" altLang="ja-JP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altLang="ja-JP" sz="20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NZ" altLang="ja-JP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NZ" altLang="ja-JP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NZ" altLang="ja-JP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NZ" altLang="ja-JP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NZ" altLang="ja-JP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NZ" altLang="ja-JP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  <m:r>
                          <a:rPr lang="en-NZ" altLang="ja-JP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NZ" altLang="ja-JP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NZ" altLang="ja-JP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lang="en-US" altLang="ja-JP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BE7627A1-35EC-406A-A635-31BE789883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6472" y="3300589"/>
                <a:ext cx="9885528" cy="53538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3D98C366-BA9F-4134-8964-9B116494E42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306472" y="4883528"/>
                <a:ext cx="9885528" cy="535388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NZ" altLang="ja-JP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  </m:t>
                    </m:r>
                    <m:sSup>
                      <m:sSupPr>
                        <m:ctrlPr>
                          <a:rPr lang="en-NZ" altLang="ja-JP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NZ" altLang="ja-JP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NZ" altLang="ja-JP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NZ" altLang="ja-JP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NZ" altLang="ja-JP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NZ" altLang="ja-JP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NZ" altLang="ja-JP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NZ" altLang="ja-JP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NZ" altLang="ja-JP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     +  </m:t>
                    </m:r>
                    <m:sSup>
                      <m:sSupPr>
                        <m:ctrlPr>
                          <a:rPr lang="en-NZ" altLang="ja-JP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NZ" altLang="ja-JP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NZ" altLang="ja-JP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NZ" altLang="ja-JP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 + 2</m:t>
                    </m:r>
                    <m:r>
                      <a:rPr lang="en-NZ" altLang="ja-JP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𝑎𝑏</m:t>
                    </m:r>
                    <m:r>
                      <a:rPr lang="en-NZ" altLang="ja-JP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NZ" altLang="ja-JP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n-US" altLang="ja-JP" sz="2000" dirty="0">
                    <a:solidFill>
                      <a:schemeClr val="tx1"/>
                    </a:solidFill>
                  </a:rPr>
                  <a:t>         </a:t>
                </a:r>
                <a14:m>
                  <m:oMath xmlns:m="http://schemas.openxmlformats.org/officeDocument/2006/math">
                    <m:r>
                      <a:rPr lang="en-NZ" altLang="ja-JP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 </m:t>
                    </m:r>
                    <m:r>
                      <a:rPr lang="en-NZ" altLang="ja-JP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en-NZ" altLang="ja-JP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NZ" altLang="ja-JP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NZ" altLang="ja-JP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NZ" altLang="ja-JP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NZ" altLang="ja-JP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NZ" altLang="ja-JP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NZ" altLang="ja-JP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NZ" altLang="ja-JP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NZ" altLang="ja-JP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NZ" altLang="ja-JP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NZ" altLang="ja-JP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d>
                            <m:r>
                              <a:rPr lang="en-NZ" altLang="ja-JP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</m:e>
                      <m:sup>
                        <m:r>
                          <a:rPr lang="en-NZ" altLang="ja-JP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NZ" altLang="ja-JP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−  </m:t>
                    </m:r>
                    <m:sSup>
                      <m:sSupPr>
                        <m:ctrlPr>
                          <a:rPr lang="en-NZ" altLang="ja-JP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NZ" altLang="ja-JP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NZ" altLang="ja-JP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NZ" altLang="ja-JP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  − 2</m:t>
                    </m:r>
                    <m:r>
                      <a:rPr lang="en-NZ" altLang="ja-JP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𝑎𝑏</m:t>
                    </m:r>
                    <m:r>
                      <a:rPr lang="en-NZ" altLang="ja-JP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NZ" altLang="ja-JP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endParaRPr lang="en-US" altLang="ja-JP" sz="2000" dirty="0">
                  <a:solidFill>
                    <a:schemeClr val="tx1"/>
                  </a:solidFill>
                </a:endParaRPr>
              </a:p>
              <a:p>
                <a:pPr algn="just">
                  <a:lnSpc>
                    <a:spcPct val="100000"/>
                  </a:lnSpc>
                </a:pPr>
                <a:endParaRPr lang="en-US" altLang="ja-JP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3D98C366-BA9F-4134-8964-9B116494E4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6472" y="4883528"/>
                <a:ext cx="9885528" cy="53538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654D0A31-5519-4D71-930F-74CDC2F5386F}"/>
              </a:ext>
            </a:extLst>
          </p:cNvPr>
          <p:cNvSpPr txBox="1">
            <a:spLocks/>
          </p:cNvSpPr>
          <p:nvPr/>
        </p:nvSpPr>
        <p:spPr>
          <a:xfrm>
            <a:off x="2306472" y="5563025"/>
            <a:ext cx="9885528" cy="5353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endParaRPr lang="en-US" altLang="ja-JP" sz="20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Placeholder 5">
                <a:extLst>
                  <a:ext uri="{FF2B5EF4-FFF2-40B4-BE49-F238E27FC236}">
                    <a16:creationId xmlns:a16="http://schemas.microsoft.com/office/drawing/2014/main" id="{D412060A-9E13-40D4-B4F3-372D4C7EB5C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306472" y="5541506"/>
                <a:ext cx="3789528" cy="535388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 </m:t>
                      </m:r>
                      <m:sSup>
                        <m:sSupPr>
                          <m:ctrlP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  −   </m:t>
                      </m:r>
                      <m:sSup>
                        <m:sSupPr>
                          <m:ctrlP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2 </m:t>
                          </m:r>
                        </m:sup>
                      </m:sSup>
                      <m:sSup>
                        <m:sSupPr>
                          <m:ctrlP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NZ" altLang="ja-JP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NZ" altLang="ja-JP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NZ" altLang="ja-JP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NZ" altLang="ja-JP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  <m:r>
                                <a:rPr lang="en-NZ" altLang="ja-JP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  <m:sup>
                          <m: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ja-JP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Text Placeholder 5">
                <a:extLst>
                  <a:ext uri="{FF2B5EF4-FFF2-40B4-BE49-F238E27FC236}">
                    <a16:creationId xmlns:a16="http://schemas.microsoft.com/office/drawing/2014/main" id="{D412060A-9E13-40D4-B4F3-372D4C7EB5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6472" y="5541506"/>
                <a:ext cx="3789528" cy="53538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 Placeholder 5">
                <a:extLst>
                  <a:ext uri="{FF2B5EF4-FFF2-40B4-BE49-F238E27FC236}">
                    <a16:creationId xmlns:a16="http://schemas.microsoft.com/office/drawing/2014/main" id="{4A0974AA-A977-44A9-8400-FC70BD9A237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306472" y="6098413"/>
                <a:ext cx="2320119" cy="535388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 </m:t>
                      </m:r>
                      <m:sSup>
                        <m:sSupPr>
                          <m:ctrlP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𝑉𝑎𝑟</m:t>
                      </m:r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altLang="ja-JP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Text Placeholder 5">
                <a:extLst>
                  <a:ext uri="{FF2B5EF4-FFF2-40B4-BE49-F238E27FC236}">
                    <a16:creationId xmlns:a16="http://schemas.microsoft.com/office/drawing/2014/main" id="{4A0974AA-A977-44A9-8400-FC70BD9A23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6472" y="6098413"/>
                <a:ext cx="2320119" cy="53538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C4AAA224-F029-4FA4-B0FD-C299D0F95A5C}"/>
              </a:ext>
            </a:extLst>
          </p:cNvPr>
          <p:cNvSpPr txBox="1">
            <a:spLocks/>
          </p:cNvSpPr>
          <p:nvPr/>
        </p:nvSpPr>
        <p:spPr>
          <a:xfrm>
            <a:off x="7870344" y="2320288"/>
            <a:ext cx="2350250" cy="33725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NZ" altLang="ja-JP" sz="1400" dirty="0">
                <a:solidFill>
                  <a:srgbClr val="002060"/>
                </a:solidFill>
              </a:rPr>
              <a:t>Var[ Y ] = E[ Y</a:t>
            </a:r>
            <a:r>
              <a:rPr lang="en-NZ" altLang="ja-JP" sz="1400" baseline="30000" dirty="0">
                <a:solidFill>
                  <a:srgbClr val="002060"/>
                </a:solidFill>
              </a:rPr>
              <a:t>2 </a:t>
            </a:r>
            <a:r>
              <a:rPr lang="en-NZ" altLang="ja-JP" sz="1400" dirty="0">
                <a:solidFill>
                  <a:srgbClr val="002060"/>
                </a:solidFill>
              </a:rPr>
              <a:t>] – ( E[ Y ] )</a:t>
            </a:r>
            <a:r>
              <a:rPr lang="en-NZ" altLang="ja-JP" sz="1400" baseline="30000" dirty="0">
                <a:solidFill>
                  <a:srgbClr val="002060"/>
                </a:solidFill>
              </a:rPr>
              <a:t>2</a:t>
            </a:r>
            <a:endParaRPr lang="en-US" altLang="ja-JP" sz="1400" b="1" dirty="0">
              <a:solidFill>
                <a:srgbClr val="002060"/>
              </a:solidFill>
            </a:endParaRPr>
          </a:p>
        </p:txBody>
      </p:sp>
      <p:sp>
        <p:nvSpPr>
          <p:cNvPr id="23" name="Footer Placeholder 2">
            <a:extLst>
              <a:ext uri="{FF2B5EF4-FFF2-40B4-BE49-F238E27FC236}">
                <a16:creationId xmlns:a16="http://schemas.microsoft.com/office/drawing/2014/main" id="{08BDD772-1A3B-AF1D-6FC3-E1A6EE975429}"/>
              </a:ext>
            </a:extLst>
          </p:cNvPr>
          <p:cNvSpPr txBox="1">
            <a:spLocks/>
          </p:cNvSpPr>
          <p:nvPr/>
        </p:nvSpPr>
        <p:spPr>
          <a:xfrm>
            <a:off x="8723086" y="86139"/>
            <a:ext cx="33662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1600" dirty="0">
                <a:solidFill>
                  <a:srgbClr val="DEDDDD"/>
                </a:solidFill>
                <a:latin typeface="Gidole"/>
              </a:rPr>
              <a:t>1.3 – Expectation &amp; Variance of RVs</a:t>
            </a:r>
            <a:endParaRPr kumimoji="1" lang="ja-JP" altLang="en-US" sz="1600" dirty="0">
              <a:solidFill>
                <a:srgbClr val="DEDDDD"/>
              </a:solidFill>
              <a:latin typeface="Gidole"/>
            </a:endParaRP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93C0A582-DE91-A449-5CCD-07A647B7C2D6}"/>
              </a:ext>
            </a:extLst>
          </p:cNvPr>
          <p:cNvSpPr txBox="1">
            <a:spLocks/>
          </p:cNvSpPr>
          <p:nvPr/>
        </p:nvSpPr>
        <p:spPr>
          <a:xfrm>
            <a:off x="9131918" y="5093879"/>
            <a:ext cx="469242" cy="44483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ja-JP" sz="2000" dirty="0">
                <a:solidFill>
                  <a:srgbClr val="00B050"/>
                </a:solidFill>
                <a:sym typeface="Wingdings" panose="05000000000000000000" pitchFamily="2" charset="2"/>
              </a:rPr>
              <a:t></a:t>
            </a:r>
            <a:endParaRPr lang="en-US" altLang="ja-JP" sz="2000" b="1" i="1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 Placeholder 5">
                <a:extLst>
                  <a:ext uri="{FF2B5EF4-FFF2-40B4-BE49-F238E27FC236}">
                    <a16:creationId xmlns:a16="http://schemas.microsoft.com/office/drawing/2014/main" id="{E6CF8E2B-66B2-6902-3679-FBAEEDEE9AC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306472" y="2793945"/>
                <a:ext cx="4649845" cy="535388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NZ" altLang="ja-JP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NZ" altLang="ja-JP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NZ" altLang="ja-JP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NZ" altLang="ja-JP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NZ" altLang="ja-JP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𝑎𝑋</m:t>
                                  </m:r>
                                  <m:r>
                                    <a:rPr lang="en-NZ" altLang="ja-JP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NZ" altLang="ja-JP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</m:e>
                            <m:sup>
                              <m:r>
                                <a:rPr lang="en-NZ" altLang="ja-JP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−  </m:t>
                      </m:r>
                      <m:sSup>
                        <m:sSupPr>
                          <m:ctrlP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NZ" altLang="ja-JP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NZ" altLang="ja-JP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NZ" altLang="ja-JP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NZ" altLang="ja-JP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  <m:r>
                                <a:rPr lang="en-NZ" altLang="ja-JP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NZ" altLang="ja-JP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  <m:sup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ja-JP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Text Placeholder 5">
                <a:extLst>
                  <a:ext uri="{FF2B5EF4-FFF2-40B4-BE49-F238E27FC236}">
                    <a16:creationId xmlns:a16="http://schemas.microsoft.com/office/drawing/2014/main" id="{E6CF8E2B-66B2-6902-3679-FBAEEDEE9A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6472" y="2793945"/>
                <a:ext cx="4649845" cy="53538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 Placeholder 5">
                <a:extLst>
                  <a:ext uri="{FF2B5EF4-FFF2-40B4-BE49-F238E27FC236}">
                    <a16:creationId xmlns:a16="http://schemas.microsoft.com/office/drawing/2014/main" id="{2A40C915-1994-A86C-A618-9209E90F0F6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306472" y="3808825"/>
                <a:ext cx="9885528" cy="535388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NZ" altLang="ja-JP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  </m:t>
                    </m:r>
                    <m:r>
                      <a:rPr lang="en-NZ" altLang="ja-JP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sSup>
                          <m:sSupPr>
                            <m:ctrlPr>
                              <a:rPr lang="en-NZ" altLang="ja-JP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NZ" altLang="ja-JP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NZ" altLang="ja-JP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NZ" altLang="ja-JP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NZ" altLang="ja-JP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NZ" altLang="ja-JP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NZ" altLang="ja-JP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NZ" altLang="ja-JP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   </m:t>
                        </m:r>
                        <m:sSup>
                          <m:sSupPr>
                            <m:ctrlPr>
                              <a:rPr lang="en-NZ" altLang="ja-JP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NZ" altLang="ja-JP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NZ" altLang="ja-JP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NZ" altLang="ja-JP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+  2</m:t>
                        </m:r>
                        <m:r>
                          <a:rPr lang="en-NZ" altLang="ja-JP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𝑎𝑏𝑋</m:t>
                        </m:r>
                        <m:r>
                          <a:rPr lang="en-NZ" altLang="ja-JP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</m:e>
                    </m:d>
                    <m:r>
                      <a:rPr lang="en-NZ" altLang="ja-JP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 −</m:t>
                    </m:r>
                  </m:oMath>
                </a14:m>
                <a:r>
                  <a:rPr lang="en-US" altLang="ja-JP" sz="2000" dirty="0">
                    <a:solidFill>
                      <a:schemeClr val="tx1"/>
                    </a:solidFill>
                  </a:rPr>
                  <a:t>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NZ" altLang="ja-JP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NZ" altLang="ja-JP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NZ" altLang="ja-JP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NZ" altLang="ja-JP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NZ" altLang="ja-JP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NZ" altLang="ja-JP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NZ" altLang="ja-JP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NZ" altLang="ja-JP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NZ" altLang="ja-JP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NZ" altLang="ja-JP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NZ" altLang="ja-JP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NZ" altLang="ja-JP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lang="en-NZ" altLang="ja-JP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d>
                          </m:e>
                          <m:sup>
                            <m:r>
                              <a:rPr lang="en-NZ" altLang="ja-JP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NZ" altLang="ja-JP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+   </m:t>
                        </m:r>
                        <m:sSup>
                          <m:sSupPr>
                            <m:ctrlPr>
                              <a:rPr lang="en-NZ" altLang="ja-JP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NZ" altLang="ja-JP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NZ" altLang="ja-JP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NZ" altLang="ja-JP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+   2</m:t>
                        </m:r>
                        <m:r>
                          <a:rPr lang="en-NZ" altLang="ja-JP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𝑎𝑏</m:t>
                        </m:r>
                        <m:r>
                          <a:rPr lang="en-NZ" altLang="ja-JP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NZ" altLang="ja-JP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NZ" altLang="ja-JP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NZ" altLang="ja-JP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NZ" altLang="ja-JP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]   </m:t>
                        </m:r>
                      </m:e>
                    </m:d>
                  </m:oMath>
                </a14:m>
                <a:endParaRPr lang="en-US" altLang="ja-JP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Text Placeholder 5">
                <a:extLst>
                  <a:ext uri="{FF2B5EF4-FFF2-40B4-BE49-F238E27FC236}">
                    <a16:creationId xmlns:a16="http://schemas.microsoft.com/office/drawing/2014/main" id="{2A40C915-1994-A86C-A618-9209E90F0F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6472" y="3808825"/>
                <a:ext cx="9885528" cy="53538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 Placeholder 5">
                <a:extLst>
                  <a:ext uri="{FF2B5EF4-FFF2-40B4-BE49-F238E27FC236}">
                    <a16:creationId xmlns:a16="http://schemas.microsoft.com/office/drawing/2014/main" id="{A04CCE4A-97A3-385D-FFC3-20E5147FB30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306472" y="4288523"/>
                <a:ext cx="9885528" cy="535388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NZ" altLang="ja-JP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  </m:t>
                    </m:r>
                    <m:r>
                      <a:rPr lang="en-NZ" altLang="ja-JP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sSup>
                          <m:sSupPr>
                            <m:ctrlPr>
                              <a:rPr lang="en-NZ" altLang="ja-JP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NZ" altLang="ja-JP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NZ" altLang="ja-JP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NZ" altLang="ja-JP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NZ" altLang="ja-JP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NZ" altLang="ja-JP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NZ" altLang="ja-JP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NZ" altLang="ja-JP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] +  </m:t>
                        </m:r>
                        <m:r>
                          <a:rPr lang="en-NZ" altLang="ja-JP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NZ" altLang="ja-JP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[ </m:t>
                        </m:r>
                        <m:sSup>
                          <m:sSupPr>
                            <m:ctrlPr>
                              <a:rPr lang="en-NZ" altLang="ja-JP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NZ" altLang="ja-JP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NZ" altLang="ja-JP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NZ" altLang="ja-JP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]  +  </m:t>
                        </m:r>
                        <m:r>
                          <a:rPr lang="en-NZ" altLang="ja-JP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NZ" altLang="ja-JP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[ 2</m:t>
                        </m:r>
                        <m:r>
                          <a:rPr lang="en-NZ" altLang="ja-JP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𝑎𝑏𝑋</m:t>
                        </m:r>
                        <m:r>
                          <a:rPr lang="en-NZ" altLang="ja-JP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</m:e>
                    </m:d>
                    <m:r>
                      <a:rPr lang="en-NZ" altLang="ja-JP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 −</m:t>
                    </m:r>
                  </m:oMath>
                </a14:m>
                <a:r>
                  <a:rPr lang="en-US" altLang="ja-JP" sz="2000" dirty="0">
                    <a:solidFill>
                      <a:schemeClr val="tx1"/>
                    </a:solidFill>
                  </a:rPr>
                  <a:t>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NZ" altLang="ja-JP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NZ" altLang="ja-JP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NZ" altLang="ja-JP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NZ" altLang="ja-JP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NZ" altLang="ja-JP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NZ" altLang="ja-JP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NZ" altLang="ja-JP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NZ" altLang="ja-JP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NZ" altLang="ja-JP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NZ" altLang="ja-JP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NZ" altLang="ja-JP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NZ" altLang="ja-JP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lang="en-NZ" altLang="ja-JP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d>
                          </m:e>
                          <m:sup>
                            <m:r>
                              <a:rPr lang="en-NZ" altLang="ja-JP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NZ" altLang="ja-JP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+   </m:t>
                        </m:r>
                        <m:sSup>
                          <m:sSupPr>
                            <m:ctrlPr>
                              <a:rPr lang="en-NZ" altLang="ja-JP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NZ" altLang="ja-JP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NZ" altLang="ja-JP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NZ" altLang="ja-JP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+   2</m:t>
                        </m:r>
                        <m:r>
                          <a:rPr lang="en-NZ" altLang="ja-JP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𝑎𝑏</m:t>
                        </m:r>
                        <m:r>
                          <a:rPr lang="en-NZ" altLang="ja-JP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NZ" altLang="ja-JP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NZ" altLang="ja-JP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NZ" altLang="ja-JP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NZ" altLang="ja-JP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]   </m:t>
                        </m:r>
                      </m:e>
                    </m:d>
                  </m:oMath>
                </a14:m>
                <a:endParaRPr lang="en-US" altLang="ja-JP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Text Placeholder 5">
                <a:extLst>
                  <a:ext uri="{FF2B5EF4-FFF2-40B4-BE49-F238E27FC236}">
                    <a16:creationId xmlns:a16="http://schemas.microsoft.com/office/drawing/2014/main" id="{A04CCE4A-97A3-385D-FFC3-20E5147FB3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6472" y="4288523"/>
                <a:ext cx="9885528" cy="53538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DC23B1B7-6675-AE9A-26A2-6D0E710D099A}"/>
              </a:ext>
            </a:extLst>
          </p:cNvPr>
          <p:cNvSpPr txBox="1">
            <a:spLocks/>
          </p:cNvSpPr>
          <p:nvPr/>
        </p:nvSpPr>
        <p:spPr>
          <a:xfrm>
            <a:off x="8015133" y="1246706"/>
            <a:ext cx="1351406" cy="44483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ja-JP" sz="1400" b="1" i="1" dirty="0">
                <a:solidFill>
                  <a:schemeClr val="tx1"/>
                </a:solidFill>
              </a:rPr>
              <a:t>a</a:t>
            </a:r>
            <a:r>
              <a:rPr lang="en-US" altLang="ja-JP" sz="1400" dirty="0">
                <a:solidFill>
                  <a:schemeClr val="tx1"/>
                </a:solidFill>
              </a:rPr>
              <a:t> and </a:t>
            </a:r>
            <a:r>
              <a:rPr lang="en-US" altLang="ja-JP" sz="1400" b="1" i="1" dirty="0">
                <a:solidFill>
                  <a:schemeClr val="tx1"/>
                </a:solidFill>
              </a:rPr>
              <a:t>b</a:t>
            </a:r>
            <a:r>
              <a:rPr lang="en-US" altLang="ja-JP" sz="1400" dirty="0">
                <a:solidFill>
                  <a:schemeClr val="tx1"/>
                </a:solidFill>
              </a:rPr>
              <a:t> are </a:t>
            </a:r>
            <a:br>
              <a:rPr lang="en-US" altLang="ja-JP" sz="1400" dirty="0">
                <a:solidFill>
                  <a:schemeClr val="tx1"/>
                </a:solidFill>
              </a:rPr>
            </a:br>
            <a:r>
              <a:rPr lang="en-US" altLang="ja-JP" sz="1400" dirty="0">
                <a:solidFill>
                  <a:schemeClr val="tx1"/>
                </a:solidFill>
              </a:rPr>
              <a:t>just numbers</a:t>
            </a:r>
            <a:endParaRPr lang="en-US" altLang="ja-JP" sz="1400" b="1" i="1" dirty="0">
              <a:solidFill>
                <a:schemeClr val="tx1"/>
              </a:solidFill>
            </a:endParaRP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F4FA849D-BF3D-5F8B-8B99-E67FF7B8E057}"/>
              </a:ext>
            </a:extLst>
          </p:cNvPr>
          <p:cNvSpPr txBox="1">
            <a:spLocks/>
          </p:cNvSpPr>
          <p:nvPr/>
        </p:nvSpPr>
        <p:spPr>
          <a:xfrm>
            <a:off x="4412615" y="5164869"/>
            <a:ext cx="469242" cy="44483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ja-JP" sz="2000" dirty="0">
                <a:solidFill>
                  <a:srgbClr val="00B050"/>
                </a:solidFill>
                <a:sym typeface="Wingdings" panose="05000000000000000000" pitchFamily="2" charset="2"/>
              </a:rPr>
              <a:t></a:t>
            </a:r>
            <a:endParaRPr lang="en-US" altLang="ja-JP" sz="2000" b="1" i="1" dirty="0">
              <a:solidFill>
                <a:srgbClr val="00B050"/>
              </a:solidFill>
            </a:endParaRP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4D5FFF28-53A4-B11B-7CA6-5DB5A8B7ECB9}"/>
              </a:ext>
            </a:extLst>
          </p:cNvPr>
          <p:cNvSpPr txBox="1">
            <a:spLocks/>
          </p:cNvSpPr>
          <p:nvPr/>
        </p:nvSpPr>
        <p:spPr>
          <a:xfrm>
            <a:off x="5484574" y="5173367"/>
            <a:ext cx="469242" cy="44483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ja-JP" sz="2000" dirty="0">
                <a:solidFill>
                  <a:srgbClr val="7030A0"/>
                </a:solidFill>
                <a:sym typeface="Wingdings" panose="05000000000000000000" pitchFamily="2" charset="2"/>
              </a:rPr>
              <a:t></a:t>
            </a:r>
            <a:endParaRPr lang="en-US" altLang="ja-JP" sz="2000" b="1" i="1" dirty="0">
              <a:solidFill>
                <a:srgbClr val="7030A0"/>
              </a:solidFill>
            </a:endParaRPr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190CBF8A-1470-E675-9FD5-745CA081BAF1}"/>
              </a:ext>
            </a:extLst>
          </p:cNvPr>
          <p:cNvSpPr txBox="1">
            <a:spLocks/>
          </p:cNvSpPr>
          <p:nvPr/>
        </p:nvSpPr>
        <p:spPr>
          <a:xfrm>
            <a:off x="10220594" y="5141398"/>
            <a:ext cx="469242" cy="44483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ja-JP" sz="2000" dirty="0">
                <a:solidFill>
                  <a:srgbClr val="7030A0"/>
                </a:solidFill>
                <a:sym typeface="Wingdings" panose="05000000000000000000" pitchFamily="2" charset="2"/>
              </a:rPr>
              <a:t></a:t>
            </a:r>
            <a:endParaRPr lang="en-US" altLang="ja-JP" sz="2000" b="1" i="1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 Placeholder 5">
                <a:extLst>
                  <a:ext uri="{FF2B5EF4-FFF2-40B4-BE49-F238E27FC236}">
                    <a16:creationId xmlns:a16="http://schemas.microsoft.com/office/drawing/2014/main" id="{462DDF1F-2E60-F499-4F16-C2BBF900541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24848" y="5528892"/>
                <a:ext cx="5841242" cy="535388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NZ" altLang="ja-JP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 </m:t>
                      </m:r>
                      <m:sSup>
                        <m:sSupPr>
                          <m:ctrlP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NZ" altLang="ja-JP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(    </m:t>
                      </m:r>
                      <m:r>
                        <a:rPr lang="en-NZ" altLang="ja-JP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NZ" altLang="ja-JP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NZ" altLang="ja-JP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NZ" altLang="ja-JP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NZ" altLang="ja-JP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  −   </m:t>
                      </m:r>
                      <m:sSup>
                        <m:sSupPr>
                          <m:ctrlP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NZ" altLang="ja-JP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NZ" altLang="ja-JP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NZ" altLang="ja-JP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NZ" altLang="ja-JP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  <m:r>
                                <a:rPr lang="en-NZ" altLang="ja-JP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  <m:sup>
                          <m: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NZ" altLang="ja-JP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)</m:t>
                      </m:r>
                    </m:oMath>
                  </m:oMathPara>
                </a14:m>
                <a:endParaRPr lang="en-US" altLang="ja-JP" sz="2000" dirty="0">
                  <a:solidFill>
                    <a:schemeClr val="tx1"/>
                  </a:solidFill>
                </a:endParaRPr>
              </a:p>
              <a:p>
                <a:pPr algn="just">
                  <a:lnSpc>
                    <a:spcPct val="100000"/>
                  </a:lnSpc>
                </a:pPr>
                <a:endParaRPr lang="en-US" altLang="ja-JP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Text Placeholder 5">
                <a:extLst>
                  <a:ext uri="{FF2B5EF4-FFF2-40B4-BE49-F238E27FC236}">
                    <a16:creationId xmlns:a16="http://schemas.microsoft.com/office/drawing/2014/main" id="{462DDF1F-2E60-F499-4F16-C2BBF90054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4848" y="5528892"/>
                <a:ext cx="5841242" cy="535388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 Placeholder 5">
                <a:extLst>
                  <a:ext uri="{FF2B5EF4-FFF2-40B4-BE49-F238E27FC236}">
                    <a16:creationId xmlns:a16="http://schemas.microsoft.com/office/drawing/2014/main" id="{1E29B8EA-C84E-D860-6DDF-4591593714E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601160" y="535508"/>
                <a:ext cx="2462405" cy="91686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</a:pPr>
                <a:r>
                  <a:rPr lang="en-NZ" altLang="ja-JP" sz="1300" b="1" dirty="0">
                    <a:solidFill>
                      <a:srgbClr val="002060"/>
                    </a:solidFill>
                  </a:rPr>
                  <a:t>1.   </a:t>
                </a:r>
                <a14:m>
                  <m:oMath xmlns:m="http://schemas.openxmlformats.org/officeDocument/2006/math">
                    <m:r>
                      <a:rPr lang="en-NZ" altLang="ja-JP" sz="13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13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13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NZ" altLang="ja-JP" sz="13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𝒂𝑿</m:t>
                        </m:r>
                        <m:r>
                          <a:rPr lang="en-NZ" altLang="ja-JP" sz="13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NZ" altLang="ja-JP" sz="13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  <m:r>
                          <a:rPr lang="en-NZ" altLang="ja-JP" sz="13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NZ" altLang="ja-JP" sz="13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NZ" altLang="ja-JP" sz="13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NZ" altLang="ja-JP" sz="13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NZ" altLang="ja-JP" sz="13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13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13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d>
                    <m:r>
                      <a:rPr lang="en-NZ" altLang="ja-JP" sz="13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NZ" altLang="ja-JP" sz="13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br>
                  <a:rPr lang="en-NZ" altLang="ja-JP" sz="1300" b="1" dirty="0">
                    <a:solidFill>
                      <a:srgbClr val="002060"/>
                    </a:solidFill>
                  </a:rPr>
                </a:br>
                <a:r>
                  <a:rPr lang="en-NZ" altLang="ja-JP" sz="1300" b="1" dirty="0">
                    <a:solidFill>
                      <a:srgbClr val="002060"/>
                    </a:solidFill>
                  </a:rPr>
                  <a:t>2.   </a:t>
                </a:r>
                <a14:m>
                  <m:oMath xmlns:m="http://schemas.openxmlformats.org/officeDocument/2006/math">
                    <m:r>
                      <a:rPr lang="en-NZ" altLang="ja-JP" sz="13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13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13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NZ" altLang="ja-JP" sz="13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𝒂𝑿</m:t>
                        </m:r>
                        <m:r>
                          <a:rPr lang="en-NZ" altLang="ja-JP" sz="13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NZ" altLang="ja-JP" sz="13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NZ" altLang="ja-JP" sz="13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NZ" altLang="ja-JP" sz="13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NZ" altLang="ja-JP" sz="13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13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13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d>
                  </m:oMath>
                </a14:m>
                <a:endParaRPr lang="en-NZ" altLang="ja-JP" sz="1300" b="1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NZ" altLang="ja-JP" sz="1300" b="1" dirty="0">
                    <a:solidFill>
                      <a:srgbClr val="002060"/>
                    </a:solidFill>
                  </a:rPr>
                  <a:t>3.   </a:t>
                </a:r>
                <a14:m>
                  <m:oMath xmlns:m="http://schemas.openxmlformats.org/officeDocument/2006/math">
                    <m:r>
                      <a:rPr lang="en-NZ" altLang="ja-JP" sz="13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13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13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NZ" altLang="ja-JP" sz="13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  <m:r>
                          <a:rPr lang="en-NZ" altLang="ja-JP" sz="13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NZ" altLang="ja-JP" sz="13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NZ" altLang="ja-JP" sz="13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br>
                  <a:rPr lang="en-NZ" altLang="ja-JP" sz="1300" b="1" dirty="0">
                    <a:solidFill>
                      <a:srgbClr val="002060"/>
                    </a:solidFill>
                  </a:rPr>
                </a:br>
                <a:r>
                  <a:rPr lang="en-NZ" altLang="ja-JP" sz="1300" b="1" dirty="0">
                    <a:solidFill>
                      <a:srgbClr val="002060"/>
                    </a:solidFill>
                  </a:rPr>
                  <a:t>4.   </a:t>
                </a:r>
                <a14:m>
                  <m:oMath xmlns:m="http://schemas.openxmlformats.org/officeDocument/2006/math">
                    <m:r>
                      <a:rPr lang="en-NZ" altLang="ja-JP" sz="13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13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13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NZ" altLang="ja-JP" sz="13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NZ" altLang="ja-JP" sz="13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NZ" altLang="ja-JP" sz="13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  <m:r>
                          <a:rPr lang="en-NZ" altLang="ja-JP" sz="13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NZ" altLang="ja-JP" sz="13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NZ" altLang="ja-JP" sz="13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13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13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NZ" altLang="ja-JP" sz="13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NZ" altLang="ja-JP" sz="13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NZ" altLang="ja-JP" sz="13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  </m:t>
                    </m:r>
                    <m:r>
                      <a:rPr lang="en-NZ" altLang="ja-JP" sz="13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NZ" altLang="ja-JP" sz="13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[ </m:t>
                    </m:r>
                    <m:r>
                      <a:rPr lang="en-NZ" altLang="ja-JP" sz="13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NZ" altLang="ja-JP" sz="13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]</m:t>
                    </m:r>
                  </m:oMath>
                </a14:m>
                <a:endParaRPr lang="en-US" altLang="ja-JP" sz="1300" b="1" dirty="0">
                  <a:solidFill>
                    <a:srgbClr val="002060"/>
                  </a:solidFill>
                </a:endParaRPr>
              </a:p>
              <a:p>
                <a:pPr algn="just">
                  <a:lnSpc>
                    <a:spcPct val="100000"/>
                  </a:lnSpc>
                </a:pPr>
                <a:endParaRPr lang="en-US" altLang="ja-JP" sz="13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4" name="Text Placeholder 5">
                <a:extLst>
                  <a:ext uri="{FF2B5EF4-FFF2-40B4-BE49-F238E27FC236}">
                    <a16:creationId xmlns:a16="http://schemas.microsoft.com/office/drawing/2014/main" id="{1E29B8EA-C84E-D860-6DDF-4591593714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1160" y="535508"/>
                <a:ext cx="2462405" cy="916866"/>
              </a:xfrm>
              <a:prstGeom prst="rect">
                <a:avLst/>
              </a:prstGeom>
              <a:blipFill>
                <a:blip r:embed="rId13"/>
                <a:stretch>
                  <a:fillRect l="-495" t="-667" b="-2667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0858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2" grpId="0"/>
      <p:bldP spid="12" grpId="0"/>
      <p:bldP spid="13" grpId="0"/>
      <p:bldP spid="15" grpId="0"/>
      <p:bldP spid="18" grpId="0"/>
      <p:bldP spid="19" grpId="0"/>
      <p:bldP spid="20" grpId="0"/>
      <p:bldP spid="21" grpId="0"/>
      <p:bldP spid="25" grpId="0"/>
      <p:bldP spid="26" grpId="0"/>
      <p:bldP spid="28" grpId="0"/>
      <p:bldP spid="29" grpId="0"/>
      <p:bldP spid="30" grpId="0"/>
      <p:bldP spid="31" grpId="0"/>
      <p:bldP spid="2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6733"/>
            <a:ext cx="2185386" cy="741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4AD89C-DF1E-4948-B597-5DD47B34A9CA}" type="slidenum">
              <a:rPr kumimoji="1" lang="ja-JP" altLang="en-US" smtClean="0">
                <a:solidFill>
                  <a:srgbClr val="575454">
                    <a:lumMod val="20000"/>
                    <a:lumOff val="80000"/>
                  </a:srgbClr>
                </a:solidFill>
                <a:latin typeface="Coo Hew"/>
              </a:rPr>
              <a:pPr/>
              <a:t>28</a:t>
            </a:fld>
            <a:endParaRPr kumimoji="1" lang="ja-JP" altLang="en-US" dirty="0">
              <a:solidFill>
                <a:srgbClr val="575454">
                  <a:lumMod val="20000"/>
                  <a:lumOff val="80000"/>
                </a:srgbClr>
              </a:solidFill>
              <a:latin typeface="Coo Hew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DCE95AA1-F247-4D03-9A84-A08A95E2EB81}"/>
              </a:ext>
            </a:extLst>
          </p:cNvPr>
          <p:cNvSpPr txBox="1">
            <a:spLocks/>
          </p:cNvSpPr>
          <p:nvPr/>
        </p:nvSpPr>
        <p:spPr>
          <a:xfrm>
            <a:off x="319463" y="310113"/>
            <a:ext cx="9124788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b="1" u="sng" dirty="0">
                <a:latin typeface="+mn-lt"/>
              </a:rPr>
              <a:t>1.3h - The Covariance of Random Variables:</a:t>
            </a:r>
            <a:endParaRPr lang="ja-JP" altLang="en-US" b="1" u="sng" dirty="0">
              <a:latin typeface="+mn-lt"/>
            </a:endParaRP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EC068714-4945-47C1-9A3B-1ABD866EBB23}"/>
              </a:ext>
            </a:extLst>
          </p:cNvPr>
          <p:cNvSpPr txBox="1">
            <a:spLocks/>
          </p:cNvSpPr>
          <p:nvPr/>
        </p:nvSpPr>
        <p:spPr>
          <a:xfrm>
            <a:off x="319463" y="1050543"/>
            <a:ext cx="11553074" cy="74126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US" altLang="ja-JP" sz="2000" dirty="0">
                <a:solidFill>
                  <a:schemeClr val="tx1"/>
                </a:solidFill>
              </a:rPr>
              <a:t>Suppose we have two random variables </a:t>
            </a:r>
            <a:r>
              <a:rPr lang="en-US" altLang="ja-JP" sz="2000" b="1" i="1" dirty="0">
                <a:solidFill>
                  <a:schemeClr val="tx1"/>
                </a:solidFill>
              </a:rPr>
              <a:t>X</a:t>
            </a:r>
            <a:r>
              <a:rPr lang="en-US" altLang="ja-JP" sz="2000" dirty="0">
                <a:solidFill>
                  <a:schemeClr val="tx1"/>
                </a:solidFill>
              </a:rPr>
              <a:t> and </a:t>
            </a:r>
            <a:r>
              <a:rPr lang="en-US" altLang="ja-JP" sz="2000" b="1" i="1" dirty="0">
                <a:solidFill>
                  <a:schemeClr val="tx1"/>
                </a:solidFill>
              </a:rPr>
              <a:t>Y</a:t>
            </a:r>
            <a:r>
              <a:rPr lang="en-US" altLang="ja-JP" sz="2000" dirty="0">
                <a:solidFill>
                  <a:schemeClr val="tx1"/>
                </a:solidFill>
              </a:rPr>
              <a:t>. The </a:t>
            </a:r>
            <a:r>
              <a:rPr lang="en-US" altLang="ja-JP" sz="2000" b="1" dirty="0">
                <a:solidFill>
                  <a:schemeClr val="tx1"/>
                </a:solidFill>
              </a:rPr>
              <a:t>covariance</a:t>
            </a:r>
            <a:r>
              <a:rPr lang="en-US" altLang="ja-JP" sz="2000" dirty="0">
                <a:solidFill>
                  <a:schemeClr val="tx1"/>
                </a:solidFill>
              </a:rPr>
              <a:t> of </a:t>
            </a:r>
            <a:r>
              <a:rPr lang="en-US" altLang="ja-JP" sz="2000" b="1" i="1" dirty="0">
                <a:solidFill>
                  <a:schemeClr val="tx1"/>
                </a:solidFill>
              </a:rPr>
              <a:t>X</a:t>
            </a:r>
            <a:r>
              <a:rPr lang="en-US" altLang="ja-JP" sz="2000" dirty="0">
                <a:solidFill>
                  <a:schemeClr val="tx1"/>
                </a:solidFill>
              </a:rPr>
              <a:t> and </a:t>
            </a:r>
            <a:r>
              <a:rPr lang="en-US" altLang="ja-JP" sz="2000" b="1" i="1" dirty="0">
                <a:solidFill>
                  <a:schemeClr val="tx1"/>
                </a:solidFill>
              </a:rPr>
              <a:t>Y</a:t>
            </a:r>
            <a:r>
              <a:rPr lang="en-US" altLang="ja-JP" sz="2000" dirty="0">
                <a:solidFill>
                  <a:schemeClr val="tx1"/>
                </a:solidFill>
              </a:rPr>
              <a:t> measures how the two variables move in relation to each other (i.e. does </a:t>
            </a:r>
            <a:r>
              <a:rPr lang="en-US" altLang="ja-JP" sz="2000" b="1" i="1" dirty="0">
                <a:solidFill>
                  <a:schemeClr val="tx1"/>
                </a:solidFill>
              </a:rPr>
              <a:t>Y</a:t>
            </a:r>
            <a:r>
              <a:rPr lang="en-US" altLang="ja-JP" sz="2000" dirty="0">
                <a:solidFill>
                  <a:schemeClr val="tx1"/>
                </a:solidFill>
              </a:rPr>
              <a:t> tend to increase or decrease as </a:t>
            </a:r>
            <a:r>
              <a:rPr lang="en-US" altLang="ja-JP" sz="2000" b="1" i="1" dirty="0">
                <a:solidFill>
                  <a:schemeClr val="tx1"/>
                </a:solidFill>
              </a:rPr>
              <a:t>X</a:t>
            </a:r>
            <a:r>
              <a:rPr lang="en-US" altLang="ja-JP" sz="2000" dirty="0">
                <a:solidFill>
                  <a:schemeClr val="tx1"/>
                </a:solidFill>
              </a:rPr>
              <a:t> increases?).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C4AF662-2080-4A9A-837B-8297D6B7F632}"/>
                  </a:ext>
                </a:extLst>
              </p:cNvPr>
              <p:cNvSpPr txBox="1"/>
              <p:nvPr/>
            </p:nvSpPr>
            <p:spPr>
              <a:xfrm>
                <a:off x="2501742" y="1823630"/>
                <a:ext cx="718851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𝑪𝒐𝒗</m:t>
                      </m:r>
                      <m:d>
                        <m:dPr>
                          <m:begChr m:val="["/>
                          <m:endChr m:val="]"/>
                          <m:ctrlP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d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  </m:t>
                      </m:r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begChr m:val="["/>
                          <m:endChr m:val="]"/>
                          <m:ctrlP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d>
                            <m:dPr>
                              <m:ctrlP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d>
                            <m:dPr>
                              <m:ctrlP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𝒀</m:t>
                                  </m:r>
                                </m:e>
                              </m:d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NZ" sz="20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C4AF662-2080-4A9A-837B-8297D6B7F6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1742" y="1823630"/>
                <a:ext cx="7188516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2DA8952-4263-4420-84A9-171F612C1931}"/>
              </a:ext>
            </a:extLst>
          </p:cNvPr>
          <p:cNvSpPr txBox="1">
            <a:spLocks/>
          </p:cNvSpPr>
          <p:nvPr/>
        </p:nvSpPr>
        <p:spPr>
          <a:xfrm>
            <a:off x="475153" y="4015121"/>
            <a:ext cx="11553074" cy="4856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NZ" altLang="ja-JP" sz="2000" dirty="0">
                <a:solidFill>
                  <a:schemeClr val="tx1"/>
                </a:solidFill>
              </a:rPr>
              <a:t>If when </a:t>
            </a:r>
            <a:r>
              <a:rPr lang="en-NZ" altLang="ja-JP" sz="2000" b="1" i="1" dirty="0">
                <a:solidFill>
                  <a:schemeClr val="tx1"/>
                </a:solidFill>
              </a:rPr>
              <a:t>X</a:t>
            </a:r>
            <a:r>
              <a:rPr lang="en-NZ" altLang="ja-JP" sz="2000" dirty="0">
                <a:solidFill>
                  <a:schemeClr val="tx1"/>
                </a:solidFill>
              </a:rPr>
              <a:t> is large, </a:t>
            </a:r>
            <a:r>
              <a:rPr lang="en-NZ" altLang="ja-JP" sz="2000" b="1" i="1" dirty="0">
                <a:solidFill>
                  <a:schemeClr val="tx1"/>
                </a:solidFill>
              </a:rPr>
              <a:t>Y</a:t>
            </a:r>
            <a:r>
              <a:rPr lang="en-NZ" altLang="ja-JP" sz="2000" dirty="0">
                <a:solidFill>
                  <a:schemeClr val="tx1"/>
                </a:solidFill>
              </a:rPr>
              <a:t> also tends to be large, then </a:t>
            </a:r>
            <a:endParaRPr lang="en-US" altLang="ja-JP" sz="20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B58A2D1-95B0-4FF0-9F11-63312D2BCC8B}"/>
                  </a:ext>
                </a:extLst>
              </p:cNvPr>
              <p:cNvSpPr txBox="1"/>
              <p:nvPr/>
            </p:nvSpPr>
            <p:spPr>
              <a:xfrm>
                <a:off x="2501742" y="4554588"/>
                <a:ext cx="7188516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NZ" altLang="ja-JP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𝑪𝒐𝒗</m:t>
                      </m:r>
                      <m:d>
                        <m:dPr>
                          <m:begChr m:val="["/>
                          <m:endChr m:val="]"/>
                          <m:ctrlPr>
                            <a:rPr lang="en-NZ" altLang="ja-JP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en-NZ" altLang="ja-JP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NZ" altLang="ja-JP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d>
                      <m:r>
                        <a:rPr lang="en-NZ" altLang="ja-JP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 </m:t>
                      </m:r>
                      <m:r>
                        <a:rPr lang="en-NZ" altLang="ja-JP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begChr m:val="["/>
                          <m:endChr m:val="]"/>
                          <m:ctrlPr>
                            <a:rPr lang="en-NZ" altLang="ja-JP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d>
                            <m:dPr>
                              <m:ctrlPr>
                                <a:rPr lang="en-NZ" altLang="ja-JP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lang="en-NZ" altLang="ja-JP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r>
                                <a:rPr lang="en-NZ" altLang="ja-JP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NZ" altLang="ja-JP" sz="20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NZ" altLang="ja-JP" sz="20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  <m:r>
                                <a:rPr lang="en-NZ" altLang="ja-JP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NZ" altLang="ja-JP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d>
                            <m:dPr>
                              <m:ctrlPr>
                                <a:rPr lang="en-NZ" altLang="ja-JP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NZ" altLang="ja-JP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  <m:r>
                                <a:rPr lang="en-NZ" altLang="ja-JP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NZ" altLang="ja-JP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NZ" altLang="ja-JP" sz="20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NZ" altLang="ja-JP" sz="20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𝒀</m:t>
                                  </m:r>
                                </m:e>
                              </m:d>
                              <m:r>
                                <a:rPr lang="en-NZ" altLang="ja-JP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NZ" altLang="ja-JP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NZ" altLang="ja-JP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&gt;  </m:t>
                      </m:r>
                      <m:r>
                        <a:rPr lang="en-NZ" altLang="ja-JP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NZ" altLang="ja-JP" sz="2000" b="1" dirty="0">
                  <a:solidFill>
                    <a:schemeClr val="tx1"/>
                  </a:solidFill>
                </a:endParaRPr>
              </a:p>
              <a:p>
                <a:endParaRPr lang="en-NZ" sz="2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B58A2D1-95B0-4FF0-9F11-63312D2BCC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1742" y="4554588"/>
                <a:ext cx="7188516" cy="7078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ight Brace 26">
            <a:extLst>
              <a:ext uri="{FF2B5EF4-FFF2-40B4-BE49-F238E27FC236}">
                <a16:creationId xmlns:a16="http://schemas.microsoft.com/office/drawing/2014/main" id="{6C130A08-E11B-45C1-9F17-19694D84545B}"/>
              </a:ext>
            </a:extLst>
          </p:cNvPr>
          <p:cNvSpPr/>
          <p:nvPr/>
        </p:nvSpPr>
        <p:spPr>
          <a:xfrm rot="5400000">
            <a:off x="5741330" y="4567560"/>
            <a:ext cx="378274" cy="1161092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8" name="Right Brace 27">
            <a:extLst>
              <a:ext uri="{FF2B5EF4-FFF2-40B4-BE49-F238E27FC236}">
                <a16:creationId xmlns:a16="http://schemas.microsoft.com/office/drawing/2014/main" id="{2A2CF0A6-5AEC-41B5-9B3F-8504A2C35123}"/>
              </a:ext>
            </a:extLst>
          </p:cNvPr>
          <p:cNvSpPr/>
          <p:nvPr/>
        </p:nvSpPr>
        <p:spPr>
          <a:xfrm rot="5400000">
            <a:off x="7138739" y="4585842"/>
            <a:ext cx="378274" cy="1161092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D2E115EE-5F5E-49A4-8B82-8E89EF713CB6}"/>
              </a:ext>
            </a:extLst>
          </p:cNvPr>
          <p:cNvSpPr txBox="1">
            <a:spLocks/>
          </p:cNvSpPr>
          <p:nvPr/>
        </p:nvSpPr>
        <p:spPr>
          <a:xfrm>
            <a:off x="5762530" y="5310484"/>
            <a:ext cx="572191" cy="4856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US" altLang="ja-JP" sz="2000" dirty="0">
                <a:solidFill>
                  <a:srgbClr val="FF0000"/>
                </a:solidFill>
              </a:rPr>
              <a:t>&gt; 0</a:t>
            </a:r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913B098D-101B-468A-9AB3-9FF1A48C35E4}"/>
              </a:ext>
            </a:extLst>
          </p:cNvPr>
          <p:cNvSpPr txBox="1">
            <a:spLocks/>
          </p:cNvSpPr>
          <p:nvPr/>
        </p:nvSpPr>
        <p:spPr>
          <a:xfrm>
            <a:off x="7119527" y="5307645"/>
            <a:ext cx="572191" cy="4856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US" altLang="ja-JP" sz="2000" dirty="0">
                <a:solidFill>
                  <a:srgbClr val="FF0000"/>
                </a:solidFill>
              </a:rPr>
              <a:t>&gt; 0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5EA43E1C-07C9-4A8B-A763-CDBD494E2530}"/>
              </a:ext>
            </a:extLst>
          </p:cNvPr>
          <p:cNvSpPr txBox="1">
            <a:spLocks/>
          </p:cNvSpPr>
          <p:nvPr/>
        </p:nvSpPr>
        <p:spPr>
          <a:xfrm>
            <a:off x="272088" y="5604276"/>
            <a:ext cx="11553074" cy="4856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NZ" altLang="ja-JP" sz="2000" dirty="0">
                <a:solidFill>
                  <a:schemeClr val="tx1"/>
                </a:solidFill>
              </a:rPr>
              <a:t>… and we say that </a:t>
            </a:r>
            <a:r>
              <a:rPr lang="en-NZ" altLang="ja-JP" sz="2000" b="1" i="1" dirty="0">
                <a:solidFill>
                  <a:schemeClr val="tx1"/>
                </a:solidFill>
              </a:rPr>
              <a:t>X</a:t>
            </a:r>
            <a:r>
              <a:rPr lang="en-NZ" altLang="ja-JP" sz="2000" dirty="0">
                <a:solidFill>
                  <a:schemeClr val="tx1"/>
                </a:solidFill>
              </a:rPr>
              <a:t> and </a:t>
            </a:r>
            <a:r>
              <a:rPr lang="en-NZ" altLang="ja-JP" sz="2000" b="1" i="1" dirty="0">
                <a:solidFill>
                  <a:schemeClr val="tx1"/>
                </a:solidFill>
              </a:rPr>
              <a:t>Y</a:t>
            </a:r>
            <a:r>
              <a:rPr lang="en-NZ" altLang="ja-JP" sz="2000" dirty="0">
                <a:solidFill>
                  <a:schemeClr val="tx1"/>
                </a:solidFill>
              </a:rPr>
              <a:t> are positively correlated.</a:t>
            </a:r>
            <a:endParaRPr lang="en-US" altLang="ja-JP" sz="2000" dirty="0">
              <a:solidFill>
                <a:schemeClr val="tx1"/>
              </a:solidFill>
            </a:endParaRPr>
          </a:p>
        </p:txBody>
      </p:sp>
      <p:sp>
        <p:nvSpPr>
          <p:cNvPr id="19" name="Footer Placeholder 2">
            <a:extLst>
              <a:ext uri="{FF2B5EF4-FFF2-40B4-BE49-F238E27FC236}">
                <a16:creationId xmlns:a16="http://schemas.microsoft.com/office/drawing/2014/main" id="{E6F29C33-E1F1-122F-4A91-BC4989AC54FD}"/>
              </a:ext>
            </a:extLst>
          </p:cNvPr>
          <p:cNvSpPr txBox="1">
            <a:spLocks/>
          </p:cNvSpPr>
          <p:nvPr/>
        </p:nvSpPr>
        <p:spPr>
          <a:xfrm>
            <a:off x="8723086" y="86139"/>
            <a:ext cx="33662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1600" dirty="0">
                <a:solidFill>
                  <a:srgbClr val="DEDDDD"/>
                </a:solidFill>
                <a:latin typeface="Gidole"/>
              </a:rPr>
              <a:t>1.3 – Expectation &amp; Variance of RVs</a:t>
            </a:r>
            <a:endParaRPr kumimoji="1" lang="ja-JP" altLang="en-US" sz="1600" dirty="0">
              <a:solidFill>
                <a:srgbClr val="DEDDDD"/>
              </a:solidFill>
              <a:latin typeface="Gidol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Placeholder 5">
                <a:extLst>
                  <a:ext uri="{FF2B5EF4-FFF2-40B4-BE49-F238E27FC236}">
                    <a16:creationId xmlns:a16="http://schemas.microsoft.com/office/drawing/2014/main" id="{6282F16B-5C3E-4424-C91E-DF9BDD7AB1D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2790173"/>
                <a:ext cx="11553074" cy="485671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:r>
                  <a:rPr lang="en-US" altLang="ja-JP" sz="2000" b="1" i="1" dirty="0">
                    <a:solidFill>
                      <a:schemeClr val="tx1"/>
                    </a:solidFill>
                  </a:rPr>
                  <a:t>X</a:t>
                </a:r>
                <a:r>
                  <a:rPr lang="en-US" altLang="ja-JP" sz="2000" b="1" dirty="0">
                    <a:solidFill>
                      <a:schemeClr val="tx1"/>
                    </a:solidFill>
                  </a:rPr>
                  <a:t> </a:t>
                </a:r>
                <a:r>
                  <a:rPr lang="en-US" altLang="ja-JP" sz="2000" dirty="0">
                    <a:solidFill>
                      <a:schemeClr val="tx1"/>
                    </a:solidFill>
                  </a:rPr>
                  <a:t>is large means that  </a:t>
                </a:r>
                <a14:m>
                  <m:oMath xmlns:m="http://schemas.openxmlformats.org/officeDocument/2006/math">
                    <m:r>
                      <a:rPr lang="en-NZ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NZ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NZ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NZ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NZ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NZ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ja-JP" sz="2000" b="1" dirty="0">
                    <a:solidFill>
                      <a:schemeClr val="tx1"/>
                    </a:solidFill>
                  </a:rPr>
                  <a:t>   </a:t>
                </a:r>
                <a:r>
                  <a:rPr lang="en-US" altLang="ja-JP" sz="2000" dirty="0">
                    <a:solidFill>
                      <a:schemeClr val="tx1"/>
                    </a:solidFill>
                  </a:rPr>
                  <a:t>and    </a:t>
                </a:r>
                <a:r>
                  <a:rPr lang="en-US" altLang="ja-JP" sz="2000" b="1" i="1" dirty="0">
                    <a:solidFill>
                      <a:schemeClr val="tx1"/>
                    </a:solidFill>
                  </a:rPr>
                  <a:t>Y</a:t>
                </a:r>
                <a:r>
                  <a:rPr lang="en-US" altLang="ja-JP" sz="2000" b="1" dirty="0">
                    <a:solidFill>
                      <a:schemeClr val="tx1"/>
                    </a:solidFill>
                  </a:rPr>
                  <a:t> </a:t>
                </a:r>
                <a:r>
                  <a:rPr lang="en-US" altLang="ja-JP" sz="2000" dirty="0">
                    <a:solidFill>
                      <a:schemeClr val="tx1"/>
                    </a:solidFill>
                  </a:rPr>
                  <a:t>is large means that </a:t>
                </a:r>
                <a14:m>
                  <m:oMath xmlns:m="http://schemas.openxmlformats.org/officeDocument/2006/math">
                    <m:r>
                      <a:rPr lang="en-NZ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NZ" altLang="ja-JP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NZ" altLang="ja-JP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NZ" altLang="ja-JP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NZ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NZ" altLang="ja-JP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ja-JP" sz="2000" b="1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7" name="Text Placeholder 5">
                <a:extLst>
                  <a:ext uri="{FF2B5EF4-FFF2-40B4-BE49-F238E27FC236}">
                    <a16:creationId xmlns:a16="http://schemas.microsoft.com/office/drawing/2014/main" id="{6282F16B-5C3E-4424-C91E-DF9BDD7AB1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2790173"/>
                <a:ext cx="11553074" cy="485671"/>
              </a:xfrm>
              <a:prstGeom prst="rect">
                <a:avLst/>
              </a:prstGeom>
              <a:blipFill>
                <a:blip r:embed="rId7"/>
                <a:stretch>
                  <a:fillRect l="-527" t="-7595" b="-5063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 Placeholder 5">
                <a:extLst>
                  <a:ext uri="{FF2B5EF4-FFF2-40B4-BE49-F238E27FC236}">
                    <a16:creationId xmlns:a16="http://schemas.microsoft.com/office/drawing/2014/main" id="{3917449C-A7B2-4C77-2048-FD80F3EF244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3169090"/>
                <a:ext cx="11553074" cy="485671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:r>
                  <a:rPr lang="en-US" altLang="ja-JP" sz="2000" b="1" i="1" dirty="0">
                    <a:solidFill>
                      <a:schemeClr val="tx1"/>
                    </a:solidFill>
                  </a:rPr>
                  <a:t>X</a:t>
                </a:r>
                <a:r>
                  <a:rPr lang="en-US" altLang="ja-JP" sz="2000" b="1" dirty="0">
                    <a:solidFill>
                      <a:schemeClr val="tx1"/>
                    </a:solidFill>
                  </a:rPr>
                  <a:t> </a:t>
                </a:r>
                <a:r>
                  <a:rPr lang="en-US" altLang="ja-JP" sz="2000" dirty="0">
                    <a:solidFill>
                      <a:schemeClr val="tx1"/>
                    </a:solidFill>
                  </a:rPr>
                  <a:t>is small means that </a:t>
                </a:r>
                <a14:m>
                  <m:oMath xmlns:m="http://schemas.openxmlformats.org/officeDocument/2006/math">
                    <m:r>
                      <a:rPr lang="en-NZ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NZ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NZ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NZ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NZ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NZ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ja-JP" sz="2000" b="1" dirty="0">
                    <a:solidFill>
                      <a:schemeClr val="tx1"/>
                    </a:solidFill>
                  </a:rPr>
                  <a:t>   </a:t>
                </a:r>
                <a:r>
                  <a:rPr lang="en-US" altLang="ja-JP" sz="2000" dirty="0">
                    <a:solidFill>
                      <a:schemeClr val="tx1"/>
                    </a:solidFill>
                  </a:rPr>
                  <a:t>and    </a:t>
                </a:r>
                <a:r>
                  <a:rPr lang="en-US" altLang="ja-JP" sz="2000" b="1" i="1" dirty="0">
                    <a:solidFill>
                      <a:schemeClr val="tx1"/>
                    </a:solidFill>
                  </a:rPr>
                  <a:t>Y</a:t>
                </a:r>
                <a:r>
                  <a:rPr lang="en-US" altLang="ja-JP" sz="2000" b="1" dirty="0">
                    <a:solidFill>
                      <a:schemeClr val="tx1"/>
                    </a:solidFill>
                  </a:rPr>
                  <a:t> </a:t>
                </a:r>
                <a:r>
                  <a:rPr lang="en-US" altLang="ja-JP" sz="2000" dirty="0">
                    <a:solidFill>
                      <a:schemeClr val="tx1"/>
                    </a:solidFill>
                  </a:rPr>
                  <a:t>is small means that </a:t>
                </a:r>
                <a14:m>
                  <m:oMath xmlns:m="http://schemas.openxmlformats.org/officeDocument/2006/math">
                    <m:r>
                      <a:rPr lang="en-NZ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NZ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NZ" altLang="ja-JP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NZ" altLang="ja-JP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NZ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NZ" altLang="ja-JP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ja-JP" sz="2000" b="1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8" name="Text Placeholder 5">
                <a:extLst>
                  <a:ext uri="{FF2B5EF4-FFF2-40B4-BE49-F238E27FC236}">
                    <a16:creationId xmlns:a16="http://schemas.microsoft.com/office/drawing/2014/main" id="{3917449C-A7B2-4C77-2048-FD80F3EF24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3169090"/>
                <a:ext cx="11553074" cy="485671"/>
              </a:xfrm>
              <a:prstGeom prst="rect">
                <a:avLst/>
              </a:prstGeom>
              <a:blipFill>
                <a:blip r:embed="rId8"/>
                <a:stretch>
                  <a:fillRect l="-527" t="-7500" b="-3750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4884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 animBg="1"/>
      <p:bldP spid="28" grpId="0" animBg="1"/>
      <p:bldP spid="29" grpId="0"/>
      <p:bldP spid="30" grpId="0"/>
      <p:bldP spid="31" grpId="0"/>
      <p:bldP spid="17" grpId="0"/>
      <p:bldP spid="1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6733"/>
            <a:ext cx="2185386" cy="741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4AD89C-DF1E-4948-B597-5DD47B34A9CA}" type="slidenum">
              <a:rPr kumimoji="1" lang="ja-JP" altLang="en-US" smtClean="0">
                <a:solidFill>
                  <a:srgbClr val="575454">
                    <a:lumMod val="20000"/>
                    <a:lumOff val="80000"/>
                  </a:srgbClr>
                </a:solidFill>
                <a:latin typeface="Coo Hew"/>
              </a:rPr>
              <a:pPr/>
              <a:t>29</a:t>
            </a:fld>
            <a:endParaRPr kumimoji="1" lang="ja-JP" altLang="en-US" dirty="0">
              <a:solidFill>
                <a:srgbClr val="575454">
                  <a:lumMod val="20000"/>
                  <a:lumOff val="80000"/>
                </a:srgbClr>
              </a:solidFill>
              <a:latin typeface="Coo Hew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DCE95AA1-F247-4D03-9A84-A08A95E2EB81}"/>
              </a:ext>
            </a:extLst>
          </p:cNvPr>
          <p:cNvSpPr txBox="1">
            <a:spLocks/>
          </p:cNvSpPr>
          <p:nvPr/>
        </p:nvSpPr>
        <p:spPr>
          <a:xfrm>
            <a:off x="319463" y="310113"/>
            <a:ext cx="9124788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b="1" u="sng" dirty="0">
                <a:latin typeface="+mn-lt"/>
              </a:rPr>
              <a:t>1.3h - The Covariance of Random Variables:</a:t>
            </a:r>
            <a:endParaRPr lang="ja-JP" altLang="en-US" b="1" u="sng" dirty="0">
              <a:latin typeface="+mn-lt"/>
            </a:endParaRP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EC068714-4945-47C1-9A3B-1ABD866EBB23}"/>
              </a:ext>
            </a:extLst>
          </p:cNvPr>
          <p:cNvSpPr txBox="1">
            <a:spLocks/>
          </p:cNvSpPr>
          <p:nvPr/>
        </p:nvSpPr>
        <p:spPr>
          <a:xfrm>
            <a:off x="319463" y="1050543"/>
            <a:ext cx="11553074" cy="74126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US" altLang="ja-JP" sz="2000" dirty="0">
                <a:solidFill>
                  <a:schemeClr val="tx1"/>
                </a:solidFill>
              </a:rPr>
              <a:t>Suppose we have two random variables </a:t>
            </a:r>
            <a:r>
              <a:rPr lang="en-US" altLang="ja-JP" sz="2000" b="1" i="1" dirty="0">
                <a:solidFill>
                  <a:schemeClr val="tx1"/>
                </a:solidFill>
              </a:rPr>
              <a:t>X</a:t>
            </a:r>
            <a:r>
              <a:rPr lang="en-US" altLang="ja-JP" sz="2000" dirty="0">
                <a:solidFill>
                  <a:schemeClr val="tx1"/>
                </a:solidFill>
              </a:rPr>
              <a:t> and </a:t>
            </a:r>
            <a:r>
              <a:rPr lang="en-US" altLang="ja-JP" sz="2000" b="1" i="1" dirty="0">
                <a:solidFill>
                  <a:schemeClr val="tx1"/>
                </a:solidFill>
              </a:rPr>
              <a:t>Y</a:t>
            </a:r>
            <a:r>
              <a:rPr lang="en-US" altLang="ja-JP" sz="2000" dirty="0">
                <a:solidFill>
                  <a:schemeClr val="tx1"/>
                </a:solidFill>
              </a:rPr>
              <a:t>. The </a:t>
            </a:r>
            <a:r>
              <a:rPr lang="en-US" altLang="ja-JP" sz="2000" b="1" dirty="0">
                <a:solidFill>
                  <a:schemeClr val="tx1"/>
                </a:solidFill>
              </a:rPr>
              <a:t>covariance</a:t>
            </a:r>
            <a:r>
              <a:rPr lang="en-US" altLang="ja-JP" sz="2000" dirty="0">
                <a:solidFill>
                  <a:schemeClr val="tx1"/>
                </a:solidFill>
              </a:rPr>
              <a:t> of </a:t>
            </a:r>
            <a:r>
              <a:rPr lang="en-US" altLang="ja-JP" sz="2000" b="1" i="1" dirty="0">
                <a:solidFill>
                  <a:schemeClr val="tx1"/>
                </a:solidFill>
              </a:rPr>
              <a:t>X</a:t>
            </a:r>
            <a:r>
              <a:rPr lang="en-US" altLang="ja-JP" sz="2000" dirty="0">
                <a:solidFill>
                  <a:schemeClr val="tx1"/>
                </a:solidFill>
              </a:rPr>
              <a:t> and </a:t>
            </a:r>
            <a:r>
              <a:rPr lang="en-US" altLang="ja-JP" sz="2000" b="1" i="1" dirty="0">
                <a:solidFill>
                  <a:schemeClr val="tx1"/>
                </a:solidFill>
              </a:rPr>
              <a:t>Y</a:t>
            </a:r>
            <a:r>
              <a:rPr lang="en-US" altLang="ja-JP" sz="2000" dirty="0">
                <a:solidFill>
                  <a:schemeClr val="tx1"/>
                </a:solidFill>
              </a:rPr>
              <a:t> measures how the two variables move in relation to each other (i.e. does </a:t>
            </a:r>
            <a:r>
              <a:rPr lang="en-US" altLang="ja-JP" sz="2000" b="1" i="1" dirty="0">
                <a:solidFill>
                  <a:schemeClr val="tx1"/>
                </a:solidFill>
              </a:rPr>
              <a:t>Y</a:t>
            </a:r>
            <a:r>
              <a:rPr lang="en-US" altLang="ja-JP" sz="2000" dirty="0">
                <a:solidFill>
                  <a:schemeClr val="tx1"/>
                </a:solidFill>
              </a:rPr>
              <a:t> tend to increase or decrease as </a:t>
            </a:r>
            <a:r>
              <a:rPr lang="en-US" altLang="ja-JP" sz="2000" b="1" i="1" dirty="0">
                <a:solidFill>
                  <a:schemeClr val="tx1"/>
                </a:solidFill>
              </a:rPr>
              <a:t>X</a:t>
            </a:r>
            <a:r>
              <a:rPr lang="en-US" altLang="ja-JP" sz="2000" dirty="0">
                <a:solidFill>
                  <a:schemeClr val="tx1"/>
                </a:solidFill>
              </a:rPr>
              <a:t> increases?).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 Placeholder 5">
                <a:extLst>
                  <a:ext uri="{FF2B5EF4-FFF2-40B4-BE49-F238E27FC236}">
                    <a16:creationId xmlns:a16="http://schemas.microsoft.com/office/drawing/2014/main" id="{B7B5665A-45A5-4713-A4DE-5D379E643FD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2790173"/>
                <a:ext cx="11553074" cy="485671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:r>
                  <a:rPr lang="en-US" altLang="ja-JP" sz="2000" b="1" i="1" dirty="0">
                    <a:solidFill>
                      <a:schemeClr val="tx1"/>
                    </a:solidFill>
                  </a:rPr>
                  <a:t>X</a:t>
                </a:r>
                <a:r>
                  <a:rPr lang="en-US" altLang="ja-JP" sz="2000" b="1" dirty="0">
                    <a:solidFill>
                      <a:schemeClr val="tx1"/>
                    </a:solidFill>
                  </a:rPr>
                  <a:t> </a:t>
                </a:r>
                <a:r>
                  <a:rPr lang="en-US" altLang="ja-JP" sz="2000" dirty="0">
                    <a:solidFill>
                      <a:schemeClr val="tx1"/>
                    </a:solidFill>
                  </a:rPr>
                  <a:t>is large means that  </a:t>
                </a:r>
                <a14:m>
                  <m:oMath xmlns:m="http://schemas.openxmlformats.org/officeDocument/2006/math">
                    <m:r>
                      <a:rPr lang="en-NZ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NZ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NZ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NZ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NZ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NZ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ja-JP" sz="2000" b="1" dirty="0">
                    <a:solidFill>
                      <a:schemeClr val="tx1"/>
                    </a:solidFill>
                  </a:rPr>
                  <a:t>   </a:t>
                </a:r>
                <a:r>
                  <a:rPr lang="en-US" altLang="ja-JP" sz="2000" dirty="0">
                    <a:solidFill>
                      <a:schemeClr val="tx1"/>
                    </a:solidFill>
                  </a:rPr>
                  <a:t>and    </a:t>
                </a:r>
                <a:r>
                  <a:rPr lang="en-US" altLang="ja-JP" sz="2000" b="1" i="1" dirty="0">
                    <a:solidFill>
                      <a:schemeClr val="tx1"/>
                    </a:solidFill>
                  </a:rPr>
                  <a:t>Y</a:t>
                </a:r>
                <a:r>
                  <a:rPr lang="en-US" altLang="ja-JP" sz="2000" b="1" dirty="0">
                    <a:solidFill>
                      <a:schemeClr val="tx1"/>
                    </a:solidFill>
                  </a:rPr>
                  <a:t> </a:t>
                </a:r>
                <a:r>
                  <a:rPr lang="en-US" altLang="ja-JP" sz="2000" dirty="0">
                    <a:solidFill>
                      <a:schemeClr val="tx1"/>
                    </a:solidFill>
                  </a:rPr>
                  <a:t>is large means that </a:t>
                </a:r>
                <a14:m>
                  <m:oMath xmlns:m="http://schemas.openxmlformats.org/officeDocument/2006/math">
                    <m:r>
                      <a:rPr lang="en-NZ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NZ" altLang="ja-JP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NZ" altLang="ja-JP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NZ" altLang="ja-JP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NZ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NZ" altLang="ja-JP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ja-JP" sz="2000" b="1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1" name="Text Placeholder 5">
                <a:extLst>
                  <a:ext uri="{FF2B5EF4-FFF2-40B4-BE49-F238E27FC236}">
                    <a16:creationId xmlns:a16="http://schemas.microsoft.com/office/drawing/2014/main" id="{B7B5665A-45A5-4713-A4DE-5D379E643F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2790173"/>
                <a:ext cx="11553074" cy="485671"/>
              </a:xfrm>
              <a:prstGeom prst="rect">
                <a:avLst/>
              </a:prstGeom>
              <a:blipFill>
                <a:blip r:embed="rId3"/>
                <a:stretch>
                  <a:fillRect l="-527" t="-7595" b="-5063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 Placeholder 5">
                <a:extLst>
                  <a:ext uri="{FF2B5EF4-FFF2-40B4-BE49-F238E27FC236}">
                    <a16:creationId xmlns:a16="http://schemas.microsoft.com/office/drawing/2014/main" id="{BF225C55-6D59-4206-AFA8-5E4F7DFEDB4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3169090"/>
                <a:ext cx="11553074" cy="485671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:r>
                  <a:rPr lang="en-US" altLang="ja-JP" sz="2000" b="1" i="1" dirty="0">
                    <a:solidFill>
                      <a:schemeClr val="tx1"/>
                    </a:solidFill>
                  </a:rPr>
                  <a:t>X</a:t>
                </a:r>
                <a:r>
                  <a:rPr lang="en-US" altLang="ja-JP" sz="2000" b="1" dirty="0">
                    <a:solidFill>
                      <a:schemeClr val="tx1"/>
                    </a:solidFill>
                  </a:rPr>
                  <a:t> </a:t>
                </a:r>
                <a:r>
                  <a:rPr lang="en-US" altLang="ja-JP" sz="2000" dirty="0">
                    <a:solidFill>
                      <a:schemeClr val="tx1"/>
                    </a:solidFill>
                  </a:rPr>
                  <a:t>is small means that </a:t>
                </a:r>
                <a14:m>
                  <m:oMath xmlns:m="http://schemas.openxmlformats.org/officeDocument/2006/math">
                    <m:r>
                      <a:rPr lang="en-NZ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NZ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NZ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NZ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NZ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NZ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ja-JP" sz="2000" b="1" dirty="0">
                    <a:solidFill>
                      <a:schemeClr val="tx1"/>
                    </a:solidFill>
                  </a:rPr>
                  <a:t>   </a:t>
                </a:r>
                <a:r>
                  <a:rPr lang="en-US" altLang="ja-JP" sz="2000" dirty="0">
                    <a:solidFill>
                      <a:schemeClr val="tx1"/>
                    </a:solidFill>
                  </a:rPr>
                  <a:t>and    </a:t>
                </a:r>
                <a:r>
                  <a:rPr lang="en-US" altLang="ja-JP" sz="2000" b="1" i="1" dirty="0">
                    <a:solidFill>
                      <a:schemeClr val="tx1"/>
                    </a:solidFill>
                  </a:rPr>
                  <a:t>Y</a:t>
                </a:r>
                <a:r>
                  <a:rPr lang="en-US" altLang="ja-JP" sz="2000" b="1" dirty="0">
                    <a:solidFill>
                      <a:schemeClr val="tx1"/>
                    </a:solidFill>
                  </a:rPr>
                  <a:t> </a:t>
                </a:r>
                <a:r>
                  <a:rPr lang="en-US" altLang="ja-JP" sz="2000" dirty="0">
                    <a:solidFill>
                      <a:schemeClr val="tx1"/>
                    </a:solidFill>
                  </a:rPr>
                  <a:t>is small means that </a:t>
                </a:r>
                <a14:m>
                  <m:oMath xmlns:m="http://schemas.openxmlformats.org/officeDocument/2006/math">
                    <m:r>
                      <a:rPr lang="en-NZ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NZ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NZ" altLang="ja-JP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NZ" altLang="ja-JP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NZ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NZ" altLang="ja-JP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ja-JP" sz="2000" b="1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3" name="Text Placeholder 5">
                <a:extLst>
                  <a:ext uri="{FF2B5EF4-FFF2-40B4-BE49-F238E27FC236}">
                    <a16:creationId xmlns:a16="http://schemas.microsoft.com/office/drawing/2014/main" id="{BF225C55-6D59-4206-AFA8-5E4F7DFEDB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3169090"/>
                <a:ext cx="11553074" cy="485671"/>
              </a:xfrm>
              <a:prstGeom prst="rect">
                <a:avLst/>
              </a:prstGeom>
              <a:blipFill>
                <a:blip r:embed="rId4"/>
                <a:stretch>
                  <a:fillRect l="-527" t="-7500" b="-3750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C4AF662-2080-4A9A-837B-8297D6B7F632}"/>
                  </a:ext>
                </a:extLst>
              </p:cNvPr>
              <p:cNvSpPr txBox="1"/>
              <p:nvPr/>
            </p:nvSpPr>
            <p:spPr>
              <a:xfrm>
                <a:off x="2501742" y="1823630"/>
                <a:ext cx="718851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𝑪𝒐𝒗</m:t>
                      </m:r>
                      <m:d>
                        <m:dPr>
                          <m:begChr m:val="["/>
                          <m:endChr m:val="]"/>
                          <m:ctrlP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d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  </m:t>
                      </m:r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begChr m:val="["/>
                          <m:endChr m:val="]"/>
                          <m:ctrlP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d>
                            <m:dPr>
                              <m:ctrlP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d>
                            <m:dPr>
                              <m:ctrlP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𝒀</m:t>
                                  </m:r>
                                </m:e>
                              </m:d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NZ" sz="20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C4AF662-2080-4A9A-837B-8297D6B7F6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1742" y="1823630"/>
                <a:ext cx="7188516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2DA8952-4263-4420-84A9-171F612C1931}"/>
              </a:ext>
            </a:extLst>
          </p:cNvPr>
          <p:cNvSpPr txBox="1">
            <a:spLocks/>
          </p:cNvSpPr>
          <p:nvPr/>
        </p:nvSpPr>
        <p:spPr>
          <a:xfrm>
            <a:off x="475153" y="4015121"/>
            <a:ext cx="11553074" cy="4856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NZ" altLang="ja-JP" sz="2000" dirty="0">
                <a:solidFill>
                  <a:schemeClr val="tx1"/>
                </a:solidFill>
              </a:rPr>
              <a:t>If when </a:t>
            </a:r>
            <a:r>
              <a:rPr lang="en-NZ" altLang="ja-JP" sz="2000" b="1" i="1" dirty="0">
                <a:solidFill>
                  <a:schemeClr val="tx1"/>
                </a:solidFill>
              </a:rPr>
              <a:t>X</a:t>
            </a:r>
            <a:r>
              <a:rPr lang="en-NZ" altLang="ja-JP" sz="2000" dirty="0">
                <a:solidFill>
                  <a:schemeClr val="tx1"/>
                </a:solidFill>
              </a:rPr>
              <a:t> is large, </a:t>
            </a:r>
            <a:r>
              <a:rPr lang="en-NZ" altLang="ja-JP" sz="2000" b="1" i="1" dirty="0">
                <a:solidFill>
                  <a:schemeClr val="tx1"/>
                </a:solidFill>
              </a:rPr>
              <a:t>Y</a:t>
            </a:r>
            <a:r>
              <a:rPr lang="en-NZ" altLang="ja-JP" sz="2000" dirty="0">
                <a:solidFill>
                  <a:schemeClr val="tx1"/>
                </a:solidFill>
              </a:rPr>
              <a:t>  tends to be small, then </a:t>
            </a:r>
            <a:endParaRPr lang="en-US" altLang="ja-JP" sz="20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B58A2D1-95B0-4FF0-9F11-63312D2BCC8B}"/>
                  </a:ext>
                </a:extLst>
              </p:cNvPr>
              <p:cNvSpPr txBox="1"/>
              <p:nvPr/>
            </p:nvSpPr>
            <p:spPr>
              <a:xfrm>
                <a:off x="2501742" y="4554588"/>
                <a:ext cx="7188516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NZ" altLang="ja-JP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𝑪𝒐𝒗</m:t>
                      </m:r>
                      <m:d>
                        <m:dPr>
                          <m:begChr m:val="["/>
                          <m:endChr m:val="]"/>
                          <m:ctrlPr>
                            <a:rPr lang="en-NZ" altLang="ja-JP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en-NZ" altLang="ja-JP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NZ" altLang="ja-JP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d>
                      <m:r>
                        <a:rPr lang="en-NZ" altLang="ja-JP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 </m:t>
                      </m:r>
                      <m:r>
                        <a:rPr lang="en-NZ" altLang="ja-JP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begChr m:val="["/>
                          <m:endChr m:val="]"/>
                          <m:ctrlPr>
                            <a:rPr lang="en-NZ" altLang="ja-JP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d>
                            <m:dPr>
                              <m:ctrlPr>
                                <a:rPr lang="en-NZ" altLang="ja-JP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lang="en-NZ" altLang="ja-JP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r>
                                <a:rPr lang="en-NZ" altLang="ja-JP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NZ" altLang="ja-JP" sz="20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NZ" altLang="ja-JP" sz="20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  <m:r>
                                <a:rPr lang="en-NZ" altLang="ja-JP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NZ" altLang="ja-JP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d>
                            <m:dPr>
                              <m:ctrlPr>
                                <a:rPr lang="en-NZ" altLang="ja-JP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NZ" altLang="ja-JP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  <m:r>
                                <a:rPr lang="en-NZ" altLang="ja-JP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NZ" altLang="ja-JP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NZ" altLang="ja-JP" sz="20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NZ" altLang="ja-JP" sz="20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𝒀</m:t>
                                  </m:r>
                                </m:e>
                              </m:d>
                              <m:r>
                                <a:rPr lang="en-NZ" altLang="ja-JP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NZ" altLang="ja-JP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NZ" altLang="ja-JP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  </m:t>
                      </m:r>
                      <m:r>
                        <a:rPr lang="en-NZ" altLang="ja-JP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NZ" altLang="ja-JP" sz="2000" b="1" dirty="0">
                  <a:solidFill>
                    <a:schemeClr val="tx1"/>
                  </a:solidFill>
                </a:endParaRPr>
              </a:p>
              <a:p>
                <a:endParaRPr lang="en-NZ" sz="2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B58A2D1-95B0-4FF0-9F11-63312D2BCC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1742" y="4554588"/>
                <a:ext cx="7188516" cy="7078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ight Brace 26">
            <a:extLst>
              <a:ext uri="{FF2B5EF4-FFF2-40B4-BE49-F238E27FC236}">
                <a16:creationId xmlns:a16="http://schemas.microsoft.com/office/drawing/2014/main" id="{6C130A08-E11B-45C1-9F17-19694D84545B}"/>
              </a:ext>
            </a:extLst>
          </p:cNvPr>
          <p:cNvSpPr/>
          <p:nvPr/>
        </p:nvSpPr>
        <p:spPr>
          <a:xfrm rot="5400000">
            <a:off x="5741330" y="4567560"/>
            <a:ext cx="378274" cy="1161092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8" name="Right Brace 27">
            <a:extLst>
              <a:ext uri="{FF2B5EF4-FFF2-40B4-BE49-F238E27FC236}">
                <a16:creationId xmlns:a16="http://schemas.microsoft.com/office/drawing/2014/main" id="{2A2CF0A6-5AEC-41B5-9B3F-8504A2C35123}"/>
              </a:ext>
            </a:extLst>
          </p:cNvPr>
          <p:cNvSpPr/>
          <p:nvPr/>
        </p:nvSpPr>
        <p:spPr>
          <a:xfrm rot="5400000">
            <a:off x="7138739" y="4585842"/>
            <a:ext cx="378274" cy="1161092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D2E115EE-5F5E-49A4-8B82-8E89EF713CB6}"/>
              </a:ext>
            </a:extLst>
          </p:cNvPr>
          <p:cNvSpPr txBox="1">
            <a:spLocks/>
          </p:cNvSpPr>
          <p:nvPr/>
        </p:nvSpPr>
        <p:spPr>
          <a:xfrm>
            <a:off x="5762530" y="5310484"/>
            <a:ext cx="572191" cy="4856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US" altLang="ja-JP" sz="2000" dirty="0">
                <a:solidFill>
                  <a:srgbClr val="FF0000"/>
                </a:solidFill>
              </a:rPr>
              <a:t>&gt; 0</a:t>
            </a:r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913B098D-101B-468A-9AB3-9FF1A48C35E4}"/>
              </a:ext>
            </a:extLst>
          </p:cNvPr>
          <p:cNvSpPr txBox="1">
            <a:spLocks/>
          </p:cNvSpPr>
          <p:nvPr/>
        </p:nvSpPr>
        <p:spPr>
          <a:xfrm>
            <a:off x="7119527" y="5307645"/>
            <a:ext cx="572191" cy="4856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US" altLang="ja-JP" sz="2000" dirty="0">
                <a:solidFill>
                  <a:srgbClr val="FF0000"/>
                </a:solidFill>
              </a:rPr>
              <a:t>&lt; 0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5EA43E1C-07C9-4A8B-A763-CDBD494E2530}"/>
              </a:ext>
            </a:extLst>
          </p:cNvPr>
          <p:cNvSpPr txBox="1">
            <a:spLocks/>
          </p:cNvSpPr>
          <p:nvPr/>
        </p:nvSpPr>
        <p:spPr>
          <a:xfrm>
            <a:off x="272088" y="5604276"/>
            <a:ext cx="11553074" cy="4856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NZ" altLang="ja-JP" sz="2000" dirty="0">
                <a:solidFill>
                  <a:schemeClr val="tx1"/>
                </a:solidFill>
              </a:rPr>
              <a:t>… and we say that </a:t>
            </a:r>
            <a:r>
              <a:rPr lang="en-NZ" altLang="ja-JP" sz="2000" b="1" i="1" dirty="0">
                <a:solidFill>
                  <a:schemeClr val="tx1"/>
                </a:solidFill>
              </a:rPr>
              <a:t>X</a:t>
            </a:r>
            <a:r>
              <a:rPr lang="en-NZ" altLang="ja-JP" sz="2000" dirty="0">
                <a:solidFill>
                  <a:schemeClr val="tx1"/>
                </a:solidFill>
              </a:rPr>
              <a:t> and </a:t>
            </a:r>
            <a:r>
              <a:rPr lang="en-NZ" altLang="ja-JP" sz="2000" b="1" i="1" dirty="0">
                <a:solidFill>
                  <a:schemeClr val="tx1"/>
                </a:solidFill>
              </a:rPr>
              <a:t>Y</a:t>
            </a:r>
            <a:r>
              <a:rPr lang="en-NZ" altLang="ja-JP" sz="2000" dirty="0">
                <a:solidFill>
                  <a:schemeClr val="tx1"/>
                </a:solidFill>
              </a:rPr>
              <a:t> are negatively correlated.</a:t>
            </a:r>
            <a:endParaRPr lang="en-US" altLang="ja-JP" sz="2000" dirty="0">
              <a:solidFill>
                <a:schemeClr val="tx1"/>
              </a:solidFill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1991E881-3ABC-1191-5760-417903D5FC0F}"/>
              </a:ext>
            </a:extLst>
          </p:cNvPr>
          <p:cNvSpPr txBox="1">
            <a:spLocks/>
          </p:cNvSpPr>
          <p:nvPr/>
        </p:nvSpPr>
        <p:spPr>
          <a:xfrm>
            <a:off x="8723086" y="86139"/>
            <a:ext cx="33662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1600" dirty="0">
                <a:solidFill>
                  <a:srgbClr val="DEDDDD"/>
                </a:solidFill>
                <a:latin typeface="Gidole"/>
              </a:rPr>
              <a:t>1.3 – Expectation &amp; Variance of RVs</a:t>
            </a:r>
            <a:endParaRPr kumimoji="1" lang="ja-JP" altLang="en-US" sz="1600" dirty="0">
              <a:solidFill>
                <a:srgbClr val="DEDDDD"/>
              </a:solidFill>
              <a:latin typeface="Gidole"/>
            </a:endParaRPr>
          </a:p>
        </p:txBody>
      </p:sp>
    </p:spTree>
    <p:extLst>
      <p:ext uri="{BB962C8B-B14F-4D97-AF65-F5344CB8AC3E}">
        <p14:creationId xmlns:p14="http://schemas.microsoft.com/office/powerpoint/2010/main" val="6059331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6733"/>
            <a:ext cx="2185386" cy="741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4AD89C-DF1E-4948-B597-5DD47B34A9CA}" type="slidenum">
              <a:rPr kumimoji="1" lang="ja-JP" altLang="en-US" smtClean="0">
                <a:solidFill>
                  <a:srgbClr val="575454">
                    <a:lumMod val="20000"/>
                    <a:lumOff val="80000"/>
                  </a:srgbClr>
                </a:solidFill>
                <a:latin typeface="Coo Hew"/>
              </a:rPr>
              <a:pPr/>
              <a:t>30</a:t>
            </a:fld>
            <a:endParaRPr kumimoji="1" lang="ja-JP" altLang="en-US" dirty="0">
              <a:solidFill>
                <a:srgbClr val="575454">
                  <a:lumMod val="20000"/>
                  <a:lumOff val="80000"/>
                </a:srgbClr>
              </a:solidFill>
              <a:latin typeface="Coo Hew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DCE95AA1-F247-4D03-9A84-A08A95E2EB81}"/>
              </a:ext>
            </a:extLst>
          </p:cNvPr>
          <p:cNvSpPr txBox="1">
            <a:spLocks/>
          </p:cNvSpPr>
          <p:nvPr/>
        </p:nvSpPr>
        <p:spPr>
          <a:xfrm>
            <a:off x="319463" y="310113"/>
            <a:ext cx="9124788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b="1" u="sng" dirty="0">
                <a:latin typeface="+mn-lt"/>
              </a:rPr>
              <a:t>1.3i - The Correlation Coefficient:</a:t>
            </a:r>
            <a:endParaRPr lang="ja-JP" altLang="en-US" b="1" u="sng" dirty="0">
              <a:latin typeface="+mn-lt"/>
            </a:endParaRP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EC068714-4945-47C1-9A3B-1ABD866EBB23}"/>
              </a:ext>
            </a:extLst>
          </p:cNvPr>
          <p:cNvSpPr txBox="1">
            <a:spLocks/>
          </p:cNvSpPr>
          <p:nvPr/>
        </p:nvSpPr>
        <p:spPr>
          <a:xfrm>
            <a:off x="319463" y="1050543"/>
            <a:ext cx="11553074" cy="74126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US" altLang="ja-JP" sz="1950" dirty="0">
                <a:solidFill>
                  <a:schemeClr val="tx1"/>
                </a:solidFill>
              </a:rPr>
              <a:t>The correlation coefficient between two random variables </a:t>
            </a:r>
            <a:r>
              <a:rPr lang="en-US" altLang="ja-JP" sz="1950" b="1" i="1" dirty="0">
                <a:solidFill>
                  <a:schemeClr val="tx1"/>
                </a:solidFill>
              </a:rPr>
              <a:t>X</a:t>
            </a:r>
            <a:r>
              <a:rPr lang="en-US" altLang="ja-JP" sz="1950" dirty="0">
                <a:solidFill>
                  <a:schemeClr val="tx1"/>
                </a:solidFill>
              </a:rPr>
              <a:t> and </a:t>
            </a:r>
            <a:r>
              <a:rPr lang="en-US" altLang="ja-JP" sz="1950" b="1" i="1" dirty="0">
                <a:solidFill>
                  <a:schemeClr val="tx1"/>
                </a:solidFill>
              </a:rPr>
              <a:t>Y</a:t>
            </a:r>
            <a:r>
              <a:rPr lang="en-US" altLang="ja-JP" sz="1950" dirty="0">
                <a:solidFill>
                  <a:schemeClr val="tx1"/>
                </a:solidFill>
              </a:rPr>
              <a:t> is simply a normalized version of covariance. </a:t>
            </a:r>
            <a:br>
              <a:rPr lang="en-US" altLang="ja-JP" sz="1950" dirty="0">
                <a:solidFill>
                  <a:schemeClr val="tx1"/>
                </a:solidFill>
              </a:rPr>
            </a:br>
            <a:r>
              <a:rPr lang="en-US" altLang="ja-JP" sz="1950" dirty="0">
                <a:solidFill>
                  <a:schemeClr val="tx1"/>
                </a:solidFill>
              </a:rPr>
              <a:t>It expresses the relationship between the two variables in terms of a real number between -1 and 1.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67C7149-822C-48B9-AEF9-4D14C312F532}"/>
                  </a:ext>
                </a:extLst>
              </p:cNvPr>
              <p:cNvSpPr txBox="1"/>
              <p:nvPr/>
            </p:nvSpPr>
            <p:spPr>
              <a:xfrm>
                <a:off x="2501742" y="1925040"/>
                <a:ext cx="7188516" cy="8194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ja-JP" altLang="en-NZ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𝝆</m:t>
                      </m:r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𝑪𝒐𝒗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𝑽𝒂𝒓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𝑽𝒂𝒓</m:t>
                              </m:r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[</m:t>
                              </m:r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rad>
                        </m:den>
                      </m:f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ja-JP" altLang="en-NZ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𝝐</m:t>
                      </m:r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[−</m:t>
                      </m:r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NZ" sz="20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67C7149-822C-48B9-AEF9-4D14C312F5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1742" y="1925040"/>
                <a:ext cx="7188516" cy="81945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8" name="Chart 17">
            <a:extLst>
              <a:ext uri="{FF2B5EF4-FFF2-40B4-BE49-F238E27FC236}">
                <a16:creationId xmlns:a16="http://schemas.microsoft.com/office/drawing/2014/main" id="{28F68183-9F28-454E-ADC7-7CBA202CF5E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97588512"/>
              </p:ext>
            </p:extLst>
          </p:nvPr>
        </p:nvGraphicFramePr>
        <p:xfrm>
          <a:off x="541968" y="3429000"/>
          <a:ext cx="2185386" cy="22344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27FC13E9-CED0-4DDB-B094-647EFA1C6F7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05369123"/>
              </p:ext>
            </p:extLst>
          </p:nvPr>
        </p:nvGraphicFramePr>
        <p:xfrm>
          <a:off x="2727354" y="3429000"/>
          <a:ext cx="2185386" cy="22344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1" name="Chart 40">
            <a:extLst>
              <a:ext uri="{FF2B5EF4-FFF2-40B4-BE49-F238E27FC236}">
                <a16:creationId xmlns:a16="http://schemas.microsoft.com/office/drawing/2014/main" id="{6B2CAAA5-6790-4AD5-A706-ABCD8E932AB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9046559"/>
              </p:ext>
            </p:extLst>
          </p:nvPr>
        </p:nvGraphicFramePr>
        <p:xfrm>
          <a:off x="4912740" y="3429000"/>
          <a:ext cx="2185386" cy="22344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42" name="Chart 41">
            <a:extLst>
              <a:ext uri="{FF2B5EF4-FFF2-40B4-BE49-F238E27FC236}">
                <a16:creationId xmlns:a16="http://schemas.microsoft.com/office/drawing/2014/main" id="{E50399B4-547D-420D-80FE-9DB87347A2C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81944241"/>
              </p:ext>
            </p:extLst>
          </p:nvPr>
        </p:nvGraphicFramePr>
        <p:xfrm>
          <a:off x="7098126" y="3429000"/>
          <a:ext cx="2185386" cy="22344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43" name="Chart 42">
            <a:extLst>
              <a:ext uri="{FF2B5EF4-FFF2-40B4-BE49-F238E27FC236}">
                <a16:creationId xmlns:a16="http://schemas.microsoft.com/office/drawing/2014/main" id="{CDB13164-465F-4950-8C71-9EAB5D2531E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41600424"/>
              </p:ext>
            </p:extLst>
          </p:nvPr>
        </p:nvGraphicFramePr>
        <p:xfrm>
          <a:off x="9283512" y="3429000"/>
          <a:ext cx="2185386" cy="22344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 Placeholder 5">
                <a:extLst>
                  <a:ext uri="{FF2B5EF4-FFF2-40B4-BE49-F238E27FC236}">
                    <a16:creationId xmlns:a16="http://schemas.microsoft.com/office/drawing/2014/main" id="{266BD794-3F0A-4B1A-8018-E71B0D5ACB0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41968" y="3223307"/>
                <a:ext cx="2185386" cy="41138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NZ" altLang="ja-JP" sz="1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𝝆</m:t>
                      </m:r>
                      <m:r>
                        <a:rPr lang="en-NZ" altLang="ja-JP" sz="1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NZ" altLang="ja-JP" sz="1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NZ" altLang="ja-JP" sz="1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NZ" altLang="ja-JP" sz="1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𝟎𝟎</m:t>
                      </m:r>
                    </m:oMath>
                  </m:oMathPara>
                </a14:m>
                <a:endParaRPr lang="en-US" altLang="ja-JP" sz="16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4" name="Text Placeholder 5">
                <a:extLst>
                  <a:ext uri="{FF2B5EF4-FFF2-40B4-BE49-F238E27FC236}">
                    <a16:creationId xmlns:a16="http://schemas.microsoft.com/office/drawing/2014/main" id="{266BD794-3F0A-4B1A-8018-E71B0D5ACB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968" y="3223307"/>
                <a:ext cx="2185386" cy="41138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 Placeholder 5">
                <a:extLst>
                  <a:ext uri="{FF2B5EF4-FFF2-40B4-BE49-F238E27FC236}">
                    <a16:creationId xmlns:a16="http://schemas.microsoft.com/office/drawing/2014/main" id="{F5CD6BDD-D51A-46E2-9698-4F08879F672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727353" y="3223605"/>
                <a:ext cx="2154503" cy="41138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NZ" altLang="ja-JP" sz="1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𝝆</m:t>
                      </m:r>
                      <m:r>
                        <a:rPr lang="en-NZ" altLang="ja-JP" sz="1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NZ" altLang="ja-JP" sz="1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NZ" altLang="ja-JP" sz="1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NZ" altLang="ja-JP" sz="1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𝟓𝟎</m:t>
                      </m:r>
                    </m:oMath>
                  </m:oMathPara>
                </a14:m>
                <a:endParaRPr lang="en-US" altLang="ja-JP" sz="16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5" name="Text Placeholder 5">
                <a:extLst>
                  <a:ext uri="{FF2B5EF4-FFF2-40B4-BE49-F238E27FC236}">
                    <a16:creationId xmlns:a16="http://schemas.microsoft.com/office/drawing/2014/main" id="{F5CD6BDD-D51A-46E2-9698-4F08879F67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7353" y="3223605"/>
                <a:ext cx="2154503" cy="41138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 Placeholder 5">
                <a:extLst>
                  <a:ext uri="{FF2B5EF4-FFF2-40B4-BE49-F238E27FC236}">
                    <a16:creationId xmlns:a16="http://schemas.microsoft.com/office/drawing/2014/main" id="{51641EAB-D784-486C-8286-86C9169D1AB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943623" y="3223307"/>
                <a:ext cx="2154503" cy="41138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NZ" altLang="ja-JP" sz="1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𝝆</m:t>
                      </m:r>
                      <m:r>
                        <a:rPr lang="en-NZ" altLang="ja-JP" sz="1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NZ" altLang="ja-JP" sz="1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NZ" altLang="ja-JP" sz="1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NZ" altLang="ja-JP" sz="1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𝟎𝟎</m:t>
                      </m:r>
                    </m:oMath>
                  </m:oMathPara>
                </a14:m>
                <a:endParaRPr lang="en-US" altLang="ja-JP" sz="16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7" name="Text Placeholder 5">
                <a:extLst>
                  <a:ext uri="{FF2B5EF4-FFF2-40B4-BE49-F238E27FC236}">
                    <a16:creationId xmlns:a16="http://schemas.microsoft.com/office/drawing/2014/main" id="{51641EAB-D784-486C-8286-86C9169D1A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3623" y="3223307"/>
                <a:ext cx="2154503" cy="41138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 Placeholder 5">
                <a:extLst>
                  <a:ext uri="{FF2B5EF4-FFF2-40B4-BE49-F238E27FC236}">
                    <a16:creationId xmlns:a16="http://schemas.microsoft.com/office/drawing/2014/main" id="{5BB0E9C5-A538-45BA-B388-3A6FC0960FA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098125" y="3223307"/>
                <a:ext cx="2154503" cy="41138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NZ" altLang="ja-JP" sz="1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𝝆</m:t>
                      </m:r>
                      <m:r>
                        <a:rPr lang="en-NZ" altLang="ja-JP" sz="1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NZ" altLang="ja-JP" sz="1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NZ" altLang="ja-JP" sz="1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NZ" altLang="ja-JP" sz="1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𝟓𝟎</m:t>
                      </m:r>
                    </m:oMath>
                  </m:oMathPara>
                </a14:m>
                <a:endParaRPr lang="en-US" altLang="ja-JP" sz="16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8" name="Text Placeholder 5">
                <a:extLst>
                  <a:ext uri="{FF2B5EF4-FFF2-40B4-BE49-F238E27FC236}">
                    <a16:creationId xmlns:a16="http://schemas.microsoft.com/office/drawing/2014/main" id="{5BB0E9C5-A538-45BA-B388-3A6FC0960F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8125" y="3223307"/>
                <a:ext cx="2154503" cy="41138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 Placeholder 5">
                <a:extLst>
                  <a:ext uri="{FF2B5EF4-FFF2-40B4-BE49-F238E27FC236}">
                    <a16:creationId xmlns:a16="http://schemas.microsoft.com/office/drawing/2014/main" id="{23DDDE3F-E05C-41DF-AD6B-080C7C88F2F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252628" y="3223307"/>
                <a:ext cx="2185386" cy="41138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NZ" altLang="ja-JP" sz="1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𝝆</m:t>
                      </m:r>
                      <m:r>
                        <a:rPr lang="en-NZ" altLang="ja-JP" sz="1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NZ" altLang="ja-JP" sz="1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NZ" altLang="ja-JP" sz="1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NZ" altLang="ja-JP" sz="16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𝟎𝟎</m:t>
                      </m:r>
                    </m:oMath>
                  </m:oMathPara>
                </a14:m>
                <a:endParaRPr lang="en-US" altLang="ja-JP" sz="16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9" name="Text Placeholder 5">
                <a:extLst>
                  <a:ext uri="{FF2B5EF4-FFF2-40B4-BE49-F238E27FC236}">
                    <a16:creationId xmlns:a16="http://schemas.microsoft.com/office/drawing/2014/main" id="{23DDDE3F-E05C-41DF-AD6B-080C7C88F2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2628" y="3223307"/>
                <a:ext cx="2185386" cy="411386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Footer Placeholder 2">
            <a:extLst>
              <a:ext uri="{FF2B5EF4-FFF2-40B4-BE49-F238E27FC236}">
                <a16:creationId xmlns:a16="http://schemas.microsoft.com/office/drawing/2014/main" id="{5ED560A0-B742-231E-8CDE-178A78A76649}"/>
              </a:ext>
            </a:extLst>
          </p:cNvPr>
          <p:cNvSpPr txBox="1">
            <a:spLocks/>
          </p:cNvSpPr>
          <p:nvPr/>
        </p:nvSpPr>
        <p:spPr>
          <a:xfrm>
            <a:off x="8723086" y="86139"/>
            <a:ext cx="33662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1600" dirty="0">
                <a:solidFill>
                  <a:srgbClr val="DEDDDD"/>
                </a:solidFill>
                <a:latin typeface="Gidole"/>
              </a:rPr>
              <a:t>1.3 – Expectation &amp; Variance of RVs</a:t>
            </a:r>
            <a:endParaRPr kumimoji="1" lang="ja-JP" altLang="en-US" sz="1600" dirty="0">
              <a:solidFill>
                <a:srgbClr val="DEDDDD"/>
              </a:solidFill>
              <a:latin typeface="Gidole"/>
            </a:endParaRPr>
          </a:p>
        </p:txBody>
      </p:sp>
    </p:spTree>
    <p:extLst>
      <p:ext uri="{BB962C8B-B14F-4D97-AF65-F5344CB8AC3E}">
        <p14:creationId xmlns:p14="http://schemas.microsoft.com/office/powerpoint/2010/main" val="30984144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6733"/>
            <a:ext cx="2185386" cy="741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4AD89C-DF1E-4948-B597-5DD47B34A9CA}" type="slidenum">
              <a:rPr kumimoji="1" lang="ja-JP" altLang="en-US" smtClean="0">
                <a:solidFill>
                  <a:srgbClr val="575454">
                    <a:lumMod val="20000"/>
                    <a:lumOff val="80000"/>
                  </a:srgbClr>
                </a:solidFill>
                <a:latin typeface="Coo Hew"/>
              </a:rPr>
              <a:pPr/>
              <a:t>31</a:t>
            </a:fld>
            <a:endParaRPr kumimoji="1" lang="ja-JP" altLang="en-US" dirty="0">
              <a:solidFill>
                <a:srgbClr val="575454">
                  <a:lumMod val="20000"/>
                  <a:lumOff val="80000"/>
                </a:srgbClr>
              </a:solidFill>
              <a:latin typeface="Coo Hew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DCE95AA1-F247-4D03-9A84-A08A95E2EB81}"/>
              </a:ext>
            </a:extLst>
          </p:cNvPr>
          <p:cNvSpPr txBox="1">
            <a:spLocks/>
          </p:cNvSpPr>
          <p:nvPr/>
        </p:nvSpPr>
        <p:spPr>
          <a:xfrm>
            <a:off x="319463" y="310113"/>
            <a:ext cx="9124788" cy="607201"/>
          </a:xfrm>
          <a:prstGeom prst="rect">
            <a:avLst/>
          </a:prstGeom>
        </p:spPr>
        <p:txBody>
          <a:bodyPr anchor="t">
            <a:normAutofit fontScale="70000" lnSpcReduction="20000"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b="1" u="sng" dirty="0">
                <a:latin typeface="+mn-lt"/>
              </a:rPr>
              <a:t>1.3j - Facts About Covariance and the Correlation Coefficient:</a:t>
            </a:r>
            <a:endParaRPr lang="ja-JP" altLang="en-US" b="1" u="sng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 Placeholder 5">
                <a:extLst>
                  <a:ext uri="{FF2B5EF4-FFF2-40B4-BE49-F238E27FC236}">
                    <a16:creationId xmlns:a16="http://schemas.microsoft.com/office/drawing/2014/main" id="{90A1BBC2-E6F1-4DAC-ACDB-EB8DADFCF47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1040144"/>
                <a:ext cx="11553074" cy="607201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0" indent="-457200" algn="just">
                  <a:lnSpc>
                    <a:spcPct val="10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NZ" altLang="ja-JP" sz="20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NZ" altLang="ja-JP" sz="20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ov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NZ" altLang="ja-JP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NZ" altLang="ja-JP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NZ" altLang="ja-JP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  <m:r>
                          <a:rPr lang="en-NZ" altLang="ja-JP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NZ" altLang="ja-JP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NZ" altLang="ja-JP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NZ" altLang="ja-JP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NZ" altLang="ja-JP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NZ" altLang="ja-JP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d>
                          <m:dPr>
                            <m:ctrlPr>
                              <a:rPr lang="en-NZ" altLang="ja-JP" sz="20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NZ" altLang="ja-JP" sz="20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  <m:r>
                              <a:rPr lang="en-NZ" altLang="ja-JP" sz="20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r>
                              <a:rPr lang="en-NZ" altLang="ja-JP" sz="20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𝑬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NZ" altLang="ja-JP" sz="200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NZ" altLang="ja-JP" sz="200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</m:d>
                            <m:r>
                              <a:rPr lang="en-NZ" altLang="ja-JP" sz="20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NZ" altLang="ja-JP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d>
                          <m:dPr>
                            <m:ctrlPr>
                              <a:rPr lang="en-NZ" altLang="ja-JP" sz="20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NZ" altLang="ja-JP" sz="20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NZ" altLang="ja-JP" sz="20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𝒀</m:t>
                            </m:r>
                            <m:r>
                              <a:rPr lang="en-NZ" altLang="ja-JP" sz="20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NZ" altLang="ja-JP" sz="20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𝑬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NZ" altLang="ja-JP" sz="200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NZ" altLang="ja-JP" sz="200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</m:e>
                            </m:d>
                            <m:r>
                              <a:rPr lang="en-NZ" altLang="ja-JP" sz="20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NZ" altLang="ja-JP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NZ" altLang="ja-JP" sz="20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  =   </m:t>
                    </m:r>
                    <m:r>
                      <a:rPr lang="en-NZ" altLang="ja-JP" sz="20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𝐄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20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NZ" altLang="ja-JP" sz="20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𝐗𝐘</m:t>
                        </m:r>
                        <m:r>
                          <a:rPr lang="en-NZ" altLang="ja-JP" sz="20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NZ" altLang="ja-JP" sz="20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NZ" altLang="ja-JP" sz="20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𝐄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20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</m:d>
                    <m:r>
                      <a:rPr lang="en-NZ" altLang="ja-JP" sz="20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NZ" altLang="ja-JP" sz="20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𝐄</m:t>
                    </m:r>
                    <m:r>
                      <a:rPr lang="en-NZ" altLang="ja-JP" sz="20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NZ" altLang="ja-JP" sz="20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𝐘</m:t>
                    </m:r>
                    <m:r>
                      <a:rPr lang="en-NZ" altLang="ja-JP" sz="20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ja-JP" sz="2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Text Placeholder 5">
                <a:extLst>
                  <a:ext uri="{FF2B5EF4-FFF2-40B4-BE49-F238E27FC236}">
                    <a16:creationId xmlns:a16="http://schemas.microsoft.com/office/drawing/2014/main" id="{90A1BBC2-E6F1-4DAC-ACDB-EB8DADFCF4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1040144"/>
                <a:ext cx="11553074" cy="607201"/>
              </a:xfrm>
              <a:prstGeom prst="rect">
                <a:avLst/>
              </a:prstGeom>
              <a:blipFill>
                <a:blip r:embed="rId3"/>
                <a:stretch>
                  <a:fillRect l="-527" t="-7071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 Placeholder 5">
                <a:extLst>
                  <a:ext uri="{FF2B5EF4-FFF2-40B4-BE49-F238E27FC236}">
                    <a16:creationId xmlns:a16="http://schemas.microsoft.com/office/drawing/2014/main" id="{4E344EEC-2AB2-4453-B693-FD323D563BA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38926" y="1916129"/>
                <a:ext cx="11553074" cy="535388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NZ" altLang="ja-JP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𝐶𝑜𝑣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16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NZ" altLang="ja-JP" sz="16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NZ" altLang="ja-JP" sz="16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NZ" altLang="ja-JP" sz="16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NZ" altLang="ja-JP" sz="16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NZ" altLang="ja-JP" sz="16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 ≡   </m:t>
                    </m:r>
                    <m:r>
                      <a:rPr lang="en-NZ" altLang="ja-JP" sz="16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16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d>
                          <m:dPr>
                            <m:ctrlPr>
                              <a:rPr lang="en-NZ" altLang="ja-JP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NZ" altLang="ja-JP" sz="16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NZ" altLang="ja-JP" sz="16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r>
                              <a:rPr lang="en-NZ" altLang="ja-JP" sz="16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NZ" altLang="ja-JP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NZ" altLang="ja-JP" sz="16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d>
                            <m:r>
                              <a:rPr lang="en-NZ" altLang="ja-JP" sz="16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NZ" altLang="ja-JP" sz="16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d>
                          <m:dPr>
                            <m:ctrlPr>
                              <a:rPr lang="en-NZ" altLang="ja-JP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NZ" altLang="ja-JP" sz="16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NZ" altLang="ja-JP" sz="16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NZ" altLang="ja-JP" sz="16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NZ" altLang="ja-JP" sz="16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NZ" altLang="ja-JP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NZ" altLang="ja-JP" sz="16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</m:d>
                            <m:r>
                              <a:rPr lang="en-NZ" altLang="ja-JP" sz="16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NZ" altLang="ja-JP" sz="16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NZ" altLang="ja-JP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=   </m:t>
                    </m:r>
                    <m:r>
                      <m:rPr>
                        <m:sty m:val="p"/>
                      </m:rPr>
                      <a:rPr lang="en-NZ" altLang="ja-JP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 </m:t>
                        </m:r>
                        <m:r>
                          <a:rPr lang="en-NZ" altLang="ja-JP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𝑋𝑌</m:t>
                        </m:r>
                        <m:r>
                          <a:rPr lang="en-NZ" altLang="ja-JP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  </m:t>
                        </m:r>
                        <m:r>
                          <a:rPr lang="en-NZ" altLang="ja-JP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NZ" altLang="ja-JP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NZ" altLang="ja-JP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  <m:r>
                          <a:rPr lang="en-NZ" altLang="ja-JP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NZ" altLang="ja-JP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NZ" altLang="ja-JP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NZ" altLang="ja-JP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d>
                        <m:r>
                          <a:rPr lang="en-NZ" altLang="ja-JP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−  </m:t>
                        </m:r>
                        <m:r>
                          <a:rPr lang="en-NZ" altLang="ja-JP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NZ" altLang="ja-JP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NZ" altLang="ja-JP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  <m:r>
                          <a:rPr lang="en-NZ" altLang="ja-JP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NZ" altLang="ja-JP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NZ" altLang="ja-JP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NZ" altLang="ja-JP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NZ" altLang="ja-JP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NZ" altLang="ja-JP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NZ" altLang="ja-JP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NZ" altLang="ja-JP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NZ" altLang="ja-JP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]   </m:t>
                        </m:r>
                      </m:e>
                    </m:d>
                  </m:oMath>
                </a14:m>
                <a:r>
                  <a:rPr lang="en-US" altLang="ja-JP" sz="1600" dirty="0">
                    <a:solidFill>
                      <a:schemeClr val="tx1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24" name="Text Placeholder 5">
                <a:extLst>
                  <a:ext uri="{FF2B5EF4-FFF2-40B4-BE49-F238E27FC236}">
                    <a16:creationId xmlns:a16="http://schemas.microsoft.com/office/drawing/2014/main" id="{4E344EEC-2AB2-4453-B693-FD323D563B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926" y="1916129"/>
                <a:ext cx="11553074" cy="53538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 Placeholder 5">
                <a:extLst>
                  <a:ext uri="{FF2B5EF4-FFF2-40B4-BE49-F238E27FC236}">
                    <a16:creationId xmlns:a16="http://schemas.microsoft.com/office/drawing/2014/main" id="{212A068A-AB1D-4CC8-8AF1-BE3AFE873E2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52544" y="4100994"/>
                <a:ext cx="11553074" cy="607201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0" indent="-457200" algn="just">
                  <a:lnSpc>
                    <a:spcPct val="100000"/>
                  </a:lnSpc>
                  <a:buFont typeface="+mj-lt"/>
                  <a:buAutoNum type="arabicPeriod" startAt="2"/>
                </a:pPr>
                <a:r>
                  <a:rPr lang="en-NZ" altLang="ja-JP" sz="2000" dirty="0">
                    <a:solidFill>
                      <a:schemeClr val="tx1"/>
                    </a:solidFill>
                  </a:rPr>
                  <a:t> </a:t>
                </a:r>
                <a:r>
                  <a:rPr lang="en-NZ" altLang="ja-JP" sz="2000" b="1" dirty="0">
                    <a:solidFill>
                      <a:srgbClr val="002060"/>
                    </a:solidFill>
                  </a:rPr>
                  <a:t>If </a:t>
                </a:r>
                <a:r>
                  <a:rPr lang="en-NZ" altLang="ja-JP" sz="2000" b="1" i="1" dirty="0">
                    <a:solidFill>
                      <a:srgbClr val="002060"/>
                    </a:solidFill>
                  </a:rPr>
                  <a:t>X</a:t>
                </a:r>
                <a:r>
                  <a:rPr lang="en-NZ" altLang="ja-JP" sz="2000" b="1" dirty="0">
                    <a:solidFill>
                      <a:srgbClr val="002060"/>
                    </a:solidFill>
                  </a:rPr>
                  <a:t> and </a:t>
                </a:r>
                <a:r>
                  <a:rPr lang="en-NZ" altLang="ja-JP" sz="2000" b="1" i="1" dirty="0">
                    <a:solidFill>
                      <a:srgbClr val="002060"/>
                    </a:solidFill>
                  </a:rPr>
                  <a:t>Y</a:t>
                </a:r>
                <a:r>
                  <a:rPr lang="en-NZ" altLang="ja-JP" sz="2000" b="1" dirty="0">
                    <a:solidFill>
                      <a:srgbClr val="002060"/>
                    </a:solidFill>
                  </a:rPr>
                  <a:t> are independent, then </a:t>
                </a:r>
                <a14:m>
                  <m:oMath xmlns:m="http://schemas.openxmlformats.org/officeDocument/2006/math">
                    <m:r>
                      <a:rPr lang="en-NZ" altLang="ja-JP" sz="20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𝐂𝐨𝐯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NZ" altLang="ja-JP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NZ" altLang="ja-JP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NZ" altLang="ja-JP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  <m:r>
                          <a:rPr lang="en-NZ" altLang="ja-JP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NZ" altLang="ja-JP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NZ" altLang="ja-JP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NZ" altLang="ja-JP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NZ" altLang="ja-JP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ja-JP" sz="2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Text Placeholder 5">
                <a:extLst>
                  <a:ext uri="{FF2B5EF4-FFF2-40B4-BE49-F238E27FC236}">
                    <a16:creationId xmlns:a16="http://schemas.microsoft.com/office/drawing/2014/main" id="{212A068A-AB1D-4CC8-8AF1-BE3AFE873E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544" y="4100994"/>
                <a:ext cx="11553074" cy="607201"/>
              </a:xfrm>
              <a:prstGeom prst="rect">
                <a:avLst/>
              </a:prstGeom>
              <a:blipFill>
                <a:blip r:embed="rId5"/>
                <a:stretch>
                  <a:fillRect l="-580" t="-7071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 Placeholder 5">
                <a:extLst>
                  <a:ext uri="{FF2B5EF4-FFF2-40B4-BE49-F238E27FC236}">
                    <a16:creationId xmlns:a16="http://schemas.microsoft.com/office/drawing/2014/main" id="{DA0CC9B9-DA9E-4694-A9B1-5E502AB168B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84585" y="4539276"/>
                <a:ext cx="11307415" cy="535388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:r>
                  <a:rPr lang="en-US" altLang="ja-JP" sz="1600" dirty="0">
                    <a:solidFill>
                      <a:schemeClr val="tx1"/>
                    </a:solidFill>
                  </a:rPr>
                  <a:t>If </a:t>
                </a:r>
                <a:r>
                  <a:rPr lang="en-US" altLang="ja-JP" sz="1600" b="1" i="1" dirty="0">
                    <a:solidFill>
                      <a:schemeClr val="tx1"/>
                    </a:solidFill>
                  </a:rPr>
                  <a:t>X</a:t>
                </a:r>
                <a:r>
                  <a:rPr lang="en-US" altLang="ja-JP" sz="1600" dirty="0">
                    <a:solidFill>
                      <a:schemeClr val="tx1"/>
                    </a:solidFill>
                  </a:rPr>
                  <a:t> and </a:t>
                </a:r>
                <a:r>
                  <a:rPr lang="en-US" altLang="ja-JP" sz="1600" b="1" i="1" dirty="0">
                    <a:solidFill>
                      <a:schemeClr val="tx1"/>
                    </a:solidFill>
                  </a:rPr>
                  <a:t>Y</a:t>
                </a:r>
                <a:r>
                  <a:rPr lang="en-US" altLang="ja-JP" sz="1600" dirty="0">
                    <a:solidFill>
                      <a:schemeClr val="tx1"/>
                    </a:solidFill>
                  </a:rPr>
                  <a:t> are independent,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NZ" altLang="ja-JP" sz="16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𝑋𝑌</m:t>
                        </m:r>
                      </m:e>
                    </m:d>
                    <m:r>
                      <a:rPr lang="en-NZ" altLang="ja-JP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ja-JP" sz="1600" dirty="0">
                    <a:solidFill>
                      <a:schemeClr val="tx1"/>
                    </a:solidFill>
                  </a:rPr>
                  <a:t>   </a:t>
                </a:r>
                <a14:m>
                  <m:oMath xmlns:m="http://schemas.openxmlformats.org/officeDocument/2006/math">
                    <m:r>
                      <a:rPr lang="en-NZ" altLang="ja-JP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NZ" altLang="ja-JP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NZ" altLang="ja-JP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</m:oMath>
                </a14:m>
                <a:r>
                  <a:rPr lang="en-US" altLang="ja-JP" sz="1600" dirty="0">
                    <a:solidFill>
                      <a:schemeClr val="tx1"/>
                    </a:solidFill>
                  </a:rPr>
                  <a:t>            	</a:t>
                </a:r>
                <a:r>
                  <a:rPr lang="en-US" altLang="ja-JP" sz="1600" i="1" dirty="0">
                    <a:solidFill>
                      <a:schemeClr val="tx1"/>
                    </a:solidFill>
                  </a:rPr>
                  <a:t>(see slide 24)</a:t>
                </a:r>
                <a:r>
                  <a:rPr lang="en-US" altLang="ja-JP" sz="16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9" name="Text Placeholder 5">
                <a:extLst>
                  <a:ext uri="{FF2B5EF4-FFF2-40B4-BE49-F238E27FC236}">
                    <a16:creationId xmlns:a16="http://schemas.microsoft.com/office/drawing/2014/main" id="{DA0CC9B9-DA9E-4694-A9B1-5E502AB168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585" y="4539276"/>
                <a:ext cx="11307415" cy="535388"/>
              </a:xfrm>
              <a:prstGeom prst="rect">
                <a:avLst/>
              </a:prstGeom>
              <a:blipFill>
                <a:blip r:embed="rId6"/>
                <a:stretch>
                  <a:fillRect l="-270" t="-3448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 Placeholder 5">
                <a:extLst>
                  <a:ext uri="{FF2B5EF4-FFF2-40B4-BE49-F238E27FC236}">
                    <a16:creationId xmlns:a16="http://schemas.microsoft.com/office/drawing/2014/main" id="{5A9D7CDF-31DF-482B-9067-29AC8A1CA95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13141" y="4932383"/>
                <a:ext cx="9392178" cy="535388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NZ" altLang="ja-JP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⇒  </m:t>
                    </m:r>
                    <m:r>
                      <a:rPr lang="en-NZ" altLang="ja-JP" sz="16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𝐶𝑜𝑣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NZ" altLang="ja-JP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NZ" altLang="ja-JP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NZ" altLang="ja-JP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NZ" altLang="ja-JP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NZ" altLang="ja-JP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   </m:t>
                    </m:r>
                    <m:r>
                      <m:rPr>
                        <m:sty m:val="p"/>
                      </m:rPr>
                      <a:rPr lang="en-NZ" altLang="ja-JP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𝑋𝑌</m:t>
                        </m:r>
                      </m:e>
                    </m:d>
                    <m:r>
                      <a:rPr lang="en-NZ" altLang="ja-JP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NZ" altLang="ja-JP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altLang="ja-JP" sz="1600" dirty="0">
                    <a:solidFill>
                      <a:schemeClr val="tx1"/>
                    </a:solidFill>
                  </a:rPr>
                  <a:t>   </a:t>
                </a:r>
                <a14:m>
                  <m:oMath xmlns:m="http://schemas.openxmlformats.org/officeDocument/2006/math">
                    <m:r>
                      <a:rPr lang="en-NZ" altLang="ja-JP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NZ" altLang="ja-JP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NZ" altLang="ja-JP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NZ" altLang="ja-JP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=</m:t>
                    </m:r>
                    <m:r>
                      <a:rPr lang="en-NZ" altLang="ja-JP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NZ" altLang="ja-JP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NZ" altLang="ja-JP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</m:oMath>
                </a14:m>
                <a:r>
                  <a:rPr lang="en-US" altLang="ja-JP" sz="1600" dirty="0">
                    <a:solidFill>
                      <a:schemeClr val="tx1"/>
                    </a:solidFill>
                  </a:rPr>
                  <a:t>   -  </a:t>
                </a:r>
                <a14:m>
                  <m:oMath xmlns:m="http://schemas.openxmlformats.org/officeDocument/2006/math">
                    <m:r>
                      <a:rPr lang="en-NZ" altLang="ja-JP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NZ" altLang="ja-JP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NZ" altLang="ja-JP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NZ" altLang="ja-JP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ja-JP" sz="1600" dirty="0">
                    <a:solidFill>
                      <a:schemeClr val="tx1"/>
                    </a:solidFill>
                  </a:rPr>
                  <a:t>  =   0</a:t>
                </a:r>
              </a:p>
            </p:txBody>
          </p:sp>
        </mc:Choice>
        <mc:Fallback xmlns="">
          <p:sp>
            <p:nvSpPr>
              <p:cNvPr id="30" name="Text Placeholder 5">
                <a:extLst>
                  <a:ext uri="{FF2B5EF4-FFF2-40B4-BE49-F238E27FC236}">
                    <a16:creationId xmlns:a16="http://schemas.microsoft.com/office/drawing/2014/main" id="{5A9D7CDF-31DF-482B-9067-29AC8A1CA9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141" y="4932383"/>
                <a:ext cx="9392178" cy="535388"/>
              </a:xfrm>
              <a:prstGeom prst="rect">
                <a:avLst/>
              </a:prstGeom>
              <a:blipFill>
                <a:blip r:embed="rId7"/>
                <a:stretch>
                  <a:fillRect t="-3409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 Placeholder 5">
                <a:extLst>
                  <a:ext uri="{FF2B5EF4-FFF2-40B4-BE49-F238E27FC236}">
                    <a16:creationId xmlns:a16="http://schemas.microsoft.com/office/drawing/2014/main" id="{CAEF7A6A-EC49-490C-BDCB-F9FF24034D2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74358" y="5656142"/>
                <a:ext cx="5229611" cy="607201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0" indent="-457200" algn="just">
                  <a:lnSpc>
                    <a:spcPct val="100000"/>
                  </a:lnSpc>
                  <a:buFont typeface="+mj-lt"/>
                  <a:buAutoNum type="arabicPeriod" startAt="3"/>
                </a:pPr>
                <a:r>
                  <a:rPr lang="en-NZ" altLang="ja-JP" sz="2000" dirty="0">
                    <a:solidFill>
                      <a:schemeClr val="tx1"/>
                    </a:solidFill>
                  </a:rPr>
                  <a:t> </a:t>
                </a:r>
                <a:r>
                  <a:rPr lang="en-NZ" altLang="ja-JP" sz="2000" b="1" dirty="0">
                    <a:solidFill>
                      <a:srgbClr val="002060"/>
                    </a:solidFill>
                  </a:rPr>
                  <a:t>If </a:t>
                </a:r>
                <a:r>
                  <a:rPr lang="en-NZ" altLang="ja-JP" sz="2000" b="1" i="1" dirty="0">
                    <a:solidFill>
                      <a:srgbClr val="002060"/>
                    </a:solidFill>
                  </a:rPr>
                  <a:t>X</a:t>
                </a:r>
                <a:r>
                  <a:rPr lang="en-NZ" altLang="ja-JP" sz="2000" b="1" dirty="0">
                    <a:solidFill>
                      <a:srgbClr val="002060"/>
                    </a:solidFill>
                  </a:rPr>
                  <a:t> and </a:t>
                </a:r>
                <a:r>
                  <a:rPr lang="en-NZ" altLang="ja-JP" sz="2000" b="1" i="1" dirty="0">
                    <a:solidFill>
                      <a:srgbClr val="002060"/>
                    </a:solidFill>
                  </a:rPr>
                  <a:t>Y</a:t>
                </a:r>
                <a:r>
                  <a:rPr lang="en-NZ" altLang="ja-JP" sz="2000" b="1" dirty="0">
                    <a:solidFill>
                      <a:srgbClr val="002060"/>
                    </a:solidFill>
                  </a:rPr>
                  <a:t> are independent, then  </a:t>
                </a:r>
                <a14:m>
                  <m:oMath xmlns:m="http://schemas.openxmlformats.org/officeDocument/2006/math">
                    <m:r>
                      <a:rPr lang="ja-JP" altLang="en-NZ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𝛒</m:t>
                    </m:r>
                    <m:r>
                      <a:rPr lang="en-NZ" altLang="ja-JP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NZ" altLang="ja-JP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NZ" altLang="ja-JP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ja-JP" sz="2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Text Placeholder 5">
                <a:extLst>
                  <a:ext uri="{FF2B5EF4-FFF2-40B4-BE49-F238E27FC236}">
                    <a16:creationId xmlns:a16="http://schemas.microsoft.com/office/drawing/2014/main" id="{CAEF7A6A-EC49-490C-BDCB-F9FF24034D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358" y="5656142"/>
                <a:ext cx="5229611" cy="607201"/>
              </a:xfrm>
              <a:prstGeom prst="rect">
                <a:avLst/>
              </a:prstGeom>
              <a:blipFill>
                <a:blip r:embed="rId8"/>
                <a:stretch>
                  <a:fillRect l="-1282" t="-7071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041E1AE-1070-4E19-BBFC-5B191EBA76A3}"/>
                  </a:ext>
                </a:extLst>
              </p:cNvPr>
              <p:cNvSpPr txBox="1"/>
              <p:nvPr/>
            </p:nvSpPr>
            <p:spPr>
              <a:xfrm>
                <a:off x="2660539" y="6131949"/>
                <a:ext cx="6127844" cy="6740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ja-JP" altLang="en-NZ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NZ" altLang="ja-JP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NZ" altLang="ja-JP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NZ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𝐶𝑜𝑣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NZ" altLang="ja-JP" sz="16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NZ" altLang="ja-JP" sz="16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𝑉𝑎𝑟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NZ" altLang="ja-JP" sz="16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NZ" altLang="ja-JP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  <m: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𝑉𝑎𝑟</m:t>
                              </m:r>
                              <m: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[</m:t>
                              </m:r>
                              <m: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NZ" altLang="ja-JP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rad>
                        </m:den>
                      </m:f>
                      <m:r>
                        <a:rPr lang="en-NZ" altLang="ja-JP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= </m:t>
                      </m:r>
                      <m:f>
                        <m:fPr>
                          <m:ctrlPr>
                            <a:rPr lang="en-NZ" altLang="ja-JP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NZ" altLang="ja-JP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NZ" altLang="ja-JP" sz="16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NZ" altLang="ja-JP" sz="1600" i="1">
                                  <a:latin typeface="Cambria Math" panose="02040503050406030204" pitchFamily="18" charset="0"/>
                                </a:rPr>
                                <m:t>𝑉𝑎𝑟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NZ" altLang="ja-JP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NZ" altLang="ja-JP" sz="16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  <m:r>
                                <a:rPr lang="en-NZ" altLang="ja-JP" sz="16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NZ" altLang="ja-JP" sz="1600" i="1">
                                  <a:latin typeface="Cambria Math" panose="02040503050406030204" pitchFamily="18" charset="0"/>
                                </a:rPr>
                                <m:t>𝑉𝑎𝑟</m:t>
                              </m:r>
                              <m:r>
                                <a:rPr lang="en-NZ" altLang="ja-JP" sz="1600" i="1">
                                  <a:latin typeface="Cambria Math" panose="02040503050406030204" pitchFamily="18" charset="0"/>
                                </a:rPr>
                                <m:t> [</m:t>
                              </m:r>
                              <m:r>
                                <a:rPr lang="en-NZ" altLang="ja-JP" sz="16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NZ" altLang="ja-JP" sz="1600" i="1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rad>
                        </m:den>
                      </m:f>
                      <m:r>
                        <a:rPr lang="en-NZ" altLang="ja-JP" sz="1600" b="0" i="1" smtClean="0">
                          <a:latin typeface="Cambria Math" panose="02040503050406030204" pitchFamily="18" charset="0"/>
                        </a:rPr>
                        <m:t>  =  0</m:t>
                      </m:r>
                    </m:oMath>
                  </m:oMathPara>
                </a14:m>
                <a:endParaRPr lang="en-NZ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041E1AE-1070-4E19-BBFC-5B191EBA76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0539" y="6131949"/>
                <a:ext cx="6127844" cy="67403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019E79CA-13DF-4F84-8AE6-7A044CF958F6}"/>
              </a:ext>
            </a:extLst>
          </p:cNvPr>
          <p:cNvSpPr txBox="1">
            <a:spLocks/>
          </p:cNvSpPr>
          <p:nvPr/>
        </p:nvSpPr>
        <p:spPr>
          <a:xfrm>
            <a:off x="8723086" y="86139"/>
            <a:ext cx="33662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1600" dirty="0">
                <a:solidFill>
                  <a:srgbClr val="DEDDDD"/>
                </a:solidFill>
                <a:latin typeface="Gidole"/>
              </a:rPr>
              <a:t>1.3 – Expectation &amp; Variance of RVs</a:t>
            </a:r>
            <a:endParaRPr kumimoji="1" lang="ja-JP" altLang="en-US" sz="1600" dirty="0">
              <a:solidFill>
                <a:srgbClr val="DEDDDD"/>
              </a:solidFill>
              <a:latin typeface="Gidole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AB0CB645-7255-D77B-17B8-9945F6737181}"/>
              </a:ext>
            </a:extLst>
          </p:cNvPr>
          <p:cNvSpPr txBox="1">
            <a:spLocks/>
          </p:cNvSpPr>
          <p:nvPr/>
        </p:nvSpPr>
        <p:spPr>
          <a:xfrm>
            <a:off x="352544" y="1452354"/>
            <a:ext cx="3665683" cy="46281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NZ" altLang="ja-JP" sz="1800" b="1" i="1" dirty="0">
                <a:solidFill>
                  <a:srgbClr val="002060"/>
                </a:solidFill>
              </a:rPr>
              <a:t>Proof of Equivalence (FYI Only):</a:t>
            </a:r>
            <a:endParaRPr lang="en-US" altLang="ja-JP" sz="1800" b="1" i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 Placeholder 5">
                <a:extLst>
                  <a:ext uri="{FF2B5EF4-FFF2-40B4-BE49-F238E27FC236}">
                    <a16:creationId xmlns:a16="http://schemas.microsoft.com/office/drawing/2014/main" id="{A3CC692F-A1A3-BC43-C11D-DFDF280E929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033516" y="2347097"/>
                <a:ext cx="10158484" cy="466112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NZ" altLang="ja-JP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   </m:t>
                    </m:r>
                    <m:r>
                      <m:rPr>
                        <m:sty m:val="p"/>
                      </m:rPr>
                      <a:rPr lang="en-NZ" altLang="ja-JP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NZ" altLang="ja-JP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[  </m:t>
                    </m:r>
                    <m:r>
                      <a:rPr lang="en-NZ" altLang="ja-JP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𝑋𝑌</m:t>
                    </m:r>
                    <m:r>
                      <a:rPr lang="en-NZ" altLang="ja-JP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+   </m:t>
                    </m:r>
                    <m:sSub>
                      <m:sSubPr>
                        <m:ctrlPr>
                          <a:rPr lang="en-NZ" altLang="ja-JP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NZ" altLang="ja-JP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NZ" altLang="ja-JP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NZ" altLang="ja-JP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NZ" altLang="ja-JP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en-NZ" altLang="ja-JP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− </m:t>
                    </m:r>
                    <m:sSub>
                      <m:sSubPr>
                        <m:ctrlPr>
                          <a:rPr lang="en-NZ" altLang="ja-JP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NZ" altLang="ja-JP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NZ" altLang="ja-JP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NZ" altLang="ja-JP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NZ" altLang="ja-JP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ja-JP" sz="1600" dirty="0">
                    <a:solidFill>
                      <a:schemeClr val="tx1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NZ" altLang="ja-JP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altLang="ja-JP" sz="1600" dirty="0">
                    <a:solidFill>
                      <a:schemeClr val="tx1"/>
                    </a:solidFill>
                  </a:rPr>
                  <a:t>   </a:t>
                </a:r>
                <a14:m>
                  <m:oMath xmlns:m="http://schemas.openxmlformats.org/officeDocument/2006/math">
                    <m:r>
                      <a:rPr lang="en-NZ" altLang="ja-JP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NZ" altLang="ja-JP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NZ" altLang="ja-JP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NZ" altLang="ja-JP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NZ" altLang="ja-JP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en-NZ" altLang="ja-JP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]</m:t>
                    </m:r>
                  </m:oMath>
                </a14:m>
                <a:r>
                  <a:rPr lang="en-US" altLang="ja-JP" sz="1600" dirty="0">
                    <a:solidFill>
                      <a:schemeClr val="tx1"/>
                    </a:solidFill>
                  </a:rPr>
                  <a:t>   =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NZ" altLang="ja-JP" sz="16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𝑋𝑌</m:t>
                        </m:r>
                      </m:e>
                    </m:d>
                    <m:r>
                      <a:rPr lang="en-NZ" altLang="ja-JP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+  </m:t>
                    </m:r>
                    <m:r>
                      <a:rPr lang="en-NZ" altLang="ja-JP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NZ" altLang="ja-JP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[ </m:t>
                    </m:r>
                    <m:sSub>
                      <m:sSubPr>
                        <m:ctrlPr>
                          <a:rPr lang="en-NZ" altLang="ja-JP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NZ" altLang="ja-JP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NZ" altLang="ja-JP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NZ" altLang="ja-JP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NZ" altLang="ja-JP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en-NZ" altLang="ja-JP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] −</m:t>
                    </m:r>
                    <m:r>
                      <a:rPr lang="en-NZ" altLang="ja-JP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NZ" altLang="ja-JP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 </m:t>
                    </m:r>
                    <m:sSub>
                      <m:sSubPr>
                        <m:ctrlPr>
                          <a:rPr lang="en-NZ" altLang="ja-JP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NZ" altLang="ja-JP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NZ" altLang="ja-JP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NZ" altLang="ja-JP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NZ" altLang="ja-JP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]</m:t>
                    </m:r>
                  </m:oMath>
                </a14:m>
                <a:r>
                  <a:rPr lang="en-US" altLang="ja-JP" sz="1600" dirty="0">
                    <a:solidFill>
                      <a:schemeClr val="tx1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NZ" altLang="ja-JP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altLang="ja-JP" sz="1600" dirty="0">
                    <a:solidFill>
                      <a:schemeClr val="tx1"/>
                    </a:solidFill>
                  </a:rPr>
                  <a:t>   </a:t>
                </a:r>
                <a14:m>
                  <m:oMath xmlns:m="http://schemas.openxmlformats.org/officeDocument/2006/math">
                    <m:r>
                      <a:rPr lang="en-NZ" altLang="ja-JP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NZ" altLang="ja-JP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[</m:t>
                    </m:r>
                    <m:sSub>
                      <m:sSubPr>
                        <m:ctrlPr>
                          <a:rPr lang="en-NZ" altLang="ja-JP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NZ" altLang="ja-JP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en-NZ" altLang="ja-JP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NZ" altLang="ja-JP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NZ" altLang="ja-JP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ja-JP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Text Placeholder 5">
                <a:extLst>
                  <a:ext uri="{FF2B5EF4-FFF2-40B4-BE49-F238E27FC236}">
                    <a16:creationId xmlns:a16="http://schemas.microsoft.com/office/drawing/2014/main" id="{A3CC692F-A1A3-BC43-C11D-DFDF280E92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3516" y="2347097"/>
                <a:ext cx="10158484" cy="466112"/>
              </a:xfrm>
              <a:prstGeom prst="rect">
                <a:avLst/>
              </a:prstGeom>
              <a:blipFill>
                <a:blip r:embed="rId10"/>
                <a:stretch>
                  <a:fillRect t="-3947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 Placeholder 5">
                <a:extLst>
                  <a:ext uri="{FF2B5EF4-FFF2-40B4-BE49-F238E27FC236}">
                    <a16:creationId xmlns:a16="http://schemas.microsoft.com/office/drawing/2014/main" id="{5E49F9C1-C882-5BF0-DEB6-F2E56884258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033516" y="2746562"/>
                <a:ext cx="10158484" cy="535388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NZ" altLang="ja-JP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  </m:t>
                      </m:r>
                      <m:r>
                        <m:rPr>
                          <m:sty m:val="p"/>
                        </m:rPr>
                        <a:rPr lang="en-NZ" altLang="ja-JP" sz="16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  <m:d>
                        <m:dPr>
                          <m:begChr m:val="["/>
                          <m:endChr m:val="]"/>
                          <m:ctrlPr>
                            <a:rPr lang="en-NZ" altLang="ja-JP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𝑋𝑌</m:t>
                          </m:r>
                        </m:e>
                      </m:d>
                      <m:r>
                        <a:rPr lang="en-NZ" altLang="ja-JP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+</m:t>
                      </m:r>
                      <m:sSub>
                        <m:sSubPr>
                          <m:ctrlPr>
                            <a:rPr lang="en-NZ" altLang="ja-JP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NZ" altLang="ja-JP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NZ" altLang="ja-JP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NZ" altLang="ja-JP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NZ" altLang="ja-JP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NZ" altLang="ja-JP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r>
                        <a:rPr lang="en-NZ" altLang="ja-JP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−</m:t>
                      </m:r>
                      <m:sSub>
                        <m:sSubPr>
                          <m:ctrlPr>
                            <a:rPr lang="en-NZ" altLang="ja-JP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NZ" altLang="ja-JP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NZ" altLang="ja-JP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NZ" altLang="ja-JP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NZ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NZ" altLang="ja-JP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NZ" altLang="ja-JP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NZ" altLang="ja-JP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NZ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r>
                        <a:rPr lang="en-NZ" altLang="ja-JP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NZ" altLang="ja-JP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NZ" altLang="ja-JP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</m:oMath>
                  </m:oMathPara>
                </a14:m>
                <a:endParaRPr lang="en-US" altLang="ja-JP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Text Placeholder 5">
                <a:extLst>
                  <a:ext uri="{FF2B5EF4-FFF2-40B4-BE49-F238E27FC236}">
                    <a16:creationId xmlns:a16="http://schemas.microsoft.com/office/drawing/2014/main" id="{5E49F9C1-C882-5BF0-DEB6-F2E5688425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3516" y="2746562"/>
                <a:ext cx="10158484" cy="53538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 Placeholder 5">
                <a:extLst>
                  <a:ext uri="{FF2B5EF4-FFF2-40B4-BE49-F238E27FC236}">
                    <a16:creationId xmlns:a16="http://schemas.microsoft.com/office/drawing/2014/main" id="{7D65FFB5-9DAC-8EC1-8BDA-54904EC32E0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033516" y="3140378"/>
                <a:ext cx="7151428" cy="535388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NZ" altLang="ja-JP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   </m:t>
                    </m:r>
                    <m:r>
                      <m:rPr>
                        <m:sty m:val="p"/>
                      </m:rPr>
                      <a:rPr lang="en-NZ" altLang="ja-JP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𝑋𝑌</m:t>
                        </m:r>
                      </m:e>
                    </m:d>
                    <m:r>
                      <a:rPr lang="en-NZ" altLang="ja-JP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+  </m:t>
                    </m:r>
                    <m:r>
                      <a:rPr lang="en-NZ" altLang="ja-JP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NZ" altLang="ja-JP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NZ" altLang="ja-JP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NZ" altLang="ja-JP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en-NZ" altLang="ja-JP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NZ" altLang="ja-JP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NZ" altLang="ja-JP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</m:oMath>
                </a14:m>
                <a:r>
                  <a:rPr lang="en-US" altLang="ja-JP" sz="1600" dirty="0">
                    <a:solidFill>
                      <a:schemeClr val="tx1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NZ" altLang="ja-JP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altLang="ja-JP" sz="1600" dirty="0">
                    <a:solidFill>
                      <a:schemeClr val="tx1"/>
                    </a:solidFill>
                  </a:rPr>
                  <a:t>   </a:t>
                </a:r>
                <a14:m>
                  <m:oMath xmlns:m="http://schemas.openxmlformats.org/officeDocument/2006/math">
                    <m:r>
                      <a:rPr lang="en-NZ" altLang="ja-JP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NZ" altLang="ja-JP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NZ" altLang="ja-JP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NZ" altLang="ja-JP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ja-JP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Text Placeholder 5">
                <a:extLst>
                  <a:ext uri="{FF2B5EF4-FFF2-40B4-BE49-F238E27FC236}">
                    <a16:creationId xmlns:a16="http://schemas.microsoft.com/office/drawing/2014/main" id="{7D65FFB5-9DAC-8EC1-8BDA-54904EC32E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3516" y="3140378"/>
                <a:ext cx="7151428" cy="535388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Placeholder 5">
                <a:extLst>
                  <a:ext uri="{FF2B5EF4-FFF2-40B4-BE49-F238E27FC236}">
                    <a16:creationId xmlns:a16="http://schemas.microsoft.com/office/drawing/2014/main" id="{906A5222-A34D-8746-A9D6-DF1A3501FCD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033516" y="3551612"/>
                <a:ext cx="4062484" cy="535388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NZ" altLang="ja-JP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   </m:t>
                    </m:r>
                    <m:r>
                      <m:rPr>
                        <m:sty m:val="p"/>
                      </m:rPr>
                      <a:rPr lang="en-NZ" altLang="ja-JP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𝑋𝑌</m:t>
                        </m:r>
                      </m:e>
                    </m:d>
                    <m:r>
                      <a:rPr lang="en-NZ" altLang="ja-JP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NZ" altLang="ja-JP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altLang="ja-JP" sz="1600" dirty="0">
                    <a:solidFill>
                      <a:schemeClr val="tx1"/>
                    </a:solidFill>
                  </a:rPr>
                  <a:t>   </a:t>
                </a:r>
                <a14:m>
                  <m:oMath xmlns:m="http://schemas.openxmlformats.org/officeDocument/2006/math">
                    <m:r>
                      <a:rPr lang="en-NZ" altLang="ja-JP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NZ" altLang="ja-JP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NZ" altLang="ja-JP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NZ" altLang="ja-JP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ja-JP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Text Placeholder 5">
                <a:extLst>
                  <a:ext uri="{FF2B5EF4-FFF2-40B4-BE49-F238E27FC236}">
                    <a16:creationId xmlns:a16="http://schemas.microsoft.com/office/drawing/2014/main" id="{906A5222-A34D-8746-A9D6-DF1A3501F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3516" y="3551612"/>
                <a:ext cx="4062484" cy="535388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6237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7" grpId="0"/>
      <p:bldP spid="29" grpId="0"/>
      <p:bldP spid="30" grpId="0"/>
      <p:bldP spid="31" grpId="0"/>
      <p:bldP spid="32" grpId="0"/>
      <p:bldP spid="15" grpId="0"/>
      <p:bldP spid="18" grpId="0"/>
      <p:bldP spid="19" grpId="0"/>
      <p:bldP spid="21" grpId="0"/>
      <p:bldP spid="2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0" name="Rectangle 72">
            <a:extLst>
              <a:ext uri="{FF2B5EF4-FFF2-40B4-BE49-F238E27FC236}">
                <a16:creationId xmlns:a16="http://schemas.microsoft.com/office/drawing/2014/main" id="{FD073016-B734-483B-8953-5BADEE145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0"/>
            <a:ext cx="8157458" cy="6858000"/>
          </a:xfrm>
          <a:prstGeom prst="rect">
            <a:avLst/>
          </a:prstGeom>
          <a:gradFill>
            <a:gsLst>
              <a:gs pos="2000">
                <a:schemeClr val="accent1"/>
              </a:gs>
              <a:gs pos="78000">
                <a:schemeClr val="accent1">
                  <a:lumMod val="50000"/>
                </a:schemeClr>
              </a:gs>
              <a:gs pos="100000">
                <a:srgbClr val="000000">
                  <a:alpha val="85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1" name="Rectangle 74">
            <a:extLst>
              <a:ext uri="{FF2B5EF4-FFF2-40B4-BE49-F238E27FC236}">
                <a16:creationId xmlns:a16="http://schemas.microsoft.com/office/drawing/2014/main" id="{90A7EAB6-59D3-4325-8DE6-E0CA4009C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4537" y="1839884"/>
            <a:ext cx="8157460" cy="501768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30000"/>
                </a:schemeClr>
              </a:gs>
              <a:gs pos="100000">
                <a:srgbClr val="000000">
                  <a:alpha val="44000"/>
                </a:srgb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2" name="Rectangle 76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63179" y="-33131"/>
            <a:ext cx="6857999" cy="6923403"/>
          </a:xfrm>
          <a:prstGeom prst="rect">
            <a:avLst/>
          </a:prstGeom>
          <a:gradFill>
            <a:gsLst>
              <a:gs pos="56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14062D-E1C1-4F63-B0FD-D013BDA5782B}"/>
              </a:ext>
            </a:extLst>
          </p:cNvPr>
          <p:cNvSpPr txBox="1"/>
          <p:nvPr/>
        </p:nvSpPr>
        <p:spPr>
          <a:xfrm>
            <a:off x="43707" y="2844225"/>
            <a:ext cx="1210458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NZ" sz="4500" b="1" dirty="0">
                <a:solidFill>
                  <a:srgbClr val="FFC000"/>
                </a:solidFill>
              </a:rPr>
              <a:t>1.4 - Linear Combinations of </a:t>
            </a:r>
            <a:br>
              <a:rPr lang="en-NZ" sz="4500" b="1" dirty="0">
                <a:solidFill>
                  <a:srgbClr val="FFC000"/>
                </a:solidFill>
              </a:rPr>
            </a:br>
            <a:r>
              <a:rPr lang="en-NZ" sz="4500" b="1" dirty="0">
                <a:solidFill>
                  <a:srgbClr val="FFC000"/>
                </a:solidFill>
              </a:rPr>
              <a:t>Random Variables</a:t>
            </a:r>
          </a:p>
        </p:txBody>
      </p:sp>
      <p:pic>
        <p:nvPicPr>
          <p:cNvPr id="1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078A8151-9BD3-4B62-8210-A87BCD0941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6733"/>
            <a:ext cx="2185386" cy="741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14466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6733"/>
            <a:ext cx="2185386" cy="741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4AD89C-DF1E-4948-B597-5DD47B34A9CA}" type="slidenum">
              <a:rPr kumimoji="1" lang="ja-JP" altLang="en-US" smtClean="0">
                <a:solidFill>
                  <a:srgbClr val="575454">
                    <a:lumMod val="20000"/>
                    <a:lumOff val="80000"/>
                  </a:srgbClr>
                </a:solidFill>
                <a:latin typeface="Coo Hew"/>
              </a:rPr>
              <a:pPr/>
              <a:t>33</a:t>
            </a:fld>
            <a:endParaRPr kumimoji="1" lang="ja-JP" altLang="en-US" dirty="0">
              <a:solidFill>
                <a:srgbClr val="575454">
                  <a:lumMod val="20000"/>
                  <a:lumOff val="80000"/>
                </a:srgbClr>
              </a:solidFill>
              <a:latin typeface="Coo Hew"/>
            </a:endParaRP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E01D7A31-5FF0-43DC-9F4D-F2B96A58DE6A}"/>
              </a:ext>
            </a:extLst>
          </p:cNvPr>
          <p:cNvSpPr txBox="1">
            <a:spLocks/>
          </p:cNvSpPr>
          <p:nvPr/>
        </p:nvSpPr>
        <p:spPr>
          <a:xfrm>
            <a:off x="8940800" y="86139"/>
            <a:ext cx="31485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1600" dirty="0">
                <a:solidFill>
                  <a:srgbClr val="DEDDDD"/>
                </a:solidFill>
                <a:latin typeface="Gidole"/>
              </a:rPr>
              <a:t>1.4 - Linear Combinations of RVs</a:t>
            </a:r>
            <a:endParaRPr kumimoji="1" lang="ja-JP" altLang="en-US" sz="1600" dirty="0">
              <a:solidFill>
                <a:srgbClr val="DEDDDD"/>
              </a:solidFill>
              <a:latin typeface="Gidole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DCE95AA1-F247-4D03-9A84-A08A95E2EB81}"/>
              </a:ext>
            </a:extLst>
          </p:cNvPr>
          <p:cNvSpPr txBox="1">
            <a:spLocks/>
          </p:cNvSpPr>
          <p:nvPr/>
        </p:nvSpPr>
        <p:spPr>
          <a:xfrm>
            <a:off x="319463" y="310113"/>
            <a:ext cx="8168429" cy="607201"/>
          </a:xfrm>
          <a:prstGeom prst="rect">
            <a:avLst/>
          </a:prstGeom>
        </p:spPr>
        <p:txBody>
          <a:bodyPr anchor="t">
            <a:normAutofit fontScale="85000" lnSpcReduction="10000"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b="1" u="sng" dirty="0">
                <a:latin typeface="+mn-lt"/>
              </a:rPr>
              <a:t>1.4a - Linear Combinations of Random Variables:</a:t>
            </a:r>
            <a:endParaRPr lang="ja-JP" altLang="en-US" b="1" u="sng" dirty="0">
              <a:latin typeface="+mn-lt"/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CF0EF27-D66E-440A-ADCA-1A987E76987F}"/>
              </a:ext>
            </a:extLst>
          </p:cNvPr>
          <p:cNvSpPr txBox="1">
            <a:spLocks/>
          </p:cNvSpPr>
          <p:nvPr/>
        </p:nvSpPr>
        <p:spPr>
          <a:xfrm>
            <a:off x="319463" y="1668886"/>
            <a:ext cx="11553074" cy="74126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US" altLang="ja-JP" sz="2000" dirty="0">
                <a:solidFill>
                  <a:schemeClr val="tx1"/>
                </a:solidFill>
              </a:rPr>
              <a:t>Suppose that we have a collection of random variables </a:t>
            </a:r>
            <a:r>
              <a:rPr lang="en-US" altLang="ja-JP" sz="2000" b="1" i="1" dirty="0">
                <a:solidFill>
                  <a:schemeClr val="tx1"/>
                </a:solidFill>
              </a:rPr>
              <a:t>Y</a:t>
            </a:r>
            <a:r>
              <a:rPr lang="en-US" altLang="ja-JP" sz="2000" b="1" i="1" baseline="-25000" dirty="0">
                <a:solidFill>
                  <a:schemeClr val="tx1"/>
                </a:solidFill>
              </a:rPr>
              <a:t>1,</a:t>
            </a:r>
            <a:r>
              <a:rPr lang="en-US" altLang="ja-JP" sz="2000" b="1" i="1" dirty="0">
                <a:solidFill>
                  <a:schemeClr val="tx1"/>
                </a:solidFill>
              </a:rPr>
              <a:t> Y</a:t>
            </a:r>
            <a:r>
              <a:rPr lang="en-US" altLang="ja-JP" sz="2000" b="1" i="1" baseline="-25000" dirty="0">
                <a:solidFill>
                  <a:schemeClr val="tx1"/>
                </a:solidFill>
              </a:rPr>
              <a:t>2,</a:t>
            </a:r>
            <a:r>
              <a:rPr lang="en-US" altLang="ja-JP" sz="2000" b="1" i="1" dirty="0">
                <a:solidFill>
                  <a:schemeClr val="tx1"/>
                </a:solidFill>
              </a:rPr>
              <a:t> … </a:t>
            </a:r>
            <a:r>
              <a:rPr lang="en-US" altLang="ja-JP" sz="2000" b="1" i="1" dirty="0" err="1">
                <a:solidFill>
                  <a:schemeClr val="tx1"/>
                </a:solidFill>
              </a:rPr>
              <a:t>Y</a:t>
            </a:r>
            <a:r>
              <a:rPr lang="en-US" altLang="ja-JP" sz="2000" b="1" i="1" baseline="-25000" dirty="0" err="1">
                <a:solidFill>
                  <a:schemeClr val="tx1"/>
                </a:solidFill>
              </a:rPr>
              <a:t>n</a:t>
            </a:r>
            <a:r>
              <a:rPr lang="en-US" altLang="ja-JP" sz="2000" dirty="0">
                <a:solidFill>
                  <a:schemeClr val="tx1"/>
                </a:solidFill>
              </a:rPr>
              <a:t>. </a:t>
            </a:r>
          </a:p>
          <a:p>
            <a:pPr>
              <a:lnSpc>
                <a:spcPct val="100000"/>
              </a:lnSpc>
            </a:pPr>
            <a:r>
              <a:rPr lang="en-US" altLang="ja-JP" sz="2000" dirty="0">
                <a:solidFill>
                  <a:schemeClr val="tx1"/>
                </a:solidFill>
              </a:rPr>
              <a:t>We can form a new variable </a:t>
            </a:r>
            <a:r>
              <a:rPr lang="en-US" altLang="ja-JP" sz="2000" b="1" i="1" dirty="0">
                <a:solidFill>
                  <a:schemeClr val="tx1"/>
                </a:solidFill>
              </a:rPr>
              <a:t>Z</a:t>
            </a:r>
            <a:r>
              <a:rPr lang="en-US" altLang="ja-JP" sz="2000" dirty="0">
                <a:solidFill>
                  <a:schemeClr val="tx1"/>
                </a:solidFill>
              </a:rPr>
              <a:t> as a </a:t>
            </a:r>
            <a:r>
              <a:rPr lang="en-US" altLang="ja-JP" sz="2000" b="1" i="1" dirty="0">
                <a:solidFill>
                  <a:schemeClr val="tx1"/>
                </a:solidFill>
              </a:rPr>
              <a:t>linear combination </a:t>
            </a:r>
            <a:r>
              <a:rPr lang="en-US" altLang="ja-JP" sz="2000" dirty="0">
                <a:solidFill>
                  <a:schemeClr val="tx1"/>
                </a:solidFill>
              </a:rPr>
              <a:t> of this collection such that…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BE186E23-7D2D-4CF0-8FBB-5CADCBB44C53}"/>
              </a:ext>
            </a:extLst>
          </p:cNvPr>
          <p:cNvSpPr txBox="1">
            <a:spLocks/>
          </p:cNvSpPr>
          <p:nvPr/>
        </p:nvSpPr>
        <p:spPr>
          <a:xfrm>
            <a:off x="475153" y="2257859"/>
            <a:ext cx="11553074" cy="74126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endParaRPr lang="en-US" altLang="ja-JP" sz="2000" dirty="0">
              <a:latin typeface="Gidol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2F9A27B-7A5E-448F-A3C7-2A2DC67076AB}"/>
                  </a:ext>
                </a:extLst>
              </p:cNvPr>
              <p:cNvSpPr txBox="1"/>
              <p:nvPr/>
            </p:nvSpPr>
            <p:spPr>
              <a:xfrm>
                <a:off x="3032078" y="2548993"/>
                <a:ext cx="6127844" cy="9312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𝒁</m:t>
                      </m:r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sSub>
                            <m:sSubPr>
                              <m:ctrlP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e>
                            <m:sub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nary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=  </m:t>
                      </m:r>
                      <m:sSub>
                        <m:sSubPr>
                          <m:ctrlP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  <m:sub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+  </m:t>
                      </m:r>
                      <m:sSub>
                        <m:sSubPr>
                          <m:ctrlP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  <m:sub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+  </m:t>
                      </m:r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 +  </m:t>
                      </m:r>
                      <m:sSub>
                        <m:sSubPr>
                          <m:ctrlP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𝒀</m:t>
                          </m:r>
                        </m:e>
                        <m:sub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</m:oMath>
                  </m:oMathPara>
                </a14:m>
                <a:endParaRPr lang="en-NZ" sz="20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2F9A27B-7A5E-448F-A3C7-2A2DC67076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2078" y="2548993"/>
                <a:ext cx="6127844" cy="93121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Placeholder 5">
                <a:extLst>
                  <a:ext uri="{FF2B5EF4-FFF2-40B4-BE49-F238E27FC236}">
                    <a16:creationId xmlns:a16="http://schemas.microsoft.com/office/drawing/2014/main" id="{8CE83DB3-998D-4277-B7D4-EBA999C5768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5153" y="3600586"/>
                <a:ext cx="11553074" cy="741267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:r>
                  <a:rPr lang="en-US" altLang="ja-JP" sz="2000" dirty="0">
                    <a:solidFill>
                      <a:schemeClr val="tx1"/>
                    </a:solidFill>
                  </a:rPr>
                  <a:t>…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NZ" altLang="ja-JP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NZ" altLang="ja-JP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NZ" altLang="ja-JP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 </m:t>
                    </m:r>
                    <m:r>
                      <a:rPr lang="en-NZ" altLang="ja-JP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  <m:r>
                      <a:rPr lang="en-NZ" altLang="ja-JP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∀  </m:t>
                    </m:r>
                    <m:r>
                      <a:rPr lang="en-NZ" altLang="ja-JP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NZ" altLang="ja-JP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 …, </m:t>
                    </m:r>
                    <m:r>
                      <a:rPr lang="en-NZ" altLang="ja-JP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ja-JP" sz="20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0" name="Text Placeholder 5">
                <a:extLst>
                  <a:ext uri="{FF2B5EF4-FFF2-40B4-BE49-F238E27FC236}">
                    <a16:creationId xmlns:a16="http://schemas.microsoft.com/office/drawing/2014/main" id="{8CE83DB3-998D-4277-B7D4-EBA999C576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153" y="3600586"/>
                <a:ext cx="11553074" cy="741267"/>
              </a:xfrm>
              <a:prstGeom prst="rect">
                <a:avLst/>
              </a:prstGeom>
              <a:blipFill>
                <a:blip r:embed="rId4"/>
                <a:stretch>
                  <a:fillRect l="-580" t="-4959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240FF68A-97D0-498F-A9F9-77B648784933}"/>
              </a:ext>
            </a:extLst>
          </p:cNvPr>
          <p:cNvSpPr txBox="1">
            <a:spLocks/>
          </p:cNvSpPr>
          <p:nvPr/>
        </p:nvSpPr>
        <p:spPr>
          <a:xfrm>
            <a:off x="475153" y="4445443"/>
            <a:ext cx="11553074" cy="74126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US" altLang="ja-JP" sz="2000" dirty="0">
                <a:solidFill>
                  <a:schemeClr val="tx1"/>
                </a:solidFill>
              </a:rPr>
              <a:t>The expectation and variance of a linear combination is easily obtained in terms of the expectations and variances of the original variables.</a:t>
            </a:r>
          </a:p>
        </p:txBody>
      </p:sp>
    </p:spTree>
    <p:extLst>
      <p:ext uri="{BB962C8B-B14F-4D97-AF65-F5344CB8AC3E}">
        <p14:creationId xmlns:p14="http://schemas.microsoft.com/office/powerpoint/2010/main" val="28847219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6733"/>
            <a:ext cx="2185386" cy="741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4AD89C-DF1E-4948-B597-5DD47B34A9CA}" type="slidenum">
              <a:rPr kumimoji="1" lang="ja-JP" altLang="en-US" smtClean="0">
                <a:solidFill>
                  <a:srgbClr val="575454">
                    <a:lumMod val="20000"/>
                    <a:lumOff val="80000"/>
                  </a:srgbClr>
                </a:solidFill>
                <a:latin typeface="Coo Hew"/>
              </a:rPr>
              <a:pPr/>
              <a:t>34</a:t>
            </a:fld>
            <a:endParaRPr kumimoji="1" lang="ja-JP" altLang="en-US" dirty="0">
              <a:solidFill>
                <a:srgbClr val="575454">
                  <a:lumMod val="20000"/>
                  <a:lumOff val="80000"/>
                </a:srgbClr>
              </a:solidFill>
              <a:latin typeface="Coo Hew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DCE95AA1-F247-4D03-9A84-A08A95E2EB81}"/>
              </a:ext>
            </a:extLst>
          </p:cNvPr>
          <p:cNvSpPr txBox="1">
            <a:spLocks/>
          </p:cNvSpPr>
          <p:nvPr/>
        </p:nvSpPr>
        <p:spPr>
          <a:xfrm>
            <a:off x="319463" y="310113"/>
            <a:ext cx="8168429" cy="607201"/>
          </a:xfrm>
          <a:prstGeom prst="rect">
            <a:avLst/>
          </a:prstGeom>
        </p:spPr>
        <p:txBody>
          <a:bodyPr anchor="t">
            <a:normAutofit fontScale="92500"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b="1" u="sng" dirty="0">
                <a:latin typeface="+mn-lt"/>
              </a:rPr>
              <a:t>1.4b - Expectation of Linear Combinations:</a:t>
            </a:r>
            <a:endParaRPr lang="ja-JP" altLang="en-US" b="1" u="sng" dirty="0">
              <a:latin typeface="+mn-lt"/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CF0EF27-D66E-440A-ADCA-1A987E76987F}"/>
              </a:ext>
            </a:extLst>
          </p:cNvPr>
          <p:cNvSpPr txBox="1">
            <a:spLocks/>
          </p:cNvSpPr>
          <p:nvPr/>
        </p:nvSpPr>
        <p:spPr>
          <a:xfrm>
            <a:off x="319463" y="1133968"/>
            <a:ext cx="11553074" cy="74126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US" altLang="ja-JP" sz="2000" dirty="0">
                <a:solidFill>
                  <a:schemeClr val="tx1"/>
                </a:solidFill>
              </a:rPr>
              <a:t>Suppose that we have a collection of random variables </a:t>
            </a:r>
            <a:r>
              <a:rPr lang="en-US" altLang="ja-JP" sz="2000" b="1" i="1" dirty="0">
                <a:solidFill>
                  <a:schemeClr val="tx1"/>
                </a:solidFill>
              </a:rPr>
              <a:t>Y</a:t>
            </a:r>
            <a:r>
              <a:rPr lang="en-US" altLang="ja-JP" sz="2000" b="1" i="1" baseline="-25000" dirty="0">
                <a:solidFill>
                  <a:schemeClr val="tx1"/>
                </a:solidFill>
              </a:rPr>
              <a:t>1,</a:t>
            </a:r>
            <a:r>
              <a:rPr lang="en-US" altLang="ja-JP" sz="2000" b="1" i="1" dirty="0">
                <a:solidFill>
                  <a:schemeClr val="tx1"/>
                </a:solidFill>
              </a:rPr>
              <a:t> Y</a:t>
            </a:r>
            <a:r>
              <a:rPr lang="en-US" altLang="ja-JP" sz="2000" b="1" i="1" baseline="-25000" dirty="0">
                <a:solidFill>
                  <a:schemeClr val="tx1"/>
                </a:solidFill>
              </a:rPr>
              <a:t>2,</a:t>
            </a:r>
            <a:r>
              <a:rPr lang="en-US" altLang="ja-JP" sz="2000" b="1" i="1" dirty="0">
                <a:solidFill>
                  <a:schemeClr val="tx1"/>
                </a:solidFill>
              </a:rPr>
              <a:t> … </a:t>
            </a:r>
            <a:r>
              <a:rPr lang="en-US" altLang="ja-JP" sz="2000" b="1" i="1" dirty="0" err="1">
                <a:solidFill>
                  <a:schemeClr val="tx1"/>
                </a:solidFill>
              </a:rPr>
              <a:t>Y</a:t>
            </a:r>
            <a:r>
              <a:rPr lang="en-US" altLang="ja-JP" sz="2000" b="1" i="1" baseline="-25000" dirty="0" err="1">
                <a:solidFill>
                  <a:schemeClr val="tx1"/>
                </a:solidFill>
              </a:rPr>
              <a:t>n</a:t>
            </a:r>
            <a:r>
              <a:rPr lang="en-US" altLang="ja-JP" sz="2000" b="1" i="1" dirty="0">
                <a:solidFill>
                  <a:schemeClr val="tx1"/>
                </a:solidFill>
              </a:rPr>
              <a:t> </a:t>
            </a:r>
            <a:r>
              <a:rPr lang="en-US" altLang="ja-JP" sz="2000" dirty="0">
                <a:solidFill>
                  <a:schemeClr val="tx1"/>
                </a:solidFill>
              </a:rPr>
              <a:t>and we form the linear combination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BE186E23-7D2D-4CF0-8FBB-5CADCBB44C53}"/>
              </a:ext>
            </a:extLst>
          </p:cNvPr>
          <p:cNvSpPr txBox="1">
            <a:spLocks/>
          </p:cNvSpPr>
          <p:nvPr/>
        </p:nvSpPr>
        <p:spPr>
          <a:xfrm>
            <a:off x="475153" y="2257859"/>
            <a:ext cx="11553074" cy="74126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endParaRPr lang="en-US" altLang="ja-JP" sz="2000" dirty="0">
              <a:latin typeface="Gidol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2F9A27B-7A5E-448F-A3C7-2A2DC67076AB}"/>
                  </a:ext>
                </a:extLst>
              </p:cNvPr>
              <p:cNvSpPr txBox="1"/>
              <p:nvPr/>
            </p:nvSpPr>
            <p:spPr>
              <a:xfrm>
                <a:off x="3032078" y="1492611"/>
                <a:ext cx="6127844" cy="9312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𝒁</m:t>
                      </m:r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sSub>
                            <m:sSubPr>
                              <m:ctrlP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e>
                            <m:sub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nary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=  </m:t>
                      </m:r>
                      <m:sSub>
                        <m:sSubPr>
                          <m:ctrlP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  <m:sub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+  </m:t>
                      </m:r>
                      <m:sSub>
                        <m:sSubPr>
                          <m:ctrlP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  <m:sub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+  </m:t>
                      </m:r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 +  </m:t>
                      </m:r>
                      <m:sSub>
                        <m:sSubPr>
                          <m:ctrlP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𝒀</m:t>
                          </m:r>
                        </m:e>
                        <m:sub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</m:oMath>
                  </m:oMathPara>
                </a14:m>
                <a:endParaRPr lang="en-NZ" sz="20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2F9A27B-7A5E-448F-A3C7-2A2DC67076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2078" y="1492611"/>
                <a:ext cx="6127844" cy="93121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7C594B6-C5FA-45B7-B955-74FD2CF2E7B9}"/>
              </a:ext>
            </a:extLst>
          </p:cNvPr>
          <p:cNvSpPr txBox="1">
            <a:spLocks/>
          </p:cNvSpPr>
          <p:nvPr/>
        </p:nvSpPr>
        <p:spPr>
          <a:xfrm>
            <a:off x="319463" y="2628492"/>
            <a:ext cx="11553074" cy="6361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US" altLang="ja-JP" sz="2000" dirty="0">
                <a:solidFill>
                  <a:schemeClr val="tx1"/>
                </a:solidFill>
              </a:rPr>
              <a:t>Then using the linearity property of expectations, we have that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C32F919-1FFF-4000-A845-A22384B2D000}"/>
                  </a:ext>
                </a:extLst>
              </p:cNvPr>
              <p:cNvSpPr txBox="1"/>
              <p:nvPr/>
            </p:nvSpPr>
            <p:spPr>
              <a:xfrm>
                <a:off x="3028667" y="3022633"/>
                <a:ext cx="6127844" cy="9312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NZ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begChr m:val="["/>
                          <m:endChr m:val="]"/>
                          <m:ctrlPr>
                            <a:rPr lang="en-NZ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</m:d>
                      <m:r>
                        <a:rPr lang="en-NZ" sz="20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=   </m:t>
                      </m:r>
                      <m:r>
                        <a:rPr lang="en-NZ" sz="20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𝐄</m:t>
                      </m:r>
                      <m:d>
                        <m:dPr>
                          <m:begChr m:val="["/>
                          <m:endChr m:val="]"/>
                          <m:ctrlPr>
                            <a:rPr lang="en-NZ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nary>
                            <m:naryPr>
                              <m:chr m:val="∑"/>
                              <m:ctrlP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𝒀</m:t>
                                  </m:r>
                                </m:e>
                                <m:sub>
                                  <m: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nary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NZ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= </m:t>
                      </m:r>
                      <m:nary>
                        <m:naryPr>
                          <m:chr m:val="∑"/>
                          <m:ctrlP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sSub>
                            <m:sSubPr>
                              <m:ctrlP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𝑬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𝒀</m:t>
                                  </m:r>
                                </m:e>
                                <m:sub>
                                  <m: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NZ" sz="20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C32F919-1FFF-4000-A845-A22384B2D0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8667" y="3022633"/>
                <a:ext cx="6127844" cy="93121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0D9B18E-E7D9-4A64-BD20-63EAD6A21DAB}"/>
                  </a:ext>
                </a:extLst>
              </p:cNvPr>
              <p:cNvSpPr txBox="1"/>
              <p:nvPr/>
            </p:nvSpPr>
            <p:spPr>
              <a:xfrm>
                <a:off x="8987051" y="3288186"/>
                <a:ext cx="91439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NZ" sz="20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0D9B18E-E7D9-4A64-BD20-63EAD6A21D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7051" y="3288186"/>
                <a:ext cx="914399" cy="400110"/>
              </a:xfrm>
              <a:prstGeom prst="rect">
                <a:avLst/>
              </a:prstGeom>
              <a:blipFill>
                <a:blip r:embed="rId5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Placeholder 5">
                <a:extLst>
                  <a:ext uri="{FF2B5EF4-FFF2-40B4-BE49-F238E27FC236}">
                    <a16:creationId xmlns:a16="http://schemas.microsoft.com/office/drawing/2014/main" id="{24660E97-E53C-4F63-87FF-77526AA116B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6052" y="4363646"/>
                <a:ext cx="11553074" cy="454491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:r>
                  <a:rPr lang="en-US" altLang="ja-JP" sz="2000" dirty="0">
                    <a:solidFill>
                      <a:schemeClr val="tx1"/>
                    </a:solidFill>
                  </a:rPr>
                  <a:t>Note that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NZ" altLang="ja-JP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NZ" altLang="ja-JP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NZ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NZ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NZ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NZ" altLang="ja-JP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∀ </m:t>
                    </m:r>
                    <m:r>
                      <a:rPr lang="en-NZ" altLang="ja-JP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NZ" altLang="ja-JP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=1, …, </m:t>
                    </m:r>
                    <m:r>
                      <a:rPr lang="en-NZ" altLang="ja-JP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ja-JP" sz="2000" dirty="0">
                    <a:solidFill>
                      <a:schemeClr val="tx1"/>
                    </a:solidFill>
                  </a:rPr>
                  <a:t>  then equation (1) becomes</a:t>
                </a:r>
              </a:p>
            </p:txBody>
          </p:sp>
        </mc:Choice>
        <mc:Fallback xmlns="">
          <p:sp>
            <p:nvSpPr>
              <p:cNvPr id="15" name="Text Placeholder 5">
                <a:extLst>
                  <a:ext uri="{FF2B5EF4-FFF2-40B4-BE49-F238E27FC236}">
                    <a16:creationId xmlns:a16="http://schemas.microsoft.com/office/drawing/2014/main" id="{24660E97-E53C-4F63-87FF-77526AA116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052" y="4363646"/>
                <a:ext cx="11553074" cy="454491"/>
              </a:xfrm>
              <a:prstGeom prst="rect">
                <a:avLst/>
              </a:prstGeom>
              <a:blipFill>
                <a:blip r:embed="rId6"/>
                <a:stretch>
                  <a:fillRect l="-580" t="-8108" b="-12162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E0AA277-9489-4174-81E2-9F0C534A6190}"/>
                  </a:ext>
                </a:extLst>
              </p:cNvPr>
              <p:cNvSpPr txBox="1"/>
              <p:nvPr/>
            </p:nvSpPr>
            <p:spPr>
              <a:xfrm>
                <a:off x="0" y="4805721"/>
                <a:ext cx="6127844" cy="9312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NZ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begChr m:val="["/>
                          <m:endChr m:val="]"/>
                          <m:ctrlPr>
                            <a:rPr lang="en-NZ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</m:d>
                      <m:r>
                        <a:rPr lang="en-NZ" sz="20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=   </m:t>
                      </m:r>
                      <m:r>
                        <a:rPr lang="en-NZ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nary>
                        <m:naryPr>
                          <m:chr m:val="∑"/>
                          <m:ctrlP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𝑬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𝒀</m:t>
                                  </m:r>
                                </m:e>
                                <m:sub>
                                  <m: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NZ" sz="20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E0AA277-9489-4174-81E2-9F0C534A61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805721"/>
                <a:ext cx="6127844" cy="93121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Footer Placeholder 2">
            <a:extLst>
              <a:ext uri="{FF2B5EF4-FFF2-40B4-BE49-F238E27FC236}">
                <a16:creationId xmlns:a16="http://schemas.microsoft.com/office/drawing/2014/main" id="{66BFFE5E-67A5-089B-9F47-A7003F1DAB5E}"/>
              </a:ext>
            </a:extLst>
          </p:cNvPr>
          <p:cNvSpPr txBox="1">
            <a:spLocks/>
          </p:cNvSpPr>
          <p:nvPr/>
        </p:nvSpPr>
        <p:spPr>
          <a:xfrm>
            <a:off x="8940800" y="86139"/>
            <a:ext cx="31485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1600" dirty="0">
                <a:solidFill>
                  <a:srgbClr val="DEDDDD"/>
                </a:solidFill>
                <a:latin typeface="Gidole"/>
              </a:rPr>
              <a:t>1.4 - Linear Combinations of RVs</a:t>
            </a:r>
            <a:endParaRPr kumimoji="1" lang="ja-JP" altLang="en-US" sz="1600" dirty="0">
              <a:solidFill>
                <a:srgbClr val="DEDDDD"/>
              </a:solidFill>
              <a:latin typeface="Gidole"/>
            </a:endParaRPr>
          </a:p>
        </p:txBody>
      </p:sp>
    </p:spTree>
    <p:extLst>
      <p:ext uri="{BB962C8B-B14F-4D97-AF65-F5344CB8AC3E}">
        <p14:creationId xmlns:p14="http://schemas.microsoft.com/office/powerpoint/2010/main" val="1745593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6733"/>
            <a:ext cx="2185386" cy="741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4AD89C-DF1E-4948-B597-5DD47B34A9CA}" type="slidenum">
              <a:rPr kumimoji="1" lang="ja-JP" altLang="en-US" smtClean="0">
                <a:solidFill>
                  <a:srgbClr val="575454">
                    <a:lumMod val="20000"/>
                    <a:lumOff val="80000"/>
                  </a:srgbClr>
                </a:solidFill>
                <a:latin typeface="Coo Hew"/>
              </a:rPr>
              <a:pPr/>
              <a:t>35</a:t>
            </a:fld>
            <a:endParaRPr kumimoji="1" lang="ja-JP" altLang="en-US" dirty="0">
              <a:solidFill>
                <a:srgbClr val="575454">
                  <a:lumMod val="20000"/>
                  <a:lumOff val="80000"/>
                </a:srgbClr>
              </a:solidFill>
              <a:latin typeface="Coo Hew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DCE95AA1-F247-4D03-9A84-A08A95E2EB81}"/>
              </a:ext>
            </a:extLst>
          </p:cNvPr>
          <p:cNvSpPr txBox="1">
            <a:spLocks/>
          </p:cNvSpPr>
          <p:nvPr/>
        </p:nvSpPr>
        <p:spPr>
          <a:xfrm>
            <a:off x="319463" y="310113"/>
            <a:ext cx="8168429" cy="607201"/>
          </a:xfrm>
          <a:prstGeom prst="rect">
            <a:avLst/>
          </a:prstGeom>
        </p:spPr>
        <p:txBody>
          <a:bodyPr anchor="t">
            <a:normAutofit fontScale="92500"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b="1" u="sng" dirty="0">
                <a:latin typeface="+mn-lt"/>
              </a:rPr>
              <a:t>1.4b - Expectation of Linear Combinations:</a:t>
            </a:r>
            <a:endParaRPr lang="ja-JP" altLang="en-US" b="1" u="sng" dirty="0">
              <a:latin typeface="+mn-lt"/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CF0EF27-D66E-440A-ADCA-1A987E76987F}"/>
              </a:ext>
            </a:extLst>
          </p:cNvPr>
          <p:cNvSpPr txBox="1">
            <a:spLocks/>
          </p:cNvSpPr>
          <p:nvPr/>
        </p:nvSpPr>
        <p:spPr>
          <a:xfrm>
            <a:off x="319463" y="1133968"/>
            <a:ext cx="11553074" cy="74126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US" altLang="ja-JP" sz="2000" dirty="0">
                <a:solidFill>
                  <a:schemeClr val="tx1"/>
                </a:solidFill>
              </a:rPr>
              <a:t>Suppose that we have a collection of random variables </a:t>
            </a:r>
            <a:r>
              <a:rPr lang="en-US" altLang="ja-JP" sz="2000" b="1" i="1" dirty="0">
                <a:solidFill>
                  <a:schemeClr val="tx1"/>
                </a:solidFill>
              </a:rPr>
              <a:t>Y</a:t>
            </a:r>
            <a:r>
              <a:rPr lang="en-US" altLang="ja-JP" sz="2000" b="1" i="1" baseline="-25000" dirty="0">
                <a:solidFill>
                  <a:schemeClr val="tx1"/>
                </a:solidFill>
              </a:rPr>
              <a:t>1,</a:t>
            </a:r>
            <a:r>
              <a:rPr lang="en-US" altLang="ja-JP" sz="2000" b="1" i="1" dirty="0">
                <a:solidFill>
                  <a:schemeClr val="tx1"/>
                </a:solidFill>
              </a:rPr>
              <a:t> Y</a:t>
            </a:r>
            <a:r>
              <a:rPr lang="en-US" altLang="ja-JP" sz="2000" b="1" i="1" baseline="-25000" dirty="0">
                <a:solidFill>
                  <a:schemeClr val="tx1"/>
                </a:solidFill>
              </a:rPr>
              <a:t>2,</a:t>
            </a:r>
            <a:r>
              <a:rPr lang="en-US" altLang="ja-JP" sz="2000" b="1" i="1" dirty="0">
                <a:solidFill>
                  <a:schemeClr val="tx1"/>
                </a:solidFill>
              </a:rPr>
              <a:t> … </a:t>
            </a:r>
            <a:r>
              <a:rPr lang="en-US" altLang="ja-JP" sz="2000" b="1" i="1" dirty="0" err="1">
                <a:solidFill>
                  <a:schemeClr val="tx1"/>
                </a:solidFill>
              </a:rPr>
              <a:t>Y</a:t>
            </a:r>
            <a:r>
              <a:rPr lang="en-US" altLang="ja-JP" sz="2000" b="1" i="1" baseline="-25000" dirty="0" err="1">
                <a:solidFill>
                  <a:schemeClr val="tx1"/>
                </a:solidFill>
              </a:rPr>
              <a:t>n</a:t>
            </a:r>
            <a:r>
              <a:rPr lang="en-US" altLang="ja-JP" sz="2000" b="1" i="1" dirty="0">
                <a:solidFill>
                  <a:schemeClr val="tx1"/>
                </a:solidFill>
              </a:rPr>
              <a:t> </a:t>
            </a:r>
            <a:r>
              <a:rPr lang="en-US" altLang="ja-JP" sz="2000" dirty="0">
                <a:solidFill>
                  <a:schemeClr val="tx1"/>
                </a:solidFill>
              </a:rPr>
              <a:t>and we form the linear combination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BE186E23-7D2D-4CF0-8FBB-5CADCBB44C53}"/>
              </a:ext>
            </a:extLst>
          </p:cNvPr>
          <p:cNvSpPr txBox="1">
            <a:spLocks/>
          </p:cNvSpPr>
          <p:nvPr/>
        </p:nvSpPr>
        <p:spPr>
          <a:xfrm>
            <a:off x="475153" y="2257859"/>
            <a:ext cx="11553074" cy="74126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endParaRPr lang="en-US" altLang="ja-JP" sz="2000" dirty="0">
              <a:latin typeface="Gidol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2F9A27B-7A5E-448F-A3C7-2A2DC67076AB}"/>
                  </a:ext>
                </a:extLst>
              </p:cNvPr>
              <p:cNvSpPr txBox="1"/>
              <p:nvPr/>
            </p:nvSpPr>
            <p:spPr>
              <a:xfrm>
                <a:off x="3032078" y="1492611"/>
                <a:ext cx="6127844" cy="9312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𝒁</m:t>
                      </m:r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sSub>
                            <m:sSubPr>
                              <m:ctrlP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e>
                            <m:sub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nary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=  </m:t>
                      </m:r>
                      <m:sSub>
                        <m:sSubPr>
                          <m:ctrlP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  <m:sub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+  </m:t>
                      </m:r>
                      <m:sSub>
                        <m:sSubPr>
                          <m:ctrlP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  <m:sub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+  </m:t>
                      </m:r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 +  </m:t>
                      </m:r>
                      <m:sSub>
                        <m:sSubPr>
                          <m:ctrlP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𝒀</m:t>
                          </m:r>
                        </m:e>
                        <m:sub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</m:oMath>
                  </m:oMathPara>
                </a14:m>
                <a:endParaRPr lang="en-NZ" sz="20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2F9A27B-7A5E-448F-A3C7-2A2DC67076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2078" y="1492611"/>
                <a:ext cx="6127844" cy="93121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7C594B6-C5FA-45B7-B955-74FD2CF2E7B9}"/>
              </a:ext>
            </a:extLst>
          </p:cNvPr>
          <p:cNvSpPr txBox="1">
            <a:spLocks/>
          </p:cNvSpPr>
          <p:nvPr/>
        </p:nvSpPr>
        <p:spPr>
          <a:xfrm>
            <a:off x="319463" y="2628492"/>
            <a:ext cx="11553074" cy="6361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US" altLang="ja-JP" sz="2000" dirty="0">
                <a:solidFill>
                  <a:schemeClr val="tx1"/>
                </a:solidFill>
              </a:rPr>
              <a:t>Then using the linearity property of expectations, we have that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C32F919-1FFF-4000-A845-A22384B2D000}"/>
                  </a:ext>
                </a:extLst>
              </p:cNvPr>
              <p:cNvSpPr txBox="1"/>
              <p:nvPr/>
            </p:nvSpPr>
            <p:spPr>
              <a:xfrm>
                <a:off x="3028667" y="3022633"/>
                <a:ext cx="6127844" cy="9312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NZ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begChr m:val="["/>
                          <m:endChr m:val="]"/>
                          <m:ctrlPr>
                            <a:rPr lang="en-NZ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</m:d>
                      <m:r>
                        <a:rPr lang="en-NZ" sz="20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=   </m:t>
                      </m:r>
                      <m:r>
                        <a:rPr lang="en-NZ" sz="20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𝐄</m:t>
                      </m:r>
                      <m:d>
                        <m:dPr>
                          <m:begChr m:val="["/>
                          <m:endChr m:val="]"/>
                          <m:ctrlPr>
                            <a:rPr lang="en-NZ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nary>
                            <m:naryPr>
                              <m:chr m:val="∑"/>
                              <m:ctrlP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𝒀</m:t>
                                  </m:r>
                                </m:e>
                                <m:sub>
                                  <m: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nary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NZ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= </m:t>
                      </m:r>
                      <m:nary>
                        <m:naryPr>
                          <m:chr m:val="∑"/>
                          <m:ctrlP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sSub>
                            <m:sSubPr>
                              <m:ctrlP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𝑬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𝒀</m:t>
                                  </m:r>
                                </m:e>
                                <m:sub>
                                  <m: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NZ" sz="20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C32F919-1FFF-4000-A845-A22384B2D0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8667" y="3022633"/>
                <a:ext cx="6127844" cy="93121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0D9B18E-E7D9-4A64-BD20-63EAD6A21DAB}"/>
                  </a:ext>
                </a:extLst>
              </p:cNvPr>
              <p:cNvSpPr txBox="1"/>
              <p:nvPr/>
            </p:nvSpPr>
            <p:spPr>
              <a:xfrm>
                <a:off x="8987051" y="3288186"/>
                <a:ext cx="91439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NZ" sz="20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0D9B18E-E7D9-4A64-BD20-63EAD6A21D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7051" y="3288186"/>
                <a:ext cx="914399" cy="400110"/>
              </a:xfrm>
              <a:prstGeom prst="rect">
                <a:avLst/>
              </a:prstGeom>
              <a:blipFill>
                <a:blip r:embed="rId5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Placeholder 5">
                <a:extLst>
                  <a:ext uri="{FF2B5EF4-FFF2-40B4-BE49-F238E27FC236}">
                    <a16:creationId xmlns:a16="http://schemas.microsoft.com/office/drawing/2014/main" id="{24660E97-E53C-4F63-87FF-77526AA116B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6052" y="4363646"/>
                <a:ext cx="11553074" cy="454491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:r>
                  <a:rPr lang="en-US" altLang="ja-JP" sz="2000" dirty="0">
                    <a:solidFill>
                      <a:schemeClr val="tx1"/>
                    </a:solidFill>
                  </a:rPr>
                  <a:t>Note that if </a:t>
                </a:r>
                <a14:m>
                  <m:oMath xmlns:m="http://schemas.openxmlformats.org/officeDocument/2006/math">
                    <m:r>
                      <a:rPr lang="en-NZ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NZ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NZ" altLang="ja-JP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lang="en-NZ" altLang="ja-JP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NZ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]=</m:t>
                    </m:r>
                    <m:r>
                      <a:rPr lang="en-NZ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𝝁</m:t>
                    </m:r>
                    <m:r>
                      <a:rPr lang="en-NZ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NZ" altLang="ja-JP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∀ </m:t>
                    </m:r>
                    <m:r>
                      <a:rPr lang="en-NZ" altLang="ja-JP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NZ" altLang="ja-JP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=1, …, </m:t>
                    </m:r>
                    <m:r>
                      <a:rPr lang="en-NZ" altLang="ja-JP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ja-JP" sz="2000" dirty="0">
                    <a:solidFill>
                      <a:schemeClr val="tx1"/>
                    </a:solidFill>
                  </a:rPr>
                  <a:t>  then equation (1) becomes</a:t>
                </a:r>
              </a:p>
            </p:txBody>
          </p:sp>
        </mc:Choice>
        <mc:Fallback xmlns="">
          <p:sp>
            <p:nvSpPr>
              <p:cNvPr id="15" name="Text Placeholder 5">
                <a:extLst>
                  <a:ext uri="{FF2B5EF4-FFF2-40B4-BE49-F238E27FC236}">
                    <a16:creationId xmlns:a16="http://schemas.microsoft.com/office/drawing/2014/main" id="{24660E97-E53C-4F63-87FF-77526AA116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052" y="4363646"/>
                <a:ext cx="11553074" cy="454491"/>
              </a:xfrm>
              <a:prstGeom prst="rect">
                <a:avLst/>
              </a:prstGeom>
              <a:blipFill>
                <a:blip r:embed="rId6"/>
                <a:stretch>
                  <a:fillRect l="-580" t="-8108" b="-12162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E0AA277-9489-4174-81E2-9F0C534A6190}"/>
                  </a:ext>
                </a:extLst>
              </p:cNvPr>
              <p:cNvSpPr txBox="1"/>
              <p:nvPr/>
            </p:nvSpPr>
            <p:spPr>
              <a:xfrm>
                <a:off x="0" y="4786837"/>
                <a:ext cx="6127844" cy="9312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NZ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begChr m:val="["/>
                          <m:endChr m:val="]"/>
                          <m:ctrlPr>
                            <a:rPr lang="en-NZ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</m:d>
                      <m:r>
                        <a:rPr lang="en-NZ" sz="20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=   </m:t>
                      </m:r>
                      <m:r>
                        <a:rPr lang="en-NZ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𝝁</m:t>
                      </m:r>
                      <m:nary>
                        <m:naryPr>
                          <m:chr m:val="∑"/>
                          <m:ctrlP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NZ" sz="20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E0AA277-9489-4174-81E2-9F0C534A61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786837"/>
                <a:ext cx="6127844" cy="93121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Footer Placeholder 2">
            <a:extLst>
              <a:ext uri="{FF2B5EF4-FFF2-40B4-BE49-F238E27FC236}">
                <a16:creationId xmlns:a16="http://schemas.microsoft.com/office/drawing/2014/main" id="{36C78599-491D-297D-9BAB-10401DF38EBF}"/>
              </a:ext>
            </a:extLst>
          </p:cNvPr>
          <p:cNvSpPr txBox="1">
            <a:spLocks/>
          </p:cNvSpPr>
          <p:nvPr/>
        </p:nvSpPr>
        <p:spPr>
          <a:xfrm>
            <a:off x="8940800" y="86139"/>
            <a:ext cx="31485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1600" dirty="0">
                <a:solidFill>
                  <a:srgbClr val="DEDDDD"/>
                </a:solidFill>
                <a:latin typeface="Gidole"/>
              </a:rPr>
              <a:t>1.4 - Linear Combinations of RVs</a:t>
            </a:r>
            <a:endParaRPr kumimoji="1" lang="ja-JP" altLang="en-US" sz="1600" dirty="0">
              <a:solidFill>
                <a:srgbClr val="DEDDDD"/>
              </a:solidFill>
              <a:latin typeface="Gidole"/>
            </a:endParaRPr>
          </a:p>
        </p:txBody>
      </p:sp>
    </p:spTree>
    <p:extLst>
      <p:ext uri="{BB962C8B-B14F-4D97-AF65-F5344CB8AC3E}">
        <p14:creationId xmlns:p14="http://schemas.microsoft.com/office/powerpoint/2010/main" val="3822023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6733"/>
            <a:ext cx="2185386" cy="741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4AD89C-DF1E-4948-B597-5DD47B34A9CA}" type="slidenum">
              <a:rPr kumimoji="1" lang="ja-JP" altLang="en-US" smtClean="0">
                <a:solidFill>
                  <a:srgbClr val="575454">
                    <a:lumMod val="20000"/>
                    <a:lumOff val="80000"/>
                  </a:srgbClr>
                </a:solidFill>
                <a:latin typeface="Coo Hew"/>
              </a:rPr>
              <a:pPr/>
              <a:t>36</a:t>
            </a:fld>
            <a:endParaRPr kumimoji="1" lang="ja-JP" altLang="en-US" dirty="0">
              <a:solidFill>
                <a:srgbClr val="575454">
                  <a:lumMod val="20000"/>
                  <a:lumOff val="80000"/>
                </a:srgbClr>
              </a:solidFill>
              <a:latin typeface="Coo Hew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DCE95AA1-F247-4D03-9A84-A08A95E2EB81}"/>
              </a:ext>
            </a:extLst>
          </p:cNvPr>
          <p:cNvSpPr txBox="1">
            <a:spLocks/>
          </p:cNvSpPr>
          <p:nvPr/>
        </p:nvSpPr>
        <p:spPr>
          <a:xfrm>
            <a:off x="319463" y="310113"/>
            <a:ext cx="8168429" cy="607201"/>
          </a:xfrm>
          <a:prstGeom prst="rect">
            <a:avLst/>
          </a:prstGeom>
        </p:spPr>
        <p:txBody>
          <a:bodyPr anchor="t">
            <a:normAutofit fontScale="92500"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b="1" u="sng" dirty="0">
                <a:latin typeface="+mn-lt"/>
              </a:rPr>
              <a:t>1.4b - Expectation of Linear Combinations:</a:t>
            </a:r>
            <a:endParaRPr lang="ja-JP" altLang="en-US" b="1" u="sng" dirty="0">
              <a:latin typeface="+mn-lt"/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CF0EF27-D66E-440A-ADCA-1A987E76987F}"/>
              </a:ext>
            </a:extLst>
          </p:cNvPr>
          <p:cNvSpPr txBox="1">
            <a:spLocks/>
          </p:cNvSpPr>
          <p:nvPr/>
        </p:nvSpPr>
        <p:spPr>
          <a:xfrm>
            <a:off x="319463" y="1133968"/>
            <a:ext cx="11553074" cy="74126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US" altLang="ja-JP" sz="2000" dirty="0">
                <a:solidFill>
                  <a:schemeClr val="tx1"/>
                </a:solidFill>
              </a:rPr>
              <a:t>Suppose that we have a collection of random variables </a:t>
            </a:r>
            <a:r>
              <a:rPr lang="en-US" altLang="ja-JP" sz="2000" b="1" i="1" dirty="0">
                <a:solidFill>
                  <a:schemeClr val="tx1"/>
                </a:solidFill>
              </a:rPr>
              <a:t>Y</a:t>
            </a:r>
            <a:r>
              <a:rPr lang="en-US" altLang="ja-JP" sz="2000" b="1" i="1" baseline="-25000" dirty="0">
                <a:solidFill>
                  <a:schemeClr val="tx1"/>
                </a:solidFill>
              </a:rPr>
              <a:t>1,</a:t>
            </a:r>
            <a:r>
              <a:rPr lang="en-US" altLang="ja-JP" sz="2000" b="1" i="1" dirty="0">
                <a:solidFill>
                  <a:schemeClr val="tx1"/>
                </a:solidFill>
              </a:rPr>
              <a:t> Y</a:t>
            </a:r>
            <a:r>
              <a:rPr lang="en-US" altLang="ja-JP" sz="2000" b="1" i="1" baseline="-25000" dirty="0">
                <a:solidFill>
                  <a:schemeClr val="tx1"/>
                </a:solidFill>
              </a:rPr>
              <a:t>2,</a:t>
            </a:r>
            <a:r>
              <a:rPr lang="en-US" altLang="ja-JP" sz="2000" b="1" i="1" dirty="0">
                <a:solidFill>
                  <a:schemeClr val="tx1"/>
                </a:solidFill>
              </a:rPr>
              <a:t> … </a:t>
            </a:r>
            <a:r>
              <a:rPr lang="en-US" altLang="ja-JP" sz="2000" b="1" i="1" dirty="0" err="1">
                <a:solidFill>
                  <a:schemeClr val="tx1"/>
                </a:solidFill>
              </a:rPr>
              <a:t>Y</a:t>
            </a:r>
            <a:r>
              <a:rPr lang="en-US" altLang="ja-JP" sz="2000" b="1" i="1" baseline="-25000" dirty="0" err="1">
                <a:solidFill>
                  <a:schemeClr val="tx1"/>
                </a:solidFill>
              </a:rPr>
              <a:t>n</a:t>
            </a:r>
            <a:r>
              <a:rPr lang="en-US" altLang="ja-JP" sz="2000" b="1" i="1" dirty="0">
                <a:solidFill>
                  <a:schemeClr val="tx1"/>
                </a:solidFill>
              </a:rPr>
              <a:t> </a:t>
            </a:r>
            <a:r>
              <a:rPr lang="en-US" altLang="ja-JP" sz="2000" dirty="0">
                <a:solidFill>
                  <a:schemeClr val="tx1"/>
                </a:solidFill>
              </a:rPr>
              <a:t>and we form the linear combination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BE186E23-7D2D-4CF0-8FBB-5CADCBB44C53}"/>
              </a:ext>
            </a:extLst>
          </p:cNvPr>
          <p:cNvSpPr txBox="1">
            <a:spLocks/>
          </p:cNvSpPr>
          <p:nvPr/>
        </p:nvSpPr>
        <p:spPr>
          <a:xfrm>
            <a:off x="475153" y="2257859"/>
            <a:ext cx="11553074" cy="74126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endParaRPr lang="en-US" altLang="ja-JP" sz="2000" dirty="0">
              <a:latin typeface="Gidol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2F9A27B-7A5E-448F-A3C7-2A2DC67076AB}"/>
                  </a:ext>
                </a:extLst>
              </p:cNvPr>
              <p:cNvSpPr txBox="1"/>
              <p:nvPr/>
            </p:nvSpPr>
            <p:spPr>
              <a:xfrm>
                <a:off x="3032078" y="1492611"/>
                <a:ext cx="6127844" cy="9312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𝒁</m:t>
                      </m:r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sSub>
                            <m:sSubPr>
                              <m:ctrlP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e>
                            <m:sub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nary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=  </m:t>
                      </m:r>
                      <m:sSub>
                        <m:sSubPr>
                          <m:ctrlP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  <m:sub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+  </m:t>
                      </m:r>
                      <m:sSub>
                        <m:sSubPr>
                          <m:ctrlP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  <m:sub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+  </m:t>
                      </m:r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 +  </m:t>
                      </m:r>
                      <m:sSub>
                        <m:sSubPr>
                          <m:ctrlP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𝒀</m:t>
                          </m:r>
                        </m:e>
                        <m:sub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</m:oMath>
                  </m:oMathPara>
                </a14:m>
                <a:endParaRPr lang="en-NZ" sz="20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2F9A27B-7A5E-448F-A3C7-2A2DC67076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2078" y="1492611"/>
                <a:ext cx="6127844" cy="93121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7C594B6-C5FA-45B7-B955-74FD2CF2E7B9}"/>
              </a:ext>
            </a:extLst>
          </p:cNvPr>
          <p:cNvSpPr txBox="1">
            <a:spLocks/>
          </p:cNvSpPr>
          <p:nvPr/>
        </p:nvSpPr>
        <p:spPr>
          <a:xfrm>
            <a:off x="319463" y="2628492"/>
            <a:ext cx="11553074" cy="6361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US" altLang="ja-JP" sz="2000" dirty="0">
                <a:solidFill>
                  <a:schemeClr val="tx1"/>
                </a:solidFill>
              </a:rPr>
              <a:t>Then using the linearity property of expectations, we have that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C32F919-1FFF-4000-A845-A22384B2D000}"/>
                  </a:ext>
                </a:extLst>
              </p:cNvPr>
              <p:cNvSpPr txBox="1"/>
              <p:nvPr/>
            </p:nvSpPr>
            <p:spPr>
              <a:xfrm>
                <a:off x="3028667" y="3022633"/>
                <a:ext cx="6127844" cy="9312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NZ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begChr m:val="["/>
                          <m:endChr m:val="]"/>
                          <m:ctrlPr>
                            <a:rPr lang="en-NZ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</m:d>
                      <m:r>
                        <a:rPr lang="en-NZ" sz="20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=   </m:t>
                      </m:r>
                      <m:r>
                        <a:rPr lang="en-NZ" sz="20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𝐄</m:t>
                      </m:r>
                      <m:d>
                        <m:dPr>
                          <m:begChr m:val="["/>
                          <m:endChr m:val="]"/>
                          <m:ctrlPr>
                            <a:rPr lang="en-NZ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nary>
                            <m:naryPr>
                              <m:chr m:val="∑"/>
                              <m:ctrlP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𝒀</m:t>
                                  </m:r>
                                </m:e>
                                <m:sub>
                                  <m: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nary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NZ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= </m:t>
                      </m:r>
                      <m:nary>
                        <m:naryPr>
                          <m:chr m:val="∑"/>
                          <m:ctrlP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sSub>
                            <m:sSubPr>
                              <m:ctrlP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𝑬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𝒀</m:t>
                                  </m:r>
                                </m:e>
                                <m:sub>
                                  <m: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NZ" sz="20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C32F919-1FFF-4000-A845-A22384B2D0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8667" y="3022633"/>
                <a:ext cx="6127844" cy="93121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0D9B18E-E7D9-4A64-BD20-63EAD6A21DAB}"/>
                  </a:ext>
                </a:extLst>
              </p:cNvPr>
              <p:cNvSpPr txBox="1"/>
              <p:nvPr/>
            </p:nvSpPr>
            <p:spPr>
              <a:xfrm>
                <a:off x="8987051" y="3288186"/>
                <a:ext cx="91439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NZ" sz="20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0D9B18E-E7D9-4A64-BD20-63EAD6A21D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7051" y="3288186"/>
                <a:ext cx="914399" cy="400110"/>
              </a:xfrm>
              <a:prstGeom prst="rect">
                <a:avLst/>
              </a:prstGeom>
              <a:blipFill>
                <a:blip r:embed="rId5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Placeholder 5">
                <a:extLst>
                  <a:ext uri="{FF2B5EF4-FFF2-40B4-BE49-F238E27FC236}">
                    <a16:creationId xmlns:a16="http://schemas.microsoft.com/office/drawing/2014/main" id="{24660E97-E53C-4F63-87FF-77526AA116B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6052" y="4363646"/>
                <a:ext cx="11553074" cy="454491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</a:pPr>
                <a:r>
                  <a:rPr lang="en-US" altLang="ja-JP" sz="2000" dirty="0">
                    <a:solidFill>
                      <a:schemeClr val="tx1"/>
                    </a:solidFill>
                  </a:rPr>
                  <a:t>Note that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NZ" altLang="ja-JP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NZ" altLang="ja-JP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NZ" altLang="ja-JP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NZ" altLang="ja-JP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NZ" altLang="ja-JP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ja-JP" sz="2000" dirty="0">
                    <a:solidFill>
                      <a:schemeClr val="tx1"/>
                    </a:solidFill>
                  </a:rPr>
                  <a:t>and </a:t>
                </a:r>
                <a14:m>
                  <m:oMath xmlns:m="http://schemas.openxmlformats.org/officeDocument/2006/math">
                    <m:r>
                      <a:rPr lang="en-NZ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NZ" altLang="ja-JP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NZ" altLang="ja-JP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𝒀</m:t>
                            </m:r>
                          </m:e>
                          <m:sub>
                            <m:r>
                              <a:rPr lang="en-NZ" altLang="ja-JP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en-NZ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NZ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𝝁</m:t>
                    </m:r>
                    <m:r>
                      <a:rPr lang="en-NZ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NZ" altLang="ja-JP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∀ </m:t>
                    </m:r>
                    <m:r>
                      <a:rPr lang="en-NZ" altLang="ja-JP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NZ" altLang="ja-JP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=1, …, </m:t>
                    </m:r>
                    <m:r>
                      <a:rPr lang="en-NZ" altLang="ja-JP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ja-JP" sz="2000" dirty="0">
                    <a:solidFill>
                      <a:schemeClr val="tx1"/>
                    </a:solidFill>
                  </a:rPr>
                  <a:t>  </a:t>
                </a:r>
                <a:br>
                  <a:rPr lang="en-US" altLang="ja-JP" sz="2000" dirty="0">
                    <a:solidFill>
                      <a:schemeClr val="tx1"/>
                    </a:solidFill>
                  </a:rPr>
                </a:br>
                <a:r>
                  <a:rPr lang="en-US" altLang="ja-JP" sz="2000" dirty="0">
                    <a:solidFill>
                      <a:schemeClr val="tx1"/>
                    </a:solidFill>
                  </a:rPr>
                  <a:t>then equation (1) becomes</a:t>
                </a:r>
              </a:p>
            </p:txBody>
          </p:sp>
        </mc:Choice>
        <mc:Fallback xmlns="">
          <p:sp>
            <p:nvSpPr>
              <p:cNvPr id="15" name="Text Placeholder 5">
                <a:extLst>
                  <a:ext uri="{FF2B5EF4-FFF2-40B4-BE49-F238E27FC236}">
                    <a16:creationId xmlns:a16="http://schemas.microsoft.com/office/drawing/2014/main" id="{24660E97-E53C-4F63-87FF-77526AA116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052" y="4363646"/>
                <a:ext cx="11553074" cy="454491"/>
              </a:xfrm>
              <a:prstGeom prst="rect">
                <a:avLst/>
              </a:prstGeom>
              <a:blipFill>
                <a:blip r:embed="rId6"/>
                <a:stretch>
                  <a:fillRect l="-580" t="-8108" b="-79730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E0AA277-9489-4174-81E2-9F0C534A6190}"/>
                  </a:ext>
                </a:extLst>
              </p:cNvPr>
              <p:cNvSpPr txBox="1"/>
              <p:nvPr/>
            </p:nvSpPr>
            <p:spPr>
              <a:xfrm>
                <a:off x="-35255" y="5100287"/>
                <a:ext cx="61278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NZ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begChr m:val="["/>
                          <m:endChr m:val="]"/>
                          <m:ctrlPr>
                            <a:rPr lang="en-NZ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</m:d>
                      <m:r>
                        <a:rPr lang="en-NZ" sz="20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=   </m:t>
                      </m:r>
                      <m:r>
                        <a:rPr lang="en-NZ" sz="20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𝐧</m:t>
                      </m:r>
                      <m:r>
                        <a:rPr lang="en-NZ" sz="20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NZ" sz="20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𝐚</m:t>
                      </m:r>
                      <m:r>
                        <a:rPr lang="en-NZ" sz="20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NZ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𝝁</m:t>
                      </m:r>
                    </m:oMath>
                  </m:oMathPara>
                </a14:m>
                <a:endParaRPr lang="en-NZ" sz="20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E0AA277-9489-4174-81E2-9F0C534A61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5255" y="5100287"/>
                <a:ext cx="6127844" cy="400110"/>
              </a:xfrm>
              <a:prstGeom prst="rect">
                <a:avLst/>
              </a:prstGeom>
              <a:blipFill>
                <a:blip r:embed="rId7"/>
                <a:stretch>
                  <a:fillRect b="-6154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Footer Placeholder 2">
            <a:extLst>
              <a:ext uri="{FF2B5EF4-FFF2-40B4-BE49-F238E27FC236}">
                <a16:creationId xmlns:a16="http://schemas.microsoft.com/office/drawing/2014/main" id="{A89E2DAD-EB5C-02E9-9F58-14BEB1C47082}"/>
              </a:ext>
            </a:extLst>
          </p:cNvPr>
          <p:cNvSpPr txBox="1">
            <a:spLocks/>
          </p:cNvSpPr>
          <p:nvPr/>
        </p:nvSpPr>
        <p:spPr>
          <a:xfrm>
            <a:off x="8940800" y="86139"/>
            <a:ext cx="31485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1600" dirty="0">
                <a:solidFill>
                  <a:srgbClr val="DEDDDD"/>
                </a:solidFill>
                <a:latin typeface="Gidole"/>
              </a:rPr>
              <a:t>1.4 - Linear Combinations of RVs</a:t>
            </a:r>
            <a:endParaRPr kumimoji="1" lang="ja-JP" altLang="en-US" sz="1600" dirty="0">
              <a:solidFill>
                <a:srgbClr val="DEDDDD"/>
              </a:solidFill>
              <a:latin typeface="Gidole"/>
            </a:endParaRPr>
          </a:p>
        </p:txBody>
      </p:sp>
    </p:spTree>
    <p:extLst>
      <p:ext uri="{BB962C8B-B14F-4D97-AF65-F5344CB8AC3E}">
        <p14:creationId xmlns:p14="http://schemas.microsoft.com/office/powerpoint/2010/main" val="249546395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6733"/>
            <a:ext cx="2185386" cy="741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4AD89C-DF1E-4948-B597-5DD47B34A9CA}" type="slidenum">
              <a:rPr kumimoji="1" lang="ja-JP" altLang="en-US" smtClean="0">
                <a:solidFill>
                  <a:srgbClr val="575454">
                    <a:lumMod val="20000"/>
                    <a:lumOff val="80000"/>
                  </a:srgbClr>
                </a:solidFill>
                <a:latin typeface="Coo Hew"/>
              </a:rPr>
              <a:pPr/>
              <a:t>37</a:t>
            </a:fld>
            <a:endParaRPr kumimoji="1" lang="ja-JP" altLang="en-US" dirty="0">
              <a:solidFill>
                <a:srgbClr val="575454">
                  <a:lumMod val="20000"/>
                  <a:lumOff val="80000"/>
                </a:srgbClr>
              </a:solidFill>
              <a:latin typeface="Coo Hew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DCE95AA1-F247-4D03-9A84-A08A95E2EB81}"/>
              </a:ext>
            </a:extLst>
          </p:cNvPr>
          <p:cNvSpPr txBox="1">
            <a:spLocks/>
          </p:cNvSpPr>
          <p:nvPr/>
        </p:nvSpPr>
        <p:spPr>
          <a:xfrm>
            <a:off x="319463" y="310113"/>
            <a:ext cx="8168429" cy="607201"/>
          </a:xfrm>
          <a:prstGeom prst="rect">
            <a:avLst/>
          </a:prstGeom>
        </p:spPr>
        <p:txBody>
          <a:bodyPr anchor="t">
            <a:normAutofit fontScale="92500"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b="1" u="sng" dirty="0">
                <a:latin typeface="+mn-lt"/>
              </a:rPr>
              <a:t>1.4b - Expectation of Linear Combinations:</a:t>
            </a:r>
            <a:endParaRPr lang="ja-JP" altLang="en-US" b="1" u="sng" dirty="0">
              <a:latin typeface="+mn-lt"/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CF0EF27-D66E-440A-ADCA-1A987E76987F}"/>
              </a:ext>
            </a:extLst>
          </p:cNvPr>
          <p:cNvSpPr txBox="1">
            <a:spLocks/>
          </p:cNvSpPr>
          <p:nvPr/>
        </p:nvSpPr>
        <p:spPr>
          <a:xfrm>
            <a:off x="319463" y="1035769"/>
            <a:ext cx="11553074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US" altLang="ja-JP" sz="1800" b="1" dirty="0">
                <a:solidFill>
                  <a:srgbClr val="002060"/>
                </a:solidFill>
              </a:rPr>
              <a:t>Example: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BE186E23-7D2D-4CF0-8FBB-5CADCBB44C53}"/>
              </a:ext>
            </a:extLst>
          </p:cNvPr>
          <p:cNvSpPr txBox="1">
            <a:spLocks/>
          </p:cNvSpPr>
          <p:nvPr/>
        </p:nvSpPr>
        <p:spPr>
          <a:xfrm>
            <a:off x="475153" y="2257859"/>
            <a:ext cx="11553074" cy="74126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endParaRPr lang="en-US" altLang="ja-JP" sz="2000" dirty="0">
              <a:latin typeface="Gidole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F9A27B-7A5E-448F-A3C7-2A2DC67076AB}"/>
              </a:ext>
            </a:extLst>
          </p:cNvPr>
          <p:cNvSpPr txBox="1"/>
          <p:nvPr/>
        </p:nvSpPr>
        <p:spPr>
          <a:xfrm>
            <a:off x="319462" y="1367099"/>
            <a:ext cx="113630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Z" dirty="0">
                <a:solidFill>
                  <a:srgbClr val="002060"/>
                </a:solidFill>
              </a:rPr>
              <a:t>Suppose that </a:t>
            </a:r>
            <a:r>
              <a:rPr lang="en-NZ" b="1" i="1" dirty="0">
                <a:solidFill>
                  <a:srgbClr val="002060"/>
                </a:solidFill>
              </a:rPr>
              <a:t>Y</a:t>
            </a:r>
            <a:r>
              <a:rPr lang="en-NZ" b="1" i="1" baseline="-25000" dirty="0">
                <a:solidFill>
                  <a:srgbClr val="002060"/>
                </a:solidFill>
              </a:rPr>
              <a:t>1</a:t>
            </a:r>
            <a:r>
              <a:rPr lang="en-NZ" b="1" i="1" dirty="0">
                <a:solidFill>
                  <a:srgbClr val="002060"/>
                </a:solidFill>
              </a:rPr>
              <a:t>, Y</a:t>
            </a:r>
            <a:r>
              <a:rPr lang="en-NZ" b="1" i="1" baseline="-25000" dirty="0">
                <a:solidFill>
                  <a:srgbClr val="002060"/>
                </a:solidFill>
              </a:rPr>
              <a:t>2</a:t>
            </a:r>
            <a:r>
              <a:rPr lang="en-NZ" b="1" i="1" dirty="0">
                <a:solidFill>
                  <a:srgbClr val="002060"/>
                </a:solidFill>
              </a:rPr>
              <a:t> </a:t>
            </a:r>
            <a:r>
              <a:rPr lang="en-NZ" dirty="0">
                <a:solidFill>
                  <a:srgbClr val="002060"/>
                </a:solidFill>
              </a:rPr>
              <a:t>and </a:t>
            </a:r>
            <a:r>
              <a:rPr lang="en-NZ" b="1" i="1" dirty="0">
                <a:solidFill>
                  <a:srgbClr val="002060"/>
                </a:solidFill>
              </a:rPr>
              <a:t>Y</a:t>
            </a:r>
            <a:r>
              <a:rPr lang="en-NZ" b="1" i="1" baseline="-25000" dirty="0">
                <a:solidFill>
                  <a:srgbClr val="002060"/>
                </a:solidFill>
              </a:rPr>
              <a:t>3</a:t>
            </a:r>
            <a:r>
              <a:rPr lang="en-NZ" dirty="0">
                <a:solidFill>
                  <a:srgbClr val="002060"/>
                </a:solidFill>
              </a:rPr>
              <a:t> are known to be independent random variables such that </a:t>
            </a:r>
          </a:p>
        </p:txBody>
      </p:sp>
      <p:sp>
        <p:nvSpPr>
          <p:cNvPr id="19" name="Footer Placeholder 2">
            <a:extLst>
              <a:ext uri="{FF2B5EF4-FFF2-40B4-BE49-F238E27FC236}">
                <a16:creationId xmlns:a16="http://schemas.microsoft.com/office/drawing/2014/main" id="{2398CAC7-75BC-0D74-677E-13BC9468D423}"/>
              </a:ext>
            </a:extLst>
          </p:cNvPr>
          <p:cNvSpPr txBox="1">
            <a:spLocks/>
          </p:cNvSpPr>
          <p:nvPr/>
        </p:nvSpPr>
        <p:spPr>
          <a:xfrm>
            <a:off x="8940800" y="86139"/>
            <a:ext cx="31485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1600" dirty="0">
                <a:solidFill>
                  <a:srgbClr val="DEDDDD"/>
                </a:solidFill>
                <a:latin typeface="Gidole"/>
              </a:rPr>
              <a:t>1.4 - Linear Combinations of RVs</a:t>
            </a:r>
            <a:endParaRPr kumimoji="1" lang="ja-JP" altLang="en-US" sz="1600" dirty="0">
              <a:solidFill>
                <a:srgbClr val="DEDDDD"/>
              </a:solidFill>
              <a:latin typeface="Gidol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1897752-2A1B-FDF0-B081-437675A983D6}"/>
                  </a:ext>
                </a:extLst>
              </p:cNvPr>
              <p:cNvSpPr txBox="1"/>
              <p:nvPr/>
            </p:nvSpPr>
            <p:spPr>
              <a:xfrm>
                <a:off x="319462" y="1732224"/>
                <a:ext cx="1136302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NZ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begChr m:val="["/>
                          <m:endChr m:val="]"/>
                          <m:ctrlPr>
                            <a:rPr lang="en-NZ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NZ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e>
                            <m:sub>
                              <m:r>
                                <a:rPr lang="en-NZ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n-NZ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NZ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NZ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     </m:t>
                      </m:r>
                      <m:r>
                        <a:rPr lang="en-NZ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begChr m:val="["/>
                          <m:endChr m:val="]"/>
                          <m:ctrlPr>
                            <a:rPr lang="en-NZ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NZ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e>
                            <m:sub>
                              <m:r>
                                <a:rPr lang="en-NZ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a:rPr lang="en-NZ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NZ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n-NZ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         </m:t>
                      </m:r>
                      <m:r>
                        <a:rPr lang="en-NZ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begChr m:val="["/>
                          <m:endChr m:val="]"/>
                          <m:ctrlPr>
                            <a:rPr lang="en-NZ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NZ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e>
                            <m:sub>
                              <m:r>
                                <a:rPr lang="en-NZ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e>
                      </m:d>
                      <m:r>
                        <a:rPr lang="en-NZ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NZ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𝟏𝟐</m:t>
                      </m:r>
                    </m:oMath>
                  </m:oMathPara>
                </a14:m>
                <a:endParaRPr lang="en-NZ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1897752-2A1B-FDF0-B081-437675A983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2" y="1732224"/>
                <a:ext cx="1136302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30B0415-91B4-930B-D4E7-8FD96D624972}"/>
                  </a:ext>
                </a:extLst>
              </p:cNvPr>
              <p:cNvSpPr txBox="1"/>
              <p:nvPr/>
            </p:nvSpPr>
            <p:spPr>
              <a:xfrm>
                <a:off x="319461" y="2186216"/>
                <a:ext cx="11363021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NZ" dirty="0">
                    <a:solidFill>
                      <a:srgbClr val="002060"/>
                    </a:solidFill>
                  </a:rPr>
                  <a:t>A fourth variable </a:t>
                </a:r>
                <a:r>
                  <a:rPr lang="en-NZ" b="1" i="1" dirty="0">
                    <a:solidFill>
                      <a:srgbClr val="002060"/>
                    </a:solidFill>
                  </a:rPr>
                  <a:t>Z</a:t>
                </a:r>
                <a:r>
                  <a:rPr lang="en-NZ" dirty="0">
                    <a:solidFill>
                      <a:srgbClr val="002060"/>
                    </a:solidFill>
                  </a:rPr>
                  <a:t> is created as a linear combination of </a:t>
                </a:r>
                <a:r>
                  <a:rPr lang="en-NZ" b="1" i="1" dirty="0">
                    <a:solidFill>
                      <a:srgbClr val="002060"/>
                    </a:solidFill>
                  </a:rPr>
                  <a:t>Y</a:t>
                </a:r>
                <a:r>
                  <a:rPr lang="en-NZ" b="1" i="1" baseline="-25000" dirty="0">
                    <a:solidFill>
                      <a:srgbClr val="002060"/>
                    </a:solidFill>
                  </a:rPr>
                  <a:t>1</a:t>
                </a:r>
                <a:r>
                  <a:rPr lang="en-NZ" b="1" i="1" dirty="0">
                    <a:solidFill>
                      <a:srgbClr val="002060"/>
                    </a:solidFill>
                  </a:rPr>
                  <a:t>, Y</a:t>
                </a:r>
                <a:r>
                  <a:rPr lang="en-NZ" b="1" i="1" baseline="-25000" dirty="0">
                    <a:solidFill>
                      <a:srgbClr val="002060"/>
                    </a:solidFill>
                  </a:rPr>
                  <a:t>2</a:t>
                </a:r>
                <a:r>
                  <a:rPr lang="en-NZ" b="1" i="1" dirty="0">
                    <a:solidFill>
                      <a:srgbClr val="002060"/>
                    </a:solidFill>
                  </a:rPr>
                  <a:t> </a:t>
                </a:r>
                <a:r>
                  <a:rPr lang="en-NZ" dirty="0">
                    <a:solidFill>
                      <a:srgbClr val="002060"/>
                    </a:solidFill>
                  </a:rPr>
                  <a:t>and </a:t>
                </a:r>
                <a:r>
                  <a:rPr lang="en-NZ" b="1" i="1" dirty="0">
                    <a:solidFill>
                      <a:srgbClr val="002060"/>
                    </a:solidFill>
                  </a:rPr>
                  <a:t>Y</a:t>
                </a:r>
                <a:r>
                  <a:rPr lang="en-NZ" b="1" i="1" baseline="-25000" dirty="0">
                    <a:solidFill>
                      <a:srgbClr val="002060"/>
                    </a:solidFill>
                  </a:rPr>
                  <a:t>3</a:t>
                </a:r>
                <a:r>
                  <a:rPr lang="en-NZ" dirty="0">
                    <a:solidFill>
                      <a:srgbClr val="002060"/>
                    </a:solidFill>
                  </a:rPr>
                  <a:t> such that  </a:t>
                </a:r>
                <a14:m>
                  <m:oMath xmlns:m="http://schemas.openxmlformats.org/officeDocument/2006/math">
                    <m:r>
                      <a:rPr lang="en-NZ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𝒁</m:t>
                    </m:r>
                    <m:r>
                      <a:rPr lang="en-NZ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NZ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lang="en-NZ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NZ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NZ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sSub>
                      <m:sSubPr>
                        <m:ctrlPr>
                          <a:rPr lang="en-NZ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lang="en-NZ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NZ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+</m:t>
                    </m:r>
                    <m:r>
                      <a:rPr lang="en-NZ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NZ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NZ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lang="en-NZ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</m:oMath>
                </a14:m>
                <a:br>
                  <a:rPr lang="en-NZ" dirty="0">
                    <a:solidFill>
                      <a:srgbClr val="002060"/>
                    </a:solidFill>
                  </a:rPr>
                </a:br>
                <a:r>
                  <a:rPr lang="en-NZ" dirty="0">
                    <a:solidFill>
                      <a:srgbClr val="002060"/>
                    </a:solidFill>
                  </a:rPr>
                  <a:t>Find </a:t>
                </a:r>
                <a14:m>
                  <m:oMath xmlns:m="http://schemas.openxmlformats.org/officeDocument/2006/math">
                    <m:r>
                      <a:rPr lang="en-NZ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NZ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[ </m:t>
                    </m:r>
                    <m:r>
                      <a:rPr lang="en-NZ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𝒁</m:t>
                    </m:r>
                    <m:r>
                      <a:rPr lang="en-NZ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]</m:t>
                    </m:r>
                  </m:oMath>
                </a14:m>
                <a:endParaRPr lang="en-NZ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30B0415-91B4-930B-D4E7-8FD96D6249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1" y="2186216"/>
                <a:ext cx="11363021" cy="646331"/>
              </a:xfrm>
              <a:prstGeom prst="rect">
                <a:avLst/>
              </a:prstGeom>
              <a:blipFill>
                <a:blip r:embed="rId4"/>
                <a:stretch>
                  <a:fillRect l="-429" t="-5660" b="-14151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864F639-D633-0B49-ACC6-DBB49DCAB072}"/>
                  </a:ext>
                </a:extLst>
              </p:cNvPr>
              <p:cNvSpPr txBox="1"/>
              <p:nvPr/>
            </p:nvSpPr>
            <p:spPr>
              <a:xfrm>
                <a:off x="385181" y="4019902"/>
                <a:ext cx="1116638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NZ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en-NZ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</m:d>
                    <m:r>
                      <a:rPr lang="en-NZ" sz="20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NZ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NZ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en-NZ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NZ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NZ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𝒀</m:t>
                            </m:r>
                          </m:e>
                          <m:sub>
                            <m:r>
                              <a:rPr lang="en-NZ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NZ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NZ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  <m:sSub>
                          <m:sSubPr>
                            <m:ctrlPr>
                              <a:rPr lang="en-NZ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NZ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𝒀</m:t>
                            </m:r>
                          </m:e>
                          <m:sub>
                            <m:r>
                              <a:rPr lang="en-NZ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NZ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+</m:t>
                        </m:r>
                        <m:r>
                          <a:rPr lang="en-NZ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  <m:r>
                          <a:rPr lang="en-NZ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NZ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NZ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𝒀</m:t>
                            </m:r>
                          </m:e>
                          <m:sub>
                            <m:r>
                              <a:rPr lang="en-NZ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  <m:r>
                          <a:rPr lang="en-NZ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NZ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=  </m:t>
                    </m:r>
                    <m:r>
                      <a:rPr lang="en-NZ" altLang="ja-JP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NZ" altLang="ja-JP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NZ" altLang="ja-JP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𝒀</m:t>
                            </m:r>
                          </m:e>
                          <m:sub>
                            <m:r>
                              <a:rPr lang="en-NZ" altLang="ja-JP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NZ" altLang="ja-JP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  +   </m:t>
                    </m:r>
                    <m:r>
                      <a:rPr lang="en-NZ" altLang="ja-JP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NZ" altLang="ja-JP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NZ" altLang="ja-JP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NZ" altLang="ja-JP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NZ" altLang="ja-JP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𝒀</m:t>
                            </m:r>
                          </m:e>
                          <m:sub>
                            <m:r>
                              <a:rPr lang="en-NZ" altLang="ja-JP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  <m:r>
                      <a:rPr lang="en-NZ" altLang="ja-JP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 +    </m:t>
                    </m:r>
                    <m:r>
                      <a:rPr lang="en-NZ" altLang="ja-JP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NZ" altLang="ja-JP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NZ" altLang="ja-JP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NZ" altLang="ja-JP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NZ" altLang="ja-JP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lang="en-NZ" altLang="ja-JP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en-NZ" sz="2000" b="1" dirty="0">
                    <a:solidFill>
                      <a:schemeClr val="tx1"/>
                    </a:solidFill>
                  </a:rPr>
                  <a:t>]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864F639-D633-0B49-ACC6-DBB49DCAB0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181" y="4019902"/>
                <a:ext cx="11166386" cy="400110"/>
              </a:xfrm>
              <a:prstGeom prst="rect">
                <a:avLst/>
              </a:prstGeom>
              <a:blipFill>
                <a:blip r:embed="rId5"/>
                <a:stretch>
                  <a:fillRect t="-7576" b="-25758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CFEA1E4-D681-081A-3A40-27858CFE86BD}"/>
                  </a:ext>
                </a:extLst>
              </p:cNvPr>
              <p:cNvSpPr txBox="1"/>
              <p:nvPr/>
            </p:nvSpPr>
            <p:spPr>
              <a:xfrm>
                <a:off x="1042792" y="4539123"/>
                <a:ext cx="1051051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NZ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NZ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NZ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+   </m:t>
                      </m:r>
                      <m:r>
                        <a:rPr lang="en-NZ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NZ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∗</m:t>
                      </m:r>
                      <m:d>
                        <m:dPr>
                          <m:ctrlPr>
                            <a:rPr lang="en-NZ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NZ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𝟏𝟎</m:t>
                          </m:r>
                        </m:e>
                      </m:d>
                      <m:r>
                        <a:rPr lang="en-NZ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+    </m:t>
                      </m:r>
                      <m:r>
                        <a:rPr lang="en-NZ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NZ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∗</m:t>
                      </m:r>
                      <m:r>
                        <a:rPr lang="en-NZ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𝟏𝟐</m:t>
                      </m:r>
                    </m:oMath>
                  </m:oMathPara>
                </a14:m>
                <a:endParaRPr lang="en-NZ" sz="2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CFEA1E4-D681-081A-3A40-27858CFE86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2792" y="4539123"/>
                <a:ext cx="10510519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2FDB405-FE78-A0DE-A48E-6D177A06FAE4}"/>
                  </a:ext>
                </a:extLst>
              </p:cNvPr>
              <p:cNvSpPr txBox="1"/>
              <p:nvPr/>
            </p:nvSpPr>
            <p:spPr>
              <a:xfrm>
                <a:off x="1042792" y="5085032"/>
                <a:ext cx="1051051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NZ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NZ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𝟑𝟓</m:t>
                      </m:r>
                    </m:oMath>
                  </m:oMathPara>
                </a14:m>
                <a:endParaRPr lang="en-NZ" sz="2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2FDB405-FE78-A0DE-A48E-6D177A06FA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2792" y="5085032"/>
                <a:ext cx="10510519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24DD0BF-7AE5-3B96-F8EC-2671FDF40A4A}"/>
                  </a:ext>
                </a:extLst>
              </p:cNvPr>
              <p:cNvSpPr txBox="1"/>
              <p:nvPr/>
            </p:nvSpPr>
            <p:spPr>
              <a:xfrm>
                <a:off x="385181" y="2968789"/>
                <a:ext cx="4302172" cy="9312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NZ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begChr m:val="["/>
                          <m:endChr m:val="]"/>
                          <m:ctrlPr>
                            <a:rPr lang="en-NZ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</m:d>
                      <m:r>
                        <a:rPr lang="en-NZ" sz="2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NZ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NZ" altLang="ja-JP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NZ" altLang="ja-JP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NZ" altLang="ja-JP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NZ" altLang="ja-JP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NZ" altLang="ja-JP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sSub>
                            <m:sSubPr>
                              <m:ctrlPr>
                                <a:rPr lang="en-NZ" altLang="ja-JP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NZ" altLang="ja-JP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NZ" altLang="ja-JP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NZ" altLang="ja-JP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𝑬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NZ" altLang="ja-JP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NZ" altLang="ja-JP" sz="20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20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𝒀</m:t>
                                  </m:r>
                                </m:e>
                                <m:sub>
                                  <m:r>
                                    <a:rPr lang="en-NZ" altLang="ja-JP" sz="20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NZ" sz="2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24DD0BF-7AE5-3B96-F8EC-2671FDF40A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181" y="2968789"/>
                <a:ext cx="4302172" cy="93121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Left Brace 1">
            <a:extLst>
              <a:ext uri="{FF2B5EF4-FFF2-40B4-BE49-F238E27FC236}">
                <a16:creationId xmlns:a16="http://schemas.microsoft.com/office/drawing/2014/main" id="{AACE7200-0043-EE67-35F5-FDE46E8DEE63}"/>
              </a:ext>
            </a:extLst>
          </p:cNvPr>
          <p:cNvSpPr/>
          <p:nvPr/>
        </p:nvSpPr>
        <p:spPr>
          <a:xfrm rot="16200000">
            <a:off x="8904389" y="1995235"/>
            <a:ext cx="341164" cy="1666614"/>
          </a:xfrm>
          <a:prstGeom prst="leftBrac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>
              <a:solidFill>
                <a:schemeClr val="bg2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FEFCF09-49F3-4D8D-BBEB-ED362451D5ED}"/>
                  </a:ext>
                </a:extLst>
              </p:cNvPr>
              <p:cNvSpPr txBox="1"/>
              <p:nvPr/>
            </p:nvSpPr>
            <p:spPr>
              <a:xfrm>
                <a:off x="6923884" y="2987340"/>
                <a:ext cx="4302173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NZ" sz="140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sz="14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NZ" sz="14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NZ" sz="1400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=1 ,   </m:t>
                      </m:r>
                      <m:sSub>
                        <m:sSubPr>
                          <m:ctrlPr>
                            <a:rPr lang="en-NZ" sz="140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sz="14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NZ" sz="14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NZ" sz="1400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=3 ,  </m:t>
                      </m:r>
                      <m:sSub>
                        <m:sSubPr>
                          <m:ctrlPr>
                            <a:rPr lang="en-NZ" sz="140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sz="14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NZ" sz="14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NZ" sz="1400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NZ" sz="140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FEFCF09-49F3-4D8D-BBEB-ED362451D5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3884" y="2987340"/>
                <a:ext cx="4302173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0737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17" grpId="0"/>
      <p:bldP spid="20" grpId="0"/>
      <p:bldP spid="14" grpId="0"/>
      <p:bldP spid="2" grpId="0" animBg="1"/>
      <p:bldP spid="21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6733"/>
            <a:ext cx="2185386" cy="741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4AD89C-DF1E-4948-B597-5DD47B34A9CA}" type="slidenum">
              <a:rPr kumimoji="1" lang="ja-JP" altLang="en-US" smtClean="0">
                <a:solidFill>
                  <a:srgbClr val="575454">
                    <a:lumMod val="20000"/>
                    <a:lumOff val="80000"/>
                  </a:srgbClr>
                </a:solidFill>
                <a:latin typeface="Coo Hew"/>
              </a:rPr>
              <a:pPr/>
              <a:t>38</a:t>
            </a:fld>
            <a:endParaRPr kumimoji="1" lang="ja-JP" altLang="en-US" dirty="0">
              <a:solidFill>
                <a:srgbClr val="575454">
                  <a:lumMod val="20000"/>
                  <a:lumOff val="80000"/>
                </a:srgbClr>
              </a:solidFill>
              <a:latin typeface="Coo Hew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DCE95AA1-F247-4D03-9A84-A08A95E2EB81}"/>
              </a:ext>
            </a:extLst>
          </p:cNvPr>
          <p:cNvSpPr txBox="1">
            <a:spLocks/>
          </p:cNvSpPr>
          <p:nvPr/>
        </p:nvSpPr>
        <p:spPr>
          <a:xfrm>
            <a:off x="319463" y="310113"/>
            <a:ext cx="8168429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b="1" u="sng" dirty="0">
                <a:latin typeface="+mn-lt"/>
              </a:rPr>
              <a:t>1.4c - Variance of Linear Combinations:</a:t>
            </a:r>
            <a:endParaRPr lang="ja-JP" altLang="en-US" b="1" u="sng" dirty="0">
              <a:latin typeface="+mn-lt"/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CF0EF27-D66E-440A-ADCA-1A987E76987F}"/>
              </a:ext>
            </a:extLst>
          </p:cNvPr>
          <p:cNvSpPr txBox="1">
            <a:spLocks/>
          </p:cNvSpPr>
          <p:nvPr/>
        </p:nvSpPr>
        <p:spPr>
          <a:xfrm>
            <a:off x="319463" y="1133968"/>
            <a:ext cx="11553074" cy="74126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US" altLang="ja-JP" sz="2000" dirty="0">
                <a:solidFill>
                  <a:schemeClr val="tx1"/>
                </a:solidFill>
              </a:rPr>
              <a:t>Suppose that we have a collection of random variables </a:t>
            </a:r>
            <a:r>
              <a:rPr lang="en-US" altLang="ja-JP" sz="2000" b="1" i="1" dirty="0">
                <a:solidFill>
                  <a:schemeClr val="tx1"/>
                </a:solidFill>
              </a:rPr>
              <a:t>Y</a:t>
            </a:r>
            <a:r>
              <a:rPr lang="en-US" altLang="ja-JP" sz="2000" b="1" i="1" baseline="-25000" dirty="0">
                <a:solidFill>
                  <a:schemeClr val="tx1"/>
                </a:solidFill>
              </a:rPr>
              <a:t>1,</a:t>
            </a:r>
            <a:r>
              <a:rPr lang="en-US" altLang="ja-JP" sz="2000" b="1" i="1" dirty="0">
                <a:solidFill>
                  <a:schemeClr val="tx1"/>
                </a:solidFill>
              </a:rPr>
              <a:t> Y</a:t>
            </a:r>
            <a:r>
              <a:rPr lang="en-US" altLang="ja-JP" sz="2000" b="1" i="1" baseline="-25000" dirty="0">
                <a:solidFill>
                  <a:schemeClr val="tx1"/>
                </a:solidFill>
              </a:rPr>
              <a:t>2,</a:t>
            </a:r>
            <a:r>
              <a:rPr lang="en-US" altLang="ja-JP" sz="2000" b="1" i="1" dirty="0">
                <a:solidFill>
                  <a:schemeClr val="tx1"/>
                </a:solidFill>
              </a:rPr>
              <a:t> … </a:t>
            </a:r>
            <a:r>
              <a:rPr lang="en-US" altLang="ja-JP" sz="2000" b="1" i="1" dirty="0" err="1">
                <a:solidFill>
                  <a:schemeClr val="tx1"/>
                </a:solidFill>
              </a:rPr>
              <a:t>Y</a:t>
            </a:r>
            <a:r>
              <a:rPr lang="en-US" altLang="ja-JP" sz="2000" b="1" i="1" baseline="-25000" dirty="0" err="1">
                <a:solidFill>
                  <a:schemeClr val="tx1"/>
                </a:solidFill>
              </a:rPr>
              <a:t>n</a:t>
            </a:r>
            <a:r>
              <a:rPr lang="en-US" altLang="ja-JP" sz="2000" b="1" i="1" dirty="0">
                <a:solidFill>
                  <a:schemeClr val="tx1"/>
                </a:solidFill>
              </a:rPr>
              <a:t> </a:t>
            </a:r>
            <a:r>
              <a:rPr lang="en-US" altLang="ja-JP" sz="2000" dirty="0">
                <a:solidFill>
                  <a:schemeClr val="tx1"/>
                </a:solidFill>
              </a:rPr>
              <a:t>and we form the linear combination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BE186E23-7D2D-4CF0-8FBB-5CADCBB44C53}"/>
              </a:ext>
            </a:extLst>
          </p:cNvPr>
          <p:cNvSpPr txBox="1">
            <a:spLocks/>
          </p:cNvSpPr>
          <p:nvPr/>
        </p:nvSpPr>
        <p:spPr>
          <a:xfrm>
            <a:off x="475153" y="2257859"/>
            <a:ext cx="11553074" cy="74126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endParaRPr lang="en-US" altLang="ja-JP" sz="2000" dirty="0">
              <a:latin typeface="Gidol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2F9A27B-7A5E-448F-A3C7-2A2DC67076AB}"/>
                  </a:ext>
                </a:extLst>
              </p:cNvPr>
              <p:cNvSpPr txBox="1"/>
              <p:nvPr/>
            </p:nvSpPr>
            <p:spPr>
              <a:xfrm>
                <a:off x="3032078" y="1492611"/>
                <a:ext cx="6127844" cy="9312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𝒁</m:t>
                      </m:r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sSub>
                            <m:sSubPr>
                              <m:ctrlP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e>
                            <m:sub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nary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=  </m:t>
                      </m:r>
                      <m:sSub>
                        <m:sSubPr>
                          <m:ctrlP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  <m:sub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+  </m:t>
                      </m:r>
                      <m:sSub>
                        <m:sSubPr>
                          <m:ctrlP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  <m:sub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+  </m:t>
                      </m:r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 +  </m:t>
                      </m:r>
                      <m:sSub>
                        <m:sSubPr>
                          <m:ctrlP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𝒀</m:t>
                          </m:r>
                        </m:e>
                        <m:sub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</m:oMath>
                  </m:oMathPara>
                </a14:m>
                <a:endParaRPr lang="en-NZ" sz="20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2F9A27B-7A5E-448F-A3C7-2A2DC67076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2078" y="1492611"/>
                <a:ext cx="6127844" cy="93121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7C594B6-C5FA-45B7-B955-74FD2CF2E7B9}"/>
              </a:ext>
            </a:extLst>
          </p:cNvPr>
          <p:cNvSpPr txBox="1">
            <a:spLocks/>
          </p:cNvSpPr>
          <p:nvPr/>
        </p:nvSpPr>
        <p:spPr>
          <a:xfrm>
            <a:off x="316052" y="2621581"/>
            <a:ext cx="11553074" cy="6361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US" altLang="ja-JP" sz="2000" dirty="0">
                <a:solidFill>
                  <a:schemeClr val="tx1"/>
                </a:solidFill>
              </a:rPr>
              <a:t>Then the variance of the linear combination is given by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C32F919-1FFF-4000-A845-A22384B2D000}"/>
                  </a:ext>
                </a:extLst>
              </p:cNvPr>
              <p:cNvSpPr txBox="1"/>
              <p:nvPr/>
            </p:nvSpPr>
            <p:spPr>
              <a:xfrm>
                <a:off x="475154" y="3022633"/>
                <a:ext cx="11166386" cy="9706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NZ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𝑽𝒂𝒓</m:t>
                      </m:r>
                      <m:d>
                        <m:dPr>
                          <m:begChr m:val="["/>
                          <m:endChr m:val="]"/>
                          <m:ctrlPr>
                            <a:rPr lang="en-NZ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</m:d>
                      <m:r>
                        <a:rPr lang="en-NZ" sz="20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=   </m:t>
                      </m:r>
                      <m:r>
                        <a:rPr lang="en-NZ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𝑽𝒂𝒓</m:t>
                      </m:r>
                      <m:d>
                        <m:dPr>
                          <m:begChr m:val="["/>
                          <m:endChr m:val="]"/>
                          <m:ctrlPr>
                            <a:rPr lang="en-NZ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nary>
                            <m:naryPr>
                              <m:chr m:val="∑"/>
                              <m:ctrlP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𝒀</m:t>
                                  </m:r>
                                </m:e>
                                <m:sub>
                                  <m: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nary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NZ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= </m:t>
                      </m:r>
                      <m:nary>
                        <m:naryPr>
                          <m:chr m:val="∑"/>
                          <m:ctrlP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sSubSup>
                            <m:sSubSupPr>
                              <m:ctrlP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  <m:sup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bSup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𝑽𝒂𝒓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𝒀</m:t>
                                  </m:r>
                                </m:e>
                                <m:sub>
                                  <m: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d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+  </m:t>
                          </m:r>
                          <m:nary>
                            <m:naryPr>
                              <m:chr m:val="∑"/>
                              <m:ctrlP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  <m: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  <m:sup>
                                  <m: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𝒂</m:t>
                                      </m:r>
                                    </m:e>
                                    <m:sub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𝒂</m:t>
                                      </m:r>
                                    </m:e>
                                    <m:sub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𝒋</m:t>
                                      </m:r>
                                    </m:sub>
                                  </m:sSub>
                                  <m: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𝑪𝒐𝒗</m:t>
                                  </m:r>
                                  <m: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sSub>
                                    <m:sSubPr>
                                      <m:ctrlP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𝒀</m:t>
                                      </m:r>
                                    </m:e>
                                    <m:sub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sSub>
                                    <m:sSubPr>
                                      <m:ctrlP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𝒀</m:t>
                                      </m:r>
                                    </m:e>
                                    <m:sub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𝒋</m:t>
                                      </m:r>
                                    </m:sub>
                                  </m:sSub>
                                  <m: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e>
                              </m:nary>
                            </m:e>
                          </m:nary>
                        </m:e>
                      </m:nary>
                    </m:oMath>
                  </m:oMathPara>
                </a14:m>
                <a:endParaRPr lang="en-NZ" sz="20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C32F919-1FFF-4000-A845-A22384B2D0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154" y="3022633"/>
                <a:ext cx="11166386" cy="9706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Placeholder 5">
                <a:extLst>
                  <a:ext uri="{FF2B5EF4-FFF2-40B4-BE49-F238E27FC236}">
                    <a16:creationId xmlns:a16="http://schemas.microsoft.com/office/drawing/2014/main" id="{24660E97-E53C-4F63-87FF-77526AA116B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4661308"/>
                <a:ext cx="11553074" cy="454491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:r>
                  <a:rPr lang="en-US" altLang="ja-JP" sz="2000" dirty="0">
                    <a:solidFill>
                      <a:schemeClr val="tx1"/>
                    </a:solidFill>
                  </a:rPr>
                  <a:t>Note that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NZ" altLang="ja-JP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lang="en-NZ" altLang="ja-JP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ja-JP" sz="2000" dirty="0">
                    <a:solidFill>
                      <a:schemeClr val="tx1"/>
                    </a:solidFill>
                  </a:rPr>
                  <a:t> are all independent* then </a:t>
                </a:r>
                <a14:m>
                  <m:oMath xmlns:m="http://schemas.openxmlformats.org/officeDocument/2006/math">
                    <m:r>
                      <a:rPr lang="en-NZ" altLang="ja-JP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𝐶𝑜𝑣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NZ" altLang="ja-JP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NZ" altLang="ja-JP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NZ" altLang="ja-JP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NZ" altLang="ja-JP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NZ" altLang="ja-JP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NZ" altLang="ja-JP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NZ" altLang="ja-JP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NZ" altLang="ja-JP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=0,</m:t>
                    </m:r>
                  </m:oMath>
                </a14:m>
                <a:r>
                  <a:rPr lang="en-US" altLang="ja-JP" sz="2000" dirty="0">
                    <a:solidFill>
                      <a:schemeClr val="tx1"/>
                    </a:solidFill>
                  </a:rPr>
                  <a:t> such that equation (2) becomes</a:t>
                </a:r>
              </a:p>
            </p:txBody>
          </p:sp>
        </mc:Choice>
        <mc:Fallback xmlns="">
          <p:sp>
            <p:nvSpPr>
              <p:cNvPr id="15" name="Text Placeholder 5">
                <a:extLst>
                  <a:ext uri="{FF2B5EF4-FFF2-40B4-BE49-F238E27FC236}">
                    <a16:creationId xmlns:a16="http://schemas.microsoft.com/office/drawing/2014/main" id="{24660E97-E53C-4F63-87FF-77526AA116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4661308"/>
                <a:ext cx="11553074" cy="454491"/>
              </a:xfrm>
              <a:prstGeom prst="rect">
                <a:avLst/>
              </a:prstGeom>
              <a:blipFill>
                <a:blip r:embed="rId5"/>
                <a:stretch>
                  <a:fillRect l="-527" t="-2703" b="-17568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290AD66-0203-47AA-B7E9-1FA49895DBD2}"/>
                  </a:ext>
                </a:extLst>
              </p:cNvPr>
              <p:cNvSpPr txBox="1"/>
              <p:nvPr/>
            </p:nvSpPr>
            <p:spPr>
              <a:xfrm>
                <a:off x="10383735" y="3306901"/>
                <a:ext cx="91439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NZ" sz="20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290AD66-0203-47AA-B7E9-1FA49895DB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3735" y="3306901"/>
                <a:ext cx="914399" cy="400110"/>
              </a:xfrm>
              <a:prstGeom prst="rect">
                <a:avLst/>
              </a:prstGeom>
              <a:blipFill>
                <a:blip r:embed="rId6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 Placeholder 5">
                <a:extLst>
                  <a:ext uri="{FF2B5EF4-FFF2-40B4-BE49-F238E27FC236}">
                    <a16:creationId xmlns:a16="http://schemas.microsoft.com/office/drawing/2014/main" id="{F4ECE6C4-79E6-42B3-A9C4-45C0447488C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6052" y="3922112"/>
                <a:ext cx="11553074" cy="636187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:r>
                  <a:rPr lang="en-US" altLang="ja-JP" sz="2000" dirty="0">
                    <a:solidFill>
                      <a:schemeClr val="tx1"/>
                    </a:solidFill>
                  </a:rPr>
                  <a:t>… where </a:t>
                </a:r>
                <a14:m>
                  <m:oMath xmlns:m="http://schemas.openxmlformats.org/officeDocument/2006/math">
                    <m:r>
                      <a:rPr lang="en-NZ" altLang="ja-JP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NZ" altLang="ja-JP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≠</m:t>
                    </m:r>
                    <m:r>
                      <a:rPr lang="en-NZ" altLang="ja-JP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NZ" altLang="ja-JP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ja-JP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Text Placeholder 5">
                <a:extLst>
                  <a:ext uri="{FF2B5EF4-FFF2-40B4-BE49-F238E27FC236}">
                    <a16:creationId xmlns:a16="http://schemas.microsoft.com/office/drawing/2014/main" id="{F4ECE6C4-79E6-42B3-A9C4-45C0447488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052" y="3922112"/>
                <a:ext cx="11553074" cy="636187"/>
              </a:xfrm>
              <a:prstGeom prst="rect">
                <a:avLst/>
              </a:prstGeom>
              <a:blipFill>
                <a:blip r:embed="rId7"/>
                <a:stretch>
                  <a:fillRect l="-580" t="-4762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CFF891D-D891-48E2-9520-6949533390B0}"/>
                  </a:ext>
                </a:extLst>
              </p:cNvPr>
              <p:cNvSpPr txBox="1"/>
              <p:nvPr/>
            </p:nvSpPr>
            <p:spPr>
              <a:xfrm>
                <a:off x="509396" y="5099758"/>
                <a:ext cx="11166386" cy="9312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NZ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𝑽𝒂𝒓</m:t>
                      </m:r>
                      <m:d>
                        <m:dPr>
                          <m:begChr m:val="["/>
                          <m:endChr m:val="]"/>
                          <m:ctrlPr>
                            <a:rPr lang="en-NZ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</m:d>
                      <m:r>
                        <a:rPr lang="en-NZ" sz="20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NZ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NZ" altLang="ja-JP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NZ" altLang="ja-JP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NZ" altLang="ja-JP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NZ" altLang="ja-JP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NZ" altLang="ja-JP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sSubSup>
                            <m:sSubSupPr>
                              <m:ctrlPr>
                                <a:rPr lang="en-NZ" altLang="ja-JP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NZ" altLang="ja-JP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NZ" altLang="ja-JP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  <m:sup>
                              <m:r>
                                <a:rPr lang="en-NZ" altLang="ja-JP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bSup>
                          <m:r>
                            <a:rPr lang="en-NZ" altLang="ja-JP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NZ" altLang="ja-JP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𝑽𝒂𝒓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NZ" altLang="ja-JP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NZ" altLang="ja-JP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𝒀</m:t>
                                  </m:r>
                                </m:e>
                                <m:sub>
                                  <m:r>
                                    <a:rPr lang="en-NZ" altLang="ja-JP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d>
                          <m:r>
                            <a:rPr lang="en-NZ" altLang="ja-JP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NZ" sz="20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CFF891D-D891-48E2-9520-6949533390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396" y="5099758"/>
                <a:ext cx="11166386" cy="93121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A9AAF54B-A654-4661-B4C6-5B31217107FA}"/>
              </a:ext>
            </a:extLst>
          </p:cNvPr>
          <p:cNvSpPr txBox="1">
            <a:spLocks/>
          </p:cNvSpPr>
          <p:nvPr/>
        </p:nvSpPr>
        <p:spPr>
          <a:xfrm>
            <a:off x="7710985" y="6413163"/>
            <a:ext cx="3587149" cy="44483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</a:pPr>
            <a:r>
              <a:rPr lang="en-US" altLang="ja-JP" sz="1400" dirty="0">
                <a:solidFill>
                  <a:schemeClr val="bg2">
                    <a:lumMod val="50000"/>
                  </a:schemeClr>
                </a:solidFill>
              </a:rPr>
              <a:t>* This will always be the case in STAT 293</a:t>
            </a:r>
          </a:p>
        </p:txBody>
      </p:sp>
      <p:sp>
        <p:nvSpPr>
          <p:cNvPr id="19" name="Footer Placeholder 2">
            <a:extLst>
              <a:ext uri="{FF2B5EF4-FFF2-40B4-BE49-F238E27FC236}">
                <a16:creationId xmlns:a16="http://schemas.microsoft.com/office/drawing/2014/main" id="{AB17FE42-3B91-2982-7301-C96C980B8211}"/>
              </a:ext>
            </a:extLst>
          </p:cNvPr>
          <p:cNvSpPr txBox="1">
            <a:spLocks/>
          </p:cNvSpPr>
          <p:nvPr/>
        </p:nvSpPr>
        <p:spPr>
          <a:xfrm>
            <a:off x="8940800" y="86139"/>
            <a:ext cx="31485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1600" dirty="0">
                <a:solidFill>
                  <a:srgbClr val="DEDDDD"/>
                </a:solidFill>
                <a:latin typeface="Gidole"/>
              </a:rPr>
              <a:t>1.4 - Linear Combinations of RVs</a:t>
            </a:r>
            <a:endParaRPr kumimoji="1" lang="ja-JP" altLang="en-US" sz="1600" dirty="0">
              <a:solidFill>
                <a:srgbClr val="DEDDDD"/>
              </a:solidFill>
              <a:latin typeface="Gidole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9BA697A-5BE4-2986-613E-587D641F1145}"/>
              </a:ext>
            </a:extLst>
          </p:cNvPr>
          <p:cNvCxnSpPr>
            <a:cxnSpLocks/>
          </p:cNvCxnSpPr>
          <p:nvPr/>
        </p:nvCxnSpPr>
        <p:spPr>
          <a:xfrm>
            <a:off x="7629099" y="3112622"/>
            <a:ext cx="2591495" cy="636187"/>
          </a:xfrm>
          <a:prstGeom prst="line">
            <a:avLst/>
          </a:prstGeom>
          <a:ln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2732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5" grpId="0"/>
      <p:bldP spid="17" grpId="0"/>
      <p:bldP spid="20" grpId="0"/>
      <p:bldP spid="21" grpId="0"/>
      <p:bldP spid="2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6733"/>
            <a:ext cx="2185386" cy="741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4AD89C-DF1E-4948-B597-5DD47B34A9CA}" type="slidenum">
              <a:rPr kumimoji="1" lang="ja-JP" altLang="en-US" smtClean="0">
                <a:solidFill>
                  <a:srgbClr val="575454">
                    <a:lumMod val="20000"/>
                    <a:lumOff val="80000"/>
                  </a:srgbClr>
                </a:solidFill>
                <a:latin typeface="Coo Hew"/>
              </a:rPr>
              <a:pPr/>
              <a:t>39</a:t>
            </a:fld>
            <a:endParaRPr kumimoji="1" lang="ja-JP" altLang="en-US" dirty="0">
              <a:solidFill>
                <a:srgbClr val="575454">
                  <a:lumMod val="20000"/>
                  <a:lumOff val="80000"/>
                </a:srgbClr>
              </a:solidFill>
              <a:latin typeface="Coo Hew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DCE95AA1-F247-4D03-9A84-A08A95E2EB81}"/>
              </a:ext>
            </a:extLst>
          </p:cNvPr>
          <p:cNvSpPr txBox="1">
            <a:spLocks/>
          </p:cNvSpPr>
          <p:nvPr/>
        </p:nvSpPr>
        <p:spPr>
          <a:xfrm>
            <a:off x="319463" y="310113"/>
            <a:ext cx="8168429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b="1" u="sng" dirty="0">
                <a:latin typeface="+mn-lt"/>
              </a:rPr>
              <a:t>1.4c - Variance of Linear Combinations:</a:t>
            </a:r>
            <a:endParaRPr lang="ja-JP" altLang="en-US" b="1" u="sng" dirty="0">
              <a:latin typeface="+mn-lt"/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CF0EF27-D66E-440A-ADCA-1A987E76987F}"/>
              </a:ext>
            </a:extLst>
          </p:cNvPr>
          <p:cNvSpPr txBox="1">
            <a:spLocks/>
          </p:cNvSpPr>
          <p:nvPr/>
        </p:nvSpPr>
        <p:spPr>
          <a:xfrm>
            <a:off x="319463" y="1133968"/>
            <a:ext cx="11553074" cy="74126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US" altLang="ja-JP" sz="2000" dirty="0">
                <a:solidFill>
                  <a:schemeClr val="tx1"/>
                </a:solidFill>
              </a:rPr>
              <a:t>Suppose that we have a collection of random variables </a:t>
            </a:r>
            <a:r>
              <a:rPr lang="en-US" altLang="ja-JP" sz="2000" b="1" i="1" dirty="0">
                <a:solidFill>
                  <a:schemeClr val="tx1"/>
                </a:solidFill>
              </a:rPr>
              <a:t>Y</a:t>
            </a:r>
            <a:r>
              <a:rPr lang="en-US" altLang="ja-JP" sz="2000" b="1" i="1" baseline="-25000" dirty="0">
                <a:solidFill>
                  <a:schemeClr val="tx1"/>
                </a:solidFill>
              </a:rPr>
              <a:t>1,</a:t>
            </a:r>
            <a:r>
              <a:rPr lang="en-US" altLang="ja-JP" sz="2000" b="1" i="1" dirty="0">
                <a:solidFill>
                  <a:schemeClr val="tx1"/>
                </a:solidFill>
              </a:rPr>
              <a:t> Y</a:t>
            </a:r>
            <a:r>
              <a:rPr lang="en-US" altLang="ja-JP" sz="2000" b="1" i="1" baseline="-25000" dirty="0">
                <a:solidFill>
                  <a:schemeClr val="tx1"/>
                </a:solidFill>
              </a:rPr>
              <a:t>2,</a:t>
            </a:r>
            <a:r>
              <a:rPr lang="en-US" altLang="ja-JP" sz="2000" b="1" i="1" dirty="0">
                <a:solidFill>
                  <a:schemeClr val="tx1"/>
                </a:solidFill>
              </a:rPr>
              <a:t> … </a:t>
            </a:r>
            <a:r>
              <a:rPr lang="en-US" altLang="ja-JP" sz="2000" b="1" i="1" dirty="0" err="1">
                <a:solidFill>
                  <a:schemeClr val="tx1"/>
                </a:solidFill>
              </a:rPr>
              <a:t>Y</a:t>
            </a:r>
            <a:r>
              <a:rPr lang="en-US" altLang="ja-JP" sz="2000" b="1" i="1" baseline="-25000" dirty="0" err="1">
                <a:solidFill>
                  <a:schemeClr val="tx1"/>
                </a:solidFill>
              </a:rPr>
              <a:t>n</a:t>
            </a:r>
            <a:r>
              <a:rPr lang="en-US" altLang="ja-JP" sz="2000" b="1" i="1" dirty="0">
                <a:solidFill>
                  <a:schemeClr val="tx1"/>
                </a:solidFill>
              </a:rPr>
              <a:t> </a:t>
            </a:r>
            <a:r>
              <a:rPr lang="en-US" altLang="ja-JP" sz="2000" dirty="0">
                <a:solidFill>
                  <a:schemeClr val="tx1"/>
                </a:solidFill>
              </a:rPr>
              <a:t>and we form the linear combination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BE186E23-7D2D-4CF0-8FBB-5CADCBB44C53}"/>
              </a:ext>
            </a:extLst>
          </p:cNvPr>
          <p:cNvSpPr txBox="1">
            <a:spLocks/>
          </p:cNvSpPr>
          <p:nvPr/>
        </p:nvSpPr>
        <p:spPr>
          <a:xfrm>
            <a:off x="475153" y="2257859"/>
            <a:ext cx="11553074" cy="74126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endParaRPr lang="en-US" altLang="ja-JP" sz="2000" dirty="0">
              <a:latin typeface="Gidol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2F9A27B-7A5E-448F-A3C7-2A2DC67076AB}"/>
                  </a:ext>
                </a:extLst>
              </p:cNvPr>
              <p:cNvSpPr txBox="1"/>
              <p:nvPr/>
            </p:nvSpPr>
            <p:spPr>
              <a:xfrm>
                <a:off x="3032078" y="1492611"/>
                <a:ext cx="6127844" cy="9312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𝒁</m:t>
                      </m:r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sSub>
                            <m:sSubPr>
                              <m:ctrlP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e>
                            <m:sub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nary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=  </m:t>
                      </m:r>
                      <m:sSub>
                        <m:sSubPr>
                          <m:ctrlP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  <m:sub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+  </m:t>
                      </m:r>
                      <m:sSub>
                        <m:sSubPr>
                          <m:ctrlP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  <m:sub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+  </m:t>
                      </m:r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 +  </m:t>
                      </m:r>
                      <m:sSub>
                        <m:sSubPr>
                          <m:ctrlP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𝒀</m:t>
                          </m:r>
                        </m:e>
                        <m:sub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</m:oMath>
                  </m:oMathPara>
                </a14:m>
                <a:endParaRPr lang="en-NZ" sz="20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2F9A27B-7A5E-448F-A3C7-2A2DC67076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2078" y="1492611"/>
                <a:ext cx="6127844" cy="93121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7C594B6-C5FA-45B7-B955-74FD2CF2E7B9}"/>
              </a:ext>
            </a:extLst>
          </p:cNvPr>
          <p:cNvSpPr txBox="1">
            <a:spLocks/>
          </p:cNvSpPr>
          <p:nvPr/>
        </p:nvSpPr>
        <p:spPr>
          <a:xfrm>
            <a:off x="316052" y="2621581"/>
            <a:ext cx="11553074" cy="6361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US" altLang="ja-JP" sz="2000" dirty="0">
                <a:solidFill>
                  <a:schemeClr val="tx1"/>
                </a:solidFill>
              </a:rPr>
              <a:t>Then the variance of the linear combination is given by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C32F919-1FFF-4000-A845-A22384B2D000}"/>
                  </a:ext>
                </a:extLst>
              </p:cNvPr>
              <p:cNvSpPr txBox="1"/>
              <p:nvPr/>
            </p:nvSpPr>
            <p:spPr>
              <a:xfrm>
                <a:off x="475154" y="3022633"/>
                <a:ext cx="11166386" cy="9706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NZ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𝑽𝒂𝒓</m:t>
                      </m:r>
                      <m:d>
                        <m:dPr>
                          <m:begChr m:val="["/>
                          <m:endChr m:val="]"/>
                          <m:ctrlPr>
                            <a:rPr lang="en-NZ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</m:d>
                      <m:r>
                        <a:rPr lang="en-NZ" sz="20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=   </m:t>
                      </m:r>
                      <m:r>
                        <a:rPr lang="en-NZ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𝑽𝒂𝒓</m:t>
                      </m:r>
                      <m:d>
                        <m:dPr>
                          <m:begChr m:val="["/>
                          <m:endChr m:val="]"/>
                          <m:ctrlPr>
                            <a:rPr lang="en-NZ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nary>
                            <m:naryPr>
                              <m:chr m:val="∑"/>
                              <m:ctrlP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𝒀</m:t>
                                  </m:r>
                                </m:e>
                                <m:sub>
                                  <m: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nary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NZ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= </m:t>
                      </m:r>
                      <m:nary>
                        <m:naryPr>
                          <m:chr m:val="∑"/>
                          <m:ctrlPr>
                            <a:rPr lang="en-NZ" altLang="ja-JP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NZ" altLang="ja-JP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NZ" altLang="ja-JP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NZ" altLang="ja-JP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NZ" altLang="ja-JP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sSubSup>
                            <m:sSubSupPr>
                              <m:ctrlPr>
                                <a:rPr lang="en-NZ" altLang="ja-JP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NZ" altLang="ja-JP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NZ" altLang="ja-JP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  <m:sup>
                              <m:r>
                                <a:rPr lang="en-NZ" altLang="ja-JP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bSup>
                          <m:r>
                            <a:rPr lang="en-NZ" altLang="ja-JP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NZ" altLang="ja-JP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𝑽𝒂𝒓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NZ" altLang="ja-JP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NZ" altLang="ja-JP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𝒀</m:t>
                                  </m:r>
                                </m:e>
                                <m:sub>
                                  <m:r>
                                    <a:rPr lang="en-NZ" altLang="ja-JP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d>
                          <m:r>
                            <a:rPr lang="en-NZ" altLang="ja-JP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  </m:t>
                          </m:r>
                          <m:nary>
                            <m:naryPr>
                              <m:chr m:val="∑"/>
                              <m:ctrlP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  <m: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  <m:sup>
                                  <m: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𝒂</m:t>
                                      </m:r>
                                    </m:e>
                                    <m:sub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𝒂</m:t>
                                      </m:r>
                                    </m:e>
                                    <m:sub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𝒋</m:t>
                                      </m:r>
                                    </m:sub>
                                  </m:sSub>
                                  <m: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𝑪𝒐𝒗</m:t>
                                  </m:r>
                                  <m: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sSub>
                                    <m:sSubPr>
                                      <m:ctrlP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𝒀</m:t>
                                      </m:r>
                                    </m:e>
                                    <m:sub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sSub>
                                    <m:sSubPr>
                                      <m:ctrlP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𝒀</m:t>
                                      </m:r>
                                    </m:e>
                                    <m:sub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𝒋</m:t>
                                      </m:r>
                                    </m:sub>
                                  </m:sSub>
                                  <m: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e>
                              </m:nary>
                            </m:e>
                          </m:nary>
                        </m:e>
                      </m:nary>
                    </m:oMath>
                  </m:oMathPara>
                </a14:m>
                <a:endParaRPr lang="en-NZ" sz="20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C32F919-1FFF-4000-A845-A22384B2D0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154" y="3022633"/>
                <a:ext cx="11166386" cy="9706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Placeholder 5">
                <a:extLst>
                  <a:ext uri="{FF2B5EF4-FFF2-40B4-BE49-F238E27FC236}">
                    <a16:creationId xmlns:a16="http://schemas.microsoft.com/office/drawing/2014/main" id="{24660E97-E53C-4F63-87FF-77526AA116B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4661308"/>
                <a:ext cx="6736430" cy="454491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</a:pPr>
                <a:r>
                  <a:rPr lang="en-US" altLang="ja-JP" sz="2000" dirty="0">
                    <a:solidFill>
                      <a:schemeClr val="tx1"/>
                    </a:solidFill>
                  </a:rPr>
                  <a:t>Note that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NZ" altLang="ja-JP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lang="en-NZ" altLang="ja-JP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ja-JP" sz="2000" dirty="0">
                    <a:solidFill>
                      <a:schemeClr val="tx1"/>
                    </a:solidFill>
                  </a:rPr>
                  <a:t> are all independent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NZ" altLang="ja-JP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NZ" altLang="ja-JP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NZ" altLang="ja-JP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NZ" altLang="ja-JP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NZ" altLang="ja-JP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NZ" altLang="ja-JP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br>
                  <a:rPr lang="en-NZ" altLang="ja-JP" sz="2000" b="0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NZ" altLang="ja-JP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∀ </m:t>
                    </m:r>
                    <m:r>
                      <a:rPr lang="en-NZ" altLang="ja-JP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NZ" altLang="ja-JP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=1, …, </m:t>
                    </m:r>
                    <m:r>
                      <a:rPr lang="en-NZ" altLang="ja-JP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ja-JP" sz="2000" dirty="0">
                    <a:solidFill>
                      <a:schemeClr val="tx1"/>
                    </a:solidFill>
                  </a:rPr>
                  <a:t>  </a:t>
                </a:r>
                <a:r>
                  <a:rPr lang="en-NZ" altLang="ja-JP" sz="2000" dirty="0">
                    <a:solidFill>
                      <a:schemeClr val="tx1"/>
                    </a:solidFill>
                  </a:rPr>
                  <a:t>then</a:t>
                </a:r>
                <a:r>
                  <a:rPr lang="en-US" altLang="ja-JP" sz="2000" dirty="0">
                    <a:solidFill>
                      <a:schemeClr val="tx1"/>
                    </a:solidFill>
                  </a:rPr>
                  <a:t> equation (2) becomes</a:t>
                </a:r>
              </a:p>
            </p:txBody>
          </p:sp>
        </mc:Choice>
        <mc:Fallback xmlns="">
          <p:sp>
            <p:nvSpPr>
              <p:cNvPr id="15" name="Text Placeholder 5">
                <a:extLst>
                  <a:ext uri="{FF2B5EF4-FFF2-40B4-BE49-F238E27FC236}">
                    <a16:creationId xmlns:a16="http://schemas.microsoft.com/office/drawing/2014/main" id="{24660E97-E53C-4F63-87FF-77526AA116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4661308"/>
                <a:ext cx="6736430" cy="454491"/>
              </a:xfrm>
              <a:prstGeom prst="rect">
                <a:avLst/>
              </a:prstGeom>
              <a:blipFill>
                <a:blip r:embed="rId5"/>
                <a:stretch>
                  <a:fillRect l="-905" t="-8108" b="-79730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290AD66-0203-47AA-B7E9-1FA49895DBD2}"/>
                  </a:ext>
                </a:extLst>
              </p:cNvPr>
              <p:cNvSpPr txBox="1"/>
              <p:nvPr/>
            </p:nvSpPr>
            <p:spPr>
              <a:xfrm>
                <a:off x="10383735" y="3306901"/>
                <a:ext cx="91439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NZ" sz="20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290AD66-0203-47AA-B7E9-1FA49895DB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3735" y="3306901"/>
                <a:ext cx="914399" cy="400110"/>
              </a:xfrm>
              <a:prstGeom prst="rect">
                <a:avLst/>
              </a:prstGeom>
              <a:blipFill>
                <a:blip r:embed="rId6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 Placeholder 5">
                <a:extLst>
                  <a:ext uri="{FF2B5EF4-FFF2-40B4-BE49-F238E27FC236}">
                    <a16:creationId xmlns:a16="http://schemas.microsoft.com/office/drawing/2014/main" id="{F4ECE6C4-79E6-42B3-A9C4-45C0447488C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6052" y="3922112"/>
                <a:ext cx="11553074" cy="636187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:r>
                  <a:rPr lang="en-US" altLang="ja-JP" sz="2000" dirty="0">
                    <a:solidFill>
                      <a:schemeClr val="tx1"/>
                    </a:solidFill>
                  </a:rPr>
                  <a:t>… where </a:t>
                </a:r>
                <a14:m>
                  <m:oMath xmlns:m="http://schemas.openxmlformats.org/officeDocument/2006/math">
                    <m:r>
                      <a:rPr lang="en-NZ" altLang="ja-JP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NZ" altLang="ja-JP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≠</m:t>
                    </m:r>
                    <m:r>
                      <a:rPr lang="en-NZ" altLang="ja-JP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NZ" altLang="ja-JP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ja-JP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Text Placeholder 5">
                <a:extLst>
                  <a:ext uri="{FF2B5EF4-FFF2-40B4-BE49-F238E27FC236}">
                    <a16:creationId xmlns:a16="http://schemas.microsoft.com/office/drawing/2014/main" id="{F4ECE6C4-79E6-42B3-A9C4-45C0447488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052" y="3922112"/>
                <a:ext cx="11553074" cy="636187"/>
              </a:xfrm>
              <a:prstGeom prst="rect">
                <a:avLst/>
              </a:prstGeom>
              <a:blipFill>
                <a:blip r:embed="rId7"/>
                <a:stretch>
                  <a:fillRect l="-580" t="-4762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CFF891D-D891-48E2-9520-6949533390B0}"/>
                  </a:ext>
                </a:extLst>
              </p:cNvPr>
              <p:cNvSpPr txBox="1"/>
              <p:nvPr/>
            </p:nvSpPr>
            <p:spPr>
              <a:xfrm>
                <a:off x="475153" y="5289583"/>
                <a:ext cx="4744992" cy="9312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NZ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𝑽𝒂𝒓</m:t>
                      </m:r>
                      <m:d>
                        <m:dPr>
                          <m:begChr m:val="["/>
                          <m:endChr m:val="]"/>
                          <m:ctrlPr>
                            <a:rPr lang="en-NZ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</m:d>
                      <m:r>
                        <a:rPr lang="en-NZ" sz="20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NZ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NZ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NZ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NZ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nary>
                        <m:naryPr>
                          <m:chr m:val="∑"/>
                          <m:ctrlP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𝑽𝒂𝒓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𝒀</m:t>
                                  </m:r>
                                </m:e>
                                <m:sub>
                                  <m: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d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NZ" sz="20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CFF891D-D891-48E2-9520-6949533390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153" y="5289583"/>
                <a:ext cx="4744992" cy="93121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Footer Placeholder 2">
            <a:extLst>
              <a:ext uri="{FF2B5EF4-FFF2-40B4-BE49-F238E27FC236}">
                <a16:creationId xmlns:a16="http://schemas.microsoft.com/office/drawing/2014/main" id="{2FF256DA-1B75-2E91-D104-7FC68CF1863D}"/>
              </a:ext>
            </a:extLst>
          </p:cNvPr>
          <p:cNvSpPr txBox="1">
            <a:spLocks/>
          </p:cNvSpPr>
          <p:nvPr/>
        </p:nvSpPr>
        <p:spPr>
          <a:xfrm>
            <a:off x="8940800" y="86139"/>
            <a:ext cx="31485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1600" dirty="0">
                <a:solidFill>
                  <a:srgbClr val="DEDDDD"/>
                </a:solidFill>
                <a:latin typeface="Gidole"/>
              </a:rPr>
              <a:t>1.4 - Linear Combinations of RVs</a:t>
            </a:r>
            <a:endParaRPr kumimoji="1" lang="ja-JP" altLang="en-US" sz="1600" dirty="0">
              <a:solidFill>
                <a:srgbClr val="DEDDDD"/>
              </a:solidFill>
              <a:latin typeface="Gidole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89C7A1D-BF07-BC51-0C3D-2432103FDC16}"/>
              </a:ext>
            </a:extLst>
          </p:cNvPr>
          <p:cNvCxnSpPr>
            <a:cxnSpLocks/>
          </p:cNvCxnSpPr>
          <p:nvPr/>
        </p:nvCxnSpPr>
        <p:spPr>
          <a:xfrm>
            <a:off x="7629099" y="3112622"/>
            <a:ext cx="2591495" cy="636187"/>
          </a:xfrm>
          <a:prstGeom prst="line">
            <a:avLst/>
          </a:prstGeom>
          <a:ln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379437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6733"/>
            <a:ext cx="2185386" cy="741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4AD89C-DF1E-4948-B597-5DD47B34A9CA}" type="slidenum">
              <a:rPr kumimoji="1" lang="ja-JP" altLang="en-US" smtClean="0">
                <a:solidFill>
                  <a:srgbClr val="575454">
                    <a:lumMod val="20000"/>
                    <a:lumOff val="80000"/>
                  </a:srgbClr>
                </a:solidFill>
                <a:latin typeface="Coo Hew"/>
              </a:rPr>
              <a:pPr/>
              <a:t>40</a:t>
            </a:fld>
            <a:endParaRPr kumimoji="1" lang="ja-JP" altLang="en-US" dirty="0">
              <a:solidFill>
                <a:srgbClr val="575454">
                  <a:lumMod val="20000"/>
                  <a:lumOff val="80000"/>
                </a:srgbClr>
              </a:solidFill>
              <a:latin typeface="Coo Hew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DCE95AA1-F247-4D03-9A84-A08A95E2EB81}"/>
              </a:ext>
            </a:extLst>
          </p:cNvPr>
          <p:cNvSpPr txBox="1">
            <a:spLocks/>
          </p:cNvSpPr>
          <p:nvPr/>
        </p:nvSpPr>
        <p:spPr>
          <a:xfrm>
            <a:off x="319463" y="310113"/>
            <a:ext cx="8168429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b="1" u="sng" dirty="0">
                <a:latin typeface="+mn-lt"/>
              </a:rPr>
              <a:t>1.4c - Variance of Linear Combinations:</a:t>
            </a:r>
            <a:endParaRPr lang="ja-JP" altLang="en-US" b="1" u="sng" dirty="0">
              <a:latin typeface="+mn-lt"/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CF0EF27-D66E-440A-ADCA-1A987E76987F}"/>
              </a:ext>
            </a:extLst>
          </p:cNvPr>
          <p:cNvSpPr txBox="1">
            <a:spLocks/>
          </p:cNvSpPr>
          <p:nvPr/>
        </p:nvSpPr>
        <p:spPr>
          <a:xfrm>
            <a:off x="319463" y="1133968"/>
            <a:ext cx="11553074" cy="74126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US" altLang="ja-JP" sz="2000" dirty="0">
                <a:solidFill>
                  <a:schemeClr val="tx1"/>
                </a:solidFill>
              </a:rPr>
              <a:t>Suppose that we have a collection of random variables </a:t>
            </a:r>
            <a:r>
              <a:rPr lang="en-US" altLang="ja-JP" sz="2000" b="1" i="1" dirty="0">
                <a:solidFill>
                  <a:schemeClr val="tx1"/>
                </a:solidFill>
              </a:rPr>
              <a:t>Y</a:t>
            </a:r>
            <a:r>
              <a:rPr lang="en-US" altLang="ja-JP" sz="2000" b="1" i="1" baseline="-25000" dirty="0">
                <a:solidFill>
                  <a:schemeClr val="tx1"/>
                </a:solidFill>
              </a:rPr>
              <a:t>1,</a:t>
            </a:r>
            <a:r>
              <a:rPr lang="en-US" altLang="ja-JP" sz="2000" b="1" i="1" dirty="0">
                <a:solidFill>
                  <a:schemeClr val="tx1"/>
                </a:solidFill>
              </a:rPr>
              <a:t> Y</a:t>
            </a:r>
            <a:r>
              <a:rPr lang="en-US" altLang="ja-JP" sz="2000" b="1" i="1" baseline="-25000" dirty="0">
                <a:solidFill>
                  <a:schemeClr val="tx1"/>
                </a:solidFill>
              </a:rPr>
              <a:t>2,</a:t>
            </a:r>
            <a:r>
              <a:rPr lang="en-US" altLang="ja-JP" sz="2000" b="1" i="1" dirty="0">
                <a:solidFill>
                  <a:schemeClr val="tx1"/>
                </a:solidFill>
              </a:rPr>
              <a:t> … </a:t>
            </a:r>
            <a:r>
              <a:rPr lang="en-US" altLang="ja-JP" sz="2000" b="1" i="1" dirty="0" err="1">
                <a:solidFill>
                  <a:schemeClr val="tx1"/>
                </a:solidFill>
              </a:rPr>
              <a:t>Y</a:t>
            </a:r>
            <a:r>
              <a:rPr lang="en-US" altLang="ja-JP" sz="2000" b="1" i="1" baseline="-25000" dirty="0" err="1">
                <a:solidFill>
                  <a:schemeClr val="tx1"/>
                </a:solidFill>
              </a:rPr>
              <a:t>n</a:t>
            </a:r>
            <a:r>
              <a:rPr lang="en-US" altLang="ja-JP" sz="2000" b="1" i="1" dirty="0">
                <a:solidFill>
                  <a:schemeClr val="tx1"/>
                </a:solidFill>
              </a:rPr>
              <a:t> </a:t>
            </a:r>
            <a:r>
              <a:rPr lang="en-US" altLang="ja-JP" sz="2000" dirty="0">
                <a:solidFill>
                  <a:schemeClr val="tx1"/>
                </a:solidFill>
              </a:rPr>
              <a:t>and we form the linear combination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BE186E23-7D2D-4CF0-8FBB-5CADCBB44C53}"/>
              </a:ext>
            </a:extLst>
          </p:cNvPr>
          <p:cNvSpPr txBox="1">
            <a:spLocks/>
          </p:cNvSpPr>
          <p:nvPr/>
        </p:nvSpPr>
        <p:spPr>
          <a:xfrm>
            <a:off x="475153" y="2257859"/>
            <a:ext cx="11553074" cy="74126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endParaRPr lang="en-US" altLang="ja-JP" sz="2000" dirty="0">
              <a:latin typeface="Gidol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2F9A27B-7A5E-448F-A3C7-2A2DC67076AB}"/>
                  </a:ext>
                </a:extLst>
              </p:cNvPr>
              <p:cNvSpPr txBox="1"/>
              <p:nvPr/>
            </p:nvSpPr>
            <p:spPr>
              <a:xfrm>
                <a:off x="3032078" y="1492611"/>
                <a:ext cx="6127844" cy="9312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𝒁</m:t>
                      </m:r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sSub>
                            <m:sSubPr>
                              <m:ctrlP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e>
                            <m:sub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nary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=  </m:t>
                      </m:r>
                      <m:sSub>
                        <m:sSubPr>
                          <m:ctrlP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  <m:sub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+  </m:t>
                      </m:r>
                      <m:sSub>
                        <m:sSubPr>
                          <m:ctrlP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  <m:sub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+  </m:t>
                      </m:r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 +  </m:t>
                      </m:r>
                      <m:sSub>
                        <m:sSubPr>
                          <m:ctrlP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𝒀</m:t>
                          </m:r>
                        </m:e>
                        <m:sub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</m:oMath>
                  </m:oMathPara>
                </a14:m>
                <a:endParaRPr lang="en-NZ" sz="20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2F9A27B-7A5E-448F-A3C7-2A2DC67076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2078" y="1492611"/>
                <a:ext cx="6127844" cy="93121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7C594B6-C5FA-45B7-B955-74FD2CF2E7B9}"/>
              </a:ext>
            </a:extLst>
          </p:cNvPr>
          <p:cNvSpPr txBox="1">
            <a:spLocks/>
          </p:cNvSpPr>
          <p:nvPr/>
        </p:nvSpPr>
        <p:spPr>
          <a:xfrm>
            <a:off x="316052" y="2621581"/>
            <a:ext cx="11553074" cy="6361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US" altLang="ja-JP" sz="2000" dirty="0">
                <a:solidFill>
                  <a:schemeClr val="tx1"/>
                </a:solidFill>
              </a:rPr>
              <a:t>Then the variance of the linear combination is given by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C32F919-1FFF-4000-A845-A22384B2D000}"/>
                  </a:ext>
                </a:extLst>
              </p:cNvPr>
              <p:cNvSpPr txBox="1"/>
              <p:nvPr/>
            </p:nvSpPr>
            <p:spPr>
              <a:xfrm>
                <a:off x="475154" y="3022633"/>
                <a:ext cx="11166386" cy="9706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NZ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𝑽𝒂𝒓</m:t>
                      </m:r>
                      <m:d>
                        <m:dPr>
                          <m:begChr m:val="["/>
                          <m:endChr m:val="]"/>
                          <m:ctrlPr>
                            <a:rPr lang="en-NZ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</m:d>
                      <m:r>
                        <a:rPr lang="en-NZ" sz="20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=   </m:t>
                      </m:r>
                      <m:r>
                        <a:rPr lang="en-NZ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𝑽𝒂𝒓</m:t>
                      </m:r>
                      <m:d>
                        <m:dPr>
                          <m:begChr m:val="["/>
                          <m:endChr m:val="]"/>
                          <m:ctrlPr>
                            <a:rPr lang="en-NZ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nary>
                            <m:naryPr>
                              <m:chr m:val="∑"/>
                              <m:ctrlP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𝒀</m:t>
                                  </m:r>
                                </m:e>
                                <m:sub>
                                  <m: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nary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NZ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= </m:t>
                      </m:r>
                      <m:nary>
                        <m:naryPr>
                          <m:chr m:val="∑"/>
                          <m:ctrlPr>
                            <a:rPr lang="en-NZ" altLang="ja-JP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NZ" altLang="ja-JP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NZ" altLang="ja-JP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NZ" altLang="ja-JP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NZ" altLang="ja-JP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sSubSup>
                            <m:sSubSupPr>
                              <m:ctrlPr>
                                <a:rPr lang="en-NZ" altLang="ja-JP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NZ" altLang="ja-JP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NZ" altLang="ja-JP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  <m:sup>
                              <m:r>
                                <a:rPr lang="en-NZ" altLang="ja-JP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bSup>
                          <m:r>
                            <a:rPr lang="en-NZ" altLang="ja-JP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NZ" altLang="ja-JP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𝑽𝒂𝒓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NZ" altLang="ja-JP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NZ" altLang="ja-JP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𝒀</m:t>
                                  </m:r>
                                </m:e>
                                <m:sub>
                                  <m:r>
                                    <a:rPr lang="en-NZ" altLang="ja-JP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d>
                          <m:r>
                            <a:rPr lang="en-NZ" altLang="ja-JP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  </m:t>
                          </m:r>
                          <m:nary>
                            <m:naryPr>
                              <m:chr m:val="∑"/>
                              <m:ctrlP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  <m: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  <m:sup>
                                  <m: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𝒂</m:t>
                                      </m:r>
                                    </m:e>
                                    <m:sub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𝒂</m:t>
                                      </m:r>
                                    </m:e>
                                    <m:sub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𝒋</m:t>
                                      </m:r>
                                    </m:sub>
                                  </m:sSub>
                                  <m: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𝑪𝒐𝒗</m:t>
                                  </m:r>
                                  <m: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sSub>
                                    <m:sSubPr>
                                      <m:ctrlP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𝒀</m:t>
                                      </m:r>
                                    </m:e>
                                    <m:sub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sSub>
                                    <m:sSubPr>
                                      <m:ctrlP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𝒀</m:t>
                                      </m:r>
                                    </m:e>
                                    <m:sub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𝒋</m:t>
                                      </m:r>
                                    </m:sub>
                                  </m:sSub>
                                  <m: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e>
                              </m:nary>
                            </m:e>
                          </m:nary>
                        </m:e>
                      </m:nary>
                    </m:oMath>
                  </m:oMathPara>
                </a14:m>
                <a:endParaRPr lang="en-NZ" sz="20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C32F919-1FFF-4000-A845-A22384B2D0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154" y="3022633"/>
                <a:ext cx="11166386" cy="9706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Placeholder 5">
                <a:extLst>
                  <a:ext uri="{FF2B5EF4-FFF2-40B4-BE49-F238E27FC236}">
                    <a16:creationId xmlns:a16="http://schemas.microsoft.com/office/drawing/2014/main" id="{24660E97-E53C-4F63-87FF-77526AA116B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4661308"/>
                <a:ext cx="11553074" cy="454491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</a:pPr>
                <a:r>
                  <a:rPr lang="en-US" altLang="ja-JP" sz="2000" dirty="0">
                    <a:solidFill>
                      <a:schemeClr val="tx1"/>
                    </a:solidFill>
                  </a:rPr>
                  <a:t>Note that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NZ" altLang="ja-JP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lang="en-NZ" altLang="ja-JP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ja-JP" sz="2000" dirty="0">
                    <a:solidFill>
                      <a:schemeClr val="tx1"/>
                    </a:solidFill>
                  </a:rPr>
                  <a:t> are all independent and </a:t>
                </a:r>
                <a14:m>
                  <m:oMath xmlns:m="http://schemas.openxmlformats.org/officeDocument/2006/math">
                    <m:r>
                      <a:rPr lang="en-NZ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𝑽𝒂𝒓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NZ" altLang="ja-JP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NZ" altLang="ja-JP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𝒀</m:t>
                            </m:r>
                          </m:e>
                          <m:sub>
                            <m:r>
                              <a:rPr lang="en-NZ" altLang="ja-JP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en-NZ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NZ" altLang="ja-JP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NZ" altLang="ja-JP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𝝈</m:t>
                        </m:r>
                      </m:e>
                      <m:sup>
                        <m:r>
                          <a:rPr lang="en-NZ" altLang="ja-JP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NZ" altLang="ja-JP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  </m:t>
                    </m:r>
                  </m:oMath>
                </a14:m>
                <a:br>
                  <a:rPr lang="en-NZ" altLang="ja-JP" sz="2000" b="0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NZ" altLang="ja-JP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∀ </m:t>
                    </m:r>
                    <m:r>
                      <a:rPr lang="en-NZ" altLang="ja-JP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NZ" altLang="ja-JP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=1, …, </m:t>
                    </m:r>
                    <m:r>
                      <a:rPr lang="en-NZ" altLang="ja-JP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ja-JP" sz="2000" dirty="0">
                    <a:solidFill>
                      <a:schemeClr val="tx1"/>
                    </a:solidFill>
                  </a:rPr>
                  <a:t>  </a:t>
                </a:r>
                <a:r>
                  <a:rPr lang="en-NZ" altLang="ja-JP" sz="2000" dirty="0">
                    <a:solidFill>
                      <a:schemeClr val="tx1"/>
                    </a:solidFill>
                  </a:rPr>
                  <a:t>then</a:t>
                </a:r>
                <a:r>
                  <a:rPr lang="en-US" altLang="ja-JP" sz="2000" dirty="0">
                    <a:solidFill>
                      <a:schemeClr val="tx1"/>
                    </a:solidFill>
                  </a:rPr>
                  <a:t> equation (2) becomes</a:t>
                </a:r>
              </a:p>
            </p:txBody>
          </p:sp>
        </mc:Choice>
        <mc:Fallback xmlns="">
          <p:sp>
            <p:nvSpPr>
              <p:cNvPr id="15" name="Text Placeholder 5">
                <a:extLst>
                  <a:ext uri="{FF2B5EF4-FFF2-40B4-BE49-F238E27FC236}">
                    <a16:creationId xmlns:a16="http://schemas.microsoft.com/office/drawing/2014/main" id="{24660E97-E53C-4F63-87FF-77526AA116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4661308"/>
                <a:ext cx="11553074" cy="454491"/>
              </a:xfrm>
              <a:prstGeom prst="rect">
                <a:avLst/>
              </a:prstGeom>
              <a:blipFill>
                <a:blip r:embed="rId5"/>
                <a:stretch>
                  <a:fillRect l="-527" t="-5405" b="-81081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290AD66-0203-47AA-B7E9-1FA49895DBD2}"/>
                  </a:ext>
                </a:extLst>
              </p:cNvPr>
              <p:cNvSpPr txBox="1"/>
              <p:nvPr/>
            </p:nvSpPr>
            <p:spPr>
              <a:xfrm>
                <a:off x="10383735" y="3306901"/>
                <a:ext cx="91439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NZ" sz="20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290AD66-0203-47AA-B7E9-1FA49895DB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3735" y="3306901"/>
                <a:ext cx="914399" cy="400110"/>
              </a:xfrm>
              <a:prstGeom prst="rect">
                <a:avLst/>
              </a:prstGeom>
              <a:blipFill>
                <a:blip r:embed="rId6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 Placeholder 5">
                <a:extLst>
                  <a:ext uri="{FF2B5EF4-FFF2-40B4-BE49-F238E27FC236}">
                    <a16:creationId xmlns:a16="http://schemas.microsoft.com/office/drawing/2014/main" id="{F4ECE6C4-79E6-42B3-A9C4-45C0447488C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6052" y="3922112"/>
                <a:ext cx="11553074" cy="636187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:r>
                  <a:rPr lang="en-US" altLang="ja-JP" sz="2000" dirty="0">
                    <a:solidFill>
                      <a:schemeClr val="tx1"/>
                    </a:solidFill>
                  </a:rPr>
                  <a:t>… where </a:t>
                </a:r>
                <a14:m>
                  <m:oMath xmlns:m="http://schemas.openxmlformats.org/officeDocument/2006/math">
                    <m:r>
                      <a:rPr lang="en-NZ" altLang="ja-JP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NZ" altLang="ja-JP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≠</m:t>
                    </m:r>
                    <m:r>
                      <a:rPr lang="en-NZ" altLang="ja-JP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NZ" altLang="ja-JP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ja-JP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Text Placeholder 5">
                <a:extLst>
                  <a:ext uri="{FF2B5EF4-FFF2-40B4-BE49-F238E27FC236}">
                    <a16:creationId xmlns:a16="http://schemas.microsoft.com/office/drawing/2014/main" id="{F4ECE6C4-79E6-42B3-A9C4-45C0447488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052" y="3922112"/>
                <a:ext cx="11553074" cy="636187"/>
              </a:xfrm>
              <a:prstGeom prst="rect">
                <a:avLst/>
              </a:prstGeom>
              <a:blipFill>
                <a:blip r:embed="rId7"/>
                <a:stretch>
                  <a:fillRect l="-580" t="-4762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CFF891D-D891-48E2-9520-6949533390B0}"/>
                  </a:ext>
                </a:extLst>
              </p:cNvPr>
              <p:cNvSpPr txBox="1"/>
              <p:nvPr/>
            </p:nvSpPr>
            <p:spPr>
              <a:xfrm>
                <a:off x="475153" y="5312625"/>
                <a:ext cx="4758640" cy="9312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NZ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𝑽𝒂𝒓</m:t>
                      </m:r>
                      <m:d>
                        <m:dPr>
                          <m:begChr m:val="["/>
                          <m:endChr m:val="]"/>
                          <m:ctrlPr>
                            <a:rPr lang="en-NZ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</m:d>
                      <m:r>
                        <a:rPr lang="en-NZ" sz="20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NZ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NZ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NZ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𝝈</m:t>
                          </m:r>
                        </m:e>
                        <m:sup>
                          <m:r>
                            <a:rPr lang="en-NZ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nary>
                        <m:naryPr>
                          <m:chr m:val="∑"/>
                          <m:ctrlP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Sup>
                            <m:sSubSupPr>
                              <m:ctrlP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  <m:sup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NZ" sz="20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CFF891D-D891-48E2-9520-6949533390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153" y="5312625"/>
                <a:ext cx="4758640" cy="93121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Footer Placeholder 2">
            <a:extLst>
              <a:ext uri="{FF2B5EF4-FFF2-40B4-BE49-F238E27FC236}">
                <a16:creationId xmlns:a16="http://schemas.microsoft.com/office/drawing/2014/main" id="{F72F3480-B2FB-C8CA-24FA-29612C459842}"/>
              </a:ext>
            </a:extLst>
          </p:cNvPr>
          <p:cNvSpPr txBox="1">
            <a:spLocks/>
          </p:cNvSpPr>
          <p:nvPr/>
        </p:nvSpPr>
        <p:spPr>
          <a:xfrm>
            <a:off x="8940800" y="86139"/>
            <a:ext cx="31485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1600" dirty="0">
                <a:solidFill>
                  <a:srgbClr val="DEDDDD"/>
                </a:solidFill>
                <a:latin typeface="Gidole"/>
              </a:rPr>
              <a:t>1.4 - Linear Combinations of RVs</a:t>
            </a:r>
            <a:endParaRPr kumimoji="1" lang="ja-JP" altLang="en-US" sz="1600" dirty="0">
              <a:solidFill>
                <a:srgbClr val="DEDDDD"/>
              </a:solidFill>
              <a:latin typeface="Gidole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A2878A2-6FAF-94A8-340B-67118AF0ECA3}"/>
              </a:ext>
            </a:extLst>
          </p:cNvPr>
          <p:cNvCxnSpPr>
            <a:cxnSpLocks/>
          </p:cNvCxnSpPr>
          <p:nvPr/>
        </p:nvCxnSpPr>
        <p:spPr>
          <a:xfrm>
            <a:off x="7629099" y="3112622"/>
            <a:ext cx="2591495" cy="636187"/>
          </a:xfrm>
          <a:prstGeom prst="line">
            <a:avLst/>
          </a:prstGeom>
          <a:ln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455799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6733"/>
            <a:ext cx="2185386" cy="741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4AD89C-DF1E-4948-B597-5DD47B34A9CA}" type="slidenum">
              <a:rPr kumimoji="1" lang="ja-JP" altLang="en-US" smtClean="0">
                <a:solidFill>
                  <a:srgbClr val="575454">
                    <a:lumMod val="20000"/>
                    <a:lumOff val="80000"/>
                  </a:srgbClr>
                </a:solidFill>
                <a:latin typeface="Coo Hew"/>
              </a:rPr>
              <a:pPr/>
              <a:t>41</a:t>
            </a:fld>
            <a:endParaRPr kumimoji="1" lang="ja-JP" altLang="en-US" dirty="0">
              <a:solidFill>
                <a:srgbClr val="575454">
                  <a:lumMod val="20000"/>
                  <a:lumOff val="80000"/>
                </a:srgbClr>
              </a:solidFill>
              <a:latin typeface="Coo Hew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DCE95AA1-F247-4D03-9A84-A08A95E2EB81}"/>
              </a:ext>
            </a:extLst>
          </p:cNvPr>
          <p:cNvSpPr txBox="1">
            <a:spLocks/>
          </p:cNvSpPr>
          <p:nvPr/>
        </p:nvSpPr>
        <p:spPr>
          <a:xfrm>
            <a:off x="319463" y="310113"/>
            <a:ext cx="8168429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b="1" u="sng" dirty="0">
                <a:latin typeface="+mn-lt"/>
              </a:rPr>
              <a:t>1.4c - Variance of Linear Combinations:</a:t>
            </a:r>
            <a:endParaRPr lang="ja-JP" altLang="en-US" b="1" u="sng" dirty="0">
              <a:latin typeface="+mn-lt"/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CF0EF27-D66E-440A-ADCA-1A987E76987F}"/>
              </a:ext>
            </a:extLst>
          </p:cNvPr>
          <p:cNvSpPr txBox="1">
            <a:spLocks/>
          </p:cNvSpPr>
          <p:nvPr/>
        </p:nvSpPr>
        <p:spPr>
          <a:xfrm>
            <a:off x="319463" y="1133968"/>
            <a:ext cx="11553074" cy="74126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US" altLang="ja-JP" sz="2000" dirty="0">
                <a:solidFill>
                  <a:schemeClr val="tx1"/>
                </a:solidFill>
              </a:rPr>
              <a:t>Suppose that we have a collection of random variables </a:t>
            </a:r>
            <a:r>
              <a:rPr lang="en-US" altLang="ja-JP" sz="2000" b="1" i="1" dirty="0">
                <a:solidFill>
                  <a:schemeClr val="tx1"/>
                </a:solidFill>
              </a:rPr>
              <a:t>Y</a:t>
            </a:r>
            <a:r>
              <a:rPr lang="en-US" altLang="ja-JP" sz="2000" b="1" i="1" baseline="-25000" dirty="0">
                <a:solidFill>
                  <a:schemeClr val="tx1"/>
                </a:solidFill>
              </a:rPr>
              <a:t>1,</a:t>
            </a:r>
            <a:r>
              <a:rPr lang="en-US" altLang="ja-JP" sz="2000" b="1" i="1" dirty="0">
                <a:solidFill>
                  <a:schemeClr val="tx1"/>
                </a:solidFill>
              </a:rPr>
              <a:t> Y</a:t>
            </a:r>
            <a:r>
              <a:rPr lang="en-US" altLang="ja-JP" sz="2000" b="1" i="1" baseline="-25000" dirty="0">
                <a:solidFill>
                  <a:schemeClr val="tx1"/>
                </a:solidFill>
              </a:rPr>
              <a:t>2,</a:t>
            </a:r>
            <a:r>
              <a:rPr lang="en-US" altLang="ja-JP" sz="2000" b="1" i="1" dirty="0">
                <a:solidFill>
                  <a:schemeClr val="tx1"/>
                </a:solidFill>
              </a:rPr>
              <a:t> … </a:t>
            </a:r>
            <a:r>
              <a:rPr lang="en-US" altLang="ja-JP" sz="2000" b="1" i="1" dirty="0" err="1">
                <a:solidFill>
                  <a:schemeClr val="tx1"/>
                </a:solidFill>
              </a:rPr>
              <a:t>Y</a:t>
            </a:r>
            <a:r>
              <a:rPr lang="en-US" altLang="ja-JP" sz="2000" b="1" i="1" baseline="-25000" dirty="0" err="1">
                <a:solidFill>
                  <a:schemeClr val="tx1"/>
                </a:solidFill>
              </a:rPr>
              <a:t>n</a:t>
            </a:r>
            <a:r>
              <a:rPr lang="en-US" altLang="ja-JP" sz="2000" b="1" i="1" dirty="0">
                <a:solidFill>
                  <a:schemeClr val="tx1"/>
                </a:solidFill>
              </a:rPr>
              <a:t> </a:t>
            </a:r>
            <a:r>
              <a:rPr lang="en-US" altLang="ja-JP" sz="2000" dirty="0">
                <a:solidFill>
                  <a:schemeClr val="tx1"/>
                </a:solidFill>
              </a:rPr>
              <a:t>and we form the linear combination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BE186E23-7D2D-4CF0-8FBB-5CADCBB44C53}"/>
              </a:ext>
            </a:extLst>
          </p:cNvPr>
          <p:cNvSpPr txBox="1">
            <a:spLocks/>
          </p:cNvSpPr>
          <p:nvPr/>
        </p:nvSpPr>
        <p:spPr>
          <a:xfrm>
            <a:off x="475153" y="2257859"/>
            <a:ext cx="11553074" cy="74126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endParaRPr lang="en-US" altLang="ja-JP" sz="2000" dirty="0">
              <a:latin typeface="Gidol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2F9A27B-7A5E-448F-A3C7-2A2DC67076AB}"/>
                  </a:ext>
                </a:extLst>
              </p:cNvPr>
              <p:cNvSpPr txBox="1"/>
              <p:nvPr/>
            </p:nvSpPr>
            <p:spPr>
              <a:xfrm>
                <a:off x="3032078" y="1492611"/>
                <a:ext cx="6127844" cy="9312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𝒁</m:t>
                      </m:r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sSub>
                            <m:sSubPr>
                              <m:ctrlP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e>
                            <m:sub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nary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=  </m:t>
                      </m:r>
                      <m:sSub>
                        <m:sSubPr>
                          <m:ctrlP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  <m:sub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+  </m:t>
                      </m:r>
                      <m:sSub>
                        <m:sSubPr>
                          <m:ctrlP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  <m:sub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+  </m:t>
                      </m:r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 +  </m:t>
                      </m:r>
                      <m:sSub>
                        <m:sSubPr>
                          <m:ctrlP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𝒀</m:t>
                          </m:r>
                        </m:e>
                        <m:sub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</m:oMath>
                  </m:oMathPara>
                </a14:m>
                <a:endParaRPr lang="en-NZ" sz="20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2F9A27B-7A5E-448F-A3C7-2A2DC67076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2078" y="1492611"/>
                <a:ext cx="6127844" cy="93121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7C594B6-C5FA-45B7-B955-74FD2CF2E7B9}"/>
              </a:ext>
            </a:extLst>
          </p:cNvPr>
          <p:cNvSpPr txBox="1">
            <a:spLocks/>
          </p:cNvSpPr>
          <p:nvPr/>
        </p:nvSpPr>
        <p:spPr>
          <a:xfrm>
            <a:off x="316052" y="2621581"/>
            <a:ext cx="11553074" cy="6361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US" altLang="ja-JP" sz="2000" dirty="0">
                <a:solidFill>
                  <a:schemeClr val="tx1"/>
                </a:solidFill>
              </a:rPr>
              <a:t>Then the variance of the linear combination is given by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C32F919-1FFF-4000-A845-A22384B2D000}"/>
                  </a:ext>
                </a:extLst>
              </p:cNvPr>
              <p:cNvSpPr txBox="1"/>
              <p:nvPr/>
            </p:nvSpPr>
            <p:spPr>
              <a:xfrm>
                <a:off x="475154" y="3022633"/>
                <a:ext cx="11166386" cy="9706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NZ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𝑽𝒂𝒓</m:t>
                      </m:r>
                      <m:d>
                        <m:dPr>
                          <m:begChr m:val="["/>
                          <m:endChr m:val="]"/>
                          <m:ctrlPr>
                            <a:rPr lang="en-NZ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</m:d>
                      <m:r>
                        <a:rPr lang="en-NZ" sz="20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=   </m:t>
                      </m:r>
                      <m:r>
                        <a:rPr lang="en-NZ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𝑽𝒂𝒓</m:t>
                      </m:r>
                      <m:d>
                        <m:dPr>
                          <m:begChr m:val="["/>
                          <m:endChr m:val="]"/>
                          <m:ctrlPr>
                            <a:rPr lang="en-NZ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nary>
                            <m:naryPr>
                              <m:chr m:val="∑"/>
                              <m:ctrlP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𝒀</m:t>
                                  </m:r>
                                </m:e>
                                <m:sub>
                                  <m: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nary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NZ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= </m:t>
                      </m:r>
                      <m:nary>
                        <m:naryPr>
                          <m:chr m:val="∑"/>
                          <m:ctrlPr>
                            <a:rPr lang="en-NZ" altLang="ja-JP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NZ" altLang="ja-JP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NZ" altLang="ja-JP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NZ" altLang="ja-JP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NZ" altLang="ja-JP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sSubSup>
                            <m:sSubSupPr>
                              <m:ctrlPr>
                                <a:rPr lang="en-NZ" altLang="ja-JP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NZ" altLang="ja-JP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NZ" altLang="ja-JP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  <m:sup>
                              <m:r>
                                <a:rPr lang="en-NZ" altLang="ja-JP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bSup>
                          <m:r>
                            <a:rPr lang="en-NZ" altLang="ja-JP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NZ" altLang="ja-JP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𝑽𝒂𝒓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NZ" altLang="ja-JP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NZ" altLang="ja-JP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𝒀</m:t>
                                  </m:r>
                                </m:e>
                                <m:sub>
                                  <m:r>
                                    <a:rPr lang="en-NZ" altLang="ja-JP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d>
                          <m:r>
                            <a:rPr lang="en-NZ" altLang="ja-JP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  </m:t>
                          </m:r>
                          <m:nary>
                            <m:naryPr>
                              <m:chr m:val="∑"/>
                              <m:ctrlP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  <m: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  <m:sup>
                                  <m: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𝒂</m:t>
                                      </m:r>
                                    </m:e>
                                    <m:sub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𝒂</m:t>
                                      </m:r>
                                    </m:e>
                                    <m:sub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𝒋</m:t>
                                      </m:r>
                                    </m:sub>
                                  </m:sSub>
                                  <m: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𝑪𝒐𝒗</m:t>
                                  </m:r>
                                  <m: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sSub>
                                    <m:sSubPr>
                                      <m:ctrlP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𝒀</m:t>
                                      </m:r>
                                    </m:e>
                                    <m:sub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sSub>
                                    <m:sSubPr>
                                      <m:ctrlP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𝒀</m:t>
                                      </m:r>
                                    </m:e>
                                    <m:sub>
                                      <m:r>
                                        <a:rPr lang="en-NZ" altLang="ja-JP" sz="20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𝒋</m:t>
                                      </m:r>
                                    </m:sub>
                                  </m:sSub>
                                  <m:r>
                                    <a:rPr lang="en-NZ" altLang="ja-JP" sz="20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e>
                              </m:nary>
                            </m:e>
                          </m:nary>
                        </m:e>
                      </m:nary>
                    </m:oMath>
                  </m:oMathPara>
                </a14:m>
                <a:endParaRPr lang="en-NZ" sz="20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C32F919-1FFF-4000-A845-A22384B2D0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154" y="3022633"/>
                <a:ext cx="11166386" cy="9706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Placeholder 5">
                <a:extLst>
                  <a:ext uri="{FF2B5EF4-FFF2-40B4-BE49-F238E27FC236}">
                    <a16:creationId xmlns:a16="http://schemas.microsoft.com/office/drawing/2014/main" id="{24660E97-E53C-4F63-87FF-77526AA116B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4661308"/>
                <a:ext cx="4689265" cy="956333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</a:pPr>
                <a:r>
                  <a:rPr lang="en-US" altLang="ja-JP" sz="2000" dirty="0">
                    <a:solidFill>
                      <a:schemeClr val="tx1"/>
                    </a:solidFill>
                  </a:rPr>
                  <a:t>Note that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NZ" altLang="ja-JP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lang="en-NZ" altLang="ja-JP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ja-JP" sz="2000" dirty="0">
                    <a:solidFill>
                      <a:schemeClr val="tx1"/>
                    </a:solidFill>
                  </a:rPr>
                  <a:t> are all independent,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NZ" altLang="ja-JP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NZ" altLang="ja-JP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NZ" altLang="ja-JP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NZ" altLang="ja-JP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US" altLang="ja-JP" sz="2000" dirty="0">
                    <a:solidFill>
                      <a:schemeClr val="tx1"/>
                    </a:solidFill>
                  </a:rPr>
                  <a:t> </a:t>
                </a:r>
                <a:br>
                  <a:rPr lang="en-US" altLang="ja-JP" sz="2000" dirty="0">
                    <a:solidFill>
                      <a:schemeClr val="tx1"/>
                    </a:solidFill>
                  </a:rPr>
                </a:br>
                <a:r>
                  <a:rPr lang="en-US" altLang="ja-JP" sz="2000" dirty="0">
                    <a:solidFill>
                      <a:schemeClr val="tx1"/>
                    </a:solidFill>
                  </a:rPr>
                  <a:t>and </a:t>
                </a:r>
                <a14:m>
                  <m:oMath xmlns:m="http://schemas.openxmlformats.org/officeDocument/2006/math">
                    <m:r>
                      <a:rPr lang="en-NZ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𝑽𝒂𝒓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NZ" altLang="ja-JP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NZ" altLang="ja-JP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𝒀</m:t>
                            </m:r>
                          </m:e>
                          <m:sub>
                            <m:r>
                              <a:rPr lang="en-NZ" altLang="ja-JP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en-NZ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NZ" altLang="ja-JP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NZ" altLang="ja-JP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𝝈</m:t>
                        </m:r>
                      </m:e>
                      <m:sup>
                        <m:r>
                          <a:rPr lang="en-NZ" altLang="ja-JP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NZ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NZ" altLang="ja-JP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∀ </m:t>
                    </m:r>
                    <m:r>
                      <a:rPr lang="en-NZ" altLang="ja-JP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NZ" altLang="ja-JP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=1, …, </m:t>
                    </m:r>
                    <m:r>
                      <a:rPr lang="en-NZ" altLang="ja-JP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ja-JP" sz="2000" dirty="0">
                    <a:solidFill>
                      <a:schemeClr val="tx1"/>
                    </a:solidFill>
                  </a:rPr>
                  <a:t>  </a:t>
                </a:r>
                <a:br>
                  <a:rPr lang="en-US" altLang="ja-JP" sz="2000" dirty="0">
                    <a:solidFill>
                      <a:schemeClr val="tx1"/>
                    </a:solidFill>
                  </a:rPr>
                </a:br>
                <a:r>
                  <a:rPr lang="en-NZ" altLang="ja-JP" sz="2000" dirty="0">
                    <a:solidFill>
                      <a:schemeClr val="tx1"/>
                    </a:solidFill>
                  </a:rPr>
                  <a:t>then</a:t>
                </a:r>
                <a:r>
                  <a:rPr lang="en-US" altLang="ja-JP" sz="2000" dirty="0">
                    <a:solidFill>
                      <a:schemeClr val="tx1"/>
                    </a:solidFill>
                  </a:rPr>
                  <a:t> equation (2) becomes</a:t>
                </a:r>
              </a:p>
            </p:txBody>
          </p:sp>
        </mc:Choice>
        <mc:Fallback xmlns="">
          <p:sp>
            <p:nvSpPr>
              <p:cNvPr id="15" name="Text Placeholder 5">
                <a:extLst>
                  <a:ext uri="{FF2B5EF4-FFF2-40B4-BE49-F238E27FC236}">
                    <a16:creationId xmlns:a16="http://schemas.microsoft.com/office/drawing/2014/main" id="{24660E97-E53C-4F63-87FF-77526AA116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4661308"/>
                <a:ext cx="4689265" cy="956333"/>
              </a:xfrm>
              <a:prstGeom prst="rect">
                <a:avLst/>
              </a:prstGeom>
              <a:blipFill>
                <a:blip r:embed="rId5"/>
                <a:stretch>
                  <a:fillRect l="-1299" t="-3822" b="-17197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290AD66-0203-47AA-B7E9-1FA49895DBD2}"/>
                  </a:ext>
                </a:extLst>
              </p:cNvPr>
              <p:cNvSpPr txBox="1"/>
              <p:nvPr/>
            </p:nvSpPr>
            <p:spPr>
              <a:xfrm>
                <a:off x="10383735" y="3306901"/>
                <a:ext cx="91439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NZ" sz="20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290AD66-0203-47AA-B7E9-1FA49895DB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3735" y="3306901"/>
                <a:ext cx="914399" cy="400110"/>
              </a:xfrm>
              <a:prstGeom prst="rect">
                <a:avLst/>
              </a:prstGeom>
              <a:blipFill>
                <a:blip r:embed="rId6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 Placeholder 5">
                <a:extLst>
                  <a:ext uri="{FF2B5EF4-FFF2-40B4-BE49-F238E27FC236}">
                    <a16:creationId xmlns:a16="http://schemas.microsoft.com/office/drawing/2014/main" id="{F4ECE6C4-79E6-42B3-A9C4-45C0447488C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6052" y="3922112"/>
                <a:ext cx="11553074" cy="636187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:r>
                  <a:rPr lang="en-US" altLang="ja-JP" sz="2000" dirty="0">
                    <a:solidFill>
                      <a:schemeClr val="tx1"/>
                    </a:solidFill>
                  </a:rPr>
                  <a:t>… where </a:t>
                </a:r>
                <a14:m>
                  <m:oMath xmlns:m="http://schemas.openxmlformats.org/officeDocument/2006/math">
                    <m:r>
                      <a:rPr lang="en-NZ" altLang="ja-JP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NZ" altLang="ja-JP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≠</m:t>
                    </m:r>
                    <m:r>
                      <a:rPr lang="en-NZ" altLang="ja-JP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NZ" altLang="ja-JP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ja-JP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Text Placeholder 5">
                <a:extLst>
                  <a:ext uri="{FF2B5EF4-FFF2-40B4-BE49-F238E27FC236}">
                    <a16:creationId xmlns:a16="http://schemas.microsoft.com/office/drawing/2014/main" id="{F4ECE6C4-79E6-42B3-A9C4-45C0447488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052" y="3922112"/>
                <a:ext cx="11553074" cy="636187"/>
              </a:xfrm>
              <a:prstGeom prst="rect">
                <a:avLst/>
              </a:prstGeom>
              <a:blipFill>
                <a:blip r:embed="rId7"/>
                <a:stretch>
                  <a:fillRect l="-580" t="-4762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CFF891D-D891-48E2-9520-6949533390B0}"/>
                  </a:ext>
                </a:extLst>
              </p:cNvPr>
              <p:cNvSpPr txBox="1"/>
              <p:nvPr/>
            </p:nvSpPr>
            <p:spPr>
              <a:xfrm>
                <a:off x="316052" y="5688416"/>
                <a:ext cx="3778276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NZ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𝑽𝒂𝒓</m:t>
                      </m:r>
                      <m:d>
                        <m:dPr>
                          <m:begChr m:val="["/>
                          <m:endChr m:val="]"/>
                          <m:ctrlPr>
                            <a:rPr lang="en-NZ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</m:d>
                      <m:r>
                        <a:rPr lang="en-NZ" sz="20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NZ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NZ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NZ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NZ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NZ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NZ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sSup>
                        <m:sSupPr>
                          <m:ctrlPr>
                            <a:rPr lang="en-NZ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NZ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𝝈</m:t>
                          </m:r>
                        </m:e>
                        <m:sup>
                          <m:r>
                            <a:rPr lang="en-NZ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NZ" sz="20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CFF891D-D891-48E2-9520-6949533390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052" y="5688416"/>
                <a:ext cx="3778276" cy="4070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Footer Placeholder 2">
            <a:extLst>
              <a:ext uri="{FF2B5EF4-FFF2-40B4-BE49-F238E27FC236}">
                <a16:creationId xmlns:a16="http://schemas.microsoft.com/office/drawing/2014/main" id="{2398CAC7-75BC-0D74-677E-13BC9468D423}"/>
              </a:ext>
            </a:extLst>
          </p:cNvPr>
          <p:cNvSpPr txBox="1">
            <a:spLocks/>
          </p:cNvSpPr>
          <p:nvPr/>
        </p:nvSpPr>
        <p:spPr>
          <a:xfrm>
            <a:off x="8940800" y="86139"/>
            <a:ext cx="31485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1600" dirty="0">
                <a:solidFill>
                  <a:srgbClr val="DEDDDD"/>
                </a:solidFill>
                <a:latin typeface="Gidole"/>
              </a:rPr>
              <a:t>1.4 - Linear Combinations of RVs</a:t>
            </a:r>
            <a:endParaRPr kumimoji="1" lang="ja-JP" altLang="en-US" sz="1600" dirty="0">
              <a:solidFill>
                <a:srgbClr val="DEDDDD"/>
              </a:solidFill>
              <a:latin typeface="Gidole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0052BC5-D8C4-E292-DDCA-D63EBBD46048}"/>
              </a:ext>
            </a:extLst>
          </p:cNvPr>
          <p:cNvCxnSpPr>
            <a:cxnSpLocks/>
          </p:cNvCxnSpPr>
          <p:nvPr/>
        </p:nvCxnSpPr>
        <p:spPr>
          <a:xfrm>
            <a:off x="7629099" y="3112622"/>
            <a:ext cx="2591495" cy="636187"/>
          </a:xfrm>
          <a:prstGeom prst="line">
            <a:avLst/>
          </a:prstGeom>
          <a:ln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408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6733"/>
            <a:ext cx="2185386" cy="741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4AD89C-DF1E-4948-B597-5DD47B34A9CA}" type="slidenum">
              <a:rPr kumimoji="1" lang="ja-JP" altLang="en-US" smtClean="0">
                <a:solidFill>
                  <a:srgbClr val="575454">
                    <a:lumMod val="20000"/>
                    <a:lumOff val="80000"/>
                  </a:srgbClr>
                </a:solidFill>
                <a:latin typeface="Coo Hew"/>
              </a:rPr>
              <a:pPr/>
              <a:t>42</a:t>
            </a:fld>
            <a:endParaRPr kumimoji="1" lang="ja-JP" altLang="en-US" dirty="0">
              <a:solidFill>
                <a:srgbClr val="575454">
                  <a:lumMod val="20000"/>
                  <a:lumOff val="80000"/>
                </a:srgbClr>
              </a:solidFill>
              <a:latin typeface="Coo Hew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DCE95AA1-F247-4D03-9A84-A08A95E2EB81}"/>
              </a:ext>
            </a:extLst>
          </p:cNvPr>
          <p:cNvSpPr txBox="1">
            <a:spLocks/>
          </p:cNvSpPr>
          <p:nvPr/>
        </p:nvSpPr>
        <p:spPr>
          <a:xfrm>
            <a:off x="319463" y="310113"/>
            <a:ext cx="8168429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b="1" u="sng" dirty="0">
                <a:latin typeface="+mn-lt"/>
              </a:rPr>
              <a:t>1.4c - Variance of Linear Combinations:</a:t>
            </a:r>
            <a:endParaRPr lang="ja-JP" altLang="en-US" b="1" u="sng" dirty="0">
              <a:latin typeface="+mn-lt"/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CF0EF27-D66E-440A-ADCA-1A987E76987F}"/>
              </a:ext>
            </a:extLst>
          </p:cNvPr>
          <p:cNvSpPr txBox="1">
            <a:spLocks/>
          </p:cNvSpPr>
          <p:nvPr/>
        </p:nvSpPr>
        <p:spPr>
          <a:xfrm>
            <a:off x="319463" y="1035769"/>
            <a:ext cx="11553074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US" altLang="ja-JP" sz="1800" b="1" dirty="0">
                <a:solidFill>
                  <a:srgbClr val="002060"/>
                </a:solidFill>
              </a:rPr>
              <a:t>Example: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BE186E23-7D2D-4CF0-8FBB-5CADCBB44C53}"/>
              </a:ext>
            </a:extLst>
          </p:cNvPr>
          <p:cNvSpPr txBox="1">
            <a:spLocks/>
          </p:cNvSpPr>
          <p:nvPr/>
        </p:nvSpPr>
        <p:spPr>
          <a:xfrm>
            <a:off x="475153" y="2257859"/>
            <a:ext cx="11553074" cy="74126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endParaRPr lang="en-US" altLang="ja-JP" sz="2000" dirty="0">
              <a:latin typeface="Gidole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F9A27B-7A5E-448F-A3C7-2A2DC67076AB}"/>
              </a:ext>
            </a:extLst>
          </p:cNvPr>
          <p:cNvSpPr txBox="1"/>
          <p:nvPr/>
        </p:nvSpPr>
        <p:spPr>
          <a:xfrm>
            <a:off x="319462" y="1367099"/>
            <a:ext cx="113630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Z" dirty="0">
                <a:solidFill>
                  <a:srgbClr val="002060"/>
                </a:solidFill>
              </a:rPr>
              <a:t>Suppose that </a:t>
            </a:r>
            <a:r>
              <a:rPr lang="en-NZ" b="1" i="1" dirty="0">
                <a:solidFill>
                  <a:srgbClr val="002060"/>
                </a:solidFill>
              </a:rPr>
              <a:t>Y</a:t>
            </a:r>
            <a:r>
              <a:rPr lang="en-NZ" b="1" i="1" baseline="-25000" dirty="0">
                <a:solidFill>
                  <a:srgbClr val="002060"/>
                </a:solidFill>
              </a:rPr>
              <a:t>1</a:t>
            </a:r>
            <a:r>
              <a:rPr lang="en-NZ" b="1" i="1" dirty="0">
                <a:solidFill>
                  <a:srgbClr val="002060"/>
                </a:solidFill>
              </a:rPr>
              <a:t>, Y</a:t>
            </a:r>
            <a:r>
              <a:rPr lang="en-NZ" b="1" i="1" baseline="-25000" dirty="0">
                <a:solidFill>
                  <a:srgbClr val="002060"/>
                </a:solidFill>
              </a:rPr>
              <a:t>2</a:t>
            </a:r>
            <a:r>
              <a:rPr lang="en-NZ" b="1" i="1" dirty="0">
                <a:solidFill>
                  <a:srgbClr val="002060"/>
                </a:solidFill>
              </a:rPr>
              <a:t> </a:t>
            </a:r>
            <a:r>
              <a:rPr lang="en-NZ" dirty="0">
                <a:solidFill>
                  <a:srgbClr val="002060"/>
                </a:solidFill>
              </a:rPr>
              <a:t>and </a:t>
            </a:r>
            <a:r>
              <a:rPr lang="en-NZ" b="1" i="1" dirty="0">
                <a:solidFill>
                  <a:srgbClr val="002060"/>
                </a:solidFill>
              </a:rPr>
              <a:t>Y</a:t>
            </a:r>
            <a:r>
              <a:rPr lang="en-NZ" b="1" i="1" baseline="-25000" dirty="0">
                <a:solidFill>
                  <a:srgbClr val="002060"/>
                </a:solidFill>
              </a:rPr>
              <a:t>3</a:t>
            </a:r>
            <a:r>
              <a:rPr lang="en-NZ" dirty="0">
                <a:solidFill>
                  <a:srgbClr val="002060"/>
                </a:solidFill>
              </a:rPr>
              <a:t> are known to be independent random variables such that </a:t>
            </a:r>
          </a:p>
        </p:txBody>
      </p:sp>
      <p:sp>
        <p:nvSpPr>
          <p:cNvPr id="19" name="Footer Placeholder 2">
            <a:extLst>
              <a:ext uri="{FF2B5EF4-FFF2-40B4-BE49-F238E27FC236}">
                <a16:creationId xmlns:a16="http://schemas.microsoft.com/office/drawing/2014/main" id="{2398CAC7-75BC-0D74-677E-13BC9468D423}"/>
              </a:ext>
            </a:extLst>
          </p:cNvPr>
          <p:cNvSpPr txBox="1">
            <a:spLocks/>
          </p:cNvSpPr>
          <p:nvPr/>
        </p:nvSpPr>
        <p:spPr>
          <a:xfrm>
            <a:off x="8940800" y="86139"/>
            <a:ext cx="31485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1600" dirty="0">
                <a:solidFill>
                  <a:srgbClr val="DEDDDD"/>
                </a:solidFill>
                <a:latin typeface="Gidole"/>
              </a:rPr>
              <a:t>1.4 - Linear Combinations of RVs</a:t>
            </a:r>
            <a:endParaRPr kumimoji="1" lang="ja-JP" altLang="en-US" sz="1600" dirty="0">
              <a:solidFill>
                <a:srgbClr val="DEDDDD"/>
              </a:solidFill>
              <a:latin typeface="Gidol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1897752-2A1B-FDF0-B081-437675A983D6}"/>
                  </a:ext>
                </a:extLst>
              </p:cNvPr>
              <p:cNvSpPr txBox="1"/>
              <p:nvPr/>
            </p:nvSpPr>
            <p:spPr>
              <a:xfrm>
                <a:off x="319462" y="1732224"/>
                <a:ext cx="1136302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NZ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𝑽𝒂𝒓</m:t>
                      </m:r>
                      <m:d>
                        <m:dPr>
                          <m:begChr m:val="["/>
                          <m:endChr m:val="]"/>
                          <m:ctrlPr>
                            <a:rPr lang="en-NZ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NZ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e>
                            <m:sub>
                              <m:r>
                                <a:rPr lang="en-NZ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n-NZ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NZ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𝟐𝟎</m:t>
                      </m:r>
                      <m:r>
                        <a:rPr lang="en-NZ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     </m:t>
                      </m:r>
                      <m:r>
                        <a:rPr lang="en-NZ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𝑽𝒂𝒓</m:t>
                      </m:r>
                      <m:d>
                        <m:dPr>
                          <m:begChr m:val="["/>
                          <m:endChr m:val="]"/>
                          <m:ctrlPr>
                            <a:rPr lang="en-NZ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NZ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e>
                            <m:sub>
                              <m:r>
                                <a:rPr lang="en-NZ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a:rPr lang="en-NZ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NZ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𝟏𝟓</m:t>
                      </m:r>
                      <m:r>
                        <a:rPr lang="en-NZ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         </m:t>
                      </m:r>
                      <m:r>
                        <a:rPr lang="en-NZ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𝑽𝒂𝒓</m:t>
                      </m:r>
                      <m:d>
                        <m:dPr>
                          <m:begChr m:val="["/>
                          <m:endChr m:val="]"/>
                          <m:ctrlPr>
                            <a:rPr lang="en-NZ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NZ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e>
                            <m:sub>
                              <m:r>
                                <a:rPr lang="en-NZ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e>
                      </m:d>
                      <m:r>
                        <a:rPr lang="en-NZ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NZ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</m:oMath>
                  </m:oMathPara>
                </a14:m>
                <a:endParaRPr lang="en-NZ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1897752-2A1B-FDF0-B081-437675A983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2" y="1732224"/>
                <a:ext cx="1136302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30B0415-91B4-930B-D4E7-8FD96D624972}"/>
                  </a:ext>
                </a:extLst>
              </p:cNvPr>
              <p:cNvSpPr txBox="1"/>
              <p:nvPr/>
            </p:nvSpPr>
            <p:spPr>
              <a:xfrm>
                <a:off x="319461" y="2186216"/>
                <a:ext cx="11363021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NZ" dirty="0">
                    <a:solidFill>
                      <a:srgbClr val="002060"/>
                    </a:solidFill>
                  </a:rPr>
                  <a:t>A fourth variable </a:t>
                </a:r>
                <a:r>
                  <a:rPr lang="en-NZ" b="1" i="1" dirty="0">
                    <a:solidFill>
                      <a:srgbClr val="002060"/>
                    </a:solidFill>
                  </a:rPr>
                  <a:t>Z</a:t>
                </a:r>
                <a:r>
                  <a:rPr lang="en-NZ" dirty="0">
                    <a:solidFill>
                      <a:srgbClr val="002060"/>
                    </a:solidFill>
                  </a:rPr>
                  <a:t> is created as a linear combination of </a:t>
                </a:r>
                <a:r>
                  <a:rPr lang="en-NZ" b="1" i="1" dirty="0">
                    <a:solidFill>
                      <a:srgbClr val="002060"/>
                    </a:solidFill>
                  </a:rPr>
                  <a:t>Y</a:t>
                </a:r>
                <a:r>
                  <a:rPr lang="en-NZ" b="1" i="1" baseline="-25000" dirty="0">
                    <a:solidFill>
                      <a:srgbClr val="002060"/>
                    </a:solidFill>
                  </a:rPr>
                  <a:t>1</a:t>
                </a:r>
                <a:r>
                  <a:rPr lang="en-NZ" b="1" i="1" dirty="0">
                    <a:solidFill>
                      <a:srgbClr val="002060"/>
                    </a:solidFill>
                  </a:rPr>
                  <a:t>, Y</a:t>
                </a:r>
                <a:r>
                  <a:rPr lang="en-NZ" b="1" i="1" baseline="-25000" dirty="0">
                    <a:solidFill>
                      <a:srgbClr val="002060"/>
                    </a:solidFill>
                  </a:rPr>
                  <a:t>2</a:t>
                </a:r>
                <a:r>
                  <a:rPr lang="en-NZ" b="1" i="1" dirty="0">
                    <a:solidFill>
                      <a:srgbClr val="002060"/>
                    </a:solidFill>
                  </a:rPr>
                  <a:t> </a:t>
                </a:r>
                <a:r>
                  <a:rPr lang="en-NZ" dirty="0">
                    <a:solidFill>
                      <a:srgbClr val="002060"/>
                    </a:solidFill>
                  </a:rPr>
                  <a:t>and </a:t>
                </a:r>
                <a:r>
                  <a:rPr lang="en-NZ" b="1" i="1" dirty="0">
                    <a:solidFill>
                      <a:srgbClr val="002060"/>
                    </a:solidFill>
                  </a:rPr>
                  <a:t>Y</a:t>
                </a:r>
                <a:r>
                  <a:rPr lang="en-NZ" b="1" i="1" baseline="-25000" dirty="0">
                    <a:solidFill>
                      <a:srgbClr val="002060"/>
                    </a:solidFill>
                  </a:rPr>
                  <a:t>3</a:t>
                </a:r>
                <a:r>
                  <a:rPr lang="en-NZ" dirty="0">
                    <a:solidFill>
                      <a:srgbClr val="002060"/>
                    </a:solidFill>
                  </a:rPr>
                  <a:t> such that  </a:t>
                </a:r>
                <a14:m>
                  <m:oMath xmlns:m="http://schemas.openxmlformats.org/officeDocument/2006/math">
                    <m:r>
                      <a:rPr lang="en-NZ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𝒁</m:t>
                    </m:r>
                    <m:r>
                      <a:rPr lang="en-NZ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NZ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sSub>
                      <m:sSubPr>
                        <m:ctrlPr>
                          <a:rPr lang="en-NZ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lang="en-NZ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NZ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NZ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sSub>
                      <m:sSubPr>
                        <m:ctrlPr>
                          <a:rPr lang="en-NZ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lang="en-NZ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NZ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+</m:t>
                    </m:r>
                    <m:r>
                      <a:rPr lang="en-NZ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NZ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NZ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lang="en-NZ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</m:oMath>
                </a14:m>
                <a:br>
                  <a:rPr lang="en-NZ" dirty="0">
                    <a:solidFill>
                      <a:srgbClr val="002060"/>
                    </a:solidFill>
                  </a:rPr>
                </a:br>
                <a:r>
                  <a:rPr lang="en-NZ" dirty="0">
                    <a:solidFill>
                      <a:srgbClr val="002060"/>
                    </a:solidFill>
                  </a:rPr>
                  <a:t>Find </a:t>
                </a:r>
                <a14:m>
                  <m:oMath xmlns:m="http://schemas.openxmlformats.org/officeDocument/2006/math">
                    <m:r>
                      <a:rPr lang="en-NZ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𝑽𝒂𝒓</m:t>
                    </m:r>
                    <m:r>
                      <a:rPr lang="en-NZ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[ </m:t>
                    </m:r>
                    <m:r>
                      <a:rPr lang="en-NZ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𝒁</m:t>
                    </m:r>
                    <m:r>
                      <a:rPr lang="en-NZ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]</m:t>
                    </m:r>
                  </m:oMath>
                </a14:m>
                <a:endParaRPr lang="en-NZ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30B0415-91B4-930B-D4E7-8FD96D6249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1" y="2186216"/>
                <a:ext cx="11363021" cy="646331"/>
              </a:xfrm>
              <a:prstGeom prst="rect">
                <a:avLst/>
              </a:prstGeom>
              <a:blipFill>
                <a:blip r:embed="rId4"/>
                <a:stretch>
                  <a:fillRect l="-429" t="-5660" b="-14151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0B61B7F7-5A68-A731-536E-17B4BB6EB91C}"/>
              </a:ext>
            </a:extLst>
          </p:cNvPr>
          <p:cNvSpPr txBox="1"/>
          <p:nvPr/>
        </p:nvSpPr>
        <p:spPr>
          <a:xfrm>
            <a:off x="319461" y="3399227"/>
            <a:ext cx="113630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Z" dirty="0"/>
              <a:t>Since </a:t>
            </a:r>
            <a:r>
              <a:rPr lang="en-NZ" b="1" i="1" dirty="0"/>
              <a:t>Y</a:t>
            </a:r>
            <a:r>
              <a:rPr lang="en-NZ" b="1" i="1" baseline="-25000" dirty="0"/>
              <a:t>1</a:t>
            </a:r>
            <a:r>
              <a:rPr lang="en-NZ" b="1" i="1" dirty="0"/>
              <a:t>, Y</a:t>
            </a:r>
            <a:r>
              <a:rPr lang="en-NZ" b="1" i="1" baseline="-25000" dirty="0"/>
              <a:t>2</a:t>
            </a:r>
            <a:r>
              <a:rPr lang="en-NZ" b="1" i="1" dirty="0"/>
              <a:t> </a:t>
            </a:r>
            <a:r>
              <a:rPr lang="en-NZ" dirty="0"/>
              <a:t>and </a:t>
            </a:r>
            <a:r>
              <a:rPr lang="en-NZ" b="1" i="1" dirty="0"/>
              <a:t>Y</a:t>
            </a:r>
            <a:r>
              <a:rPr lang="en-NZ" b="1" i="1" baseline="-25000" dirty="0"/>
              <a:t>3</a:t>
            </a:r>
            <a:r>
              <a:rPr lang="en-NZ" dirty="0"/>
              <a:t> are known to be independent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864F639-D633-0B49-ACC6-DBB49DCAB072}"/>
                  </a:ext>
                </a:extLst>
              </p:cNvPr>
              <p:cNvSpPr txBox="1"/>
              <p:nvPr/>
            </p:nvSpPr>
            <p:spPr>
              <a:xfrm>
                <a:off x="516096" y="3987835"/>
                <a:ext cx="1116638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NZ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𝑽𝒂𝒓</m:t>
                      </m:r>
                      <m:d>
                        <m:dPr>
                          <m:begChr m:val="["/>
                          <m:endChr m:val="]"/>
                          <m:ctrlPr>
                            <a:rPr lang="en-NZ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</m:d>
                      <m:r>
                        <a:rPr lang="en-NZ" sz="2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NZ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NZ" altLang="ja-JP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𝑽𝒂𝒓</m:t>
                      </m:r>
                      <m:r>
                        <a:rPr lang="en-NZ" altLang="ja-JP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[ </m:t>
                      </m:r>
                      <m:r>
                        <a:rPr lang="en-NZ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sSub>
                        <m:sSubPr>
                          <m:ctrlPr>
                            <a:rPr lang="en-NZ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  <m:sub>
                          <m:r>
                            <a:rPr lang="en-NZ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NZ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NZ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sSub>
                        <m:sSubPr>
                          <m:ctrlPr>
                            <a:rPr lang="en-NZ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  <m:sub>
                          <m:r>
                            <a:rPr lang="en-NZ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NZ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+</m:t>
                      </m:r>
                      <m:r>
                        <a:rPr lang="en-NZ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NZ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NZ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  <m:sub>
                          <m:r>
                            <a:rPr lang="en-NZ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NZ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NZ" altLang="ja-JP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NZ" sz="2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864F639-D633-0B49-ACC6-DBB49DCAB0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096" y="3987835"/>
                <a:ext cx="11166386" cy="400110"/>
              </a:xfrm>
              <a:prstGeom prst="rect">
                <a:avLst/>
              </a:prstGeom>
              <a:blipFill>
                <a:blip r:embed="rId5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2A4F21D-01D7-2EB4-E1F4-5664986F335C}"/>
                  </a:ext>
                </a:extLst>
              </p:cNvPr>
              <p:cNvSpPr txBox="1"/>
              <p:nvPr/>
            </p:nvSpPr>
            <p:spPr>
              <a:xfrm>
                <a:off x="1473957" y="4523121"/>
                <a:ext cx="6537279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NZ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NZ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NZ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NZ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NZ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NZ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NZ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NZ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𝑽𝒂𝒓</m:t>
                      </m:r>
                      <m:d>
                        <m:dPr>
                          <m:begChr m:val="["/>
                          <m:endChr m:val="]"/>
                          <m:ctrlPr>
                            <a:rPr lang="en-NZ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NZ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e>
                            <m:sub>
                              <m:r>
                                <a:rPr lang="en-NZ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n-NZ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+  </m:t>
                      </m:r>
                      <m:sSup>
                        <m:sSupPr>
                          <m:ctrlPr>
                            <a:rPr lang="en-NZ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NZ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NZ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e>
                          </m:d>
                        </m:e>
                        <m:sup>
                          <m:r>
                            <a:rPr lang="en-NZ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NZ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NZ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𝑽𝒂𝒓</m:t>
                      </m:r>
                      <m:d>
                        <m:dPr>
                          <m:begChr m:val="["/>
                          <m:endChr m:val="]"/>
                          <m:ctrlPr>
                            <a:rPr lang="en-NZ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NZ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e>
                            <m:sub>
                              <m:r>
                                <a:rPr lang="en-NZ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a:rPr lang="en-NZ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+   </m:t>
                      </m:r>
                      <m:sSup>
                        <m:sSupPr>
                          <m:ctrlPr>
                            <a:rPr lang="en-NZ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NZ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NZ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NZ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NZ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NZ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NZ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𝑽𝒂𝒓</m:t>
                      </m:r>
                      <m:d>
                        <m:dPr>
                          <m:begChr m:val="["/>
                          <m:endChr m:val="]"/>
                          <m:ctrlPr>
                            <a:rPr lang="en-NZ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NZ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e>
                            <m:sub>
                              <m:r>
                                <a:rPr lang="en-NZ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NZ" sz="2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2A4F21D-01D7-2EB4-E1F4-5664986F33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3957" y="4523121"/>
                <a:ext cx="6537279" cy="407099"/>
              </a:xfrm>
              <a:prstGeom prst="rect">
                <a:avLst/>
              </a:prstGeom>
              <a:blipFill>
                <a:blip r:embed="rId6"/>
                <a:stretch>
                  <a:fillRect b="-14925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2ABF5C0-B8C6-06B4-282D-9613FB887132}"/>
                  </a:ext>
                </a:extLst>
              </p:cNvPr>
              <p:cNvSpPr txBox="1"/>
              <p:nvPr/>
            </p:nvSpPr>
            <p:spPr>
              <a:xfrm>
                <a:off x="1514900" y="5126028"/>
                <a:ext cx="5295334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NZ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NZ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NZ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∗</m:t>
                      </m:r>
                      <m:r>
                        <a:rPr lang="en-NZ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𝟐𝟎</m:t>
                      </m:r>
                      <m:r>
                        <a:rPr lang="en-NZ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+   </m:t>
                      </m:r>
                      <m:r>
                        <a:rPr lang="en-NZ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en-NZ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∗  </m:t>
                      </m:r>
                      <m:r>
                        <a:rPr lang="en-NZ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𝟏𝟓</m:t>
                      </m:r>
                      <m:r>
                        <a:rPr lang="en-NZ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+  </m:t>
                      </m:r>
                      <m:r>
                        <a:rPr lang="en-NZ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𝟏𝟔</m:t>
                      </m:r>
                      <m:r>
                        <a:rPr lang="en-NZ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∗</m:t>
                      </m:r>
                      <m:r>
                        <a:rPr lang="en-NZ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</m:oMath>
                  </m:oMathPara>
                </a14:m>
                <a:endParaRPr lang="en-NZ" sz="2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2ABF5C0-B8C6-06B4-282D-9613FB8871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4900" y="5126028"/>
                <a:ext cx="5295334" cy="4070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C0E80A8-8576-0DCB-8E87-A5346823B327}"/>
                  </a:ext>
                </a:extLst>
              </p:cNvPr>
              <p:cNvSpPr txBox="1"/>
              <p:nvPr/>
            </p:nvSpPr>
            <p:spPr>
              <a:xfrm>
                <a:off x="1514900" y="5618681"/>
                <a:ext cx="10208524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NZ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NZ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𝟑𝟐𝟕</m:t>
                      </m:r>
                    </m:oMath>
                  </m:oMathPara>
                </a14:m>
                <a:endParaRPr lang="en-NZ" sz="2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C0E80A8-8576-0DCB-8E87-A5346823B3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4900" y="5618681"/>
                <a:ext cx="10208524" cy="4070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741ACA2-C741-1A6A-F544-124B944281D1}"/>
                  </a:ext>
                </a:extLst>
              </p:cNvPr>
              <p:cNvSpPr txBox="1"/>
              <p:nvPr/>
            </p:nvSpPr>
            <p:spPr>
              <a:xfrm>
                <a:off x="4509957" y="3118284"/>
                <a:ext cx="4600554" cy="9312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NZ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𝑽𝒂𝒓</m:t>
                      </m:r>
                      <m:d>
                        <m:dPr>
                          <m:begChr m:val="["/>
                          <m:endChr m:val="]"/>
                          <m:ctrlPr>
                            <a:rPr lang="en-NZ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</m:d>
                      <m:r>
                        <a:rPr lang="en-NZ" sz="2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=   </m:t>
                      </m:r>
                      <m:nary>
                        <m:naryPr>
                          <m:chr m:val="∑"/>
                          <m:ctrlPr>
                            <a:rPr lang="en-NZ" altLang="ja-JP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NZ" altLang="ja-JP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NZ" altLang="ja-JP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NZ" altLang="ja-JP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NZ" altLang="ja-JP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sSubSup>
                            <m:sSubSupPr>
                              <m:ctrlPr>
                                <a:rPr lang="en-NZ" altLang="ja-JP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NZ" altLang="ja-JP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NZ" altLang="ja-JP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  <m:sup>
                              <m:r>
                                <a:rPr lang="en-NZ" altLang="ja-JP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bSup>
                          <m:r>
                            <a:rPr lang="en-NZ" altLang="ja-JP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NZ" altLang="ja-JP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𝑽𝒂𝒓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NZ" altLang="ja-JP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NZ" altLang="ja-JP" sz="20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20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𝒀</m:t>
                                  </m:r>
                                </m:e>
                                <m:sub>
                                  <m:r>
                                    <a:rPr lang="en-NZ" altLang="ja-JP" sz="20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d>
                          <m:r>
                            <a:rPr lang="en-NZ" altLang="ja-JP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NZ" sz="2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741ACA2-C741-1A6A-F544-124B944281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9957" y="3118284"/>
                <a:ext cx="4600554" cy="93121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Left Brace 19">
            <a:extLst>
              <a:ext uri="{FF2B5EF4-FFF2-40B4-BE49-F238E27FC236}">
                <a16:creationId xmlns:a16="http://schemas.microsoft.com/office/drawing/2014/main" id="{3A2A04E2-80B8-A15D-CFE9-7ADE417B7E7D}"/>
              </a:ext>
            </a:extLst>
          </p:cNvPr>
          <p:cNvSpPr/>
          <p:nvPr/>
        </p:nvSpPr>
        <p:spPr>
          <a:xfrm rot="16200000">
            <a:off x="8939929" y="1901223"/>
            <a:ext cx="341164" cy="1666614"/>
          </a:xfrm>
          <a:prstGeom prst="leftBrac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>
              <a:solidFill>
                <a:schemeClr val="bg2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E97736A-4304-19F3-E716-F98AF605319F}"/>
                  </a:ext>
                </a:extLst>
              </p:cNvPr>
              <p:cNvSpPr txBox="1"/>
              <p:nvPr/>
            </p:nvSpPr>
            <p:spPr>
              <a:xfrm>
                <a:off x="6959424" y="2893328"/>
                <a:ext cx="4302173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NZ" sz="140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sz="14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NZ" sz="14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NZ" sz="1400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=2 ,   </m:t>
                      </m:r>
                      <m:sSub>
                        <m:sSubPr>
                          <m:ctrlPr>
                            <a:rPr lang="en-NZ" sz="140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sz="14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NZ" sz="14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NZ" sz="1400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=−3 ,  </m:t>
                      </m:r>
                      <m:sSub>
                        <m:sSubPr>
                          <m:ctrlPr>
                            <a:rPr lang="en-NZ" sz="140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sz="14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NZ" sz="14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NZ" sz="1400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NZ" sz="140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E97736A-4304-19F3-E716-F98AF60531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9424" y="2893328"/>
                <a:ext cx="4302173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4039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5" grpId="0"/>
      <p:bldP spid="26" grpId="0"/>
      <p:bldP spid="17" grpId="0"/>
      <p:bldP spid="20" grpId="0" animBg="1"/>
      <p:bldP spid="2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6733"/>
            <a:ext cx="2185386" cy="741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4AD89C-DF1E-4948-B597-5DD47B34A9CA}" type="slidenum">
              <a:rPr kumimoji="1" lang="ja-JP" altLang="en-US" smtClean="0">
                <a:solidFill>
                  <a:srgbClr val="575454">
                    <a:lumMod val="20000"/>
                    <a:lumOff val="80000"/>
                  </a:srgbClr>
                </a:solidFill>
                <a:latin typeface="Coo Hew"/>
              </a:rPr>
              <a:pPr/>
              <a:t>43</a:t>
            </a:fld>
            <a:endParaRPr kumimoji="1" lang="ja-JP" altLang="en-US" dirty="0">
              <a:solidFill>
                <a:srgbClr val="575454">
                  <a:lumMod val="20000"/>
                  <a:lumOff val="80000"/>
                </a:srgbClr>
              </a:solidFill>
              <a:latin typeface="Coo Hew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DCE95AA1-F247-4D03-9A84-A08A95E2EB81}"/>
              </a:ext>
            </a:extLst>
          </p:cNvPr>
          <p:cNvSpPr txBox="1">
            <a:spLocks/>
          </p:cNvSpPr>
          <p:nvPr/>
        </p:nvSpPr>
        <p:spPr>
          <a:xfrm>
            <a:off x="319463" y="310113"/>
            <a:ext cx="8168429" cy="607201"/>
          </a:xfrm>
          <a:prstGeom prst="rect">
            <a:avLst/>
          </a:prstGeom>
        </p:spPr>
        <p:txBody>
          <a:bodyPr anchor="t">
            <a:normAutofit fontScale="77500" lnSpcReduction="20000"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b="1" u="sng" dirty="0">
                <a:latin typeface="+mn-lt"/>
              </a:rPr>
              <a:t>1.4d - Expectation &amp; Variance of the Sample Mean:</a:t>
            </a:r>
            <a:endParaRPr lang="ja-JP" altLang="en-US" b="1" u="sng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7CF0EF27-D66E-440A-ADCA-1A987E76987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1133969"/>
                <a:ext cx="11553074" cy="91319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:r>
                  <a:rPr lang="en-US" altLang="ja-JP" sz="2000" dirty="0">
                    <a:solidFill>
                      <a:schemeClr val="tx1"/>
                    </a:solidFill>
                  </a:rPr>
                  <a:t>Consider a random variable </a:t>
                </a:r>
                <a:r>
                  <a:rPr lang="en-US" altLang="ja-JP" sz="2000" b="1" i="1" dirty="0">
                    <a:solidFill>
                      <a:schemeClr val="tx1"/>
                    </a:solidFill>
                  </a:rPr>
                  <a:t>Y</a:t>
                </a:r>
                <a:r>
                  <a:rPr lang="en-US" altLang="ja-JP" sz="2000" dirty="0">
                    <a:solidFill>
                      <a:schemeClr val="tx1"/>
                    </a:solidFill>
                  </a:rPr>
                  <a:t> with expectation </a:t>
                </a:r>
                <a14:m>
                  <m:oMath xmlns:m="http://schemas.openxmlformats.org/officeDocument/2006/math">
                    <m:r>
                      <a:rPr lang="en-NZ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</m:d>
                    <m:r>
                      <a:rPr lang="en-NZ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NZ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𝝁</m:t>
                    </m:r>
                  </m:oMath>
                </a14:m>
                <a:r>
                  <a:rPr lang="en-US" altLang="ja-JP" sz="2000" b="1" dirty="0">
                    <a:solidFill>
                      <a:schemeClr val="tx1"/>
                    </a:solidFill>
                  </a:rPr>
                  <a:t> </a:t>
                </a:r>
                <a:r>
                  <a:rPr lang="en-US" altLang="ja-JP" sz="2000" dirty="0">
                    <a:solidFill>
                      <a:schemeClr val="tx1"/>
                    </a:solidFill>
                  </a:rPr>
                  <a:t>and variance </a:t>
                </a:r>
                <a14:m>
                  <m:oMath xmlns:m="http://schemas.openxmlformats.org/officeDocument/2006/math">
                    <m:r>
                      <a:rPr lang="en-NZ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𝑽𝒂𝒓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</m:d>
                    <m:r>
                      <a:rPr lang="en-NZ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NZ" altLang="ja-JP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NZ" altLang="ja-JP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𝝈</m:t>
                        </m:r>
                      </m:e>
                      <m:sup>
                        <m:r>
                          <a:rPr lang="en-NZ" altLang="ja-JP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NZ" altLang="ja-JP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ja-JP" sz="2000" dirty="0">
                  <a:solidFill>
                    <a:schemeClr val="tx1"/>
                  </a:solidFill>
                </a:endParaRPr>
              </a:p>
              <a:p>
                <a:pPr algn="just">
                  <a:lnSpc>
                    <a:spcPct val="100000"/>
                  </a:lnSpc>
                </a:pPr>
                <a:r>
                  <a:rPr lang="en-US" altLang="ja-JP" sz="2000" dirty="0">
                    <a:solidFill>
                      <a:schemeClr val="tx1"/>
                    </a:solidFill>
                  </a:rPr>
                  <a:t>Consider taking a sample of </a:t>
                </a:r>
                <a:r>
                  <a:rPr lang="en-US" altLang="ja-JP" sz="2000" b="1" i="1" dirty="0">
                    <a:solidFill>
                      <a:schemeClr val="tx1"/>
                    </a:solidFill>
                  </a:rPr>
                  <a:t>n</a:t>
                </a:r>
                <a:r>
                  <a:rPr lang="en-US" altLang="ja-JP" sz="2000" i="1" dirty="0">
                    <a:solidFill>
                      <a:schemeClr val="tx1"/>
                    </a:solidFill>
                  </a:rPr>
                  <a:t> </a:t>
                </a:r>
                <a:r>
                  <a:rPr lang="en-US" altLang="ja-JP" sz="2000" dirty="0">
                    <a:solidFill>
                      <a:schemeClr val="tx1"/>
                    </a:solidFill>
                  </a:rPr>
                  <a:t>random observations of </a:t>
                </a:r>
                <a:r>
                  <a:rPr lang="en-US" altLang="ja-JP" sz="2000" b="1" i="1" dirty="0">
                    <a:solidFill>
                      <a:schemeClr val="tx1"/>
                    </a:solidFill>
                  </a:rPr>
                  <a:t>Y</a:t>
                </a:r>
                <a:r>
                  <a:rPr lang="en-US" altLang="ja-JP" sz="2000" dirty="0">
                    <a:solidFill>
                      <a:schemeClr val="tx1"/>
                    </a:solidFill>
                  </a:rPr>
                  <a:t>. </a:t>
                </a:r>
              </a:p>
            </p:txBody>
          </p:sp>
        </mc:Choice>
        <mc:Fallback xmlns=""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7CF0EF27-D66E-440A-ADCA-1A987E7698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1133969"/>
                <a:ext cx="11553074" cy="913196"/>
              </a:xfrm>
              <a:prstGeom prst="rect">
                <a:avLst/>
              </a:prstGeom>
              <a:blipFill>
                <a:blip r:embed="rId3"/>
                <a:stretch>
                  <a:fillRect l="-527" t="-2000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2F9A27B-7A5E-448F-A3C7-2A2DC67076AB}"/>
                  </a:ext>
                </a:extLst>
              </p:cNvPr>
              <p:cNvSpPr txBox="1"/>
              <p:nvPr/>
            </p:nvSpPr>
            <p:spPr>
              <a:xfrm>
                <a:off x="3032078" y="4169154"/>
                <a:ext cx="6127844" cy="9312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 ≡   </m:t>
                      </m:r>
                      <m:f>
                        <m:fPr>
                          <m:ctrlP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den>
                      </m:f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nary>
                        <m:naryPr>
                          <m:chr m:val="∑"/>
                          <m:ctrlP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e>
                            <m:sub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nary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=  </m:t>
                      </m:r>
                      <m:f>
                        <m:fPr>
                          <m:ctrlP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den>
                      </m:f>
                      <m:r>
                        <a:rPr lang="en-NZ" altLang="ja-JP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d>
                        <m:dPr>
                          <m:ctrlP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e>
                            <m:sub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+ </m:t>
                          </m:r>
                          <m:sSub>
                            <m:sSubPr>
                              <m:ctrlP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e>
                            <m:sub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+  </m:t>
                          </m:r>
                          <m:r>
                            <a:rPr lang="en-NZ" altLang="ja-JP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 + </m:t>
                          </m:r>
                          <m:sSub>
                            <m:sSubPr>
                              <m:ctrlP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𝒀</m:t>
                              </m:r>
                            </m:e>
                            <m:sub>
                              <m:r>
                                <a:rPr lang="en-NZ" altLang="ja-JP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NZ" sz="20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2F9A27B-7A5E-448F-A3C7-2A2DC67076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2078" y="4169154"/>
                <a:ext cx="6127844" cy="93121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Placeholder 5">
                <a:extLst>
                  <a:ext uri="{FF2B5EF4-FFF2-40B4-BE49-F238E27FC236}">
                    <a16:creationId xmlns:a16="http://schemas.microsoft.com/office/drawing/2014/main" id="{D574532C-CC82-41B7-8CC0-1CFAB70FA3E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2442301"/>
                <a:ext cx="11553074" cy="91319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:r>
                  <a:rPr lang="en-US" altLang="ja-JP" sz="2000" dirty="0">
                    <a:solidFill>
                      <a:schemeClr val="tx1"/>
                    </a:solidFill>
                  </a:rPr>
                  <a:t>This would provide us with a collection of </a:t>
                </a:r>
                <a:r>
                  <a:rPr lang="en-US" altLang="ja-JP" sz="2000" b="1" dirty="0">
                    <a:solidFill>
                      <a:schemeClr val="tx1"/>
                    </a:solidFill>
                  </a:rPr>
                  <a:t>independent</a:t>
                </a:r>
                <a:r>
                  <a:rPr lang="en-US" altLang="ja-JP" sz="2000" dirty="0">
                    <a:solidFill>
                      <a:schemeClr val="tx1"/>
                    </a:solidFill>
                  </a:rPr>
                  <a:t> random variables </a:t>
                </a:r>
                <a:r>
                  <a:rPr lang="en-US" altLang="ja-JP" sz="2000" b="1" i="1" dirty="0">
                    <a:solidFill>
                      <a:schemeClr val="tx1"/>
                    </a:solidFill>
                  </a:rPr>
                  <a:t>Y</a:t>
                </a:r>
                <a:r>
                  <a:rPr lang="en-US" altLang="ja-JP" sz="2000" b="1" i="1" baseline="-25000" dirty="0">
                    <a:solidFill>
                      <a:schemeClr val="tx1"/>
                    </a:solidFill>
                  </a:rPr>
                  <a:t>1,</a:t>
                </a:r>
                <a:r>
                  <a:rPr lang="en-US" altLang="ja-JP" sz="2000" b="1" i="1" dirty="0">
                    <a:solidFill>
                      <a:schemeClr val="tx1"/>
                    </a:solidFill>
                  </a:rPr>
                  <a:t> Y</a:t>
                </a:r>
                <a:r>
                  <a:rPr lang="en-US" altLang="ja-JP" sz="2000" b="1" i="1" baseline="-25000" dirty="0">
                    <a:solidFill>
                      <a:schemeClr val="tx1"/>
                    </a:solidFill>
                  </a:rPr>
                  <a:t>2,</a:t>
                </a:r>
                <a:r>
                  <a:rPr lang="en-US" altLang="ja-JP" sz="2000" b="1" i="1" dirty="0">
                    <a:solidFill>
                      <a:schemeClr val="tx1"/>
                    </a:solidFill>
                  </a:rPr>
                  <a:t> … </a:t>
                </a:r>
                <a:r>
                  <a:rPr lang="en-US" altLang="ja-JP" sz="2000" b="1" i="1" dirty="0" err="1">
                    <a:solidFill>
                      <a:schemeClr val="tx1"/>
                    </a:solidFill>
                  </a:rPr>
                  <a:t>Y</a:t>
                </a:r>
                <a:r>
                  <a:rPr lang="en-US" altLang="ja-JP" sz="2000" b="1" i="1" baseline="-25000" dirty="0" err="1">
                    <a:solidFill>
                      <a:schemeClr val="tx1"/>
                    </a:solidFill>
                  </a:rPr>
                  <a:t>n</a:t>
                </a:r>
                <a:r>
                  <a:rPr lang="en-US" altLang="ja-JP" sz="2000" dirty="0">
                    <a:solidFill>
                      <a:schemeClr val="tx1"/>
                    </a:solidFill>
                  </a:rPr>
                  <a:t> such that</a:t>
                </a:r>
              </a:p>
              <a:p>
                <a:pPr algn="just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NZ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NZ" altLang="ja-JP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NZ" altLang="ja-JP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𝒀</m:t>
                            </m:r>
                          </m:e>
                          <m:sub>
                            <m:r>
                              <a:rPr lang="en-NZ" altLang="ja-JP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en-NZ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NZ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𝝁</m:t>
                    </m:r>
                  </m:oMath>
                </a14:m>
                <a:r>
                  <a:rPr lang="en-US" altLang="ja-JP" sz="2000" b="1" dirty="0">
                    <a:solidFill>
                      <a:schemeClr val="tx1"/>
                    </a:solidFill>
                  </a:rPr>
                  <a:t>   </a:t>
                </a:r>
                <a:r>
                  <a:rPr lang="en-US" altLang="ja-JP" sz="2000" dirty="0">
                    <a:solidFill>
                      <a:schemeClr val="tx1"/>
                    </a:solidFill>
                  </a:rPr>
                  <a:t>and   </a:t>
                </a:r>
                <a14:m>
                  <m:oMath xmlns:m="http://schemas.openxmlformats.org/officeDocument/2006/math">
                    <m:r>
                      <a:rPr lang="en-NZ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𝑽𝒂𝒓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NZ" altLang="ja-JP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NZ" altLang="ja-JP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𝒀</m:t>
                            </m:r>
                          </m:e>
                          <m:sub>
                            <m:r>
                              <a:rPr lang="en-NZ" altLang="ja-JP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en-NZ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NZ" altLang="ja-JP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NZ" altLang="ja-JP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𝝈</m:t>
                        </m:r>
                      </m:e>
                      <m:sup>
                        <m:r>
                          <a:rPr lang="en-NZ" altLang="ja-JP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ja-JP" sz="2000" dirty="0">
                    <a:solidFill>
                      <a:schemeClr val="tx1"/>
                    </a:solidFill>
                  </a:rPr>
                  <a:t>    </a:t>
                </a:r>
                <a14:m>
                  <m:oMath xmlns:m="http://schemas.openxmlformats.org/officeDocument/2006/math">
                    <m:r>
                      <a:rPr lang="en-NZ" altLang="ja-JP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∀ </m:t>
                    </m:r>
                    <m:r>
                      <a:rPr lang="en-NZ" altLang="ja-JP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NZ" altLang="ja-JP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=1, …, </m:t>
                    </m:r>
                    <m:r>
                      <a:rPr lang="en-NZ" altLang="ja-JP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NZ" altLang="ja-JP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ja-JP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Text Placeholder 5">
                <a:extLst>
                  <a:ext uri="{FF2B5EF4-FFF2-40B4-BE49-F238E27FC236}">
                    <a16:creationId xmlns:a16="http://schemas.microsoft.com/office/drawing/2014/main" id="{D574532C-CC82-41B7-8CC0-1CFAB70FA3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2442301"/>
                <a:ext cx="11553074" cy="913196"/>
              </a:xfrm>
              <a:prstGeom prst="rect">
                <a:avLst/>
              </a:prstGeom>
              <a:blipFill>
                <a:blip r:embed="rId5"/>
                <a:stretch>
                  <a:fillRect l="-527" t="-4027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82FE188E-4FC9-4B06-8DB1-E20D756A1F31}"/>
              </a:ext>
            </a:extLst>
          </p:cNvPr>
          <p:cNvSpPr txBox="1">
            <a:spLocks/>
          </p:cNvSpPr>
          <p:nvPr/>
        </p:nvSpPr>
        <p:spPr>
          <a:xfrm>
            <a:off x="319463" y="3733651"/>
            <a:ext cx="11553074" cy="40649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US" altLang="ja-JP" sz="2000" dirty="0">
                <a:solidFill>
                  <a:schemeClr val="tx1"/>
                </a:solidFill>
              </a:rPr>
              <a:t>We could then form the following linear combination…</a:t>
            </a:r>
          </a:p>
          <a:p>
            <a:pPr algn="just">
              <a:lnSpc>
                <a:spcPct val="100000"/>
              </a:lnSpc>
            </a:pPr>
            <a:r>
              <a:rPr lang="en-US" altLang="ja-JP" sz="20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022CA9CD-67C0-4CC8-89C4-DC01932AABA1}"/>
              </a:ext>
            </a:extLst>
          </p:cNvPr>
          <p:cNvSpPr txBox="1">
            <a:spLocks/>
          </p:cNvSpPr>
          <p:nvPr/>
        </p:nvSpPr>
        <p:spPr>
          <a:xfrm>
            <a:off x="319463" y="5269931"/>
            <a:ext cx="11553074" cy="40649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US" altLang="ja-JP" sz="2000" dirty="0">
                <a:solidFill>
                  <a:schemeClr val="tx1"/>
                </a:solidFill>
              </a:rPr>
              <a:t>… which is known as the sample mean.</a:t>
            </a:r>
          </a:p>
          <a:p>
            <a:pPr algn="just">
              <a:lnSpc>
                <a:spcPct val="100000"/>
              </a:lnSpc>
            </a:pPr>
            <a:r>
              <a:rPr lang="en-US" altLang="ja-JP" sz="20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4CFE7331-C12F-1BFE-D090-BC0207599D4E}"/>
              </a:ext>
            </a:extLst>
          </p:cNvPr>
          <p:cNvSpPr txBox="1">
            <a:spLocks/>
          </p:cNvSpPr>
          <p:nvPr/>
        </p:nvSpPr>
        <p:spPr>
          <a:xfrm>
            <a:off x="8940800" y="86139"/>
            <a:ext cx="31485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1600" dirty="0">
                <a:solidFill>
                  <a:srgbClr val="DEDDDD"/>
                </a:solidFill>
                <a:latin typeface="Gidole"/>
              </a:rPr>
              <a:t>1.4 - Linear Combinations of RVs</a:t>
            </a:r>
            <a:endParaRPr kumimoji="1" lang="ja-JP" altLang="en-US" sz="1600" dirty="0">
              <a:solidFill>
                <a:srgbClr val="DEDDDD"/>
              </a:solidFill>
              <a:latin typeface="Gidole"/>
            </a:endParaRPr>
          </a:p>
        </p:txBody>
      </p:sp>
    </p:spTree>
    <p:extLst>
      <p:ext uri="{BB962C8B-B14F-4D97-AF65-F5344CB8AC3E}">
        <p14:creationId xmlns:p14="http://schemas.microsoft.com/office/powerpoint/2010/main" val="4133550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6" grpId="0"/>
      <p:bldP spid="18" grpId="0"/>
      <p:bldP spid="19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6733"/>
            <a:ext cx="2185386" cy="741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4AD89C-DF1E-4948-B597-5DD47B34A9CA}" type="slidenum">
              <a:rPr kumimoji="1" lang="ja-JP" altLang="en-US" smtClean="0">
                <a:solidFill>
                  <a:srgbClr val="575454">
                    <a:lumMod val="20000"/>
                    <a:lumOff val="80000"/>
                  </a:srgbClr>
                </a:solidFill>
                <a:latin typeface="Coo Hew"/>
              </a:rPr>
              <a:pPr/>
              <a:t>44</a:t>
            </a:fld>
            <a:endParaRPr kumimoji="1" lang="ja-JP" altLang="en-US" dirty="0">
              <a:solidFill>
                <a:srgbClr val="575454">
                  <a:lumMod val="20000"/>
                  <a:lumOff val="80000"/>
                </a:srgbClr>
              </a:solidFill>
              <a:latin typeface="Coo Hew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DCE95AA1-F247-4D03-9A84-A08A95E2EB81}"/>
              </a:ext>
            </a:extLst>
          </p:cNvPr>
          <p:cNvSpPr txBox="1">
            <a:spLocks/>
          </p:cNvSpPr>
          <p:nvPr/>
        </p:nvSpPr>
        <p:spPr>
          <a:xfrm>
            <a:off x="319463" y="310113"/>
            <a:ext cx="8168429" cy="607201"/>
          </a:xfrm>
          <a:prstGeom prst="rect">
            <a:avLst/>
          </a:prstGeom>
        </p:spPr>
        <p:txBody>
          <a:bodyPr anchor="t">
            <a:normAutofit fontScale="77500" lnSpcReduction="20000"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b="1" u="sng" dirty="0">
                <a:latin typeface="+mn-lt"/>
              </a:rPr>
              <a:t>1.4d - Expectation &amp; Variance of the Sample Mean:</a:t>
            </a:r>
            <a:endParaRPr lang="ja-JP" altLang="en-US" b="1" u="sng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7CF0EF27-D66E-440A-ADCA-1A987E76987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1133969"/>
                <a:ext cx="11553074" cy="4628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:r>
                  <a:rPr lang="en-NZ" altLang="ja-JP" sz="2000" dirty="0">
                    <a:solidFill>
                      <a:schemeClr val="tx1"/>
                    </a:solidFill>
                  </a:rPr>
                  <a:t>The expectation of the sample mean is given by </a:t>
                </a:r>
                <a14:m>
                  <m:oMath xmlns:m="http://schemas.openxmlformats.org/officeDocument/2006/math">
                    <m:r>
                      <a:rPr lang="en-NZ" altLang="ja-JP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acc>
                          <m:accPr>
                            <m:chr m:val="̅"/>
                            <m:ctrlPr>
                              <a:rPr lang="en-NZ" altLang="ja-JP" sz="20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NZ" altLang="ja-JP" sz="20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𝒀</m:t>
                            </m:r>
                            <m:r>
                              <a:rPr lang="en-NZ" altLang="ja-JP" sz="20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acc>
                      </m:e>
                    </m:d>
                    <m:r>
                      <a:rPr lang="en-NZ" altLang="ja-JP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NZ" altLang="ja-JP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𝝁</m:t>
                    </m:r>
                  </m:oMath>
                </a14:m>
                <a:endParaRPr lang="en-US" altLang="ja-JP" sz="2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7CF0EF27-D66E-440A-ADCA-1A987E7698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1133969"/>
                <a:ext cx="11553074" cy="462819"/>
              </a:xfrm>
              <a:prstGeom prst="rect">
                <a:avLst/>
              </a:prstGeom>
              <a:blipFill>
                <a:blip r:embed="rId3"/>
                <a:stretch>
                  <a:fillRect l="-527" t="-6579" b="-9211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8301A584-7B98-400D-A481-39FA867DB1AD}"/>
              </a:ext>
            </a:extLst>
          </p:cNvPr>
          <p:cNvSpPr txBox="1">
            <a:spLocks/>
          </p:cNvSpPr>
          <p:nvPr/>
        </p:nvSpPr>
        <p:spPr>
          <a:xfrm>
            <a:off x="319463" y="1695802"/>
            <a:ext cx="11553074" cy="46281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NZ" altLang="ja-JP" sz="2000" b="1" i="1" dirty="0">
                <a:solidFill>
                  <a:srgbClr val="002060"/>
                </a:solidFill>
              </a:rPr>
              <a:t>Proof (You </a:t>
            </a:r>
            <a:r>
              <a:rPr lang="en-NZ" altLang="ja-JP" sz="2000" b="1" i="1" u="sng" dirty="0">
                <a:solidFill>
                  <a:srgbClr val="002060"/>
                </a:solidFill>
              </a:rPr>
              <a:t>Do</a:t>
            </a:r>
            <a:r>
              <a:rPr lang="en-NZ" altLang="ja-JP" sz="2000" b="1" i="1" dirty="0">
                <a:solidFill>
                  <a:srgbClr val="002060"/>
                </a:solidFill>
              </a:rPr>
              <a:t> need to know this):</a:t>
            </a:r>
            <a:endParaRPr lang="en-US" altLang="ja-JP" sz="2000" b="1" i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FD847EA1-902E-4005-9197-4FB540FC6F2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5153" y="2235104"/>
                <a:ext cx="11553074" cy="101306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NZ" altLang="ja-JP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acc>
                            <m:accPr>
                              <m:chr m:val="̅"/>
                              <m:ctrlPr>
                                <a:rPr lang="en-NZ" altLang="ja-JP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=  </m:t>
                      </m:r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NZ" altLang="ja-JP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NZ" altLang="ja-JP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nary>
                            <m:naryPr>
                              <m:chr m:val="∑"/>
                              <m:ctrlPr>
                                <a:rPr lang="en-NZ" altLang="ja-JP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NZ" altLang="ja-JP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NZ" altLang="ja-JP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NZ" altLang="ja-JP" sz="20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=</m:t>
                      </m:r>
                      <m:r>
                        <a:rPr lang="en-NZ" altLang="ja-JP" sz="20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NZ" altLang="ja-JP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NZ" altLang="ja-JP" sz="20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NZ" altLang="ja-JP" sz="20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NZ" altLang="ja-JP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NZ" altLang="ja-JP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20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NZ" altLang="ja-JP" sz="20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NZ" altLang="ja-JP" sz="20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+ </m:t>
                              </m:r>
                              <m:sSub>
                                <m:sSubPr>
                                  <m:ctrlPr>
                                    <a:rPr lang="en-NZ" altLang="ja-JP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20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NZ" altLang="ja-JP" sz="20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NZ" altLang="ja-JP" sz="20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+  </m:t>
                              </m:r>
                              <m:r>
                                <a:rPr lang="en-NZ" altLang="ja-JP" sz="20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⋯ + </m:t>
                              </m:r>
                              <m:sSub>
                                <m:sSubPr>
                                  <m:ctrlPr>
                                    <a:rPr lang="en-NZ" altLang="ja-JP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20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NZ" altLang="ja-JP" sz="20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altLang="ja-JP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FD847EA1-902E-4005-9197-4FB540FC6F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153" y="2235104"/>
                <a:ext cx="11553074" cy="10130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Placeholder 5">
                <a:extLst>
                  <a:ext uri="{FF2B5EF4-FFF2-40B4-BE49-F238E27FC236}">
                    <a16:creationId xmlns:a16="http://schemas.microsoft.com/office/drawing/2014/main" id="{F0B2A1BF-66CE-49FB-BADE-2DC7C8DC783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98484" y="3248168"/>
                <a:ext cx="10074567" cy="741267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= </m:t>
                      </m:r>
                      <m:f>
                        <m:fPr>
                          <m:ctrlPr>
                            <a:rPr lang="en-NZ" altLang="ja-JP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NZ" altLang="ja-JP" sz="20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NZ" altLang="ja-JP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NZ" altLang="ja-JP" sz="20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NZ" altLang="ja-JP" sz="20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NZ" altLang="ja-JP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+ </m:t>
                          </m:r>
                          <m:sSub>
                            <m:sSubPr>
                              <m:ctrlPr>
                                <a:rPr lang="en-NZ" altLang="ja-JP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20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NZ" altLang="ja-JP" sz="20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NZ" altLang="ja-JP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+  </m:t>
                          </m:r>
                          <m:r>
                            <a:rPr lang="en-NZ" altLang="ja-JP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 + </m:t>
                          </m:r>
                          <m:sSub>
                            <m:sSubPr>
                              <m:ctrlPr>
                                <a:rPr lang="en-NZ" altLang="ja-JP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20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NZ" altLang="ja-JP" sz="20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altLang="ja-JP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Text Placeholder 5">
                <a:extLst>
                  <a:ext uri="{FF2B5EF4-FFF2-40B4-BE49-F238E27FC236}">
                    <a16:creationId xmlns:a16="http://schemas.microsoft.com/office/drawing/2014/main" id="{F0B2A1BF-66CE-49FB-BADE-2DC7C8DC78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8484" y="3248168"/>
                <a:ext cx="10074567" cy="74126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Placeholder 5">
                <a:extLst>
                  <a:ext uri="{FF2B5EF4-FFF2-40B4-BE49-F238E27FC236}">
                    <a16:creationId xmlns:a16="http://schemas.microsoft.com/office/drawing/2014/main" id="{9DF6325F-22DD-40A0-847A-5292DA59771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98484" y="3974145"/>
                <a:ext cx="10074567" cy="741267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= </m:t>
                      </m:r>
                      <m:f>
                        <m:fPr>
                          <m:ctrlPr>
                            <a:rPr lang="en-NZ" altLang="ja-JP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d>
                        <m:dPr>
                          <m:ctrlPr>
                            <a:rPr lang="en-NZ" altLang="ja-JP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NZ" altLang="ja-JP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NZ" altLang="ja-JP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NZ" altLang="ja-JP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+  </m:t>
                          </m:r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NZ" altLang="ja-JP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NZ" altLang="ja-JP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NZ" altLang="ja-JP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+ ⋯  +   </m:t>
                          </m:r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NZ" altLang="ja-JP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NZ" altLang="ja-JP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NZ" altLang="ja-JP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</m:e>
                      </m:d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ja-JP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Text Placeholder 5">
                <a:extLst>
                  <a:ext uri="{FF2B5EF4-FFF2-40B4-BE49-F238E27FC236}">
                    <a16:creationId xmlns:a16="http://schemas.microsoft.com/office/drawing/2014/main" id="{9DF6325F-22DD-40A0-847A-5292DA5977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8484" y="3974145"/>
                <a:ext cx="10074567" cy="74126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Placeholder 5">
                <a:extLst>
                  <a:ext uri="{FF2B5EF4-FFF2-40B4-BE49-F238E27FC236}">
                    <a16:creationId xmlns:a16="http://schemas.microsoft.com/office/drawing/2014/main" id="{AFF77C8F-D661-414A-A065-8C224490E8F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98484" y="4718588"/>
                <a:ext cx="10074567" cy="741267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= </m:t>
                      </m:r>
                      <m:f>
                        <m:fPr>
                          <m:ctrlPr>
                            <a:rPr lang="en-NZ" altLang="ja-JP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d>
                        <m:dPr>
                          <m:ctrlPr>
                            <a:rPr lang="en-NZ" altLang="ja-JP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+  </m:t>
                          </m:r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+ ⋯  +   </m:t>
                          </m:r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</m:e>
                      </m:d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=  </m:t>
                      </m:r>
                      <m:f>
                        <m:fPr>
                          <m:ctrlPr>
                            <a:rPr lang="en-NZ" altLang="ja-JP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lang="en-US" altLang="ja-JP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Text Placeholder 5">
                <a:extLst>
                  <a:ext uri="{FF2B5EF4-FFF2-40B4-BE49-F238E27FC236}">
                    <a16:creationId xmlns:a16="http://schemas.microsoft.com/office/drawing/2014/main" id="{AFF77C8F-D661-414A-A065-8C224490E8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8484" y="4718588"/>
                <a:ext cx="10074567" cy="74126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 Placeholder 5">
                <a:extLst>
                  <a:ext uri="{FF2B5EF4-FFF2-40B4-BE49-F238E27FC236}">
                    <a16:creationId xmlns:a16="http://schemas.microsoft.com/office/drawing/2014/main" id="{F6F9A273-2A51-4FF6-BCBD-49BF596402C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98484" y="5473764"/>
                <a:ext cx="10074567" cy="741267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=</m:t>
                      </m:r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lang="en-US" altLang="ja-JP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Text Placeholder 5">
                <a:extLst>
                  <a:ext uri="{FF2B5EF4-FFF2-40B4-BE49-F238E27FC236}">
                    <a16:creationId xmlns:a16="http://schemas.microsoft.com/office/drawing/2014/main" id="{F6F9A273-2A51-4FF6-BCBD-49BF596402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8484" y="5473764"/>
                <a:ext cx="10074567" cy="74126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Footer Placeholder 2">
            <a:extLst>
              <a:ext uri="{FF2B5EF4-FFF2-40B4-BE49-F238E27FC236}">
                <a16:creationId xmlns:a16="http://schemas.microsoft.com/office/drawing/2014/main" id="{E125B6C2-A59F-21FE-CC51-8568064C1563}"/>
              </a:ext>
            </a:extLst>
          </p:cNvPr>
          <p:cNvSpPr txBox="1">
            <a:spLocks/>
          </p:cNvSpPr>
          <p:nvPr/>
        </p:nvSpPr>
        <p:spPr>
          <a:xfrm>
            <a:off x="8940800" y="86139"/>
            <a:ext cx="31485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1600" dirty="0">
                <a:solidFill>
                  <a:srgbClr val="DEDDDD"/>
                </a:solidFill>
                <a:latin typeface="Gidole"/>
              </a:rPr>
              <a:t>1.4 - Linear Combinations of RVs</a:t>
            </a:r>
            <a:endParaRPr kumimoji="1" lang="ja-JP" altLang="en-US" sz="1600" dirty="0">
              <a:solidFill>
                <a:srgbClr val="DEDDDD"/>
              </a:solidFill>
              <a:latin typeface="Gidol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Placeholder 5">
                <a:extLst>
                  <a:ext uri="{FF2B5EF4-FFF2-40B4-BE49-F238E27FC236}">
                    <a16:creationId xmlns:a16="http://schemas.microsoft.com/office/drawing/2014/main" id="{D04A5A0B-256C-26C5-DE96-70BE34BDED1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531111" y="5724031"/>
                <a:ext cx="2462405" cy="901167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</a:pPr>
                <a:r>
                  <a:rPr lang="en-NZ" altLang="ja-JP" sz="1300" b="1" dirty="0">
                    <a:solidFill>
                      <a:srgbClr val="002060"/>
                    </a:solidFill>
                  </a:rPr>
                  <a:t>1.   </a:t>
                </a:r>
                <a14:m>
                  <m:oMath xmlns:m="http://schemas.openxmlformats.org/officeDocument/2006/math">
                    <m:r>
                      <a:rPr lang="en-NZ" altLang="ja-JP" sz="13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13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13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NZ" altLang="ja-JP" sz="13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𝒂𝑿</m:t>
                        </m:r>
                        <m:r>
                          <a:rPr lang="en-NZ" altLang="ja-JP" sz="13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NZ" altLang="ja-JP" sz="13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  <m:r>
                          <a:rPr lang="en-NZ" altLang="ja-JP" sz="13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NZ" altLang="ja-JP" sz="13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NZ" altLang="ja-JP" sz="13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NZ" altLang="ja-JP" sz="13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NZ" altLang="ja-JP" sz="13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13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13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d>
                    <m:r>
                      <a:rPr lang="en-NZ" altLang="ja-JP" sz="13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NZ" altLang="ja-JP" sz="13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br>
                  <a:rPr lang="en-NZ" altLang="ja-JP" sz="1300" b="1" dirty="0">
                    <a:solidFill>
                      <a:srgbClr val="002060"/>
                    </a:solidFill>
                  </a:rPr>
                </a:br>
                <a:r>
                  <a:rPr lang="en-NZ" altLang="ja-JP" sz="1300" b="1" dirty="0">
                    <a:solidFill>
                      <a:srgbClr val="002060"/>
                    </a:solidFill>
                  </a:rPr>
                  <a:t>2.   </a:t>
                </a:r>
                <a14:m>
                  <m:oMath xmlns:m="http://schemas.openxmlformats.org/officeDocument/2006/math">
                    <m:r>
                      <a:rPr lang="en-NZ" altLang="ja-JP" sz="13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13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13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NZ" altLang="ja-JP" sz="13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𝒂𝑿</m:t>
                        </m:r>
                        <m:r>
                          <a:rPr lang="en-NZ" altLang="ja-JP" sz="13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NZ" altLang="ja-JP" sz="13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NZ" altLang="ja-JP" sz="13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NZ" altLang="ja-JP" sz="13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NZ" altLang="ja-JP" sz="13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13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13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d>
                  </m:oMath>
                </a14:m>
                <a:endParaRPr lang="en-NZ" altLang="ja-JP" sz="1300" b="1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NZ" altLang="ja-JP" sz="1300" b="1" dirty="0">
                    <a:solidFill>
                      <a:srgbClr val="002060"/>
                    </a:solidFill>
                  </a:rPr>
                  <a:t>3.   </a:t>
                </a:r>
                <a14:m>
                  <m:oMath xmlns:m="http://schemas.openxmlformats.org/officeDocument/2006/math">
                    <m:r>
                      <a:rPr lang="en-NZ" altLang="ja-JP" sz="13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13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13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NZ" altLang="ja-JP" sz="13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  <m:r>
                          <a:rPr lang="en-NZ" altLang="ja-JP" sz="13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NZ" altLang="ja-JP" sz="13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NZ" altLang="ja-JP" sz="13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br>
                  <a:rPr lang="en-NZ" altLang="ja-JP" sz="1300" b="1" dirty="0">
                    <a:solidFill>
                      <a:srgbClr val="002060"/>
                    </a:solidFill>
                  </a:rPr>
                </a:br>
                <a:r>
                  <a:rPr lang="en-NZ" altLang="ja-JP" sz="1300" b="1" dirty="0">
                    <a:solidFill>
                      <a:srgbClr val="002060"/>
                    </a:solidFill>
                  </a:rPr>
                  <a:t>4.   </a:t>
                </a:r>
                <a14:m>
                  <m:oMath xmlns:m="http://schemas.openxmlformats.org/officeDocument/2006/math">
                    <m:r>
                      <a:rPr lang="en-NZ" altLang="ja-JP" sz="13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13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13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NZ" altLang="ja-JP" sz="13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NZ" altLang="ja-JP" sz="13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NZ" altLang="ja-JP" sz="13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  <m:r>
                          <a:rPr lang="en-NZ" altLang="ja-JP" sz="13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NZ" altLang="ja-JP" sz="13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NZ" altLang="ja-JP" sz="13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13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13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NZ" altLang="ja-JP" sz="13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NZ" altLang="ja-JP" sz="13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NZ" altLang="ja-JP" sz="13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  </m:t>
                    </m:r>
                    <m:r>
                      <a:rPr lang="en-NZ" altLang="ja-JP" sz="13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NZ" altLang="ja-JP" sz="13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[ </m:t>
                    </m:r>
                    <m:r>
                      <a:rPr lang="en-NZ" altLang="ja-JP" sz="13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NZ" altLang="ja-JP" sz="13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]</m:t>
                    </m:r>
                  </m:oMath>
                </a14:m>
                <a:endParaRPr lang="en-US" altLang="ja-JP" sz="1300" b="1" dirty="0">
                  <a:solidFill>
                    <a:srgbClr val="002060"/>
                  </a:solidFill>
                </a:endParaRPr>
              </a:p>
              <a:p>
                <a:pPr algn="just">
                  <a:lnSpc>
                    <a:spcPct val="100000"/>
                  </a:lnSpc>
                </a:pPr>
                <a:endParaRPr lang="en-US" altLang="ja-JP" sz="13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6" name="Text Placeholder 5">
                <a:extLst>
                  <a:ext uri="{FF2B5EF4-FFF2-40B4-BE49-F238E27FC236}">
                    <a16:creationId xmlns:a16="http://schemas.microsoft.com/office/drawing/2014/main" id="{D04A5A0B-256C-26C5-DE96-70BE34BDED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1111" y="5724031"/>
                <a:ext cx="2462405" cy="901167"/>
              </a:xfrm>
              <a:prstGeom prst="rect">
                <a:avLst/>
              </a:prstGeom>
              <a:blipFill>
                <a:blip r:embed="rId9"/>
                <a:stretch>
                  <a:fillRect l="-248" t="-676" b="-4054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 Placeholder 5">
                <a:extLst>
                  <a:ext uri="{FF2B5EF4-FFF2-40B4-BE49-F238E27FC236}">
                    <a16:creationId xmlns:a16="http://schemas.microsoft.com/office/drawing/2014/main" id="{835B8706-66EC-FE20-6360-63C35AC8C14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588155" y="4240244"/>
                <a:ext cx="3712192" cy="39327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NZ" altLang="ja-JP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NZ" altLang="ja-JP" sz="1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NZ" altLang="ja-JP" sz="1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1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NZ" altLang="ja-JP" sz="1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NZ" altLang="ja-JP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NZ" altLang="ja-JP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NZ" altLang="ja-JP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∀ </m:t>
                      </m:r>
                      <m:r>
                        <a:rPr lang="en-NZ" altLang="ja-JP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NZ" altLang="ja-JP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=1, …,</m:t>
                      </m:r>
                      <m:r>
                        <a:rPr lang="en-NZ" altLang="ja-JP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altLang="ja-JP" sz="1400" b="1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Text Placeholder 5">
                <a:extLst>
                  <a:ext uri="{FF2B5EF4-FFF2-40B4-BE49-F238E27FC236}">
                    <a16:creationId xmlns:a16="http://schemas.microsoft.com/office/drawing/2014/main" id="{835B8706-66EC-FE20-6360-63C35AC8C1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8155" y="4240244"/>
                <a:ext cx="3712192" cy="39327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9773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  <p:bldP spid="15" grpId="0"/>
      <p:bldP spid="17" grpId="0"/>
      <p:bldP spid="20" grpId="0"/>
      <p:bldP spid="16" grpId="0"/>
      <p:bldP spid="18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6733"/>
            <a:ext cx="2185386" cy="741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4AD89C-DF1E-4948-B597-5DD47B34A9CA}" type="slidenum">
              <a:rPr kumimoji="1" lang="ja-JP" altLang="en-US" smtClean="0">
                <a:solidFill>
                  <a:srgbClr val="575454">
                    <a:lumMod val="20000"/>
                    <a:lumOff val="80000"/>
                  </a:srgbClr>
                </a:solidFill>
                <a:latin typeface="Coo Hew"/>
              </a:rPr>
              <a:pPr/>
              <a:t>45</a:t>
            </a:fld>
            <a:endParaRPr kumimoji="1" lang="ja-JP" altLang="en-US" dirty="0">
              <a:solidFill>
                <a:srgbClr val="575454">
                  <a:lumMod val="20000"/>
                  <a:lumOff val="80000"/>
                </a:srgbClr>
              </a:solidFill>
              <a:latin typeface="Coo Hew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DCE95AA1-F247-4D03-9A84-A08A95E2EB81}"/>
              </a:ext>
            </a:extLst>
          </p:cNvPr>
          <p:cNvSpPr txBox="1">
            <a:spLocks/>
          </p:cNvSpPr>
          <p:nvPr/>
        </p:nvSpPr>
        <p:spPr>
          <a:xfrm>
            <a:off x="319463" y="310113"/>
            <a:ext cx="8168429" cy="607201"/>
          </a:xfrm>
          <a:prstGeom prst="rect">
            <a:avLst/>
          </a:prstGeom>
        </p:spPr>
        <p:txBody>
          <a:bodyPr anchor="t">
            <a:normAutofit fontScale="77500" lnSpcReduction="20000"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b="1" u="sng" dirty="0">
                <a:latin typeface="+mn-lt"/>
              </a:rPr>
              <a:t>1.4d - Expectation &amp; Variance of the Sample Mean:</a:t>
            </a:r>
            <a:endParaRPr lang="ja-JP" altLang="en-US" b="1" u="sng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7CF0EF27-D66E-440A-ADCA-1A987E76987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1066511"/>
                <a:ext cx="11553074" cy="46281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:r>
                  <a:rPr lang="en-NZ" altLang="ja-JP" sz="2000" dirty="0">
                    <a:solidFill>
                      <a:schemeClr val="tx1"/>
                    </a:solidFill>
                  </a:rPr>
                  <a:t>The variance of the sample mean is given by </a:t>
                </a:r>
                <a14:m>
                  <m:oMath xmlns:m="http://schemas.openxmlformats.org/officeDocument/2006/math">
                    <m:r>
                      <a:rPr lang="en-NZ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𝑽𝒂𝒓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acc>
                          <m:accPr>
                            <m:chr m:val="̅"/>
                            <m:ctrlPr>
                              <a:rPr lang="en-NZ" altLang="ja-JP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NZ" altLang="ja-JP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𝒀</m:t>
                            </m:r>
                            <m:r>
                              <a:rPr lang="en-NZ" altLang="ja-JP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acc>
                      </m:e>
                    </m:d>
                    <m:r>
                      <a:rPr lang="en-NZ" altLang="ja-JP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NZ" altLang="ja-JP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NZ" altLang="ja-JP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NZ" altLang="ja-JP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𝝈</m:t>
                            </m:r>
                          </m:e>
                          <m:sup>
                            <m:r>
                              <a:rPr lang="en-NZ" altLang="ja-JP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en-NZ" altLang="ja-JP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den>
                    </m:f>
                  </m:oMath>
                </a14:m>
                <a:endParaRPr lang="en-US" altLang="ja-JP" sz="2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7CF0EF27-D66E-440A-ADCA-1A987E7698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1066511"/>
                <a:ext cx="11553074" cy="462819"/>
              </a:xfrm>
              <a:prstGeom prst="rect">
                <a:avLst/>
              </a:prstGeom>
              <a:blipFill>
                <a:blip r:embed="rId3"/>
                <a:stretch>
                  <a:fillRect l="-527" b="-35526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8301A584-7B98-400D-A481-39FA867DB1AD}"/>
              </a:ext>
            </a:extLst>
          </p:cNvPr>
          <p:cNvSpPr txBox="1">
            <a:spLocks/>
          </p:cNvSpPr>
          <p:nvPr/>
        </p:nvSpPr>
        <p:spPr>
          <a:xfrm>
            <a:off x="319463" y="1695802"/>
            <a:ext cx="11553074" cy="46281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NZ" altLang="ja-JP" sz="2000" b="1" i="1" dirty="0">
                <a:solidFill>
                  <a:srgbClr val="002060"/>
                </a:solidFill>
              </a:rPr>
              <a:t>Proof (You </a:t>
            </a:r>
            <a:r>
              <a:rPr lang="en-NZ" altLang="ja-JP" sz="2000" b="1" i="1" u="sng" dirty="0">
                <a:solidFill>
                  <a:srgbClr val="002060"/>
                </a:solidFill>
              </a:rPr>
              <a:t>Do</a:t>
            </a:r>
            <a:r>
              <a:rPr lang="en-NZ" altLang="ja-JP" sz="2000" b="1" i="1" dirty="0">
                <a:solidFill>
                  <a:srgbClr val="002060"/>
                </a:solidFill>
              </a:rPr>
              <a:t> need to know this):</a:t>
            </a:r>
            <a:endParaRPr lang="en-US" altLang="ja-JP" sz="2000" b="1" i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Placeholder 5">
                <a:extLst>
                  <a:ext uri="{FF2B5EF4-FFF2-40B4-BE49-F238E27FC236}">
                    <a16:creationId xmlns:a16="http://schemas.microsoft.com/office/drawing/2014/main" id="{EF3772B2-04E1-4641-B947-7BD6C60ABC5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5153" y="2235104"/>
                <a:ext cx="11553074" cy="101306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NZ" altLang="ja-JP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acc>
                            <m:accPr>
                              <m:chr m:val="̅"/>
                              <m:ctrlPr>
                                <a:rPr lang="en-NZ" altLang="ja-JP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=  </m:t>
                      </m:r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NZ" altLang="ja-JP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NZ" altLang="ja-JP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nary>
                            <m:naryPr>
                              <m:chr m:val="∑"/>
                              <m:ctrlPr>
                                <a:rPr lang="en-NZ" altLang="ja-JP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NZ" altLang="ja-JP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NZ" altLang="ja-JP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NZ" altLang="ja-JP" sz="20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=</m:t>
                      </m:r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NZ" altLang="ja-JP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NZ" altLang="ja-JP" sz="20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NZ" altLang="ja-JP" sz="20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NZ" altLang="ja-JP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NZ" altLang="ja-JP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20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NZ" altLang="ja-JP" sz="20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NZ" altLang="ja-JP" sz="20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+ </m:t>
                              </m:r>
                              <m:sSub>
                                <m:sSubPr>
                                  <m:ctrlPr>
                                    <a:rPr lang="en-NZ" altLang="ja-JP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20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NZ" altLang="ja-JP" sz="20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NZ" altLang="ja-JP" sz="20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+  </m:t>
                              </m:r>
                              <m:r>
                                <a:rPr lang="en-NZ" altLang="ja-JP" sz="20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⋯ + </m:t>
                              </m:r>
                              <m:sSub>
                                <m:sSubPr>
                                  <m:ctrlPr>
                                    <a:rPr lang="en-NZ" altLang="ja-JP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20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NZ" altLang="ja-JP" sz="20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altLang="ja-JP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Text Placeholder 5">
                <a:extLst>
                  <a:ext uri="{FF2B5EF4-FFF2-40B4-BE49-F238E27FC236}">
                    <a16:creationId xmlns:a16="http://schemas.microsoft.com/office/drawing/2014/main" id="{EF3772B2-04E1-4641-B947-7BD6C60ABC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153" y="2235104"/>
                <a:ext cx="11553074" cy="10130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 Placeholder 5">
                <a:extLst>
                  <a:ext uri="{FF2B5EF4-FFF2-40B4-BE49-F238E27FC236}">
                    <a16:creationId xmlns:a16="http://schemas.microsoft.com/office/drawing/2014/main" id="{53F0795B-4356-415A-97E9-BD344124BDC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57792" y="3209167"/>
                <a:ext cx="5434327" cy="741267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NZ" altLang="ja-JP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NZ" altLang="ja-JP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NZ" altLang="ja-JP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NZ" altLang="ja-JP" sz="20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NZ" altLang="ja-JP" sz="20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NZ" altLang="ja-JP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+ </m:t>
                          </m:r>
                          <m:sSub>
                            <m:sSubPr>
                              <m:ctrlPr>
                                <a:rPr lang="en-NZ" altLang="ja-JP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20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NZ" altLang="ja-JP" sz="20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NZ" altLang="ja-JP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+  </m:t>
                          </m:r>
                          <m:r>
                            <a:rPr lang="en-NZ" altLang="ja-JP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 + </m:t>
                          </m:r>
                          <m:sSub>
                            <m:sSubPr>
                              <m:ctrlPr>
                                <a:rPr lang="en-NZ" altLang="ja-JP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20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NZ" altLang="ja-JP" sz="20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</m:t>
                          </m:r>
                        </m:e>
                      </m:d>
                    </m:oMath>
                  </m:oMathPara>
                </a14:m>
                <a:endParaRPr lang="en-US" altLang="ja-JP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Text Placeholder 5">
                <a:extLst>
                  <a:ext uri="{FF2B5EF4-FFF2-40B4-BE49-F238E27FC236}">
                    <a16:creationId xmlns:a16="http://schemas.microsoft.com/office/drawing/2014/main" id="{53F0795B-4356-415A-97E9-BD344124BD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7792" y="3209167"/>
                <a:ext cx="5434327" cy="74126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 Placeholder 5">
                <a:extLst>
                  <a:ext uri="{FF2B5EF4-FFF2-40B4-BE49-F238E27FC236}">
                    <a16:creationId xmlns:a16="http://schemas.microsoft.com/office/drawing/2014/main" id="{F1753B8D-75FB-4CD5-B7D3-E956D769A68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57792" y="4038742"/>
                <a:ext cx="10074567" cy="741267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en-NZ" altLang="ja-JP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NZ" altLang="ja-JP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d>
                        <m:dPr>
                          <m:ctrlPr>
                            <a:rPr lang="en-NZ" altLang="ja-JP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𝑉𝑎𝑟</m:t>
                          </m:r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en-NZ" altLang="ja-JP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] +  </m:t>
                          </m:r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𝑉𝑎𝑟</m:t>
                          </m:r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en-NZ" altLang="ja-JP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] + ⋯  +   </m:t>
                          </m:r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𝑉𝑎𝑟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NZ" altLang="ja-JP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NZ" altLang="ja-JP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NZ" altLang="ja-JP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</m:e>
                      </m:d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ja-JP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Text Placeholder 5">
                <a:extLst>
                  <a:ext uri="{FF2B5EF4-FFF2-40B4-BE49-F238E27FC236}">
                    <a16:creationId xmlns:a16="http://schemas.microsoft.com/office/drawing/2014/main" id="{F1753B8D-75FB-4CD5-B7D3-E956D769A6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7792" y="4038742"/>
                <a:ext cx="10074567" cy="74126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 Placeholder 5">
                <a:extLst>
                  <a:ext uri="{FF2B5EF4-FFF2-40B4-BE49-F238E27FC236}">
                    <a16:creationId xmlns:a16="http://schemas.microsoft.com/office/drawing/2014/main" id="{BCE5D977-F2E0-47F8-9543-A55A461A00A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57792" y="4924497"/>
                <a:ext cx="5134077" cy="741267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en-NZ" altLang="ja-JP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NZ" altLang="ja-JP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d>
                        <m:dPr>
                          <m:ctrlPr>
                            <a:rPr lang="en-NZ" altLang="ja-JP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sSup>
                            <m:sSupPr>
                              <m:ctrlPr>
                                <a:rPr lang="en-NZ" altLang="ja-JP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+</m:t>
                          </m:r>
                          <m:sSup>
                            <m:sSupPr>
                              <m:ctrlPr>
                                <a:rPr lang="en-NZ" altLang="ja-JP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NZ" altLang="ja-JP" sz="20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NZ" altLang="ja-JP" sz="20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 ⋯  +</m:t>
                          </m:r>
                          <m:sSup>
                            <m:sSupPr>
                              <m:ctrlPr>
                                <a:rPr lang="en-NZ" altLang="ja-JP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NZ" altLang="ja-JP" sz="20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NZ" altLang="ja-JP" sz="20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=  </m:t>
                      </m:r>
                      <m:f>
                        <m:fPr>
                          <m:ctrlPr>
                            <a:rPr lang="en-NZ" altLang="ja-JP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NZ" altLang="ja-JP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sSup>
                        <m:sSupPr>
                          <m:ctrlPr>
                            <a:rPr lang="en-NZ" altLang="ja-JP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NZ" altLang="ja-JP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NZ" altLang="ja-JP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ja-JP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Text Placeholder 5">
                <a:extLst>
                  <a:ext uri="{FF2B5EF4-FFF2-40B4-BE49-F238E27FC236}">
                    <a16:creationId xmlns:a16="http://schemas.microsoft.com/office/drawing/2014/main" id="{BCE5D977-F2E0-47F8-9543-A55A461A00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7792" y="4924497"/>
                <a:ext cx="5134077" cy="74126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 Placeholder 5">
                <a:extLst>
                  <a:ext uri="{FF2B5EF4-FFF2-40B4-BE49-F238E27FC236}">
                    <a16:creationId xmlns:a16="http://schemas.microsoft.com/office/drawing/2014/main" id="{DEE0A637-A444-46D6-B6FE-6B79BAB8236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57792" y="5650683"/>
                <a:ext cx="1340000" cy="741267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NZ" altLang="ja-JP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type m:val="skw"/>
                          <m:ctrlPr>
                            <a:rPr lang="en-NZ" altLang="ja-JP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NZ" altLang="ja-JP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NZ" altLang="ja-JP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NZ" altLang="ja-JP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altLang="ja-JP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Text Placeholder 5">
                <a:extLst>
                  <a:ext uri="{FF2B5EF4-FFF2-40B4-BE49-F238E27FC236}">
                    <a16:creationId xmlns:a16="http://schemas.microsoft.com/office/drawing/2014/main" id="{DEE0A637-A444-46D6-B6FE-6B79BAB823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7792" y="5650683"/>
                <a:ext cx="1340000" cy="74126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 Placeholder 5">
                <a:extLst>
                  <a:ext uri="{FF2B5EF4-FFF2-40B4-BE49-F238E27FC236}">
                    <a16:creationId xmlns:a16="http://schemas.microsoft.com/office/drawing/2014/main" id="{CBA791C4-C65F-40AC-B6B1-31BC27214BA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806519" y="3446815"/>
                <a:ext cx="4385481" cy="39327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:r>
                  <a:rPr lang="en-NZ" altLang="ja-JP" sz="1400" i="1" dirty="0">
                    <a:solidFill>
                      <a:schemeClr val="tx1"/>
                    </a:solidFill>
                  </a:rPr>
                  <a:t> Var[</a:t>
                </a:r>
                <a:r>
                  <a:rPr lang="en-NZ" altLang="ja-JP" sz="1400" i="1" dirty="0" err="1">
                    <a:solidFill>
                      <a:schemeClr val="tx1"/>
                    </a:solidFill>
                  </a:rPr>
                  <a:t>aX</a:t>
                </a:r>
                <a:r>
                  <a:rPr lang="en-NZ" altLang="ja-JP" sz="1400" i="1" dirty="0">
                    <a:solidFill>
                      <a:schemeClr val="tx1"/>
                    </a:solidFill>
                  </a:rPr>
                  <a:t>] = a</a:t>
                </a:r>
                <a:r>
                  <a:rPr lang="en-NZ" altLang="ja-JP" sz="1400" i="1" baseline="30000" dirty="0">
                    <a:solidFill>
                      <a:schemeClr val="tx1"/>
                    </a:solidFill>
                  </a:rPr>
                  <a:t>2 </a:t>
                </a:r>
                <a:r>
                  <a:rPr lang="en-NZ" altLang="ja-JP" sz="1400" i="1" dirty="0">
                    <a:solidFill>
                      <a:schemeClr val="tx1"/>
                    </a:solidFill>
                  </a:rPr>
                  <a:t>Var[X]  (see slide 27)  and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NZ" altLang="ja-JP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NZ" altLang="ja-JP" sz="1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skw"/>
                                <m:ctrlPr>
                                  <a:rPr lang="en-NZ" altLang="ja-JP" sz="1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NZ" altLang="ja-JP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NZ" altLang="ja-JP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NZ" altLang="ja-JP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NZ" altLang="ja-JP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skw"/>
                        <m:ctrlPr>
                          <a:rPr lang="en-NZ" altLang="ja-JP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NZ" altLang="ja-JP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NZ" altLang="ja-JP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NZ" altLang="ja-JP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NZ" altLang="ja-JP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altLang="ja-JP" sz="1400" b="1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Text Placeholder 5">
                <a:extLst>
                  <a:ext uri="{FF2B5EF4-FFF2-40B4-BE49-F238E27FC236}">
                    <a16:creationId xmlns:a16="http://schemas.microsoft.com/office/drawing/2014/main" id="{CBA791C4-C65F-40AC-B6B1-31BC27214B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6519" y="3446815"/>
                <a:ext cx="4385481" cy="393279"/>
              </a:xfrm>
              <a:prstGeom prst="rect">
                <a:avLst/>
              </a:prstGeom>
              <a:blipFill>
                <a:blip r:embed="rId9"/>
                <a:stretch>
                  <a:fillRect t="-73846" b="-101538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 Placeholder 5">
                <a:extLst>
                  <a:ext uri="{FF2B5EF4-FFF2-40B4-BE49-F238E27FC236}">
                    <a16:creationId xmlns:a16="http://schemas.microsoft.com/office/drawing/2014/main" id="{BC603DC6-E939-428F-A286-A69820763E5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820166" y="4033458"/>
                <a:ext cx="4092299" cy="94519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NZ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NZ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NZ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sz="1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nary>
                            <m:naryPr>
                              <m:chr m:val="∑"/>
                              <m:ctrlPr>
                                <a:rPr lang="en-NZ" altLang="ja-JP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NZ" altLang="ja-JP" sz="1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NZ" altLang="ja-JP" sz="1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NZ" altLang="ja-JP" sz="1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NZ" altLang="ja-JP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1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NZ" altLang="ja-JP" sz="1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NZ" altLang="ja-JP" sz="1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NZ" altLang="ja-JP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1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NZ" altLang="ja-JP" sz="1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r>
                            <a:rPr lang="en-NZ" altLang="ja-JP" sz="1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NZ" sz="14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= </m:t>
                      </m:r>
                      <m:nary>
                        <m:naryPr>
                          <m:chr m:val="∑"/>
                          <m:ctrlPr>
                            <a:rPr lang="en-NZ" altLang="ja-JP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NZ" altLang="ja-JP" sz="1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NZ" altLang="ja-JP" sz="1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NZ" altLang="ja-JP" sz="1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Sup>
                            <m:sSubSupPr>
                              <m:ctrlPr>
                                <a:rPr lang="en-NZ" altLang="ja-JP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NZ" altLang="ja-JP" sz="1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NZ" altLang="ja-JP" sz="1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NZ" altLang="ja-JP" sz="1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NZ" altLang="ja-JP" sz="1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NZ" altLang="ja-JP" sz="1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𝑉𝑎𝑟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NZ" altLang="ja-JP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NZ" altLang="ja-JP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1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NZ" altLang="ja-JP" sz="1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altLang="ja-JP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Text Placeholder 5">
                <a:extLst>
                  <a:ext uri="{FF2B5EF4-FFF2-40B4-BE49-F238E27FC236}">
                    <a16:creationId xmlns:a16="http://schemas.microsoft.com/office/drawing/2014/main" id="{BC603DC6-E939-428F-A286-A69820763E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0166" y="4033458"/>
                <a:ext cx="4092299" cy="9451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Footer Placeholder 2">
            <a:extLst>
              <a:ext uri="{FF2B5EF4-FFF2-40B4-BE49-F238E27FC236}">
                <a16:creationId xmlns:a16="http://schemas.microsoft.com/office/drawing/2014/main" id="{84157DCD-684C-7856-52EA-F1DC4BDA9606}"/>
              </a:ext>
            </a:extLst>
          </p:cNvPr>
          <p:cNvSpPr txBox="1">
            <a:spLocks/>
          </p:cNvSpPr>
          <p:nvPr/>
        </p:nvSpPr>
        <p:spPr>
          <a:xfrm>
            <a:off x="8940800" y="86139"/>
            <a:ext cx="31485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1600" dirty="0">
                <a:solidFill>
                  <a:srgbClr val="DEDDDD"/>
                </a:solidFill>
                <a:latin typeface="Gidole"/>
              </a:rPr>
              <a:t>1.4 - Linear Combinations of RVs</a:t>
            </a:r>
            <a:endParaRPr kumimoji="1" lang="ja-JP" altLang="en-US" sz="1600" dirty="0">
              <a:solidFill>
                <a:srgbClr val="DEDDDD"/>
              </a:solidFill>
              <a:latin typeface="Gidol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Placeholder 5">
                <a:extLst>
                  <a:ext uri="{FF2B5EF4-FFF2-40B4-BE49-F238E27FC236}">
                    <a16:creationId xmlns:a16="http://schemas.microsoft.com/office/drawing/2014/main" id="{8A5BE861-240A-9561-5AC8-55C0090EE6F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820166" y="5196107"/>
                <a:ext cx="3712192" cy="39327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NZ" altLang="ja-JP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NZ" altLang="ja-JP" sz="1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NZ" altLang="ja-JP" sz="1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1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NZ" altLang="ja-JP" sz="1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NZ" altLang="ja-JP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NZ" altLang="ja-JP" sz="1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NZ" altLang="ja-JP" sz="1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NZ" altLang="ja-JP" sz="1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NZ" altLang="ja-JP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∀ </m:t>
                      </m:r>
                      <m:r>
                        <a:rPr lang="en-NZ" altLang="ja-JP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NZ" altLang="ja-JP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=1, …,</m:t>
                      </m:r>
                      <m:r>
                        <a:rPr lang="en-NZ" altLang="ja-JP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altLang="ja-JP" sz="1400" b="1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Text Placeholder 5">
                <a:extLst>
                  <a:ext uri="{FF2B5EF4-FFF2-40B4-BE49-F238E27FC236}">
                    <a16:creationId xmlns:a16="http://schemas.microsoft.com/office/drawing/2014/main" id="{8A5BE861-240A-9561-5AC8-55C0090EE6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0166" y="5196107"/>
                <a:ext cx="3712192" cy="39327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7431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6" grpId="0"/>
      <p:bldP spid="18" grpId="0"/>
      <p:bldP spid="19" grpId="0"/>
      <p:bldP spid="24" grpId="0"/>
      <p:bldP spid="25" grpId="0"/>
      <p:bldP spid="26" grpId="0"/>
      <p:bldP spid="27" grpId="0"/>
      <p:bldP spid="17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6733"/>
            <a:ext cx="2185386" cy="741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4AD89C-DF1E-4948-B597-5DD47B34A9CA}" type="slidenum">
              <a:rPr kumimoji="1" lang="ja-JP" altLang="en-US" smtClean="0">
                <a:solidFill>
                  <a:srgbClr val="575454">
                    <a:lumMod val="20000"/>
                    <a:lumOff val="80000"/>
                  </a:srgbClr>
                </a:solidFill>
                <a:latin typeface="Coo Hew"/>
              </a:rPr>
              <a:pPr/>
              <a:t>46</a:t>
            </a:fld>
            <a:endParaRPr kumimoji="1" lang="ja-JP" altLang="en-US" dirty="0">
              <a:solidFill>
                <a:srgbClr val="575454">
                  <a:lumMod val="20000"/>
                  <a:lumOff val="80000"/>
                </a:srgbClr>
              </a:solidFill>
              <a:latin typeface="Coo Hew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DCE95AA1-F247-4D03-9A84-A08A95E2EB81}"/>
              </a:ext>
            </a:extLst>
          </p:cNvPr>
          <p:cNvSpPr txBox="1">
            <a:spLocks/>
          </p:cNvSpPr>
          <p:nvPr/>
        </p:nvSpPr>
        <p:spPr>
          <a:xfrm>
            <a:off x="319463" y="310113"/>
            <a:ext cx="8168429" cy="607201"/>
          </a:xfrm>
          <a:prstGeom prst="rect">
            <a:avLst/>
          </a:prstGeom>
        </p:spPr>
        <p:txBody>
          <a:bodyPr anchor="t">
            <a:normAutofit fontScale="77500" lnSpcReduction="20000"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b="1" u="sng" dirty="0">
                <a:latin typeface="+mn-lt"/>
              </a:rPr>
              <a:t>1.4d - Expectation &amp; Variance of the Sample Mean:</a:t>
            </a:r>
            <a:endParaRPr lang="ja-JP" altLang="en-US" b="1" u="sng" dirty="0">
              <a:latin typeface="+mn-lt"/>
            </a:endParaRPr>
          </a:p>
        </p:txBody>
      </p:sp>
      <p:sp>
        <p:nvSpPr>
          <p:cNvPr id="20" name="Footer Placeholder 2">
            <a:extLst>
              <a:ext uri="{FF2B5EF4-FFF2-40B4-BE49-F238E27FC236}">
                <a16:creationId xmlns:a16="http://schemas.microsoft.com/office/drawing/2014/main" id="{84157DCD-684C-7856-52EA-F1DC4BDA9606}"/>
              </a:ext>
            </a:extLst>
          </p:cNvPr>
          <p:cNvSpPr txBox="1">
            <a:spLocks/>
          </p:cNvSpPr>
          <p:nvPr/>
        </p:nvSpPr>
        <p:spPr>
          <a:xfrm>
            <a:off x="8940800" y="86139"/>
            <a:ext cx="31485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1600" dirty="0">
                <a:solidFill>
                  <a:srgbClr val="DEDDDD"/>
                </a:solidFill>
                <a:latin typeface="Gidole"/>
              </a:rPr>
              <a:t>1.4 - Linear Combinations of RVs</a:t>
            </a:r>
            <a:endParaRPr kumimoji="1" lang="ja-JP" altLang="en-US" sz="1600" dirty="0">
              <a:solidFill>
                <a:srgbClr val="DEDDDD"/>
              </a:solidFill>
              <a:latin typeface="Gidole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E5402A9F-89F8-0375-2C85-32CBBF585620}"/>
              </a:ext>
            </a:extLst>
          </p:cNvPr>
          <p:cNvSpPr txBox="1">
            <a:spLocks/>
          </p:cNvSpPr>
          <p:nvPr/>
        </p:nvSpPr>
        <p:spPr>
          <a:xfrm>
            <a:off x="319463" y="1035769"/>
            <a:ext cx="11553074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US" altLang="ja-JP" sz="1800" b="1" dirty="0">
                <a:solidFill>
                  <a:srgbClr val="002060"/>
                </a:solidFill>
              </a:rPr>
              <a:t>Example: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861D607-0E34-AF7B-67AB-A5D1FC98FCAF}"/>
                  </a:ext>
                </a:extLst>
              </p:cNvPr>
              <p:cNvSpPr txBox="1"/>
              <p:nvPr/>
            </p:nvSpPr>
            <p:spPr>
              <a:xfrm>
                <a:off x="319462" y="1400894"/>
                <a:ext cx="11553074" cy="3755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NZ" dirty="0">
                    <a:solidFill>
                      <a:srgbClr val="002060"/>
                    </a:solidFill>
                  </a:rPr>
                  <a:t>Consider a random variable </a:t>
                </a:r>
                <a:r>
                  <a:rPr lang="en-NZ" b="1" i="1" dirty="0">
                    <a:solidFill>
                      <a:srgbClr val="002060"/>
                    </a:solidFill>
                  </a:rPr>
                  <a:t>Y  </a:t>
                </a:r>
                <a:r>
                  <a:rPr lang="en-NZ" dirty="0">
                    <a:solidFill>
                      <a:srgbClr val="002060"/>
                    </a:solidFill>
                  </a:rPr>
                  <a:t>with </a:t>
                </a:r>
                <a14:m>
                  <m:oMath xmlns:m="http://schemas.openxmlformats.org/officeDocument/2006/math">
                    <m:r>
                      <a:rPr lang="en-NZ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NZ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en-NZ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</m:d>
                    <m:r>
                      <a:rPr lang="en-NZ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NZ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𝝁</m:t>
                    </m:r>
                    <m:r>
                      <a:rPr lang="en-NZ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NZ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𝟓𝟎</m:t>
                    </m:r>
                  </m:oMath>
                </a14:m>
                <a:r>
                  <a:rPr lang="en-NZ" b="1" i="1" dirty="0">
                    <a:solidFill>
                      <a:srgbClr val="002060"/>
                    </a:solidFill>
                  </a:rPr>
                  <a:t>    </a:t>
                </a:r>
                <a:r>
                  <a:rPr lang="en-NZ" dirty="0">
                    <a:solidFill>
                      <a:srgbClr val="002060"/>
                    </a:solidFill>
                  </a:rPr>
                  <a:t>and    </a:t>
                </a:r>
                <a14:m>
                  <m:oMath xmlns:m="http://schemas.openxmlformats.org/officeDocument/2006/math">
                    <m:r>
                      <a:rPr lang="en-NZ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𝑽𝒂𝒓</m:t>
                    </m:r>
                    <m:d>
                      <m:dPr>
                        <m:begChr m:val="["/>
                        <m:endChr m:val="]"/>
                        <m:ctrlPr>
                          <a:rPr lang="en-NZ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</m:d>
                    <m:r>
                      <a:rPr lang="en-NZ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NZ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NZ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𝝈</m:t>
                        </m:r>
                      </m:e>
                      <m:sup>
                        <m:r>
                          <a:rPr lang="en-NZ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NZ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NZ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𝟐𝟒𝟔</m:t>
                    </m:r>
                  </m:oMath>
                </a14:m>
                <a:endParaRPr lang="en-NZ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861D607-0E34-AF7B-67AB-A5D1FC98FC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2" y="1400894"/>
                <a:ext cx="11553074" cy="375552"/>
              </a:xfrm>
              <a:prstGeom prst="rect">
                <a:avLst/>
              </a:prstGeom>
              <a:blipFill>
                <a:blip r:embed="rId3"/>
                <a:stretch>
                  <a:fillRect l="-422" t="-8197" b="-26230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C489458-6D46-E87E-CF87-0F3BE2216D1F}"/>
                  </a:ext>
                </a:extLst>
              </p:cNvPr>
              <p:cNvSpPr txBox="1"/>
              <p:nvPr/>
            </p:nvSpPr>
            <p:spPr>
              <a:xfrm>
                <a:off x="319462" y="2360013"/>
                <a:ext cx="11363021" cy="11773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:r>
                  <a:rPr lang="en-NZ" dirty="0">
                    <a:solidFill>
                      <a:srgbClr val="002060"/>
                    </a:solidFill>
                  </a:rPr>
                  <a:t>a) A sample of 100 observations of </a:t>
                </a:r>
                <a:r>
                  <a:rPr lang="en-NZ" b="1" i="1" dirty="0">
                    <a:solidFill>
                      <a:srgbClr val="002060"/>
                    </a:solidFill>
                  </a:rPr>
                  <a:t>Y</a:t>
                </a:r>
                <a:r>
                  <a:rPr lang="en-NZ" dirty="0">
                    <a:solidFill>
                      <a:srgbClr val="002060"/>
                    </a:solidFill>
                  </a:rPr>
                  <a:t> are taken. Calculate the expectation and variance of the sample mean </a:t>
                </a:r>
                <a:br>
                  <a:rPr lang="en-NZ" b="1" i="1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NZ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NZ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  <m:r>
                        <a:rPr lang="en-NZ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NZ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NZ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NZ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𝟏𝟎𝟎</m:t>
                          </m:r>
                        </m:den>
                      </m:f>
                      <m:r>
                        <a:rPr lang="en-NZ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ctrlPr>
                            <a:rPr lang="en-NZ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NZ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NZ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NZ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NZ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𝟏𝟎𝟎</m:t>
                          </m:r>
                        </m:sup>
                        <m:e>
                          <m:sSub>
                            <m:sSubPr>
                              <m:ctrlPr>
                                <a:rPr lang="en-NZ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e>
                            <m:sub>
                              <m:r>
                                <a:rPr lang="en-NZ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NZ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C489458-6D46-E87E-CF87-0F3BE2216D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2" y="2360013"/>
                <a:ext cx="11363021" cy="1177374"/>
              </a:xfrm>
              <a:prstGeom prst="rect">
                <a:avLst/>
              </a:prstGeom>
              <a:blipFill>
                <a:blip r:embed="rId4"/>
                <a:stretch>
                  <a:fillRect l="-429" t="-2591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58A0D6A-2492-EDC1-E04C-B0B44A4DCCB3}"/>
                  </a:ext>
                </a:extLst>
              </p:cNvPr>
              <p:cNvSpPr txBox="1"/>
              <p:nvPr/>
            </p:nvSpPr>
            <p:spPr>
              <a:xfrm>
                <a:off x="509515" y="3569604"/>
                <a:ext cx="11363021" cy="5337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NZ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en-NZ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NZ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NZ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𝒀</m:t>
                            </m:r>
                          </m:e>
                        </m:acc>
                      </m:e>
                    </m:d>
                    <m:r>
                      <a:rPr lang="en-NZ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=</m:t>
                    </m:r>
                    <m:r>
                      <a:rPr lang="en-NZ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𝝁</m:t>
                    </m:r>
                    <m:r>
                      <a:rPr lang="en-NZ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NZ" altLang="ja-JP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𝟓𝟎</m:t>
                    </m:r>
                  </m:oMath>
                </a14:m>
                <a:r>
                  <a:rPr lang="en-NZ" b="1" dirty="0">
                    <a:solidFill>
                      <a:schemeClr val="tx1"/>
                    </a:solidFill>
                  </a:rPr>
                  <a:t>   </a:t>
                </a:r>
                <a:r>
                  <a:rPr lang="en-NZ" dirty="0">
                    <a:solidFill>
                      <a:schemeClr val="tx1"/>
                    </a:solidFill>
                  </a:rPr>
                  <a:t>and </a:t>
                </a:r>
                <a:r>
                  <a:rPr lang="en-NZ" b="1" dirty="0">
                    <a:solidFill>
                      <a:schemeClr val="tx1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NZ" b="1" i="1" dirty="0" smtClean="0">
                        <a:latin typeface="Cambria Math" panose="02040503050406030204" pitchFamily="18" charset="0"/>
                      </a:rPr>
                      <m:t>𝑽𝒂𝒓</m:t>
                    </m:r>
                    <m:d>
                      <m:dPr>
                        <m:begChr m:val="["/>
                        <m:endChr m:val="]"/>
                        <m:ctrlPr>
                          <a:rPr lang="en-NZ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NZ" b="1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NZ" b="1" i="1" dirty="0">
                                <a:latin typeface="Cambria Math" panose="02040503050406030204" pitchFamily="18" charset="0"/>
                              </a:rPr>
                              <m:t>𝒀</m:t>
                            </m:r>
                          </m:e>
                        </m:acc>
                      </m:e>
                    </m:d>
                    <m:r>
                      <a:rPr lang="en-NZ" b="1" i="1" dirty="0">
                        <a:latin typeface="Cambria Math" panose="02040503050406030204" pitchFamily="18" charset="0"/>
                      </a:rPr>
                      <m:t> =</m:t>
                    </m:r>
                    <m:f>
                      <m:fPr>
                        <m:ctrlPr>
                          <a:rPr lang="en-NZ" b="1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NZ" b="1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NZ" b="1" i="1" dirty="0" smtClean="0">
                                <a:latin typeface="Cambria Math" panose="02040503050406030204" pitchFamily="18" charset="0"/>
                              </a:rPr>
                              <m:t>𝝈</m:t>
                            </m:r>
                          </m:e>
                          <m:sup>
                            <m:r>
                              <a:rPr lang="en-NZ" b="1" i="1" dirty="0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en-NZ" b="1" i="1" dirty="0" smtClean="0">
                            <a:latin typeface="Cambria Math" panose="02040503050406030204" pitchFamily="18" charset="0"/>
                          </a:rPr>
                          <m:t>𝒏</m:t>
                        </m:r>
                      </m:den>
                    </m:f>
                    <m:r>
                      <a:rPr lang="en-NZ" b="1" i="1" dirty="0" smtClean="0">
                        <a:latin typeface="Cambria Math" panose="02040503050406030204" pitchFamily="18" charset="0"/>
                      </a:rPr>
                      <m:t> = </m:t>
                    </m:r>
                    <m:f>
                      <m:fPr>
                        <m:ctrlPr>
                          <a:rPr lang="en-NZ" b="1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NZ" b="1" i="1" dirty="0" smtClean="0">
                            <a:latin typeface="Cambria Math" panose="02040503050406030204" pitchFamily="18" charset="0"/>
                          </a:rPr>
                          <m:t>𝟐𝟒𝟔</m:t>
                        </m:r>
                      </m:num>
                      <m:den>
                        <m:r>
                          <a:rPr lang="en-NZ" b="1" i="1" dirty="0" smtClean="0">
                            <a:latin typeface="Cambria Math" panose="02040503050406030204" pitchFamily="18" charset="0"/>
                          </a:rPr>
                          <m:t>𝟏𝟎𝟎</m:t>
                        </m:r>
                      </m:den>
                    </m:f>
                    <m:r>
                      <a:rPr lang="en-NZ" b="1" i="1" dirty="0" smtClean="0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NZ" b="1" i="1" dirty="0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NZ" b="1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NZ" b="1" i="1" dirty="0" smtClean="0">
                        <a:latin typeface="Cambria Math" panose="02040503050406030204" pitchFamily="18" charset="0"/>
                      </a:rPr>
                      <m:t>𝟒𝟔</m:t>
                    </m:r>
                  </m:oMath>
                </a14:m>
                <a:r>
                  <a:rPr lang="en-NZ" b="1" i="1" dirty="0"/>
                  <a:t> 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58A0D6A-2492-EDC1-E04C-B0B44A4DCC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515" y="3569604"/>
                <a:ext cx="11363021" cy="533736"/>
              </a:xfrm>
              <a:prstGeom prst="rect">
                <a:avLst/>
              </a:prstGeom>
              <a:blipFill>
                <a:blip r:embed="rId5"/>
                <a:stretch>
                  <a:fillRect b="-8046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E1A9637-03E0-50F9-CD44-127C5E86FBF2}"/>
                  </a:ext>
                </a:extLst>
              </p:cNvPr>
              <p:cNvSpPr txBox="1"/>
              <p:nvPr/>
            </p:nvSpPr>
            <p:spPr>
              <a:xfrm>
                <a:off x="319462" y="4473304"/>
                <a:ext cx="1136302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NZ" dirty="0">
                    <a:solidFill>
                      <a:srgbClr val="002060"/>
                    </a:solidFill>
                  </a:rPr>
                  <a:t>b) Calculate the mean and variance of </a:t>
                </a:r>
                <a14:m>
                  <m:oMath xmlns:m="http://schemas.openxmlformats.org/officeDocument/2006/math">
                    <m:r>
                      <a:rPr lang="en-NZ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acc>
                      <m:accPr>
                        <m:chr m:val="̅"/>
                        <m:ctrlPr>
                          <a:rPr lang="en-NZ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NZ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</m:acc>
                  </m:oMath>
                </a14:m>
                <a:endParaRPr lang="en-NZ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E1A9637-03E0-50F9-CD44-127C5E86FB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2" y="4473304"/>
                <a:ext cx="11363021" cy="369332"/>
              </a:xfrm>
              <a:prstGeom prst="rect">
                <a:avLst/>
              </a:prstGeom>
              <a:blipFill>
                <a:blip r:embed="rId6"/>
                <a:stretch>
                  <a:fillRect l="-429" t="-10000" b="-26667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DA171E8-64C6-417D-DE67-B0E9CAC1AD72}"/>
                  </a:ext>
                </a:extLst>
              </p:cNvPr>
              <p:cNvSpPr txBox="1"/>
              <p:nvPr/>
            </p:nvSpPr>
            <p:spPr>
              <a:xfrm>
                <a:off x="665206" y="4947057"/>
                <a:ext cx="1136302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NZ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begChr m:val="["/>
                          <m:endChr m:val="]"/>
                          <m:ctrlPr>
                            <a:rPr lang="en-NZ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acc>
                            <m:accPr>
                              <m:chr m:val="̅"/>
                              <m:ctrlPr>
                                <a:rPr lang="en-NZ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NZ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e>
                          </m:acc>
                        </m:e>
                      </m:d>
                      <m:r>
                        <a:rPr lang="en-NZ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NZ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NZ" b="1" i="1" dirty="0"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begChr m:val="["/>
                          <m:endChr m:val="]"/>
                          <m:ctrlPr>
                            <a:rPr lang="en-NZ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NZ" b="1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NZ" b="1" i="1" dirty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e>
                          </m:acc>
                        </m:e>
                      </m:d>
                      <m:r>
                        <a:rPr lang="en-NZ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NZ" b="1" i="1" dirty="0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NZ" b="1" i="1" dirty="0" smtClean="0">
                          <a:latin typeface="Cambria Math" panose="02040503050406030204" pitchFamily="18" charset="0"/>
                        </a:rPr>
                        <m:t> ∗</m:t>
                      </m:r>
                      <m:r>
                        <a:rPr lang="en-NZ" b="1" i="1" dirty="0" smtClean="0">
                          <a:latin typeface="Cambria Math" panose="02040503050406030204" pitchFamily="18" charset="0"/>
                        </a:rPr>
                        <m:t>𝟓𝟎</m:t>
                      </m:r>
                      <m:r>
                        <a:rPr lang="en-NZ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NZ" b="1" i="1" dirty="0" smtClean="0">
                          <a:latin typeface="Cambria Math" panose="02040503050406030204" pitchFamily="18" charset="0"/>
                        </a:rPr>
                        <m:t>𝟏𝟎𝟎</m:t>
                      </m:r>
                    </m:oMath>
                  </m:oMathPara>
                </a14:m>
                <a:endParaRPr lang="en-NZ" b="1" i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DA171E8-64C6-417D-DE67-B0E9CAC1AD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206" y="4947057"/>
                <a:ext cx="11363021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6D3EF53-52DB-3C8E-66BB-50FDA4CE3A89}"/>
                  </a:ext>
                </a:extLst>
              </p:cNvPr>
              <p:cNvSpPr txBox="1"/>
              <p:nvPr/>
            </p:nvSpPr>
            <p:spPr>
              <a:xfrm>
                <a:off x="726344" y="5406923"/>
                <a:ext cx="11363021" cy="3755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NZ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𝑽𝒂𝒓</m:t>
                      </m:r>
                      <m:d>
                        <m:dPr>
                          <m:begChr m:val="["/>
                          <m:endChr m:val="]"/>
                          <m:ctrlPr>
                            <a:rPr lang="en-NZ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acc>
                            <m:accPr>
                              <m:chr m:val="̅"/>
                              <m:ctrlPr>
                                <a:rPr lang="en-NZ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NZ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e>
                          </m:acc>
                        </m:e>
                      </m:d>
                      <m:r>
                        <a:rPr lang="en-NZ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sSup>
                        <m:sSupPr>
                          <m:ctrlPr>
                            <a:rPr lang="en-NZ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NZ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n-NZ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NZ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NZ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𝑽𝒂𝒓</m:t>
                      </m:r>
                      <m:d>
                        <m:dPr>
                          <m:begChr m:val="["/>
                          <m:endChr m:val="]"/>
                          <m:ctrlPr>
                            <a:rPr lang="en-NZ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NZ" b="1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NZ" b="1" i="1" dirty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e>
                          </m:acc>
                        </m:e>
                      </m:d>
                      <m:r>
                        <a:rPr lang="en-NZ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NZ" b="1" i="1" dirty="0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NZ" b="1" i="1" dirty="0" smtClean="0">
                          <a:latin typeface="Cambria Math" panose="02040503050406030204" pitchFamily="18" charset="0"/>
                        </a:rPr>
                        <m:t> ∗</m:t>
                      </m:r>
                      <m:r>
                        <a:rPr lang="en-NZ" b="1" i="1" dirty="0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NZ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NZ" b="1" i="1" dirty="0" smtClean="0">
                          <a:latin typeface="Cambria Math" panose="02040503050406030204" pitchFamily="18" charset="0"/>
                        </a:rPr>
                        <m:t>𝟒𝟔</m:t>
                      </m:r>
                      <m:r>
                        <a:rPr lang="en-NZ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NZ" b="1" i="1" dirty="0" smtClean="0"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en-NZ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NZ" b="1" i="1" dirty="0" smtClean="0">
                          <a:latin typeface="Cambria Math" panose="02040503050406030204" pitchFamily="18" charset="0"/>
                        </a:rPr>
                        <m:t>𝟖𝟒</m:t>
                      </m:r>
                    </m:oMath>
                  </m:oMathPara>
                </a14:m>
                <a:endParaRPr lang="en-NZ" b="1" i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6D3EF53-52DB-3C8E-66BB-50FDA4CE3A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344" y="5406923"/>
                <a:ext cx="11363021" cy="37555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2590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8" grpId="0"/>
      <p:bldP spid="29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6733"/>
            <a:ext cx="2185386" cy="741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4AD89C-DF1E-4948-B597-5DD47B34A9CA}" type="slidenum">
              <a:rPr kumimoji="1" lang="ja-JP" altLang="en-US" smtClean="0">
                <a:solidFill>
                  <a:srgbClr val="575454">
                    <a:lumMod val="20000"/>
                    <a:lumOff val="80000"/>
                  </a:srgbClr>
                </a:solidFill>
                <a:latin typeface="Coo Hew"/>
              </a:rPr>
              <a:pPr/>
              <a:t>47</a:t>
            </a:fld>
            <a:endParaRPr kumimoji="1" lang="ja-JP" altLang="en-US" dirty="0">
              <a:solidFill>
                <a:srgbClr val="575454">
                  <a:lumMod val="20000"/>
                  <a:lumOff val="80000"/>
                </a:srgbClr>
              </a:solidFill>
              <a:latin typeface="Coo Hew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DCE95AA1-F247-4D03-9A84-A08A95E2EB81}"/>
              </a:ext>
            </a:extLst>
          </p:cNvPr>
          <p:cNvSpPr txBox="1">
            <a:spLocks/>
          </p:cNvSpPr>
          <p:nvPr/>
        </p:nvSpPr>
        <p:spPr>
          <a:xfrm>
            <a:off x="319463" y="310113"/>
            <a:ext cx="10189313" cy="1000072"/>
          </a:xfrm>
          <a:prstGeom prst="rect">
            <a:avLst/>
          </a:prstGeom>
        </p:spPr>
        <p:txBody>
          <a:bodyPr anchor="t">
            <a:normAutofit lnSpcReduction="10000"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b="1" u="sng" dirty="0">
                <a:latin typeface="+mn-lt"/>
              </a:rPr>
              <a:t>1.4e - Why Do We Care About the Expectation </a:t>
            </a:r>
            <a:br>
              <a:rPr lang="en-US" altLang="ja-JP" b="1" u="sng" dirty="0">
                <a:latin typeface="+mn-lt"/>
              </a:rPr>
            </a:br>
            <a:r>
              <a:rPr lang="en-US" altLang="ja-JP" b="1" u="sng" dirty="0">
                <a:latin typeface="+mn-lt"/>
              </a:rPr>
              <a:t>&amp; Variance of the Sample Mean?</a:t>
            </a:r>
            <a:endParaRPr lang="ja-JP" altLang="en-US" b="1" u="sng" dirty="0">
              <a:latin typeface="+mn-lt"/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CF0EF27-D66E-440A-ADCA-1A987E76987F}"/>
              </a:ext>
            </a:extLst>
          </p:cNvPr>
          <p:cNvSpPr txBox="1">
            <a:spLocks/>
          </p:cNvSpPr>
          <p:nvPr/>
        </p:nvSpPr>
        <p:spPr>
          <a:xfrm>
            <a:off x="319463" y="1496780"/>
            <a:ext cx="11553074" cy="74126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NZ" altLang="ja-JP" sz="1800" dirty="0">
                <a:solidFill>
                  <a:schemeClr val="tx1"/>
                </a:solidFill>
              </a:rPr>
              <a:t>Suppose we have a random variable and we do not know how it is distributed, e.g.</a:t>
            </a:r>
          </a:p>
          <a:p>
            <a:pPr algn="ctr">
              <a:lnSpc>
                <a:spcPct val="100000"/>
              </a:lnSpc>
            </a:pPr>
            <a:r>
              <a:rPr lang="en-NZ" altLang="ja-JP" sz="1800" b="1" i="1" dirty="0">
                <a:solidFill>
                  <a:srgbClr val="002060"/>
                </a:solidFill>
              </a:rPr>
              <a:t>Y = # of days since someone’s last alcoholic drink</a:t>
            </a:r>
            <a:endParaRPr lang="en-US" altLang="ja-JP" sz="1800" b="1" i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Placeholder 5">
                <a:extLst>
                  <a:ext uri="{FF2B5EF4-FFF2-40B4-BE49-F238E27FC236}">
                    <a16:creationId xmlns:a16="http://schemas.microsoft.com/office/drawing/2014/main" id="{998899C9-90D0-49F9-87FE-493FE17CC20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2" y="2251034"/>
                <a:ext cx="11553074" cy="741267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:r>
                  <a:rPr lang="en-NZ" altLang="ja-JP" sz="1800" dirty="0">
                    <a:solidFill>
                      <a:schemeClr val="tx1"/>
                    </a:solidFill>
                  </a:rPr>
                  <a:t>This variable is discrete. Since we don’t know how this variable is distributed (i.e. we don’t know what its probability mass function looks like) we can’t empirically determine its expectation </a:t>
                </a:r>
                <a14:m>
                  <m:oMath xmlns:m="http://schemas.openxmlformats.org/officeDocument/2006/math">
                    <m:r>
                      <a:rPr lang="en-NZ" altLang="ja-JP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𝝁</m:t>
                    </m:r>
                    <m:r>
                      <a:rPr lang="en-NZ" altLang="ja-JP" sz="1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ja-JP" sz="1800" b="1" i="1" dirty="0">
                    <a:solidFill>
                      <a:schemeClr val="tx1"/>
                    </a:solidFill>
                  </a:rPr>
                  <a:t> </a:t>
                </a:r>
                <a:r>
                  <a:rPr lang="en-US" altLang="ja-JP" sz="1800" dirty="0">
                    <a:solidFill>
                      <a:schemeClr val="tx1"/>
                    </a:solidFill>
                  </a:rPr>
                  <a:t>We simply don’t know what this quantity is.</a:t>
                </a:r>
                <a:endParaRPr lang="en-US" altLang="ja-JP" sz="1800" b="1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Text Placeholder 5">
                <a:extLst>
                  <a:ext uri="{FF2B5EF4-FFF2-40B4-BE49-F238E27FC236}">
                    <a16:creationId xmlns:a16="http://schemas.microsoft.com/office/drawing/2014/main" id="{998899C9-90D0-49F9-87FE-493FE17CC2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2" y="2251034"/>
                <a:ext cx="11553074" cy="741267"/>
              </a:xfrm>
              <a:prstGeom prst="rect">
                <a:avLst/>
              </a:prstGeom>
              <a:blipFill>
                <a:blip r:embed="rId3"/>
                <a:stretch>
                  <a:fillRect l="-422" t="-4098" r="-422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 Placeholder 5">
                <a:extLst>
                  <a:ext uri="{FF2B5EF4-FFF2-40B4-BE49-F238E27FC236}">
                    <a16:creationId xmlns:a16="http://schemas.microsoft.com/office/drawing/2014/main" id="{F32B146A-723A-44F8-980C-EE34E8F2C83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2" y="3178896"/>
                <a:ext cx="11553074" cy="741267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:r>
                  <a:rPr lang="en-NZ" altLang="ja-JP" sz="1800" b="1" dirty="0">
                    <a:solidFill>
                      <a:schemeClr val="tx1"/>
                    </a:solidFill>
                  </a:rPr>
                  <a:t>However</a:t>
                </a:r>
                <a:r>
                  <a:rPr lang="en-NZ" altLang="ja-JP" sz="1800" dirty="0">
                    <a:solidFill>
                      <a:schemeClr val="tx1"/>
                    </a:solidFill>
                  </a:rPr>
                  <a:t>, we do know that if we take a random sample of people, ask them the number of </a:t>
                </a:r>
                <a:r>
                  <a:rPr lang="en-NZ" altLang="ja-JP" sz="1800">
                    <a:solidFill>
                      <a:schemeClr val="tx1"/>
                    </a:solidFill>
                  </a:rPr>
                  <a:t>days since their last </a:t>
                </a:r>
                <a:r>
                  <a:rPr lang="en-NZ" altLang="ja-JP" sz="1800" dirty="0">
                    <a:solidFill>
                      <a:schemeClr val="tx1"/>
                    </a:solidFill>
                  </a:rPr>
                  <a:t>alcoholic drink and form the sample mean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NZ" altLang="ja-JP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NZ" altLang="ja-JP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</m:oMath>
                </a14:m>
                <a:r>
                  <a:rPr lang="en-NZ" altLang="ja-JP" sz="1800" dirty="0">
                    <a:solidFill>
                      <a:schemeClr val="tx1"/>
                    </a:solidFill>
                  </a:rPr>
                  <a:t>, then…</a:t>
                </a:r>
                <a:endParaRPr lang="en-US" altLang="ja-JP" sz="1800" b="1" i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7" name="Text Placeholder 5">
                <a:extLst>
                  <a:ext uri="{FF2B5EF4-FFF2-40B4-BE49-F238E27FC236}">
                    <a16:creationId xmlns:a16="http://schemas.microsoft.com/office/drawing/2014/main" id="{F32B146A-723A-44F8-980C-EE34E8F2C8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2" y="3178896"/>
                <a:ext cx="11553074" cy="741267"/>
              </a:xfrm>
              <a:prstGeom prst="rect">
                <a:avLst/>
              </a:prstGeom>
              <a:blipFill>
                <a:blip r:embed="rId4"/>
                <a:stretch>
                  <a:fillRect l="-422" t="-4098" r="-422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 Placeholder 5">
                <a:extLst>
                  <a:ext uri="{FF2B5EF4-FFF2-40B4-BE49-F238E27FC236}">
                    <a16:creationId xmlns:a16="http://schemas.microsoft.com/office/drawing/2014/main" id="{AA3D3A2E-A3B8-4FC2-87EF-FDDCF0938A3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24346" y="4147139"/>
                <a:ext cx="10743307" cy="2318768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514350" indent="-514350">
                  <a:lnSpc>
                    <a:spcPct val="100000"/>
                  </a:lnSpc>
                  <a:buFont typeface="+mj-lt"/>
                  <a:buAutoNum type="romanLcPeriod"/>
                </a:pPr>
                <a14:m>
                  <m:oMath xmlns:m="http://schemas.openxmlformats.org/officeDocument/2006/math">
                    <m:r>
                      <a:rPr lang="en-NZ" altLang="ja-JP" sz="1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1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1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acc>
                          <m:accPr>
                            <m:chr m:val="̅"/>
                            <m:ctrlPr>
                              <a:rPr lang="en-NZ" altLang="ja-JP" sz="18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NZ" altLang="ja-JP" sz="18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𝒀</m:t>
                            </m:r>
                          </m:e>
                        </m:acc>
                        <m:r>
                          <a:rPr lang="en-NZ" altLang="ja-JP" sz="1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NZ" altLang="ja-JP" sz="1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NZ" altLang="ja-JP" sz="1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𝝁</m:t>
                    </m:r>
                  </m:oMath>
                </a14:m>
                <a:r>
                  <a:rPr lang="en-NZ" sz="1800" dirty="0"/>
                  <a:t>   </a:t>
                </a:r>
                <a:br>
                  <a:rPr lang="en-NZ" sz="1800" dirty="0"/>
                </a:br>
                <a:r>
                  <a:rPr lang="en-NZ" sz="1800" dirty="0"/>
                  <a:t>The expectation of the sample mean is equal to the population mean. </a:t>
                </a:r>
                <a:br>
                  <a:rPr lang="en-NZ" sz="1800" dirty="0"/>
                </a:br>
                <a:r>
                  <a:rPr lang="en-NZ" sz="1800" dirty="0"/>
                  <a:t>In some sense the sample mean will give a reasonable approximation of </a:t>
                </a:r>
                <a14:m>
                  <m:oMath xmlns:m="http://schemas.openxmlformats.org/officeDocument/2006/math">
                    <m:r>
                      <a:rPr lang="en-NZ" sz="1800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NZ" sz="1800" dirty="0"/>
                  <a:t>.</a:t>
                </a:r>
              </a:p>
              <a:p>
                <a:pPr marL="514350" indent="-514350" algn="just">
                  <a:lnSpc>
                    <a:spcPct val="100000"/>
                  </a:lnSpc>
                  <a:buFont typeface="+mj-lt"/>
                  <a:buAutoNum type="romanLcPeriod"/>
                </a:pPr>
                <a:endParaRPr lang="en-NZ" sz="1800" dirty="0"/>
              </a:p>
              <a:p>
                <a:pPr marL="514350" indent="-514350" algn="just">
                  <a:lnSpc>
                    <a:spcPct val="100000"/>
                  </a:lnSpc>
                  <a:buFont typeface="+mj-lt"/>
                  <a:buAutoNum type="romanLcPeriod"/>
                </a:pPr>
                <a14:m>
                  <m:oMath xmlns:m="http://schemas.openxmlformats.org/officeDocument/2006/math">
                    <m:r>
                      <a:rPr lang="en-NZ" altLang="ja-JP" sz="1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𝑽𝒂𝒓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1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1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acc>
                          <m:accPr>
                            <m:chr m:val="̅"/>
                            <m:ctrlPr>
                              <a:rPr lang="en-NZ" altLang="ja-JP" sz="18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NZ" altLang="ja-JP" sz="18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𝒀</m:t>
                            </m:r>
                          </m:e>
                        </m:acc>
                        <m:r>
                          <a:rPr lang="en-NZ" altLang="ja-JP" sz="1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NZ" altLang="ja-JP" sz="1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NZ" altLang="ja-JP" sz="1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NZ" altLang="ja-JP" sz="18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NZ" altLang="ja-JP" sz="18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𝝈</m:t>
                            </m:r>
                          </m:e>
                          <m:sup>
                            <m:r>
                              <a:rPr lang="en-NZ" altLang="ja-JP" sz="18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en-NZ" altLang="ja-JP" sz="1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den>
                    </m:f>
                    <m:r>
                      <a:rPr lang="en-NZ" altLang="ja-JP" sz="1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→</m:t>
                    </m:r>
                    <m:r>
                      <a:rPr lang="en-NZ" altLang="ja-JP" sz="1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NZ" altLang="ja-JP" sz="1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en-NZ" altLang="ja-JP" sz="1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𝒂𝒔</m:t>
                    </m:r>
                    <m:r>
                      <a:rPr lang="en-NZ" altLang="ja-JP" sz="1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NZ" altLang="ja-JP" sz="1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NZ" altLang="ja-JP" sz="1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br>
                  <a:rPr lang="en-NZ" altLang="ja-JP" sz="1800" b="1" dirty="0">
                    <a:solidFill>
                      <a:srgbClr val="002060"/>
                    </a:solidFill>
                  </a:rPr>
                </a:br>
                <a:r>
                  <a:rPr lang="en-NZ" altLang="ja-JP" sz="1800" dirty="0"/>
                  <a:t>T</a:t>
                </a:r>
                <a:r>
                  <a:rPr lang="en-NZ" sz="1800" dirty="0"/>
                  <a:t>he bigger the sample size the better the approximation of the sample mean to the population mean. </a:t>
                </a:r>
              </a:p>
              <a:p>
                <a:pPr marL="514350" indent="-514350" algn="just">
                  <a:lnSpc>
                    <a:spcPct val="100000"/>
                  </a:lnSpc>
                  <a:buFont typeface="+mj-lt"/>
                  <a:buAutoNum type="romanLcPeriod"/>
                </a:pPr>
                <a:endParaRPr lang="en-NZ" sz="1800" dirty="0"/>
              </a:p>
              <a:p>
                <a:pPr marL="514350" indent="-514350" algn="just">
                  <a:lnSpc>
                    <a:spcPct val="100000"/>
                  </a:lnSpc>
                  <a:buFont typeface="+mj-lt"/>
                  <a:buAutoNum type="romanLcPeriod"/>
                </a:pPr>
                <a:endParaRPr lang="en-US" altLang="ja-JP" sz="1800" b="1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Text Placeholder 5">
                <a:extLst>
                  <a:ext uri="{FF2B5EF4-FFF2-40B4-BE49-F238E27FC236}">
                    <a16:creationId xmlns:a16="http://schemas.microsoft.com/office/drawing/2014/main" id="{AA3D3A2E-A3B8-4FC2-87EF-FDDCF0938A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346" y="4147139"/>
                <a:ext cx="10743307" cy="2318768"/>
              </a:xfrm>
              <a:prstGeom prst="rect">
                <a:avLst/>
              </a:prstGeom>
              <a:blipFill>
                <a:blip r:embed="rId5"/>
                <a:stretch>
                  <a:fillRect l="-454" t="-1312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Footer Placeholder 2">
            <a:extLst>
              <a:ext uri="{FF2B5EF4-FFF2-40B4-BE49-F238E27FC236}">
                <a16:creationId xmlns:a16="http://schemas.microsoft.com/office/drawing/2014/main" id="{397294EC-C936-448C-F7AF-3134AFE69A4C}"/>
              </a:ext>
            </a:extLst>
          </p:cNvPr>
          <p:cNvSpPr txBox="1">
            <a:spLocks/>
          </p:cNvSpPr>
          <p:nvPr/>
        </p:nvSpPr>
        <p:spPr>
          <a:xfrm>
            <a:off x="8940800" y="86139"/>
            <a:ext cx="31485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1600" dirty="0">
                <a:solidFill>
                  <a:srgbClr val="DEDDDD"/>
                </a:solidFill>
                <a:latin typeface="Gidole"/>
              </a:rPr>
              <a:t>1.4 - Linear Combinations of RVs</a:t>
            </a:r>
            <a:endParaRPr kumimoji="1" lang="ja-JP" altLang="en-US" sz="1600" dirty="0">
              <a:solidFill>
                <a:srgbClr val="DEDDDD"/>
              </a:solidFill>
              <a:latin typeface="Gidole"/>
            </a:endParaRPr>
          </a:p>
        </p:txBody>
      </p:sp>
    </p:spTree>
    <p:extLst>
      <p:ext uri="{BB962C8B-B14F-4D97-AF65-F5344CB8AC3E}">
        <p14:creationId xmlns:p14="http://schemas.microsoft.com/office/powerpoint/2010/main" val="3191902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6733"/>
            <a:ext cx="2185386" cy="741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4AD89C-DF1E-4948-B597-5DD47B34A9CA}" type="slidenum">
              <a:rPr kumimoji="1" lang="ja-JP" altLang="en-US" smtClean="0">
                <a:solidFill>
                  <a:srgbClr val="575454">
                    <a:lumMod val="20000"/>
                    <a:lumOff val="80000"/>
                  </a:srgbClr>
                </a:solidFill>
                <a:latin typeface="Coo Hew"/>
              </a:rPr>
              <a:pPr/>
              <a:t>48</a:t>
            </a:fld>
            <a:endParaRPr kumimoji="1" lang="ja-JP" altLang="en-US" dirty="0">
              <a:solidFill>
                <a:srgbClr val="575454">
                  <a:lumMod val="20000"/>
                  <a:lumOff val="80000"/>
                </a:srgbClr>
              </a:solidFill>
              <a:latin typeface="Coo Hew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DCE95AA1-F247-4D03-9A84-A08A95E2EB81}"/>
              </a:ext>
            </a:extLst>
          </p:cNvPr>
          <p:cNvSpPr txBox="1">
            <a:spLocks/>
          </p:cNvSpPr>
          <p:nvPr/>
        </p:nvSpPr>
        <p:spPr>
          <a:xfrm>
            <a:off x="319463" y="310113"/>
            <a:ext cx="10189313" cy="6324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b="1" u="sng" dirty="0">
                <a:latin typeface="+mn-lt"/>
              </a:rPr>
              <a:t>Key Things from Todays Lecture</a:t>
            </a:r>
            <a:endParaRPr lang="ja-JP" altLang="en-US" b="1" u="sng" dirty="0">
              <a:latin typeface="+mn-lt"/>
            </a:endParaRPr>
          </a:p>
        </p:txBody>
      </p:sp>
      <p:sp>
        <p:nvSpPr>
          <p:cNvPr id="12" name="Footer Placeholder 2">
            <a:extLst>
              <a:ext uri="{FF2B5EF4-FFF2-40B4-BE49-F238E27FC236}">
                <a16:creationId xmlns:a16="http://schemas.microsoft.com/office/drawing/2014/main" id="{397294EC-C936-448C-F7AF-3134AFE69A4C}"/>
              </a:ext>
            </a:extLst>
          </p:cNvPr>
          <p:cNvSpPr txBox="1">
            <a:spLocks/>
          </p:cNvSpPr>
          <p:nvPr/>
        </p:nvSpPr>
        <p:spPr>
          <a:xfrm>
            <a:off x="8940800" y="86139"/>
            <a:ext cx="31485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1600" dirty="0">
                <a:solidFill>
                  <a:srgbClr val="DEDDDD"/>
                </a:solidFill>
                <a:latin typeface="Gidole"/>
              </a:rPr>
              <a:t>1.4 - Linear Combinations of RVs</a:t>
            </a:r>
            <a:endParaRPr kumimoji="1" lang="ja-JP" altLang="en-US" sz="1600" dirty="0">
              <a:solidFill>
                <a:srgbClr val="DEDDDD"/>
              </a:solidFill>
              <a:latin typeface="Gidole"/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A70178A2-47F8-C16B-382F-6BF899D39362}"/>
              </a:ext>
            </a:extLst>
          </p:cNvPr>
          <p:cNvSpPr txBox="1">
            <a:spLocks/>
          </p:cNvSpPr>
          <p:nvPr/>
        </p:nvSpPr>
        <p:spPr>
          <a:xfrm>
            <a:off x="319463" y="1004496"/>
            <a:ext cx="11553074" cy="74126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ja-JP" sz="1800" dirty="0">
                <a:solidFill>
                  <a:schemeClr val="tx1"/>
                </a:solidFill>
              </a:rPr>
              <a:t>Suppose that we have a collection of independent random variables </a:t>
            </a:r>
            <a:r>
              <a:rPr lang="en-US" altLang="ja-JP" sz="1800" b="1" i="1" dirty="0">
                <a:solidFill>
                  <a:schemeClr val="tx1"/>
                </a:solidFill>
              </a:rPr>
              <a:t>Y</a:t>
            </a:r>
            <a:r>
              <a:rPr lang="en-US" altLang="ja-JP" sz="1800" b="1" i="1" baseline="-25000" dirty="0">
                <a:solidFill>
                  <a:schemeClr val="tx1"/>
                </a:solidFill>
              </a:rPr>
              <a:t>1,</a:t>
            </a:r>
            <a:r>
              <a:rPr lang="en-US" altLang="ja-JP" sz="1800" b="1" i="1" dirty="0">
                <a:solidFill>
                  <a:schemeClr val="tx1"/>
                </a:solidFill>
              </a:rPr>
              <a:t> Y</a:t>
            </a:r>
            <a:r>
              <a:rPr lang="en-US" altLang="ja-JP" sz="1800" b="1" i="1" baseline="-25000" dirty="0">
                <a:solidFill>
                  <a:schemeClr val="tx1"/>
                </a:solidFill>
              </a:rPr>
              <a:t>2,</a:t>
            </a:r>
            <a:r>
              <a:rPr lang="en-US" altLang="ja-JP" sz="1800" b="1" i="1" dirty="0">
                <a:solidFill>
                  <a:schemeClr val="tx1"/>
                </a:solidFill>
              </a:rPr>
              <a:t> … </a:t>
            </a:r>
            <a:r>
              <a:rPr lang="en-US" altLang="ja-JP" sz="1800" b="1" i="1" dirty="0" err="1">
                <a:solidFill>
                  <a:schemeClr val="tx1"/>
                </a:solidFill>
              </a:rPr>
              <a:t>Y</a:t>
            </a:r>
            <a:r>
              <a:rPr lang="en-US" altLang="ja-JP" sz="1800" b="1" i="1" baseline="-25000" dirty="0" err="1">
                <a:solidFill>
                  <a:schemeClr val="tx1"/>
                </a:solidFill>
              </a:rPr>
              <a:t>n</a:t>
            </a:r>
            <a:r>
              <a:rPr lang="en-US" altLang="ja-JP" sz="1800" dirty="0">
                <a:solidFill>
                  <a:schemeClr val="tx1"/>
                </a:solidFill>
              </a:rPr>
              <a:t>. </a:t>
            </a:r>
            <a:br>
              <a:rPr lang="en-US" altLang="ja-JP" sz="1800" dirty="0">
                <a:solidFill>
                  <a:schemeClr val="tx1"/>
                </a:solidFill>
              </a:rPr>
            </a:br>
            <a:r>
              <a:rPr lang="en-US" altLang="ja-JP" sz="1800" dirty="0">
                <a:solidFill>
                  <a:schemeClr val="tx1"/>
                </a:solidFill>
              </a:rPr>
              <a:t>We can form a new variable </a:t>
            </a:r>
            <a:r>
              <a:rPr lang="en-US" altLang="ja-JP" sz="1800" b="1" i="1" dirty="0">
                <a:solidFill>
                  <a:schemeClr val="tx1"/>
                </a:solidFill>
              </a:rPr>
              <a:t>Z</a:t>
            </a:r>
            <a:r>
              <a:rPr lang="en-US" altLang="ja-JP" sz="1800" dirty="0">
                <a:solidFill>
                  <a:schemeClr val="tx1"/>
                </a:solidFill>
              </a:rPr>
              <a:t> as a </a:t>
            </a:r>
            <a:r>
              <a:rPr lang="en-US" altLang="ja-JP" sz="1800" b="1" i="1" dirty="0">
                <a:solidFill>
                  <a:schemeClr val="tx1"/>
                </a:solidFill>
              </a:rPr>
              <a:t>linear combination </a:t>
            </a:r>
            <a:r>
              <a:rPr lang="en-US" altLang="ja-JP" sz="1800" dirty="0">
                <a:solidFill>
                  <a:schemeClr val="tx1"/>
                </a:solidFill>
              </a:rPr>
              <a:t> of this collection such that…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8A3DF9F-85ED-EB13-86B1-2E92E4B137A3}"/>
                  </a:ext>
                </a:extLst>
              </p:cNvPr>
              <p:cNvSpPr txBox="1"/>
              <p:nvPr/>
            </p:nvSpPr>
            <p:spPr>
              <a:xfrm>
                <a:off x="3032078" y="1606458"/>
                <a:ext cx="6127844" cy="7634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𝒁</m:t>
                      </m:r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sSub>
                            <m:sSubPr>
                              <m:ctrlPr>
                                <a:rPr lang="en-NZ" altLang="ja-JP" sz="1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1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NZ" altLang="ja-JP" sz="1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NZ" altLang="ja-JP" sz="1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1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e>
                            <m:sub>
                              <m:r>
                                <a:rPr lang="en-NZ" altLang="ja-JP" sz="1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nary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  </m:t>
                      </m:r>
                      <m:sSub>
                        <m:sSubPr>
                          <m:ctrlP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  <m:sub>
                          <m: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+  </m:t>
                      </m:r>
                      <m:sSub>
                        <m:sSubPr>
                          <m:ctrlP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  <m:sub>
                          <m: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+  </m:t>
                      </m:r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 +  </m:t>
                      </m:r>
                      <m:sSub>
                        <m:sSubPr>
                          <m:ctrlP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𝒀</m:t>
                          </m:r>
                        </m:e>
                        <m:sub>
                          <m: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</m:oMath>
                  </m:oMathPara>
                </a14:m>
                <a:endParaRPr lang="en-NZ" sz="1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8A3DF9F-85ED-EB13-86B1-2E92E4B13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2078" y="1606458"/>
                <a:ext cx="6127844" cy="7634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709E52A-FB09-6821-0079-E980317EB6E1}"/>
                  </a:ext>
                </a:extLst>
              </p:cNvPr>
              <p:cNvSpPr txBox="1"/>
              <p:nvPr/>
            </p:nvSpPr>
            <p:spPr>
              <a:xfrm>
                <a:off x="4933765" y="2565220"/>
                <a:ext cx="3742006" cy="847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NZ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begChr m:val="["/>
                          <m:endChr m:val="]"/>
                          <m:ctrlPr>
                            <a:rPr lang="en-NZ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</m:d>
                      <m:r>
                        <a:rPr lang="en-NZ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=   </m:t>
                      </m:r>
                      <m:nary>
                        <m:naryPr>
                          <m:chr m:val="∑"/>
                          <m:ctrlPr>
                            <a:rPr lang="en-NZ" altLang="ja-JP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NZ" altLang="ja-JP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NZ" altLang="ja-JP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NZ" altLang="ja-JP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NZ" altLang="ja-JP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sSub>
                            <m:sSubPr>
                              <m:ctrlPr>
                                <a:rPr lang="en-NZ" altLang="ja-JP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NZ" altLang="ja-JP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NZ" altLang="ja-JP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NZ" altLang="ja-JP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𝑬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NZ" altLang="ja-JP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NZ" altLang="ja-JP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𝒀</m:t>
                                  </m:r>
                                </m:e>
                                <m:sub>
                                  <m:r>
                                    <a:rPr lang="en-NZ" altLang="ja-JP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NZ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709E52A-FB09-6821-0079-E980317EB6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3765" y="2565220"/>
                <a:ext cx="3742006" cy="847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38698F8-AD2A-F472-7588-A260AF4C9C82}"/>
                  </a:ext>
                </a:extLst>
              </p:cNvPr>
              <p:cNvSpPr txBox="1"/>
              <p:nvPr/>
            </p:nvSpPr>
            <p:spPr>
              <a:xfrm>
                <a:off x="8284190" y="2548224"/>
                <a:ext cx="3422993" cy="847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NZ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𝑽𝒂𝒓</m:t>
                      </m:r>
                      <m:d>
                        <m:dPr>
                          <m:begChr m:val="["/>
                          <m:endChr m:val="]"/>
                          <m:ctrlPr>
                            <a:rPr lang="en-NZ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</m:d>
                      <m:r>
                        <a:rPr lang="en-NZ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NZ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NZ" altLang="ja-JP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NZ" altLang="ja-JP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NZ" altLang="ja-JP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NZ" altLang="ja-JP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NZ" altLang="ja-JP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sSubSup>
                            <m:sSubSupPr>
                              <m:ctrlPr>
                                <a:rPr lang="en-NZ" altLang="ja-JP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NZ" altLang="ja-JP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NZ" altLang="ja-JP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  <m:sup>
                              <m:r>
                                <a:rPr lang="en-NZ" altLang="ja-JP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bSup>
                          <m:r>
                            <a:rPr lang="en-NZ" altLang="ja-JP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NZ" altLang="ja-JP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𝑽𝒂𝒓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NZ" altLang="ja-JP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NZ" altLang="ja-JP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𝒀</m:t>
                                  </m:r>
                                </m:e>
                                <m:sub>
                                  <m:r>
                                    <a:rPr lang="en-NZ" altLang="ja-JP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d>
                          <m:r>
                            <a:rPr lang="en-NZ" altLang="ja-JP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NZ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38698F8-AD2A-F472-7588-A260AF4C9C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4190" y="2548224"/>
                <a:ext cx="3422993" cy="847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B6BA6859-1348-DEC5-73FB-80944F8E7A3E}"/>
              </a:ext>
            </a:extLst>
          </p:cNvPr>
          <p:cNvSpPr txBox="1">
            <a:spLocks/>
          </p:cNvSpPr>
          <p:nvPr/>
        </p:nvSpPr>
        <p:spPr>
          <a:xfrm>
            <a:off x="319463" y="2545580"/>
            <a:ext cx="4853038" cy="74126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ja-JP" sz="1800" dirty="0">
                <a:solidFill>
                  <a:schemeClr val="tx1"/>
                </a:solidFill>
              </a:rPr>
              <a:t>The linear combination </a:t>
            </a:r>
            <a:r>
              <a:rPr lang="en-US" altLang="ja-JP" sz="1800" b="1" i="1" dirty="0">
                <a:solidFill>
                  <a:schemeClr val="tx1"/>
                </a:solidFill>
              </a:rPr>
              <a:t>Z</a:t>
            </a:r>
            <a:r>
              <a:rPr lang="en-US" altLang="ja-JP" sz="1800" dirty="0">
                <a:solidFill>
                  <a:schemeClr val="tx1"/>
                </a:solidFill>
              </a:rPr>
              <a:t> is a random variable in its own right. Its </a:t>
            </a:r>
            <a:r>
              <a:rPr lang="en-US" altLang="ja-JP" sz="1800" b="1" dirty="0">
                <a:solidFill>
                  <a:schemeClr val="tx1"/>
                </a:solidFill>
              </a:rPr>
              <a:t>expectation</a:t>
            </a:r>
            <a:r>
              <a:rPr lang="en-US" altLang="ja-JP" sz="1800" dirty="0">
                <a:solidFill>
                  <a:schemeClr val="tx1"/>
                </a:solidFill>
              </a:rPr>
              <a:t> and </a:t>
            </a:r>
            <a:r>
              <a:rPr lang="en-US" altLang="ja-JP" sz="1800" b="1" dirty="0">
                <a:solidFill>
                  <a:schemeClr val="tx1"/>
                </a:solidFill>
              </a:rPr>
              <a:t>variance</a:t>
            </a:r>
            <a:r>
              <a:rPr lang="en-US" altLang="ja-JP" sz="1800" dirty="0">
                <a:solidFill>
                  <a:schemeClr val="tx1"/>
                </a:solidFill>
              </a:rPr>
              <a:t> can be calculated as follows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Placeholder 5">
                <a:extLst>
                  <a:ext uri="{FF2B5EF4-FFF2-40B4-BE49-F238E27FC236}">
                    <a16:creationId xmlns:a16="http://schemas.microsoft.com/office/drawing/2014/main" id="{A99ABE53-6AD2-09AC-3CDC-D8C95FEB56C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3716030"/>
                <a:ext cx="11387720" cy="992448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US" altLang="ja-JP" sz="1800" dirty="0">
                    <a:solidFill>
                      <a:schemeClr val="tx1"/>
                    </a:solidFill>
                  </a:rPr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NZ" altLang="ja-JP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lang="en-NZ" altLang="ja-JP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NZ" altLang="ja-JP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, </m:t>
                    </m:r>
                    <m:sSub>
                      <m:sSubPr>
                        <m:ctrlPr>
                          <a:rPr lang="en-NZ" altLang="ja-JP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lang="en-NZ" altLang="ja-JP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NZ" altLang="ja-JP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, </m:t>
                    </m:r>
                    <m:sSub>
                      <m:sSubPr>
                        <m:ctrlPr>
                          <a:rPr lang="en-NZ" altLang="ja-JP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lang="en-NZ" altLang="ja-JP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en-US" altLang="ja-JP" sz="1800" b="1" dirty="0">
                    <a:solidFill>
                      <a:schemeClr val="tx1"/>
                    </a:solidFill>
                  </a:rPr>
                  <a:t> </a:t>
                </a:r>
                <a:r>
                  <a:rPr lang="en-US" altLang="ja-JP" sz="1800" dirty="0">
                    <a:solidFill>
                      <a:schemeClr val="tx1"/>
                    </a:solidFill>
                  </a:rPr>
                  <a:t>be random variables such that </a:t>
                </a:r>
                <a:br>
                  <a:rPr lang="en-NZ" altLang="ja-JP" sz="1800" b="0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NZ" altLang="ja-JP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NZ" altLang="ja-JP" sz="1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NZ" altLang="ja-JP" sz="1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𝒀</m:t>
                            </m:r>
                          </m:e>
                          <m:sub>
                            <m:r>
                              <a:rPr lang="en-NZ" altLang="ja-JP" sz="1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NZ" altLang="ja-JP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NZ" altLang="ja-JP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NZ" altLang="ja-JP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NZ" altLang="ja-JP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NZ" altLang="ja-JP" sz="1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NZ" altLang="ja-JP" sz="1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𝒀</m:t>
                            </m:r>
                          </m:e>
                          <m:sub>
                            <m:r>
                              <a:rPr lang="en-NZ" altLang="ja-JP" sz="1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  <m:r>
                      <a:rPr lang="en-NZ" altLang="ja-JP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NZ" altLang="ja-JP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en-NZ" altLang="ja-JP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NZ" altLang="ja-JP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NZ" altLang="ja-JP" sz="1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NZ" altLang="ja-JP" sz="1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𝒀</m:t>
                            </m:r>
                          </m:e>
                          <m:sub>
                            <m:r>
                              <a:rPr lang="en-NZ" altLang="ja-JP" sz="1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e>
                    </m:d>
                    <m:r>
                      <a:rPr lang="en-NZ" altLang="ja-JP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NZ" altLang="ja-JP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𝟕</m:t>
                    </m:r>
                  </m:oMath>
                </a14:m>
                <a:r>
                  <a:rPr lang="en-US" altLang="ja-JP" sz="1800" b="1" dirty="0">
                    <a:solidFill>
                      <a:schemeClr val="tx1"/>
                    </a:solidFill>
                  </a:rPr>
                  <a:t>  </a:t>
                </a:r>
                <a:r>
                  <a:rPr lang="en-US" altLang="ja-JP" sz="1800" dirty="0">
                    <a:solidFill>
                      <a:schemeClr val="tx1"/>
                    </a:solidFill>
                  </a:rPr>
                  <a:t>and   </a:t>
                </a:r>
                <a14:m>
                  <m:oMath xmlns:m="http://schemas.openxmlformats.org/officeDocument/2006/math">
                    <m:r>
                      <a:rPr lang="en-NZ" altLang="ja-JP" sz="18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𝐕𝐚𝐫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NZ" altLang="ja-JP" sz="1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NZ" altLang="ja-JP" sz="1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𝒀</m:t>
                            </m:r>
                          </m:e>
                          <m:sub>
                            <m:r>
                              <a:rPr lang="en-NZ" altLang="ja-JP" sz="1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NZ" altLang="ja-JP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NZ" altLang="ja-JP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𝑽𝒂𝒓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NZ" altLang="ja-JP" sz="1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NZ" altLang="ja-JP" sz="1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𝒀</m:t>
                            </m:r>
                          </m:e>
                          <m:sub>
                            <m:r>
                              <a:rPr lang="en-NZ" altLang="ja-JP" sz="1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  <m:r>
                      <a:rPr lang="en-NZ" altLang="ja-JP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NZ" altLang="ja-JP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NZ" altLang="ja-JP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NZ" altLang="ja-JP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𝑽𝒂𝒓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NZ" altLang="ja-JP" sz="1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NZ" altLang="ja-JP" sz="1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𝒀</m:t>
                            </m:r>
                          </m:e>
                          <m:sub>
                            <m:r>
                              <a:rPr lang="en-NZ" altLang="ja-JP" sz="1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e>
                    </m:d>
                    <m:r>
                      <a:rPr lang="en-NZ" altLang="ja-JP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NZ" altLang="ja-JP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𝟗</m:t>
                    </m:r>
                  </m:oMath>
                </a14:m>
                <a:br>
                  <a:rPr lang="en-NZ" altLang="ja-JP" sz="1800" b="1" dirty="0">
                    <a:solidFill>
                      <a:schemeClr val="tx1"/>
                    </a:solidFill>
                  </a:rPr>
                </a:br>
                <a:r>
                  <a:rPr lang="en-NZ" altLang="ja-JP" sz="1800" dirty="0">
                    <a:solidFill>
                      <a:schemeClr val="tx1"/>
                    </a:solidFill>
                  </a:rPr>
                  <a:t>Let  </a:t>
                </a:r>
                <a14:m>
                  <m:oMath xmlns:m="http://schemas.openxmlformats.org/officeDocument/2006/math">
                    <m:r>
                      <a:rPr lang="en-NZ" altLang="ja-JP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𝒁</m:t>
                    </m:r>
                    <m:r>
                      <a:rPr lang="en-NZ" altLang="ja-JP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NZ" altLang="ja-JP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sSub>
                      <m:sSubPr>
                        <m:ctrlPr>
                          <a:rPr lang="en-NZ" altLang="ja-JP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lang="en-NZ" altLang="ja-JP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NZ" altLang="ja-JP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NZ" altLang="ja-JP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sSub>
                      <m:sSubPr>
                        <m:ctrlPr>
                          <a:rPr lang="en-NZ" altLang="ja-JP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lang="en-NZ" altLang="ja-JP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NZ" altLang="ja-JP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+</m:t>
                    </m:r>
                    <m:r>
                      <a:rPr lang="en-NZ" altLang="ja-JP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sSub>
                      <m:sSubPr>
                        <m:ctrlPr>
                          <a:rPr lang="en-NZ" altLang="ja-JP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lang="en-NZ" altLang="ja-JP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en-US" altLang="ja-JP" sz="1800" dirty="0">
                    <a:solidFill>
                      <a:schemeClr val="tx1"/>
                    </a:solidFill>
                  </a:rPr>
                  <a:t>.   Calculate </a:t>
                </a:r>
                <a14:m>
                  <m:oMath xmlns:m="http://schemas.openxmlformats.org/officeDocument/2006/math">
                    <m:r>
                      <a:rPr lang="en-NZ" altLang="ja-JP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NZ" altLang="ja-JP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NZ" altLang="ja-JP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𝒁</m:t>
                    </m:r>
                    <m:r>
                      <a:rPr lang="en-NZ" altLang="ja-JP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ja-JP" sz="1800" b="1" dirty="0">
                    <a:solidFill>
                      <a:schemeClr val="tx1"/>
                    </a:solidFill>
                  </a:rPr>
                  <a:t> </a:t>
                </a:r>
                <a:r>
                  <a:rPr lang="en-US" altLang="ja-JP" sz="1800" dirty="0">
                    <a:solidFill>
                      <a:schemeClr val="tx1"/>
                    </a:solidFill>
                  </a:rPr>
                  <a:t>and </a:t>
                </a:r>
                <a14:m>
                  <m:oMath xmlns:m="http://schemas.openxmlformats.org/officeDocument/2006/math">
                    <m:r>
                      <a:rPr lang="en-NZ" altLang="ja-JP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𝑽𝒂𝒓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</m:d>
                    <m:r>
                      <a:rPr lang="en-NZ" altLang="ja-JP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ja-JP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Text Placeholder 5">
                <a:extLst>
                  <a:ext uri="{FF2B5EF4-FFF2-40B4-BE49-F238E27FC236}">
                    <a16:creationId xmlns:a16="http://schemas.microsoft.com/office/drawing/2014/main" id="{A99ABE53-6AD2-09AC-3CDC-D8C95FEB56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3716030"/>
                <a:ext cx="11387720" cy="992448"/>
              </a:xfrm>
              <a:prstGeom prst="rect">
                <a:avLst/>
              </a:prstGeom>
              <a:blipFill>
                <a:blip r:embed="rId6"/>
                <a:stretch>
                  <a:fillRect l="-321" t="-3704" b="-2469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AE76E14-DC69-6CB4-9851-21005E891CA7}"/>
                  </a:ext>
                </a:extLst>
              </p:cNvPr>
              <p:cNvSpPr txBox="1"/>
              <p:nvPr/>
            </p:nvSpPr>
            <p:spPr>
              <a:xfrm>
                <a:off x="1037230" y="5313505"/>
                <a:ext cx="5240740" cy="847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NZ" altLang="ja-JP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NZ" altLang="ja-JP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  <m:r>
                        <a:rPr lang="en-NZ" altLang="ja-JP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≡   </m:t>
                      </m:r>
                      <m:f>
                        <m:fPr>
                          <m:ctrlPr>
                            <a:rPr lang="en-NZ" altLang="ja-JP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NZ" altLang="ja-JP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NZ" altLang="ja-JP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den>
                      </m:f>
                      <m:r>
                        <a:rPr lang="en-NZ" altLang="ja-JP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nary>
                        <m:naryPr>
                          <m:chr m:val="∑"/>
                          <m:ctrlPr>
                            <a:rPr lang="en-NZ" altLang="ja-JP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NZ" altLang="ja-JP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NZ" altLang="ja-JP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NZ" altLang="ja-JP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NZ" altLang="ja-JP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r>
                            <a:rPr lang="en-NZ" altLang="ja-JP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NZ" altLang="ja-JP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e>
                            <m:sub>
                              <m:r>
                                <a:rPr lang="en-NZ" altLang="ja-JP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nary>
                      <m:r>
                        <a:rPr lang="en-NZ" altLang="ja-JP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=  </m:t>
                      </m:r>
                      <m:f>
                        <m:fPr>
                          <m:ctrlPr>
                            <a:rPr lang="en-NZ" altLang="ja-JP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NZ" altLang="ja-JP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NZ" altLang="ja-JP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den>
                      </m:f>
                      <m:r>
                        <a:rPr lang="en-NZ" altLang="ja-JP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d>
                        <m:dPr>
                          <m:ctrlPr>
                            <a:rPr lang="en-NZ" altLang="ja-JP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NZ" altLang="ja-JP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e>
                            <m:sub>
                              <m:r>
                                <a:rPr lang="en-NZ" altLang="ja-JP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NZ" altLang="ja-JP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+ </m:t>
                          </m:r>
                          <m:sSub>
                            <m:sSubPr>
                              <m:ctrlPr>
                                <a:rPr lang="en-NZ" altLang="ja-JP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e>
                            <m:sub>
                              <m:r>
                                <a:rPr lang="en-NZ" altLang="ja-JP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NZ" altLang="ja-JP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+  </m:t>
                          </m:r>
                          <m:r>
                            <a:rPr lang="en-NZ" altLang="ja-JP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 + </m:t>
                          </m:r>
                          <m:sSub>
                            <m:sSubPr>
                              <m:ctrlPr>
                                <a:rPr lang="en-NZ" altLang="ja-JP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𝒀</m:t>
                              </m:r>
                            </m:e>
                            <m:sub>
                              <m:r>
                                <a:rPr lang="en-NZ" altLang="ja-JP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NZ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AE76E14-DC69-6CB4-9851-21005E891C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7230" y="5313505"/>
                <a:ext cx="5240740" cy="847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 Placeholder 5">
                <a:extLst>
                  <a:ext uri="{FF2B5EF4-FFF2-40B4-BE49-F238E27FC236}">
                    <a16:creationId xmlns:a16="http://schemas.microsoft.com/office/drawing/2014/main" id="{90F43900-8E56-49C2-8099-9ABF1BD9803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4914358"/>
                <a:ext cx="11553074" cy="416970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indent="-285750" algn="just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US" altLang="ja-JP" sz="1800" dirty="0">
                    <a:solidFill>
                      <a:schemeClr val="tx1"/>
                    </a:solidFill>
                  </a:rPr>
                  <a:t>Let </a:t>
                </a:r>
                <a:r>
                  <a:rPr lang="en-US" altLang="ja-JP" sz="1800" b="1" i="1" dirty="0">
                    <a:solidFill>
                      <a:schemeClr val="tx1"/>
                    </a:solidFill>
                  </a:rPr>
                  <a:t>Y</a:t>
                </a:r>
                <a:r>
                  <a:rPr lang="en-US" altLang="ja-JP" sz="1800" b="1" i="1" baseline="-25000" dirty="0">
                    <a:solidFill>
                      <a:schemeClr val="tx1"/>
                    </a:solidFill>
                  </a:rPr>
                  <a:t>1,</a:t>
                </a:r>
                <a:r>
                  <a:rPr lang="en-US" altLang="ja-JP" sz="1800" b="1" i="1" dirty="0">
                    <a:solidFill>
                      <a:schemeClr val="tx1"/>
                    </a:solidFill>
                  </a:rPr>
                  <a:t> Y</a:t>
                </a:r>
                <a:r>
                  <a:rPr lang="en-US" altLang="ja-JP" sz="1800" b="1" i="1" baseline="-25000" dirty="0">
                    <a:solidFill>
                      <a:schemeClr val="tx1"/>
                    </a:solidFill>
                  </a:rPr>
                  <a:t>2,</a:t>
                </a:r>
                <a:r>
                  <a:rPr lang="en-US" altLang="ja-JP" sz="1800" b="1" i="1" dirty="0">
                    <a:solidFill>
                      <a:schemeClr val="tx1"/>
                    </a:solidFill>
                  </a:rPr>
                  <a:t> … </a:t>
                </a:r>
                <a:r>
                  <a:rPr lang="en-US" altLang="ja-JP" sz="1800" b="1" i="1" dirty="0" err="1">
                    <a:solidFill>
                      <a:schemeClr val="tx1"/>
                    </a:solidFill>
                  </a:rPr>
                  <a:t>Y</a:t>
                </a:r>
                <a:r>
                  <a:rPr lang="en-US" altLang="ja-JP" sz="1800" b="1" i="1" baseline="-25000" dirty="0" err="1">
                    <a:solidFill>
                      <a:schemeClr val="tx1"/>
                    </a:solidFill>
                  </a:rPr>
                  <a:t>n</a:t>
                </a:r>
                <a:r>
                  <a:rPr lang="en-US" altLang="ja-JP" sz="1800" dirty="0">
                    <a:solidFill>
                      <a:schemeClr val="tx1"/>
                    </a:solidFill>
                  </a:rPr>
                  <a:t>  be a collection of </a:t>
                </a:r>
                <a:r>
                  <a:rPr lang="en-US" altLang="ja-JP" sz="1800" b="1" dirty="0">
                    <a:solidFill>
                      <a:schemeClr val="tx1"/>
                    </a:solidFill>
                  </a:rPr>
                  <a:t>independent</a:t>
                </a:r>
                <a:r>
                  <a:rPr lang="en-US" altLang="ja-JP" sz="1800" dirty="0">
                    <a:solidFill>
                      <a:schemeClr val="tx1"/>
                    </a:solidFill>
                  </a:rPr>
                  <a:t> random variables such that </a:t>
                </a:r>
                <a14:m>
                  <m:oMath xmlns:m="http://schemas.openxmlformats.org/officeDocument/2006/math">
                    <m:r>
                      <a:rPr lang="en-NZ" altLang="ja-JP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NZ" altLang="ja-JP" sz="1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NZ" altLang="ja-JP" sz="1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𝒀</m:t>
                            </m:r>
                          </m:e>
                          <m:sub>
                            <m:r>
                              <a:rPr lang="en-NZ" altLang="ja-JP" sz="1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en-NZ" altLang="ja-JP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NZ" altLang="ja-JP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𝝁</m:t>
                    </m:r>
                  </m:oMath>
                </a14:m>
                <a:r>
                  <a:rPr lang="en-US" altLang="ja-JP" sz="1800" b="1" dirty="0">
                    <a:solidFill>
                      <a:schemeClr val="tx1"/>
                    </a:solidFill>
                  </a:rPr>
                  <a:t>  </a:t>
                </a:r>
                <a:r>
                  <a:rPr lang="en-US" altLang="ja-JP" sz="1800" dirty="0">
                    <a:solidFill>
                      <a:schemeClr val="tx1"/>
                    </a:solidFill>
                  </a:rPr>
                  <a:t>and  </a:t>
                </a:r>
                <a14:m>
                  <m:oMath xmlns:m="http://schemas.openxmlformats.org/officeDocument/2006/math">
                    <m:r>
                      <a:rPr lang="en-NZ" altLang="ja-JP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𝑽𝒂𝒓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NZ" altLang="ja-JP" sz="1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NZ" altLang="ja-JP" sz="1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𝒀</m:t>
                            </m:r>
                          </m:e>
                          <m:sub>
                            <m:r>
                              <a:rPr lang="en-NZ" altLang="ja-JP" sz="1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en-NZ" altLang="ja-JP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NZ" altLang="ja-JP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NZ" altLang="ja-JP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𝝈</m:t>
                        </m:r>
                      </m:e>
                      <m:sup>
                        <m:r>
                          <a:rPr lang="en-NZ" altLang="ja-JP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en-US" altLang="ja-JP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Text Placeholder 5">
                <a:extLst>
                  <a:ext uri="{FF2B5EF4-FFF2-40B4-BE49-F238E27FC236}">
                    <a16:creationId xmlns:a16="http://schemas.microsoft.com/office/drawing/2014/main" id="{90F43900-8E56-49C2-8099-9ABF1BD980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4914358"/>
                <a:ext cx="11553074" cy="416970"/>
              </a:xfrm>
              <a:prstGeom prst="rect">
                <a:avLst/>
              </a:prstGeom>
              <a:blipFill>
                <a:blip r:embed="rId8"/>
                <a:stretch>
                  <a:fillRect l="-316" t="-5797" b="-11594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 Placeholder 5">
                <a:extLst>
                  <a:ext uri="{FF2B5EF4-FFF2-40B4-BE49-F238E27FC236}">
                    <a16:creationId xmlns:a16="http://schemas.microsoft.com/office/drawing/2014/main" id="{85A42812-ECC3-F799-8CBB-68117BF08A5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82352" y="5524232"/>
                <a:ext cx="5045122" cy="475868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lang="en-NZ" altLang="ja-JP" sz="1800" b="0" dirty="0">
                    <a:solidFill>
                      <a:schemeClr val="tx1"/>
                    </a:solidFill>
                  </a:rPr>
                  <a:t>=&gt;         </a:t>
                </a:r>
                <a14:m>
                  <m:oMath xmlns:m="http://schemas.openxmlformats.org/officeDocument/2006/math">
                    <m:r>
                      <a:rPr lang="en-NZ" altLang="ja-JP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NZ" altLang="ja-JP" sz="1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NZ" altLang="ja-JP" sz="1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𝒀</m:t>
                            </m:r>
                          </m:e>
                        </m:acc>
                      </m:e>
                    </m:d>
                    <m:r>
                      <a:rPr lang="en-NZ" altLang="ja-JP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NZ" altLang="ja-JP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𝝁</m:t>
                    </m:r>
                  </m:oMath>
                </a14:m>
                <a:r>
                  <a:rPr lang="en-US" altLang="ja-JP" sz="1800" b="1" dirty="0">
                    <a:solidFill>
                      <a:schemeClr val="tx1"/>
                    </a:solidFill>
                  </a:rPr>
                  <a:t>   </a:t>
                </a:r>
                <a:r>
                  <a:rPr lang="en-US" altLang="ja-JP" sz="1800" dirty="0">
                    <a:solidFill>
                      <a:schemeClr val="tx1"/>
                    </a:solidFill>
                  </a:rPr>
                  <a:t>and   </a:t>
                </a:r>
                <a14:m>
                  <m:oMath xmlns:m="http://schemas.openxmlformats.org/officeDocument/2006/math">
                    <m:r>
                      <a:rPr lang="en-NZ" altLang="ja-JP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𝑽𝒂𝒓</m:t>
                    </m:r>
                    <m:d>
                      <m:dPr>
                        <m:begChr m:val="["/>
                        <m:endChr m:val="]"/>
                        <m:ctrlPr>
                          <a:rPr lang="en-NZ" altLang="ja-JP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NZ" altLang="ja-JP" sz="1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NZ" altLang="ja-JP" sz="1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𝒀</m:t>
                            </m:r>
                          </m:e>
                        </m:acc>
                      </m:e>
                    </m:d>
                    <m:r>
                      <a:rPr lang="en-NZ" altLang="ja-JP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type m:val="skw"/>
                        <m:ctrlPr>
                          <a:rPr lang="en-NZ" altLang="ja-JP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NZ" altLang="ja-JP" sz="1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NZ" altLang="ja-JP" sz="1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𝝈</m:t>
                            </m:r>
                          </m:e>
                          <m:sup>
                            <m:r>
                              <a:rPr lang="en-NZ" altLang="ja-JP" sz="1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en-NZ" altLang="ja-JP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den>
                    </m:f>
                  </m:oMath>
                </a14:m>
                <a:endParaRPr lang="en-US" altLang="ja-JP" sz="18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Text Placeholder 5">
                <a:extLst>
                  <a:ext uri="{FF2B5EF4-FFF2-40B4-BE49-F238E27FC236}">
                    <a16:creationId xmlns:a16="http://schemas.microsoft.com/office/drawing/2014/main" id="{85A42812-ECC3-F799-8CBB-68117BF08A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2352" y="5524232"/>
                <a:ext cx="5045122" cy="475868"/>
              </a:xfrm>
              <a:prstGeom prst="rect">
                <a:avLst/>
              </a:prstGeom>
              <a:blipFill>
                <a:blip r:embed="rId9"/>
                <a:stretch>
                  <a:fillRect t="-88462" b="-117949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0721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9" grpId="0"/>
      <p:bldP spid="20" grpId="0"/>
      <p:bldP spid="22" grpId="0"/>
      <p:bldP spid="23" grpId="0"/>
      <p:bldP spid="24" grpId="0"/>
      <p:bldP spid="2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2238</TotalTime>
  <Words>5175</Words>
  <Application>Microsoft Office PowerPoint</Application>
  <PresentationFormat>Widescreen</PresentationFormat>
  <Paragraphs>599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5" baseType="lpstr">
      <vt:lpstr>Arial</vt:lpstr>
      <vt:lpstr>Calibri</vt:lpstr>
      <vt:lpstr>Calibri Light</vt:lpstr>
      <vt:lpstr>Cambria Math</vt:lpstr>
      <vt:lpstr>Coo Hew</vt:lpstr>
      <vt:lpstr>Gidole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Adam Ward</dc:creator>
  <cp:lastModifiedBy>Adam Ward</cp:lastModifiedBy>
  <cp:revision>63</cp:revision>
  <dcterms:created xsi:type="dcterms:W3CDTF">2022-02-19T23:15:01Z</dcterms:created>
  <dcterms:modified xsi:type="dcterms:W3CDTF">2022-07-14T21:40:15Z</dcterms:modified>
</cp:coreProperties>
</file>