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3" r:id="rId3"/>
    <p:sldId id="340" r:id="rId4"/>
    <p:sldId id="271" r:id="rId5"/>
    <p:sldId id="289" r:id="rId6"/>
    <p:sldId id="341" r:id="rId7"/>
    <p:sldId id="272" r:id="rId8"/>
    <p:sldId id="291" r:id="rId9"/>
    <p:sldId id="292" r:id="rId10"/>
    <p:sldId id="342" r:id="rId11"/>
    <p:sldId id="273" r:id="rId12"/>
    <p:sldId id="293" r:id="rId13"/>
    <p:sldId id="343" r:id="rId14"/>
    <p:sldId id="295" r:id="rId15"/>
    <p:sldId id="344" r:id="rId16"/>
    <p:sldId id="336" r:id="rId17"/>
    <p:sldId id="337" r:id="rId18"/>
    <p:sldId id="296" r:id="rId19"/>
    <p:sldId id="345" r:id="rId20"/>
    <p:sldId id="297" r:id="rId21"/>
    <p:sldId id="298" r:id="rId22"/>
    <p:sldId id="299" r:id="rId23"/>
    <p:sldId id="346" r:id="rId24"/>
    <p:sldId id="300" r:id="rId25"/>
    <p:sldId id="301" r:id="rId26"/>
    <p:sldId id="347" r:id="rId27"/>
    <p:sldId id="348" r:id="rId28"/>
    <p:sldId id="268" r:id="rId29"/>
    <p:sldId id="269" r:id="rId30"/>
    <p:sldId id="349" r:id="rId31"/>
    <p:sldId id="303" r:id="rId32"/>
    <p:sldId id="304" r:id="rId33"/>
    <p:sldId id="306" r:id="rId34"/>
    <p:sldId id="305" r:id="rId35"/>
    <p:sldId id="260" r:id="rId36"/>
    <p:sldId id="309" r:id="rId37"/>
    <p:sldId id="307" r:id="rId38"/>
    <p:sldId id="308" r:id="rId39"/>
    <p:sldId id="310" r:id="rId40"/>
    <p:sldId id="311" r:id="rId41"/>
    <p:sldId id="312" r:id="rId42"/>
    <p:sldId id="313" r:id="rId43"/>
    <p:sldId id="314" r:id="rId44"/>
    <p:sldId id="351" r:id="rId45"/>
    <p:sldId id="352" r:id="rId46"/>
    <p:sldId id="353" r:id="rId47"/>
    <p:sldId id="315" r:id="rId48"/>
    <p:sldId id="316" r:id="rId49"/>
    <p:sldId id="317" r:id="rId50"/>
    <p:sldId id="318" r:id="rId51"/>
    <p:sldId id="319" r:id="rId52"/>
    <p:sldId id="320" r:id="rId53"/>
    <p:sldId id="321" r:id="rId54"/>
    <p:sldId id="322" r:id="rId55"/>
    <p:sldId id="323" r:id="rId56"/>
    <p:sldId id="324" r:id="rId57"/>
    <p:sldId id="325" r:id="rId58"/>
    <p:sldId id="338" r:id="rId59"/>
    <p:sldId id="327" r:id="rId60"/>
    <p:sldId id="339" r:id="rId61"/>
    <p:sldId id="326" r:id="rId62"/>
    <p:sldId id="328" r:id="rId63"/>
    <p:sldId id="354" r:id="rId64"/>
    <p:sldId id="355" r:id="rId65"/>
    <p:sldId id="331" r:id="rId66"/>
    <p:sldId id="332" r:id="rId67"/>
    <p:sldId id="333" r:id="rId68"/>
    <p:sldId id="334"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OneDrive\Desktop\Two%20Way%20Anova%20Exampl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'Drug X - Interaction1'!$F$2</c:f>
              <c:strCache>
                <c:ptCount val="1"/>
                <c:pt idx="0">
                  <c:v>Male</c:v>
                </c:pt>
              </c:strCache>
            </c:strRef>
          </c:tx>
          <c:spPr>
            <a:ln w="28575" cap="rnd">
              <a:solidFill>
                <a:srgbClr val="FF0000"/>
              </a:solidFill>
              <a:round/>
            </a:ln>
            <a:effectLst/>
          </c:spPr>
          <c:marker>
            <c:symbol val="circle"/>
            <c:size val="5"/>
            <c:spPr>
              <a:solidFill>
                <a:srgbClr val="FF0000"/>
              </a:solidFill>
              <a:ln w="9525">
                <a:solidFill>
                  <a:srgbClr val="FF0000"/>
                </a:solidFill>
              </a:ln>
              <a:effectLst/>
            </c:spPr>
          </c:marker>
          <c:cat>
            <c:strRef>
              <c:f>'Drug X - Interaction1'!$G$1:$I$1</c:f>
              <c:strCache>
                <c:ptCount val="3"/>
                <c:pt idx="0">
                  <c:v>Dosage 10mgs</c:v>
                </c:pt>
                <c:pt idx="1">
                  <c:v>Dosage 20mgs</c:v>
                </c:pt>
                <c:pt idx="2">
                  <c:v>Dosage 30mgs</c:v>
                </c:pt>
              </c:strCache>
            </c:strRef>
          </c:cat>
          <c:val>
            <c:numRef>
              <c:f>'Drug X - Interaction1'!$G$2:$I$2</c:f>
              <c:numCache>
                <c:formatCode>0.00</c:formatCode>
                <c:ptCount val="3"/>
                <c:pt idx="0">
                  <c:v>60</c:v>
                </c:pt>
                <c:pt idx="1">
                  <c:v>62.5</c:v>
                </c:pt>
                <c:pt idx="2">
                  <c:v>57.5</c:v>
                </c:pt>
              </c:numCache>
            </c:numRef>
          </c:val>
          <c:smooth val="0"/>
          <c:extLst>
            <c:ext xmlns:c16="http://schemas.microsoft.com/office/drawing/2014/chart" uri="{C3380CC4-5D6E-409C-BE32-E72D297353CC}">
              <c16:uniqueId val="{00000000-4944-4AB2-AC30-84BFED9D4734}"/>
            </c:ext>
          </c:extLst>
        </c:ser>
        <c:ser>
          <c:idx val="1"/>
          <c:order val="1"/>
          <c:tx>
            <c:strRef>
              <c:f>'Drug X - Interaction1'!$F$3</c:f>
              <c:strCache>
                <c:ptCount val="1"/>
                <c:pt idx="0">
                  <c:v>Female</c:v>
                </c:pt>
              </c:strCache>
            </c:strRef>
          </c:tx>
          <c:spPr>
            <a:ln w="28575" cap="rnd">
              <a:solidFill>
                <a:srgbClr val="0070C0"/>
              </a:solidFill>
              <a:round/>
            </a:ln>
            <a:effectLst/>
          </c:spPr>
          <c:marker>
            <c:symbol val="circle"/>
            <c:size val="5"/>
            <c:spPr>
              <a:solidFill>
                <a:srgbClr val="0070C0"/>
              </a:solidFill>
              <a:ln w="9525">
                <a:solidFill>
                  <a:srgbClr val="0070C0"/>
                </a:solidFill>
              </a:ln>
              <a:effectLst/>
            </c:spPr>
          </c:marker>
          <c:cat>
            <c:strRef>
              <c:f>'Drug X - Interaction1'!$G$1:$I$1</c:f>
              <c:strCache>
                <c:ptCount val="3"/>
                <c:pt idx="0">
                  <c:v>Dosage 10mgs</c:v>
                </c:pt>
                <c:pt idx="1">
                  <c:v>Dosage 20mgs</c:v>
                </c:pt>
                <c:pt idx="2">
                  <c:v>Dosage 30mgs</c:v>
                </c:pt>
              </c:strCache>
            </c:strRef>
          </c:cat>
          <c:val>
            <c:numRef>
              <c:f>'Drug X - Interaction1'!$G$3:$I$3</c:f>
              <c:numCache>
                <c:formatCode>0.00</c:formatCode>
                <c:ptCount val="3"/>
                <c:pt idx="0">
                  <c:v>66.875</c:v>
                </c:pt>
                <c:pt idx="1">
                  <c:v>66.875</c:v>
                </c:pt>
                <c:pt idx="2">
                  <c:v>40.625</c:v>
                </c:pt>
              </c:numCache>
            </c:numRef>
          </c:val>
          <c:smooth val="0"/>
          <c:extLst>
            <c:ext xmlns:c16="http://schemas.microsoft.com/office/drawing/2014/chart" uri="{C3380CC4-5D6E-409C-BE32-E72D297353CC}">
              <c16:uniqueId val="{00000001-4944-4AB2-AC30-84BFED9D4734}"/>
            </c:ext>
          </c:extLst>
        </c:ser>
        <c:dLbls>
          <c:showLegendKey val="0"/>
          <c:showVal val="0"/>
          <c:showCatName val="0"/>
          <c:showSerName val="0"/>
          <c:showPercent val="0"/>
          <c:showBubbleSize val="0"/>
        </c:dLbls>
        <c:marker val="1"/>
        <c:smooth val="0"/>
        <c:axId val="199264335"/>
        <c:axId val="199263087"/>
      </c:lineChart>
      <c:catAx>
        <c:axId val="199264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99263087"/>
        <c:crosses val="autoZero"/>
        <c:auto val="1"/>
        <c:lblAlgn val="ctr"/>
        <c:lblOffset val="100"/>
        <c:noMultiLvlLbl val="0"/>
      </c:catAx>
      <c:valAx>
        <c:axId val="1992630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US" sz="1100" b="1"/>
                  <a:t>Cholesterol level (mgs)</a:t>
                </a:r>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9926433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A5DA0-E9A3-4A68-922B-E82B1C434D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32607BEE-A963-4AC3-A162-81CA287E1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49B37679-C067-4797-81DA-464EB7757AC3}"/>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5" name="Footer Placeholder 4">
            <a:extLst>
              <a:ext uri="{FF2B5EF4-FFF2-40B4-BE49-F238E27FC236}">
                <a16:creationId xmlns:a16="http://schemas.microsoft.com/office/drawing/2014/main" id="{26C9E440-2E19-4FAC-A72C-B3FBF6E86C5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F304D38-9642-406D-B29B-FD99834CFCF9}"/>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430630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77D2E-AE4E-46B4-83F1-055FA20CFD0D}"/>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57229A17-A10E-4884-B30C-D9D9A5EDA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011B627-EB58-414D-A1EE-CC9A588F3355}"/>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5" name="Footer Placeholder 4">
            <a:extLst>
              <a:ext uri="{FF2B5EF4-FFF2-40B4-BE49-F238E27FC236}">
                <a16:creationId xmlns:a16="http://schemas.microsoft.com/office/drawing/2014/main" id="{BBF9B158-C8EE-42C7-9A47-52DBE0EC0AA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6BEA887-96CF-4F93-BF10-AAFE8B20BB82}"/>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2263931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84797-3D14-497E-AF74-9060A7490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0E197E41-4772-470E-B97F-6B6E17A8A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F8589B-E8D6-41A7-A1CB-A107FF83667E}"/>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5" name="Footer Placeholder 4">
            <a:extLst>
              <a:ext uri="{FF2B5EF4-FFF2-40B4-BE49-F238E27FC236}">
                <a16:creationId xmlns:a16="http://schemas.microsoft.com/office/drawing/2014/main" id="{41D75812-1177-4B20-9D96-A560E755EA7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608B7EB-840F-42DD-B4C3-D138FD39D3F3}"/>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2555365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F06B-748E-42C7-B5EA-9092FCAC514D}"/>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994A0DF-2F5F-48AC-86C4-24F9117B24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0C68DD97-16B2-4164-AA6A-7DEC65BF79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9DAD12E5-48EA-4E75-BC64-15929EC606CB}"/>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6" name="Footer Placeholder 5">
            <a:extLst>
              <a:ext uri="{FF2B5EF4-FFF2-40B4-BE49-F238E27FC236}">
                <a16:creationId xmlns:a16="http://schemas.microsoft.com/office/drawing/2014/main" id="{4D2628EA-CE1B-4B98-B441-F7559B0448D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546026F-8A96-4AB7-A3C5-96D6EA35C794}"/>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4207361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AF31-C927-409E-BD88-4753DCE9DBCC}"/>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6E1671D4-B3B8-49DB-97F5-E1909E36D2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A42B53-8962-4BC4-9C96-20138F9003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CA8FC52F-7ECB-42C0-B8F6-2B0E41204B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CE89AD-846A-42DA-9DF3-7157524E19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ABB3FD33-D872-4E76-AD24-C0828EE1F839}"/>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8" name="Footer Placeholder 7">
            <a:extLst>
              <a:ext uri="{FF2B5EF4-FFF2-40B4-BE49-F238E27FC236}">
                <a16:creationId xmlns:a16="http://schemas.microsoft.com/office/drawing/2014/main" id="{C0F17E7E-2F6D-49FF-81E8-E255B7DCCDBF}"/>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1C2FD5C6-D316-4EAB-A4A4-21DB7B6BEFEB}"/>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1141728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51A18-D29E-4144-9184-2E2F970C00C0}"/>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68A451A-60F6-4F42-BB6E-B5E2FF951BF9}"/>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4" name="Footer Placeholder 3">
            <a:extLst>
              <a:ext uri="{FF2B5EF4-FFF2-40B4-BE49-F238E27FC236}">
                <a16:creationId xmlns:a16="http://schemas.microsoft.com/office/drawing/2014/main" id="{29C31956-357E-4427-A80A-976463D92390}"/>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B7D449A8-CCED-4CD2-B50C-0A8E2D867297}"/>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3332025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0389B-2028-4A65-8A41-A0C1119863B2}"/>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3" name="Footer Placeholder 2">
            <a:extLst>
              <a:ext uri="{FF2B5EF4-FFF2-40B4-BE49-F238E27FC236}">
                <a16:creationId xmlns:a16="http://schemas.microsoft.com/office/drawing/2014/main" id="{6286C8C8-566F-4752-A5F4-015377AB5BA6}"/>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BF600026-E676-4F04-BBCE-CCA50B156A0F}"/>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425412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73D7-3FB1-4A9E-B10C-8494D3C898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BE88C2B0-5427-44AD-BE32-0C2A4A42C1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1D449C61-8333-4BA0-A0CF-BF345EE8F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601F1C-7117-414C-90C3-0BA634DCDAF7}"/>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6" name="Footer Placeholder 5">
            <a:extLst>
              <a:ext uri="{FF2B5EF4-FFF2-40B4-BE49-F238E27FC236}">
                <a16:creationId xmlns:a16="http://schemas.microsoft.com/office/drawing/2014/main" id="{6DE3BA47-26BD-4586-A4C6-3B6FC85C2C3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84C66A4A-1CB7-40F7-AD0E-66F3063F24A1}"/>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540271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53A53-652E-42EA-99B0-86FC63E633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F0D74C41-B6A4-44D7-964C-7E9424F41F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6BA30531-585A-4E94-B9C3-89309FEA6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09C894-D6AB-4ADA-8A19-EA605A83B9DD}"/>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6" name="Footer Placeholder 5">
            <a:extLst>
              <a:ext uri="{FF2B5EF4-FFF2-40B4-BE49-F238E27FC236}">
                <a16:creationId xmlns:a16="http://schemas.microsoft.com/office/drawing/2014/main" id="{5FE271BA-6A3D-4C01-B33C-1B2B59D6993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72DE214C-13B0-4EED-88DC-9E14DFE407C6}"/>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595983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968DB-6A34-40DA-9BD5-E4B477D8C475}"/>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2DF1CDA0-9244-4F0F-A3FA-C107349569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6A00A22-4BA6-4662-88F1-6B9B7989F54A}"/>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5" name="Footer Placeholder 4">
            <a:extLst>
              <a:ext uri="{FF2B5EF4-FFF2-40B4-BE49-F238E27FC236}">
                <a16:creationId xmlns:a16="http://schemas.microsoft.com/office/drawing/2014/main" id="{A89FDD49-C34D-49B4-99D1-21EBF93439B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2B22F7A-8F13-49A6-9DAD-940CC4DB5987}"/>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607364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B5F80B-90DC-4EC6-B6FB-ED9492EAE5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6BAFF100-79B5-4F4D-B5D5-C63D8A7E3A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3A3CB6A-45C3-4451-95A6-0CF2CDEE308E}"/>
              </a:ext>
            </a:extLst>
          </p:cNvPr>
          <p:cNvSpPr>
            <a:spLocks noGrp="1"/>
          </p:cNvSpPr>
          <p:nvPr>
            <p:ph type="dt" sz="half" idx="10"/>
          </p:nvPr>
        </p:nvSpPr>
        <p:spPr/>
        <p:txBody>
          <a:bodyPr/>
          <a:lstStyle/>
          <a:p>
            <a:fld id="{C0687984-C75B-4024-9C22-647ABD36B9B8}" type="datetimeFigureOut">
              <a:rPr lang="en-NZ" smtClean="0"/>
              <a:t>21/08/2022</a:t>
            </a:fld>
            <a:endParaRPr lang="en-NZ"/>
          </a:p>
        </p:txBody>
      </p:sp>
      <p:sp>
        <p:nvSpPr>
          <p:cNvPr id="5" name="Footer Placeholder 4">
            <a:extLst>
              <a:ext uri="{FF2B5EF4-FFF2-40B4-BE49-F238E27FC236}">
                <a16:creationId xmlns:a16="http://schemas.microsoft.com/office/drawing/2014/main" id="{8AEE6952-331D-49FE-95D9-EBEB289A5B4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BC06A13-E195-4BF5-BE80-1A47B7BF5425}"/>
              </a:ext>
            </a:extLst>
          </p:cNvPr>
          <p:cNvSpPr>
            <a:spLocks noGrp="1"/>
          </p:cNvSpPr>
          <p:nvPr>
            <p:ph type="sldNum" sz="quarter" idx="12"/>
          </p:nvPr>
        </p:nvSpPr>
        <p:spPr/>
        <p:txBody>
          <a:bodyPr/>
          <a:lstStyle/>
          <a:p>
            <a:fld id="{8A3F5F76-A4EA-4926-983B-774DA82F79C6}" type="slidenum">
              <a:rPr lang="en-NZ" smtClean="0"/>
              <a:t>‹#›</a:t>
            </a:fld>
            <a:endParaRPr lang="en-NZ"/>
          </a:p>
        </p:txBody>
      </p:sp>
    </p:spTree>
    <p:extLst>
      <p:ext uri="{BB962C8B-B14F-4D97-AF65-F5344CB8AC3E}">
        <p14:creationId xmlns:p14="http://schemas.microsoft.com/office/powerpoint/2010/main" val="767686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2035BE-6710-4776-99DB-4D82322483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9AEE0D8-2C9D-49D6-AA9F-00686961FE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1342B16-1A20-4BC6-BA68-0F6B46909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87984-C75B-4024-9C22-647ABD36B9B8}" type="datetimeFigureOut">
              <a:rPr lang="en-NZ" smtClean="0"/>
              <a:t>21/08/2022</a:t>
            </a:fld>
            <a:endParaRPr lang="en-NZ"/>
          </a:p>
        </p:txBody>
      </p:sp>
      <p:sp>
        <p:nvSpPr>
          <p:cNvPr id="5" name="Footer Placeholder 4">
            <a:extLst>
              <a:ext uri="{FF2B5EF4-FFF2-40B4-BE49-F238E27FC236}">
                <a16:creationId xmlns:a16="http://schemas.microsoft.com/office/drawing/2014/main" id="{C4AE4F14-0B7C-41EB-BACA-DC96BDAA0E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8436A7D0-7AE8-44A9-9DC0-64A8C999E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3F5F76-A4EA-4926-983B-774DA82F79C6}" type="slidenum">
              <a:rPr lang="en-NZ" smtClean="0"/>
              <a:t>‹#›</a:t>
            </a:fld>
            <a:endParaRPr lang="en-NZ"/>
          </a:p>
        </p:txBody>
      </p:sp>
    </p:spTree>
    <p:extLst>
      <p:ext uri="{BB962C8B-B14F-4D97-AF65-F5344CB8AC3E}">
        <p14:creationId xmlns:p14="http://schemas.microsoft.com/office/powerpoint/2010/main" val="4192289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00.png"/><Relationship Id="rId5" Type="http://schemas.openxmlformats.org/officeDocument/2006/relationships/image" Target="../media/image290.png"/><Relationship Id="rId10" Type="http://schemas.openxmlformats.org/officeDocument/2006/relationships/image" Target="../media/image30.png"/><Relationship Id="rId4" Type="http://schemas.openxmlformats.org/officeDocument/2006/relationships/image" Target="../media/image280.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390.png"/></Relationships>
</file>

<file path=ppt/slides/_rels/slide3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30.png"/><Relationship Id="rId4" Type="http://schemas.openxmlformats.org/officeDocument/2006/relationships/image" Target="../media/image420.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0.png"/><Relationship Id="rId4" Type="http://schemas.openxmlformats.org/officeDocument/2006/relationships/image" Target="../media/image460.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www.clayford.net/statistics/tag/sum-contrasts/"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png"/><Relationship Id="rId7" Type="http://schemas.openxmlformats.org/officeDocument/2006/relationships/image" Target="../media/image68.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4.png"/><Relationship Id="rId4" Type="http://schemas.openxmlformats.org/officeDocument/2006/relationships/image" Target="../media/image63.png"/></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0.png"/><Relationship Id="rId4" Type="http://schemas.openxmlformats.org/officeDocument/2006/relationships/image" Target="../media/image721.pn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60.png"/><Relationship Id="rId5" Type="http://schemas.openxmlformats.org/officeDocument/2006/relationships/image" Target="../media/image750.png"/><Relationship Id="rId4" Type="http://schemas.openxmlformats.org/officeDocument/2006/relationships/image" Target="../media/image720.png"/></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62.xml.rels><?xml version="1.0" encoding="UTF-8" standalone="yes"?>
<Relationships xmlns="http://schemas.openxmlformats.org/package/2006/relationships"><Relationship Id="rId2" Type="http://schemas.openxmlformats.org/officeDocument/2006/relationships/hyperlink" Target="http://www.statsci.org/data/general/insulate.txt"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2.png"/><Relationship Id="rId1" Type="http://schemas.openxmlformats.org/officeDocument/2006/relationships/slideLayout" Target="../slideLayouts/slideLayout7.xml"/><Relationship Id="rId5" Type="http://schemas.openxmlformats.org/officeDocument/2006/relationships/image" Target="../media/image95.png"/><Relationship Id="rId4" Type="http://schemas.openxmlformats.org/officeDocument/2006/relationships/image" Target="../media/image94.png"/></Relationships>
</file>

<file path=ppt/slides/_rels/slide6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293 </a:t>
            </a:r>
            <a:br>
              <a:rPr kumimoji="0" lang="en-NZ" sz="3500" b="1"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Applied Statistics with R</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Chapter 3 – Permutation Testing</a:t>
            </a:r>
          </a:p>
        </p:txBody>
      </p:sp>
    </p:spTree>
    <p:extLst>
      <p:ext uri="{BB962C8B-B14F-4D97-AF65-F5344CB8AC3E}">
        <p14:creationId xmlns:p14="http://schemas.microsoft.com/office/powerpoint/2010/main" val="414180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3.1 – Introduction</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4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F2B5B-518C-316D-C09C-89FC32621B2A}"/>
              </a:ext>
            </a:extLst>
          </p:cNvPr>
          <p:cNvPicPr>
            <a:picLocks noChangeAspect="1"/>
          </p:cNvPicPr>
          <p:nvPr/>
        </p:nvPicPr>
        <p:blipFill>
          <a:blip r:embed="rId2"/>
          <a:stretch>
            <a:fillRect/>
          </a:stretch>
        </p:blipFill>
        <p:spPr>
          <a:xfrm>
            <a:off x="6660468" y="4876263"/>
            <a:ext cx="3664760" cy="1833388"/>
          </a:xfrm>
          <a:prstGeom prst="rect">
            <a:avLst/>
          </a:prstGeom>
        </p:spPr>
      </p:pic>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AE50A56B-56FB-8A3A-01BC-F58E719FAEEE}"/>
                  </a:ext>
                </a:extLst>
              </p:cNvPr>
              <p:cNvSpPr txBox="1">
                <a:spLocks/>
              </p:cNvSpPr>
              <p:nvPr/>
            </p:nvSpPr>
            <p:spPr>
              <a:xfrm>
                <a:off x="8170116" y="5891616"/>
                <a:ext cx="80915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AE50A56B-56FB-8A3A-01BC-F58E719FAEEE}"/>
                  </a:ext>
                </a:extLst>
              </p:cNvPr>
              <p:cNvSpPr txBox="1">
                <a:spLocks noRot="1" noChangeAspect="1" noMove="1" noResize="1" noEditPoints="1" noAdjustHandles="1" noChangeArrowheads="1" noChangeShapeType="1" noTextEdit="1"/>
              </p:cNvSpPr>
              <p:nvPr/>
            </p:nvSpPr>
            <p:spPr>
              <a:xfrm>
                <a:off x="8170116" y="5891616"/>
                <a:ext cx="809159" cy="398844"/>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3583496"/>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use the sample data to calculate the observed test statistic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using the formula: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sup>
                                <m:e>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sup>
                                    <m:e>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nary>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sup>
                                <m:e>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sup>
                                    <m:e>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nary>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e>
                              </m:d>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3583496"/>
                <a:ext cx="11472203" cy="1021587"/>
              </a:xfrm>
              <a:prstGeom prst="rect">
                <a:avLst/>
              </a:prstGeom>
              <a:blipFill>
                <a:blip r:embed="rId4"/>
                <a:stretch>
                  <a:fillRect l="-266" t="-1796" b="-5988"/>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251223" y="2298735"/>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C4A4FEE8-CFD1-4003-AD06-D508D11C4922}"/>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C4A4FEE8-CFD1-4003-AD06-D508D11C4922}"/>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707CDE52-52E3-4005-BDF2-6C34DD97E41D}"/>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707CDE52-52E3-4005-BDF2-6C34DD97E41D}"/>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0B023A64-E0ED-4C3C-9566-D9FAFD2E6133}"/>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1" name="Text Placeholder 5">
                <a:extLst>
                  <a:ext uri="{FF2B5EF4-FFF2-40B4-BE49-F238E27FC236}">
                    <a16:creationId xmlns:a16="http://schemas.microsoft.com/office/drawing/2014/main" id="{0B023A64-E0ED-4C3C-9566-D9FAFD2E6133}"/>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8"/>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6402FBED-F34C-4A15-91A8-0CADC18271CE}"/>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6402FBED-F34C-4A15-91A8-0CADC18271CE}"/>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9"/>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78518" y="4876263"/>
                <a:ext cx="5958508" cy="4488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If</a:t>
                </a:r>
                <a:r>
                  <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conditions are satisfied then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look to see where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lies in the distribution of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k-1 , N-k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78518" y="4876263"/>
                <a:ext cx="5958508" cy="448852"/>
              </a:xfrm>
              <a:prstGeom prst="rect">
                <a:avLst/>
              </a:prstGeom>
              <a:blipFill>
                <a:blip r:embed="rId10"/>
                <a:stretch>
                  <a:fillRect l="-614" t="-2703" b="-486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91F5E52D-05D1-4BA0-9B12-457FB8B51379}"/>
                  </a:ext>
                </a:extLst>
              </p:cNvPr>
              <p:cNvSpPr txBox="1">
                <a:spLocks/>
              </p:cNvSpPr>
              <p:nvPr/>
            </p:nvSpPr>
            <p:spPr>
              <a:xfrm>
                <a:off x="278517" y="5485575"/>
                <a:ext cx="5844778" cy="4071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particular, the p-value of the test is calculated as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d>
                    <m:r>
                      <a:rPr kumimoji="1" lang="en-NZ" altLang="ja-JP" sz="1600" b="1"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8" name="Text Placeholder 5">
                <a:extLst>
                  <a:ext uri="{FF2B5EF4-FFF2-40B4-BE49-F238E27FC236}">
                    <a16:creationId xmlns:a16="http://schemas.microsoft.com/office/drawing/2014/main" id="{91F5E52D-05D1-4BA0-9B12-457FB8B51379}"/>
                  </a:ext>
                </a:extLst>
              </p:cNvPr>
              <p:cNvSpPr txBox="1">
                <a:spLocks noRot="1" noChangeAspect="1" noMove="1" noResize="1" noEditPoints="1" noAdjustHandles="1" noChangeArrowheads="1" noChangeShapeType="1" noTextEdit="1"/>
              </p:cNvSpPr>
              <p:nvPr/>
            </p:nvSpPr>
            <p:spPr>
              <a:xfrm>
                <a:off x="278517" y="5485575"/>
                <a:ext cx="5844778" cy="407199"/>
              </a:xfrm>
              <a:prstGeom prst="rect">
                <a:avLst/>
              </a:prstGeom>
              <a:blipFill>
                <a:blip r:embed="rId11"/>
                <a:stretch>
                  <a:fillRect l="-626" t="-4478" b="-1493"/>
                </a:stretch>
              </a:blipFill>
            </p:spPr>
            <p:txBody>
              <a:bodyPr/>
              <a:lstStyle/>
              <a:p>
                <a:r>
                  <a:rPr lang="en-NZ">
                    <a:noFill/>
                  </a:rPr>
                  <a:t> </a:t>
                </a:r>
              </a:p>
            </p:txBody>
          </p:sp>
        </mc:Fallback>
      </mc:AlternateContent>
      <p:sp>
        <p:nvSpPr>
          <p:cNvPr id="39" name="Text Placeholder 5">
            <a:extLst>
              <a:ext uri="{FF2B5EF4-FFF2-40B4-BE49-F238E27FC236}">
                <a16:creationId xmlns:a16="http://schemas.microsoft.com/office/drawing/2014/main" id="{A70D6EAD-B290-4FD1-B949-1D090DBEB701}"/>
              </a:ext>
            </a:extLst>
          </p:cNvPr>
          <p:cNvSpPr txBox="1">
            <a:spLocks/>
          </p:cNvSpPr>
          <p:nvPr/>
        </p:nvSpPr>
        <p:spPr>
          <a:xfrm>
            <a:off x="251222" y="5836491"/>
            <a:ext cx="5767439" cy="78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greater the value of the observed test statistic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smaller this p-value will be and the more evidence we have against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null hypothesis.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89733653-5326-A3B7-028D-8FB5D3C37F72}"/>
                  </a:ext>
                </a:extLst>
              </p:cNvPr>
              <p:cNvSpPr txBox="1">
                <a:spLocks/>
              </p:cNvSpPr>
              <p:nvPr/>
            </p:nvSpPr>
            <p:spPr>
              <a:xfrm>
                <a:off x="8785579" y="5895228"/>
                <a:ext cx="134463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89733653-5326-A3B7-028D-8FB5D3C37F72}"/>
                  </a:ext>
                </a:extLst>
              </p:cNvPr>
              <p:cNvSpPr txBox="1">
                <a:spLocks noRot="1" noChangeAspect="1" noMove="1" noResize="1" noEditPoints="1" noAdjustHandles="1" noChangeArrowheads="1" noChangeShapeType="1" noTextEdit="1"/>
              </p:cNvSpPr>
              <p:nvPr/>
            </p:nvSpPr>
            <p:spPr>
              <a:xfrm>
                <a:off x="8785579" y="5895228"/>
                <a:ext cx="1344639" cy="398844"/>
              </a:xfrm>
              <a:prstGeom prst="rect">
                <a:avLst/>
              </a:prstGeom>
              <a:blipFill>
                <a:blip r:embed="rId12"/>
                <a:stretch>
                  <a:fillRect/>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AA0882C0-2E92-BBD9-6A8F-2C3516DCEF0A}"/>
              </a:ext>
            </a:extLst>
          </p:cNvPr>
          <p:cNvCxnSpPr>
            <a:cxnSpLocks/>
            <a:stCxn id="33" idx="2"/>
          </p:cNvCxnSpPr>
          <p:nvPr/>
        </p:nvCxnSpPr>
        <p:spPr>
          <a:xfrm flipH="1">
            <a:off x="8573858" y="6290460"/>
            <a:ext cx="838" cy="22986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9893E68C-8CA5-6D37-135C-EC63D2635A6B}"/>
                  </a:ext>
                </a:extLst>
              </p:cNvPr>
              <p:cNvSpPr txBox="1">
                <a:spLocks/>
              </p:cNvSpPr>
              <p:nvPr/>
            </p:nvSpPr>
            <p:spPr>
              <a:xfrm>
                <a:off x="7671553" y="996728"/>
                <a:ext cx="3857767" cy="1621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d>
                      <m:dPr>
                        <m:begChr m:val="["/>
                        <m:endChr m:val="]"/>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3"/>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
                            </m:e>
                          </m:mr>
                        </m:m>
                      </m:e>
                    </m:d>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9893E68C-8CA5-6D37-135C-EC63D2635A6B}"/>
                  </a:ext>
                </a:extLst>
              </p:cNvPr>
              <p:cNvSpPr txBox="1">
                <a:spLocks noRot="1" noChangeAspect="1" noMove="1" noResize="1" noEditPoints="1" noAdjustHandles="1" noChangeArrowheads="1" noChangeShapeType="1" noTextEdit="1"/>
              </p:cNvSpPr>
              <p:nvPr/>
            </p:nvSpPr>
            <p:spPr>
              <a:xfrm>
                <a:off x="7671553" y="996728"/>
                <a:ext cx="3857767" cy="1621449"/>
              </a:xfrm>
              <a:prstGeom prst="rect">
                <a:avLst/>
              </a:prstGeom>
              <a:blipFill>
                <a:blip r:embed="rId13"/>
                <a:stretch>
                  <a:fillRect/>
                </a:stretch>
              </a:blipFill>
            </p:spPr>
            <p:txBody>
              <a:bodyPr/>
              <a:lstStyle/>
              <a:p>
                <a:r>
                  <a:rPr lang="en-NZ">
                    <a:noFill/>
                  </a:rPr>
                  <a:t> </a:t>
                </a:r>
              </a:p>
            </p:txBody>
          </p:sp>
        </mc:Fallback>
      </mc:AlternateContent>
      <p:sp>
        <p:nvSpPr>
          <p:cNvPr id="36" name="Title 6">
            <a:extLst>
              <a:ext uri="{FF2B5EF4-FFF2-40B4-BE49-F238E27FC236}">
                <a16:creationId xmlns:a16="http://schemas.microsoft.com/office/drawing/2014/main" id="{9D93DD8A-385B-F933-EDF4-B3432421127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3.1a</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Introduction: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40" name="Footer Placeholder 2">
            <a:extLst>
              <a:ext uri="{FF2B5EF4-FFF2-40B4-BE49-F238E27FC236}">
                <a16:creationId xmlns:a16="http://schemas.microsoft.com/office/drawing/2014/main" id="{FA6151B5-DEF1-1C58-94AE-1FB4218F3709}"/>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3.1 – Introduction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59560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4" grpId="0"/>
      <p:bldP spid="37" grpId="0"/>
      <p:bldP spid="38" grpId="0"/>
      <p:bldP spid="39" grpId="0"/>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we are interested in whether or not the means of these groups are the same.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3" name="Footer Placeholder 2">
            <a:extLst>
              <a:ext uri="{FF2B5EF4-FFF2-40B4-BE49-F238E27FC236}">
                <a16:creationId xmlns:a16="http://schemas.microsoft.com/office/drawing/2014/main" id="{3078253B-D348-40C5-8DD3-02904A5BBB88}"/>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3.1 – Introduction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3.1a</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Introduction: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9" name="Text Placeholder 5">
            <a:extLst>
              <a:ext uri="{FF2B5EF4-FFF2-40B4-BE49-F238E27FC236}">
                <a16:creationId xmlns:a16="http://schemas.microsoft.com/office/drawing/2014/main" id="{E1DCB443-F47F-4A0A-A587-CF64CC68E3D1}"/>
              </a:ext>
            </a:extLst>
          </p:cNvPr>
          <p:cNvSpPr txBox="1">
            <a:spLocks/>
          </p:cNvSpPr>
          <p:nvPr/>
        </p:nvSpPr>
        <p:spPr>
          <a:xfrm>
            <a:off x="387193" y="3111712"/>
            <a:ext cx="11417614" cy="11286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If the ANOVA Conditions </a:t>
            </a:r>
            <a:r>
              <a:rPr lang="en-NZ" altLang="ja-JP" sz="2000" b="1" dirty="0">
                <a:solidFill>
                  <a:srgbClr val="C00000"/>
                </a:solidFill>
              </a:rPr>
              <a:t>do not hold </a:t>
            </a:r>
            <a:r>
              <a:rPr lang="en-NZ" altLang="ja-JP" sz="2000" dirty="0">
                <a:solidFill>
                  <a:schemeClr val="tx1"/>
                </a:solidFill>
              </a:rPr>
              <a:t>then although we can still calculate the F-statistic, this will no longer follow an </a:t>
            </a:r>
            <a:r>
              <a:rPr lang="en-NZ" altLang="ja-JP" sz="2000" b="1" i="1" dirty="0">
                <a:solidFill>
                  <a:schemeClr val="tx1"/>
                </a:solidFill>
              </a:rPr>
              <a:t>F</a:t>
            </a:r>
            <a:r>
              <a:rPr lang="en-NZ" altLang="ja-JP" sz="2000" b="1" i="1" baseline="-25000" dirty="0">
                <a:solidFill>
                  <a:schemeClr val="tx1"/>
                </a:solidFill>
              </a:rPr>
              <a:t>k-1 , N-k</a:t>
            </a:r>
            <a:r>
              <a:rPr lang="en-NZ" altLang="ja-JP" sz="2000" dirty="0">
                <a:solidFill>
                  <a:schemeClr val="tx1"/>
                </a:solidFill>
              </a:rPr>
              <a:t> distribution. </a:t>
            </a:r>
          </a:p>
          <a:p>
            <a:pPr algn="just">
              <a:lnSpc>
                <a:spcPct val="100000"/>
              </a:lnSpc>
            </a:pPr>
            <a:endParaRPr lang="en-NZ" altLang="ja-JP" sz="800" dirty="0">
              <a:solidFill>
                <a:schemeClr val="tx1"/>
              </a:solidFill>
            </a:endParaRPr>
          </a:p>
          <a:p>
            <a:pPr algn="just">
              <a:lnSpc>
                <a:spcPct val="100000"/>
              </a:lnSpc>
            </a:pPr>
            <a:r>
              <a:rPr lang="en-NZ" altLang="ja-JP" sz="2000" dirty="0">
                <a:solidFill>
                  <a:schemeClr val="tx1"/>
                </a:solidFill>
              </a:rPr>
              <a:t>=&gt; the p-value produced from ANOVA will be meaningless. </a:t>
            </a:r>
          </a:p>
          <a:p>
            <a:pPr algn="just">
              <a:lnSpc>
                <a:spcPct val="100000"/>
              </a:lnSpc>
            </a:pPr>
            <a:endParaRPr lang="en-NZ" altLang="ja-JP" sz="2000" i="1" dirty="0">
              <a:solidFill>
                <a:srgbClr val="C00000"/>
              </a:solidFill>
            </a:endParaRPr>
          </a:p>
        </p:txBody>
      </p:sp>
      <p:sp>
        <p:nvSpPr>
          <p:cNvPr id="20" name="Text Placeholder 5">
            <a:extLst>
              <a:ext uri="{FF2B5EF4-FFF2-40B4-BE49-F238E27FC236}">
                <a16:creationId xmlns:a16="http://schemas.microsoft.com/office/drawing/2014/main" id="{89674A2D-8E4C-4D1F-8B7B-67F311DA9891}"/>
              </a:ext>
            </a:extLst>
          </p:cNvPr>
          <p:cNvSpPr txBox="1">
            <a:spLocks/>
          </p:cNvSpPr>
          <p:nvPr/>
        </p:nvSpPr>
        <p:spPr>
          <a:xfrm>
            <a:off x="387193" y="4801318"/>
            <a:ext cx="11417614" cy="4768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dirty="0">
                <a:solidFill>
                  <a:srgbClr val="C00000"/>
                </a:solidFill>
              </a:rPr>
              <a:t>Before we do ANOVA we should </a:t>
            </a:r>
            <a:r>
              <a:rPr lang="en-NZ" altLang="ja-JP" sz="2000" b="1" u="sng" dirty="0">
                <a:solidFill>
                  <a:srgbClr val="C00000"/>
                </a:solidFill>
              </a:rPr>
              <a:t>always</a:t>
            </a:r>
            <a:r>
              <a:rPr lang="en-NZ" altLang="ja-JP" sz="2000" b="1" dirty="0">
                <a:solidFill>
                  <a:srgbClr val="C00000"/>
                </a:solidFill>
              </a:rPr>
              <a:t> check whether the ANOVA conditions are satisfied.</a:t>
            </a:r>
          </a:p>
          <a:p>
            <a:pPr algn="ctr">
              <a:lnSpc>
                <a:spcPct val="100000"/>
              </a:lnSpc>
            </a:pPr>
            <a:endParaRPr lang="en-NZ" altLang="ja-JP" sz="2000" b="1" i="1" dirty="0">
              <a:solidFill>
                <a:srgbClr val="C00000"/>
              </a:solidFill>
            </a:endParaRPr>
          </a:p>
        </p:txBody>
      </p:sp>
    </p:spTree>
    <p:extLst>
      <p:ext uri="{BB962C8B-B14F-4D97-AF65-F5344CB8AC3E}">
        <p14:creationId xmlns:p14="http://schemas.microsoft.com/office/powerpoint/2010/main" val="3675765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397269" y="1159756"/>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When conducting ANOVA, there are three basic steps to follow:</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2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FDB3B737-2C8F-4E17-9C79-082304896914}"/>
              </a:ext>
            </a:extLst>
          </p:cNvPr>
          <p:cNvSpPr txBox="1">
            <a:spLocks/>
          </p:cNvSpPr>
          <p:nvPr/>
        </p:nvSpPr>
        <p:spPr>
          <a:xfrm>
            <a:off x="518615" y="1869717"/>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1:</a:t>
            </a:r>
            <a:endPar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1DCF3750-2F2F-43CB-A19C-733F1F943023}"/>
              </a:ext>
            </a:extLst>
          </p:cNvPr>
          <p:cNvSpPr txBox="1">
            <a:spLocks/>
          </p:cNvSpPr>
          <p:nvPr/>
        </p:nvSpPr>
        <p:spPr>
          <a:xfrm>
            <a:off x="1681689" y="1869717"/>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Read in the data and obtain numeric and graphical summaries*</a:t>
            </a:r>
            <a:endParaRPr kumimoji="1" lang="ja-JP" altLang="en-NZ"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F0A94F10-E918-42BF-A159-7EAAA658C8E9}"/>
              </a:ext>
            </a:extLst>
          </p:cNvPr>
          <p:cNvSpPr txBox="1">
            <a:spLocks/>
          </p:cNvSpPr>
          <p:nvPr/>
        </p:nvSpPr>
        <p:spPr>
          <a:xfrm>
            <a:off x="518615" y="2958240"/>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2:</a:t>
            </a:r>
            <a:endPar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1" name="Text Placeholder 5">
            <a:extLst>
              <a:ext uri="{FF2B5EF4-FFF2-40B4-BE49-F238E27FC236}">
                <a16:creationId xmlns:a16="http://schemas.microsoft.com/office/drawing/2014/main" id="{B22B2866-8940-4ADF-A3F1-62F04A015991}"/>
              </a:ext>
            </a:extLst>
          </p:cNvPr>
          <p:cNvSpPr txBox="1">
            <a:spLocks/>
          </p:cNvSpPr>
          <p:nvPr/>
        </p:nvSpPr>
        <p:spPr>
          <a:xfrm>
            <a:off x="1681689" y="2958240"/>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Fit the ANOVA model and conduct hypothesis tests</a:t>
            </a:r>
            <a:endParaRPr kumimoji="1" lang="ja-JP" altLang="en-NZ"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58250026-0CD9-4950-9BBF-A30BF6522CAB}"/>
              </a:ext>
            </a:extLst>
          </p:cNvPr>
          <p:cNvSpPr txBox="1">
            <a:spLocks/>
          </p:cNvSpPr>
          <p:nvPr/>
        </p:nvSpPr>
        <p:spPr>
          <a:xfrm>
            <a:off x="518615" y="4622023"/>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3:</a:t>
            </a:r>
            <a:endPar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E8F22C3C-563C-4CB2-AB2D-4584C93231D3}"/>
              </a:ext>
            </a:extLst>
          </p:cNvPr>
          <p:cNvSpPr txBox="1">
            <a:spLocks/>
          </p:cNvSpPr>
          <p:nvPr/>
        </p:nvSpPr>
        <p:spPr>
          <a:xfrm>
            <a:off x="1681689" y="4622023"/>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Conduct post-hoc tests</a:t>
            </a:r>
            <a:endParaRPr kumimoji="1" lang="ja-JP" altLang="en-NZ"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8" name="Text Placeholder 5">
            <a:extLst>
              <a:ext uri="{FF2B5EF4-FFF2-40B4-BE49-F238E27FC236}">
                <a16:creationId xmlns:a16="http://schemas.microsoft.com/office/drawing/2014/main" id="{B0CE6CEC-CFC1-4DEC-B65C-AFDA73AA8606}"/>
              </a:ext>
            </a:extLst>
          </p:cNvPr>
          <p:cNvSpPr txBox="1">
            <a:spLocks/>
          </p:cNvSpPr>
          <p:nvPr/>
        </p:nvSpPr>
        <p:spPr>
          <a:xfrm>
            <a:off x="1681689" y="2210494"/>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Does this suggest that there may be a difference in means between some groups?</a:t>
            </a:r>
            <a:endParaRPr kumimoji="1" lang="ja-JP" altLang="en-NZ"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9" name="Text Placeholder 5">
            <a:extLst>
              <a:ext uri="{FF2B5EF4-FFF2-40B4-BE49-F238E27FC236}">
                <a16:creationId xmlns:a16="http://schemas.microsoft.com/office/drawing/2014/main" id="{75A58852-8136-4D27-A52E-E4D1FCBC91A0}"/>
              </a:ext>
            </a:extLst>
          </p:cNvPr>
          <p:cNvSpPr txBox="1">
            <a:spLocks/>
          </p:cNvSpPr>
          <p:nvPr/>
        </p:nvSpPr>
        <p:spPr>
          <a:xfrm>
            <a:off x="1681689" y="3337681"/>
            <a:ext cx="9509476" cy="7293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Estimate model coefficient values.</a:t>
            </a:r>
            <a:br>
              <a:rPr kumimoji="1" lang="en-NZ" altLang="ja-JP"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br>
            <a:r>
              <a:rPr kumimoji="1" lang="en-NZ" altLang="ja-JP"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Calculate the observed F-statistic and the associated p-value.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Does this provide evidence against the null hypothesis that all means are equal?</a:t>
            </a:r>
            <a:endParaRPr kumimoji="1" lang="ja-JP" altLang="en-NZ"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30" name="Text Placeholder 5">
            <a:extLst>
              <a:ext uri="{FF2B5EF4-FFF2-40B4-BE49-F238E27FC236}">
                <a16:creationId xmlns:a16="http://schemas.microsoft.com/office/drawing/2014/main" id="{FFE2A569-3BE4-4C09-93EF-C71A63344307}"/>
              </a:ext>
            </a:extLst>
          </p:cNvPr>
          <p:cNvSpPr txBox="1">
            <a:spLocks/>
          </p:cNvSpPr>
          <p:nvPr/>
        </p:nvSpPr>
        <p:spPr>
          <a:xfrm>
            <a:off x="1720402" y="5024491"/>
            <a:ext cx="9509476" cy="7293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If there is evidence against the null hypothesis we conduct pairwise Tukey Honestly Significant Difference Tests** to determine which groups have significantly different means.</a:t>
            </a:r>
            <a:endParaRPr kumimoji="1" lang="ja-JP" altLang="en-NZ" sz="18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31" name="Text Placeholder 5">
            <a:extLst>
              <a:ext uri="{FF2B5EF4-FFF2-40B4-BE49-F238E27FC236}">
                <a16:creationId xmlns:a16="http://schemas.microsoft.com/office/drawing/2014/main" id="{C5408F2A-CDD8-478B-937A-63B1659DA765}"/>
              </a:ext>
            </a:extLst>
          </p:cNvPr>
          <p:cNvSpPr txBox="1">
            <a:spLocks/>
          </p:cNvSpPr>
          <p:nvPr/>
        </p:nvSpPr>
        <p:spPr>
          <a:xfrm>
            <a:off x="251224" y="6308833"/>
            <a:ext cx="7200454"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Tukey HSD tests test for pairwise differences in means amongst groups in such a way that appropriate adjustments are made for multiple testing and the probability of incurring Type I errors  </a:t>
            </a:r>
            <a:endParaRPr kumimoji="1" lang="ja-JP" altLang="en-NZ" sz="12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6" name="Title 6">
            <a:extLst>
              <a:ext uri="{FF2B5EF4-FFF2-40B4-BE49-F238E27FC236}">
                <a16:creationId xmlns:a16="http://schemas.microsoft.com/office/drawing/2014/main" id="{B0B1CBB3-DDCA-CDF4-4B1D-4D941D65E8A5}"/>
              </a:ext>
            </a:extLst>
          </p:cNvPr>
          <p:cNvSpPr txBox="1">
            <a:spLocks/>
          </p:cNvSpPr>
          <p:nvPr/>
        </p:nvSpPr>
        <p:spPr>
          <a:xfrm>
            <a:off x="251225" y="237833"/>
            <a:ext cx="495975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3.1a – Introduction: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9" name="Footer Placeholder 2">
            <a:extLst>
              <a:ext uri="{FF2B5EF4-FFF2-40B4-BE49-F238E27FC236}">
                <a16:creationId xmlns:a16="http://schemas.microsoft.com/office/drawing/2014/main" id="{A8E5E847-916F-8391-EC39-54B63BCAD93C}"/>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3.1 – Introduction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14400131-A434-2ACA-78ED-555F942BC824}"/>
              </a:ext>
            </a:extLst>
          </p:cNvPr>
          <p:cNvSpPr txBox="1">
            <a:spLocks/>
          </p:cNvSpPr>
          <p:nvPr/>
        </p:nvSpPr>
        <p:spPr>
          <a:xfrm rot="20481561">
            <a:off x="9049648" y="1202308"/>
            <a:ext cx="2817349" cy="7648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a:t>
            </a:r>
            <a:r>
              <a:rPr kumimoji="1" lang="en-NZ" altLang="ja-JP" sz="1600" b="1"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nd</a:t>
            </a:r>
            <a:r>
              <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check that the ANOVA conditions are satisfied</a:t>
            </a:r>
            <a:endParaRPr kumimoji="1" lang="ja-JP" altLang="en-NZ"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407496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we are interested in whether or not the means of these groups are the same.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3" name="Footer Placeholder 2">
            <a:extLst>
              <a:ext uri="{FF2B5EF4-FFF2-40B4-BE49-F238E27FC236}">
                <a16:creationId xmlns:a16="http://schemas.microsoft.com/office/drawing/2014/main" id="{3078253B-D348-40C5-8DD3-02904A5BBB88}"/>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3.1 – Introduction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3.1a</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Introduction: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9" name="Text Placeholder 5">
            <a:extLst>
              <a:ext uri="{FF2B5EF4-FFF2-40B4-BE49-F238E27FC236}">
                <a16:creationId xmlns:a16="http://schemas.microsoft.com/office/drawing/2014/main" id="{E1DCB443-F47F-4A0A-A587-CF64CC68E3D1}"/>
              </a:ext>
            </a:extLst>
          </p:cNvPr>
          <p:cNvSpPr txBox="1">
            <a:spLocks/>
          </p:cNvSpPr>
          <p:nvPr/>
        </p:nvSpPr>
        <p:spPr>
          <a:xfrm>
            <a:off x="251221" y="2619839"/>
            <a:ext cx="11676921" cy="384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We can check whether the ANOVA conditions are satisfied by:</a:t>
            </a:r>
          </a:p>
          <a:p>
            <a:pPr>
              <a:lnSpc>
                <a:spcPct val="100000"/>
              </a:lnSpc>
            </a:pPr>
            <a:endParaRPr lang="en-NZ" altLang="ja-JP" sz="200" dirty="0">
              <a:solidFill>
                <a:schemeClr val="tx1"/>
              </a:solidFill>
            </a:endParaRPr>
          </a:p>
          <a:p>
            <a:pPr marL="1142943" lvl="1" indent="-457200">
              <a:lnSpc>
                <a:spcPct val="100000"/>
              </a:lnSpc>
              <a:buFont typeface="+mj-lt"/>
              <a:buAutoNum type="arabicPeriod"/>
            </a:pPr>
            <a:r>
              <a:rPr lang="en-NZ" altLang="ja-JP" sz="1600" b="1" dirty="0">
                <a:solidFill>
                  <a:schemeClr val="tx1"/>
                </a:solidFill>
              </a:rPr>
              <a:t>Graphical Analysis</a:t>
            </a:r>
            <a:br>
              <a:rPr lang="en-NZ" altLang="ja-JP" sz="1600" dirty="0">
                <a:solidFill>
                  <a:schemeClr val="tx1"/>
                </a:solidFill>
              </a:rPr>
            </a:br>
            <a:r>
              <a:rPr lang="en-NZ" altLang="ja-JP" sz="1600" dirty="0">
                <a:solidFill>
                  <a:schemeClr val="bg2">
                    <a:lumMod val="50000"/>
                  </a:schemeClr>
                </a:solidFill>
              </a:rPr>
              <a:t>Produce box-plots to see if the data in each group has the same variance.</a:t>
            </a:r>
            <a:br>
              <a:rPr lang="en-NZ" altLang="ja-JP" sz="1600" dirty="0">
                <a:solidFill>
                  <a:schemeClr val="bg2">
                    <a:lumMod val="50000"/>
                  </a:schemeClr>
                </a:solidFill>
              </a:rPr>
            </a:br>
            <a:r>
              <a:rPr lang="en-NZ" altLang="ja-JP" sz="1600" dirty="0">
                <a:solidFill>
                  <a:schemeClr val="bg2">
                    <a:lumMod val="50000"/>
                  </a:schemeClr>
                </a:solidFill>
              </a:rPr>
              <a:t>Produce histograms to see if the data in each group is normally distributed</a:t>
            </a:r>
            <a:r>
              <a:rPr lang="en-NZ" altLang="ja-JP" sz="1600" dirty="0">
                <a:solidFill>
                  <a:schemeClr val="tx1"/>
                </a:solidFill>
              </a:rPr>
              <a:t>.</a:t>
            </a:r>
            <a:br>
              <a:rPr lang="en-NZ" altLang="ja-JP" sz="1600" dirty="0">
                <a:solidFill>
                  <a:schemeClr val="tx1"/>
                </a:solidFill>
              </a:rPr>
            </a:br>
            <a:endParaRPr lang="en-NZ" altLang="ja-JP" sz="1600" dirty="0">
              <a:solidFill>
                <a:schemeClr val="tx1"/>
              </a:solidFill>
            </a:endParaRPr>
          </a:p>
          <a:p>
            <a:pPr marL="1142943" lvl="1" indent="-457200">
              <a:lnSpc>
                <a:spcPct val="100000"/>
              </a:lnSpc>
              <a:buFont typeface="+mj-lt"/>
              <a:buAutoNum type="arabicPeriod"/>
            </a:pPr>
            <a:r>
              <a:rPr lang="en-NZ" altLang="ja-JP" sz="1600" b="1" dirty="0"/>
              <a:t>Numerical Analysis</a:t>
            </a:r>
            <a:br>
              <a:rPr lang="en-NZ" altLang="ja-JP" sz="1600" dirty="0"/>
            </a:br>
            <a:r>
              <a:rPr lang="en-NZ" altLang="ja-JP" sz="1600" dirty="0">
                <a:solidFill>
                  <a:schemeClr val="bg2">
                    <a:lumMod val="50000"/>
                  </a:schemeClr>
                </a:solidFill>
              </a:rPr>
              <a:t>Calculate the standard deviation of the sample data in each group to assess whether variance is the same across groups.</a:t>
            </a:r>
            <a:br>
              <a:rPr lang="en-NZ" altLang="ja-JP" sz="1600" dirty="0">
                <a:solidFill>
                  <a:schemeClr val="bg2">
                    <a:lumMod val="50000"/>
                  </a:schemeClr>
                </a:solidFill>
              </a:rPr>
            </a:br>
            <a:endParaRPr lang="en-NZ" altLang="ja-JP" sz="1600" dirty="0"/>
          </a:p>
          <a:p>
            <a:pPr marL="1142943" lvl="1" indent="-457200">
              <a:lnSpc>
                <a:spcPct val="100000"/>
              </a:lnSpc>
              <a:buFont typeface="+mj-lt"/>
              <a:buAutoNum type="arabicPeriod"/>
            </a:pPr>
            <a:r>
              <a:rPr lang="en-NZ" altLang="ja-JP" sz="1600" b="1" dirty="0">
                <a:solidFill>
                  <a:schemeClr val="tx1"/>
                </a:solidFill>
              </a:rPr>
              <a:t>Residual Analysis</a:t>
            </a:r>
            <a:br>
              <a:rPr lang="en-NZ" altLang="ja-JP" sz="1600" dirty="0">
                <a:solidFill>
                  <a:schemeClr val="tx1"/>
                </a:solidFill>
              </a:rPr>
            </a:br>
            <a:r>
              <a:rPr lang="en-NZ" altLang="ja-JP" sz="1600" dirty="0">
                <a:solidFill>
                  <a:schemeClr val="bg2">
                    <a:lumMod val="50000"/>
                  </a:schemeClr>
                </a:solidFill>
              </a:rPr>
              <a:t>Residual vs Fitted Value Plots can be used to assess whether the data in each group has the same variance.</a:t>
            </a:r>
            <a:br>
              <a:rPr lang="en-NZ" altLang="ja-JP" sz="1600" dirty="0">
                <a:solidFill>
                  <a:schemeClr val="bg2">
                    <a:lumMod val="50000"/>
                  </a:schemeClr>
                </a:solidFill>
              </a:rPr>
            </a:br>
            <a:r>
              <a:rPr lang="en-NZ" altLang="ja-JP" sz="1600" dirty="0">
                <a:solidFill>
                  <a:schemeClr val="bg2">
                    <a:lumMod val="50000"/>
                  </a:schemeClr>
                </a:solidFill>
              </a:rPr>
              <a:t>QQ-Plots can be used to assess whether the data in each group is normally distributed.</a:t>
            </a:r>
            <a:br>
              <a:rPr lang="en-NZ" altLang="ja-JP" sz="1600" dirty="0">
                <a:solidFill>
                  <a:schemeClr val="tx1"/>
                </a:solidFill>
              </a:rPr>
            </a:br>
            <a:endParaRPr lang="en-NZ" altLang="ja-JP" sz="1600" dirty="0">
              <a:solidFill>
                <a:schemeClr val="tx1"/>
              </a:solidFill>
            </a:endParaRPr>
          </a:p>
          <a:p>
            <a:pPr marL="1142943" lvl="1" indent="-457200">
              <a:lnSpc>
                <a:spcPct val="100000"/>
              </a:lnSpc>
              <a:buFont typeface="+mj-lt"/>
              <a:buAutoNum type="arabicPeriod"/>
            </a:pPr>
            <a:r>
              <a:rPr lang="en-NZ" altLang="ja-JP" sz="1600" b="1" dirty="0"/>
              <a:t>Statistical Tests</a:t>
            </a:r>
            <a:br>
              <a:rPr lang="en-NZ" altLang="ja-JP" sz="1600" dirty="0"/>
            </a:br>
            <a:r>
              <a:rPr lang="en-NZ" altLang="ja-JP" sz="1600" dirty="0" err="1">
                <a:solidFill>
                  <a:schemeClr val="bg2">
                    <a:lumMod val="50000"/>
                  </a:schemeClr>
                </a:solidFill>
              </a:rPr>
              <a:t>Levene’s</a:t>
            </a:r>
            <a:r>
              <a:rPr lang="en-NZ" altLang="ja-JP" sz="1600" dirty="0">
                <a:solidFill>
                  <a:schemeClr val="bg2">
                    <a:lumMod val="50000"/>
                  </a:schemeClr>
                </a:solidFill>
              </a:rPr>
              <a:t> test can be used to </a:t>
            </a:r>
            <a:r>
              <a:rPr lang="en-NZ" altLang="ja-JP" sz="1600" dirty="0" err="1">
                <a:solidFill>
                  <a:schemeClr val="bg2">
                    <a:lumMod val="50000"/>
                  </a:schemeClr>
                </a:solidFill>
              </a:rPr>
              <a:t>to</a:t>
            </a:r>
            <a:r>
              <a:rPr lang="en-NZ" altLang="ja-JP" sz="1600" dirty="0">
                <a:solidFill>
                  <a:schemeClr val="bg2">
                    <a:lumMod val="50000"/>
                  </a:schemeClr>
                </a:solidFill>
              </a:rPr>
              <a:t> assess whether the data in each group has the same variance.</a:t>
            </a:r>
            <a:br>
              <a:rPr lang="en-NZ" altLang="ja-JP" sz="1600" dirty="0">
                <a:solidFill>
                  <a:schemeClr val="tx1"/>
                </a:solidFill>
              </a:rPr>
            </a:br>
            <a:endParaRPr lang="en-NZ" altLang="ja-JP" sz="1600" dirty="0">
              <a:solidFill>
                <a:schemeClr val="tx1"/>
              </a:solidFill>
            </a:endParaRPr>
          </a:p>
          <a:p>
            <a:pPr marL="1142943" lvl="1" indent="-457200">
              <a:lnSpc>
                <a:spcPct val="100000"/>
              </a:lnSpc>
              <a:buFont typeface="+mj-lt"/>
              <a:buAutoNum type="arabicPeriod"/>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Tree>
    <p:extLst>
      <p:ext uri="{BB962C8B-B14F-4D97-AF65-F5344CB8AC3E}">
        <p14:creationId xmlns:p14="http://schemas.microsoft.com/office/powerpoint/2010/main" val="80513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3.2 – Checking the ANOVA Conditions</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288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976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group of researchers are interested in whether the IQs of students studying different degrees differ. They take a sample of 1,000 Art, Biology, Chemistry, Philosophy and Statistics students and make them sit an IQ test. The data pertaining to these tests is contained in the csv file entitled ‘IQ Tests (All Subjects)’. </a:t>
            </a:r>
            <a:endPar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6" name="Table 5">
            <a:extLst>
              <a:ext uri="{FF2B5EF4-FFF2-40B4-BE49-F238E27FC236}">
                <a16:creationId xmlns:a16="http://schemas.microsoft.com/office/drawing/2014/main" id="{28393A69-0B7A-48CE-AB17-94E0C54FF37F}"/>
              </a:ext>
            </a:extLst>
          </p:cNvPr>
          <p:cNvGraphicFramePr>
            <a:graphicFrameLocks noGrp="1"/>
          </p:cNvGraphicFramePr>
          <p:nvPr/>
        </p:nvGraphicFramePr>
        <p:xfrm>
          <a:off x="532263" y="2003698"/>
          <a:ext cx="5112130" cy="4457700"/>
        </p:xfrm>
        <a:graphic>
          <a:graphicData uri="http://schemas.openxmlformats.org/drawingml/2006/table">
            <a:tbl>
              <a:tblPr/>
              <a:tblGrid>
                <a:gridCol w="839953">
                  <a:extLst>
                    <a:ext uri="{9D8B030D-6E8A-4147-A177-3AD203B41FA5}">
                      <a16:colId xmlns:a16="http://schemas.microsoft.com/office/drawing/2014/main" val="2290176556"/>
                    </a:ext>
                  </a:extLst>
                </a:gridCol>
                <a:gridCol w="696463">
                  <a:extLst>
                    <a:ext uri="{9D8B030D-6E8A-4147-A177-3AD203B41FA5}">
                      <a16:colId xmlns:a16="http://schemas.microsoft.com/office/drawing/2014/main" val="2815517956"/>
                    </a:ext>
                  </a:extLst>
                </a:gridCol>
                <a:gridCol w="887105">
                  <a:extLst>
                    <a:ext uri="{9D8B030D-6E8A-4147-A177-3AD203B41FA5}">
                      <a16:colId xmlns:a16="http://schemas.microsoft.com/office/drawing/2014/main" val="1903702345"/>
                    </a:ext>
                  </a:extLst>
                </a:gridCol>
                <a:gridCol w="968991">
                  <a:extLst>
                    <a:ext uri="{9D8B030D-6E8A-4147-A177-3AD203B41FA5}">
                      <a16:colId xmlns:a16="http://schemas.microsoft.com/office/drawing/2014/main" val="810638113"/>
                    </a:ext>
                  </a:extLst>
                </a:gridCol>
                <a:gridCol w="928048">
                  <a:extLst>
                    <a:ext uri="{9D8B030D-6E8A-4147-A177-3AD203B41FA5}">
                      <a16:colId xmlns:a16="http://schemas.microsoft.com/office/drawing/2014/main" val="857308638"/>
                    </a:ext>
                  </a:extLst>
                </a:gridCol>
                <a:gridCol w="791570">
                  <a:extLst>
                    <a:ext uri="{9D8B030D-6E8A-4147-A177-3AD203B41FA5}">
                      <a16:colId xmlns:a16="http://schemas.microsoft.com/office/drawing/2014/main" val="4138880677"/>
                    </a:ext>
                  </a:extLst>
                </a:gridCol>
              </a:tblGrid>
              <a:tr h="201578">
                <a:tc>
                  <a:txBody>
                    <a:bodyPr/>
                    <a:lstStyle/>
                    <a:p>
                      <a:pPr algn="ctr" fontAlgn="b"/>
                      <a:r>
                        <a:rPr lang="en-NZ" sz="1400" b="1" i="0" u="none" strike="noStrike">
                          <a:solidFill>
                            <a:srgbClr val="FFFFFF"/>
                          </a:solidFill>
                          <a:effectLst/>
                          <a:latin typeface="Calibri" panose="020F0502020204030204" pitchFamily="34" charset="0"/>
                        </a:rPr>
                        <a:t>Student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Art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273914221"/>
                  </a:ext>
                </a:extLst>
              </a:tr>
              <a:tr h="201578">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90940709"/>
                  </a:ext>
                </a:extLst>
              </a:tr>
              <a:tr h="201578">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11734305"/>
                  </a:ext>
                </a:extLst>
              </a:tr>
              <a:tr h="201578">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35157223"/>
                  </a:ext>
                </a:extLst>
              </a:tr>
              <a:tr h="201578">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70711240"/>
                  </a:ext>
                </a:extLst>
              </a:tr>
              <a:tr h="201578">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69988802"/>
                  </a:ext>
                </a:extLst>
              </a:tr>
              <a:tr h="201578">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91709888"/>
                  </a:ext>
                </a:extLst>
              </a:tr>
              <a:tr h="201578">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32494788"/>
                  </a:ext>
                </a:extLst>
              </a:tr>
              <a:tr h="201578">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7758159"/>
                  </a:ext>
                </a:extLst>
              </a:tr>
              <a:tr h="201578">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880423"/>
                  </a:ext>
                </a:extLst>
              </a:tr>
              <a:tr h="201578">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32983865"/>
                  </a:ext>
                </a:extLst>
              </a:tr>
              <a:tr h="201578">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2414132"/>
                  </a:ext>
                </a:extLst>
              </a:tr>
              <a:tr h="201578">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42805783"/>
                  </a:ext>
                </a:extLst>
              </a:tr>
              <a:tr h="201578">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07454382"/>
                  </a:ext>
                </a:extLst>
              </a:tr>
              <a:tr h="201578">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33894883"/>
                  </a:ext>
                </a:extLst>
              </a:tr>
              <a:tr h="201578">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82969852"/>
                  </a:ext>
                </a:extLst>
              </a:tr>
              <a:tr h="201578">
                <a:tc>
                  <a:txBody>
                    <a:bodyPr/>
                    <a:lstStyle/>
                    <a:p>
                      <a:pPr algn="ctr" fontAlgn="b"/>
                      <a:r>
                        <a:rPr lang="en-NZ" sz="14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54645854"/>
                  </a:ext>
                </a:extLst>
              </a:tr>
              <a:tr h="201578">
                <a:tc>
                  <a:txBody>
                    <a:bodyPr/>
                    <a:lstStyle/>
                    <a:p>
                      <a:pPr algn="ctr" fontAlgn="b"/>
                      <a:r>
                        <a:rPr lang="en-NZ" sz="14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206710553"/>
                  </a:ext>
                </a:extLst>
              </a:tr>
              <a:tr h="201578">
                <a:tc>
                  <a:txBody>
                    <a:bodyPr/>
                    <a:lstStyle/>
                    <a:p>
                      <a:pPr algn="ctr" fontAlgn="b"/>
                      <a:r>
                        <a:rPr lang="en-NZ" sz="14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914487"/>
                  </a:ext>
                </a:extLst>
              </a:tr>
              <a:tr h="201578">
                <a:tc>
                  <a:txBody>
                    <a:bodyPr/>
                    <a:lstStyle/>
                    <a:p>
                      <a:pPr algn="ctr" fontAlgn="b"/>
                      <a:r>
                        <a:rPr lang="en-NZ"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374082989"/>
                  </a:ext>
                </a:extLst>
              </a:tr>
            </a:tbl>
          </a:graphicData>
        </a:graphic>
      </p:graphicFrame>
      <p:sp>
        <p:nvSpPr>
          <p:cNvPr id="16" name="Text Placeholder 5">
            <a:extLst>
              <a:ext uri="{FF2B5EF4-FFF2-40B4-BE49-F238E27FC236}">
                <a16:creationId xmlns:a16="http://schemas.microsoft.com/office/drawing/2014/main" id="{FA4ED09E-B65D-4B75-AD86-D0367FBE8184}"/>
              </a:ext>
            </a:extLst>
          </p:cNvPr>
          <p:cNvSpPr txBox="1">
            <a:spLocks/>
          </p:cNvSpPr>
          <p:nvPr/>
        </p:nvSpPr>
        <p:spPr>
          <a:xfrm>
            <a:off x="5883322" y="2062037"/>
            <a:ext cx="5405650" cy="4371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snapshot of the results is shown adjacent.</a:t>
            </a:r>
            <a:endPar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74B00F12-81CA-4C21-8561-E5E7397B758E}"/>
              </a:ext>
            </a:extLst>
          </p:cNvPr>
          <p:cNvSpPr txBox="1">
            <a:spLocks/>
          </p:cNvSpPr>
          <p:nvPr/>
        </p:nvSpPr>
        <p:spPr>
          <a:xfrm>
            <a:off x="5883322" y="2653096"/>
            <a:ext cx="5405650"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 students studying different degrees have different mean IQs?</a:t>
            </a:r>
            <a:endPar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3.2 – Student IQ Tests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3831453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976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power company have 5 </a:t>
            </a:r>
            <a:r>
              <a:rPr lang="en-NZ" altLang="ja-JP" sz="1800" dirty="0">
                <a:solidFill>
                  <a:srgbClr val="C00000"/>
                </a:solidFill>
                <a:latin typeface="Calibri" panose="020F0502020204030204"/>
                <a:ea typeface="游ゴシック" panose="020B0400000000000000" pitchFamily="34" charset="-128"/>
              </a:rPr>
              <a:t>regional call centres across NZ (A = Northland, B = Auckland, C = Central &amp; Wellington, </a:t>
            </a:r>
            <a:br>
              <a:rPr lang="en-NZ" altLang="ja-JP" sz="1800" dirty="0">
                <a:solidFill>
                  <a:srgbClr val="C00000"/>
                </a:solidFill>
                <a:latin typeface="Calibri" panose="020F0502020204030204"/>
                <a:ea typeface="游ゴシック" panose="020B0400000000000000" pitchFamily="34" charset="-128"/>
              </a:rPr>
            </a:br>
            <a:r>
              <a:rPr lang="en-NZ" altLang="ja-JP" sz="1800" dirty="0">
                <a:solidFill>
                  <a:srgbClr val="C00000"/>
                </a:solidFill>
                <a:latin typeface="Calibri" panose="020F0502020204030204"/>
                <a:ea typeface="游ゴシック" panose="020B0400000000000000" pitchFamily="34" charset="-128"/>
              </a:rPr>
              <a:t>D = Canterbury, E = Southern). The time (in minutes) between incoming calls at each of the call centres is recorded in the csv entitled ‘Call Centre Data’.</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FA4ED09E-B65D-4B75-AD86-D0367FBE8184}"/>
              </a:ext>
            </a:extLst>
          </p:cNvPr>
          <p:cNvSpPr txBox="1">
            <a:spLocks/>
          </p:cNvSpPr>
          <p:nvPr/>
        </p:nvSpPr>
        <p:spPr>
          <a:xfrm>
            <a:off x="5883322" y="2062037"/>
            <a:ext cx="5405650" cy="4371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snapshot of the results is shown adjacent.</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74B00F12-81CA-4C21-8561-E5E7397B758E}"/>
              </a:ext>
            </a:extLst>
          </p:cNvPr>
          <p:cNvSpPr txBox="1">
            <a:spLocks/>
          </p:cNvSpPr>
          <p:nvPr/>
        </p:nvSpPr>
        <p:spPr>
          <a:xfrm>
            <a:off x="5883322" y="2653096"/>
            <a:ext cx="5405650"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Does the mean time between calls differ across call centres?</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3.2 – Incoming Calls to a Call Centre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graphicFrame>
        <p:nvGraphicFramePr>
          <p:cNvPr id="2" name="Table 1">
            <a:extLst>
              <a:ext uri="{FF2B5EF4-FFF2-40B4-BE49-F238E27FC236}">
                <a16:creationId xmlns:a16="http://schemas.microsoft.com/office/drawing/2014/main" id="{034A0E5B-0746-4936-AAD5-2A4FFB1AEB39}"/>
              </a:ext>
            </a:extLst>
          </p:cNvPr>
          <p:cNvGraphicFramePr>
            <a:graphicFrameLocks noGrp="1"/>
          </p:cNvGraphicFramePr>
          <p:nvPr>
            <p:extLst>
              <p:ext uri="{D42A27DB-BD31-4B8C-83A1-F6EECF244321}">
                <p14:modId xmlns:p14="http://schemas.microsoft.com/office/powerpoint/2010/main" val="3511843269"/>
              </p:ext>
            </p:extLst>
          </p:nvPr>
        </p:nvGraphicFramePr>
        <p:xfrm>
          <a:off x="409433" y="1952538"/>
          <a:ext cx="5359402" cy="4457700"/>
        </p:xfrm>
        <a:graphic>
          <a:graphicData uri="http://schemas.openxmlformats.org/drawingml/2006/table">
            <a:tbl>
              <a:tblPr/>
              <a:tblGrid>
                <a:gridCol w="982639">
                  <a:extLst>
                    <a:ext uri="{9D8B030D-6E8A-4147-A177-3AD203B41FA5}">
                      <a16:colId xmlns:a16="http://schemas.microsoft.com/office/drawing/2014/main" val="1881419191"/>
                    </a:ext>
                  </a:extLst>
                </a:gridCol>
                <a:gridCol w="846161">
                  <a:extLst>
                    <a:ext uri="{9D8B030D-6E8A-4147-A177-3AD203B41FA5}">
                      <a16:colId xmlns:a16="http://schemas.microsoft.com/office/drawing/2014/main" val="1794385830"/>
                    </a:ext>
                  </a:extLst>
                </a:gridCol>
                <a:gridCol w="805218">
                  <a:extLst>
                    <a:ext uri="{9D8B030D-6E8A-4147-A177-3AD203B41FA5}">
                      <a16:colId xmlns:a16="http://schemas.microsoft.com/office/drawing/2014/main" val="1730539770"/>
                    </a:ext>
                  </a:extLst>
                </a:gridCol>
                <a:gridCol w="897666">
                  <a:extLst>
                    <a:ext uri="{9D8B030D-6E8A-4147-A177-3AD203B41FA5}">
                      <a16:colId xmlns:a16="http://schemas.microsoft.com/office/drawing/2014/main" val="1828717014"/>
                    </a:ext>
                  </a:extLst>
                </a:gridCol>
                <a:gridCol w="913859">
                  <a:extLst>
                    <a:ext uri="{9D8B030D-6E8A-4147-A177-3AD203B41FA5}">
                      <a16:colId xmlns:a16="http://schemas.microsoft.com/office/drawing/2014/main" val="145939037"/>
                    </a:ext>
                  </a:extLst>
                </a:gridCol>
                <a:gridCol w="913859">
                  <a:extLst>
                    <a:ext uri="{9D8B030D-6E8A-4147-A177-3AD203B41FA5}">
                      <a16:colId xmlns:a16="http://schemas.microsoft.com/office/drawing/2014/main" val="974907179"/>
                    </a:ext>
                  </a:extLst>
                </a:gridCol>
              </a:tblGrid>
              <a:tr h="190500">
                <a:tc>
                  <a:txBody>
                    <a:bodyPr/>
                    <a:lstStyle/>
                    <a:p>
                      <a:pPr algn="ctr" fontAlgn="b"/>
                      <a:r>
                        <a:rPr lang="en-NZ" sz="1400" b="1" i="0" u="none" strike="noStrike">
                          <a:solidFill>
                            <a:srgbClr val="FFFFFF"/>
                          </a:solidFill>
                          <a:effectLst/>
                          <a:latin typeface="Calibri" panose="020F0502020204030204" pitchFamily="34" charset="0"/>
                        </a:rPr>
                        <a:t>Observation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C</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2915485821"/>
                  </a:ext>
                </a:extLst>
              </a:tr>
              <a:tr h="190500">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858977554"/>
                  </a:ext>
                </a:extLst>
              </a:tr>
              <a:tr h="190500">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840562293"/>
                  </a:ext>
                </a:extLst>
              </a:tr>
              <a:tr h="190500">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472515988"/>
                  </a:ext>
                </a:extLst>
              </a:tr>
              <a:tr h="190500">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684198130"/>
                  </a:ext>
                </a:extLst>
              </a:tr>
              <a:tr h="190500">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189648697"/>
                  </a:ext>
                </a:extLst>
              </a:tr>
              <a:tr h="190500">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06181215"/>
                  </a:ext>
                </a:extLst>
              </a:tr>
              <a:tr h="190500">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756557635"/>
                  </a:ext>
                </a:extLst>
              </a:tr>
              <a:tr h="190500">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118516937"/>
                  </a:ext>
                </a:extLst>
              </a:tr>
              <a:tr h="190500">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24949901"/>
                  </a:ext>
                </a:extLst>
              </a:tr>
              <a:tr h="190500">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088995092"/>
                  </a:ext>
                </a:extLst>
              </a:tr>
              <a:tr h="190500">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64890743"/>
                  </a:ext>
                </a:extLst>
              </a:tr>
              <a:tr h="190500">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1.58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0.59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54950324"/>
                  </a:ext>
                </a:extLst>
              </a:tr>
              <a:tr h="190500">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971146523"/>
                  </a:ext>
                </a:extLst>
              </a:tr>
              <a:tr h="190500">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4180561252"/>
                  </a:ext>
                </a:extLst>
              </a:tr>
              <a:tr h="190500">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13.20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897360263"/>
                  </a:ext>
                </a:extLst>
              </a:tr>
              <a:tr h="190500">
                <a:tc>
                  <a:txBody>
                    <a:bodyPr/>
                    <a:lstStyle/>
                    <a:p>
                      <a:pPr algn="ctr" fontAlgn="b"/>
                      <a:r>
                        <a:rPr lang="en-NZ" sz="14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427871428"/>
                  </a:ext>
                </a:extLst>
              </a:tr>
              <a:tr h="190500">
                <a:tc>
                  <a:txBody>
                    <a:bodyPr/>
                    <a:lstStyle/>
                    <a:p>
                      <a:pPr algn="ctr" fontAlgn="b"/>
                      <a:r>
                        <a:rPr lang="en-NZ" sz="14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90392509"/>
                  </a:ext>
                </a:extLst>
              </a:tr>
              <a:tr h="190500">
                <a:tc>
                  <a:txBody>
                    <a:bodyPr/>
                    <a:lstStyle/>
                    <a:p>
                      <a:pPr algn="ctr" fontAlgn="b"/>
                      <a:r>
                        <a:rPr lang="en-NZ" sz="14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077150401"/>
                  </a:ext>
                </a:extLst>
              </a:tr>
              <a:tr h="190500">
                <a:tc>
                  <a:txBody>
                    <a:bodyPr/>
                    <a:lstStyle/>
                    <a:p>
                      <a:pPr algn="ctr" fontAlgn="b"/>
                      <a:r>
                        <a:rPr lang="en-NZ"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dirty="0">
                          <a:solidFill>
                            <a:srgbClr val="000000"/>
                          </a:solidFill>
                          <a:effectLst/>
                          <a:latin typeface="Calibri" panose="020F0502020204030204" pitchFamily="34" charset="0"/>
                        </a:rPr>
                        <a:t>0.74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255895289"/>
                  </a:ext>
                </a:extLst>
              </a:tr>
            </a:tbl>
          </a:graphicData>
        </a:graphic>
      </p:graphicFrame>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837531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Title 6">
            <a:extLst>
              <a:ext uri="{FF2B5EF4-FFF2-40B4-BE49-F238E27FC236}">
                <a16:creationId xmlns:a16="http://schemas.microsoft.com/office/drawing/2014/main" id="{F5E9E232-3F8F-88FC-0B2F-9A7E2B19A441}"/>
              </a:ext>
            </a:extLst>
          </p:cNvPr>
          <p:cNvSpPr txBox="1">
            <a:spLocks/>
          </p:cNvSpPr>
          <p:nvPr/>
        </p:nvSpPr>
        <p:spPr>
          <a:xfrm>
            <a:off x="2011786" y="3125400"/>
            <a:ext cx="8168429" cy="607201"/>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lang="en-US" altLang="ja-JP" sz="4500" b="1" dirty="0">
                <a:solidFill>
                  <a:prstClr val="black"/>
                </a:solidFill>
                <a:latin typeface="Calibri" panose="020F0502020204030204"/>
                <a:ea typeface="游ゴシック Light" panose="020B0300000000000000" pitchFamily="34" charset="-128"/>
              </a:rPr>
              <a:t>3.2a</a:t>
            </a:r>
            <a:r>
              <a:rPr kumimoji="1" lang="en-US" altLang="ja-JP"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Graphical Analysis</a:t>
            </a:r>
            <a:endParaRPr kumimoji="1" lang="ja-JP" altLang="en-US"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1063169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29106E8-F9B8-48F8-AB40-CF39A243A215}"/>
              </a:ext>
            </a:extLst>
          </p:cNvPr>
          <p:cNvPicPr>
            <a:picLocks noChangeAspect="1"/>
          </p:cNvPicPr>
          <p:nvPr/>
        </p:nvPicPr>
        <p:blipFill>
          <a:blip r:embed="rId2"/>
          <a:stretch>
            <a:fillRect/>
          </a:stretch>
        </p:blipFill>
        <p:spPr>
          <a:xfrm>
            <a:off x="6850162" y="2027585"/>
            <a:ext cx="4136286" cy="3646137"/>
          </a:xfrm>
          <a:prstGeom prst="rect">
            <a:avLst/>
          </a:prstGeom>
        </p:spPr>
      </p:pic>
      <p:pic>
        <p:nvPicPr>
          <p:cNvPr id="10" name="Picture 9">
            <a:extLst>
              <a:ext uri="{FF2B5EF4-FFF2-40B4-BE49-F238E27FC236}">
                <a16:creationId xmlns:a16="http://schemas.microsoft.com/office/drawing/2014/main" id="{1C0D9FC5-9E55-4629-83AF-FBF14EAAF683}"/>
              </a:ext>
            </a:extLst>
          </p:cNvPr>
          <p:cNvPicPr>
            <a:picLocks noChangeAspect="1"/>
          </p:cNvPicPr>
          <p:nvPr/>
        </p:nvPicPr>
        <p:blipFill>
          <a:blip r:embed="rId3"/>
          <a:stretch>
            <a:fillRect/>
          </a:stretch>
        </p:blipFill>
        <p:spPr>
          <a:xfrm>
            <a:off x="668149" y="2027585"/>
            <a:ext cx="3986163" cy="3678536"/>
          </a:xfrm>
          <a:prstGeom prst="rect">
            <a:avLst/>
          </a:prstGeom>
        </p:spPr>
      </p:pic>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861539"/>
            <a:ext cx="11232109" cy="8565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Box-plots and histograms are useful ways to help identify whether:</a:t>
            </a:r>
          </a:p>
          <a:p>
            <a:pPr marL="1085793" lvl="1" indent="-400050" algn="just">
              <a:lnSpc>
                <a:spcPct val="100000"/>
              </a:lnSpc>
              <a:spcBef>
                <a:spcPts val="0"/>
              </a:spcBef>
              <a:buFont typeface="+mj-lt"/>
              <a:buAutoNum type="romanUcPeriod"/>
              <a:defRPr/>
            </a:pPr>
            <a:r>
              <a:rPr lang="en-NZ" altLang="ja-JP" sz="1700" dirty="0">
                <a:solidFill>
                  <a:prstClr val="black"/>
                </a:solidFill>
                <a:latin typeface="Calibri" panose="020F0502020204030204"/>
                <a:ea typeface="游ゴシック" panose="020B0400000000000000" pitchFamily="34" charset="-128"/>
              </a:rPr>
              <a:t>The data within each group has non-constant variance</a:t>
            </a:r>
          </a:p>
          <a:p>
            <a:pPr marL="1085793" lvl="1" indent="-400050" algn="just">
              <a:lnSpc>
                <a:spcPct val="100000"/>
              </a:lnSpc>
              <a:spcBef>
                <a:spcPts val="0"/>
              </a:spcBef>
              <a:buFont typeface="+mj-lt"/>
              <a:buAutoNum type="romanUcPeriod"/>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data within each group obviously does not come from a normal distribution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3.2a</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Graphical Analysis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32B91F64-3E5D-4662-9B5D-10CFD49C4681}"/>
              </a:ext>
            </a:extLst>
          </p:cNvPr>
          <p:cNvPicPr>
            <a:picLocks noChangeAspect="1"/>
          </p:cNvPicPr>
          <p:nvPr/>
        </p:nvPicPr>
        <p:blipFill>
          <a:blip r:embed="rId4"/>
          <a:stretch>
            <a:fillRect/>
          </a:stretch>
        </p:blipFill>
        <p:spPr>
          <a:xfrm>
            <a:off x="171450" y="5430721"/>
            <a:ext cx="5924550" cy="1104900"/>
          </a:xfrm>
          <a:prstGeom prst="rect">
            <a:avLst/>
          </a:prstGeom>
        </p:spPr>
      </p:pic>
      <p:pic>
        <p:nvPicPr>
          <p:cNvPr id="5" name="Picture 4">
            <a:extLst>
              <a:ext uri="{FF2B5EF4-FFF2-40B4-BE49-F238E27FC236}">
                <a16:creationId xmlns:a16="http://schemas.microsoft.com/office/drawing/2014/main" id="{D1178374-FE94-4827-B80A-BF8801443DE7}"/>
              </a:ext>
            </a:extLst>
          </p:cNvPr>
          <p:cNvPicPr>
            <a:picLocks noChangeAspect="1"/>
          </p:cNvPicPr>
          <p:nvPr/>
        </p:nvPicPr>
        <p:blipFill>
          <a:blip r:embed="rId5"/>
          <a:stretch>
            <a:fillRect/>
          </a:stretch>
        </p:blipFill>
        <p:spPr>
          <a:xfrm>
            <a:off x="6225815" y="5430721"/>
            <a:ext cx="5886450" cy="1104900"/>
          </a:xfrm>
          <a:prstGeom prst="rect">
            <a:avLst/>
          </a:prstGeom>
        </p:spPr>
      </p:pic>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7085DA84-2904-4D37-BD97-BD5888C2DF08}"/>
              </a:ext>
            </a:extLst>
          </p:cNvPr>
          <p:cNvSpPr txBox="1">
            <a:spLocks/>
          </p:cNvSpPr>
          <p:nvPr/>
        </p:nvSpPr>
        <p:spPr>
          <a:xfrm>
            <a:off x="1064527" y="1816829"/>
            <a:ext cx="3484728"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IQ Data </a:t>
            </a:r>
            <a:b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Constant variance between groups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0081F8BD-CF4A-4A93-8C4D-F40A610E94ED}"/>
              </a:ext>
            </a:extLst>
          </p:cNvPr>
          <p:cNvSpPr txBox="1">
            <a:spLocks/>
          </p:cNvSpPr>
          <p:nvPr/>
        </p:nvSpPr>
        <p:spPr>
          <a:xfrm>
            <a:off x="7141310" y="1816829"/>
            <a:ext cx="3986163"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Call Centre Data</a:t>
            </a:r>
            <a:b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Non-Constant variance between groups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8" name="Text Placeholder 5">
            <a:extLst>
              <a:ext uri="{FF2B5EF4-FFF2-40B4-BE49-F238E27FC236}">
                <a16:creationId xmlns:a16="http://schemas.microsoft.com/office/drawing/2014/main" id="{4D0AE892-C686-456B-AB82-61F10CC7F2A3}"/>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646043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64BE53-F649-4EDB-B145-228B31BC7FF8}"/>
              </a:ext>
            </a:extLst>
          </p:cNvPr>
          <p:cNvPicPr>
            <a:picLocks noChangeAspect="1"/>
          </p:cNvPicPr>
          <p:nvPr/>
        </p:nvPicPr>
        <p:blipFill>
          <a:blip r:embed="rId2"/>
          <a:stretch>
            <a:fillRect/>
          </a:stretch>
        </p:blipFill>
        <p:spPr>
          <a:xfrm>
            <a:off x="495796" y="2019906"/>
            <a:ext cx="5099786" cy="4504635"/>
          </a:xfrm>
          <a:prstGeom prst="rect">
            <a:avLst/>
          </a:prstGeom>
        </p:spPr>
      </p:pic>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861539"/>
            <a:ext cx="11232109" cy="8565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Box-plots and histograms are useful ways to help identify whether:</a:t>
            </a:r>
          </a:p>
          <a:p>
            <a:pPr marL="1085793" lvl="1" indent="-400050" algn="just">
              <a:lnSpc>
                <a:spcPct val="100000"/>
              </a:lnSpc>
              <a:spcBef>
                <a:spcPts val="0"/>
              </a:spcBef>
              <a:buFont typeface="+mj-lt"/>
              <a:buAutoNum type="romanUcPeriod"/>
              <a:defRPr/>
            </a:pPr>
            <a:r>
              <a:rPr lang="en-NZ" altLang="ja-JP" sz="1700" dirty="0">
                <a:solidFill>
                  <a:prstClr val="black"/>
                </a:solidFill>
                <a:latin typeface="Calibri" panose="020F0502020204030204"/>
                <a:ea typeface="游ゴシック" panose="020B0400000000000000" pitchFamily="34" charset="-128"/>
              </a:rPr>
              <a:t>The data within each group has non-constant variance</a:t>
            </a:r>
          </a:p>
          <a:p>
            <a:pPr marL="1085793" lvl="1" indent="-400050" algn="just">
              <a:lnSpc>
                <a:spcPct val="100000"/>
              </a:lnSpc>
              <a:spcBef>
                <a:spcPts val="0"/>
              </a:spcBef>
              <a:buFont typeface="+mj-lt"/>
              <a:buAutoNum type="romanUcPeriod"/>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data within each group obviously does not come from a normal distribution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3.2a</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Graphical Analysis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7085DA84-2904-4D37-BD97-BD5888C2DF08}"/>
              </a:ext>
            </a:extLst>
          </p:cNvPr>
          <p:cNvSpPr txBox="1">
            <a:spLocks/>
          </p:cNvSpPr>
          <p:nvPr/>
        </p:nvSpPr>
        <p:spPr>
          <a:xfrm>
            <a:off x="251224" y="1816829"/>
            <a:ext cx="5344357"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IQ Data </a:t>
            </a:r>
            <a:b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Data</a:t>
            </a: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from each group are approximately normal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pic>
        <p:nvPicPr>
          <p:cNvPr id="8" name="Picture 7">
            <a:extLst>
              <a:ext uri="{FF2B5EF4-FFF2-40B4-BE49-F238E27FC236}">
                <a16:creationId xmlns:a16="http://schemas.microsoft.com/office/drawing/2014/main" id="{04C889F2-68E1-40E0-830F-95214C1E1FBB}"/>
              </a:ext>
            </a:extLst>
          </p:cNvPr>
          <p:cNvPicPr>
            <a:picLocks noChangeAspect="1"/>
          </p:cNvPicPr>
          <p:nvPr/>
        </p:nvPicPr>
        <p:blipFill>
          <a:blip r:embed="rId3"/>
          <a:stretch>
            <a:fillRect/>
          </a:stretch>
        </p:blipFill>
        <p:spPr>
          <a:xfrm>
            <a:off x="6450718" y="2128412"/>
            <a:ext cx="5245486" cy="4305778"/>
          </a:xfrm>
          <a:prstGeom prst="rect">
            <a:avLst/>
          </a:prstGeom>
        </p:spPr>
      </p:pic>
      <p:sp>
        <p:nvSpPr>
          <p:cNvPr id="16" name="Text Placeholder 5">
            <a:extLst>
              <a:ext uri="{FF2B5EF4-FFF2-40B4-BE49-F238E27FC236}">
                <a16:creationId xmlns:a16="http://schemas.microsoft.com/office/drawing/2014/main" id="{454C7C64-8E2F-4EFE-8DEF-B342B4BEF584}"/>
              </a:ext>
            </a:extLst>
          </p:cNvPr>
          <p:cNvSpPr txBox="1">
            <a:spLocks/>
          </p:cNvSpPr>
          <p:nvPr/>
        </p:nvSpPr>
        <p:spPr>
          <a:xfrm>
            <a:off x="6401282" y="1816829"/>
            <a:ext cx="5344357"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Call Centre Data</a:t>
            </a:r>
            <a:b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Data</a:t>
            </a: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from each group are NOT normally distributed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FA8916EB-8C52-42E6-9A3D-41033866748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614506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Title 6">
            <a:extLst>
              <a:ext uri="{FF2B5EF4-FFF2-40B4-BE49-F238E27FC236}">
                <a16:creationId xmlns:a16="http://schemas.microsoft.com/office/drawing/2014/main" id="{F5E9E232-3F8F-88FC-0B2F-9A7E2B19A441}"/>
              </a:ext>
            </a:extLst>
          </p:cNvPr>
          <p:cNvSpPr txBox="1">
            <a:spLocks/>
          </p:cNvSpPr>
          <p:nvPr/>
        </p:nvSpPr>
        <p:spPr>
          <a:xfrm>
            <a:off x="2011786" y="3125400"/>
            <a:ext cx="8168429" cy="607201"/>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lang="en-US" altLang="ja-JP" sz="4500" b="1" dirty="0">
                <a:solidFill>
                  <a:prstClr val="black"/>
                </a:solidFill>
                <a:latin typeface="Calibri" panose="020F0502020204030204"/>
                <a:ea typeface="游ゴシック Light" panose="020B0300000000000000" pitchFamily="34" charset="-128"/>
              </a:rPr>
              <a:t>3.2b</a:t>
            </a:r>
            <a:r>
              <a:rPr kumimoji="1" lang="en-US" altLang="ja-JP"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Numerical Analysis</a:t>
            </a:r>
            <a:endParaRPr kumimoji="1" lang="ja-JP" altLang="en-US"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120400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FF88D-3009-41AA-B322-C3F4A75BB81D}"/>
              </a:ext>
            </a:extLst>
          </p:cNvPr>
          <p:cNvPicPr>
            <a:picLocks noChangeAspect="1"/>
          </p:cNvPicPr>
          <p:nvPr/>
        </p:nvPicPr>
        <p:blipFill>
          <a:blip r:embed="rId2"/>
          <a:stretch>
            <a:fillRect/>
          </a:stretch>
        </p:blipFill>
        <p:spPr>
          <a:xfrm>
            <a:off x="6287397" y="5280127"/>
            <a:ext cx="5572125" cy="1057275"/>
          </a:xfrm>
          <a:prstGeom prst="rect">
            <a:avLst/>
          </a:prstGeom>
        </p:spPr>
      </p:pic>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861539"/>
            <a:ext cx="11232109" cy="8565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Calculating sample means, medians and standard deviations for each group allows us to get a sense of whether variances are the same across groups and whether </a:t>
            </a:r>
            <a:r>
              <a:rPr lang="en-NZ" altLang="ja-JP" sz="1700" dirty="0">
                <a:solidFill>
                  <a:prstClr val="black"/>
                </a:solidFill>
                <a:latin typeface="Calibri" panose="020F0502020204030204"/>
                <a:ea typeface="游ゴシック" panose="020B0400000000000000" pitchFamily="34" charset="-128"/>
              </a:rPr>
              <a:t>variances are related to means</a:t>
            </a: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04991"/>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3.2b</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Numerical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Analysis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7085DA84-2904-4D37-BD97-BD5888C2DF08}"/>
              </a:ext>
            </a:extLst>
          </p:cNvPr>
          <p:cNvSpPr txBox="1">
            <a:spLocks/>
          </p:cNvSpPr>
          <p:nvPr/>
        </p:nvSpPr>
        <p:spPr>
          <a:xfrm>
            <a:off x="251224" y="1816829"/>
            <a:ext cx="5344357"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IQ Data </a:t>
            </a:r>
            <a:b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Variance constant across groups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454C7C64-8E2F-4EFE-8DEF-B342B4BEF584}"/>
              </a:ext>
            </a:extLst>
          </p:cNvPr>
          <p:cNvSpPr txBox="1">
            <a:spLocks/>
          </p:cNvSpPr>
          <p:nvPr/>
        </p:nvSpPr>
        <p:spPr>
          <a:xfrm>
            <a:off x="6401282" y="1816829"/>
            <a:ext cx="5344357"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700" b="1" u="sng" dirty="0">
                <a:solidFill>
                  <a:srgbClr val="C00000"/>
                </a:solidFill>
              </a:rPr>
              <a:t>Call Centre Data</a:t>
            </a:r>
            <a:b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Variance increases with mean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5141D3CD-93EF-43D6-A084-66B243401175}"/>
              </a:ext>
            </a:extLst>
          </p:cNvPr>
          <p:cNvPicPr>
            <a:picLocks noChangeAspect="1"/>
          </p:cNvPicPr>
          <p:nvPr/>
        </p:nvPicPr>
        <p:blipFill>
          <a:blip r:embed="rId3"/>
          <a:stretch>
            <a:fillRect/>
          </a:stretch>
        </p:blipFill>
        <p:spPr>
          <a:xfrm>
            <a:off x="251224" y="5280127"/>
            <a:ext cx="5876925" cy="1095375"/>
          </a:xfrm>
          <a:prstGeom prst="rect">
            <a:avLst/>
          </a:prstGeom>
        </p:spPr>
      </p:pic>
      <p:graphicFrame>
        <p:nvGraphicFramePr>
          <p:cNvPr id="9" name="Table 8">
            <a:extLst>
              <a:ext uri="{FF2B5EF4-FFF2-40B4-BE49-F238E27FC236}">
                <a16:creationId xmlns:a16="http://schemas.microsoft.com/office/drawing/2014/main" id="{154490CE-BA18-481D-9C9B-8AF1F492C053}"/>
              </a:ext>
            </a:extLst>
          </p:cNvPr>
          <p:cNvGraphicFramePr>
            <a:graphicFrameLocks noGrp="1"/>
          </p:cNvGraphicFramePr>
          <p:nvPr/>
        </p:nvGraphicFramePr>
        <p:xfrm>
          <a:off x="886758" y="2675889"/>
          <a:ext cx="4149267" cy="2085978"/>
        </p:xfrm>
        <a:graphic>
          <a:graphicData uri="http://schemas.openxmlformats.org/drawingml/2006/table">
            <a:tbl>
              <a:tblPr/>
              <a:tblGrid>
                <a:gridCol w="1165524">
                  <a:extLst>
                    <a:ext uri="{9D8B030D-6E8A-4147-A177-3AD203B41FA5}">
                      <a16:colId xmlns:a16="http://schemas.microsoft.com/office/drawing/2014/main" val="4212248441"/>
                    </a:ext>
                  </a:extLst>
                </a:gridCol>
                <a:gridCol w="994581">
                  <a:extLst>
                    <a:ext uri="{9D8B030D-6E8A-4147-A177-3AD203B41FA5}">
                      <a16:colId xmlns:a16="http://schemas.microsoft.com/office/drawing/2014/main" val="2205576055"/>
                    </a:ext>
                  </a:extLst>
                </a:gridCol>
                <a:gridCol w="994581">
                  <a:extLst>
                    <a:ext uri="{9D8B030D-6E8A-4147-A177-3AD203B41FA5}">
                      <a16:colId xmlns:a16="http://schemas.microsoft.com/office/drawing/2014/main" val="70391523"/>
                    </a:ext>
                  </a:extLst>
                </a:gridCol>
                <a:gridCol w="994581">
                  <a:extLst>
                    <a:ext uri="{9D8B030D-6E8A-4147-A177-3AD203B41FA5}">
                      <a16:colId xmlns:a16="http://schemas.microsoft.com/office/drawing/2014/main" val="2632242871"/>
                    </a:ext>
                  </a:extLst>
                </a:gridCol>
              </a:tblGrid>
              <a:tr h="347663">
                <a:tc>
                  <a:txBody>
                    <a:bodyPr/>
                    <a:lstStyle/>
                    <a:p>
                      <a:pPr algn="ctr" fontAlgn="ctr"/>
                      <a:r>
                        <a:rPr lang="en-NZ" sz="1800" b="1" i="0" u="none" strike="noStrike" dirty="0">
                          <a:solidFill>
                            <a:srgbClr val="FFFFFF"/>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a:solidFill>
                            <a:srgbClr val="FFFFFF"/>
                          </a:solidFill>
                          <a:effectLst/>
                          <a:latin typeface="Calibri" panose="020F0502020204030204" pitchFamily="34" charset="0"/>
                        </a:rPr>
                        <a:t>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a:solidFill>
                            <a:srgbClr val="FFFFFF"/>
                          </a:solidFill>
                          <a:effectLst/>
                          <a:latin typeface="Calibri" panose="020F0502020204030204" pitchFamily="34" charset="0"/>
                        </a:rPr>
                        <a:t>Median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a:solidFill>
                            <a:srgbClr val="FFFFFF"/>
                          </a:solidFill>
                          <a:effectLst/>
                          <a:latin typeface="Calibri" panose="020F0502020204030204" pitchFamily="34" charset="0"/>
                        </a:rPr>
                        <a:t>SD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503137764"/>
                  </a:ext>
                </a:extLst>
              </a:tr>
              <a:tr h="347663">
                <a:tc>
                  <a:txBody>
                    <a:bodyPr/>
                    <a:lstStyle/>
                    <a:p>
                      <a:pPr algn="ctr" fontAlgn="ctr"/>
                      <a:r>
                        <a:rPr lang="en-NZ" sz="1800" b="0" i="0" u="none" strike="noStrike">
                          <a:solidFill>
                            <a:srgbClr val="000000"/>
                          </a:solidFill>
                          <a:effectLst/>
                          <a:latin typeface="Calibri" panose="020F0502020204030204" pitchFamily="34" charset="0"/>
                        </a:rPr>
                        <a:t>Art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98.40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06647789"/>
                  </a:ext>
                </a:extLst>
              </a:tr>
              <a:tr h="347663">
                <a:tc>
                  <a:txBody>
                    <a:bodyPr/>
                    <a:lstStyle/>
                    <a:p>
                      <a:pPr algn="ctr" fontAlgn="ctr"/>
                      <a:r>
                        <a:rPr lang="en-NZ" sz="1800" b="0" i="0" u="none" strike="noStrike">
                          <a:solidFill>
                            <a:srgbClr val="000000"/>
                          </a:solidFill>
                          <a:effectLst/>
                          <a:latin typeface="Calibri" panose="020F0502020204030204" pitchFamily="34" charset="0"/>
                        </a:rPr>
                        <a:t>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99.15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04836748"/>
                  </a:ext>
                </a:extLst>
              </a:tr>
              <a:tr h="347663">
                <a:tc>
                  <a:txBody>
                    <a:bodyPr/>
                    <a:lstStyle/>
                    <a:p>
                      <a:pPr algn="ctr" fontAlgn="ctr"/>
                      <a:r>
                        <a:rPr lang="en-NZ" sz="1800" b="0" i="0" u="none" strike="noStrike">
                          <a:solidFill>
                            <a:srgbClr val="000000"/>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99.86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93001548"/>
                  </a:ext>
                </a:extLst>
              </a:tr>
              <a:tr h="347663">
                <a:tc>
                  <a:txBody>
                    <a:bodyPr/>
                    <a:lstStyle/>
                    <a:p>
                      <a:pPr algn="ctr" fontAlgn="ctr"/>
                      <a:r>
                        <a:rPr lang="en-NZ" sz="1800" b="0" i="0" u="none" strike="noStrike">
                          <a:solidFill>
                            <a:srgbClr val="000000"/>
                          </a:solidFill>
                          <a:effectLst/>
                          <a:latin typeface="Calibri" panose="020F0502020204030204" pitchFamily="34" charset="0"/>
                        </a:rPr>
                        <a:t>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101.30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63117261"/>
                  </a:ext>
                </a:extLst>
              </a:tr>
              <a:tr h="347663">
                <a:tc>
                  <a:txBody>
                    <a:bodyPr/>
                    <a:lstStyle/>
                    <a:p>
                      <a:pPr algn="ctr" fontAlgn="ctr"/>
                      <a:r>
                        <a:rPr lang="en-NZ" sz="1800" b="0" i="0" u="none" strike="noStrike">
                          <a:solidFill>
                            <a:srgbClr val="000000"/>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102.00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9.86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37507369"/>
                  </a:ext>
                </a:extLst>
              </a:tr>
            </a:tbl>
          </a:graphicData>
        </a:graphic>
      </p:graphicFrame>
      <p:graphicFrame>
        <p:nvGraphicFramePr>
          <p:cNvPr id="10" name="Table 9">
            <a:extLst>
              <a:ext uri="{FF2B5EF4-FFF2-40B4-BE49-F238E27FC236}">
                <a16:creationId xmlns:a16="http://schemas.microsoft.com/office/drawing/2014/main" id="{D09ECFC6-B8C5-4DB2-A8CF-A8AB13B0524A}"/>
              </a:ext>
            </a:extLst>
          </p:cNvPr>
          <p:cNvGraphicFramePr>
            <a:graphicFrameLocks noGrp="1"/>
          </p:cNvGraphicFramePr>
          <p:nvPr/>
        </p:nvGraphicFramePr>
        <p:xfrm>
          <a:off x="6975143" y="2673551"/>
          <a:ext cx="4149267" cy="2085978"/>
        </p:xfrm>
        <a:graphic>
          <a:graphicData uri="http://schemas.openxmlformats.org/drawingml/2006/table">
            <a:tbl>
              <a:tblPr/>
              <a:tblGrid>
                <a:gridCol w="1165524">
                  <a:extLst>
                    <a:ext uri="{9D8B030D-6E8A-4147-A177-3AD203B41FA5}">
                      <a16:colId xmlns:a16="http://schemas.microsoft.com/office/drawing/2014/main" val="4179062115"/>
                    </a:ext>
                  </a:extLst>
                </a:gridCol>
                <a:gridCol w="994581">
                  <a:extLst>
                    <a:ext uri="{9D8B030D-6E8A-4147-A177-3AD203B41FA5}">
                      <a16:colId xmlns:a16="http://schemas.microsoft.com/office/drawing/2014/main" val="4049780283"/>
                    </a:ext>
                  </a:extLst>
                </a:gridCol>
                <a:gridCol w="994581">
                  <a:extLst>
                    <a:ext uri="{9D8B030D-6E8A-4147-A177-3AD203B41FA5}">
                      <a16:colId xmlns:a16="http://schemas.microsoft.com/office/drawing/2014/main" val="2871192725"/>
                    </a:ext>
                  </a:extLst>
                </a:gridCol>
                <a:gridCol w="994581">
                  <a:extLst>
                    <a:ext uri="{9D8B030D-6E8A-4147-A177-3AD203B41FA5}">
                      <a16:colId xmlns:a16="http://schemas.microsoft.com/office/drawing/2014/main" val="1881901288"/>
                    </a:ext>
                  </a:extLst>
                </a:gridCol>
              </a:tblGrid>
              <a:tr h="347663">
                <a:tc>
                  <a:txBody>
                    <a:bodyPr/>
                    <a:lstStyle/>
                    <a:p>
                      <a:pPr algn="ctr" fontAlgn="ctr"/>
                      <a:r>
                        <a:rPr lang="en-NZ" sz="1800" b="1" i="0" u="none" strike="noStrike" dirty="0">
                          <a:solidFill>
                            <a:srgbClr val="FFFFFF"/>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a:solidFill>
                            <a:srgbClr val="FFFFFF"/>
                          </a:solidFill>
                          <a:effectLst/>
                          <a:latin typeface="Calibri" panose="020F0502020204030204" pitchFamily="34" charset="0"/>
                        </a:rPr>
                        <a:t>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a:solidFill>
                            <a:srgbClr val="FFFFFF"/>
                          </a:solidFill>
                          <a:effectLst/>
                          <a:latin typeface="Calibri" panose="020F0502020204030204" pitchFamily="34" charset="0"/>
                        </a:rPr>
                        <a:t>Median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a:solidFill>
                            <a:srgbClr val="FFFFFF"/>
                          </a:solidFill>
                          <a:effectLst/>
                          <a:latin typeface="Calibri" panose="020F0502020204030204" pitchFamily="34" charset="0"/>
                        </a:rPr>
                        <a:t>SD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3602831111"/>
                  </a:ext>
                </a:extLst>
              </a:tr>
              <a:tr h="347663">
                <a:tc>
                  <a:txBody>
                    <a:bodyPr/>
                    <a:lstStyle/>
                    <a:p>
                      <a:pPr algn="ctr" fontAlgn="ctr"/>
                      <a:r>
                        <a:rPr lang="en-NZ" sz="1800" b="0" i="0" u="none" strike="noStrike">
                          <a:solidFill>
                            <a:srgbClr val="000000"/>
                          </a:solidFill>
                          <a:effectLst/>
                          <a:latin typeface="Calibri" panose="020F0502020204030204" pitchFamily="34" charset="0"/>
                        </a:rPr>
                        <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0.99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803304859"/>
                  </a:ext>
                </a:extLst>
              </a:tr>
              <a:tr h="347663">
                <a:tc>
                  <a:txBody>
                    <a:bodyPr/>
                    <a:lstStyle/>
                    <a:p>
                      <a:pPr algn="ctr" fontAlgn="ctr"/>
                      <a:r>
                        <a:rPr lang="en-NZ" sz="1800" b="0" i="0" u="none" strike="noStrike">
                          <a:solidFill>
                            <a:srgbClr val="000000"/>
                          </a:solidFill>
                          <a:effectLst/>
                          <a:latin typeface="Calibri" panose="020F0502020204030204" pitchFamily="34" charset="0"/>
                        </a:rPr>
                        <a:t>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3.08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1.99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3.23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551328733"/>
                  </a:ext>
                </a:extLst>
              </a:tr>
              <a:tr h="347663">
                <a:tc>
                  <a:txBody>
                    <a:bodyPr/>
                    <a:lstStyle/>
                    <a:p>
                      <a:pPr algn="ctr" fontAlgn="ctr"/>
                      <a:r>
                        <a:rPr lang="en-NZ" sz="1800" b="0" i="0" u="none" strike="noStrike">
                          <a:solidFill>
                            <a:srgbClr val="000000"/>
                          </a:solidFill>
                          <a:effectLst/>
                          <a:latin typeface="Calibri" panose="020F0502020204030204" pitchFamily="34" charset="0"/>
                        </a:rPr>
                        <a:t>C</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2.64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1.81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2.71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25721139"/>
                  </a:ext>
                </a:extLst>
              </a:tr>
              <a:tr h="347663">
                <a:tc>
                  <a:txBody>
                    <a:bodyPr/>
                    <a:lstStyle/>
                    <a:p>
                      <a:pPr algn="ctr" fontAlgn="ctr"/>
                      <a:r>
                        <a:rPr lang="en-NZ" sz="1800" b="0" i="0" u="none" strike="noStrike">
                          <a:solidFill>
                            <a:srgbClr val="000000"/>
                          </a:solidFill>
                          <a:effectLst/>
                          <a:latin typeface="Calibri" panose="020F0502020204030204" pitchFamily="34" charset="0"/>
                        </a:rPr>
                        <a:t>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6.72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4.82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6.16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322016181"/>
                  </a:ext>
                </a:extLst>
              </a:tr>
              <a:tr h="347663">
                <a:tc>
                  <a:txBody>
                    <a:bodyPr/>
                    <a:lstStyle/>
                    <a:p>
                      <a:pPr algn="ctr" fontAlgn="ctr"/>
                      <a:r>
                        <a:rPr lang="en-NZ" sz="1800" b="0" i="0" u="none" strike="noStrike">
                          <a:solidFill>
                            <a:srgbClr val="000000"/>
                          </a:solidFill>
                          <a:effectLst/>
                          <a:latin typeface="Calibri" panose="020F0502020204030204" pitchFamily="34" charset="0"/>
                        </a:rPr>
                        <a:t>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5.15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3.35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dirty="0">
                          <a:solidFill>
                            <a:srgbClr val="000000"/>
                          </a:solidFill>
                          <a:effectLst/>
                          <a:latin typeface="Calibri" panose="020F0502020204030204" pitchFamily="34" charset="0"/>
                        </a:rPr>
                        <a:t>5.31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842226915"/>
                  </a:ext>
                </a:extLst>
              </a:tr>
            </a:tbl>
          </a:graphicData>
        </a:graphic>
      </p:graphicFrame>
      <p:sp>
        <p:nvSpPr>
          <p:cNvPr id="13" name="Text Placeholder 5">
            <a:extLst>
              <a:ext uri="{FF2B5EF4-FFF2-40B4-BE49-F238E27FC236}">
                <a16:creationId xmlns:a16="http://schemas.microsoft.com/office/drawing/2014/main" id="{566C4C03-DFB3-4980-B120-A1A9B949CBD4}"/>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777122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Title 6">
            <a:extLst>
              <a:ext uri="{FF2B5EF4-FFF2-40B4-BE49-F238E27FC236}">
                <a16:creationId xmlns:a16="http://schemas.microsoft.com/office/drawing/2014/main" id="{F5E9E232-3F8F-88FC-0B2F-9A7E2B19A441}"/>
              </a:ext>
            </a:extLst>
          </p:cNvPr>
          <p:cNvSpPr txBox="1">
            <a:spLocks/>
          </p:cNvSpPr>
          <p:nvPr/>
        </p:nvSpPr>
        <p:spPr>
          <a:xfrm>
            <a:off x="2011786" y="3125400"/>
            <a:ext cx="8168429" cy="607201"/>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lang="en-US" altLang="ja-JP" sz="4500" b="1" dirty="0">
                <a:solidFill>
                  <a:prstClr val="black"/>
                </a:solidFill>
                <a:latin typeface="Calibri" panose="020F0502020204030204"/>
                <a:ea typeface="游ゴシック Light" panose="020B0300000000000000" pitchFamily="34" charset="-128"/>
              </a:rPr>
              <a:t>3.2c</a:t>
            </a:r>
            <a:r>
              <a:rPr kumimoji="1" lang="en-US" altLang="ja-JP"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Residual Analysis</a:t>
            </a:r>
            <a:endParaRPr kumimoji="1" lang="ja-JP" altLang="en-US"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3022531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815333"/>
            <a:ext cx="5844775" cy="4759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In one-way ANOVA we fit the model…</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660764" cy="607201"/>
          </a:xfrm>
          <a:prstGeom prst="rect">
            <a:avLst/>
          </a:prstGeom>
        </p:spPr>
        <p:txBody>
          <a:bodyPr anchor="t">
            <a:normAutofit fontScale="77500" lnSpcReduction="2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Residual Analysis (Residual vs Fitted Value Plots)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ABFE52D5-6EDF-4EB5-BF7D-6B3AFA0392E2}"/>
                  </a:ext>
                </a:extLst>
              </p:cNvPr>
              <p:cNvSpPr txBox="1">
                <a:spLocks/>
              </p:cNvSpPr>
              <p:nvPr/>
            </p:nvSpPr>
            <p:spPr>
              <a:xfrm>
                <a:off x="251223" y="1157790"/>
                <a:ext cx="528976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m:oMathPara>
                </a14:m>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ABFE52D5-6EDF-4EB5-BF7D-6B3AFA0392E2}"/>
                  </a:ext>
                </a:extLst>
              </p:cNvPr>
              <p:cNvSpPr txBox="1">
                <a:spLocks noRot="1" noChangeAspect="1" noMove="1" noResize="1" noEditPoints="1" noAdjustHandles="1" noChangeArrowheads="1" noChangeShapeType="1" noTextEdit="1"/>
              </p:cNvSpPr>
              <p:nvPr/>
            </p:nvSpPr>
            <p:spPr>
              <a:xfrm>
                <a:off x="251223" y="1157790"/>
                <a:ext cx="5289767" cy="474953"/>
              </a:xfrm>
              <a:prstGeom prst="rect">
                <a:avLst/>
              </a:prstGeom>
              <a:blipFill>
                <a:blip r:embed="rId2"/>
                <a:stretch>
                  <a:fillRect/>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F7242CF4-F77A-43EE-88B8-CA4D42C77645}"/>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B66D493F-B398-0328-0C6C-BAC9C4331885}"/>
                  </a:ext>
                </a:extLst>
              </p:cNvPr>
              <p:cNvSpPr txBox="1">
                <a:spLocks/>
              </p:cNvSpPr>
              <p:nvPr/>
            </p:nvSpPr>
            <p:spPr>
              <a:xfrm>
                <a:off x="251219" y="1753893"/>
                <a:ext cx="6203665" cy="7943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600" b="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T</a:t>
                </a: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he fitted value for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oMath>
                </a14:m>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is given by   </a:t>
                </a:r>
                <a14:m>
                  <m:oMath xmlns:m="http://schemas.openxmlformats.org/officeDocument/2006/math">
                    <m:sSub>
                      <m:sSubPr>
                        <m:ctrlPr>
                          <a:rPr lang="en-NZ" sz="1600" b="1" i="1">
                            <a:solidFill>
                              <a:schemeClr val="tx1"/>
                            </a:solidFill>
                            <a:latin typeface="Cambria Math" panose="02040503050406030204" pitchFamily="18" charset="0"/>
                          </a:rPr>
                        </m:ctrlPr>
                      </m:sSubPr>
                      <m:e>
                        <m:acc>
                          <m:accPr>
                            <m:chr m:val="̅"/>
                            <m:ctrlPr>
                              <a:rPr lang="en-NZ" sz="1600" b="1" i="1">
                                <a:solidFill>
                                  <a:schemeClr val="tx1"/>
                                </a:solidFill>
                                <a:latin typeface="Cambria Math" panose="02040503050406030204" pitchFamily="18" charset="0"/>
                              </a:rPr>
                            </m:ctrlPr>
                          </m:accPr>
                          <m:e>
                            <m:r>
                              <a:rPr lang="en-NZ" sz="1600" b="1" i="1">
                                <a:solidFill>
                                  <a:schemeClr val="tx1"/>
                                </a:solidFill>
                                <a:latin typeface="Cambria Math" panose="02040503050406030204" pitchFamily="18" charset="0"/>
                              </a:rPr>
                              <m:t>𝒀</m:t>
                            </m:r>
                          </m:e>
                        </m:acc>
                      </m:e>
                      <m:sub>
                        <m:r>
                          <a:rPr lang="en-NZ" sz="1600" b="1" i="1">
                            <a:solidFill>
                              <a:schemeClr val="tx1"/>
                            </a:solidFill>
                            <a:latin typeface="Cambria Math" panose="02040503050406030204" pitchFamily="18" charset="0"/>
                          </a:rPr>
                          <m:t>𝒊</m:t>
                        </m:r>
                        <m:r>
                          <a:rPr lang="en-NZ" sz="1600" b="1" i="1">
                            <a:solidFill>
                              <a:schemeClr val="tx1"/>
                            </a:solidFill>
                            <a:latin typeface="Cambria Math" panose="02040503050406030204" pitchFamily="18" charset="0"/>
                            <a:ea typeface="Cambria Math" panose="02040503050406030204" pitchFamily="18" charset="0"/>
                          </a:rPr>
                          <m:t>∙</m:t>
                        </m:r>
                      </m:sub>
                    </m:sSub>
                  </m:oMath>
                </a14:m>
                <a:r>
                  <a:rPr lang="en-NZ" altLang="ja-JP" sz="1600" dirty="0">
                    <a:solidFill>
                      <a:schemeClr val="tx1"/>
                    </a:solidFill>
                  </a:rPr>
                  <a:t> </a:t>
                </a:r>
              </a:p>
              <a:p>
                <a:pPr lvl="0" algn="just">
                  <a:lnSpc>
                    <a:spcPct val="100000"/>
                  </a:lnSpc>
                  <a:defRPr/>
                </a:pP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The residual associated to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oMath>
                </a14:m>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is given by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𝝐</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oMath>
                </a14:m>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a:t>
                </a:r>
                <a:endParaRPr kumimoji="1" lang="en-NZ" altLang="ja-JP" sz="16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B66D493F-B398-0328-0C6C-BAC9C4331885}"/>
                  </a:ext>
                </a:extLst>
              </p:cNvPr>
              <p:cNvSpPr txBox="1">
                <a:spLocks noRot="1" noChangeAspect="1" noMove="1" noResize="1" noEditPoints="1" noAdjustHandles="1" noChangeArrowheads="1" noChangeShapeType="1" noTextEdit="1"/>
              </p:cNvSpPr>
              <p:nvPr/>
            </p:nvSpPr>
            <p:spPr>
              <a:xfrm>
                <a:off x="251219" y="1753893"/>
                <a:ext cx="6203665" cy="794327"/>
              </a:xfrm>
              <a:prstGeom prst="rect">
                <a:avLst/>
              </a:prstGeom>
              <a:blipFill>
                <a:blip r:embed="rId3"/>
                <a:stretch>
                  <a:fillRect l="-491" t="-15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graphicFrame>
            <p:nvGraphicFramePr>
              <p:cNvPr id="15" name="Table 2">
                <a:extLst>
                  <a:ext uri="{FF2B5EF4-FFF2-40B4-BE49-F238E27FC236}">
                    <a16:creationId xmlns:a16="http://schemas.microsoft.com/office/drawing/2014/main" id="{99CD850F-7F81-978C-6114-46529AF2DBD9}"/>
                  </a:ext>
                </a:extLst>
              </p:cNvPr>
              <p:cNvGraphicFramePr>
                <a:graphicFrameLocks noGrp="1"/>
              </p:cNvGraphicFramePr>
              <p:nvPr>
                <p:extLst>
                  <p:ext uri="{D42A27DB-BD31-4B8C-83A1-F6EECF244321}">
                    <p14:modId xmlns:p14="http://schemas.microsoft.com/office/powerpoint/2010/main" val="228742798"/>
                  </p:ext>
                </p:extLst>
              </p:nvPr>
            </p:nvGraphicFramePr>
            <p:xfrm>
              <a:off x="6270893" y="861874"/>
              <a:ext cx="5063826"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gridCol w="1704906">
                      <a:extLst>
                        <a:ext uri="{9D8B030D-6E8A-4147-A177-3AD203B41FA5}">
                          <a16:colId xmlns:a16="http://schemas.microsoft.com/office/drawing/2014/main" val="126256495"/>
                        </a:ext>
                      </a:extLst>
                    </a:gridCol>
                  </a:tblGrid>
                  <a:tr h="295770">
                    <a:tc>
                      <a:txBody>
                        <a:bodyPr/>
                        <a:lstStyle/>
                        <a:p>
                          <a:pPr algn="ctr"/>
                          <a:r>
                            <a:rPr lang="en-NZ" sz="1600" dirty="0"/>
                            <a:t>Parameter</a:t>
                          </a:r>
                        </a:p>
                      </a:txBody>
                      <a:tcPr anchor="ctr"/>
                    </a:tc>
                    <a:tc>
                      <a:txBody>
                        <a:bodyPr/>
                        <a:lstStyle/>
                        <a:p>
                          <a:pPr algn="ctr"/>
                          <a:r>
                            <a:rPr lang="en-NZ" sz="1600" dirty="0"/>
                            <a:t>Estimator</a:t>
                          </a:r>
                        </a:p>
                      </a:txBody>
                      <a:tcPr anchor="ctr"/>
                    </a:tc>
                    <a:tc>
                      <a:txBody>
                        <a:bodyPr/>
                        <a:lstStyle/>
                        <a:p>
                          <a:pPr algn="ctr"/>
                          <a:r>
                            <a:rPr lang="en-NZ" sz="1600" dirty="0"/>
                            <a:t>Meaning</a:t>
                          </a:r>
                        </a:p>
                      </a:txBody>
                      <a:tcPr anchor="ctr"/>
                    </a:tc>
                    <a:extLst>
                      <a:ext uri="{0D108BD9-81ED-4DB2-BD59-A6C34878D82A}">
                        <a16:rowId xmlns:a16="http://schemas.microsoft.com/office/drawing/2014/main" val="3666350365"/>
                      </a:ext>
                    </a:extLst>
                  </a:tr>
                  <a:tr h="692260">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rPr>
                                  <m:t>=</m:t>
                                </m:r>
                                <m:f>
                                  <m:fPr>
                                    <m:ctrlPr>
                                      <a:rPr lang="en-NZ" sz="1600" b="0" i="1" smtClean="0">
                                        <a:latin typeface="Cambria Math" panose="02040503050406030204" pitchFamily="18" charset="0"/>
                                      </a:rPr>
                                    </m:ctrlPr>
                                  </m:fPr>
                                  <m:num>
                                    <m:r>
                                      <a:rPr lang="en-NZ" sz="1600" b="0" i="1" smtClean="0">
                                        <a:latin typeface="Cambria Math" panose="02040503050406030204" pitchFamily="18" charset="0"/>
                                      </a:rPr>
                                      <m:t>1</m:t>
                                    </m:r>
                                  </m:num>
                                  <m:den>
                                    <m:r>
                                      <a:rPr lang="en-NZ" sz="1600" b="0" i="1" smtClean="0">
                                        <a:latin typeface="Cambria Math" panose="02040503050406030204" pitchFamily="18" charset="0"/>
                                      </a:rPr>
                                      <m:t>𝑛</m:t>
                                    </m:r>
                                  </m:den>
                                </m:f>
                                <m:r>
                                  <a:rPr lang="en-NZ" sz="1600" b="0" i="1" smtClean="0">
                                    <a:latin typeface="Cambria Math" panose="02040503050406030204" pitchFamily="18" charset="0"/>
                                  </a:rPr>
                                  <m:t> </m:t>
                                </m:r>
                                <m:nary>
                                  <m:naryPr>
                                    <m:chr m:val="∑"/>
                                    <m:ctrlPr>
                                      <a:rPr lang="en-NZ" sz="1600" b="0" i="1" smtClean="0">
                                        <a:latin typeface="Cambria Math" panose="02040503050406030204" pitchFamily="18" charset="0"/>
                                      </a:rPr>
                                    </m:ctrlPr>
                                  </m:naryPr>
                                  <m:sub>
                                    <m:r>
                                      <m:rPr>
                                        <m:brk m:alnAt="23"/>
                                      </m:rPr>
                                      <a:rPr lang="en-NZ" sz="1600" b="0" i="1" smtClean="0">
                                        <a:latin typeface="Cambria Math" panose="02040503050406030204" pitchFamily="18" charset="0"/>
                                      </a:rPr>
                                      <m:t>𝑗</m:t>
                                    </m:r>
                                    <m:r>
                                      <a:rPr lang="en-NZ" sz="1600" b="0" i="1" smtClean="0">
                                        <a:latin typeface="Cambria Math" panose="02040503050406030204" pitchFamily="18" charset="0"/>
                                      </a:rPr>
                                      <m:t>=1</m:t>
                                    </m:r>
                                  </m:sub>
                                  <m:sup>
                                    <m:r>
                                      <a:rPr lang="en-NZ" sz="1600" b="0" i="1" smtClean="0">
                                        <a:latin typeface="Cambria Math" panose="02040503050406030204" pitchFamily="18" charset="0"/>
                                      </a:rPr>
                                      <m:t>𝑛</m:t>
                                    </m:r>
                                  </m:sup>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𝑌</m:t>
                                        </m:r>
                                      </m:e>
                                      <m:sub>
                                        <m:r>
                                          <a:rPr lang="en-NZ" sz="1600" b="0" i="1" smtClean="0">
                                            <a:latin typeface="Cambria Math" panose="02040503050406030204" pitchFamily="18" charset="0"/>
                                          </a:rPr>
                                          <m:t>𝑖</m:t>
                                        </m:r>
                                        <m:r>
                                          <a:rPr lang="en-NZ" sz="1600" b="0" i="1" smtClean="0">
                                            <a:latin typeface="Cambria Math" panose="02040503050406030204" pitchFamily="18" charset="0"/>
                                          </a:rPr>
                                          <m:t>,</m:t>
                                        </m:r>
                                        <m:r>
                                          <a:rPr lang="en-NZ" sz="1600" b="0" i="1" smtClean="0">
                                            <a:latin typeface="Cambria Math" panose="02040503050406030204" pitchFamily="18" charset="0"/>
                                          </a:rPr>
                                          <m:t>𝑗</m:t>
                                        </m:r>
                                      </m:sub>
                                    </m:sSub>
                                  </m:e>
                                </m:nary>
                              </m:oMath>
                            </m:oMathPara>
                          </a14:m>
                          <a:endParaRPr lang="en-NZ" sz="1600" dirty="0"/>
                        </a:p>
                      </a:txBody>
                      <a:tcPr anchor="ctr"/>
                    </a:tc>
                    <a:tc>
                      <a:txBody>
                        <a:bodyPr/>
                        <a:lstStyle/>
                        <a:p>
                          <a:pPr algn="ctr"/>
                          <a:r>
                            <a:rPr lang="en-NZ" sz="1600" dirty="0"/>
                            <a:t>Mean of Group </a:t>
                          </a:r>
                          <a:r>
                            <a:rPr lang="en-NZ" sz="1600" dirty="0" err="1"/>
                            <a:t>i</a:t>
                          </a:r>
                          <a:endParaRPr lang="en-NZ" sz="1600" dirty="0"/>
                        </a:p>
                      </a:txBody>
                      <a:tcPr anchor="ctr"/>
                    </a:tc>
                    <a:extLst>
                      <a:ext uri="{0D108BD9-81ED-4DB2-BD59-A6C34878D82A}">
                        <a16:rowId xmlns:a16="http://schemas.microsoft.com/office/drawing/2014/main" val="3427382577"/>
                      </a:ext>
                    </a:extLst>
                  </a:tr>
                </a:tbl>
              </a:graphicData>
            </a:graphic>
          </p:graphicFrame>
        </mc:Choice>
        <mc:Fallback xmlns="">
          <p:graphicFrame>
            <p:nvGraphicFramePr>
              <p:cNvPr id="15" name="Table 2">
                <a:extLst>
                  <a:ext uri="{FF2B5EF4-FFF2-40B4-BE49-F238E27FC236}">
                    <a16:creationId xmlns:a16="http://schemas.microsoft.com/office/drawing/2014/main" id="{99CD850F-7F81-978C-6114-46529AF2DBD9}"/>
                  </a:ext>
                </a:extLst>
              </p:cNvPr>
              <p:cNvGraphicFramePr>
                <a:graphicFrameLocks noGrp="1"/>
              </p:cNvGraphicFramePr>
              <p:nvPr>
                <p:extLst>
                  <p:ext uri="{D42A27DB-BD31-4B8C-83A1-F6EECF244321}">
                    <p14:modId xmlns:p14="http://schemas.microsoft.com/office/powerpoint/2010/main" val="228742798"/>
                  </p:ext>
                </p:extLst>
              </p:nvPr>
            </p:nvGraphicFramePr>
            <p:xfrm>
              <a:off x="6270893" y="861874"/>
              <a:ext cx="5063826"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gridCol w="1704906">
                      <a:extLst>
                        <a:ext uri="{9D8B030D-6E8A-4147-A177-3AD203B41FA5}">
                          <a16:colId xmlns:a16="http://schemas.microsoft.com/office/drawing/2014/main" val="126256495"/>
                        </a:ext>
                      </a:extLst>
                    </a:gridCol>
                  </a:tblGrid>
                  <a:tr h="335280">
                    <a:tc>
                      <a:txBody>
                        <a:bodyPr/>
                        <a:lstStyle/>
                        <a:p>
                          <a:pPr algn="ctr"/>
                          <a:r>
                            <a:rPr lang="en-NZ" sz="1600" dirty="0"/>
                            <a:t>Parameter</a:t>
                          </a:r>
                        </a:p>
                      </a:txBody>
                      <a:tcPr anchor="ctr"/>
                    </a:tc>
                    <a:tc>
                      <a:txBody>
                        <a:bodyPr/>
                        <a:lstStyle/>
                        <a:p>
                          <a:pPr algn="ctr"/>
                          <a:r>
                            <a:rPr lang="en-NZ" sz="1600" dirty="0"/>
                            <a:t>Estimator</a:t>
                          </a:r>
                        </a:p>
                      </a:txBody>
                      <a:tcPr anchor="ctr"/>
                    </a:tc>
                    <a:tc>
                      <a:txBody>
                        <a:bodyPr/>
                        <a:lstStyle/>
                        <a:p>
                          <a:pPr algn="ctr"/>
                          <a:r>
                            <a:rPr lang="en-NZ" sz="1600" dirty="0"/>
                            <a:t>Meaning</a:t>
                          </a:r>
                        </a:p>
                      </a:txBody>
                      <a:tcPr anchor="ctr"/>
                    </a:tc>
                    <a:extLst>
                      <a:ext uri="{0D108BD9-81ED-4DB2-BD59-A6C34878D82A}">
                        <a16:rowId xmlns:a16="http://schemas.microsoft.com/office/drawing/2014/main" val="3666350365"/>
                      </a:ext>
                    </a:extLst>
                  </a:tr>
                  <a:tr h="784733">
                    <a:tc>
                      <a:txBody>
                        <a:bodyPr/>
                        <a:lstStyle/>
                        <a:p>
                          <a:endParaRPr lang="en-US"/>
                        </a:p>
                      </a:txBody>
                      <a:tcPr anchor="ctr">
                        <a:blipFill>
                          <a:blip r:embed="rId4"/>
                          <a:stretch>
                            <a:fillRect l="-408" t="-44615" r="-241224" b="-1538"/>
                          </a:stretch>
                        </a:blipFill>
                      </a:tcPr>
                    </a:tc>
                    <a:tc>
                      <a:txBody>
                        <a:bodyPr/>
                        <a:lstStyle/>
                        <a:p>
                          <a:endParaRPr lang="en-US"/>
                        </a:p>
                      </a:txBody>
                      <a:tcPr anchor="ctr">
                        <a:blipFill>
                          <a:blip r:embed="rId4"/>
                          <a:stretch>
                            <a:fillRect l="-80130" t="-44615" r="-92508" b="-1538"/>
                          </a:stretch>
                        </a:blipFill>
                      </a:tcPr>
                    </a:tc>
                    <a:tc>
                      <a:txBody>
                        <a:bodyPr/>
                        <a:lstStyle/>
                        <a:p>
                          <a:pPr algn="ctr"/>
                          <a:r>
                            <a:rPr lang="en-NZ" sz="1600" dirty="0"/>
                            <a:t>Mean of Group </a:t>
                          </a:r>
                          <a:r>
                            <a:rPr lang="en-NZ" sz="1600" dirty="0" err="1"/>
                            <a:t>i</a:t>
                          </a:r>
                          <a:endParaRPr lang="en-NZ" sz="1600" dirty="0"/>
                        </a:p>
                      </a:txBody>
                      <a:tcPr anchor="ctr"/>
                    </a:tc>
                    <a:extLst>
                      <a:ext uri="{0D108BD9-81ED-4DB2-BD59-A6C34878D82A}">
                        <a16:rowId xmlns:a16="http://schemas.microsoft.com/office/drawing/2014/main" val="3427382577"/>
                      </a:ext>
                    </a:extLst>
                  </a:tr>
                </a:tbl>
              </a:graphicData>
            </a:graphic>
          </p:graphicFrame>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7E346CDA-3C65-30CF-FFC5-1930D0204E13}"/>
                  </a:ext>
                </a:extLst>
              </p:cNvPr>
              <p:cNvSpPr txBox="1">
                <a:spLocks/>
              </p:cNvSpPr>
              <p:nvPr/>
            </p:nvSpPr>
            <p:spPr>
              <a:xfrm>
                <a:off x="251218" y="3079415"/>
                <a:ext cx="11390321" cy="624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600" dirty="0">
                    <a:solidFill>
                      <a:schemeClr val="tx1"/>
                    </a:solidFill>
                    <a:latin typeface="Calibri" panose="020F0502020204030204"/>
                    <a:ea typeface="游ゴシック" panose="020B0400000000000000" pitchFamily="34" charset="-128"/>
                  </a:rPr>
                  <a:t>Since the data in each group is assigned the same fitted value (</a:t>
                </a:r>
                <a14:m>
                  <m:oMath xmlns:m="http://schemas.openxmlformats.org/officeDocument/2006/math">
                    <m:sSub>
                      <m:sSubPr>
                        <m:ctrlPr>
                          <a:rPr lang="en-NZ" sz="1600" b="1" i="1" smtClean="0">
                            <a:solidFill>
                              <a:schemeClr val="tx1"/>
                            </a:solidFill>
                            <a:latin typeface="Cambria Math" panose="02040503050406030204" pitchFamily="18" charset="0"/>
                          </a:rPr>
                        </m:ctrlPr>
                      </m:sSubPr>
                      <m:e>
                        <m:acc>
                          <m:accPr>
                            <m:chr m:val="̅"/>
                            <m:ctrlPr>
                              <a:rPr lang="en-NZ" sz="1600" b="1" i="1">
                                <a:solidFill>
                                  <a:schemeClr val="tx1"/>
                                </a:solidFill>
                                <a:latin typeface="Cambria Math" panose="02040503050406030204" pitchFamily="18" charset="0"/>
                              </a:rPr>
                            </m:ctrlPr>
                          </m:accPr>
                          <m:e>
                            <m:r>
                              <a:rPr lang="en-NZ" sz="1600" b="1" i="1">
                                <a:solidFill>
                                  <a:schemeClr val="tx1"/>
                                </a:solidFill>
                                <a:latin typeface="Cambria Math" panose="02040503050406030204" pitchFamily="18" charset="0"/>
                              </a:rPr>
                              <m:t>𝒀</m:t>
                            </m:r>
                          </m:e>
                        </m:acc>
                      </m:e>
                      <m:sub>
                        <m:r>
                          <a:rPr lang="en-NZ" sz="1600" b="1" i="1">
                            <a:solidFill>
                              <a:schemeClr val="tx1"/>
                            </a:solidFill>
                            <a:latin typeface="Cambria Math" panose="02040503050406030204" pitchFamily="18" charset="0"/>
                          </a:rPr>
                          <m:t>𝒊</m:t>
                        </m:r>
                        <m:r>
                          <a:rPr lang="en-NZ" sz="1600" b="1" i="1">
                            <a:solidFill>
                              <a:schemeClr val="tx1"/>
                            </a:solidFill>
                            <a:latin typeface="Cambria Math" panose="02040503050406030204" pitchFamily="18" charset="0"/>
                            <a:ea typeface="Cambria Math" panose="02040503050406030204" pitchFamily="18" charset="0"/>
                          </a:rPr>
                          <m:t>∙</m:t>
                        </m:r>
                      </m:sub>
                    </m:sSub>
                  </m:oMath>
                </a14:m>
                <a:r>
                  <a:rPr lang="en-NZ" altLang="ja-JP" sz="1600" dirty="0">
                    <a:solidFill>
                      <a:schemeClr val="tx1"/>
                    </a:solidFill>
                    <a:latin typeface="Calibri" panose="020F0502020204030204"/>
                    <a:ea typeface="游ゴシック" panose="020B0400000000000000" pitchFamily="34" charset="-128"/>
                  </a:rPr>
                  <a:t>)  if we were to </a:t>
                </a:r>
                <a:r>
                  <a:rPr kumimoji="1" lang="en-NZ" altLang="ja-JP" sz="1600" b="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construct a plot of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residuals</a:t>
                </a:r>
                <a:r>
                  <a:rPr kumimoji="1" lang="en-NZ" altLang="ja-JP" sz="1600" b="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on the</a:t>
                </a: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a:t>
                </a:r>
                <a:b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b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y-axis and</a:t>
                </a:r>
                <a:r>
                  <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fitted values </a:t>
                </a:r>
                <a:r>
                  <a:rPr kumimoji="1" lang="en-NZ" altLang="ja-JP" sz="1600" b="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on</a:t>
                </a: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the </a:t>
                </a:r>
                <a:r>
                  <a:rPr kumimoji="1" lang="en-NZ" altLang="ja-JP" sz="160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x-axis</a:t>
                </a:r>
                <a:r>
                  <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600" b="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this will result in a series of vertical ‘bands’</a:t>
                </a: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visualising the distribution of residuals in each group.</a:t>
                </a:r>
                <a:endParaRPr kumimoji="1" lang="en-NZ" altLang="ja-JP" sz="16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16" name="Text Placeholder 5">
                <a:extLst>
                  <a:ext uri="{FF2B5EF4-FFF2-40B4-BE49-F238E27FC236}">
                    <a16:creationId xmlns:a16="http://schemas.microsoft.com/office/drawing/2014/main" id="{7E346CDA-3C65-30CF-FFC5-1930D0204E13}"/>
                  </a:ext>
                </a:extLst>
              </p:cNvPr>
              <p:cNvSpPr txBox="1">
                <a:spLocks noRot="1" noChangeAspect="1" noMove="1" noResize="1" noEditPoints="1" noAdjustHandles="1" noChangeArrowheads="1" noChangeShapeType="1" noTextEdit="1"/>
              </p:cNvSpPr>
              <p:nvPr/>
            </p:nvSpPr>
            <p:spPr>
              <a:xfrm>
                <a:off x="251218" y="3079415"/>
                <a:ext cx="11390321" cy="624140"/>
              </a:xfrm>
              <a:prstGeom prst="rect">
                <a:avLst/>
              </a:prstGeom>
              <a:blipFill>
                <a:blip r:embed="rId5"/>
                <a:stretch>
                  <a:fillRect l="-268" t="-2913" r="-268" b="-4854"/>
                </a:stretch>
              </a:blipFill>
            </p:spPr>
            <p:txBody>
              <a:bodyPr/>
              <a:lstStyle/>
              <a:p>
                <a:r>
                  <a:rPr lang="en-NZ">
                    <a:noFill/>
                  </a:rPr>
                  <a:t> </a:t>
                </a:r>
              </a:p>
            </p:txBody>
          </p:sp>
        </mc:Fallback>
      </mc:AlternateContent>
      <p:pic>
        <p:nvPicPr>
          <p:cNvPr id="3" name="Picture 2">
            <a:extLst>
              <a:ext uri="{FF2B5EF4-FFF2-40B4-BE49-F238E27FC236}">
                <a16:creationId xmlns:a16="http://schemas.microsoft.com/office/drawing/2014/main" id="{208C40EB-1477-7556-46CF-264D6BBE509B}"/>
              </a:ext>
            </a:extLst>
          </p:cNvPr>
          <p:cNvPicPr>
            <a:picLocks noChangeAspect="1"/>
          </p:cNvPicPr>
          <p:nvPr/>
        </p:nvPicPr>
        <p:blipFill>
          <a:blip r:embed="rId6"/>
          <a:stretch>
            <a:fillRect/>
          </a:stretch>
        </p:blipFill>
        <p:spPr>
          <a:xfrm>
            <a:off x="1300399" y="4395458"/>
            <a:ext cx="3067050" cy="1933575"/>
          </a:xfrm>
          <a:prstGeom prst="rect">
            <a:avLst/>
          </a:prstGeom>
        </p:spPr>
      </p:pic>
      <p:sp>
        <p:nvSpPr>
          <p:cNvPr id="26" name="Text Placeholder 5">
            <a:extLst>
              <a:ext uri="{FF2B5EF4-FFF2-40B4-BE49-F238E27FC236}">
                <a16:creationId xmlns:a16="http://schemas.microsoft.com/office/drawing/2014/main" id="{2F7583C9-E1DF-A054-7033-3E1954F1E9DC}"/>
              </a:ext>
            </a:extLst>
          </p:cNvPr>
          <p:cNvSpPr txBox="1">
            <a:spLocks/>
          </p:cNvSpPr>
          <p:nvPr/>
        </p:nvSpPr>
        <p:spPr>
          <a:xfrm rot="16200000">
            <a:off x="546579" y="4988966"/>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Residual</a:t>
            </a:r>
            <a:endParaRPr kumimoji="1" lang="en-NZ" altLang="ja-JP" sz="14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
        <p:nvSpPr>
          <p:cNvPr id="27" name="Text Placeholder 5">
            <a:extLst>
              <a:ext uri="{FF2B5EF4-FFF2-40B4-BE49-F238E27FC236}">
                <a16:creationId xmlns:a16="http://schemas.microsoft.com/office/drawing/2014/main" id="{6289D9A7-D9F2-0F5D-127B-A2AFAF57E876}"/>
              </a:ext>
            </a:extLst>
          </p:cNvPr>
          <p:cNvSpPr txBox="1">
            <a:spLocks/>
          </p:cNvSpPr>
          <p:nvPr/>
        </p:nvSpPr>
        <p:spPr>
          <a:xfrm>
            <a:off x="2244202" y="6291970"/>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Fitted</a:t>
            </a:r>
          </a:p>
        </p:txBody>
      </p:sp>
      <p:sp>
        <p:nvSpPr>
          <p:cNvPr id="32" name="Text Placeholder 5">
            <a:extLst>
              <a:ext uri="{FF2B5EF4-FFF2-40B4-BE49-F238E27FC236}">
                <a16:creationId xmlns:a16="http://schemas.microsoft.com/office/drawing/2014/main" id="{B662FDBB-96B9-900E-1696-7F82BD808B72}"/>
              </a:ext>
            </a:extLst>
          </p:cNvPr>
          <p:cNvSpPr txBox="1">
            <a:spLocks/>
          </p:cNvSpPr>
          <p:nvPr/>
        </p:nvSpPr>
        <p:spPr>
          <a:xfrm>
            <a:off x="411725" y="3897596"/>
            <a:ext cx="5139813" cy="5240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Bands appear normally distributed about zero and have the same ‘height’ suggests constant variance</a:t>
            </a:r>
          </a:p>
        </p:txBody>
      </p:sp>
      <p:pic>
        <p:nvPicPr>
          <p:cNvPr id="5" name="Picture 4">
            <a:extLst>
              <a:ext uri="{FF2B5EF4-FFF2-40B4-BE49-F238E27FC236}">
                <a16:creationId xmlns:a16="http://schemas.microsoft.com/office/drawing/2014/main" id="{1B42C474-3D86-AA29-5D38-8D4980D2627A}"/>
              </a:ext>
            </a:extLst>
          </p:cNvPr>
          <p:cNvPicPr>
            <a:picLocks noChangeAspect="1"/>
          </p:cNvPicPr>
          <p:nvPr/>
        </p:nvPicPr>
        <p:blipFill>
          <a:blip r:embed="rId7"/>
          <a:stretch>
            <a:fillRect/>
          </a:stretch>
        </p:blipFill>
        <p:spPr>
          <a:xfrm>
            <a:off x="6735627" y="4322814"/>
            <a:ext cx="2875816" cy="1901796"/>
          </a:xfrm>
          <a:prstGeom prst="rect">
            <a:avLst/>
          </a:prstGeom>
        </p:spPr>
      </p:pic>
      <p:sp>
        <p:nvSpPr>
          <p:cNvPr id="33" name="Text Placeholder 5">
            <a:extLst>
              <a:ext uri="{FF2B5EF4-FFF2-40B4-BE49-F238E27FC236}">
                <a16:creationId xmlns:a16="http://schemas.microsoft.com/office/drawing/2014/main" id="{13DFD32F-4B25-8C18-C4D3-3C4C1B28AB53}"/>
              </a:ext>
            </a:extLst>
          </p:cNvPr>
          <p:cNvSpPr txBox="1">
            <a:spLocks/>
          </p:cNvSpPr>
          <p:nvPr/>
        </p:nvSpPr>
        <p:spPr>
          <a:xfrm rot="16200000">
            <a:off x="6034922" y="4861930"/>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Residual</a:t>
            </a:r>
            <a:endParaRPr kumimoji="1" lang="en-NZ" altLang="ja-JP" sz="14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
        <p:nvSpPr>
          <p:cNvPr id="34" name="Text Placeholder 5">
            <a:extLst>
              <a:ext uri="{FF2B5EF4-FFF2-40B4-BE49-F238E27FC236}">
                <a16:creationId xmlns:a16="http://schemas.microsoft.com/office/drawing/2014/main" id="{66193979-FD29-848E-B07F-F78F355A077E}"/>
              </a:ext>
            </a:extLst>
          </p:cNvPr>
          <p:cNvSpPr txBox="1">
            <a:spLocks/>
          </p:cNvSpPr>
          <p:nvPr/>
        </p:nvSpPr>
        <p:spPr>
          <a:xfrm>
            <a:off x="7732545" y="6164934"/>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Fitted</a:t>
            </a:r>
          </a:p>
        </p:txBody>
      </p: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0693ACA3-B856-1A5F-888E-CADF902F4654}"/>
                  </a:ext>
                </a:extLst>
              </p:cNvPr>
              <p:cNvSpPr txBox="1">
                <a:spLocks/>
              </p:cNvSpPr>
              <p:nvPr/>
            </p:nvSpPr>
            <p:spPr>
              <a:xfrm>
                <a:off x="251218" y="2442137"/>
                <a:ext cx="11390321" cy="624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600" dirty="0">
                    <a:solidFill>
                      <a:schemeClr val="tx1"/>
                    </a:solidFill>
                    <a:latin typeface="Calibri" panose="020F0502020204030204"/>
                    <a:ea typeface="游ゴシック" panose="020B0400000000000000" pitchFamily="34" charset="-128"/>
                  </a:rPr>
                  <a:t>Since  </a:t>
                </a:r>
                <a14:m>
                  <m:oMath xmlns:m="http://schemas.openxmlformats.org/officeDocument/2006/math">
                    <m:r>
                      <a:rPr lang="en-NZ" altLang="ja-JP" sz="1600" b="1" i="1" smtClean="0">
                        <a:solidFill>
                          <a:schemeClr val="tx1"/>
                        </a:solidFill>
                        <a:latin typeface="Cambria Math" panose="02040503050406030204" pitchFamily="18" charset="0"/>
                      </a:rPr>
                      <m:t>𝑽𝒂𝒓</m:t>
                    </m:r>
                    <m:d>
                      <m:dPr>
                        <m:begChr m:val="["/>
                        <m:endChr m:val="]"/>
                        <m:ctrlPr>
                          <a:rPr lang="en-NZ" altLang="ja-JP" sz="1600" b="0" i="1" smtClean="0">
                            <a:solidFill>
                              <a:schemeClr val="tx1"/>
                            </a:solidFill>
                            <a:latin typeface="Cambria Math" panose="02040503050406030204" pitchFamily="18" charset="0"/>
                          </a:rPr>
                        </m:ctrlPr>
                      </m:dPr>
                      <m:e>
                        <m:r>
                          <a:rPr lang="en-NZ" altLang="ja-JP" sz="1600" b="0" i="0" smtClean="0">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e>
                    </m:d>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𝑽𝒂𝒓</m:t>
                    </m:r>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oMath>
                </a14:m>
                <a:r>
                  <a:rPr kumimoji="1" lang="en-NZ" altLang="ja-JP" sz="16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if the variance</a:t>
                </a:r>
                <a:r>
                  <a:rPr kumimoji="1" lang="en-NZ" altLang="ja-JP" sz="160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of the residuals in each group appears to be different</a:t>
                </a:r>
                <a:r>
                  <a:rPr lang="en-NZ" altLang="ja-JP" sz="1600" noProof="0" dirty="0">
                    <a:solidFill>
                      <a:schemeClr val="tx1"/>
                    </a:solidFill>
                    <a:latin typeface="Calibri" panose="020F0502020204030204"/>
                    <a:ea typeface="游ゴシック" panose="020B0400000000000000" pitchFamily="34" charset="-128"/>
                  </a:rPr>
                  <a:t> </a:t>
                </a:r>
                <a:r>
                  <a:rPr kumimoji="1" lang="en-NZ" altLang="ja-JP" sz="160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this would suggest that the data in each group arises from populations with different variance.</a:t>
                </a:r>
                <a:endPar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35" name="Text Placeholder 5">
                <a:extLst>
                  <a:ext uri="{FF2B5EF4-FFF2-40B4-BE49-F238E27FC236}">
                    <a16:creationId xmlns:a16="http://schemas.microsoft.com/office/drawing/2014/main" id="{0693ACA3-B856-1A5F-888E-CADF902F4654}"/>
                  </a:ext>
                </a:extLst>
              </p:cNvPr>
              <p:cNvSpPr txBox="1">
                <a:spLocks noRot="1" noChangeAspect="1" noMove="1" noResize="1" noEditPoints="1" noAdjustHandles="1" noChangeArrowheads="1" noChangeShapeType="1" noTextEdit="1"/>
              </p:cNvSpPr>
              <p:nvPr/>
            </p:nvSpPr>
            <p:spPr>
              <a:xfrm>
                <a:off x="251218" y="2442137"/>
                <a:ext cx="11390321" cy="624140"/>
              </a:xfrm>
              <a:prstGeom prst="rect">
                <a:avLst/>
              </a:prstGeom>
              <a:blipFill>
                <a:blip r:embed="rId8"/>
                <a:stretch>
                  <a:fillRect l="-268" r="-268" b="-12745"/>
                </a:stretch>
              </a:blipFill>
            </p:spPr>
            <p:txBody>
              <a:bodyPr/>
              <a:lstStyle/>
              <a:p>
                <a:r>
                  <a:rPr lang="en-NZ">
                    <a:noFill/>
                  </a:rPr>
                  <a:t> </a:t>
                </a:r>
              </a:p>
            </p:txBody>
          </p:sp>
        </mc:Fallback>
      </mc:AlternateContent>
      <p:sp>
        <p:nvSpPr>
          <p:cNvPr id="28" name="Text Placeholder 5">
            <a:extLst>
              <a:ext uri="{FF2B5EF4-FFF2-40B4-BE49-F238E27FC236}">
                <a16:creationId xmlns:a16="http://schemas.microsoft.com/office/drawing/2014/main" id="{4A8955AA-CDC6-EB9E-A3B9-BBF62F1820E7}"/>
              </a:ext>
            </a:extLst>
          </p:cNvPr>
          <p:cNvSpPr txBox="1">
            <a:spLocks/>
          </p:cNvSpPr>
          <p:nvPr/>
        </p:nvSpPr>
        <p:spPr>
          <a:xfrm>
            <a:off x="5946378" y="3894850"/>
            <a:ext cx="4504268" cy="7057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Bands not normally distributed about zero with differing ‘heights’ suggests non-constant variance</a:t>
            </a:r>
            <a:endPar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76516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6" grpId="0"/>
      <p:bldP spid="27" grpId="0"/>
      <p:bldP spid="32" grpId="0"/>
      <p:bldP spid="33" grpId="0"/>
      <p:bldP spid="34" grpId="0"/>
      <p:bldP spid="35"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Residual Analysis (QQ Plots)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5" name="Text Placeholder 5">
            <a:extLst>
              <a:ext uri="{FF2B5EF4-FFF2-40B4-BE49-F238E27FC236}">
                <a16:creationId xmlns:a16="http://schemas.microsoft.com/office/drawing/2014/main" id="{F7242CF4-F77A-43EE-88B8-CA4D42C77645}"/>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81D57042-C610-9F27-D09B-4935A1A3C2D6}"/>
              </a:ext>
            </a:extLst>
          </p:cNvPr>
          <p:cNvSpPr txBox="1">
            <a:spLocks/>
          </p:cNvSpPr>
          <p:nvPr/>
        </p:nvSpPr>
        <p:spPr>
          <a:xfrm>
            <a:off x="251223" y="815333"/>
            <a:ext cx="5844775" cy="4759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In one-way ANOVA we fit the model…</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200DC65-347B-C9B4-5DA5-679EC9B3C03E}"/>
                  </a:ext>
                </a:extLst>
              </p:cNvPr>
              <p:cNvSpPr txBox="1">
                <a:spLocks/>
              </p:cNvSpPr>
              <p:nvPr/>
            </p:nvSpPr>
            <p:spPr>
              <a:xfrm>
                <a:off x="251223" y="1157790"/>
                <a:ext cx="528976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m:oMathPara>
                </a14:m>
                <a:endParaRPr lang="en-NZ" altLang="ja-JP" sz="1600" b="1" i="1" dirty="0">
                  <a:solidFill>
                    <a:srgbClr val="C00000"/>
                  </a:solidFill>
                </a:endParaRPr>
              </a:p>
            </p:txBody>
          </p:sp>
        </mc:Choice>
        <mc:Fallback xmlns="">
          <p:sp>
            <p:nvSpPr>
              <p:cNvPr id="20" name="Text Placeholder 5">
                <a:extLst>
                  <a:ext uri="{FF2B5EF4-FFF2-40B4-BE49-F238E27FC236}">
                    <a16:creationId xmlns:a16="http://schemas.microsoft.com/office/drawing/2014/main" id="{5200DC65-347B-C9B4-5DA5-679EC9B3C03E}"/>
                  </a:ext>
                </a:extLst>
              </p:cNvPr>
              <p:cNvSpPr txBox="1">
                <a:spLocks noRot="1" noChangeAspect="1" noMove="1" noResize="1" noEditPoints="1" noAdjustHandles="1" noChangeArrowheads="1" noChangeShapeType="1" noTextEdit="1"/>
              </p:cNvSpPr>
              <p:nvPr/>
            </p:nvSpPr>
            <p:spPr>
              <a:xfrm>
                <a:off x="251223" y="1157790"/>
                <a:ext cx="5289767"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74BB1ADB-F4E7-54C0-C32E-EEA2706CCC81}"/>
                  </a:ext>
                </a:extLst>
              </p:cNvPr>
              <p:cNvSpPr txBox="1">
                <a:spLocks/>
              </p:cNvSpPr>
              <p:nvPr/>
            </p:nvSpPr>
            <p:spPr>
              <a:xfrm>
                <a:off x="251219" y="1753893"/>
                <a:ext cx="6203665" cy="7943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1600" b="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T</a:t>
                </a: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he fitted value for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oMath>
                </a14:m>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is given by   </a:t>
                </a:r>
                <a14:m>
                  <m:oMath xmlns:m="http://schemas.openxmlformats.org/officeDocument/2006/math">
                    <m:sSub>
                      <m:sSubPr>
                        <m:ctrlPr>
                          <a:rPr lang="en-NZ" sz="1600" b="1" i="1">
                            <a:solidFill>
                              <a:schemeClr val="tx1"/>
                            </a:solidFill>
                            <a:latin typeface="Cambria Math" panose="02040503050406030204" pitchFamily="18" charset="0"/>
                          </a:rPr>
                        </m:ctrlPr>
                      </m:sSubPr>
                      <m:e>
                        <m:acc>
                          <m:accPr>
                            <m:chr m:val="̅"/>
                            <m:ctrlPr>
                              <a:rPr lang="en-NZ" sz="1600" b="1" i="1">
                                <a:solidFill>
                                  <a:schemeClr val="tx1"/>
                                </a:solidFill>
                                <a:latin typeface="Cambria Math" panose="02040503050406030204" pitchFamily="18" charset="0"/>
                              </a:rPr>
                            </m:ctrlPr>
                          </m:accPr>
                          <m:e>
                            <m:r>
                              <a:rPr lang="en-NZ" sz="1600" b="1" i="1">
                                <a:solidFill>
                                  <a:schemeClr val="tx1"/>
                                </a:solidFill>
                                <a:latin typeface="Cambria Math" panose="02040503050406030204" pitchFamily="18" charset="0"/>
                              </a:rPr>
                              <m:t>𝒀</m:t>
                            </m:r>
                          </m:e>
                        </m:acc>
                      </m:e>
                      <m:sub>
                        <m:r>
                          <a:rPr lang="en-NZ" sz="1600" b="1" i="1">
                            <a:solidFill>
                              <a:schemeClr val="tx1"/>
                            </a:solidFill>
                            <a:latin typeface="Cambria Math" panose="02040503050406030204" pitchFamily="18" charset="0"/>
                          </a:rPr>
                          <m:t>𝒊</m:t>
                        </m:r>
                        <m:r>
                          <a:rPr lang="en-NZ" sz="1600" b="1" i="1">
                            <a:solidFill>
                              <a:schemeClr val="tx1"/>
                            </a:solidFill>
                            <a:latin typeface="Cambria Math" panose="02040503050406030204" pitchFamily="18" charset="0"/>
                            <a:ea typeface="Cambria Math" panose="02040503050406030204" pitchFamily="18" charset="0"/>
                          </a:rPr>
                          <m:t>∙</m:t>
                        </m:r>
                      </m:sub>
                    </m:sSub>
                  </m:oMath>
                </a14:m>
                <a:r>
                  <a:rPr lang="en-NZ" altLang="ja-JP" sz="1600" dirty="0">
                    <a:solidFill>
                      <a:schemeClr val="tx1"/>
                    </a:solidFill>
                  </a:rPr>
                  <a:t> </a:t>
                </a:r>
              </a:p>
              <a:p>
                <a:pPr lvl="0" algn="just">
                  <a:lnSpc>
                    <a:spcPct val="100000"/>
                  </a:lnSpc>
                  <a:defRPr/>
                </a:pPr>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The residual associated to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oMath>
                </a14:m>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is given by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𝝐</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oMath>
                </a14:m>
                <a:r>
                  <a:rPr kumimoji="1" lang="en-NZ" altLang="ja-JP" sz="1600" b="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a:t>
                </a:r>
                <a:endParaRPr kumimoji="1" lang="en-NZ" altLang="ja-JP" sz="16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21" name="Text Placeholder 5">
                <a:extLst>
                  <a:ext uri="{FF2B5EF4-FFF2-40B4-BE49-F238E27FC236}">
                    <a16:creationId xmlns:a16="http://schemas.microsoft.com/office/drawing/2014/main" id="{74BB1ADB-F4E7-54C0-C32E-EEA2706CCC81}"/>
                  </a:ext>
                </a:extLst>
              </p:cNvPr>
              <p:cNvSpPr txBox="1">
                <a:spLocks noRot="1" noChangeAspect="1" noMove="1" noResize="1" noEditPoints="1" noAdjustHandles="1" noChangeArrowheads="1" noChangeShapeType="1" noTextEdit="1"/>
              </p:cNvSpPr>
              <p:nvPr/>
            </p:nvSpPr>
            <p:spPr>
              <a:xfrm>
                <a:off x="251219" y="1753893"/>
                <a:ext cx="6203665" cy="794327"/>
              </a:xfrm>
              <a:prstGeom prst="rect">
                <a:avLst/>
              </a:prstGeom>
              <a:blipFill>
                <a:blip r:embed="rId3"/>
                <a:stretch>
                  <a:fillRect l="-491" t="-15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graphicFrame>
            <p:nvGraphicFramePr>
              <p:cNvPr id="23" name="Table 2">
                <a:extLst>
                  <a:ext uri="{FF2B5EF4-FFF2-40B4-BE49-F238E27FC236}">
                    <a16:creationId xmlns:a16="http://schemas.microsoft.com/office/drawing/2014/main" id="{266F1727-8B0C-A0F8-3617-81A5023D9AC2}"/>
                  </a:ext>
                </a:extLst>
              </p:cNvPr>
              <p:cNvGraphicFramePr>
                <a:graphicFrameLocks noGrp="1"/>
              </p:cNvGraphicFramePr>
              <p:nvPr>
                <p:extLst>
                  <p:ext uri="{D42A27DB-BD31-4B8C-83A1-F6EECF244321}">
                    <p14:modId xmlns:p14="http://schemas.microsoft.com/office/powerpoint/2010/main" val="1673432345"/>
                  </p:ext>
                </p:extLst>
              </p:nvPr>
            </p:nvGraphicFramePr>
            <p:xfrm>
              <a:off x="6270893" y="861874"/>
              <a:ext cx="5063826"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gridCol w="1704906">
                      <a:extLst>
                        <a:ext uri="{9D8B030D-6E8A-4147-A177-3AD203B41FA5}">
                          <a16:colId xmlns:a16="http://schemas.microsoft.com/office/drawing/2014/main" val="126256495"/>
                        </a:ext>
                      </a:extLst>
                    </a:gridCol>
                  </a:tblGrid>
                  <a:tr h="295770">
                    <a:tc>
                      <a:txBody>
                        <a:bodyPr/>
                        <a:lstStyle/>
                        <a:p>
                          <a:pPr algn="ctr"/>
                          <a:r>
                            <a:rPr lang="en-NZ" sz="1600" dirty="0"/>
                            <a:t>Parameter</a:t>
                          </a:r>
                        </a:p>
                      </a:txBody>
                      <a:tcPr anchor="ctr"/>
                    </a:tc>
                    <a:tc>
                      <a:txBody>
                        <a:bodyPr/>
                        <a:lstStyle/>
                        <a:p>
                          <a:pPr algn="ctr"/>
                          <a:r>
                            <a:rPr lang="en-NZ" sz="1600" dirty="0"/>
                            <a:t>Estimator</a:t>
                          </a:r>
                        </a:p>
                      </a:txBody>
                      <a:tcPr anchor="ctr"/>
                    </a:tc>
                    <a:tc>
                      <a:txBody>
                        <a:bodyPr/>
                        <a:lstStyle/>
                        <a:p>
                          <a:pPr algn="ctr"/>
                          <a:r>
                            <a:rPr lang="en-NZ" sz="1600" dirty="0"/>
                            <a:t>Meaning</a:t>
                          </a:r>
                        </a:p>
                      </a:txBody>
                      <a:tcPr anchor="ctr"/>
                    </a:tc>
                    <a:extLst>
                      <a:ext uri="{0D108BD9-81ED-4DB2-BD59-A6C34878D82A}">
                        <a16:rowId xmlns:a16="http://schemas.microsoft.com/office/drawing/2014/main" val="3666350365"/>
                      </a:ext>
                    </a:extLst>
                  </a:tr>
                  <a:tr h="692260">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rPr>
                                  <m:t>=</m:t>
                                </m:r>
                                <m:f>
                                  <m:fPr>
                                    <m:ctrlPr>
                                      <a:rPr lang="en-NZ" sz="1600" b="0" i="1" smtClean="0">
                                        <a:latin typeface="Cambria Math" panose="02040503050406030204" pitchFamily="18" charset="0"/>
                                      </a:rPr>
                                    </m:ctrlPr>
                                  </m:fPr>
                                  <m:num>
                                    <m:r>
                                      <a:rPr lang="en-NZ" sz="1600" b="0" i="1" smtClean="0">
                                        <a:latin typeface="Cambria Math" panose="02040503050406030204" pitchFamily="18" charset="0"/>
                                      </a:rPr>
                                      <m:t>1</m:t>
                                    </m:r>
                                  </m:num>
                                  <m:den>
                                    <m:r>
                                      <a:rPr lang="en-NZ" sz="1600" b="0" i="1" smtClean="0">
                                        <a:latin typeface="Cambria Math" panose="02040503050406030204" pitchFamily="18" charset="0"/>
                                      </a:rPr>
                                      <m:t>𝑛</m:t>
                                    </m:r>
                                  </m:den>
                                </m:f>
                                <m:r>
                                  <a:rPr lang="en-NZ" sz="1600" b="0" i="1" smtClean="0">
                                    <a:latin typeface="Cambria Math" panose="02040503050406030204" pitchFamily="18" charset="0"/>
                                  </a:rPr>
                                  <m:t> </m:t>
                                </m:r>
                                <m:nary>
                                  <m:naryPr>
                                    <m:chr m:val="∑"/>
                                    <m:ctrlPr>
                                      <a:rPr lang="en-NZ" sz="1600" b="0" i="1" smtClean="0">
                                        <a:latin typeface="Cambria Math" panose="02040503050406030204" pitchFamily="18" charset="0"/>
                                      </a:rPr>
                                    </m:ctrlPr>
                                  </m:naryPr>
                                  <m:sub>
                                    <m:r>
                                      <m:rPr>
                                        <m:brk m:alnAt="23"/>
                                      </m:rPr>
                                      <a:rPr lang="en-NZ" sz="1600" b="0" i="1" smtClean="0">
                                        <a:latin typeface="Cambria Math" panose="02040503050406030204" pitchFamily="18" charset="0"/>
                                      </a:rPr>
                                      <m:t>𝑗</m:t>
                                    </m:r>
                                    <m:r>
                                      <a:rPr lang="en-NZ" sz="1600" b="0" i="1" smtClean="0">
                                        <a:latin typeface="Cambria Math" panose="02040503050406030204" pitchFamily="18" charset="0"/>
                                      </a:rPr>
                                      <m:t>=1</m:t>
                                    </m:r>
                                  </m:sub>
                                  <m:sup>
                                    <m:r>
                                      <a:rPr lang="en-NZ" sz="1600" b="0" i="1" smtClean="0">
                                        <a:latin typeface="Cambria Math" panose="02040503050406030204" pitchFamily="18" charset="0"/>
                                      </a:rPr>
                                      <m:t>𝑛</m:t>
                                    </m:r>
                                  </m:sup>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𝑌</m:t>
                                        </m:r>
                                      </m:e>
                                      <m:sub>
                                        <m:r>
                                          <a:rPr lang="en-NZ" sz="1600" b="0" i="1" smtClean="0">
                                            <a:latin typeface="Cambria Math" panose="02040503050406030204" pitchFamily="18" charset="0"/>
                                          </a:rPr>
                                          <m:t>𝑖</m:t>
                                        </m:r>
                                        <m:r>
                                          <a:rPr lang="en-NZ" sz="1600" b="0" i="1" smtClean="0">
                                            <a:latin typeface="Cambria Math" panose="02040503050406030204" pitchFamily="18" charset="0"/>
                                          </a:rPr>
                                          <m:t>,</m:t>
                                        </m:r>
                                        <m:r>
                                          <a:rPr lang="en-NZ" sz="1600" b="0" i="1" smtClean="0">
                                            <a:latin typeface="Cambria Math" panose="02040503050406030204" pitchFamily="18" charset="0"/>
                                          </a:rPr>
                                          <m:t>𝑗</m:t>
                                        </m:r>
                                      </m:sub>
                                    </m:sSub>
                                  </m:e>
                                </m:nary>
                              </m:oMath>
                            </m:oMathPara>
                          </a14:m>
                          <a:endParaRPr lang="en-NZ" sz="1600" dirty="0"/>
                        </a:p>
                      </a:txBody>
                      <a:tcPr anchor="ctr"/>
                    </a:tc>
                    <a:tc>
                      <a:txBody>
                        <a:bodyPr/>
                        <a:lstStyle/>
                        <a:p>
                          <a:pPr algn="ctr"/>
                          <a:r>
                            <a:rPr lang="en-NZ" sz="1600" dirty="0"/>
                            <a:t>Mean of Group </a:t>
                          </a:r>
                          <a:r>
                            <a:rPr lang="en-NZ" sz="1600" dirty="0" err="1"/>
                            <a:t>i</a:t>
                          </a:r>
                          <a:endParaRPr lang="en-NZ" sz="1600" dirty="0"/>
                        </a:p>
                      </a:txBody>
                      <a:tcPr anchor="ctr"/>
                    </a:tc>
                    <a:extLst>
                      <a:ext uri="{0D108BD9-81ED-4DB2-BD59-A6C34878D82A}">
                        <a16:rowId xmlns:a16="http://schemas.microsoft.com/office/drawing/2014/main" val="3427382577"/>
                      </a:ext>
                    </a:extLst>
                  </a:tr>
                </a:tbl>
              </a:graphicData>
            </a:graphic>
          </p:graphicFrame>
        </mc:Choice>
        <mc:Fallback xmlns="">
          <p:graphicFrame>
            <p:nvGraphicFramePr>
              <p:cNvPr id="23" name="Table 2">
                <a:extLst>
                  <a:ext uri="{FF2B5EF4-FFF2-40B4-BE49-F238E27FC236}">
                    <a16:creationId xmlns:a16="http://schemas.microsoft.com/office/drawing/2014/main" id="{266F1727-8B0C-A0F8-3617-81A5023D9AC2}"/>
                  </a:ext>
                </a:extLst>
              </p:cNvPr>
              <p:cNvGraphicFramePr>
                <a:graphicFrameLocks noGrp="1"/>
              </p:cNvGraphicFramePr>
              <p:nvPr>
                <p:extLst>
                  <p:ext uri="{D42A27DB-BD31-4B8C-83A1-F6EECF244321}">
                    <p14:modId xmlns:p14="http://schemas.microsoft.com/office/powerpoint/2010/main" val="1673432345"/>
                  </p:ext>
                </p:extLst>
              </p:nvPr>
            </p:nvGraphicFramePr>
            <p:xfrm>
              <a:off x="6270893" y="861874"/>
              <a:ext cx="5063826"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gridCol w="1704906">
                      <a:extLst>
                        <a:ext uri="{9D8B030D-6E8A-4147-A177-3AD203B41FA5}">
                          <a16:colId xmlns:a16="http://schemas.microsoft.com/office/drawing/2014/main" val="126256495"/>
                        </a:ext>
                      </a:extLst>
                    </a:gridCol>
                  </a:tblGrid>
                  <a:tr h="335280">
                    <a:tc>
                      <a:txBody>
                        <a:bodyPr/>
                        <a:lstStyle/>
                        <a:p>
                          <a:pPr algn="ctr"/>
                          <a:r>
                            <a:rPr lang="en-NZ" sz="1600" dirty="0"/>
                            <a:t>Parameter</a:t>
                          </a:r>
                        </a:p>
                      </a:txBody>
                      <a:tcPr anchor="ctr"/>
                    </a:tc>
                    <a:tc>
                      <a:txBody>
                        <a:bodyPr/>
                        <a:lstStyle/>
                        <a:p>
                          <a:pPr algn="ctr"/>
                          <a:r>
                            <a:rPr lang="en-NZ" sz="1600" dirty="0"/>
                            <a:t>Estimator</a:t>
                          </a:r>
                        </a:p>
                      </a:txBody>
                      <a:tcPr anchor="ctr"/>
                    </a:tc>
                    <a:tc>
                      <a:txBody>
                        <a:bodyPr/>
                        <a:lstStyle/>
                        <a:p>
                          <a:pPr algn="ctr"/>
                          <a:r>
                            <a:rPr lang="en-NZ" sz="1600" dirty="0"/>
                            <a:t>Meaning</a:t>
                          </a:r>
                        </a:p>
                      </a:txBody>
                      <a:tcPr anchor="ctr"/>
                    </a:tc>
                    <a:extLst>
                      <a:ext uri="{0D108BD9-81ED-4DB2-BD59-A6C34878D82A}">
                        <a16:rowId xmlns:a16="http://schemas.microsoft.com/office/drawing/2014/main" val="3666350365"/>
                      </a:ext>
                    </a:extLst>
                  </a:tr>
                  <a:tr h="784733">
                    <a:tc>
                      <a:txBody>
                        <a:bodyPr/>
                        <a:lstStyle/>
                        <a:p>
                          <a:endParaRPr lang="en-US"/>
                        </a:p>
                      </a:txBody>
                      <a:tcPr anchor="ctr">
                        <a:blipFill>
                          <a:blip r:embed="rId4"/>
                          <a:stretch>
                            <a:fillRect l="-408" t="-44615" r="-241224" b="-1538"/>
                          </a:stretch>
                        </a:blipFill>
                      </a:tcPr>
                    </a:tc>
                    <a:tc>
                      <a:txBody>
                        <a:bodyPr/>
                        <a:lstStyle/>
                        <a:p>
                          <a:endParaRPr lang="en-US"/>
                        </a:p>
                      </a:txBody>
                      <a:tcPr anchor="ctr">
                        <a:blipFill>
                          <a:blip r:embed="rId4"/>
                          <a:stretch>
                            <a:fillRect l="-80130" t="-44615" r="-92508" b="-1538"/>
                          </a:stretch>
                        </a:blipFill>
                      </a:tcPr>
                    </a:tc>
                    <a:tc>
                      <a:txBody>
                        <a:bodyPr/>
                        <a:lstStyle/>
                        <a:p>
                          <a:pPr algn="ctr"/>
                          <a:r>
                            <a:rPr lang="en-NZ" sz="1600" dirty="0"/>
                            <a:t>Mean of Group </a:t>
                          </a:r>
                          <a:r>
                            <a:rPr lang="en-NZ" sz="1600" dirty="0" err="1"/>
                            <a:t>i</a:t>
                          </a:r>
                          <a:endParaRPr lang="en-NZ" sz="1600" dirty="0"/>
                        </a:p>
                      </a:txBody>
                      <a:tcPr anchor="ctr"/>
                    </a:tc>
                    <a:extLst>
                      <a:ext uri="{0D108BD9-81ED-4DB2-BD59-A6C34878D82A}">
                        <a16:rowId xmlns:a16="http://schemas.microsoft.com/office/drawing/2014/main" val="3427382577"/>
                      </a:ext>
                    </a:extLst>
                  </a:tr>
                </a:tbl>
              </a:graphicData>
            </a:graphic>
          </p:graphicFrame>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3D883778-7B27-7AEB-05AB-B554B3E17F36}"/>
                  </a:ext>
                </a:extLst>
              </p:cNvPr>
              <p:cNvSpPr txBox="1">
                <a:spLocks/>
              </p:cNvSpPr>
              <p:nvPr/>
            </p:nvSpPr>
            <p:spPr>
              <a:xfrm>
                <a:off x="251219" y="2550730"/>
                <a:ext cx="10530511" cy="9063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defRPr/>
                </a:pPr>
                <a:r>
                  <a:rPr lang="en-NZ" altLang="ja-JP" sz="1600" dirty="0">
                    <a:solidFill>
                      <a:schemeClr val="tx1"/>
                    </a:solidFill>
                    <a:latin typeface="Calibri" panose="020F0502020204030204"/>
                    <a:ea typeface="游ゴシック" panose="020B0400000000000000" pitchFamily="34" charset="-128"/>
                  </a:rPr>
                  <a:t>Note if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𝑵</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 </m:t>
                        </m:r>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𝝈</m:t>
                            </m:r>
                          </m:e>
                          <m:sup>
                            <m:r>
                              <a:rPr lang="en-NZ" altLang="ja-JP" sz="1600" b="1" i="1" smtClean="0">
                                <a:solidFill>
                                  <a:schemeClr val="tx1"/>
                                </a:solidFill>
                                <a:latin typeface="Cambria Math" panose="02040503050406030204" pitchFamily="18" charset="0"/>
                              </a:rPr>
                              <m:t>𝟐</m:t>
                            </m:r>
                          </m:sup>
                        </m:sSup>
                      </m:e>
                    </m:d>
                  </m:oMath>
                </a14:m>
                <a:r>
                  <a:rPr kumimoji="1" lang="en-NZ" altLang="ja-JP" sz="16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𝝐</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r>
                      <a:rPr lang="en-NZ" altLang="ja-JP" sz="1600" b="1" i="1">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a:solidFill>
                          <a:schemeClr val="tx1"/>
                        </a:solidFill>
                        <a:latin typeface="Cambria Math" panose="02040503050406030204" pitchFamily="18" charset="0"/>
                      </a:rPr>
                      <m:t>𝑵</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 </m:t>
                        </m:r>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𝝈</m:t>
                            </m:r>
                          </m:e>
                          <m:sup>
                            <m:r>
                              <a:rPr lang="en-NZ" altLang="ja-JP" sz="1600" b="1" i="1">
                                <a:solidFill>
                                  <a:schemeClr val="tx1"/>
                                </a:solidFill>
                                <a:latin typeface="Cambria Math" panose="02040503050406030204" pitchFamily="18" charset="0"/>
                              </a:rPr>
                              <m:t>𝟐</m:t>
                            </m:r>
                          </m:sup>
                        </m:sSup>
                      </m:e>
                    </m:d>
                  </m:oMath>
                </a14:m>
                <a:endParaRPr kumimoji="1" lang="en-NZ" altLang="ja-JP" sz="16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a:p>
                <a:pPr algn="just">
                  <a:lnSpc>
                    <a:spcPct val="100000"/>
                  </a:lnSpc>
                  <a:defRPr/>
                </a:pPr>
                <a:r>
                  <a:rPr lang="en-NZ" altLang="ja-JP" sz="1600" dirty="0">
                    <a:solidFill>
                      <a:schemeClr val="tx1"/>
                    </a:solidFill>
                    <a:latin typeface="Calibri" panose="020F0502020204030204"/>
                    <a:ea typeface="游ゴシック" panose="020B0400000000000000" pitchFamily="34" charset="-128"/>
                  </a:rPr>
                  <a:t>To show that the data in each group is normally distributed, it suffices to show that residuals are normally distributed.</a:t>
                </a:r>
                <a:endPar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29" name="Text Placeholder 5">
                <a:extLst>
                  <a:ext uri="{FF2B5EF4-FFF2-40B4-BE49-F238E27FC236}">
                    <a16:creationId xmlns:a16="http://schemas.microsoft.com/office/drawing/2014/main" id="{3D883778-7B27-7AEB-05AB-B554B3E17F36}"/>
                  </a:ext>
                </a:extLst>
              </p:cNvPr>
              <p:cNvSpPr txBox="1">
                <a:spLocks noRot="1" noChangeAspect="1" noMove="1" noResize="1" noEditPoints="1" noAdjustHandles="1" noChangeArrowheads="1" noChangeShapeType="1" noTextEdit="1"/>
              </p:cNvSpPr>
              <p:nvPr/>
            </p:nvSpPr>
            <p:spPr>
              <a:xfrm>
                <a:off x="251219" y="2550730"/>
                <a:ext cx="10530511" cy="906349"/>
              </a:xfrm>
              <a:prstGeom prst="rect">
                <a:avLst/>
              </a:prstGeom>
              <a:blipFill>
                <a:blip r:embed="rId5"/>
                <a:stretch>
                  <a:fillRect l="-28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55547DB4-8B65-1A1C-DD77-EB5F65359416}"/>
                  </a:ext>
                </a:extLst>
              </p:cNvPr>
              <p:cNvSpPr txBox="1">
                <a:spLocks/>
              </p:cNvSpPr>
              <p:nvPr/>
            </p:nvSpPr>
            <p:spPr>
              <a:xfrm>
                <a:off x="2545102" y="2534871"/>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0" name="Text Placeholder 5">
                <a:extLst>
                  <a:ext uri="{FF2B5EF4-FFF2-40B4-BE49-F238E27FC236}">
                    <a16:creationId xmlns:a16="http://schemas.microsoft.com/office/drawing/2014/main" id="{55547DB4-8B65-1A1C-DD77-EB5F65359416}"/>
                  </a:ext>
                </a:extLst>
              </p:cNvPr>
              <p:cNvSpPr txBox="1">
                <a:spLocks noRot="1" noChangeAspect="1" noMove="1" noResize="1" noEditPoints="1" noAdjustHandles="1" noChangeArrowheads="1" noChangeShapeType="1" noTextEdit="1"/>
              </p:cNvSpPr>
              <p:nvPr/>
            </p:nvSpPr>
            <p:spPr>
              <a:xfrm>
                <a:off x="2545102" y="2534871"/>
                <a:ext cx="628508" cy="365125"/>
              </a:xfrm>
              <a:prstGeom prst="rect">
                <a:avLst/>
              </a:prstGeom>
              <a:blipFill>
                <a:blip r:embed="rId6"/>
                <a:stretch>
                  <a:fillRect b="-15000"/>
                </a:stretch>
              </a:blipFill>
            </p:spPr>
            <p:txBody>
              <a:bodyPr/>
              <a:lstStyle/>
              <a:p>
                <a:r>
                  <a:rPr lang="en-NZ">
                    <a:noFill/>
                  </a:rPr>
                  <a:t> </a:t>
                </a:r>
              </a:p>
            </p:txBody>
          </p:sp>
        </mc:Fallback>
      </mc:AlternateContent>
      <p:sp>
        <p:nvSpPr>
          <p:cNvPr id="31" name="Text Placeholder 5">
            <a:extLst>
              <a:ext uri="{FF2B5EF4-FFF2-40B4-BE49-F238E27FC236}">
                <a16:creationId xmlns:a16="http://schemas.microsoft.com/office/drawing/2014/main" id="{49A1F838-1A76-D442-DC0C-6C8D4BC6551A}"/>
              </a:ext>
            </a:extLst>
          </p:cNvPr>
          <p:cNvSpPr txBox="1">
            <a:spLocks/>
          </p:cNvSpPr>
          <p:nvPr/>
        </p:nvSpPr>
        <p:spPr>
          <a:xfrm>
            <a:off x="251219" y="3317961"/>
            <a:ext cx="11689562" cy="7795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defRPr/>
            </a:pPr>
            <a:r>
              <a:rPr lang="en-NZ" altLang="ja-JP" sz="1600" dirty="0">
                <a:solidFill>
                  <a:schemeClr val="tx1"/>
                </a:solidFill>
                <a:latin typeface="Calibri" panose="020F0502020204030204"/>
                <a:ea typeface="游ゴシック" panose="020B0400000000000000" pitchFamily="34" charset="-128"/>
              </a:rPr>
              <a:t>Normal QQ-plots plot the percentiles of your data (or residuals of your data) against the percentiles of the standard normal distribution.</a:t>
            </a:r>
            <a:br>
              <a:rPr lang="en-NZ" altLang="ja-JP" sz="1600" dirty="0">
                <a:solidFill>
                  <a:schemeClr val="tx1"/>
                </a:solidFill>
                <a:latin typeface="Calibri" panose="020F0502020204030204"/>
                <a:ea typeface="游ゴシック" panose="020B0400000000000000" pitchFamily="34" charset="-128"/>
              </a:rPr>
            </a:br>
            <a:r>
              <a:rPr lang="en-NZ" altLang="ja-JP" sz="1600" dirty="0">
                <a:solidFill>
                  <a:schemeClr val="tx1"/>
                </a:solidFill>
              </a:rPr>
              <a:t>If the QQ-plot follows a straight line, this suggest that your data (or residuals of your data) are normally distributed.</a:t>
            </a:r>
          </a:p>
          <a:p>
            <a:pPr algn="just">
              <a:lnSpc>
                <a:spcPct val="100000"/>
              </a:lnSpc>
              <a:defRPr/>
            </a:pPr>
            <a:r>
              <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If</a:t>
            </a:r>
            <a:r>
              <a:rPr kumimoji="1" lang="en-NZ" altLang="ja-JP" sz="160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 the QQ-plot does not follow a straight line, this suggests that your data (or the residuals of your data) are not normally distributed.</a:t>
            </a:r>
            <a:endPar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pic>
        <p:nvPicPr>
          <p:cNvPr id="4" name="Picture 3">
            <a:extLst>
              <a:ext uri="{FF2B5EF4-FFF2-40B4-BE49-F238E27FC236}">
                <a16:creationId xmlns:a16="http://schemas.microsoft.com/office/drawing/2014/main" id="{1943BC1E-4837-9D54-4EC9-37D359C13392}"/>
              </a:ext>
            </a:extLst>
          </p:cNvPr>
          <p:cNvPicPr>
            <a:picLocks noChangeAspect="1"/>
          </p:cNvPicPr>
          <p:nvPr/>
        </p:nvPicPr>
        <p:blipFill>
          <a:blip r:embed="rId7"/>
          <a:stretch>
            <a:fillRect/>
          </a:stretch>
        </p:blipFill>
        <p:spPr>
          <a:xfrm>
            <a:off x="1127035" y="4289369"/>
            <a:ext cx="2101357" cy="2016255"/>
          </a:xfrm>
          <a:prstGeom prst="rect">
            <a:avLst/>
          </a:prstGeom>
        </p:spPr>
      </p:pic>
      <p:sp>
        <p:nvSpPr>
          <p:cNvPr id="35" name="Text Placeholder 5">
            <a:extLst>
              <a:ext uri="{FF2B5EF4-FFF2-40B4-BE49-F238E27FC236}">
                <a16:creationId xmlns:a16="http://schemas.microsoft.com/office/drawing/2014/main" id="{2CF06CC2-2F56-B398-7C70-42FB53C20780}"/>
              </a:ext>
            </a:extLst>
          </p:cNvPr>
          <p:cNvSpPr txBox="1">
            <a:spLocks/>
          </p:cNvSpPr>
          <p:nvPr/>
        </p:nvSpPr>
        <p:spPr>
          <a:xfrm>
            <a:off x="3151763" y="4620551"/>
            <a:ext cx="1717692" cy="10796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rgbClr val="0070C0"/>
                </a:solidFill>
                <a:latin typeface="Calibri" panose="020F0502020204030204"/>
                <a:ea typeface="游ゴシック" panose="020B0400000000000000" pitchFamily="34" charset="-128"/>
              </a:rPr>
              <a:t>QQ-Plot of residuals vs standard normal suggests data is normally distributed</a:t>
            </a:r>
          </a:p>
        </p:txBody>
      </p:sp>
      <p:sp>
        <p:nvSpPr>
          <p:cNvPr id="36" name="Text Placeholder 5">
            <a:extLst>
              <a:ext uri="{FF2B5EF4-FFF2-40B4-BE49-F238E27FC236}">
                <a16:creationId xmlns:a16="http://schemas.microsoft.com/office/drawing/2014/main" id="{DA420450-8C3F-6B39-5702-71F85D9D0958}"/>
              </a:ext>
            </a:extLst>
          </p:cNvPr>
          <p:cNvSpPr txBox="1">
            <a:spLocks/>
          </p:cNvSpPr>
          <p:nvPr/>
        </p:nvSpPr>
        <p:spPr>
          <a:xfrm rot="16200000">
            <a:off x="252316" y="4906542"/>
            <a:ext cx="1179443" cy="5699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Sample Quartiles</a:t>
            </a:r>
            <a:endParaRPr kumimoji="1" lang="en-NZ" altLang="ja-JP" sz="14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
        <p:nvSpPr>
          <p:cNvPr id="37" name="Text Placeholder 5">
            <a:extLst>
              <a:ext uri="{FF2B5EF4-FFF2-40B4-BE49-F238E27FC236}">
                <a16:creationId xmlns:a16="http://schemas.microsoft.com/office/drawing/2014/main" id="{968B301B-302A-CF4D-F314-788A0F78165D}"/>
              </a:ext>
            </a:extLst>
          </p:cNvPr>
          <p:cNvSpPr txBox="1">
            <a:spLocks/>
          </p:cNvSpPr>
          <p:nvPr/>
        </p:nvSpPr>
        <p:spPr>
          <a:xfrm>
            <a:off x="969150" y="6211662"/>
            <a:ext cx="2744463" cy="251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Theoretical Quartiles</a:t>
            </a:r>
            <a:endParaRPr kumimoji="1" lang="en-NZ" altLang="ja-JP" sz="14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pic>
        <p:nvPicPr>
          <p:cNvPr id="8" name="Picture 7">
            <a:extLst>
              <a:ext uri="{FF2B5EF4-FFF2-40B4-BE49-F238E27FC236}">
                <a16:creationId xmlns:a16="http://schemas.microsoft.com/office/drawing/2014/main" id="{7AE9B1D5-E96A-48CE-EA70-B13ECD6BBFA6}"/>
              </a:ext>
            </a:extLst>
          </p:cNvPr>
          <p:cNvPicPr>
            <a:picLocks noChangeAspect="1"/>
          </p:cNvPicPr>
          <p:nvPr/>
        </p:nvPicPr>
        <p:blipFill>
          <a:blip r:embed="rId8"/>
          <a:stretch>
            <a:fillRect/>
          </a:stretch>
        </p:blipFill>
        <p:spPr>
          <a:xfrm>
            <a:off x="8222605" y="4379302"/>
            <a:ext cx="2377858" cy="1830018"/>
          </a:xfrm>
          <a:prstGeom prst="rect">
            <a:avLst/>
          </a:prstGeom>
        </p:spPr>
      </p:pic>
      <p:sp>
        <p:nvSpPr>
          <p:cNvPr id="38" name="Text Placeholder 5">
            <a:extLst>
              <a:ext uri="{FF2B5EF4-FFF2-40B4-BE49-F238E27FC236}">
                <a16:creationId xmlns:a16="http://schemas.microsoft.com/office/drawing/2014/main" id="{496DD956-3C8C-712B-BE0D-68CEED7F8807}"/>
              </a:ext>
            </a:extLst>
          </p:cNvPr>
          <p:cNvSpPr txBox="1">
            <a:spLocks/>
          </p:cNvSpPr>
          <p:nvPr/>
        </p:nvSpPr>
        <p:spPr>
          <a:xfrm rot="16200000">
            <a:off x="7347886" y="4875857"/>
            <a:ext cx="1179443" cy="5699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Sample Quartiles</a:t>
            </a:r>
            <a:endParaRPr kumimoji="1" lang="en-NZ" altLang="ja-JP" sz="14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
        <p:nvSpPr>
          <p:cNvPr id="39" name="Text Placeholder 5">
            <a:extLst>
              <a:ext uri="{FF2B5EF4-FFF2-40B4-BE49-F238E27FC236}">
                <a16:creationId xmlns:a16="http://schemas.microsoft.com/office/drawing/2014/main" id="{1088E41D-F87D-AB3E-8EDD-61E25B5046F0}"/>
              </a:ext>
            </a:extLst>
          </p:cNvPr>
          <p:cNvSpPr txBox="1">
            <a:spLocks/>
          </p:cNvSpPr>
          <p:nvPr/>
        </p:nvSpPr>
        <p:spPr>
          <a:xfrm>
            <a:off x="8119237" y="6149616"/>
            <a:ext cx="2744463" cy="251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tx1"/>
                </a:solidFill>
                <a:latin typeface="Calibri" panose="020F0502020204030204"/>
                <a:ea typeface="游ゴシック" panose="020B0400000000000000" pitchFamily="34" charset="-128"/>
              </a:rPr>
              <a:t>Theoretical Quartiles</a:t>
            </a:r>
            <a:endParaRPr kumimoji="1" lang="en-NZ" altLang="ja-JP" sz="1400" b="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p:sp>
        <p:nvSpPr>
          <p:cNvPr id="40" name="Text Placeholder 5">
            <a:extLst>
              <a:ext uri="{FF2B5EF4-FFF2-40B4-BE49-F238E27FC236}">
                <a16:creationId xmlns:a16="http://schemas.microsoft.com/office/drawing/2014/main" id="{DF7A1134-9A67-83A6-D9F9-64D8911C632D}"/>
              </a:ext>
            </a:extLst>
          </p:cNvPr>
          <p:cNvSpPr txBox="1">
            <a:spLocks/>
          </p:cNvSpPr>
          <p:nvPr/>
        </p:nvSpPr>
        <p:spPr>
          <a:xfrm>
            <a:off x="5789239" y="4620551"/>
            <a:ext cx="1863370" cy="12492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rgbClr val="C00000"/>
                </a:solidFill>
              </a:rPr>
              <a:t>QQ-Plot of residuals vs standard normal suggests data is not normally distributed</a:t>
            </a:r>
          </a:p>
        </p:txBody>
      </p:sp>
    </p:spTree>
    <p:extLst>
      <p:ext uri="{BB962C8B-B14F-4D97-AF65-F5344CB8AC3E}">
        <p14:creationId xmlns:p14="http://schemas.microsoft.com/office/powerpoint/2010/main" val="213100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5" grpId="0"/>
      <p:bldP spid="36" grpId="0"/>
      <p:bldP spid="37" grpId="0"/>
      <p:bldP spid="38" grpId="0"/>
      <p:bldP spid="39"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9D65CDD-10D0-4FBC-AD7F-1CDAE4B2A221}"/>
              </a:ext>
            </a:extLst>
          </p:cNvPr>
          <p:cNvPicPr>
            <a:picLocks noChangeAspect="1"/>
          </p:cNvPicPr>
          <p:nvPr/>
        </p:nvPicPr>
        <p:blipFill>
          <a:blip r:embed="rId2"/>
          <a:stretch>
            <a:fillRect/>
          </a:stretch>
        </p:blipFill>
        <p:spPr>
          <a:xfrm>
            <a:off x="393652" y="1452235"/>
            <a:ext cx="4999026" cy="3663390"/>
          </a:xfrm>
          <a:prstGeom prst="rect">
            <a:avLst/>
          </a:prstGeom>
        </p:spPr>
      </p:pic>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Residual Analysis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EC47CECF-6A2D-4E3E-8542-2FE0CB2A8A72}"/>
              </a:ext>
            </a:extLst>
          </p:cNvPr>
          <p:cNvPicPr>
            <a:picLocks noChangeAspect="1"/>
          </p:cNvPicPr>
          <p:nvPr/>
        </p:nvPicPr>
        <p:blipFill>
          <a:blip r:embed="rId3"/>
          <a:stretch>
            <a:fillRect/>
          </a:stretch>
        </p:blipFill>
        <p:spPr>
          <a:xfrm>
            <a:off x="393652" y="5229913"/>
            <a:ext cx="6442043" cy="370693"/>
          </a:xfrm>
          <a:prstGeom prst="rect">
            <a:avLst/>
          </a:prstGeom>
        </p:spPr>
      </p:pic>
      <p:pic>
        <p:nvPicPr>
          <p:cNvPr id="5" name="Picture 4">
            <a:extLst>
              <a:ext uri="{FF2B5EF4-FFF2-40B4-BE49-F238E27FC236}">
                <a16:creationId xmlns:a16="http://schemas.microsoft.com/office/drawing/2014/main" id="{74B842D3-7B79-4E78-8520-368F9B7FD497}"/>
              </a:ext>
            </a:extLst>
          </p:cNvPr>
          <p:cNvPicPr>
            <a:picLocks noChangeAspect="1"/>
          </p:cNvPicPr>
          <p:nvPr/>
        </p:nvPicPr>
        <p:blipFill>
          <a:blip r:embed="rId4"/>
          <a:stretch>
            <a:fillRect/>
          </a:stretch>
        </p:blipFill>
        <p:spPr>
          <a:xfrm>
            <a:off x="393652" y="5669972"/>
            <a:ext cx="5406647" cy="815156"/>
          </a:xfrm>
          <a:prstGeom prst="rect">
            <a:avLst/>
          </a:prstGeom>
        </p:spPr>
      </p:pic>
      <p:pic>
        <p:nvPicPr>
          <p:cNvPr id="8" name="Picture 7">
            <a:extLst>
              <a:ext uri="{FF2B5EF4-FFF2-40B4-BE49-F238E27FC236}">
                <a16:creationId xmlns:a16="http://schemas.microsoft.com/office/drawing/2014/main" id="{AAD4CFCB-FB16-4075-8C88-1356497D09DA}"/>
              </a:ext>
            </a:extLst>
          </p:cNvPr>
          <p:cNvPicPr>
            <a:picLocks noChangeAspect="1"/>
          </p:cNvPicPr>
          <p:nvPr/>
        </p:nvPicPr>
        <p:blipFill>
          <a:blip r:embed="rId5"/>
          <a:stretch>
            <a:fillRect/>
          </a:stretch>
        </p:blipFill>
        <p:spPr>
          <a:xfrm>
            <a:off x="6096000" y="5200556"/>
            <a:ext cx="6048375" cy="400050"/>
          </a:xfrm>
          <a:prstGeom prst="rect">
            <a:avLst/>
          </a:prstGeom>
        </p:spPr>
      </p:pic>
      <p:pic>
        <p:nvPicPr>
          <p:cNvPr id="10" name="Picture 9">
            <a:extLst>
              <a:ext uri="{FF2B5EF4-FFF2-40B4-BE49-F238E27FC236}">
                <a16:creationId xmlns:a16="http://schemas.microsoft.com/office/drawing/2014/main" id="{9B566659-ADFE-4E15-82F6-38DC21851330}"/>
              </a:ext>
            </a:extLst>
          </p:cNvPr>
          <p:cNvPicPr>
            <a:picLocks noChangeAspect="1"/>
          </p:cNvPicPr>
          <p:nvPr/>
        </p:nvPicPr>
        <p:blipFill>
          <a:blip r:embed="rId6"/>
          <a:stretch>
            <a:fillRect/>
          </a:stretch>
        </p:blipFill>
        <p:spPr>
          <a:xfrm>
            <a:off x="6096000" y="5630618"/>
            <a:ext cx="5932227" cy="897158"/>
          </a:xfrm>
          <a:prstGeom prst="rect">
            <a:avLst/>
          </a:prstGeom>
        </p:spPr>
      </p:pic>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pic>
        <p:nvPicPr>
          <p:cNvPr id="25" name="Picture 24">
            <a:extLst>
              <a:ext uri="{FF2B5EF4-FFF2-40B4-BE49-F238E27FC236}">
                <a16:creationId xmlns:a16="http://schemas.microsoft.com/office/drawing/2014/main" id="{81B2E54B-9A0A-4273-8213-0C988C0698A5}"/>
              </a:ext>
            </a:extLst>
          </p:cNvPr>
          <p:cNvPicPr>
            <a:picLocks noChangeAspect="1"/>
          </p:cNvPicPr>
          <p:nvPr/>
        </p:nvPicPr>
        <p:blipFill>
          <a:blip r:embed="rId7"/>
          <a:stretch>
            <a:fillRect/>
          </a:stretch>
        </p:blipFill>
        <p:spPr>
          <a:xfrm>
            <a:off x="6503621" y="1455405"/>
            <a:ext cx="4742134" cy="3688369"/>
          </a:xfrm>
          <a:prstGeom prst="rect">
            <a:avLst/>
          </a:prstGeom>
        </p:spPr>
      </p:pic>
      <p:sp>
        <p:nvSpPr>
          <p:cNvPr id="26" name="Text Placeholder 5">
            <a:extLst>
              <a:ext uri="{FF2B5EF4-FFF2-40B4-BE49-F238E27FC236}">
                <a16:creationId xmlns:a16="http://schemas.microsoft.com/office/drawing/2014/main" id="{0C7AF4FF-894F-45AD-9A2E-7091B27761CF}"/>
              </a:ext>
            </a:extLst>
          </p:cNvPr>
          <p:cNvSpPr txBox="1">
            <a:spLocks/>
          </p:cNvSpPr>
          <p:nvPr/>
        </p:nvSpPr>
        <p:spPr>
          <a:xfrm>
            <a:off x="303934" y="845034"/>
            <a:ext cx="5557376" cy="8151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IQ Data </a:t>
            </a:r>
            <a:b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Fitted vs Residual Plot  =&gt;  Variance constant across groups</a:t>
            </a:r>
            <a:b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QQ Plot  =&gt;  Data</a:t>
            </a:r>
            <a:r>
              <a:rPr kumimoji="1" lang="en-NZ" altLang="ja-JP" sz="1700" b="1"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700" b="1" i="0" u="none" strike="noStrike" kern="1200" cap="none" spc="0" normalizeH="0" noProof="0" dirty="0" err="1">
                <a:ln>
                  <a:noFill/>
                </a:ln>
                <a:solidFill>
                  <a:srgbClr val="0070C0"/>
                </a:solidFill>
                <a:effectLst/>
                <a:uLnTx/>
                <a:uFillTx/>
                <a:latin typeface="Calibri" panose="020F0502020204030204"/>
                <a:ea typeface="游ゴシック" panose="020B0400000000000000" pitchFamily="34" charset="-128"/>
                <a:cs typeface="+mn-cs"/>
              </a:rPr>
              <a:t>Approx</a:t>
            </a:r>
            <a:r>
              <a:rPr kumimoji="1" lang="en-NZ" altLang="ja-JP" sz="1700" b="1"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normally distributed</a:t>
            </a: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9B556C19-5D1E-403E-8A54-1C15634A4E3E}"/>
              </a:ext>
            </a:extLst>
          </p:cNvPr>
          <p:cNvSpPr txBox="1">
            <a:spLocks/>
          </p:cNvSpPr>
          <p:nvPr/>
        </p:nvSpPr>
        <p:spPr>
          <a:xfrm>
            <a:off x="6543710" y="845034"/>
            <a:ext cx="5344357" cy="7033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700" b="1" u="sng" dirty="0">
                <a:solidFill>
                  <a:srgbClr val="C00000"/>
                </a:solidFill>
              </a:rPr>
              <a:t>Call Centre Data</a:t>
            </a:r>
            <a:b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Fitted vs Residual Plot  =&gt;  Variance differs across groups</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srgbClr val="C00000"/>
                </a:solidFill>
                <a:latin typeface="Calibri" panose="020F0502020204030204"/>
                <a:ea typeface="游ゴシック" panose="020B0400000000000000" pitchFamily="34" charset="-128"/>
              </a:rPr>
              <a:t>QQ Plot  =&gt;  Data not normally distributed</a:t>
            </a: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8" name="Text Placeholder 5">
            <a:extLst>
              <a:ext uri="{FF2B5EF4-FFF2-40B4-BE49-F238E27FC236}">
                <a16:creationId xmlns:a16="http://schemas.microsoft.com/office/drawing/2014/main" id="{9254CDCC-B34E-42D4-B923-2C53756A39BD}"/>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03262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Title 6">
            <a:extLst>
              <a:ext uri="{FF2B5EF4-FFF2-40B4-BE49-F238E27FC236}">
                <a16:creationId xmlns:a16="http://schemas.microsoft.com/office/drawing/2014/main" id="{F5E9E232-3F8F-88FC-0B2F-9A7E2B19A441}"/>
              </a:ext>
            </a:extLst>
          </p:cNvPr>
          <p:cNvSpPr txBox="1">
            <a:spLocks/>
          </p:cNvSpPr>
          <p:nvPr/>
        </p:nvSpPr>
        <p:spPr>
          <a:xfrm>
            <a:off x="2011786" y="3125400"/>
            <a:ext cx="8168429" cy="607201"/>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lang="en-US" altLang="ja-JP" sz="4500" b="1" dirty="0">
                <a:solidFill>
                  <a:prstClr val="black"/>
                </a:solidFill>
                <a:latin typeface="Calibri" panose="020F0502020204030204"/>
                <a:ea typeface="游ゴシック Light" panose="020B0300000000000000" pitchFamily="34" charset="-128"/>
              </a:rPr>
              <a:t>3.2d</a:t>
            </a:r>
            <a:r>
              <a:rPr kumimoji="1" lang="en-US" altLang="ja-JP"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Statistical Tests</a:t>
            </a:r>
            <a:endParaRPr kumimoji="1" lang="ja-JP" altLang="en-US"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3791290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Statistical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A40BCF96-9E8C-45FE-B030-DB77C3D4970C}"/>
              </a:ext>
            </a:extLst>
          </p:cNvPr>
          <p:cNvSpPr txBox="1">
            <a:spLocks/>
          </p:cNvSpPr>
          <p:nvPr/>
        </p:nvSpPr>
        <p:spPr>
          <a:xfrm>
            <a:off x="787021" y="1732616"/>
            <a:ext cx="10617959" cy="23376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It is possible to test whether the data within each group comes from a normal distribution using </a:t>
            </a:r>
            <a:r>
              <a:rPr lang="en-NZ" altLang="ja-JP" sz="2800" dirty="0">
                <a:solidFill>
                  <a:prstClr val="black"/>
                </a:solidFill>
                <a:latin typeface="Calibri" panose="020F0502020204030204"/>
                <a:ea typeface="游ゴシック" panose="020B0400000000000000" pitchFamily="34" charset="-128"/>
              </a:rPr>
              <a:t>either a</a:t>
            </a:r>
          </a:p>
          <a:p>
            <a:pPr marL="1085793" lvl="1" indent="-400050" algn="just">
              <a:lnSpc>
                <a:spcPct val="100000"/>
              </a:lnSpc>
              <a:spcBef>
                <a:spcPts val="0"/>
              </a:spcBef>
              <a:buFont typeface="+mj-lt"/>
              <a:buAutoNum type="romanLcPeriod"/>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Kolmogorov-Smirnov test</a:t>
            </a:r>
          </a:p>
          <a:p>
            <a:pPr marL="1085793" lvl="1" indent="-400050" algn="just">
              <a:lnSpc>
                <a:spcPct val="100000"/>
              </a:lnSpc>
              <a:spcBef>
                <a:spcPts val="0"/>
              </a:spcBef>
              <a:buFont typeface="+mj-lt"/>
              <a:buAutoNum type="romanLcPeriod"/>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Shapiro-Wilks test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4" name="Text Placeholder 5">
            <a:extLst>
              <a:ext uri="{FF2B5EF4-FFF2-40B4-BE49-F238E27FC236}">
                <a16:creationId xmlns:a16="http://schemas.microsoft.com/office/drawing/2014/main" id="{D42DA5E4-097D-46DF-B5F1-9D8091EDEA40}"/>
              </a:ext>
            </a:extLst>
          </p:cNvPr>
          <p:cNvSpPr txBox="1">
            <a:spLocks/>
          </p:cNvSpPr>
          <p:nvPr/>
        </p:nvSpPr>
        <p:spPr>
          <a:xfrm>
            <a:off x="787020" y="3396088"/>
            <a:ext cx="10617959" cy="8312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800" dirty="0">
                <a:solidFill>
                  <a:prstClr val="black"/>
                </a:solidFill>
                <a:latin typeface="Calibri" panose="020F0502020204030204"/>
                <a:ea typeface="游ゴシック" panose="020B0400000000000000" pitchFamily="34" charset="-128"/>
              </a:rPr>
              <a:t>We will meet the Shapiro-Wilks test later but n</a:t>
            </a: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either of these tests are </a:t>
            </a:r>
            <a:r>
              <a:rPr lang="en-NZ" altLang="ja-JP" sz="2800" dirty="0">
                <a:solidFill>
                  <a:prstClr val="black"/>
                </a:solidFill>
                <a:latin typeface="Calibri" panose="020F0502020204030204"/>
                <a:ea typeface="游ゴシック" panose="020B0400000000000000" pitchFamily="34" charset="-128"/>
              </a:rPr>
              <a:t>examined</a:t>
            </a: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in Stat 293.</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6" name="Text Placeholder 5">
            <a:extLst>
              <a:ext uri="{FF2B5EF4-FFF2-40B4-BE49-F238E27FC236}">
                <a16:creationId xmlns:a16="http://schemas.microsoft.com/office/drawing/2014/main" id="{E73E3C78-FC92-45A3-9A21-A1479865A9DA}"/>
              </a:ext>
            </a:extLst>
          </p:cNvPr>
          <p:cNvSpPr txBox="1">
            <a:spLocks/>
          </p:cNvSpPr>
          <p:nvPr/>
        </p:nvSpPr>
        <p:spPr>
          <a:xfrm>
            <a:off x="787020" y="4676314"/>
            <a:ext cx="10617959" cy="10573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It is possible to test whether the data within each group originates from distributions with the same variance using </a:t>
            </a:r>
            <a:r>
              <a:rPr kumimoji="1" lang="en-NZ" altLang="ja-JP" sz="28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rPr>
              <a:t>Levene’s</a:t>
            </a:r>
            <a:r>
              <a:rPr kumimoji="1" lang="en-NZ" altLang="ja-JP" sz="2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test.</a:t>
            </a:r>
            <a:endParaRPr kumimoji="1" lang="en-NZ" altLang="ja-JP" sz="2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8" name="Text Placeholder 5">
            <a:extLst>
              <a:ext uri="{FF2B5EF4-FFF2-40B4-BE49-F238E27FC236}">
                <a16:creationId xmlns:a16="http://schemas.microsoft.com/office/drawing/2014/main" id="{0D52C414-24AC-4A00-8BE9-D7DFE8B8BDF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79741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4498197"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Statistical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8EE69120-E72F-4F61-AF39-5516708FD4BA}"/>
              </a:ext>
            </a:extLst>
          </p:cNvPr>
          <p:cNvSpPr txBox="1">
            <a:spLocks/>
          </p:cNvSpPr>
          <p:nvPr/>
        </p:nvSpPr>
        <p:spPr>
          <a:xfrm>
            <a:off x="251224" y="1388283"/>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We want to test the hypotheses: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37ECE36C-CF50-47C6-95EC-59499AD712CD}"/>
                  </a:ext>
                </a:extLst>
              </p:cNvPr>
              <p:cNvSpPr txBox="1">
                <a:spLocks/>
              </p:cNvSpPr>
              <p:nvPr/>
            </p:nvSpPr>
            <p:spPr>
              <a:xfrm>
                <a:off x="1125942" y="1865727"/>
                <a:ext cx="3623479"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C00000"/>
                            </a:solidFill>
                            <a:latin typeface="Cambria Math" panose="02040503050406030204" pitchFamily="18" charset="0"/>
                          </a:rPr>
                        </m:ctrlPr>
                      </m:sSubPr>
                      <m:e>
                        <m:r>
                          <a:rPr lang="en-NZ" altLang="ja-JP" sz="2000" b="1" i="1" smtClean="0">
                            <a:solidFill>
                              <a:srgbClr val="C00000"/>
                            </a:solidFill>
                            <a:latin typeface="Cambria Math" panose="02040503050406030204" pitchFamily="18" charset="0"/>
                          </a:rPr>
                          <m:t>𝑯</m:t>
                        </m:r>
                      </m:e>
                      <m:sub>
                        <m:r>
                          <a:rPr lang="en-NZ" altLang="ja-JP" sz="2000" b="1" i="1" smtClean="0">
                            <a:solidFill>
                              <a:srgbClr val="C00000"/>
                            </a:solidFill>
                            <a:latin typeface="Cambria Math" panose="02040503050406030204" pitchFamily="18" charset="0"/>
                          </a:rPr>
                          <m:t>𝟎</m:t>
                        </m:r>
                      </m:sub>
                    </m:sSub>
                    <m:r>
                      <a:rPr lang="en-NZ" altLang="ja-JP" sz="2000" b="1" i="1" smtClean="0">
                        <a:solidFill>
                          <a:srgbClr val="C00000"/>
                        </a:solidFill>
                        <a:latin typeface="Cambria Math" panose="02040503050406030204" pitchFamily="18" charset="0"/>
                      </a:rPr>
                      <m:t> :  </m:t>
                    </m:r>
                    <m:sSubSup>
                      <m:sSubSupPr>
                        <m:ctrlPr>
                          <a:rPr lang="en-NZ" altLang="ja-JP" sz="2000" b="1" i="1" smtClean="0">
                            <a:solidFill>
                              <a:srgbClr val="C00000"/>
                            </a:solidFill>
                            <a:latin typeface="Cambria Math" panose="02040503050406030204" pitchFamily="18" charset="0"/>
                          </a:rPr>
                        </m:ctrlPr>
                      </m:sSubSupPr>
                      <m:e>
                        <m:r>
                          <a:rPr lang="en-NZ" altLang="ja-JP" sz="2000" b="1" i="1" smtClean="0">
                            <a:solidFill>
                              <a:srgbClr val="C00000"/>
                            </a:solidFill>
                            <a:latin typeface="Cambria Math" panose="02040503050406030204" pitchFamily="18" charset="0"/>
                          </a:rPr>
                          <m:t>𝝈</m:t>
                        </m:r>
                      </m:e>
                      <m:sub>
                        <m:r>
                          <a:rPr lang="en-NZ" altLang="ja-JP" sz="2000" b="1" i="1" smtClean="0">
                            <a:solidFill>
                              <a:srgbClr val="C00000"/>
                            </a:solidFill>
                            <a:latin typeface="Cambria Math" panose="02040503050406030204" pitchFamily="18" charset="0"/>
                          </a:rPr>
                          <m:t>𝒊</m:t>
                        </m:r>
                      </m:sub>
                      <m:sup>
                        <m:r>
                          <a:rPr lang="en-NZ" altLang="ja-JP" sz="2000" b="1" i="1" smtClean="0">
                            <a:solidFill>
                              <a:srgbClr val="C00000"/>
                            </a:solidFill>
                            <a:latin typeface="Cambria Math" panose="02040503050406030204" pitchFamily="18" charset="0"/>
                          </a:rPr>
                          <m:t>𝟐</m:t>
                        </m:r>
                      </m:sup>
                    </m:sSubSup>
                    <m:r>
                      <a:rPr lang="en-NZ" altLang="ja-JP" sz="2000" b="1" i="1" smtClean="0">
                        <a:solidFill>
                          <a:srgbClr val="C00000"/>
                        </a:solidFill>
                        <a:latin typeface="Cambria Math" panose="02040503050406030204" pitchFamily="18" charset="0"/>
                      </a:rPr>
                      <m:t>= </m:t>
                    </m:r>
                    <m:sSubSup>
                      <m:sSubSupPr>
                        <m:ctrlPr>
                          <a:rPr lang="en-NZ" altLang="ja-JP" sz="2000" b="1" i="1" smtClean="0">
                            <a:solidFill>
                              <a:srgbClr val="C00000"/>
                            </a:solidFill>
                            <a:latin typeface="Cambria Math" panose="02040503050406030204" pitchFamily="18" charset="0"/>
                          </a:rPr>
                        </m:ctrlPr>
                      </m:sSubSupPr>
                      <m:e>
                        <m:r>
                          <a:rPr lang="en-NZ" altLang="ja-JP" sz="2000" b="1" i="1" smtClean="0">
                            <a:solidFill>
                              <a:srgbClr val="C00000"/>
                            </a:solidFill>
                            <a:latin typeface="Cambria Math" panose="02040503050406030204" pitchFamily="18" charset="0"/>
                          </a:rPr>
                          <m:t>𝝈</m:t>
                        </m:r>
                      </m:e>
                      <m:sub>
                        <m:r>
                          <a:rPr lang="en-NZ" altLang="ja-JP" sz="2000" b="1" i="1" smtClean="0">
                            <a:solidFill>
                              <a:srgbClr val="C00000"/>
                            </a:solidFill>
                            <a:latin typeface="Cambria Math" panose="02040503050406030204" pitchFamily="18" charset="0"/>
                          </a:rPr>
                          <m:t>𝒋</m:t>
                        </m:r>
                      </m:sub>
                      <m:sup>
                        <m:r>
                          <a:rPr lang="en-NZ" altLang="ja-JP" sz="2000" b="1" i="1" smtClean="0">
                            <a:solidFill>
                              <a:srgbClr val="C00000"/>
                            </a:solidFill>
                            <a:latin typeface="Cambria Math" panose="02040503050406030204" pitchFamily="18" charset="0"/>
                          </a:rPr>
                          <m:t>𝟐</m:t>
                        </m:r>
                      </m:sup>
                    </m:sSubSup>
                  </m:oMath>
                </a14:m>
                <a:r>
                  <a:rPr lang="en-NZ" altLang="ja-JP" sz="2000" b="1" i="1" dirty="0">
                    <a:solidFill>
                      <a:srgbClr val="C00000"/>
                    </a:solidFill>
                    <a:latin typeface="Cambria Math" panose="02040503050406030204" pitchFamily="18" charset="0"/>
                  </a:rPr>
                  <a:t>  </a:t>
                </a:r>
                <a:r>
                  <a:rPr lang="en-NZ" altLang="ja-JP" sz="1600" dirty="0">
                    <a:solidFill>
                      <a:srgbClr val="C00000"/>
                    </a:solidFill>
                    <a:latin typeface="Cambria Math" panose="02040503050406030204" pitchFamily="18" charset="0"/>
                  </a:rPr>
                  <a:t>for all </a:t>
                </a:r>
                <a14:m>
                  <m:oMath xmlns:m="http://schemas.openxmlformats.org/officeDocument/2006/math">
                    <m:r>
                      <a:rPr lang="en-NZ" altLang="ja-JP" sz="1600" b="0" i="1" smtClean="0">
                        <a:solidFill>
                          <a:srgbClr val="C00000"/>
                        </a:solidFill>
                        <a:latin typeface="Cambria Math" panose="02040503050406030204" pitchFamily="18" charset="0"/>
                      </a:rPr>
                      <m:t>𝑖</m:t>
                    </m:r>
                    <m:r>
                      <a:rPr lang="en-NZ" altLang="ja-JP" sz="1600" b="0" i="1" smtClean="0">
                        <a:solidFill>
                          <a:srgbClr val="C00000"/>
                        </a:solidFill>
                        <a:latin typeface="Cambria Math" panose="02040503050406030204" pitchFamily="18" charset="0"/>
                      </a:rPr>
                      <m:t>,</m:t>
                    </m:r>
                    <m:r>
                      <a:rPr lang="en-NZ" altLang="ja-JP" sz="1600" b="0" i="1" smtClean="0">
                        <a:solidFill>
                          <a:srgbClr val="C00000"/>
                        </a:solidFill>
                        <a:latin typeface="Cambria Math" panose="02040503050406030204" pitchFamily="18" charset="0"/>
                      </a:rPr>
                      <m:t>𝑗</m:t>
                    </m:r>
                    <m:r>
                      <a:rPr lang="en-NZ" altLang="ja-JP" sz="1600" b="0" i="1" smtClean="0">
                        <a:solidFill>
                          <a:srgbClr val="C00000"/>
                        </a:solidFill>
                        <a:latin typeface="Cambria Math" panose="02040503050406030204" pitchFamily="18" charset="0"/>
                      </a:rPr>
                      <m:t>=1, …, </m:t>
                    </m:r>
                    <m:r>
                      <a:rPr lang="en-NZ" altLang="ja-JP" sz="1600" b="0" i="1" smtClean="0">
                        <a:solidFill>
                          <a:srgbClr val="C00000"/>
                        </a:solidFill>
                        <a:latin typeface="Cambria Math" panose="02040503050406030204" pitchFamily="18" charset="0"/>
                      </a:rPr>
                      <m:t>𝑘</m:t>
                    </m:r>
                  </m:oMath>
                </a14:m>
                <a:r>
                  <a:rPr lang="en-NZ" altLang="ja-JP" sz="1600" dirty="0">
                    <a:solidFill>
                      <a:srgbClr val="C00000"/>
                    </a:solidFill>
                    <a:latin typeface="Cambria Math" panose="02040503050406030204" pitchFamily="18" charset="0"/>
                  </a:rPr>
                  <a:t> </a:t>
                </a:r>
                <a:br>
                  <a:rPr lang="en-NZ" altLang="ja-JP" sz="2000" b="1" i="1" dirty="0">
                    <a:solidFill>
                      <a:srgbClr val="C00000"/>
                    </a:solidFill>
                    <a:latin typeface="Cambria Math" panose="02040503050406030204" pitchFamily="18" charset="0"/>
                  </a:rPr>
                </a:br>
                <a14:m>
                  <m:oMath xmlns:m="http://schemas.openxmlformats.org/officeDocument/2006/math">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𝑯</m:t>
                        </m:r>
                      </m:e>
                      <m:sub>
                        <m:r>
                          <a:rPr lang="en-NZ" altLang="ja-JP" sz="2000" b="1" i="1" smtClean="0">
                            <a:solidFill>
                              <a:srgbClr val="C00000"/>
                            </a:solidFill>
                            <a:latin typeface="Cambria Math" panose="02040503050406030204" pitchFamily="18" charset="0"/>
                          </a:rPr>
                          <m:t>𝟏</m:t>
                        </m:r>
                      </m:sub>
                    </m:sSub>
                    <m:r>
                      <a:rPr lang="en-NZ" altLang="ja-JP" sz="2000" b="1" i="1">
                        <a:solidFill>
                          <a:srgbClr val="C00000"/>
                        </a:solidFill>
                        <a:latin typeface="Cambria Math" panose="02040503050406030204" pitchFamily="18" charset="0"/>
                      </a:rPr>
                      <m:t> :  </m:t>
                    </m:r>
                    <m:sSubSup>
                      <m:sSubSupPr>
                        <m:ctrlPr>
                          <a:rPr lang="en-NZ" altLang="ja-JP" sz="2000" b="1" i="1" smtClean="0">
                            <a:solidFill>
                              <a:srgbClr val="C00000"/>
                            </a:solidFill>
                            <a:latin typeface="Cambria Math" panose="02040503050406030204" pitchFamily="18" charset="0"/>
                          </a:rPr>
                        </m:ctrlPr>
                      </m:sSubSupPr>
                      <m:e>
                        <m:r>
                          <a:rPr lang="en-NZ" altLang="ja-JP" sz="2000" b="1" i="1" smtClean="0">
                            <a:solidFill>
                              <a:srgbClr val="C00000"/>
                            </a:solidFill>
                            <a:latin typeface="Cambria Math" panose="02040503050406030204" pitchFamily="18" charset="0"/>
                          </a:rPr>
                          <m:t>𝝈</m:t>
                        </m:r>
                      </m:e>
                      <m:sub>
                        <m:r>
                          <a:rPr lang="en-NZ" altLang="ja-JP" sz="2000" b="1" i="1" smtClean="0">
                            <a:solidFill>
                              <a:srgbClr val="C00000"/>
                            </a:solidFill>
                            <a:latin typeface="Cambria Math" panose="02040503050406030204" pitchFamily="18" charset="0"/>
                          </a:rPr>
                          <m:t>𝒊</m:t>
                        </m:r>
                      </m:sub>
                      <m:sup>
                        <m:r>
                          <a:rPr lang="en-NZ" altLang="ja-JP" sz="2000" b="1" i="1" smtClean="0">
                            <a:solidFill>
                              <a:srgbClr val="C00000"/>
                            </a:solidFill>
                            <a:latin typeface="Cambria Math" panose="02040503050406030204" pitchFamily="18" charset="0"/>
                          </a:rPr>
                          <m:t>𝟐</m:t>
                        </m:r>
                      </m:sup>
                    </m:sSubSup>
                    <m:r>
                      <a:rPr lang="en-NZ" altLang="ja-JP" sz="2000" b="1" i="1" smtClean="0">
                        <a:solidFill>
                          <a:srgbClr val="C00000"/>
                        </a:solidFill>
                        <a:latin typeface="Cambria Math" panose="02040503050406030204" pitchFamily="18" charset="0"/>
                      </a:rPr>
                      <m:t>≠</m:t>
                    </m:r>
                    <m:r>
                      <a:rPr lang="en-NZ" altLang="ja-JP" sz="2000" b="1" i="1">
                        <a:solidFill>
                          <a:srgbClr val="C00000"/>
                        </a:solidFill>
                        <a:latin typeface="Cambria Math" panose="02040503050406030204" pitchFamily="18" charset="0"/>
                      </a:rPr>
                      <m:t> </m:t>
                    </m:r>
                    <m:sSubSup>
                      <m:sSubSupPr>
                        <m:ctrlPr>
                          <a:rPr lang="en-NZ" altLang="ja-JP" sz="2000" b="1" i="1" smtClean="0">
                            <a:solidFill>
                              <a:srgbClr val="C00000"/>
                            </a:solidFill>
                            <a:latin typeface="Cambria Math" panose="02040503050406030204" pitchFamily="18" charset="0"/>
                          </a:rPr>
                        </m:ctrlPr>
                      </m:sSubSupPr>
                      <m:e>
                        <m:r>
                          <a:rPr lang="en-NZ" altLang="ja-JP" sz="2000" b="1" i="1" smtClean="0">
                            <a:solidFill>
                              <a:srgbClr val="C00000"/>
                            </a:solidFill>
                            <a:latin typeface="Cambria Math" panose="02040503050406030204" pitchFamily="18" charset="0"/>
                          </a:rPr>
                          <m:t>𝝈</m:t>
                        </m:r>
                      </m:e>
                      <m:sub>
                        <m:r>
                          <a:rPr lang="en-NZ" altLang="ja-JP" sz="2000" b="1" i="1" smtClean="0">
                            <a:solidFill>
                              <a:srgbClr val="C00000"/>
                            </a:solidFill>
                            <a:latin typeface="Cambria Math" panose="02040503050406030204" pitchFamily="18" charset="0"/>
                          </a:rPr>
                          <m:t>𝒋</m:t>
                        </m:r>
                      </m:sub>
                      <m:sup>
                        <m:r>
                          <a:rPr lang="en-NZ" altLang="ja-JP" sz="2000" b="1" i="1" smtClean="0">
                            <a:solidFill>
                              <a:srgbClr val="C00000"/>
                            </a:solidFill>
                            <a:latin typeface="Cambria Math" panose="02040503050406030204" pitchFamily="18" charset="0"/>
                          </a:rPr>
                          <m:t>𝟐</m:t>
                        </m:r>
                      </m:sup>
                    </m:sSubSup>
                  </m:oMath>
                </a14:m>
                <a:r>
                  <a:rPr lang="en-NZ" altLang="ja-JP" sz="2000" b="1" dirty="0">
                    <a:solidFill>
                      <a:srgbClr val="C00000"/>
                    </a:solidFill>
                  </a:rPr>
                  <a:t>  </a:t>
                </a:r>
                <a:r>
                  <a:rPr lang="en-NZ" altLang="ja-JP" sz="1600" dirty="0">
                    <a:solidFill>
                      <a:srgbClr val="C00000"/>
                    </a:solidFill>
                  </a:rPr>
                  <a:t>for some </a:t>
                </a:r>
                <a14:m>
                  <m:oMath xmlns:m="http://schemas.openxmlformats.org/officeDocument/2006/math">
                    <m:r>
                      <a:rPr lang="en-NZ" altLang="ja-JP" sz="1600" b="0" i="1" smtClean="0">
                        <a:solidFill>
                          <a:srgbClr val="C00000"/>
                        </a:solidFill>
                        <a:latin typeface="Cambria Math" panose="02040503050406030204" pitchFamily="18" charset="0"/>
                      </a:rPr>
                      <m:t>𝑖</m:t>
                    </m:r>
                    <m:r>
                      <a:rPr lang="en-NZ" altLang="ja-JP" sz="1600" b="0" i="1" smtClean="0">
                        <a:solidFill>
                          <a:srgbClr val="C00000"/>
                        </a:solidFill>
                        <a:latin typeface="Cambria Math" panose="02040503050406030204" pitchFamily="18" charset="0"/>
                      </a:rPr>
                      <m:t>≠</m:t>
                    </m:r>
                    <m:r>
                      <a:rPr lang="en-NZ" altLang="ja-JP" sz="1600" b="0" i="1" smtClean="0">
                        <a:solidFill>
                          <a:srgbClr val="C00000"/>
                        </a:solidFill>
                        <a:latin typeface="Cambria Math" panose="02040503050406030204" pitchFamily="18" charset="0"/>
                      </a:rPr>
                      <m:t>𝑗</m:t>
                    </m:r>
                  </m:oMath>
                </a14:m>
                <a:endParaRPr lang="en-NZ" altLang="ja-JP" sz="1600" dirty="0">
                  <a:solidFill>
                    <a:srgbClr val="C00000"/>
                  </a:solidFill>
                </a:endParaRPr>
              </a:p>
            </p:txBody>
          </p:sp>
        </mc:Choice>
        <mc:Fallback xmlns="">
          <p:sp>
            <p:nvSpPr>
              <p:cNvPr id="10" name="Text Placeholder 5">
                <a:extLst>
                  <a:ext uri="{FF2B5EF4-FFF2-40B4-BE49-F238E27FC236}">
                    <a16:creationId xmlns:a16="http://schemas.microsoft.com/office/drawing/2014/main" id="{37ECE36C-CF50-47C6-95EC-59499AD712CD}"/>
                  </a:ext>
                </a:extLst>
              </p:cNvPr>
              <p:cNvSpPr txBox="1">
                <a:spLocks noRot="1" noChangeAspect="1" noMove="1" noResize="1" noEditPoints="1" noAdjustHandles="1" noChangeArrowheads="1" noChangeShapeType="1" noTextEdit="1"/>
              </p:cNvSpPr>
              <p:nvPr/>
            </p:nvSpPr>
            <p:spPr>
              <a:xfrm>
                <a:off x="1125942" y="1865727"/>
                <a:ext cx="3623479" cy="1021587"/>
              </a:xfrm>
              <a:prstGeom prst="rect">
                <a:avLst/>
              </a:prstGeom>
              <a:blipFill>
                <a:blip r:embed="rId2"/>
                <a:stretch>
                  <a:fillRect/>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571CD98B-228D-4598-A0D8-6A11402E3D8A}"/>
              </a:ext>
            </a:extLst>
          </p:cNvPr>
          <p:cNvSpPr txBox="1">
            <a:spLocks/>
          </p:cNvSpPr>
          <p:nvPr/>
        </p:nvSpPr>
        <p:spPr>
          <a:xfrm>
            <a:off x="479945" y="840282"/>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400" b="1" i="0"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Levene’s</a:t>
            </a:r>
            <a:r>
              <a:rPr kumimoji="1" lang="en-NZ" altLang="ja-JP" sz="2400" b="1" i="0"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Test</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400" b="1" i="0"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400" b="1" i="1"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A32325F8-EED3-4AFB-B228-F6BCEE6DF4CB}"/>
                  </a:ext>
                </a:extLst>
              </p:cNvPr>
              <p:cNvSpPr txBox="1">
                <a:spLocks/>
              </p:cNvSpPr>
              <p:nvPr/>
            </p:nvSpPr>
            <p:spPr>
              <a:xfrm>
                <a:off x="251223" y="2954047"/>
                <a:ext cx="5227093" cy="6607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We let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begChr m:val="|"/>
                        <m:end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𝒚</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acc>
                              <m:acc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𝒚</m:t>
                                </m:r>
                              </m:e>
                            </m:acc>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d>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where </a:t>
                </a:r>
                <a14:m>
                  <m:oMath xmlns:m="http://schemas.openxmlformats.org/officeDocument/2006/math">
                    <m:sSub>
                      <m:sSubPr>
                        <m:ctrlPr>
                          <a:rPr lang="en-NZ" altLang="ja-JP" sz="1800" b="1" i="1">
                            <a:solidFill>
                              <a:prstClr val="black"/>
                            </a:solidFill>
                            <a:latin typeface="Cambria Math" panose="02040503050406030204" pitchFamily="18" charset="0"/>
                          </a:rPr>
                        </m:ctrlPr>
                      </m:sSub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𝒚</m:t>
                            </m:r>
                          </m:e>
                        </m:acc>
                      </m:e>
                      <m:sub>
                        <m:r>
                          <a:rPr lang="en-NZ" altLang="ja-JP" sz="1800" b="1" i="1">
                            <a:solidFill>
                              <a:prstClr val="black"/>
                            </a:solidFill>
                            <a:latin typeface="Cambria Math" panose="02040503050406030204" pitchFamily="18" charset="0"/>
                          </a:rPr>
                          <m:t>𝒊</m:t>
                        </m:r>
                        <m:r>
                          <a:rPr lang="en-NZ" altLang="ja-JP" sz="1800" b="1" i="1">
                            <a:solidFill>
                              <a:prstClr val="black"/>
                            </a:solidFill>
                            <a:latin typeface="Cambria Math" panose="02040503050406030204" pitchFamily="18" charset="0"/>
                          </a:rPr>
                          <m:t>.</m:t>
                        </m:r>
                      </m:sub>
                    </m:sSub>
                    <m:r>
                      <a:rPr lang="en-NZ" altLang="ja-JP" sz="1800" b="1" i="1">
                        <a:solidFill>
                          <a:prstClr val="black"/>
                        </a:solidFill>
                        <a:latin typeface="Cambria Math" panose="02040503050406030204" pitchFamily="18" charset="0"/>
                      </a:rPr>
                      <m:t> </m:t>
                    </m:r>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is the sample</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median</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from </a:t>
                </a:r>
                <a:r>
                  <a:rPr lang="en-NZ" altLang="ja-JP" sz="1800" dirty="0">
                    <a:solidFill>
                      <a:prstClr val="black"/>
                    </a:solidFill>
                    <a:latin typeface="Calibri" panose="020F0502020204030204"/>
                    <a:ea typeface="游ゴシック" panose="020B0400000000000000" pitchFamily="34" charset="-128"/>
                  </a:rPr>
                  <a:t>g</a:t>
                </a:r>
                <a:r>
                  <a:rPr lang="en-NZ" altLang="ja-JP" sz="1800" baseline="0" dirty="0">
                    <a:solidFill>
                      <a:prstClr val="black"/>
                    </a:solidFill>
                    <a:latin typeface="Calibri" panose="020F0502020204030204"/>
                    <a:ea typeface="游ゴシック" panose="020B0400000000000000" pitchFamily="34" charset="-128"/>
                  </a:rPr>
                  <a:t>roup </a:t>
                </a:r>
                <a:r>
                  <a:rPr lang="en-NZ" altLang="ja-JP" sz="1800" b="1" i="1" baseline="0" dirty="0" err="1">
                    <a:solidFill>
                      <a:prstClr val="black"/>
                    </a:solidFill>
                    <a:latin typeface="Calibri" panose="020F0502020204030204"/>
                    <a:ea typeface="游ゴシック" panose="020B0400000000000000" pitchFamily="34" charset="-128"/>
                  </a:rPr>
                  <a:t>i</a:t>
                </a:r>
                <a:r>
                  <a:rPr lang="en-NZ" altLang="ja-JP" sz="1800" baseline="0" dirty="0">
                    <a:solidFill>
                      <a:prstClr val="black"/>
                    </a:solidFill>
                    <a:latin typeface="Calibri" panose="020F0502020204030204"/>
                    <a:ea typeface="游ゴシック" panose="020B0400000000000000" pitchFamily="34" charset="-128"/>
                  </a:rPr>
                  <a:t> and </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calculate</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the test statistic:</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5" name="Text Placeholder 5">
                <a:extLst>
                  <a:ext uri="{FF2B5EF4-FFF2-40B4-BE49-F238E27FC236}">
                    <a16:creationId xmlns:a16="http://schemas.microsoft.com/office/drawing/2014/main" id="{A32325F8-EED3-4AFB-B228-F6BCEE6DF4CB}"/>
                  </a:ext>
                </a:extLst>
              </p:cNvPr>
              <p:cNvSpPr txBox="1">
                <a:spLocks noRot="1" noChangeAspect="1" noMove="1" noResize="1" noEditPoints="1" noAdjustHandles="1" noChangeArrowheads="1" noChangeShapeType="1" noTextEdit="1"/>
              </p:cNvSpPr>
              <p:nvPr/>
            </p:nvSpPr>
            <p:spPr>
              <a:xfrm>
                <a:off x="251223" y="2954047"/>
                <a:ext cx="5227093" cy="660704"/>
              </a:xfrm>
              <a:prstGeom prst="rect">
                <a:avLst/>
              </a:prstGeom>
              <a:blipFill>
                <a:blip r:embed="rId3"/>
                <a:stretch>
                  <a:fillRect l="-932" t="-1852" r="-932" b="-1944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10D427C9-CD08-4F27-B82A-3B23D897D812}"/>
                  </a:ext>
                </a:extLst>
              </p:cNvPr>
              <p:cNvSpPr txBox="1">
                <a:spLocks/>
              </p:cNvSpPr>
              <p:nvPr/>
            </p:nvSpPr>
            <p:spPr>
              <a:xfrm>
                <a:off x="5478317" y="2895228"/>
                <a:ext cx="4880333" cy="11130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14:m>
                  <m:oMathPara xmlns:m="http://schemas.openxmlformats.org/officeDocument/2006/math">
                    <m:oMathParaPr>
                      <m:jc m:val="centerGroup"/>
                    </m:oMathParaPr>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𝑾</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f>
                            <m:fPr>
                              <m:type m:val="lin"/>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nary>
                                <m:naryPr>
                                  <m:chr m:val="∑"/>
                                  <m:ctrlPr>
                                    <a:rPr lang="en-NZ" altLang="ja-JP" sz="1800" b="1" i="1">
                                      <a:solidFill>
                                        <a:prstClr val="black"/>
                                      </a:solidFill>
                                      <a:latin typeface="Cambria Math" panose="02040503050406030204" pitchFamily="18" charset="0"/>
                                    </a:rPr>
                                  </m:ctrlPr>
                                </m:naryPr>
                                <m:sub>
                                  <m:r>
                                    <m:rPr>
                                      <m:brk m:alnAt="23"/>
                                    </m:rPr>
                                    <a:rPr lang="en-NZ" altLang="ja-JP" sz="1800" b="1" i="1">
                                      <a:solidFill>
                                        <a:prstClr val="black"/>
                                      </a:solidFill>
                                      <a:latin typeface="Cambria Math" panose="02040503050406030204" pitchFamily="18" charset="0"/>
                                    </a:rPr>
                                    <m:t>𝒊</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𝟏</m:t>
                                  </m:r>
                                </m:sub>
                                <m:sup>
                                  <m:r>
                                    <a:rPr lang="en-NZ" altLang="ja-JP" sz="1800" b="1" i="1">
                                      <a:solidFill>
                                        <a:prstClr val="black"/>
                                      </a:solidFill>
                                      <a:latin typeface="Cambria Math" panose="02040503050406030204" pitchFamily="18" charset="0"/>
                                    </a:rPr>
                                    <m:t>𝒌</m:t>
                                  </m:r>
                                </m:sup>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𝒏</m:t>
                                      </m:r>
                                    </m:e>
                                    <m:sub>
                                      <m:r>
                                        <a:rPr lang="en-NZ" altLang="ja-JP" sz="1800" b="1" i="1">
                                          <a:solidFill>
                                            <a:prstClr val="black"/>
                                          </a:solidFill>
                                          <a:latin typeface="Cambria Math" panose="02040503050406030204" pitchFamily="18" charset="0"/>
                                        </a:rPr>
                                        <m:t>𝒊</m:t>
                                      </m:r>
                                    </m:sub>
                                  </m:sSub>
                                  <m:r>
                                    <a:rPr lang="en-NZ" altLang="ja-JP" sz="1800" b="1" i="1">
                                      <a:solidFill>
                                        <a:prstClr val="black"/>
                                      </a:solidFill>
                                      <a:latin typeface="Cambria Math" panose="02040503050406030204" pitchFamily="18" charset="0"/>
                                    </a:rPr>
                                    <m:t> </m:t>
                                  </m:r>
                                  <m:sSup>
                                    <m:sSupPr>
                                      <m:ctrlPr>
                                        <a:rPr lang="en-NZ" altLang="ja-JP" sz="1800" b="1" i="1">
                                          <a:solidFill>
                                            <a:prstClr val="black"/>
                                          </a:solidFill>
                                          <a:latin typeface="Cambria Math" panose="02040503050406030204" pitchFamily="18" charset="0"/>
                                        </a:rPr>
                                      </m:ctrlPr>
                                    </m:sSupPr>
                                    <m:e>
                                      <m:d>
                                        <m:dPr>
                                          <m:ctrlPr>
                                            <a:rPr lang="en-NZ" altLang="ja-JP" sz="1800" b="1" i="1">
                                              <a:solidFill>
                                                <a:prstClr val="black"/>
                                              </a:solidFill>
                                              <a:latin typeface="Cambria Math" panose="02040503050406030204" pitchFamily="18" charset="0"/>
                                            </a:rPr>
                                          </m:ctrlPr>
                                        </m:dPr>
                                        <m:e>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𝒅</m:t>
                                                  </m:r>
                                                </m:e>
                                              </m:acc>
                                            </m:e>
                                            <m:sub>
                                              <m:r>
                                                <a:rPr lang="en-NZ" altLang="ja-JP" sz="1800" b="1" i="1">
                                                  <a:solidFill>
                                                    <a:prstClr val="black"/>
                                                  </a:solidFill>
                                                  <a:latin typeface="Cambria Math" panose="02040503050406030204" pitchFamily="18" charset="0"/>
                                                </a:rPr>
                                                <m:t>𝒊</m:t>
                                              </m:r>
                                              <m:r>
                                                <a:rPr lang="en-NZ" altLang="ja-JP" sz="1800" b="1" i="1">
                                                  <a:solidFill>
                                                    <a:prstClr val="black"/>
                                                  </a:solidFill>
                                                  <a:latin typeface="Cambria Math" panose="02040503050406030204" pitchFamily="18" charset="0"/>
                                                </a:rPr>
                                                <m:t>.</m:t>
                                              </m:r>
                                            </m:sub>
                                          </m:sSub>
                                          <m:r>
                                            <a:rPr lang="en-NZ" altLang="ja-JP" sz="1800" b="1" i="1">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𝒅</m:t>
                                                  </m:r>
                                                </m:e>
                                              </m:acc>
                                            </m:e>
                                            <m:sub>
                                              <m:r>
                                                <a:rPr lang="en-NZ" altLang="ja-JP" sz="1800" b="1" i="1">
                                                  <a:solidFill>
                                                    <a:prstClr val="black"/>
                                                  </a:solidFill>
                                                  <a:latin typeface="Cambria Math" panose="02040503050406030204" pitchFamily="18" charset="0"/>
                                                </a:rPr>
                                                <m:t>..</m:t>
                                              </m:r>
                                            </m:sub>
                                          </m:sSub>
                                          <m:r>
                                            <a:rPr lang="en-NZ" altLang="ja-JP" sz="1800" b="1" i="1">
                                              <a:solidFill>
                                                <a:prstClr val="black"/>
                                              </a:solidFill>
                                              <a:latin typeface="Cambria Math" panose="02040503050406030204" pitchFamily="18" charset="0"/>
                                            </a:rPr>
                                            <m:t> </m:t>
                                          </m:r>
                                        </m:e>
                                      </m:d>
                                    </m:e>
                                    <m:sup>
                                      <m:r>
                                        <a:rPr lang="en-NZ" altLang="ja-JP" sz="1800" b="1" i="1">
                                          <a:solidFill>
                                            <a:prstClr val="black"/>
                                          </a:solidFill>
                                          <a:latin typeface="Cambria Math" panose="02040503050406030204" pitchFamily="18" charset="0"/>
                                        </a:rPr>
                                        <m:t>𝟐</m:t>
                                      </m:r>
                                    </m:sup>
                                  </m:sSup>
                                </m:e>
                              </m:nary>
                              <m:r>
                                <a:rPr lang="en-NZ" altLang="ja-JP" sz="1800" b="1" i="1" smtClean="0">
                                  <a:solidFill>
                                    <a:prstClr val="black"/>
                                  </a:solidFill>
                                  <a:latin typeface="Cambria Math" panose="02040503050406030204" pitchFamily="18" charset="0"/>
                                </a:rPr>
                                <m:t> </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𝒌</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en>
                          </m:f>
                        </m:num>
                        <m:den>
                          <m:f>
                            <m:fPr>
                              <m:type m:val="lin"/>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𝒌</m:t>
                                  </m:r>
                                </m:sup>
                                <m:e>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up>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𝒏</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sup>
                                    <m:e>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acc>
                                                    <m:acc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e>
                                                  </m:acc>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b>
                                              </m:sSub>
                                            </m:e>
                                          </m:d>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nary>
                                </m:e>
                              </m:nary>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𝑵</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𝒌</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en>
                          </m:f>
                        </m:den>
                      </m:f>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7" name="Text Placeholder 5">
                <a:extLst>
                  <a:ext uri="{FF2B5EF4-FFF2-40B4-BE49-F238E27FC236}">
                    <a16:creationId xmlns:a16="http://schemas.microsoft.com/office/drawing/2014/main" id="{10D427C9-CD08-4F27-B82A-3B23D897D812}"/>
                  </a:ext>
                </a:extLst>
              </p:cNvPr>
              <p:cNvSpPr txBox="1">
                <a:spLocks noRot="1" noChangeAspect="1" noMove="1" noResize="1" noEditPoints="1" noAdjustHandles="1" noChangeArrowheads="1" noChangeShapeType="1" noTextEdit="1"/>
              </p:cNvSpPr>
              <p:nvPr/>
            </p:nvSpPr>
            <p:spPr>
              <a:xfrm>
                <a:off x="5478317" y="2895228"/>
                <a:ext cx="4880333" cy="111306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8F177757-CA87-4022-8CCC-85F1143F21A9}"/>
                  </a:ext>
                </a:extLst>
              </p:cNvPr>
              <p:cNvSpPr txBox="1">
                <a:spLocks/>
              </p:cNvSpPr>
              <p:nvPr/>
            </p:nvSpPr>
            <p:spPr>
              <a:xfrm>
                <a:off x="6851932" y="2072732"/>
                <a:ext cx="2544613" cy="5093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bg2">
                        <a:lumMod val="50000"/>
                      </a:schemeClr>
                    </a:solidFill>
                  </a:rPr>
                  <a:t>Avg variability between groups of the </a:t>
                </a:r>
                <a14:m>
                  <m:oMath xmlns:m="http://schemas.openxmlformats.org/officeDocument/2006/math">
                    <m:sSub>
                      <m:sSubPr>
                        <m:ctrlPr>
                          <a:rPr lang="en-NZ" altLang="ja-JP" sz="1400" b="0" i="1" smtClean="0">
                            <a:solidFill>
                              <a:schemeClr val="bg2">
                                <a:lumMod val="50000"/>
                              </a:schemeClr>
                            </a:solidFill>
                            <a:latin typeface="Cambria Math" panose="02040503050406030204" pitchFamily="18" charset="0"/>
                          </a:rPr>
                        </m:ctrlPr>
                      </m:sSubPr>
                      <m:e>
                        <m:r>
                          <a:rPr lang="en-NZ" altLang="ja-JP" sz="1400" b="0" i="1" smtClean="0">
                            <a:solidFill>
                              <a:schemeClr val="bg2">
                                <a:lumMod val="50000"/>
                              </a:schemeClr>
                            </a:solidFill>
                            <a:latin typeface="Cambria Math" panose="02040503050406030204" pitchFamily="18" charset="0"/>
                          </a:rPr>
                          <m:t>𝑑</m:t>
                        </m:r>
                      </m:e>
                      <m:sub>
                        <m:r>
                          <a:rPr lang="en-NZ" altLang="ja-JP" sz="1400" b="0" i="1" smtClean="0">
                            <a:solidFill>
                              <a:schemeClr val="bg2">
                                <a:lumMod val="50000"/>
                              </a:schemeClr>
                            </a:solidFill>
                            <a:latin typeface="Cambria Math" panose="02040503050406030204" pitchFamily="18" charset="0"/>
                          </a:rPr>
                          <m:t>𝑖</m:t>
                        </m:r>
                        <m:r>
                          <a:rPr lang="en-NZ" altLang="ja-JP" sz="1400" b="0" i="1" smtClean="0">
                            <a:solidFill>
                              <a:schemeClr val="bg2">
                                <a:lumMod val="50000"/>
                              </a:schemeClr>
                            </a:solidFill>
                            <a:latin typeface="Cambria Math" panose="02040503050406030204" pitchFamily="18" charset="0"/>
                          </a:rPr>
                          <m:t>,</m:t>
                        </m:r>
                        <m:r>
                          <a:rPr lang="en-NZ" altLang="ja-JP" sz="1400" b="0" i="1" smtClean="0">
                            <a:solidFill>
                              <a:schemeClr val="bg2">
                                <a:lumMod val="50000"/>
                              </a:schemeClr>
                            </a:solidFill>
                            <a:latin typeface="Cambria Math" panose="02040503050406030204" pitchFamily="18" charset="0"/>
                          </a:rPr>
                          <m:t>𝑗</m:t>
                        </m:r>
                      </m:sub>
                    </m:sSub>
                  </m:oMath>
                </a14:m>
                <a:endParaRPr lang="en-NZ" altLang="ja-JP" sz="1400" b="1" dirty="0">
                  <a:solidFill>
                    <a:schemeClr val="bg2">
                      <a:lumMod val="50000"/>
                    </a:schemeClr>
                  </a:solidFill>
                </a:endParaRPr>
              </a:p>
              <a:p>
                <a:pPr algn="ctr">
                  <a:lnSpc>
                    <a:spcPct val="100000"/>
                  </a:lnSpc>
                </a:pPr>
                <a:endParaRPr lang="en-NZ" altLang="ja-JP" sz="1400" b="1" dirty="0">
                  <a:solidFill>
                    <a:schemeClr val="bg2">
                      <a:lumMod val="50000"/>
                    </a:schemeClr>
                  </a:solidFill>
                </a:endParaRPr>
              </a:p>
              <a:p>
                <a:pPr algn="ctr">
                  <a:lnSpc>
                    <a:spcPct val="100000"/>
                  </a:lnSpc>
                </a:pPr>
                <a:endParaRPr lang="en-NZ" altLang="ja-JP" sz="1400" b="1" dirty="0">
                  <a:solidFill>
                    <a:schemeClr val="bg2">
                      <a:lumMod val="50000"/>
                    </a:schemeClr>
                  </a:solidFill>
                </a:endParaRPr>
              </a:p>
              <a:p>
                <a:pPr algn="ctr">
                  <a:lnSpc>
                    <a:spcPct val="100000"/>
                  </a:lnSpc>
                </a:pPr>
                <a:r>
                  <a:rPr lang="en-NZ" altLang="ja-JP" sz="1400" dirty="0">
                    <a:solidFill>
                      <a:schemeClr val="bg2">
                        <a:lumMod val="50000"/>
                      </a:schemeClr>
                    </a:solidFill>
                  </a:rPr>
                  <a:t>  </a:t>
                </a:r>
              </a:p>
              <a:p>
                <a:pPr algn="ctr">
                  <a:lnSpc>
                    <a:spcPct val="100000"/>
                  </a:lnSpc>
                </a:pPr>
                <a:endParaRPr lang="en-NZ" altLang="ja-JP" sz="1400" dirty="0">
                  <a:solidFill>
                    <a:schemeClr val="bg2">
                      <a:lumMod val="50000"/>
                    </a:schemeClr>
                  </a:solidFill>
                </a:endParaRPr>
              </a:p>
              <a:p>
                <a:pPr algn="ctr">
                  <a:lnSpc>
                    <a:spcPct val="100000"/>
                  </a:lnSpc>
                </a:pPr>
                <a:endParaRPr lang="en-NZ" altLang="ja-JP" sz="1400" i="1" dirty="0">
                  <a:solidFill>
                    <a:schemeClr val="bg2">
                      <a:lumMod val="50000"/>
                    </a:schemeClr>
                  </a:solidFill>
                </a:endParaRPr>
              </a:p>
            </p:txBody>
          </p:sp>
        </mc:Choice>
        <mc:Fallback xmlns="">
          <p:sp>
            <p:nvSpPr>
              <p:cNvPr id="18" name="Text Placeholder 5">
                <a:extLst>
                  <a:ext uri="{FF2B5EF4-FFF2-40B4-BE49-F238E27FC236}">
                    <a16:creationId xmlns:a16="http://schemas.microsoft.com/office/drawing/2014/main" id="{8F177757-CA87-4022-8CCC-85F1143F21A9}"/>
                  </a:ext>
                </a:extLst>
              </p:cNvPr>
              <p:cNvSpPr txBox="1">
                <a:spLocks noRot="1" noChangeAspect="1" noMove="1" noResize="1" noEditPoints="1" noAdjustHandles="1" noChangeArrowheads="1" noChangeShapeType="1" noTextEdit="1"/>
              </p:cNvSpPr>
              <p:nvPr/>
            </p:nvSpPr>
            <p:spPr>
              <a:xfrm>
                <a:off x="6851932" y="2072732"/>
                <a:ext cx="2544613" cy="509367"/>
              </a:xfrm>
              <a:prstGeom prst="rect">
                <a:avLst/>
              </a:prstGeom>
              <a:blipFill>
                <a:blip r:embed="rId5"/>
                <a:stretch>
                  <a:fillRect t="-2381" b="-1547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D056543C-011F-47BA-A48C-FE5E65CDE8D9}"/>
                  </a:ext>
                </a:extLst>
              </p:cNvPr>
              <p:cNvSpPr txBox="1">
                <a:spLocks/>
              </p:cNvSpPr>
              <p:nvPr/>
            </p:nvSpPr>
            <p:spPr>
              <a:xfrm>
                <a:off x="6851932" y="4214129"/>
                <a:ext cx="2544613" cy="5093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bg2">
                        <a:lumMod val="50000"/>
                      </a:schemeClr>
                    </a:solidFill>
                  </a:rPr>
                  <a:t>Avg variability within groups of the </a:t>
                </a:r>
                <a14:m>
                  <m:oMath xmlns:m="http://schemas.openxmlformats.org/officeDocument/2006/math">
                    <m:sSub>
                      <m:sSubPr>
                        <m:ctrlPr>
                          <a:rPr lang="en-NZ" altLang="ja-JP" sz="1400" b="0" i="1" smtClean="0">
                            <a:solidFill>
                              <a:schemeClr val="bg2">
                                <a:lumMod val="50000"/>
                              </a:schemeClr>
                            </a:solidFill>
                            <a:latin typeface="Cambria Math" panose="02040503050406030204" pitchFamily="18" charset="0"/>
                          </a:rPr>
                        </m:ctrlPr>
                      </m:sSubPr>
                      <m:e>
                        <m:r>
                          <a:rPr lang="en-NZ" altLang="ja-JP" sz="1400" b="0" i="1" smtClean="0">
                            <a:solidFill>
                              <a:schemeClr val="bg2">
                                <a:lumMod val="50000"/>
                              </a:schemeClr>
                            </a:solidFill>
                            <a:latin typeface="Cambria Math" panose="02040503050406030204" pitchFamily="18" charset="0"/>
                          </a:rPr>
                          <m:t>𝑑</m:t>
                        </m:r>
                      </m:e>
                      <m:sub>
                        <m:r>
                          <a:rPr lang="en-NZ" altLang="ja-JP" sz="1400" b="0" i="1" smtClean="0">
                            <a:solidFill>
                              <a:schemeClr val="bg2">
                                <a:lumMod val="50000"/>
                              </a:schemeClr>
                            </a:solidFill>
                            <a:latin typeface="Cambria Math" panose="02040503050406030204" pitchFamily="18" charset="0"/>
                          </a:rPr>
                          <m:t>𝑖</m:t>
                        </m:r>
                        <m:r>
                          <a:rPr lang="en-NZ" altLang="ja-JP" sz="1400" b="0" i="1" smtClean="0">
                            <a:solidFill>
                              <a:schemeClr val="bg2">
                                <a:lumMod val="50000"/>
                              </a:schemeClr>
                            </a:solidFill>
                            <a:latin typeface="Cambria Math" panose="02040503050406030204" pitchFamily="18" charset="0"/>
                          </a:rPr>
                          <m:t>,</m:t>
                        </m:r>
                        <m:r>
                          <a:rPr lang="en-NZ" altLang="ja-JP" sz="1400" b="0" i="1" smtClean="0">
                            <a:solidFill>
                              <a:schemeClr val="bg2">
                                <a:lumMod val="50000"/>
                              </a:schemeClr>
                            </a:solidFill>
                            <a:latin typeface="Cambria Math" panose="02040503050406030204" pitchFamily="18" charset="0"/>
                          </a:rPr>
                          <m:t>𝑗</m:t>
                        </m:r>
                      </m:sub>
                    </m:sSub>
                  </m:oMath>
                </a14:m>
                <a:endParaRPr lang="en-NZ" altLang="ja-JP" sz="1400" b="1" dirty="0">
                  <a:solidFill>
                    <a:schemeClr val="bg2">
                      <a:lumMod val="50000"/>
                    </a:schemeClr>
                  </a:solidFill>
                </a:endParaRPr>
              </a:p>
              <a:p>
                <a:pPr algn="ctr">
                  <a:lnSpc>
                    <a:spcPct val="100000"/>
                  </a:lnSpc>
                </a:pPr>
                <a:endParaRPr lang="en-NZ" altLang="ja-JP" sz="1400" b="1" dirty="0">
                  <a:solidFill>
                    <a:schemeClr val="bg2">
                      <a:lumMod val="50000"/>
                    </a:schemeClr>
                  </a:solidFill>
                </a:endParaRPr>
              </a:p>
              <a:p>
                <a:pPr algn="ctr">
                  <a:lnSpc>
                    <a:spcPct val="100000"/>
                  </a:lnSpc>
                </a:pPr>
                <a:endParaRPr lang="en-NZ" altLang="ja-JP" sz="1400" b="1" dirty="0">
                  <a:solidFill>
                    <a:schemeClr val="bg2">
                      <a:lumMod val="50000"/>
                    </a:schemeClr>
                  </a:solidFill>
                </a:endParaRPr>
              </a:p>
              <a:p>
                <a:pPr algn="ctr">
                  <a:lnSpc>
                    <a:spcPct val="100000"/>
                  </a:lnSpc>
                </a:pPr>
                <a:r>
                  <a:rPr lang="en-NZ" altLang="ja-JP" sz="1400" dirty="0">
                    <a:solidFill>
                      <a:schemeClr val="bg2">
                        <a:lumMod val="50000"/>
                      </a:schemeClr>
                    </a:solidFill>
                  </a:rPr>
                  <a:t>  </a:t>
                </a:r>
              </a:p>
              <a:p>
                <a:pPr algn="ctr">
                  <a:lnSpc>
                    <a:spcPct val="100000"/>
                  </a:lnSpc>
                </a:pPr>
                <a:endParaRPr lang="en-NZ" altLang="ja-JP" sz="1400" dirty="0">
                  <a:solidFill>
                    <a:schemeClr val="bg2">
                      <a:lumMod val="50000"/>
                    </a:schemeClr>
                  </a:solidFill>
                </a:endParaRPr>
              </a:p>
              <a:p>
                <a:pPr algn="ctr">
                  <a:lnSpc>
                    <a:spcPct val="100000"/>
                  </a:lnSpc>
                </a:pPr>
                <a:endParaRPr lang="en-NZ" altLang="ja-JP" sz="1400" i="1" dirty="0">
                  <a:solidFill>
                    <a:schemeClr val="bg2">
                      <a:lumMod val="50000"/>
                    </a:schemeClr>
                  </a:solidFill>
                </a:endParaRPr>
              </a:p>
            </p:txBody>
          </p:sp>
        </mc:Choice>
        <mc:Fallback xmlns="">
          <p:sp>
            <p:nvSpPr>
              <p:cNvPr id="23" name="Text Placeholder 5">
                <a:extLst>
                  <a:ext uri="{FF2B5EF4-FFF2-40B4-BE49-F238E27FC236}">
                    <a16:creationId xmlns:a16="http://schemas.microsoft.com/office/drawing/2014/main" id="{D056543C-011F-47BA-A48C-FE5E65CDE8D9}"/>
                  </a:ext>
                </a:extLst>
              </p:cNvPr>
              <p:cNvSpPr txBox="1">
                <a:spLocks noRot="1" noChangeAspect="1" noMove="1" noResize="1" noEditPoints="1" noAdjustHandles="1" noChangeArrowheads="1" noChangeShapeType="1" noTextEdit="1"/>
              </p:cNvSpPr>
              <p:nvPr/>
            </p:nvSpPr>
            <p:spPr>
              <a:xfrm>
                <a:off x="6851932" y="4214129"/>
                <a:ext cx="2544613" cy="509367"/>
              </a:xfrm>
              <a:prstGeom prst="rect">
                <a:avLst/>
              </a:prstGeom>
              <a:blipFill>
                <a:blip r:embed="rId6"/>
                <a:stretch>
                  <a:fillRect t="-1190" b="-15476"/>
                </a:stretch>
              </a:blipFill>
            </p:spPr>
            <p:txBody>
              <a:bodyPr/>
              <a:lstStyle/>
              <a:p>
                <a:r>
                  <a:rPr lang="en-NZ">
                    <a:noFill/>
                  </a:rPr>
                  <a:t> </a:t>
                </a:r>
              </a:p>
            </p:txBody>
          </p:sp>
        </mc:Fallback>
      </mc:AlternateContent>
      <p:sp>
        <p:nvSpPr>
          <p:cNvPr id="5" name="Right Brace 4">
            <a:extLst>
              <a:ext uri="{FF2B5EF4-FFF2-40B4-BE49-F238E27FC236}">
                <a16:creationId xmlns:a16="http://schemas.microsoft.com/office/drawing/2014/main" id="{515EF71D-01A8-469D-B09A-D130CB212E2C}"/>
              </a:ext>
            </a:extLst>
          </p:cNvPr>
          <p:cNvSpPr/>
          <p:nvPr/>
        </p:nvSpPr>
        <p:spPr>
          <a:xfrm rot="16200000">
            <a:off x="7931586" y="1305842"/>
            <a:ext cx="385304" cy="300250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5" name="Right Brace 24">
            <a:extLst>
              <a:ext uri="{FF2B5EF4-FFF2-40B4-BE49-F238E27FC236}">
                <a16:creationId xmlns:a16="http://schemas.microsoft.com/office/drawing/2014/main" id="{10E08007-593C-4F01-8D08-168D1C62CDD2}"/>
              </a:ext>
            </a:extLst>
          </p:cNvPr>
          <p:cNvSpPr/>
          <p:nvPr/>
        </p:nvSpPr>
        <p:spPr>
          <a:xfrm rot="5400000">
            <a:off x="7959129" y="2487124"/>
            <a:ext cx="330219" cy="30025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49" name="Text Placeholder 5">
                <a:extLst>
                  <a:ext uri="{FF2B5EF4-FFF2-40B4-BE49-F238E27FC236}">
                    <a16:creationId xmlns:a16="http://schemas.microsoft.com/office/drawing/2014/main" id="{0B364F27-A591-41C6-83BF-40C9DF0070AC}"/>
                  </a:ext>
                </a:extLst>
              </p:cNvPr>
              <p:cNvSpPr txBox="1">
                <a:spLocks/>
              </p:cNvSpPr>
              <p:nvPr/>
            </p:nvSpPr>
            <p:spPr>
              <a:xfrm>
                <a:off x="707696" y="3721508"/>
                <a:ext cx="4037464" cy="3487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𝒅</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sub>
                    </m:sSub>
                  </m:oMath>
                </a14:m>
                <a:r>
                  <a:rPr lang="en-NZ" altLang="ja-JP" sz="1800" i="1" dirty="0">
                    <a:solidFill>
                      <a:schemeClr val="tx1"/>
                    </a:solidFill>
                    <a:latin typeface="Calibri" panose="020F0502020204030204"/>
                    <a:ea typeface="游ゴシック" panose="020B0400000000000000" pitchFamily="34" charset="-128"/>
                  </a:rPr>
                  <a:t> are the group means of the </a:t>
                </a:r>
                <a14:m>
                  <m:oMath xmlns:m="http://schemas.openxmlformats.org/officeDocument/2006/math">
                    <m:sSub>
                      <m:sSubPr>
                        <m:ctrlPr>
                          <a:rPr lang="en-NZ" altLang="ja-JP" sz="1800" b="0" i="1" smtClean="0">
                            <a:solidFill>
                              <a:schemeClr val="tx1"/>
                            </a:solidFill>
                            <a:latin typeface="Cambria Math" panose="02040503050406030204" pitchFamily="18" charset="0"/>
                            <a:ea typeface="游ゴシック" panose="020B0400000000000000" pitchFamily="34" charset="-128"/>
                          </a:rPr>
                        </m:ctrlPr>
                      </m:sSubPr>
                      <m:e>
                        <m:r>
                          <a:rPr lang="en-NZ" altLang="ja-JP" sz="1800" b="0" i="1" smtClean="0">
                            <a:solidFill>
                              <a:schemeClr val="tx1"/>
                            </a:solidFill>
                            <a:latin typeface="Cambria Math" panose="02040503050406030204" pitchFamily="18" charset="0"/>
                            <a:ea typeface="游ゴシック" panose="020B0400000000000000" pitchFamily="34" charset="-128"/>
                          </a:rPr>
                          <m:t>𝑑</m:t>
                        </m:r>
                      </m:e>
                      <m:sub>
                        <m:r>
                          <a:rPr lang="en-NZ" altLang="ja-JP" sz="1800" b="0" i="1" smtClean="0">
                            <a:solidFill>
                              <a:schemeClr val="tx1"/>
                            </a:solidFill>
                            <a:latin typeface="Cambria Math" panose="02040503050406030204" pitchFamily="18" charset="0"/>
                            <a:ea typeface="游ゴシック" panose="020B0400000000000000" pitchFamily="34" charset="-128"/>
                          </a:rPr>
                          <m:t>𝑖</m:t>
                        </m:r>
                        <m:r>
                          <a:rPr lang="en-NZ" altLang="ja-JP" sz="1800" b="0" i="1" smtClean="0">
                            <a:solidFill>
                              <a:schemeClr val="tx1"/>
                            </a:solidFill>
                            <a:latin typeface="Cambria Math" panose="02040503050406030204" pitchFamily="18" charset="0"/>
                            <a:ea typeface="游ゴシック" panose="020B0400000000000000" pitchFamily="34" charset="-128"/>
                          </a:rPr>
                          <m:t>,</m:t>
                        </m:r>
                        <m:r>
                          <a:rPr lang="en-NZ" altLang="ja-JP" sz="1800" b="0" i="1" smtClean="0">
                            <a:solidFill>
                              <a:schemeClr val="tx1"/>
                            </a:solidFill>
                            <a:latin typeface="Cambria Math" panose="02040503050406030204" pitchFamily="18" charset="0"/>
                            <a:ea typeface="游ゴシック" panose="020B0400000000000000" pitchFamily="34" charset="-128"/>
                          </a:rPr>
                          <m:t>𝑗</m:t>
                        </m:r>
                      </m:sub>
                    </m:sSub>
                  </m:oMath>
                </a14:m>
                <a:endPar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49" name="Text Placeholder 5">
                <a:extLst>
                  <a:ext uri="{FF2B5EF4-FFF2-40B4-BE49-F238E27FC236}">
                    <a16:creationId xmlns:a16="http://schemas.microsoft.com/office/drawing/2014/main" id="{0B364F27-A591-41C6-83BF-40C9DF0070AC}"/>
                  </a:ext>
                </a:extLst>
              </p:cNvPr>
              <p:cNvSpPr txBox="1">
                <a:spLocks noRot="1" noChangeAspect="1" noMove="1" noResize="1" noEditPoints="1" noAdjustHandles="1" noChangeArrowheads="1" noChangeShapeType="1" noTextEdit="1"/>
              </p:cNvSpPr>
              <p:nvPr/>
            </p:nvSpPr>
            <p:spPr>
              <a:xfrm>
                <a:off x="707696" y="3721508"/>
                <a:ext cx="4037464" cy="348711"/>
              </a:xfrm>
              <a:prstGeom prst="rect">
                <a:avLst/>
              </a:prstGeom>
              <a:blipFill>
                <a:blip r:embed="rId7"/>
                <a:stretch>
                  <a:fillRect t="-6897" b="-3275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0" name="Text Placeholder 5">
                <a:extLst>
                  <a:ext uri="{FF2B5EF4-FFF2-40B4-BE49-F238E27FC236}">
                    <a16:creationId xmlns:a16="http://schemas.microsoft.com/office/drawing/2014/main" id="{849E97BC-D2E4-4165-9AEE-E83346D1B580}"/>
                  </a:ext>
                </a:extLst>
              </p:cNvPr>
              <p:cNvSpPr txBox="1">
                <a:spLocks/>
              </p:cNvSpPr>
              <p:nvPr/>
            </p:nvSpPr>
            <p:spPr>
              <a:xfrm>
                <a:off x="707696" y="4153487"/>
                <a:ext cx="3226175" cy="3487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𝒅</m:t>
                            </m:r>
                          </m:e>
                        </m:acc>
                      </m:e>
                      <m:sub>
                        <m:r>
                          <a:rPr lang="en-NZ" altLang="ja-JP" sz="1800" b="1" i="1" smtClean="0">
                            <a:solidFill>
                              <a:schemeClr val="tx1"/>
                            </a:solidFill>
                            <a:latin typeface="Cambria Math" panose="02040503050406030204" pitchFamily="18" charset="0"/>
                          </a:rPr>
                          <m:t>..</m:t>
                        </m:r>
                      </m:sub>
                    </m:sSub>
                  </m:oMath>
                </a14:m>
                <a:r>
                  <a:rPr lang="en-NZ" altLang="ja-JP" sz="1800" i="1" dirty="0">
                    <a:solidFill>
                      <a:schemeClr val="tx1"/>
                    </a:solidFill>
                    <a:latin typeface="Calibri" panose="020F0502020204030204"/>
                    <a:ea typeface="游ゴシック" panose="020B0400000000000000" pitchFamily="34" charset="-128"/>
                  </a:rPr>
                  <a:t> is overall mean of the </a:t>
                </a:r>
                <a14:m>
                  <m:oMath xmlns:m="http://schemas.openxmlformats.org/officeDocument/2006/math">
                    <m:sSub>
                      <m:sSubPr>
                        <m:ctrlPr>
                          <a:rPr lang="en-NZ" altLang="ja-JP" sz="1800" b="0" i="1" smtClean="0">
                            <a:solidFill>
                              <a:schemeClr val="tx1"/>
                            </a:solidFill>
                            <a:latin typeface="Cambria Math" panose="02040503050406030204" pitchFamily="18" charset="0"/>
                            <a:ea typeface="游ゴシック" panose="020B0400000000000000" pitchFamily="34" charset="-128"/>
                          </a:rPr>
                        </m:ctrlPr>
                      </m:sSubPr>
                      <m:e>
                        <m:r>
                          <a:rPr lang="en-NZ" altLang="ja-JP" sz="1800" b="0" i="1" smtClean="0">
                            <a:solidFill>
                              <a:schemeClr val="tx1"/>
                            </a:solidFill>
                            <a:latin typeface="Cambria Math" panose="02040503050406030204" pitchFamily="18" charset="0"/>
                            <a:ea typeface="游ゴシック" panose="020B0400000000000000" pitchFamily="34" charset="-128"/>
                          </a:rPr>
                          <m:t>𝑑</m:t>
                        </m:r>
                      </m:e>
                      <m:sub>
                        <m:r>
                          <a:rPr lang="en-NZ" altLang="ja-JP" sz="1800" b="0" i="1" smtClean="0">
                            <a:solidFill>
                              <a:schemeClr val="tx1"/>
                            </a:solidFill>
                            <a:latin typeface="Cambria Math" panose="02040503050406030204" pitchFamily="18" charset="0"/>
                            <a:ea typeface="游ゴシック" panose="020B0400000000000000" pitchFamily="34" charset="-128"/>
                          </a:rPr>
                          <m:t>𝑖</m:t>
                        </m:r>
                        <m:r>
                          <a:rPr lang="en-NZ" altLang="ja-JP" sz="1800" b="0" i="1" smtClean="0">
                            <a:solidFill>
                              <a:schemeClr val="tx1"/>
                            </a:solidFill>
                            <a:latin typeface="Cambria Math" panose="02040503050406030204" pitchFamily="18" charset="0"/>
                            <a:ea typeface="游ゴシック" panose="020B0400000000000000" pitchFamily="34" charset="-128"/>
                          </a:rPr>
                          <m:t>,</m:t>
                        </m:r>
                        <m:r>
                          <a:rPr lang="en-NZ" altLang="ja-JP" sz="1800" b="0" i="1" smtClean="0">
                            <a:solidFill>
                              <a:schemeClr val="tx1"/>
                            </a:solidFill>
                            <a:latin typeface="Cambria Math" panose="02040503050406030204" pitchFamily="18" charset="0"/>
                            <a:ea typeface="游ゴシック" panose="020B0400000000000000" pitchFamily="34" charset="-128"/>
                          </a:rPr>
                          <m:t>𝑗</m:t>
                        </m:r>
                      </m:sub>
                    </m:sSub>
                  </m:oMath>
                </a14:m>
                <a:endPar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50" name="Text Placeholder 5">
                <a:extLst>
                  <a:ext uri="{FF2B5EF4-FFF2-40B4-BE49-F238E27FC236}">
                    <a16:creationId xmlns:a16="http://schemas.microsoft.com/office/drawing/2014/main" id="{849E97BC-D2E4-4165-9AEE-E83346D1B580}"/>
                  </a:ext>
                </a:extLst>
              </p:cNvPr>
              <p:cNvSpPr txBox="1">
                <a:spLocks noRot="1" noChangeAspect="1" noMove="1" noResize="1" noEditPoints="1" noAdjustHandles="1" noChangeArrowheads="1" noChangeShapeType="1" noTextEdit="1"/>
              </p:cNvSpPr>
              <p:nvPr/>
            </p:nvSpPr>
            <p:spPr>
              <a:xfrm>
                <a:off x="707696" y="4153487"/>
                <a:ext cx="3226175" cy="348711"/>
              </a:xfrm>
              <a:prstGeom prst="rect">
                <a:avLst/>
              </a:prstGeom>
              <a:blipFill>
                <a:blip r:embed="rId8"/>
                <a:stretch>
                  <a:fillRect t="-6897" b="-3275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1" name="Text Placeholder 5">
                <a:extLst>
                  <a:ext uri="{FF2B5EF4-FFF2-40B4-BE49-F238E27FC236}">
                    <a16:creationId xmlns:a16="http://schemas.microsoft.com/office/drawing/2014/main" id="{7CB2D06E-C000-49D5-9941-C62C94403F8D}"/>
                  </a:ext>
                </a:extLst>
              </p:cNvPr>
              <p:cNvSpPr txBox="1">
                <a:spLocks/>
              </p:cNvSpPr>
              <p:nvPr/>
            </p:nvSpPr>
            <p:spPr>
              <a:xfrm>
                <a:off x="247084" y="4839869"/>
                <a:ext cx="11635976" cy="4284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r>
                  <a:rPr lang="en-NZ" altLang="ja-JP" sz="1800" dirty="0">
                    <a:solidFill>
                      <a:prstClr val="black"/>
                    </a:solidFill>
                    <a:latin typeface="Calibri" panose="020F0502020204030204"/>
                    <a:ea typeface="游ゴシック" panose="020B0400000000000000" pitchFamily="34" charset="-128"/>
                  </a:rPr>
                  <a:t>It can be shown that </a:t>
                </a:r>
                <a14:m>
                  <m:oMath xmlns:m="http://schemas.openxmlformats.org/officeDocument/2006/math">
                    <m:r>
                      <a:rPr lang="en-NZ" altLang="ja-JP" sz="1800" b="1" i="1" smtClean="0">
                        <a:solidFill>
                          <a:prstClr val="black"/>
                        </a:solidFill>
                        <a:latin typeface="Cambria Math" panose="02040503050406030204" pitchFamily="18" charset="0"/>
                        <a:ea typeface="游ゴシック" panose="020B0400000000000000" pitchFamily="34" charset="-128"/>
                      </a:rPr>
                      <m:t>𝑾</m:t>
                    </m:r>
                    <m:r>
                      <a:rPr lang="en-NZ" altLang="ja-JP" sz="1800" b="1" i="1" smtClean="0">
                        <a:solidFill>
                          <a:prstClr val="black"/>
                        </a:solidFill>
                        <a:latin typeface="Cambria Math" panose="02040503050406030204" pitchFamily="18" charset="0"/>
                        <a:ea typeface="游ゴシック" panose="020B0400000000000000" pitchFamily="34" charset="-128"/>
                      </a:rPr>
                      <m:t> ~ </m:t>
                    </m:r>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𝑭</m:t>
                        </m:r>
                      </m:e>
                      <m:sub>
                        <m:r>
                          <a:rPr lang="en-NZ" altLang="ja-JP" sz="1800" b="1" i="1" smtClean="0">
                            <a:solidFill>
                              <a:prstClr val="black"/>
                            </a:solidFill>
                            <a:latin typeface="Cambria Math" panose="02040503050406030204" pitchFamily="18" charset="0"/>
                            <a:ea typeface="游ゴシック" panose="020B0400000000000000" pitchFamily="34" charset="-128"/>
                          </a:rPr>
                          <m:t>𝒌</m:t>
                        </m:r>
                        <m:r>
                          <a:rPr lang="en-NZ" altLang="ja-JP" sz="1800" b="1" i="1" smtClean="0">
                            <a:solidFill>
                              <a:prstClr val="black"/>
                            </a:solidFill>
                            <a:latin typeface="Cambria Math" panose="02040503050406030204" pitchFamily="18" charset="0"/>
                            <a:ea typeface="游ゴシック" panose="020B0400000000000000" pitchFamily="34" charset="-128"/>
                          </a:rPr>
                          <m:t>−</m:t>
                        </m:r>
                        <m:r>
                          <a:rPr lang="en-NZ" altLang="ja-JP" sz="1800" b="1" i="1" smtClean="0">
                            <a:solidFill>
                              <a:prstClr val="black"/>
                            </a:solidFill>
                            <a:latin typeface="Cambria Math" panose="02040503050406030204" pitchFamily="18" charset="0"/>
                            <a:ea typeface="游ゴシック" panose="020B0400000000000000" pitchFamily="34" charset="-128"/>
                          </a:rPr>
                          <m:t>𝟏</m:t>
                        </m:r>
                        <m:r>
                          <a:rPr lang="en-NZ" altLang="ja-JP" sz="1800" b="1" i="1" smtClean="0">
                            <a:solidFill>
                              <a:prstClr val="black"/>
                            </a:solidFill>
                            <a:latin typeface="Cambria Math" panose="02040503050406030204" pitchFamily="18" charset="0"/>
                            <a:ea typeface="游ゴシック" panose="020B0400000000000000" pitchFamily="34" charset="-128"/>
                          </a:rPr>
                          <m:t> , </m:t>
                        </m:r>
                        <m:r>
                          <a:rPr lang="en-NZ" altLang="ja-JP" sz="1800" b="1" i="1" smtClean="0">
                            <a:solidFill>
                              <a:prstClr val="black"/>
                            </a:solidFill>
                            <a:latin typeface="Cambria Math" panose="02040503050406030204" pitchFamily="18" charset="0"/>
                            <a:ea typeface="游ゴシック" panose="020B0400000000000000" pitchFamily="34" charset="-128"/>
                          </a:rPr>
                          <m:t>𝑵</m:t>
                        </m:r>
                        <m:r>
                          <a:rPr lang="en-NZ" altLang="ja-JP" sz="1800" b="1" i="1" smtClean="0">
                            <a:solidFill>
                              <a:prstClr val="black"/>
                            </a:solidFill>
                            <a:latin typeface="Cambria Math" panose="02040503050406030204" pitchFamily="18" charset="0"/>
                            <a:ea typeface="游ゴシック" panose="020B0400000000000000" pitchFamily="34" charset="-128"/>
                          </a:rPr>
                          <m:t> −</m:t>
                        </m:r>
                        <m:r>
                          <a:rPr lang="en-NZ" altLang="ja-JP" sz="1800" b="1" i="1" smtClean="0">
                            <a:solidFill>
                              <a:prstClr val="black"/>
                            </a:solidFill>
                            <a:latin typeface="Cambria Math" panose="02040503050406030204" pitchFamily="18" charset="0"/>
                            <a:ea typeface="游ゴシック" panose="020B0400000000000000" pitchFamily="34" charset="-128"/>
                          </a:rPr>
                          <m:t>𝒌</m:t>
                        </m:r>
                      </m:sub>
                    </m:sSub>
                  </m:oMath>
                </a14:m>
                <a:r>
                  <a:rPr lang="en-NZ" altLang="ja-JP" sz="1800" b="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We calculate the value of </a:t>
                </a:r>
                <a:r>
                  <a:rPr lang="en-NZ" altLang="ja-JP" sz="1800" b="1" i="1" dirty="0" err="1">
                    <a:solidFill>
                      <a:prstClr val="black"/>
                    </a:solidFill>
                    <a:latin typeface="Calibri" panose="020F0502020204030204"/>
                    <a:ea typeface="游ゴシック" panose="020B0400000000000000" pitchFamily="34" charset="-128"/>
                  </a:rPr>
                  <a:t>W</a:t>
                </a:r>
                <a:r>
                  <a:rPr lang="en-NZ" altLang="ja-JP" sz="1800" b="1" i="1" baseline="-25000" dirty="0" err="1">
                    <a:solidFill>
                      <a:prstClr val="black"/>
                    </a:solidFill>
                    <a:latin typeface="Calibri" panose="020F0502020204030204"/>
                    <a:ea typeface="游ゴシック" panose="020B0400000000000000" pitchFamily="34" charset="-128"/>
                  </a:rPr>
                  <a:t>obs</a:t>
                </a:r>
                <a:r>
                  <a:rPr lang="en-NZ" altLang="ja-JP" sz="1800" dirty="0">
                    <a:solidFill>
                      <a:prstClr val="black"/>
                    </a:solidFill>
                    <a:latin typeface="Calibri" panose="020F0502020204030204"/>
                    <a:ea typeface="游ゴシック" panose="020B0400000000000000" pitchFamily="34" charset="-128"/>
                  </a:rPr>
                  <a:t> and see where it lies in the distribution of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𝑭</m:t>
                        </m:r>
                      </m:e>
                      <m:sub>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   </m:t>
                        </m:r>
                        <m:r>
                          <a:rPr lang="en-NZ" altLang="ja-JP" sz="1800" b="1" i="1">
                            <a:solidFill>
                              <a:schemeClr val="tx1"/>
                            </a:solidFill>
                            <a:latin typeface="Cambria Math" panose="02040503050406030204" pitchFamily="18" charset="0"/>
                          </a:rPr>
                          <m:t>𝑵</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𝒌</m:t>
                        </m:r>
                      </m:sub>
                    </m:sSub>
                  </m:oMath>
                </a14:m>
                <a:endParaRPr lang="en-NZ" altLang="ja-JP" sz="1800" dirty="0">
                  <a:solidFill>
                    <a:prstClr val="black"/>
                  </a:solidFill>
                  <a:latin typeface="Calibri" panose="020F0502020204030204"/>
                  <a:ea typeface="游ゴシック" panose="020B0400000000000000" pitchFamily="34" charset="-128"/>
                </a:endParaRPr>
              </a:p>
            </p:txBody>
          </p:sp>
        </mc:Choice>
        <mc:Fallback xmlns="">
          <p:sp>
            <p:nvSpPr>
              <p:cNvPr id="51" name="Text Placeholder 5">
                <a:extLst>
                  <a:ext uri="{FF2B5EF4-FFF2-40B4-BE49-F238E27FC236}">
                    <a16:creationId xmlns:a16="http://schemas.microsoft.com/office/drawing/2014/main" id="{7CB2D06E-C000-49D5-9941-C62C94403F8D}"/>
                  </a:ext>
                </a:extLst>
              </p:cNvPr>
              <p:cNvSpPr txBox="1">
                <a:spLocks noRot="1" noChangeAspect="1" noMove="1" noResize="1" noEditPoints="1" noAdjustHandles="1" noChangeArrowheads="1" noChangeShapeType="1" noTextEdit="1"/>
              </p:cNvSpPr>
              <p:nvPr/>
            </p:nvSpPr>
            <p:spPr>
              <a:xfrm>
                <a:off x="247084" y="4839869"/>
                <a:ext cx="11635976" cy="428403"/>
              </a:xfrm>
              <a:prstGeom prst="rect">
                <a:avLst/>
              </a:prstGeom>
              <a:blipFill>
                <a:blip r:embed="rId9"/>
                <a:stretch>
                  <a:fillRect l="-472" t="-7143" b="-10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3" name="Text Placeholder 5">
                <a:extLst>
                  <a:ext uri="{FF2B5EF4-FFF2-40B4-BE49-F238E27FC236}">
                    <a16:creationId xmlns:a16="http://schemas.microsoft.com/office/drawing/2014/main" id="{ED4AC1E3-CA58-41F7-9148-A783497BB186}"/>
                  </a:ext>
                </a:extLst>
              </p:cNvPr>
              <p:cNvSpPr txBox="1">
                <a:spLocks/>
              </p:cNvSpPr>
              <p:nvPr/>
            </p:nvSpPr>
            <p:spPr>
              <a:xfrm>
                <a:off x="247084" y="5321488"/>
                <a:ext cx="10571452" cy="9631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C00000"/>
                    </a:solidFill>
                  </a:rPr>
                  <a:t>The greater the value of the observed test statistic </a:t>
                </a:r>
                <a:r>
                  <a:rPr lang="en-NZ" altLang="ja-JP" sz="1800" b="1" i="1" dirty="0" err="1">
                    <a:solidFill>
                      <a:srgbClr val="C00000"/>
                    </a:solidFill>
                  </a:rPr>
                  <a:t>W</a:t>
                </a:r>
                <a:r>
                  <a:rPr lang="en-NZ" altLang="ja-JP" sz="1800" b="1" i="1" baseline="-25000" dirty="0" err="1">
                    <a:solidFill>
                      <a:srgbClr val="C00000"/>
                    </a:solidFill>
                  </a:rPr>
                  <a:t>obs</a:t>
                </a:r>
                <a:r>
                  <a:rPr lang="en-NZ" altLang="ja-JP" sz="1800" b="1" i="1" baseline="-25000" dirty="0">
                    <a:solidFill>
                      <a:srgbClr val="C00000"/>
                    </a:solidFill>
                  </a:rPr>
                  <a:t> </a:t>
                </a:r>
                <a:r>
                  <a:rPr lang="en-NZ" altLang="ja-JP" sz="1800" dirty="0">
                    <a:solidFill>
                      <a:srgbClr val="C00000"/>
                    </a:solidFill>
                  </a:rPr>
                  <a:t>, the smaller the p-value…</a:t>
                </a:r>
              </a:p>
              <a:p>
                <a:pPr algn="just">
                  <a:lnSpc>
                    <a:spcPct val="100000"/>
                  </a:lnSpc>
                </a:pPr>
                <a:endParaRPr lang="en-NZ" altLang="ja-JP" sz="200" dirty="0">
                  <a:solidFill>
                    <a:srgbClr val="C00000"/>
                  </a:solidFill>
                </a:endParaRPr>
              </a:p>
              <a:p>
                <a:pPr algn="just">
                  <a:lnSpc>
                    <a:spcPct val="100000"/>
                  </a:lnSpc>
                </a:pPr>
                <a:endParaRPr lang="en-NZ" altLang="ja-JP" sz="200" dirty="0">
                  <a:solidFill>
                    <a:srgbClr val="C00000"/>
                  </a:solidFill>
                </a:endParaRPr>
              </a:p>
              <a:p>
                <a:pPr algn="ctr">
                  <a:lnSpc>
                    <a:spcPct val="100000"/>
                  </a:lnSpc>
                </a:pPr>
                <a:r>
                  <a:rPr lang="en-NZ" altLang="ja-JP" sz="1800" b="1" i="1" dirty="0">
                    <a:solidFill>
                      <a:srgbClr val="C00000"/>
                    </a:solidFill>
                  </a:rPr>
                  <a:t>P-value :  </a:t>
                </a:r>
                <a14:m>
                  <m:oMath xmlns:m="http://schemas.openxmlformats.org/officeDocument/2006/math">
                    <m:r>
                      <a:rPr lang="en-NZ" altLang="ja-JP" sz="1800" b="1" i="1">
                        <a:solidFill>
                          <a:srgbClr val="C00000"/>
                        </a:solidFill>
                        <a:latin typeface="Cambria Math" panose="02040503050406030204" pitchFamily="18" charset="0"/>
                      </a:rPr>
                      <m:t>𝑷</m:t>
                    </m:r>
                    <m:d>
                      <m:dPr>
                        <m:ctrlPr>
                          <a:rPr lang="en-NZ" altLang="ja-JP" sz="1800" b="1" i="1">
                            <a:solidFill>
                              <a:srgbClr val="C00000"/>
                            </a:solidFill>
                            <a:latin typeface="Cambria Math" panose="02040503050406030204" pitchFamily="18" charset="0"/>
                          </a:rPr>
                        </m:ctrlPr>
                      </m:dPr>
                      <m:e>
                        <m:r>
                          <a:rPr lang="en-NZ" altLang="ja-JP" sz="1800" b="1" i="1">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𝑾</m:t>
                        </m:r>
                        <m:r>
                          <a:rPr lang="en-NZ" altLang="ja-JP" sz="1800" b="1" i="1">
                            <a:solidFill>
                              <a:srgbClr val="C00000"/>
                            </a:solidFill>
                            <a:latin typeface="Cambria Math" panose="02040503050406030204" pitchFamily="18" charset="0"/>
                          </a:rPr>
                          <m:t>≥</m:t>
                        </m:r>
                        <m:sSub>
                          <m:sSubPr>
                            <m:ctrlPr>
                              <a:rPr lang="en-NZ" altLang="ja-JP" sz="1800" b="1" i="1">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𝑾</m:t>
                            </m:r>
                          </m:e>
                          <m:sub>
                            <m:r>
                              <a:rPr lang="en-NZ" altLang="ja-JP" sz="1800" b="1" i="1">
                                <a:solidFill>
                                  <a:srgbClr val="C00000"/>
                                </a:solidFill>
                                <a:latin typeface="Cambria Math" panose="02040503050406030204" pitchFamily="18" charset="0"/>
                              </a:rPr>
                              <m:t>𝒐𝒃𝒔</m:t>
                            </m:r>
                          </m:sub>
                        </m:sSub>
                        <m:r>
                          <a:rPr lang="en-NZ" altLang="ja-JP" sz="1800" b="1" i="1">
                            <a:solidFill>
                              <a:srgbClr val="C00000"/>
                            </a:solidFill>
                            <a:latin typeface="Cambria Math" panose="02040503050406030204" pitchFamily="18" charset="0"/>
                          </a:rPr>
                          <m:t> </m:t>
                        </m:r>
                      </m:e>
                    </m:d>
                  </m:oMath>
                </a14:m>
                <a:endParaRPr lang="en-NZ" altLang="ja-JP" sz="1800" dirty="0">
                  <a:solidFill>
                    <a:srgbClr val="C00000"/>
                  </a:solidFill>
                </a:endParaRPr>
              </a:p>
              <a:p>
                <a:pPr algn="ctr">
                  <a:lnSpc>
                    <a:spcPct val="100000"/>
                  </a:lnSpc>
                </a:pPr>
                <a:endParaRPr lang="en-NZ" altLang="ja-JP" sz="200" dirty="0">
                  <a:solidFill>
                    <a:srgbClr val="C00000"/>
                  </a:solidFill>
                </a:endParaRPr>
              </a:p>
              <a:p>
                <a:pPr algn="ctr">
                  <a:lnSpc>
                    <a:spcPct val="100000"/>
                  </a:lnSpc>
                </a:pPr>
                <a:endParaRPr lang="en-NZ" altLang="ja-JP" sz="200" dirty="0">
                  <a:solidFill>
                    <a:srgbClr val="C00000"/>
                  </a:solidFill>
                </a:endParaRPr>
              </a:p>
              <a:p>
                <a:pPr algn="just">
                  <a:lnSpc>
                    <a:spcPct val="100000"/>
                  </a:lnSpc>
                </a:pPr>
                <a:r>
                  <a:rPr lang="en-NZ" altLang="ja-JP" sz="1800" dirty="0">
                    <a:solidFill>
                      <a:srgbClr val="C00000"/>
                    </a:solidFill>
                  </a:rPr>
                  <a:t>… and the more evidence we have against the null hypothesis.</a:t>
                </a:r>
              </a:p>
              <a:p>
                <a:pPr algn="just">
                  <a:lnSpc>
                    <a:spcPct val="100000"/>
                  </a:lnSpc>
                </a:pPr>
                <a:endParaRPr lang="en-NZ" altLang="ja-JP" sz="1800" b="1" dirty="0">
                  <a:solidFill>
                    <a:srgbClr val="C00000"/>
                  </a:solidFill>
                </a:endParaRPr>
              </a:p>
              <a:p>
                <a:pPr algn="just">
                  <a:lnSpc>
                    <a:spcPct val="100000"/>
                  </a:lnSpc>
                </a:pPr>
                <a:endParaRPr lang="en-NZ" altLang="ja-JP" sz="1800" b="1" dirty="0">
                  <a:solidFill>
                    <a:srgbClr val="C00000"/>
                  </a:solidFill>
                </a:endParaRPr>
              </a:p>
              <a:p>
                <a:pPr algn="just">
                  <a:lnSpc>
                    <a:spcPct val="100000"/>
                  </a:lnSpc>
                </a:pPr>
                <a:r>
                  <a:rPr lang="en-NZ" altLang="ja-JP" sz="1800" dirty="0">
                    <a:solidFill>
                      <a:srgbClr val="C00000"/>
                    </a:solidFill>
                  </a:rPr>
                  <a:t>  </a:t>
                </a:r>
              </a:p>
              <a:p>
                <a:pPr algn="just">
                  <a:lnSpc>
                    <a:spcPct val="100000"/>
                  </a:lnSpc>
                </a:pPr>
                <a:endParaRPr lang="en-NZ" altLang="ja-JP" sz="1800" dirty="0">
                  <a:solidFill>
                    <a:srgbClr val="C00000"/>
                  </a:solidFill>
                </a:endParaRPr>
              </a:p>
              <a:p>
                <a:pPr algn="just">
                  <a:lnSpc>
                    <a:spcPct val="100000"/>
                  </a:lnSpc>
                </a:pPr>
                <a:endParaRPr lang="en-NZ" altLang="ja-JP" sz="1800" i="1" dirty="0">
                  <a:solidFill>
                    <a:srgbClr val="C00000"/>
                  </a:solidFill>
                </a:endParaRPr>
              </a:p>
            </p:txBody>
          </p:sp>
        </mc:Choice>
        <mc:Fallback xmlns="">
          <p:sp>
            <p:nvSpPr>
              <p:cNvPr id="53" name="Text Placeholder 5">
                <a:extLst>
                  <a:ext uri="{FF2B5EF4-FFF2-40B4-BE49-F238E27FC236}">
                    <a16:creationId xmlns:a16="http://schemas.microsoft.com/office/drawing/2014/main" id="{ED4AC1E3-CA58-41F7-9148-A783497BB186}"/>
                  </a:ext>
                </a:extLst>
              </p:cNvPr>
              <p:cNvSpPr txBox="1">
                <a:spLocks noRot="1" noChangeAspect="1" noMove="1" noResize="1" noEditPoints="1" noAdjustHandles="1" noChangeArrowheads="1" noChangeShapeType="1" noTextEdit="1"/>
              </p:cNvSpPr>
              <p:nvPr/>
            </p:nvSpPr>
            <p:spPr>
              <a:xfrm>
                <a:off x="247084" y="5321488"/>
                <a:ext cx="10571452" cy="963174"/>
              </a:xfrm>
              <a:prstGeom prst="rect">
                <a:avLst/>
              </a:prstGeom>
              <a:blipFill>
                <a:blip r:embed="rId10"/>
                <a:stretch>
                  <a:fillRect l="-519" t="-3797" b="-17722"/>
                </a:stretch>
              </a:blipFill>
            </p:spPr>
            <p:txBody>
              <a:bodyPr/>
              <a:lstStyle/>
              <a:p>
                <a:r>
                  <a:rPr lang="en-NZ">
                    <a:noFill/>
                  </a:rPr>
                  <a:t> </a:t>
                </a:r>
              </a:p>
            </p:txBody>
          </p:sp>
        </mc:Fallback>
      </mc:AlternateContent>
      <p:sp>
        <p:nvSpPr>
          <p:cNvPr id="54" name="Text Placeholder 5">
            <a:extLst>
              <a:ext uri="{FF2B5EF4-FFF2-40B4-BE49-F238E27FC236}">
                <a16:creationId xmlns:a16="http://schemas.microsoft.com/office/drawing/2014/main" id="{1524BFB8-95AF-4402-8494-649831C15F12}"/>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47694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23" grpId="0"/>
      <p:bldP spid="5" grpId="0" animBg="1"/>
      <p:bldP spid="25" grpId="0" animBg="1"/>
      <p:bldP spid="49" grpId="0"/>
      <p:bldP spid="50" grpId="0"/>
      <p:bldP spid="51" grpId="0"/>
      <p:bldP spid="5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4498197"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a:t>
            </a:r>
            <a:r>
              <a:rPr lang="en-US" altLang="ja-JP" b="1" u="sng" dirty="0">
                <a:solidFill>
                  <a:prstClr val="black"/>
                </a:solidFill>
                <a:latin typeface="Calibri" panose="020F0502020204030204"/>
                <a:ea typeface="游ゴシック Light" panose="020B0300000000000000" pitchFamily="34" charset="-128"/>
              </a:rPr>
              <a:t>Statistical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pic>
        <p:nvPicPr>
          <p:cNvPr id="6" name="Picture 5">
            <a:extLst>
              <a:ext uri="{FF2B5EF4-FFF2-40B4-BE49-F238E27FC236}">
                <a16:creationId xmlns:a16="http://schemas.microsoft.com/office/drawing/2014/main" id="{5275FC91-1343-4ECA-B1C8-B4622DC7AD37}"/>
              </a:ext>
            </a:extLst>
          </p:cNvPr>
          <p:cNvPicPr>
            <a:picLocks noChangeAspect="1"/>
          </p:cNvPicPr>
          <p:nvPr/>
        </p:nvPicPr>
        <p:blipFill>
          <a:blip r:embed="rId2"/>
          <a:stretch>
            <a:fillRect/>
          </a:stretch>
        </p:blipFill>
        <p:spPr>
          <a:xfrm>
            <a:off x="236440" y="4659225"/>
            <a:ext cx="5790076" cy="675343"/>
          </a:xfrm>
          <a:prstGeom prst="rect">
            <a:avLst/>
          </a:prstGeom>
        </p:spPr>
      </p:pic>
      <p:pic>
        <p:nvPicPr>
          <p:cNvPr id="8" name="Picture 7">
            <a:extLst>
              <a:ext uri="{FF2B5EF4-FFF2-40B4-BE49-F238E27FC236}">
                <a16:creationId xmlns:a16="http://schemas.microsoft.com/office/drawing/2014/main" id="{B5345FBA-64E4-4D4F-B6FF-AA7707D42C7B}"/>
              </a:ext>
            </a:extLst>
          </p:cNvPr>
          <p:cNvPicPr>
            <a:picLocks noChangeAspect="1"/>
          </p:cNvPicPr>
          <p:nvPr/>
        </p:nvPicPr>
        <p:blipFill>
          <a:blip r:embed="rId3"/>
          <a:stretch>
            <a:fillRect/>
          </a:stretch>
        </p:blipFill>
        <p:spPr>
          <a:xfrm>
            <a:off x="6401924" y="4632554"/>
            <a:ext cx="5790076" cy="728683"/>
          </a:xfrm>
          <a:prstGeom prst="rect">
            <a:avLst/>
          </a:prstGeom>
        </p:spPr>
      </p:pic>
      <p:sp>
        <p:nvSpPr>
          <p:cNvPr id="26" name="Text Placeholder 5">
            <a:extLst>
              <a:ext uri="{FF2B5EF4-FFF2-40B4-BE49-F238E27FC236}">
                <a16:creationId xmlns:a16="http://schemas.microsoft.com/office/drawing/2014/main" id="{03AC3936-DB30-4522-BE67-CCA4317B0F00}"/>
              </a:ext>
            </a:extLst>
          </p:cNvPr>
          <p:cNvSpPr txBox="1">
            <a:spLocks/>
          </p:cNvSpPr>
          <p:nvPr/>
        </p:nvSpPr>
        <p:spPr>
          <a:xfrm>
            <a:off x="251224" y="1950584"/>
            <a:ext cx="5557376" cy="10383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sng"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IQ Data </a:t>
            </a:r>
            <a:b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Levene’s</a:t>
            </a: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test indicates</a:t>
            </a:r>
            <a:r>
              <a:rPr kumimoji="1" lang="en-NZ" altLang="ja-JP" sz="1700" b="1"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no evidence against hypothesis </a:t>
            </a:r>
            <a:br>
              <a:rPr kumimoji="1" lang="en-NZ" altLang="ja-JP" sz="1700" b="1"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700" b="1"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that the variance of all groups are equal</a:t>
            </a: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7B71B69B-81A6-449C-9104-4CAEBEF2AA47}"/>
              </a:ext>
            </a:extLst>
          </p:cNvPr>
          <p:cNvSpPr txBox="1">
            <a:spLocks/>
          </p:cNvSpPr>
          <p:nvPr/>
        </p:nvSpPr>
        <p:spPr>
          <a:xfrm>
            <a:off x="6491000" y="1950584"/>
            <a:ext cx="5344357" cy="10383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700" b="1" u="sng" dirty="0">
                <a:solidFill>
                  <a:srgbClr val="C00000"/>
                </a:solidFill>
              </a:rPr>
              <a:t>Call Centre Data</a:t>
            </a:r>
            <a:b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br>
            <a:r>
              <a:rPr lang="en-NZ" altLang="ja-JP" sz="1700" b="1" dirty="0" err="1">
                <a:solidFill>
                  <a:srgbClr val="C00000"/>
                </a:solidFill>
              </a:rPr>
              <a:t>Levene’s</a:t>
            </a:r>
            <a:r>
              <a:rPr lang="en-NZ" altLang="ja-JP" sz="1700" b="1" dirty="0">
                <a:solidFill>
                  <a:srgbClr val="C00000"/>
                </a:solidFill>
              </a:rPr>
              <a:t> test indicates strong evidence against hypothesis </a:t>
            </a:r>
            <a:br>
              <a:rPr lang="en-NZ" altLang="ja-JP" sz="1700" b="1" dirty="0">
                <a:solidFill>
                  <a:srgbClr val="C00000"/>
                </a:solidFill>
              </a:rPr>
            </a:br>
            <a:r>
              <a:rPr lang="en-NZ" altLang="ja-JP" sz="1700" b="1" dirty="0">
                <a:solidFill>
                  <a:srgbClr val="C00000"/>
                </a:solidFill>
              </a:rPr>
              <a:t>that the variance of all groups are equal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graphicFrame>
        <p:nvGraphicFramePr>
          <p:cNvPr id="28" name="Table 27">
            <a:extLst>
              <a:ext uri="{FF2B5EF4-FFF2-40B4-BE49-F238E27FC236}">
                <a16:creationId xmlns:a16="http://schemas.microsoft.com/office/drawing/2014/main" id="{02FBE964-38A0-466F-8875-AC0B4BEB7C2F}"/>
              </a:ext>
            </a:extLst>
          </p:cNvPr>
          <p:cNvGraphicFramePr>
            <a:graphicFrameLocks noGrp="1"/>
          </p:cNvGraphicFramePr>
          <p:nvPr>
            <p:extLst>
              <p:ext uri="{D42A27DB-BD31-4B8C-83A1-F6EECF244321}">
                <p14:modId xmlns:p14="http://schemas.microsoft.com/office/powerpoint/2010/main" val="3011653743"/>
              </p:ext>
            </p:extLst>
          </p:nvPr>
        </p:nvGraphicFramePr>
        <p:xfrm>
          <a:off x="771034" y="3478009"/>
          <a:ext cx="4517755" cy="695326"/>
        </p:xfrm>
        <a:graphic>
          <a:graphicData uri="http://schemas.openxmlformats.org/drawingml/2006/table">
            <a:tbl>
              <a:tblPr/>
              <a:tblGrid>
                <a:gridCol w="1756998">
                  <a:extLst>
                    <a:ext uri="{9D8B030D-6E8A-4147-A177-3AD203B41FA5}">
                      <a16:colId xmlns:a16="http://schemas.microsoft.com/office/drawing/2014/main" val="2205576055"/>
                    </a:ext>
                  </a:extLst>
                </a:gridCol>
                <a:gridCol w="1254839">
                  <a:extLst>
                    <a:ext uri="{9D8B030D-6E8A-4147-A177-3AD203B41FA5}">
                      <a16:colId xmlns:a16="http://schemas.microsoft.com/office/drawing/2014/main" val="70391523"/>
                    </a:ext>
                  </a:extLst>
                </a:gridCol>
                <a:gridCol w="1505918">
                  <a:extLst>
                    <a:ext uri="{9D8B030D-6E8A-4147-A177-3AD203B41FA5}">
                      <a16:colId xmlns:a16="http://schemas.microsoft.com/office/drawing/2014/main" val="2632242871"/>
                    </a:ext>
                  </a:extLst>
                </a:gridCol>
              </a:tblGrid>
              <a:tr h="347663">
                <a:tc>
                  <a:txBody>
                    <a:bodyPr/>
                    <a:lstStyle/>
                    <a:p>
                      <a:pPr algn="ctr" fontAlgn="ctr"/>
                      <a:r>
                        <a:rPr lang="en-NZ" sz="1800" b="1" i="0" u="none" strike="noStrike" dirty="0" err="1">
                          <a:solidFill>
                            <a:srgbClr val="FFFFFF"/>
                          </a:solidFill>
                          <a:effectLst/>
                          <a:latin typeface="Calibri" panose="020F0502020204030204" pitchFamily="34" charset="0"/>
                        </a:rPr>
                        <a:t>Df</a:t>
                      </a: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W-Value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err="1">
                          <a:solidFill>
                            <a:srgbClr val="FFFFFF"/>
                          </a:solidFill>
                          <a:effectLst/>
                          <a:latin typeface="Calibri" panose="020F0502020204030204" pitchFamily="34" charset="0"/>
                        </a:rPr>
                        <a:t>Pr</a:t>
                      </a:r>
                      <a:r>
                        <a:rPr lang="en-NZ" sz="1800" b="1" i="0" u="none" strike="noStrike" dirty="0">
                          <a:solidFill>
                            <a:srgbClr val="FFFFFF"/>
                          </a:solidFill>
                          <a:effectLst/>
                          <a:latin typeface="Calibri" panose="020F0502020204030204" pitchFamily="34" charset="0"/>
                        </a:rPr>
                        <a:t>(&gt;W)</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503137764"/>
                  </a:ext>
                </a:extLst>
              </a:tr>
              <a:tr h="347663">
                <a:tc>
                  <a:txBody>
                    <a:bodyPr/>
                    <a:lstStyle/>
                    <a:p>
                      <a:pPr algn="ctr" fontAlgn="ctr"/>
                      <a:r>
                        <a:rPr lang="en-NZ" sz="1800" b="0" i="0" u="none" strike="noStrike" dirty="0">
                          <a:solidFill>
                            <a:srgbClr val="000000"/>
                          </a:solidFill>
                          <a:effectLst/>
                          <a:latin typeface="Calibri" panose="020F0502020204030204" pitchFamily="34" charset="0"/>
                        </a:rPr>
                        <a:t>4 , 4995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1.1803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0.3173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06647789"/>
                  </a:ext>
                </a:extLst>
              </a:tr>
            </a:tbl>
          </a:graphicData>
        </a:graphic>
      </p:graphicFrame>
      <p:graphicFrame>
        <p:nvGraphicFramePr>
          <p:cNvPr id="30" name="Table 29">
            <a:extLst>
              <a:ext uri="{FF2B5EF4-FFF2-40B4-BE49-F238E27FC236}">
                <a16:creationId xmlns:a16="http://schemas.microsoft.com/office/drawing/2014/main" id="{C4E8280B-253C-4E19-8B61-F81ADC2ACA1A}"/>
              </a:ext>
            </a:extLst>
          </p:cNvPr>
          <p:cNvGraphicFramePr>
            <a:graphicFrameLocks noGrp="1"/>
          </p:cNvGraphicFramePr>
          <p:nvPr>
            <p:extLst>
              <p:ext uri="{D42A27DB-BD31-4B8C-83A1-F6EECF244321}">
                <p14:modId xmlns:p14="http://schemas.microsoft.com/office/powerpoint/2010/main" val="458976081"/>
              </p:ext>
            </p:extLst>
          </p:nvPr>
        </p:nvGraphicFramePr>
        <p:xfrm>
          <a:off x="6903211" y="3478009"/>
          <a:ext cx="4517755" cy="695326"/>
        </p:xfrm>
        <a:graphic>
          <a:graphicData uri="http://schemas.openxmlformats.org/drawingml/2006/table">
            <a:tbl>
              <a:tblPr/>
              <a:tblGrid>
                <a:gridCol w="1756998">
                  <a:extLst>
                    <a:ext uri="{9D8B030D-6E8A-4147-A177-3AD203B41FA5}">
                      <a16:colId xmlns:a16="http://schemas.microsoft.com/office/drawing/2014/main" val="2205576055"/>
                    </a:ext>
                  </a:extLst>
                </a:gridCol>
                <a:gridCol w="1254839">
                  <a:extLst>
                    <a:ext uri="{9D8B030D-6E8A-4147-A177-3AD203B41FA5}">
                      <a16:colId xmlns:a16="http://schemas.microsoft.com/office/drawing/2014/main" val="70391523"/>
                    </a:ext>
                  </a:extLst>
                </a:gridCol>
                <a:gridCol w="1505918">
                  <a:extLst>
                    <a:ext uri="{9D8B030D-6E8A-4147-A177-3AD203B41FA5}">
                      <a16:colId xmlns:a16="http://schemas.microsoft.com/office/drawing/2014/main" val="2632242871"/>
                    </a:ext>
                  </a:extLst>
                </a:gridCol>
              </a:tblGrid>
              <a:tr h="347663">
                <a:tc>
                  <a:txBody>
                    <a:bodyPr/>
                    <a:lstStyle/>
                    <a:p>
                      <a:pPr algn="ctr" fontAlgn="ctr"/>
                      <a:r>
                        <a:rPr lang="en-NZ" sz="1800" b="1" i="0" u="none" strike="noStrike" dirty="0" err="1">
                          <a:solidFill>
                            <a:srgbClr val="FFFFFF"/>
                          </a:solidFill>
                          <a:effectLst/>
                          <a:latin typeface="Calibri" panose="020F0502020204030204" pitchFamily="34" charset="0"/>
                        </a:rPr>
                        <a:t>Df</a:t>
                      </a: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dirty="0">
                          <a:solidFill>
                            <a:srgbClr val="FFFFFF"/>
                          </a:solidFill>
                          <a:effectLst/>
                          <a:latin typeface="Calibri" panose="020F0502020204030204" pitchFamily="34" charset="0"/>
                        </a:rPr>
                        <a:t>W-Value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dirty="0" err="1">
                          <a:solidFill>
                            <a:srgbClr val="FFFFFF"/>
                          </a:solidFill>
                          <a:effectLst/>
                          <a:latin typeface="Calibri" panose="020F0502020204030204" pitchFamily="34" charset="0"/>
                        </a:rPr>
                        <a:t>Pr</a:t>
                      </a:r>
                      <a:r>
                        <a:rPr lang="en-NZ" sz="1800" b="1" i="0" u="none" strike="noStrike" dirty="0">
                          <a:solidFill>
                            <a:srgbClr val="FFFFFF"/>
                          </a:solidFill>
                          <a:effectLst/>
                          <a:latin typeface="Calibri" panose="020F0502020204030204" pitchFamily="34" charset="0"/>
                        </a:rPr>
                        <a:t>(&gt;W)</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503137764"/>
                  </a:ext>
                </a:extLst>
              </a:tr>
              <a:tr h="347663">
                <a:tc>
                  <a:txBody>
                    <a:bodyPr/>
                    <a:lstStyle/>
                    <a:p>
                      <a:pPr algn="ctr" fontAlgn="ctr"/>
                      <a:r>
                        <a:rPr lang="en-NZ" sz="1800" b="0" i="0" u="none" strike="noStrike" dirty="0">
                          <a:solidFill>
                            <a:srgbClr val="000000"/>
                          </a:solidFill>
                          <a:effectLst/>
                          <a:latin typeface="Calibri" panose="020F0502020204030204" pitchFamily="34" charset="0"/>
                        </a:rPr>
                        <a:t>4 , 2495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800" b="0" i="0" u="none" strike="noStrike" dirty="0">
                          <a:solidFill>
                            <a:srgbClr val="000000"/>
                          </a:solidFill>
                          <a:effectLst/>
                          <a:latin typeface="Calibri" panose="020F0502020204030204" pitchFamily="34" charset="0"/>
                        </a:rPr>
                        <a:t>118.09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800" b="0" i="0" u="none" strike="noStrike" dirty="0">
                          <a:solidFill>
                            <a:srgbClr val="000000"/>
                          </a:solidFill>
                          <a:effectLst/>
                          <a:latin typeface="Calibri" panose="020F0502020204030204" pitchFamily="34" charset="0"/>
                        </a:rPr>
                        <a:t>2.2e-16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06647789"/>
                  </a:ext>
                </a:extLst>
              </a:tr>
            </a:tbl>
          </a:graphicData>
        </a:graphic>
      </p:graphicFrame>
      <p:sp>
        <p:nvSpPr>
          <p:cNvPr id="35" name="Text Placeholder 5">
            <a:extLst>
              <a:ext uri="{FF2B5EF4-FFF2-40B4-BE49-F238E27FC236}">
                <a16:creationId xmlns:a16="http://schemas.microsoft.com/office/drawing/2014/main" id="{3E2189A6-4643-4D7A-B357-B97F7BBCC576}"/>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DC0B9220-184D-3AA1-5F13-6F6F07E7F78D}"/>
                  </a:ext>
                </a:extLst>
              </p:cNvPr>
              <p:cNvSpPr txBox="1">
                <a:spLocks/>
              </p:cNvSpPr>
              <p:nvPr/>
            </p:nvSpPr>
            <p:spPr>
              <a:xfrm>
                <a:off x="4284261" y="1009207"/>
                <a:ext cx="3623479"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𝝈</m:t>
                        </m:r>
                      </m:e>
                      <m:sub>
                        <m:r>
                          <a:rPr lang="en-NZ" altLang="ja-JP" sz="2000" b="1" i="1" smtClean="0">
                            <a:solidFill>
                              <a:schemeClr val="tx1"/>
                            </a:solidFill>
                            <a:latin typeface="Cambria Math" panose="02040503050406030204" pitchFamily="18" charset="0"/>
                          </a:rPr>
                          <m:t>𝒊</m:t>
                        </m:r>
                      </m:sub>
                      <m:sup>
                        <m:r>
                          <a:rPr lang="en-NZ" altLang="ja-JP" sz="2000" b="1" i="1" smtClean="0">
                            <a:solidFill>
                              <a:schemeClr val="tx1"/>
                            </a:solidFill>
                            <a:latin typeface="Cambria Math" panose="02040503050406030204" pitchFamily="18" charset="0"/>
                          </a:rPr>
                          <m:t>𝟐</m:t>
                        </m:r>
                      </m:sup>
                    </m:sSubSup>
                    <m:r>
                      <a:rPr lang="en-NZ" altLang="ja-JP" sz="2000" b="1" i="1" smtClean="0">
                        <a:solidFill>
                          <a:schemeClr val="tx1"/>
                        </a:solidFill>
                        <a:latin typeface="Cambria Math" panose="02040503050406030204" pitchFamily="18" charset="0"/>
                      </a:rPr>
                      <m:t>=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𝝈</m:t>
                        </m:r>
                      </m:e>
                      <m:sub>
                        <m:r>
                          <a:rPr lang="en-NZ" altLang="ja-JP" sz="2000" b="1" i="1" smtClean="0">
                            <a:solidFill>
                              <a:schemeClr val="tx1"/>
                            </a:solidFill>
                            <a:latin typeface="Cambria Math" panose="02040503050406030204" pitchFamily="18" charset="0"/>
                          </a:rPr>
                          <m:t>𝒋</m:t>
                        </m:r>
                      </m:sub>
                      <m:sup>
                        <m:r>
                          <a:rPr lang="en-NZ" altLang="ja-JP" sz="2000" b="1" i="1" smtClean="0">
                            <a:solidFill>
                              <a:schemeClr val="tx1"/>
                            </a:solidFill>
                            <a:latin typeface="Cambria Math" panose="02040503050406030204" pitchFamily="18" charset="0"/>
                          </a:rPr>
                          <m:t>𝟐</m:t>
                        </m:r>
                      </m:sup>
                    </m:sSubSup>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𝝈</m:t>
                        </m:r>
                      </m:e>
                      <m:sub>
                        <m:r>
                          <a:rPr lang="en-NZ" altLang="ja-JP" sz="2000" b="1" i="1" smtClean="0">
                            <a:solidFill>
                              <a:schemeClr val="tx1"/>
                            </a:solidFill>
                            <a:latin typeface="Cambria Math" panose="02040503050406030204" pitchFamily="18" charset="0"/>
                          </a:rPr>
                          <m:t>𝒊</m:t>
                        </m:r>
                      </m:sub>
                      <m:sup>
                        <m:r>
                          <a:rPr lang="en-NZ" altLang="ja-JP" sz="2000" b="1" i="1" smtClean="0">
                            <a:solidFill>
                              <a:schemeClr val="tx1"/>
                            </a:solidFill>
                            <a:latin typeface="Cambria Math" panose="02040503050406030204" pitchFamily="18" charset="0"/>
                          </a:rPr>
                          <m:t>𝟐</m:t>
                        </m:r>
                      </m:sup>
                    </m:sSubSup>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𝝈</m:t>
                        </m:r>
                      </m:e>
                      <m:sub>
                        <m:r>
                          <a:rPr lang="en-NZ" altLang="ja-JP" sz="2000" b="1" i="1" smtClean="0">
                            <a:solidFill>
                              <a:schemeClr val="tx1"/>
                            </a:solidFill>
                            <a:latin typeface="Cambria Math" panose="02040503050406030204" pitchFamily="18" charset="0"/>
                          </a:rPr>
                          <m:t>𝒋</m:t>
                        </m:r>
                      </m:sub>
                      <m:sup>
                        <m:r>
                          <a:rPr lang="en-NZ" altLang="ja-JP" sz="2000" b="1" i="1" smtClean="0">
                            <a:solidFill>
                              <a:schemeClr val="tx1"/>
                            </a:solidFill>
                            <a:latin typeface="Cambria Math" panose="02040503050406030204" pitchFamily="18" charset="0"/>
                          </a:rPr>
                          <m:t>𝟐</m:t>
                        </m:r>
                      </m:sup>
                    </m:sSubSup>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oMath>
                </a14:m>
                <a:endParaRPr lang="en-NZ" altLang="ja-JP" sz="1600" dirty="0">
                  <a:solidFill>
                    <a:schemeClr val="tx1"/>
                  </a:solidFill>
                </a:endParaRPr>
              </a:p>
            </p:txBody>
          </p:sp>
        </mc:Choice>
        <mc:Fallback xmlns="">
          <p:sp>
            <p:nvSpPr>
              <p:cNvPr id="13" name="Text Placeholder 5">
                <a:extLst>
                  <a:ext uri="{FF2B5EF4-FFF2-40B4-BE49-F238E27FC236}">
                    <a16:creationId xmlns:a16="http://schemas.microsoft.com/office/drawing/2014/main" id="{DC0B9220-184D-3AA1-5F13-6F6F07E7F78D}"/>
                  </a:ext>
                </a:extLst>
              </p:cNvPr>
              <p:cNvSpPr txBox="1">
                <a:spLocks noRot="1" noChangeAspect="1" noMove="1" noResize="1" noEditPoints="1" noAdjustHandles="1" noChangeArrowheads="1" noChangeShapeType="1" noTextEdit="1"/>
              </p:cNvSpPr>
              <p:nvPr/>
            </p:nvSpPr>
            <p:spPr>
              <a:xfrm>
                <a:off x="4284261" y="1009207"/>
                <a:ext cx="3623479" cy="1021587"/>
              </a:xfrm>
              <a:prstGeom prst="rect">
                <a:avLst/>
              </a:prstGeom>
              <a:blipFill>
                <a:blip r:embed="rId4"/>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4020414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Title 6">
            <a:extLst>
              <a:ext uri="{FF2B5EF4-FFF2-40B4-BE49-F238E27FC236}">
                <a16:creationId xmlns:a16="http://schemas.microsoft.com/office/drawing/2014/main" id="{F5E9E232-3F8F-88FC-0B2F-9A7E2B19A441}"/>
              </a:ext>
            </a:extLst>
          </p:cNvPr>
          <p:cNvSpPr txBox="1">
            <a:spLocks/>
          </p:cNvSpPr>
          <p:nvPr/>
        </p:nvSpPr>
        <p:spPr>
          <a:xfrm>
            <a:off x="2011786" y="3125400"/>
            <a:ext cx="8168429" cy="607201"/>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lang="en-US" altLang="ja-JP" sz="4500" b="1" dirty="0">
                <a:solidFill>
                  <a:prstClr val="black"/>
                </a:solidFill>
                <a:latin typeface="Calibri" panose="020F0502020204030204"/>
                <a:ea typeface="游ゴシック Light" panose="020B0300000000000000" pitchFamily="34" charset="-128"/>
              </a:rPr>
              <a:t>3.2e</a:t>
            </a:r>
            <a:r>
              <a:rPr kumimoji="1" lang="en-US" altLang="ja-JP"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Drawing Conclusions</a:t>
            </a:r>
            <a:endParaRPr kumimoji="1" lang="ja-JP" altLang="en-US" sz="4500" b="1" i="0"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2042511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3.2e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 Drawing </a:t>
            </a:r>
            <a:r>
              <a:rPr lang="en-US" altLang="ja-JP" b="1" u="sng" dirty="0">
                <a:solidFill>
                  <a:prstClr val="black"/>
                </a:solidFill>
                <a:latin typeface="Calibri" panose="020F0502020204030204"/>
                <a:ea typeface="游ゴシック Light" panose="020B0300000000000000" pitchFamily="34" charset="-128"/>
              </a:rPr>
              <a:t>Conclusions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2" name="Footer Placeholder 2">
            <a:extLst>
              <a:ext uri="{FF2B5EF4-FFF2-40B4-BE49-F238E27FC236}">
                <a16:creationId xmlns:a16="http://schemas.microsoft.com/office/drawing/2014/main" id="{D283ADD7-1ED0-4E7F-91FD-1C7DD221311C}"/>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3.2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A40BCF96-9E8C-45FE-B030-DB77C3D4970C}"/>
              </a:ext>
            </a:extLst>
          </p:cNvPr>
          <p:cNvSpPr txBox="1">
            <a:spLocks/>
          </p:cNvSpPr>
          <p:nvPr/>
        </p:nvSpPr>
        <p:spPr>
          <a:xfrm>
            <a:off x="855259" y="1683979"/>
            <a:ext cx="10617959" cy="10242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800" dirty="0">
                <a:solidFill>
                  <a:srgbClr val="0070C0"/>
                </a:solidFill>
                <a:latin typeface="Calibri" panose="020F0502020204030204"/>
                <a:ea typeface="游ゴシック" panose="020B0400000000000000" pitchFamily="34" charset="-128"/>
              </a:rPr>
              <a:t>For the IQ data the ANOVA criteria are satisfied.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=&gt; The </a:t>
            </a:r>
            <a:r>
              <a:rPr lang="en-NZ" altLang="ja-JP" sz="2800" dirty="0">
                <a:solidFill>
                  <a:srgbClr val="0070C0"/>
                </a:solidFill>
                <a:latin typeface="Calibri" panose="020F0502020204030204"/>
                <a:ea typeface="游ゴシック" panose="020B0400000000000000" pitchFamily="34" charset="-128"/>
              </a:rPr>
              <a:t>ANOVA and post-hoc tests we did in the last lecture are valid.</a:t>
            </a:r>
            <a:endParaRPr kumimoji="1" lang="en-NZ" altLang="ja-JP" sz="2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8" name="Text Placeholder 5">
            <a:extLst>
              <a:ext uri="{FF2B5EF4-FFF2-40B4-BE49-F238E27FC236}">
                <a16:creationId xmlns:a16="http://schemas.microsoft.com/office/drawing/2014/main" id="{A1A78197-94C2-4339-8E35-5AA3EE4AB087}"/>
              </a:ext>
            </a:extLst>
          </p:cNvPr>
          <p:cNvSpPr txBox="1">
            <a:spLocks/>
          </p:cNvSpPr>
          <p:nvPr/>
        </p:nvSpPr>
        <p:spPr>
          <a:xfrm>
            <a:off x="855258" y="3128559"/>
            <a:ext cx="10731691" cy="10242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800" dirty="0">
                <a:solidFill>
                  <a:srgbClr val="C00000"/>
                </a:solidFill>
                <a:latin typeface="Calibri" panose="020F0502020204030204"/>
                <a:ea typeface="游ゴシック" panose="020B0400000000000000" pitchFamily="34" charset="-128"/>
              </a:rPr>
              <a:t>For the Call Centre data the ANOVA criteria are violated.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=&gt; </a:t>
            </a:r>
            <a:r>
              <a:rPr lang="en-NZ" altLang="ja-JP" sz="2800" dirty="0">
                <a:solidFill>
                  <a:srgbClr val="C00000"/>
                </a:solidFill>
                <a:latin typeface="Calibri" panose="020F0502020204030204"/>
                <a:ea typeface="游ゴシック" panose="020B0400000000000000" pitchFamily="34" charset="-128"/>
              </a:rPr>
              <a:t>Conducting</a:t>
            </a:r>
            <a:r>
              <a:rPr kumimoji="1" lang="en-NZ" altLang="ja-JP" sz="2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a:t>
            </a:r>
            <a:r>
              <a:rPr lang="en-NZ" altLang="ja-JP" sz="2800" dirty="0">
                <a:solidFill>
                  <a:srgbClr val="C00000"/>
                </a:solidFill>
                <a:latin typeface="Calibri" panose="020F0502020204030204"/>
                <a:ea typeface="游ゴシック" panose="020B0400000000000000" pitchFamily="34" charset="-128"/>
              </a:rPr>
              <a:t>ANOVA and post-hoc tests would result in invalid p-values</a:t>
            </a:r>
            <a:endParaRPr kumimoji="1" lang="en-NZ" altLang="ja-JP" sz="2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9" name="Text Placeholder 5">
            <a:extLst>
              <a:ext uri="{FF2B5EF4-FFF2-40B4-BE49-F238E27FC236}">
                <a16:creationId xmlns:a16="http://schemas.microsoft.com/office/drawing/2014/main" id="{AEC4E42F-A9ED-4A80-B55A-76B2E4DE96E6}"/>
              </a:ext>
            </a:extLst>
          </p:cNvPr>
          <p:cNvSpPr txBox="1">
            <a:spLocks/>
          </p:cNvSpPr>
          <p:nvPr/>
        </p:nvSpPr>
        <p:spPr>
          <a:xfrm>
            <a:off x="855257" y="4691485"/>
            <a:ext cx="10731691" cy="10242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800" dirty="0">
                <a:solidFill>
                  <a:prstClr val="black"/>
                </a:solidFill>
                <a:latin typeface="Calibri" panose="020F0502020204030204"/>
                <a:ea typeface="游ゴシック" panose="020B0400000000000000" pitchFamily="34" charset="-128"/>
              </a:rPr>
              <a:t>How do we test whether there is a significant difference between group means when the ANOVA conditions are violated?</a:t>
            </a:r>
            <a:endPar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0" name="Text Placeholder 5">
            <a:extLst>
              <a:ext uri="{FF2B5EF4-FFF2-40B4-BE49-F238E27FC236}">
                <a16:creationId xmlns:a16="http://schemas.microsoft.com/office/drawing/2014/main" id="{150BE578-A3E2-4F0B-B361-2D99D2E8CA00}"/>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3.2 - Student IQ Tests (ANOVA Example with Checks)  /   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94840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3.3 – Permutation Testing</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45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F2B5B-518C-316D-C09C-89FC32621B2A}"/>
              </a:ext>
            </a:extLst>
          </p:cNvPr>
          <p:cNvPicPr>
            <a:picLocks noChangeAspect="1"/>
          </p:cNvPicPr>
          <p:nvPr/>
        </p:nvPicPr>
        <p:blipFill>
          <a:blip r:embed="rId2"/>
          <a:stretch>
            <a:fillRect/>
          </a:stretch>
        </p:blipFill>
        <p:spPr>
          <a:xfrm>
            <a:off x="6660468" y="4876263"/>
            <a:ext cx="3664760" cy="1833388"/>
          </a:xfrm>
          <a:prstGeom prst="rect">
            <a:avLst/>
          </a:prstGeom>
        </p:spPr>
      </p:pic>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AE50A56B-56FB-8A3A-01BC-F58E719FAEEE}"/>
                  </a:ext>
                </a:extLst>
              </p:cNvPr>
              <p:cNvSpPr txBox="1">
                <a:spLocks/>
              </p:cNvSpPr>
              <p:nvPr/>
            </p:nvSpPr>
            <p:spPr>
              <a:xfrm>
                <a:off x="8170116" y="5891616"/>
                <a:ext cx="80915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AE50A56B-56FB-8A3A-01BC-F58E719FAEEE}"/>
                  </a:ext>
                </a:extLst>
              </p:cNvPr>
              <p:cNvSpPr txBox="1">
                <a:spLocks noRot="1" noChangeAspect="1" noMove="1" noResize="1" noEditPoints="1" noAdjustHandles="1" noChangeArrowheads="1" noChangeShapeType="1" noTextEdit="1"/>
              </p:cNvSpPr>
              <p:nvPr/>
            </p:nvSpPr>
            <p:spPr>
              <a:xfrm>
                <a:off x="8170116" y="5891616"/>
                <a:ext cx="809159" cy="398844"/>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3583496"/>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use the sample data to calculate the observed test statistic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using the formula: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sup>
                                <m:e>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sup>
                                    <m:e>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nary>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sup>
                                <m:e>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sup>
                                    <m:e>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nary>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e>
                              </m:d>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3583496"/>
                <a:ext cx="11472203" cy="1021587"/>
              </a:xfrm>
              <a:prstGeom prst="rect">
                <a:avLst/>
              </a:prstGeom>
              <a:blipFill>
                <a:blip r:embed="rId4"/>
                <a:stretch>
                  <a:fillRect l="-266" t="-1796" b="-5988"/>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251223" y="2298735"/>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C4A4FEE8-CFD1-4003-AD06-D508D11C4922}"/>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C4A4FEE8-CFD1-4003-AD06-D508D11C4922}"/>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707CDE52-52E3-4005-BDF2-6C34DD97E41D}"/>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707CDE52-52E3-4005-BDF2-6C34DD97E41D}"/>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0B023A64-E0ED-4C3C-9566-D9FAFD2E6133}"/>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1" name="Text Placeholder 5">
                <a:extLst>
                  <a:ext uri="{FF2B5EF4-FFF2-40B4-BE49-F238E27FC236}">
                    <a16:creationId xmlns:a16="http://schemas.microsoft.com/office/drawing/2014/main" id="{0B023A64-E0ED-4C3C-9566-D9FAFD2E6133}"/>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8"/>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6402FBED-F34C-4A15-91A8-0CADC18271CE}"/>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6402FBED-F34C-4A15-91A8-0CADC18271CE}"/>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9"/>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78518" y="4876263"/>
                <a:ext cx="5958508" cy="4488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If</a:t>
                </a:r>
                <a:r>
                  <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conditions are satisfied then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look to see where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lies in the distribution of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k-1 , N-k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78518" y="4876263"/>
                <a:ext cx="5958508" cy="448852"/>
              </a:xfrm>
              <a:prstGeom prst="rect">
                <a:avLst/>
              </a:prstGeom>
              <a:blipFill>
                <a:blip r:embed="rId10"/>
                <a:stretch>
                  <a:fillRect l="-614" t="-2703" b="-486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91F5E52D-05D1-4BA0-9B12-457FB8B51379}"/>
                  </a:ext>
                </a:extLst>
              </p:cNvPr>
              <p:cNvSpPr txBox="1">
                <a:spLocks/>
              </p:cNvSpPr>
              <p:nvPr/>
            </p:nvSpPr>
            <p:spPr>
              <a:xfrm>
                <a:off x="278517" y="5485575"/>
                <a:ext cx="5844778" cy="4071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particular, the p-value of the test is calculated as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d>
                    <m:r>
                      <a:rPr kumimoji="1" lang="en-NZ" altLang="ja-JP" sz="1600" b="1"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8" name="Text Placeholder 5">
                <a:extLst>
                  <a:ext uri="{FF2B5EF4-FFF2-40B4-BE49-F238E27FC236}">
                    <a16:creationId xmlns:a16="http://schemas.microsoft.com/office/drawing/2014/main" id="{91F5E52D-05D1-4BA0-9B12-457FB8B51379}"/>
                  </a:ext>
                </a:extLst>
              </p:cNvPr>
              <p:cNvSpPr txBox="1">
                <a:spLocks noRot="1" noChangeAspect="1" noMove="1" noResize="1" noEditPoints="1" noAdjustHandles="1" noChangeArrowheads="1" noChangeShapeType="1" noTextEdit="1"/>
              </p:cNvSpPr>
              <p:nvPr/>
            </p:nvSpPr>
            <p:spPr>
              <a:xfrm>
                <a:off x="278517" y="5485575"/>
                <a:ext cx="5844778" cy="407199"/>
              </a:xfrm>
              <a:prstGeom prst="rect">
                <a:avLst/>
              </a:prstGeom>
              <a:blipFill>
                <a:blip r:embed="rId11"/>
                <a:stretch>
                  <a:fillRect l="-626" t="-4478" b="-1493"/>
                </a:stretch>
              </a:blipFill>
            </p:spPr>
            <p:txBody>
              <a:bodyPr/>
              <a:lstStyle/>
              <a:p>
                <a:r>
                  <a:rPr lang="en-NZ">
                    <a:noFill/>
                  </a:rPr>
                  <a:t> </a:t>
                </a:r>
              </a:p>
            </p:txBody>
          </p:sp>
        </mc:Fallback>
      </mc:AlternateContent>
      <p:sp>
        <p:nvSpPr>
          <p:cNvPr id="39" name="Text Placeholder 5">
            <a:extLst>
              <a:ext uri="{FF2B5EF4-FFF2-40B4-BE49-F238E27FC236}">
                <a16:creationId xmlns:a16="http://schemas.microsoft.com/office/drawing/2014/main" id="{A70D6EAD-B290-4FD1-B949-1D090DBEB701}"/>
              </a:ext>
            </a:extLst>
          </p:cNvPr>
          <p:cNvSpPr txBox="1">
            <a:spLocks/>
          </p:cNvSpPr>
          <p:nvPr/>
        </p:nvSpPr>
        <p:spPr>
          <a:xfrm>
            <a:off x="251222" y="5836491"/>
            <a:ext cx="5767439" cy="78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greater the value of the observed test statistic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smaller this p-value will be and the more evidence we have against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null hypothesis.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89733653-5326-A3B7-028D-8FB5D3C37F72}"/>
                  </a:ext>
                </a:extLst>
              </p:cNvPr>
              <p:cNvSpPr txBox="1">
                <a:spLocks/>
              </p:cNvSpPr>
              <p:nvPr/>
            </p:nvSpPr>
            <p:spPr>
              <a:xfrm>
                <a:off x="8785579" y="5895228"/>
                <a:ext cx="134463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89733653-5326-A3B7-028D-8FB5D3C37F72}"/>
                  </a:ext>
                </a:extLst>
              </p:cNvPr>
              <p:cNvSpPr txBox="1">
                <a:spLocks noRot="1" noChangeAspect="1" noMove="1" noResize="1" noEditPoints="1" noAdjustHandles="1" noChangeArrowheads="1" noChangeShapeType="1" noTextEdit="1"/>
              </p:cNvSpPr>
              <p:nvPr/>
            </p:nvSpPr>
            <p:spPr>
              <a:xfrm>
                <a:off x="8785579" y="5895228"/>
                <a:ext cx="1344639" cy="398844"/>
              </a:xfrm>
              <a:prstGeom prst="rect">
                <a:avLst/>
              </a:prstGeom>
              <a:blipFill>
                <a:blip r:embed="rId12"/>
                <a:stretch>
                  <a:fillRect/>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AA0882C0-2E92-BBD9-6A8F-2C3516DCEF0A}"/>
              </a:ext>
            </a:extLst>
          </p:cNvPr>
          <p:cNvCxnSpPr>
            <a:cxnSpLocks/>
            <a:stCxn id="33" idx="2"/>
          </p:cNvCxnSpPr>
          <p:nvPr/>
        </p:nvCxnSpPr>
        <p:spPr>
          <a:xfrm flipH="1">
            <a:off x="8573858" y="6290460"/>
            <a:ext cx="838" cy="22986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9893E68C-8CA5-6D37-135C-EC63D2635A6B}"/>
                  </a:ext>
                </a:extLst>
              </p:cNvPr>
              <p:cNvSpPr txBox="1">
                <a:spLocks/>
              </p:cNvSpPr>
              <p:nvPr/>
            </p:nvSpPr>
            <p:spPr>
              <a:xfrm>
                <a:off x="7671553" y="996728"/>
                <a:ext cx="3857767" cy="1621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d>
                      <m:dPr>
                        <m:begChr m:val="["/>
                        <m:endChr m:val="]"/>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3"/>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
                            </m:e>
                          </m:mr>
                        </m:m>
                      </m:e>
                    </m:d>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9893E68C-8CA5-6D37-135C-EC63D2635A6B}"/>
                  </a:ext>
                </a:extLst>
              </p:cNvPr>
              <p:cNvSpPr txBox="1">
                <a:spLocks noRot="1" noChangeAspect="1" noMove="1" noResize="1" noEditPoints="1" noAdjustHandles="1" noChangeArrowheads="1" noChangeShapeType="1" noTextEdit="1"/>
              </p:cNvSpPr>
              <p:nvPr/>
            </p:nvSpPr>
            <p:spPr>
              <a:xfrm>
                <a:off x="7671553" y="996728"/>
                <a:ext cx="3857767" cy="1621449"/>
              </a:xfrm>
              <a:prstGeom prst="rect">
                <a:avLst/>
              </a:prstGeom>
              <a:blipFill>
                <a:blip r:embed="rId13"/>
                <a:stretch>
                  <a:fillRect/>
                </a:stretch>
              </a:blipFill>
            </p:spPr>
            <p:txBody>
              <a:bodyPr/>
              <a:lstStyle/>
              <a:p>
                <a:r>
                  <a:rPr lang="en-NZ">
                    <a:noFill/>
                  </a:rPr>
                  <a:t> </a:t>
                </a:r>
              </a:p>
            </p:txBody>
          </p:sp>
        </mc:Fallback>
      </mc:AlternateContent>
      <p:sp>
        <p:nvSpPr>
          <p:cNvPr id="36" name="Title 6">
            <a:extLst>
              <a:ext uri="{FF2B5EF4-FFF2-40B4-BE49-F238E27FC236}">
                <a16:creationId xmlns:a16="http://schemas.microsoft.com/office/drawing/2014/main" id="{9D93DD8A-385B-F933-EDF4-B3432421127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Recap of Last Lecture: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7" name="Footer Placeholder 2">
            <a:extLst>
              <a:ext uri="{FF2B5EF4-FFF2-40B4-BE49-F238E27FC236}">
                <a16:creationId xmlns:a16="http://schemas.microsoft.com/office/drawing/2014/main" id="{F0A3455F-08A7-0F8E-CAD7-01B09F9D80EF}"/>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411271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4" grpId="0"/>
      <p:bldP spid="37" grpId="0"/>
      <p:bldP spid="38" grpId="0"/>
      <p:bldP spid="39" grpId="0"/>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we are interested in whether or not the means of these groups are the same.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E1DCB443-F47F-4A0A-A587-CF64CC68E3D1}"/>
              </a:ext>
            </a:extLst>
          </p:cNvPr>
          <p:cNvSpPr txBox="1">
            <a:spLocks/>
          </p:cNvSpPr>
          <p:nvPr/>
        </p:nvSpPr>
        <p:spPr>
          <a:xfrm>
            <a:off x="387193" y="3896538"/>
            <a:ext cx="11417614" cy="14198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ANOVA Conditions </a:t>
            </a: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do not hold </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then although we can still calculate the F-statistic, this will no longer follow an </a:t>
            </a:r>
            <a:r>
              <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20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k-1 , N-k</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distribution.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the p-value produced from ANOVA will be meaningless</a:t>
            </a:r>
            <a:b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We won’t be able to use the p-value to decide between the null and alternative hypothesis.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89674A2D-8E4C-4D1F-8B7B-67F311DA9891}"/>
              </a:ext>
            </a:extLst>
          </p:cNvPr>
          <p:cNvSpPr txBox="1">
            <a:spLocks/>
          </p:cNvSpPr>
          <p:nvPr/>
        </p:nvSpPr>
        <p:spPr>
          <a:xfrm>
            <a:off x="387193" y="5586144"/>
            <a:ext cx="11417614" cy="4768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Q: How do we decide between H</a:t>
            </a:r>
            <a:r>
              <a:rPr kumimoji="1" lang="en-NZ" altLang="ja-JP" sz="2000" b="1" i="0"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0</a:t>
            </a:r>
            <a:r>
              <a:rPr kumimoji="1" lang="en-NZ" altLang="ja-JP" sz="2000" b="1"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and H</a:t>
            </a:r>
            <a:r>
              <a:rPr kumimoji="1" lang="en-NZ" altLang="ja-JP" sz="2000" b="1" i="0"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1</a:t>
            </a: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if the ANOVA conditions are violated?</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2" name="Footer Placeholder 2">
            <a:extLst>
              <a:ext uri="{FF2B5EF4-FFF2-40B4-BE49-F238E27FC236}">
                <a16:creationId xmlns:a16="http://schemas.microsoft.com/office/drawing/2014/main" id="{F15D3C70-E425-8829-E2AD-FA149564D1D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6" name="Title 6">
            <a:extLst>
              <a:ext uri="{FF2B5EF4-FFF2-40B4-BE49-F238E27FC236}">
                <a16:creationId xmlns:a16="http://schemas.microsoft.com/office/drawing/2014/main" id="{F9101DD3-5DA6-E0E7-660A-6BA4193D1720}"/>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Recap of Last Lecture: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7" name="Text Placeholder 5">
            <a:extLst>
              <a:ext uri="{FF2B5EF4-FFF2-40B4-BE49-F238E27FC236}">
                <a16:creationId xmlns:a16="http://schemas.microsoft.com/office/drawing/2014/main" id="{0660D0DC-D7BD-E624-B61D-2CDB1B67E5B1}"/>
              </a:ext>
            </a:extLst>
          </p:cNvPr>
          <p:cNvSpPr txBox="1">
            <a:spLocks/>
          </p:cNvSpPr>
          <p:nvPr/>
        </p:nvSpPr>
        <p:spPr>
          <a:xfrm>
            <a:off x="387193" y="6078064"/>
            <a:ext cx="11417614" cy="4768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We do a permutation test</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886EAA23-02FC-E412-30F7-B863AA528F9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886EAA23-02FC-E412-30F7-B863AA528F9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9C2719F1-8C52-B740-A0EC-B6EDB6D07656}"/>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9C2719F1-8C52-B740-A0EC-B6EDB6D07656}"/>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38FBAD11-DAC7-6500-DA52-4CBB654FEBAF}"/>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7" name="Text Placeholder 5">
                <a:extLst>
                  <a:ext uri="{FF2B5EF4-FFF2-40B4-BE49-F238E27FC236}">
                    <a16:creationId xmlns:a16="http://schemas.microsoft.com/office/drawing/2014/main" id="{38FBAD11-DAC7-6500-DA52-4CBB654FEBAF}"/>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1CE0B6B6-BFEB-2C5E-6443-F40D13D87299}"/>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1CE0B6B6-BFEB-2C5E-6443-F40D13D87299}"/>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5"/>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B85C6DA9-92D4-490E-6B67-0B11A3CF3D7B}"/>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B85C6DA9-92D4-490E-6B67-0B11A3CF3D7B}"/>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6"/>
                <a:stretch>
                  <a:fillRect b="-16667"/>
                </a:stretch>
              </a:blipFill>
            </p:spPr>
            <p:txBody>
              <a:bodyPr/>
              <a:lstStyle/>
              <a:p>
                <a:r>
                  <a:rPr lang="en-NZ">
                    <a:noFill/>
                  </a:rPr>
                  <a:t> </a:t>
                </a:r>
              </a:p>
            </p:txBody>
          </p:sp>
        </mc:Fallback>
      </mc:AlternateContent>
    </p:spTree>
    <p:extLst>
      <p:ext uri="{BB962C8B-B14F-4D97-AF65-F5344CB8AC3E}">
        <p14:creationId xmlns:p14="http://schemas.microsoft.com/office/powerpoint/2010/main" val="195445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3.3a – The Basic Idea of 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F9002F38-2735-4709-890C-427E83254016}"/>
              </a:ext>
            </a:extLst>
          </p:cNvPr>
          <p:cNvSpPr txBox="1">
            <a:spLocks/>
          </p:cNvSpPr>
          <p:nvPr/>
        </p:nvSpPr>
        <p:spPr>
          <a:xfrm>
            <a:off x="323148" y="1002601"/>
            <a:ext cx="11545703" cy="7192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Permutation tests are a non-parametric method of testing whether a particular property (e.g. the mean) is constant amongst </a:t>
            </a:r>
            <a:b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US"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a:t>
            </a:r>
            <a:r>
              <a:rPr kumimoji="1" lang="en-US"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US" altLang="ja-JP" sz="1700" b="1" i="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US" altLang="ja-JP" sz="17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or whether this property differs between at least two of them (</a:t>
            </a:r>
            <a:r>
              <a:rPr kumimoji="1" lang="en-US"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lang="en-US" altLang="ja-JP" sz="1700" b="1" baseline="-25000" dirty="0">
                <a:solidFill>
                  <a:prstClr val="black"/>
                </a:solidFill>
                <a:latin typeface="Calibri" panose="020F0502020204030204"/>
                <a:ea typeface="游ゴシック" panose="020B0400000000000000" pitchFamily="34" charset="-128"/>
              </a:rPr>
              <a:t>1</a:t>
            </a:r>
            <a:r>
              <a:rPr kumimoji="1" lang="en-US" altLang="ja-JP" sz="17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general premise is as follows: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1AEF10BA-5BD2-4504-BC15-860439B0C9D4}"/>
              </a:ext>
            </a:extLst>
          </p:cNvPr>
          <p:cNvSpPr txBox="1">
            <a:spLocks/>
          </p:cNvSpPr>
          <p:nvPr/>
        </p:nvSpPr>
        <p:spPr>
          <a:xfrm>
            <a:off x="319463" y="4502863"/>
            <a:ext cx="11134298" cy="8973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358DDAFB-0CC3-42E0-9834-1593B8F7CA19}"/>
              </a:ext>
            </a:extLst>
          </p:cNvPr>
          <p:cNvSpPr txBox="1">
            <a:spLocks/>
          </p:cNvSpPr>
          <p:nvPr/>
        </p:nvSpPr>
        <p:spPr>
          <a:xfrm>
            <a:off x="903816" y="1711028"/>
            <a:ext cx="10549945" cy="40081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We</a:t>
            </a:r>
            <a:r>
              <a:rPr kumimoji="1" lang="en-US" altLang="ja-JP" sz="165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have</a:t>
            </a:r>
            <a:r>
              <a:rPr lang="en-US" altLang="ja-JP" sz="1650" dirty="0">
                <a:solidFill>
                  <a:prstClr val="black"/>
                </a:solidFill>
                <a:latin typeface="Calibri" panose="020F0502020204030204"/>
                <a:ea typeface="游ゴシック" panose="020B0400000000000000" pitchFamily="34" charset="-128"/>
              </a:rPr>
              <a:t> a test statistic </a:t>
            </a:r>
            <a:r>
              <a:rPr lang="en-US" altLang="ja-JP" sz="1650" b="1" i="1" dirty="0">
                <a:solidFill>
                  <a:prstClr val="black"/>
                </a:solidFill>
                <a:latin typeface="Calibri" panose="020F0502020204030204"/>
                <a:ea typeface="游ゴシック" panose="020B0400000000000000" pitchFamily="34" charset="-128"/>
              </a:rPr>
              <a:t>F</a:t>
            </a:r>
            <a:r>
              <a:rPr lang="en-US" altLang="ja-JP" sz="1650" dirty="0">
                <a:solidFill>
                  <a:prstClr val="black"/>
                </a:solidFill>
                <a:latin typeface="Calibri" panose="020F0502020204030204"/>
                <a:ea typeface="游ゴシック" panose="020B0400000000000000" pitchFamily="34" charset="-128"/>
              </a:rPr>
              <a:t> which measures whether the property of interest is the same across all groups or not. </a:t>
            </a:r>
            <a:br>
              <a:rPr lang="en-US" altLang="ja-JP" sz="1650" dirty="0">
                <a:solidFill>
                  <a:prstClr val="black"/>
                </a:solidFill>
                <a:latin typeface="Calibri" panose="020F0502020204030204"/>
                <a:ea typeface="游ゴシック" panose="020B0400000000000000" pitchFamily="34" charset="-128"/>
              </a:rPr>
            </a:br>
            <a:r>
              <a:rPr lang="en-US" altLang="ja-JP" sz="1650" dirty="0">
                <a:solidFill>
                  <a:prstClr val="black"/>
                </a:solidFill>
                <a:latin typeface="Calibri" panose="020F0502020204030204"/>
                <a:ea typeface="游ゴシック" panose="020B0400000000000000" pitchFamily="34" charset="-128"/>
              </a:rPr>
              <a:t>We calculate the value of this test statistic for our initial sample and call this </a:t>
            </a:r>
            <a:r>
              <a:rPr lang="en-US" altLang="ja-JP" sz="1650" b="1" i="1" dirty="0">
                <a:solidFill>
                  <a:prstClr val="black"/>
                </a:solidFill>
                <a:latin typeface="Calibri" panose="020F0502020204030204"/>
                <a:ea typeface="游ゴシック" panose="020B0400000000000000" pitchFamily="34" charset="-128"/>
              </a:rPr>
              <a:t>F</a:t>
            </a:r>
            <a:r>
              <a:rPr lang="en-US" altLang="ja-JP" sz="1650" b="1" i="1" baseline="-25000" dirty="0">
                <a:solidFill>
                  <a:prstClr val="black"/>
                </a:solidFill>
                <a:latin typeface="Calibri" panose="020F0502020204030204"/>
                <a:ea typeface="游ゴシック" panose="020B0400000000000000" pitchFamily="34" charset="-128"/>
              </a:rPr>
              <a:t>obs</a:t>
            </a:r>
            <a:r>
              <a:rPr lang="en-US" altLang="ja-JP" sz="1650" dirty="0">
                <a:solidFill>
                  <a:prstClr val="black"/>
                </a:solidFill>
                <a:latin typeface="Calibri" panose="020F0502020204030204"/>
                <a:ea typeface="游ゴシック" panose="020B0400000000000000" pitchFamily="34" charset="-128"/>
              </a:rPr>
              <a:t>.</a:t>
            </a:r>
          </a:p>
          <a:p>
            <a:pPr marR="0" lvl="0" algn="just" defTabSz="914324" rtl="0" eaLnBrk="1" fontAlgn="auto" latinLnBrk="0" hangingPunct="1">
              <a:lnSpc>
                <a:spcPct val="100000"/>
              </a:lnSpc>
              <a:spcBef>
                <a:spcPts val="0"/>
              </a:spcBef>
              <a:spcAft>
                <a:spcPts val="0"/>
              </a:spcAft>
              <a:buClrTx/>
              <a:buSzTx/>
              <a:tabLst/>
              <a:defRPr/>
            </a:pPr>
            <a:endPar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indent="-285750" algn="just">
              <a:lnSpc>
                <a:spcPct val="100000"/>
              </a:lnSpc>
              <a:buFont typeface="Arial" panose="020B0604020202020204" pitchFamily="34" charset="0"/>
              <a:buChar char="•"/>
            </a:pP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If the property of interest </a:t>
            </a:r>
            <a:r>
              <a:rPr kumimoji="1" lang="en-US" altLang="ja-JP" sz="165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is the same across all groups</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then the data are </a:t>
            </a:r>
            <a:r>
              <a:rPr kumimoji="1" lang="en-US" altLang="ja-JP" sz="165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exchangeable</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i.e. randomly switching observations of the response variable between groups should not have too much of an effect on the value of test statistic. </a:t>
            </a:r>
          </a:p>
          <a:p>
            <a:pPr algn="just">
              <a:lnSpc>
                <a:spcPct val="100000"/>
              </a:lnSpc>
            </a:pPr>
            <a:endPar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indent="-285750" algn="just">
              <a:lnSpc>
                <a:spcPct val="100000"/>
              </a:lnSpc>
              <a:buFont typeface="Arial" panose="020B0604020202020204" pitchFamily="34" charset="0"/>
              <a:buChar char="•"/>
            </a:pP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In which case, </a:t>
            </a:r>
            <a:r>
              <a:rPr lang="en-US" altLang="ja-JP" sz="1650" b="1" i="1" dirty="0">
                <a:solidFill>
                  <a:prstClr val="black"/>
                </a:solidFill>
              </a:rPr>
              <a:t>F</a:t>
            </a:r>
            <a:r>
              <a:rPr lang="en-US" altLang="ja-JP" sz="1650" b="1" i="1" baseline="-25000" dirty="0">
                <a:solidFill>
                  <a:prstClr val="black"/>
                </a:solidFill>
              </a:rPr>
              <a:t>obs</a:t>
            </a:r>
            <a:r>
              <a:rPr lang="en-US" altLang="ja-JP" sz="1650" dirty="0">
                <a:solidFill>
                  <a:prstClr val="black"/>
                </a:solidFill>
              </a:rPr>
              <a:t> </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is likely to be just a </a:t>
            </a:r>
            <a:r>
              <a:rPr kumimoji="1" lang="en-US" altLang="ja-JP" sz="165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typical value </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from the distribution of test statistics produced from our re-ordered samples.</a:t>
            </a:r>
          </a:p>
          <a:p>
            <a:pPr marR="0" lvl="0" algn="just" defTabSz="914324" rtl="0" eaLnBrk="1" fontAlgn="auto" latinLnBrk="0" hangingPunct="1">
              <a:lnSpc>
                <a:spcPct val="100000"/>
              </a:lnSpc>
              <a:spcBef>
                <a:spcPts val="0"/>
              </a:spcBef>
              <a:spcAft>
                <a:spcPts val="0"/>
              </a:spcAft>
              <a:buClrTx/>
              <a:buSzTx/>
              <a:tabLst/>
              <a:defRPr/>
            </a:pPr>
            <a:endPar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50" noProof="0" dirty="0">
                <a:solidFill>
                  <a:prstClr val="black"/>
                </a:solidFill>
                <a:latin typeface="Calibri" panose="020F0502020204030204"/>
                <a:ea typeface="游ゴシック" panose="020B0400000000000000" pitchFamily="34" charset="-128"/>
              </a:rPr>
              <a:t>If the property of interest </a:t>
            </a:r>
            <a:r>
              <a:rPr lang="en-US" altLang="ja-JP" sz="1650" b="1" noProof="0" dirty="0">
                <a:solidFill>
                  <a:prstClr val="black"/>
                </a:solidFill>
                <a:latin typeface="Calibri" panose="020F0502020204030204"/>
                <a:ea typeface="游ゴシック" panose="020B0400000000000000" pitchFamily="34" charset="-128"/>
              </a:rPr>
              <a:t>is different across groups</a:t>
            </a:r>
            <a:r>
              <a:rPr lang="en-US" altLang="ja-JP" sz="1650" noProof="0" dirty="0">
                <a:solidFill>
                  <a:prstClr val="black"/>
                </a:solidFill>
                <a:latin typeface="Calibri" panose="020F0502020204030204"/>
                <a:ea typeface="游ゴシック" panose="020B0400000000000000" pitchFamily="34" charset="-128"/>
              </a:rPr>
              <a:t>, then the data are </a:t>
            </a:r>
            <a:r>
              <a:rPr lang="en-US" altLang="ja-JP" sz="1650" b="1" noProof="0" dirty="0">
                <a:solidFill>
                  <a:prstClr val="black"/>
                </a:solidFill>
                <a:latin typeface="Calibri" panose="020F0502020204030204"/>
                <a:ea typeface="游ゴシック" panose="020B0400000000000000" pitchFamily="34" charset="-128"/>
              </a:rPr>
              <a:t>not exchangeable</a:t>
            </a:r>
            <a:r>
              <a:rPr lang="en-US" altLang="ja-JP" sz="1650" noProof="0" dirty="0">
                <a:solidFill>
                  <a:prstClr val="black"/>
                </a:solidFill>
                <a:latin typeface="Calibri" panose="020F0502020204030204"/>
                <a:ea typeface="游ゴシック" panose="020B0400000000000000" pitchFamily="34" charset="-128"/>
              </a:rPr>
              <a:t>, i.e. randomly switching observations of the response variable between groups is likely to have a big effect on the value of the test statistic.</a:t>
            </a:r>
          </a:p>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650" noProof="0" dirty="0">
              <a:solidFill>
                <a:prstClr val="black"/>
              </a:solidFill>
              <a:latin typeface="Calibri" panose="020F0502020204030204"/>
              <a:ea typeface="游ゴシック" panose="020B0400000000000000" pitchFamily="34" charset="-128"/>
            </a:endParaRPr>
          </a:p>
          <a:p>
            <a:pPr marL="285750" indent="-285750" algn="just">
              <a:lnSpc>
                <a:spcPct val="100000"/>
              </a:lnSpc>
              <a:buFont typeface="Arial" panose="020B0604020202020204" pitchFamily="34" charset="0"/>
              <a:buChar char="•"/>
            </a:pPr>
            <a:r>
              <a:rPr lang="en-US" altLang="ja-JP" sz="1650" dirty="0">
                <a:solidFill>
                  <a:prstClr val="black"/>
                </a:solidFill>
              </a:rPr>
              <a:t>In which case, </a:t>
            </a:r>
            <a:r>
              <a:rPr lang="en-US" altLang="ja-JP" sz="1650" b="1" i="1" dirty="0">
                <a:solidFill>
                  <a:prstClr val="black"/>
                </a:solidFill>
              </a:rPr>
              <a:t>F</a:t>
            </a:r>
            <a:r>
              <a:rPr lang="en-US" altLang="ja-JP" sz="1650" b="1" i="1" baseline="-25000" dirty="0">
                <a:solidFill>
                  <a:prstClr val="black"/>
                </a:solidFill>
              </a:rPr>
              <a:t>obs</a:t>
            </a:r>
            <a:r>
              <a:rPr lang="en-US" altLang="ja-JP" sz="1650" dirty="0">
                <a:solidFill>
                  <a:prstClr val="black"/>
                </a:solidFill>
              </a:rPr>
              <a:t>  is likely to be an </a:t>
            </a:r>
            <a:r>
              <a:rPr lang="en-US" altLang="ja-JP" sz="1650" b="1" dirty="0">
                <a:solidFill>
                  <a:prstClr val="black"/>
                </a:solidFill>
              </a:rPr>
              <a:t>extremal value </a:t>
            </a:r>
            <a:r>
              <a:rPr lang="en-US" altLang="ja-JP" sz="1650" dirty="0">
                <a:solidFill>
                  <a:prstClr val="black"/>
                </a:solidFill>
              </a:rPr>
              <a:t>from the distribution of test statistics produced from our re-ordered samples.</a:t>
            </a:r>
          </a:p>
          <a:p>
            <a:pPr marL="285750" indent="-285750" algn="just">
              <a:lnSpc>
                <a:spcPct val="100000"/>
              </a:lnSpc>
              <a:buFont typeface="Arial" panose="020B0604020202020204" pitchFamily="34" charset="0"/>
              <a:buChar char="•"/>
            </a:pPr>
            <a:endParaRPr lang="en-US" altLang="ja-JP" sz="1650" dirty="0">
              <a:solidFill>
                <a:prstClr val="black"/>
              </a:solidFill>
            </a:endParaRPr>
          </a:p>
          <a:p>
            <a:pPr marL="285750" indent="-285750" algn="just">
              <a:lnSpc>
                <a:spcPct val="100000"/>
              </a:lnSpc>
              <a:buFont typeface="Arial" panose="020B0604020202020204" pitchFamily="34" charset="0"/>
              <a:buChar char="•"/>
            </a:pPr>
            <a:r>
              <a:rPr lang="en-US" altLang="ja-JP" sz="1650" dirty="0">
                <a:solidFill>
                  <a:prstClr val="black"/>
                </a:solidFill>
              </a:rPr>
              <a:t>Thus, we calculate </a:t>
            </a:r>
            <a:r>
              <a:rPr lang="en-US" altLang="ja-JP" sz="1650" b="1" i="1" dirty="0">
                <a:solidFill>
                  <a:prstClr val="black"/>
                </a:solidFill>
              </a:rPr>
              <a:t>F</a:t>
            </a:r>
            <a:r>
              <a:rPr lang="en-US" altLang="ja-JP" sz="1650" b="1" i="1" baseline="-25000" dirty="0">
                <a:solidFill>
                  <a:prstClr val="black"/>
                </a:solidFill>
              </a:rPr>
              <a:t>obs</a:t>
            </a:r>
            <a:r>
              <a:rPr lang="en-US" altLang="ja-JP" sz="1650" baseline="-25000" dirty="0">
                <a:solidFill>
                  <a:prstClr val="black"/>
                </a:solidFill>
              </a:rPr>
              <a:t> </a:t>
            </a:r>
            <a:r>
              <a:rPr lang="en-US" altLang="ja-JP" sz="1650" dirty="0">
                <a:solidFill>
                  <a:prstClr val="black"/>
                </a:solidFill>
              </a:rPr>
              <a:t>and see where it lies in the distribution of test statistics produced from our re-ordered samples. Based on this information we decide whether to accept or reject the null hypothesis.</a:t>
            </a:r>
          </a:p>
        </p:txBody>
      </p:sp>
    </p:spTree>
    <p:extLst>
      <p:ext uri="{BB962C8B-B14F-4D97-AF65-F5344CB8AC3E}">
        <p14:creationId xmlns:p14="http://schemas.microsoft.com/office/powerpoint/2010/main" val="397832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3.3a – The Basic Idea of 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F9002F38-2735-4709-890C-427E83254016}"/>
              </a:ext>
            </a:extLst>
          </p:cNvPr>
          <p:cNvSpPr txBox="1">
            <a:spLocks/>
          </p:cNvSpPr>
          <p:nvPr/>
        </p:nvSpPr>
        <p:spPr>
          <a:xfrm>
            <a:off x="326043" y="1177992"/>
            <a:ext cx="1113429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Permutation tests typically progress according to the following steps…</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70533F96-01DD-40E6-ADC8-CB953290681D}"/>
              </a:ext>
            </a:extLst>
          </p:cNvPr>
          <p:cNvSpPr txBox="1">
            <a:spLocks/>
          </p:cNvSpPr>
          <p:nvPr/>
        </p:nvSpPr>
        <p:spPr>
          <a:xfrm>
            <a:off x="319463" y="1787274"/>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1:</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85324476-BB38-4AC7-B0F2-4F0284DA7502}"/>
              </a:ext>
            </a:extLst>
          </p:cNvPr>
          <p:cNvSpPr txBox="1">
            <a:spLocks/>
          </p:cNvSpPr>
          <p:nvPr/>
        </p:nvSpPr>
        <p:spPr>
          <a:xfrm>
            <a:off x="1214651" y="1787274"/>
            <a:ext cx="10657886" cy="706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are interested in whether some property (e.g. the mean) is constant across </a:t>
            </a:r>
            <a:r>
              <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or whether this property differs between at least two of them. </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1F2E7130-4A33-4D84-8685-5F960489060A}"/>
              </a:ext>
            </a:extLst>
          </p:cNvPr>
          <p:cNvSpPr txBox="1">
            <a:spLocks/>
          </p:cNvSpPr>
          <p:nvPr/>
        </p:nvSpPr>
        <p:spPr>
          <a:xfrm>
            <a:off x="326043" y="276500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2:</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1060B7A5-F41C-4C53-BEB6-375D797ED404}"/>
              </a:ext>
            </a:extLst>
          </p:cNvPr>
          <p:cNvSpPr txBox="1">
            <a:spLocks/>
          </p:cNvSpPr>
          <p:nvPr/>
        </p:nvSpPr>
        <p:spPr>
          <a:xfrm>
            <a:off x="1208071" y="2749625"/>
            <a:ext cx="3077326" cy="4861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consider the hypotheses:</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7D904603-01D7-40D4-8CAA-48B1B302D06F}"/>
              </a:ext>
            </a:extLst>
          </p:cNvPr>
          <p:cNvSpPr txBox="1">
            <a:spLocks/>
          </p:cNvSpPr>
          <p:nvPr/>
        </p:nvSpPr>
        <p:spPr>
          <a:xfrm>
            <a:off x="1221231" y="3136090"/>
            <a:ext cx="4524476" cy="4861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US" altLang="ja-JP" sz="1400" b="1" i="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US"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property is constant across all groups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US" altLang="ja-JP" sz="1400" b="1" i="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1</a:t>
            </a:r>
            <a:r>
              <a:rPr kumimoji="1" lang="en-US"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property differs amongst at least two of the groups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1525F3E6-CEA6-4BA7-97F6-4FB9D6396E48}"/>
              </a:ext>
            </a:extLst>
          </p:cNvPr>
          <p:cNvSpPr txBox="1">
            <a:spLocks/>
          </p:cNvSpPr>
          <p:nvPr/>
        </p:nvSpPr>
        <p:spPr>
          <a:xfrm>
            <a:off x="326043" y="4029529"/>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3:</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1F239E4E-0311-4D2E-80FF-A470CDFED1AC}"/>
              </a:ext>
            </a:extLst>
          </p:cNvPr>
          <p:cNvSpPr txBox="1">
            <a:spLocks/>
          </p:cNvSpPr>
          <p:nvPr/>
        </p:nvSpPr>
        <p:spPr>
          <a:xfrm>
            <a:off x="1214651" y="4014174"/>
            <a:ext cx="10399594" cy="16214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sample of size </a:t>
            </a:r>
            <a:r>
              <a:rPr lang="en-US" altLang="ja-JP" sz="1800" b="1" i="1" dirty="0">
                <a:solidFill>
                  <a:prstClr val="black"/>
                </a:solidFill>
                <a:latin typeface="Calibri" panose="020F0502020204030204"/>
                <a:ea typeface="游ゴシック" panose="020B0400000000000000" pitchFamily="34" charset="-128"/>
              </a:rPr>
              <a:t>N</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containing…</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600" b="0" i="0" u="sng" strike="noStrike" kern="1200" cap="none" spc="0" normalizeH="0" baseline="0" noProof="0" dirty="0">
                <a:ln>
                  <a:noFill/>
                </a:ln>
                <a:solidFill>
                  <a:srgbClr val="2F5597"/>
                </a:solidFill>
                <a:effectLst/>
                <a:uLnTx/>
                <a:uFillTx/>
                <a:latin typeface="Calibri" panose="020F0502020204030204"/>
                <a:ea typeface="游ゴシック" panose="020B0400000000000000" pitchFamily="34" charset="-128"/>
                <a:cs typeface="+mn-cs"/>
              </a:rPr>
              <a:t>Unbalanced Design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600" dirty="0">
                <a:solidFill>
                  <a:prstClr val="black"/>
                </a:solidFill>
                <a:latin typeface="Calibri" panose="020F0502020204030204"/>
                <a:ea typeface="游ゴシック" panose="020B0400000000000000" pitchFamily="34" charset="-128"/>
              </a:rPr>
              <a:t>	</a:t>
            </a: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k</a:t>
            </a:r>
            <a:r>
              <a:rPr kumimoji="1" lang="en-US" altLang="ja-JP" sz="1600" b="0" i="1" u="none" strike="noStrike" kern="1200" cap="none" spc="0" normalizeH="0" baseline="-2500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1</a:t>
            </a: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a:t>
            </a:r>
            <a:r>
              <a:rPr kumimoji="1" lang="en-US" altLang="ja-JP" sz="1600" b="0" i="0"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observations in the first </a:t>
            </a:r>
            <a:r>
              <a:rPr kumimoji="1" lang="en-US" altLang="ja-JP" sz="1600" b="0" i="0" u="none" strike="noStrike" kern="1200" cap="none" spc="0" normalizeH="0" baseline="0" noProof="0" dirty="0">
                <a:ln>
                  <a:noFill/>
                </a:ln>
                <a:solidFill>
                  <a:srgbClr val="2F5597"/>
                </a:solidFill>
                <a:effectLst/>
                <a:uLnTx/>
                <a:uFillTx/>
                <a:latin typeface="Calibri" panose="020F0502020204030204"/>
                <a:ea typeface="游ゴシック" panose="020B0400000000000000" pitchFamily="34" charset="-128"/>
                <a:cs typeface="+mn-cs"/>
              </a:rPr>
              <a:t>group</a:t>
            </a:r>
            <a:endParaRPr kumimoji="1" lang="en-US" altLang="ja-JP" sz="1600" b="0" i="0"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k</a:t>
            </a:r>
            <a:r>
              <a:rPr kumimoji="1" lang="en-US" altLang="ja-JP" sz="1600" b="0" i="1" u="none" strike="noStrike" kern="1200" cap="none" spc="0" normalizeH="0" baseline="-2500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2</a:t>
            </a: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a:t>
            </a:r>
            <a:r>
              <a:rPr kumimoji="1" lang="en-US" altLang="ja-JP" sz="1600" b="0" i="0"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observations in the observations from the second group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k</a:t>
            </a:r>
            <a:r>
              <a:rPr kumimoji="1" lang="en-US" altLang="ja-JP" sz="1600" b="0" i="1" u="none" strike="noStrike" kern="1200" cap="none" spc="0" normalizeH="0" baseline="-2500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k</a:t>
            </a: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a:t>
            </a:r>
            <a:r>
              <a:rPr kumimoji="1" lang="en-US" altLang="ja-JP" sz="1600" b="0" i="0"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observations from the </a:t>
            </a:r>
            <a:r>
              <a:rPr kumimoji="1" lang="en-US" altLang="ja-JP" sz="1600" b="0" i="1"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k</a:t>
            </a:r>
            <a:r>
              <a:rPr kumimoji="1" lang="en-US" altLang="ja-JP" sz="1600" b="0" i="1" u="none" strike="noStrike" kern="1200" cap="none" spc="0" normalizeH="0" baseline="3000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th</a:t>
            </a:r>
            <a:r>
              <a:rPr kumimoji="1" lang="en-US" altLang="ja-JP" sz="1600" b="0" i="0" u="none" strike="noStrike" kern="1200" cap="none" spc="0" normalizeH="0" baseline="0" noProof="0" dirty="0">
                <a:ln>
                  <a:noFill/>
                </a:ln>
                <a:solidFill>
                  <a:srgbClr val="4472C4">
                    <a:lumMod val="75000"/>
                  </a:srgbClr>
                </a:solidFill>
                <a:effectLst/>
                <a:uLnTx/>
                <a:uFillTx/>
                <a:latin typeface="Calibri" panose="020F0502020204030204"/>
                <a:ea typeface="游ゴシック" panose="020B0400000000000000" pitchFamily="34" charset="-128"/>
                <a:cs typeface="+mn-cs"/>
              </a:rPr>
              <a:t> group</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then calculate the value of an appropriate test statistic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r>
              <a:rPr kumimoji="1" lang="en-US" altLang="ja-JP" sz="18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(there may be many possible candidates) which measures whether the property is constant across each of the groups or not.</a:t>
            </a:r>
          </a:p>
        </p:txBody>
      </p:sp>
      <p:sp>
        <p:nvSpPr>
          <p:cNvPr id="16" name="Footer Placeholder 2">
            <a:extLst>
              <a:ext uri="{FF2B5EF4-FFF2-40B4-BE49-F238E27FC236}">
                <a16:creationId xmlns:a16="http://schemas.microsoft.com/office/drawing/2014/main" id="{1A9E7012-EB18-4A73-8342-A51ECDE777EC}"/>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68424903-69E4-424B-B6C5-09A858CBBE30}"/>
              </a:ext>
            </a:extLst>
          </p:cNvPr>
          <p:cNvSpPr txBox="1">
            <a:spLocks/>
          </p:cNvSpPr>
          <p:nvPr/>
        </p:nvSpPr>
        <p:spPr>
          <a:xfrm>
            <a:off x="6251690" y="3111094"/>
            <a:ext cx="5776537" cy="8867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Since permutation</a:t>
            </a:r>
            <a:r>
              <a:rPr kumimoji="1" lang="en-US" altLang="ja-JP" sz="14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tests are non-parametric, </a:t>
            </a:r>
            <a:r>
              <a:rPr kumimoji="1" lang="en-US" altLang="ja-JP" sz="1400" b="1" i="1"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H</a:t>
            </a:r>
            <a:r>
              <a:rPr kumimoji="1" lang="en-US" altLang="ja-JP" sz="1400" b="1" i="1" u="none" strike="noStrike" kern="1200" cap="none" spc="0" normalizeH="0" baseline="-2500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0</a:t>
            </a:r>
            <a:r>
              <a:rPr kumimoji="1" lang="en-US" altLang="ja-JP" sz="140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and </a:t>
            </a:r>
            <a:r>
              <a:rPr kumimoji="1" lang="en-US" altLang="ja-JP" sz="1400" b="1" i="1"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H</a:t>
            </a:r>
            <a:r>
              <a:rPr kumimoji="1" lang="en-US" altLang="ja-JP" sz="1400" b="1" i="1" u="none" strike="noStrike" kern="1200" cap="none" spc="0" normalizeH="0" baseline="-2500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1</a:t>
            </a:r>
            <a:r>
              <a:rPr kumimoji="1" lang="en-US" altLang="ja-JP" sz="140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often cannot be written in terms of a parameter distribution. They tend to be more general statements compared to when conducting parametric tests.</a:t>
            </a:r>
            <a:endParaRPr kumimoji="1" lang="en-US" altLang="ja-JP" sz="14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2" name="Right Brace 1">
            <a:extLst>
              <a:ext uri="{FF2B5EF4-FFF2-40B4-BE49-F238E27FC236}">
                <a16:creationId xmlns:a16="http://schemas.microsoft.com/office/drawing/2014/main" id="{1079CECD-48FB-4DC2-A999-8051478852A3}"/>
              </a:ext>
            </a:extLst>
          </p:cNvPr>
          <p:cNvSpPr/>
          <p:nvPr/>
        </p:nvSpPr>
        <p:spPr>
          <a:xfrm>
            <a:off x="5758867" y="3111094"/>
            <a:ext cx="337133" cy="7061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7" name="Text Placeholder 5">
            <a:extLst>
              <a:ext uri="{FF2B5EF4-FFF2-40B4-BE49-F238E27FC236}">
                <a16:creationId xmlns:a16="http://schemas.microsoft.com/office/drawing/2014/main" id="{AD3C31FD-6D53-4BAC-1E37-749448D64398}"/>
              </a:ext>
            </a:extLst>
          </p:cNvPr>
          <p:cNvSpPr txBox="1">
            <a:spLocks/>
          </p:cNvSpPr>
          <p:nvPr/>
        </p:nvSpPr>
        <p:spPr>
          <a:xfrm>
            <a:off x="7494407" y="4500289"/>
            <a:ext cx="3965934" cy="10182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a:t>
            </a:r>
            <a:r>
              <a:rPr kumimoji="1" lang="en-US"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observations from the first group</a:t>
            </a:r>
          </a:p>
          <a:p>
            <a:pPr lvl="0">
              <a:lnSpc>
                <a:spcPct val="100000"/>
              </a:lnSpc>
              <a:defRPr/>
            </a:pPr>
            <a:r>
              <a:rPr lang="en-US" altLang="ja-JP" sz="1600" b="1" i="1" dirty="0">
                <a:solidFill>
                  <a:srgbClr val="C00000"/>
                </a:solidFill>
              </a:rPr>
              <a:t>n</a:t>
            </a:r>
            <a:r>
              <a:rPr lang="en-US" altLang="ja-JP" sz="1600" dirty="0">
                <a:solidFill>
                  <a:srgbClr val="C00000"/>
                </a:solidFill>
              </a:rPr>
              <a:t> observations from the second group</a:t>
            </a:r>
          </a:p>
          <a:p>
            <a:pPr lvl="0">
              <a:lnSpc>
                <a:spcPct val="100000"/>
              </a:lnSpc>
              <a:defRPr/>
            </a:pPr>
            <a:r>
              <a:rPr lang="en-US" altLang="ja-JP" sz="1600" dirty="0">
                <a:solidFill>
                  <a:srgbClr val="C00000"/>
                </a:solidFill>
              </a:rPr>
              <a:t>…</a:t>
            </a:r>
          </a:p>
          <a:p>
            <a:pPr>
              <a:lnSpc>
                <a:spcPct val="100000"/>
              </a:lnSpc>
              <a:defRPr/>
            </a:pPr>
            <a:r>
              <a:rPr lang="en-US" altLang="ja-JP" sz="1600" b="1" i="1" dirty="0">
                <a:solidFill>
                  <a:srgbClr val="C00000"/>
                </a:solidFill>
              </a:rPr>
              <a:t>n</a:t>
            </a:r>
            <a:r>
              <a:rPr lang="en-US" altLang="ja-JP" sz="1600" dirty="0">
                <a:solidFill>
                  <a:srgbClr val="C00000"/>
                </a:solidFill>
              </a:rPr>
              <a:t> observations from the </a:t>
            </a:r>
            <a:r>
              <a:rPr lang="en-US" altLang="ja-JP" sz="1600" i="1" dirty="0">
                <a:solidFill>
                  <a:srgbClr val="C00000"/>
                </a:solidFill>
              </a:rPr>
              <a:t>k</a:t>
            </a:r>
            <a:r>
              <a:rPr lang="en-US" altLang="ja-JP" sz="1600" i="1" baseline="30000" dirty="0">
                <a:solidFill>
                  <a:srgbClr val="C00000"/>
                </a:solidFill>
              </a:rPr>
              <a:t>th</a:t>
            </a:r>
            <a:r>
              <a:rPr lang="en-US" altLang="ja-JP" sz="1600" dirty="0">
                <a:solidFill>
                  <a:srgbClr val="C00000"/>
                </a:solidFill>
              </a:rPr>
              <a:t> group</a:t>
            </a:r>
          </a:p>
          <a:p>
            <a:pPr lvl="0">
              <a:lnSpc>
                <a:spcPct val="100000"/>
              </a:lnSpc>
              <a:defRPr/>
            </a:pPr>
            <a:endParaRPr lang="en-US" altLang="ja-JP" sz="1600" dirty="0">
              <a:solidFill>
                <a:srgbClr val="C00000"/>
              </a:solidFill>
            </a:endParaRPr>
          </a:p>
        </p:txBody>
      </p:sp>
      <p:sp>
        <p:nvSpPr>
          <p:cNvPr id="21" name="Text Placeholder 5">
            <a:extLst>
              <a:ext uri="{FF2B5EF4-FFF2-40B4-BE49-F238E27FC236}">
                <a16:creationId xmlns:a16="http://schemas.microsoft.com/office/drawing/2014/main" id="{4027238C-F524-5B3A-C46B-161C5D25DA14}"/>
              </a:ext>
            </a:extLst>
          </p:cNvPr>
          <p:cNvSpPr txBox="1">
            <a:spLocks/>
          </p:cNvSpPr>
          <p:nvPr/>
        </p:nvSpPr>
        <p:spPr>
          <a:xfrm>
            <a:off x="7494407" y="4264909"/>
            <a:ext cx="4119838" cy="4065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600" u="sng" dirty="0">
                <a:solidFill>
                  <a:srgbClr val="C00000"/>
                </a:solidFill>
                <a:latin typeface="Calibri" panose="020F0502020204030204"/>
                <a:ea typeface="游ゴシック" panose="020B0400000000000000" pitchFamily="34" charset="-128"/>
              </a:rPr>
              <a:t>Balanced</a:t>
            </a:r>
            <a:r>
              <a:rPr kumimoji="1" lang="en-US" altLang="ja-JP" sz="1600" b="0" i="0" u="sng"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Design:</a:t>
            </a:r>
            <a:endParaRPr kumimoji="1" lang="en-US" altLang="ja-JP" sz="1600" b="0" i="1"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168263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4" grpId="0"/>
      <p:bldP spid="18" grpId="0"/>
      <p:bldP spid="19" grpId="0"/>
      <p:bldP spid="20" grpId="0"/>
      <p:bldP spid="2" grpId="0" animBg="1"/>
      <p:bldP spid="17"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3.3a – The Basic Idea of 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70533F96-01DD-40E6-ADC8-CB953290681D}"/>
              </a:ext>
            </a:extLst>
          </p:cNvPr>
          <p:cNvSpPr txBox="1">
            <a:spLocks/>
          </p:cNvSpPr>
          <p:nvPr/>
        </p:nvSpPr>
        <p:spPr>
          <a:xfrm>
            <a:off x="319463" y="109123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4:</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85324476-BB38-4AC7-B0F2-4F0284DA7502}"/>
              </a:ext>
            </a:extLst>
          </p:cNvPr>
          <p:cNvSpPr txBox="1">
            <a:spLocks/>
          </p:cNvSpPr>
          <p:nvPr/>
        </p:nvSpPr>
        <p:spPr>
          <a:xfrm>
            <a:off x="1214651" y="1091238"/>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then create multiple re-ordered samples of the data by one of two methods.</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03B7155-9FF0-40ED-BFD5-57CE8CDB407C}"/>
                  </a:ext>
                </a:extLst>
              </p:cNvPr>
              <p:cNvSpPr txBox="1">
                <a:spLocks/>
              </p:cNvSpPr>
              <p:nvPr/>
            </p:nvSpPr>
            <p:spPr>
              <a:xfrm>
                <a:off x="1214651" y="1613766"/>
                <a:ext cx="10657886" cy="20574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Method I – Exact Permutations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Here we create </a:t>
                </a:r>
                <a:r>
                  <a:rPr kumimoji="1" lang="en-US" altLang="ja-JP" sz="16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all</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possible re-ordered samples that can be obtained by switching observations of the response variable between groups. If there are </a:t>
                </a:r>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in our original sample spanning </a:t>
                </a:r>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groups with </a:t>
                </a: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US"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1</a:t>
                </a: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observations in the first group, </a:t>
                </a: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US"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2</a:t>
                </a: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observations in the second group, </a:t>
                </a:r>
                <a:r>
                  <a:rPr kumimoji="1" lang="en-US" altLang="ja-JP" sz="16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etc</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then*</a:t>
                </a:r>
              </a:p>
              <a:p>
                <a:pPr lvl="0" algn="just">
                  <a:lnSpc>
                    <a:spcPct val="100000"/>
                  </a:lnSpc>
                  <a:defRPr/>
                </a:pPr>
                <a14:m>
                  <m:oMathPara xmlns:m="http://schemas.openxmlformats.org/officeDocument/2006/math">
                    <m:oMathParaPr>
                      <m:jc m:val="centerGroup"/>
                    </m:oMathParaPr>
                    <m:oMath xmlns:m="http://schemas.openxmlformats.org/officeDocument/2006/math">
                      <m:r>
                        <a:rPr lang="en-NZ" altLang="ja-JP" sz="1600" i="1">
                          <a:solidFill>
                            <a:prstClr val="black"/>
                          </a:solidFill>
                          <a:latin typeface="Cambria Math" panose="02040503050406030204" pitchFamily="18" charset="0"/>
                        </a:rPr>
                        <m:t>#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𝑃𝑜𝑠𝑠𝑖𝑏𝑙𝑒</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𝑅𝑒𝑜𝑟𝑑𝑒𝑟</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𝑆𝑎𝑚𝑝𝑙𝑒𝑠</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d>
                        <m:d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1"/>
                                    <m:mcJc m:val="center"/>
                                  </m:mcPr>
                                </m:mc>
                              </m:mcs>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m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e>
                            </m:mr>
                            <m:mr>
                              <m:e>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d>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d>
                        <m:d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e>
                                  <m: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mr>
                          </m:m>
                        </m:e>
                      </m:d>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 ∙</m:t>
                      </m:r>
                      <m:d>
                        <m:d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m>
                            <m:mPr>
                              <m:mcs>
                                <m:mc>
                                  <m:mcPr>
                                    <m:count m:val="1"/>
                                    <m:mcJc m:val="center"/>
                                  </m:mcPr>
                                </m:mc>
                              </m:mcs>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mPr>
                            <m:mr>
                              <m:e>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e>
                                  <m: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e>
                                  <m: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e>
                                  <m:sub>
                                    <m:r>
                                      <m:rPr>
                                        <m:brk m:alnAt="7"/>
                                      </m:r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𝐶</m:t>
                                </m:r>
                              </m:e>
                            </m:mr>
                            <m:mr>
                              <m:e>
                                <m:sSub>
                                  <m:sSubPr>
                                    <m:ctrlP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𝑘</m:t>
                                    </m:r>
                                  </m:e>
                                  <m:sub>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sub>
                                </m:sSub>
                              </m:e>
                            </m:mr>
                          </m:m>
                        </m:e>
                      </m:d>
                      <m:r>
                        <a:rPr kumimoji="1" lang="en-NZ" altLang="ja-JP"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Note that the possible number of reordered samples tends to infinity quickly as </a:t>
                </a:r>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becomes large.</a:t>
                </a:r>
              </a:p>
            </p:txBody>
          </p:sp>
        </mc:Choice>
        <mc:Fallback xmlns="">
          <p:sp>
            <p:nvSpPr>
              <p:cNvPr id="16" name="Text Placeholder 5">
                <a:extLst>
                  <a:ext uri="{FF2B5EF4-FFF2-40B4-BE49-F238E27FC236}">
                    <a16:creationId xmlns:a16="http://schemas.microsoft.com/office/drawing/2014/main" id="{C03B7155-9FF0-40ED-BFD5-57CE8CDB407C}"/>
                  </a:ext>
                </a:extLst>
              </p:cNvPr>
              <p:cNvSpPr txBox="1">
                <a:spLocks noRot="1" noChangeAspect="1" noMove="1" noResize="1" noEditPoints="1" noAdjustHandles="1" noChangeArrowheads="1" noChangeShapeType="1" noTextEdit="1"/>
              </p:cNvSpPr>
              <p:nvPr/>
            </p:nvSpPr>
            <p:spPr>
              <a:xfrm>
                <a:off x="1214651" y="1613766"/>
                <a:ext cx="10657886" cy="2057482"/>
              </a:xfrm>
              <a:prstGeom prst="rect">
                <a:avLst/>
              </a:prstGeom>
              <a:blipFill>
                <a:blip r:embed="rId3"/>
                <a:stretch>
                  <a:fillRect l="-286" t="-890" r="-286" b="-5935"/>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EB52A280-959C-40F4-BD40-BEDF03795613}"/>
              </a:ext>
            </a:extLst>
          </p:cNvPr>
          <p:cNvSpPr txBox="1">
            <a:spLocks/>
          </p:cNvSpPr>
          <p:nvPr/>
        </p:nvSpPr>
        <p:spPr>
          <a:xfrm>
            <a:off x="1214651" y="4073407"/>
            <a:ext cx="10657886" cy="1035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Method II – Random Permutations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Since it is often not computationally practical to create all possible reordered samples, we simply create a large number </a:t>
            </a:r>
            <a:b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 = 1, … , L </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(≈1,000) reordered samples</a:t>
            </a:r>
          </a:p>
        </p:txBody>
      </p:sp>
      <p:sp>
        <p:nvSpPr>
          <p:cNvPr id="11" name="Footer Placeholder 2">
            <a:extLst>
              <a:ext uri="{FF2B5EF4-FFF2-40B4-BE49-F238E27FC236}">
                <a16:creationId xmlns:a16="http://schemas.microsoft.com/office/drawing/2014/main" id="{8997841C-6DC2-47A2-9A4B-627E975511E9}"/>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09657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3.3a – The Basic Idea of 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70533F96-01DD-40E6-ADC8-CB953290681D}"/>
              </a:ext>
            </a:extLst>
          </p:cNvPr>
          <p:cNvSpPr txBox="1">
            <a:spLocks/>
          </p:cNvSpPr>
          <p:nvPr/>
        </p:nvSpPr>
        <p:spPr>
          <a:xfrm>
            <a:off x="319463" y="109123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5:</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85324476-BB38-4AC7-B0F2-4F0284DA7502}"/>
                  </a:ext>
                </a:extLst>
              </p:cNvPr>
              <p:cNvSpPr txBox="1">
                <a:spLocks/>
              </p:cNvSpPr>
              <p:nvPr/>
            </p:nvSpPr>
            <p:spPr>
              <a:xfrm>
                <a:off x="1214650" y="1091237"/>
                <a:ext cx="1097734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each reordered sample from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 L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create a test statistic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i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empirical distribution of the </a:t>
                </a:r>
                <a14:m>
                  <m:oMath xmlns:m="http://schemas.openxmlformats.org/officeDocument/2006/math">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d>
                          <m:dPr>
                            <m:begChr m:val="{"/>
                            <m:endChr m:val="}"/>
                            <m:ctrlPr>
                              <a:rPr kumimoji="1" lang="en-US"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e>
                        </m:d>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𝑳</m:t>
                        </m:r>
                      </m:sup>
                    </m:sSubSup>
                  </m:oMath>
                </a14:m>
                <a:r>
                  <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approximates the distribution of the test statistic that can occur under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85324476-BB38-4AC7-B0F2-4F0284DA7502}"/>
                  </a:ext>
                </a:extLst>
              </p:cNvPr>
              <p:cNvSpPr txBox="1">
                <a:spLocks noRot="1" noChangeAspect="1" noMove="1" noResize="1" noEditPoints="1" noAdjustHandles="1" noChangeArrowheads="1" noChangeShapeType="1" noTextEdit="1"/>
              </p:cNvSpPr>
              <p:nvPr/>
            </p:nvSpPr>
            <p:spPr>
              <a:xfrm>
                <a:off x="1214650" y="1091237"/>
                <a:ext cx="10977349" cy="675343"/>
              </a:xfrm>
              <a:prstGeom prst="rect">
                <a:avLst/>
              </a:prstGeom>
              <a:blipFill>
                <a:blip r:embed="rId3"/>
                <a:stretch>
                  <a:fillRect l="-444" t="-4505" b="-11712"/>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5954DC3D-7B68-4760-929F-A2D9130E5B6A}"/>
              </a:ext>
            </a:extLst>
          </p:cNvPr>
          <p:cNvSpPr txBox="1">
            <a:spLocks/>
          </p:cNvSpPr>
          <p:nvPr/>
        </p:nvSpPr>
        <p:spPr>
          <a:xfrm>
            <a:off x="319463" y="2086557"/>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6:</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0988556F-A473-4D2F-928D-B1279C900B6C}"/>
              </a:ext>
            </a:extLst>
          </p:cNvPr>
          <p:cNvSpPr txBox="1">
            <a:spLocks/>
          </p:cNvSpPr>
          <p:nvPr/>
        </p:nvSpPr>
        <p:spPr>
          <a:xfrm>
            <a:off x="1214651" y="2086556"/>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Finally, we rank the test statistics from lowest to highest and see where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lies within this distribution.</a:t>
            </a: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C86A4BA8-88F2-4DA0-B6FE-BACDB7EC05DF}"/>
                  </a:ext>
                </a:extLst>
              </p:cNvPr>
              <p:cNvSpPr txBox="1">
                <a:spLocks/>
              </p:cNvSpPr>
              <p:nvPr/>
            </p:nvSpPr>
            <p:spPr>
              <a:xfrm>
                <a:off x="1214651" y="2613553"/>
                <a:ext cx="10657886" cy="22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lies in the most extremal </a:t>
                </a:r>
                <a:r>
                  <a:rPr kumimoji="1" lang="el-GR"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α</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of values, then we would reject the null hypothesis at the </a:t>
                </a:r>
                <a:r>
                  <a:rPr kumimoji="1" lang="el-GR"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α</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associated p-value provides a measure of evidence against the null hypothesis.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𝑃</m:t>
                      </m:r>
                      <m:d>
                        <m:dPr>
                          <m:endChr m:val="|"/>
                          <m:ctrlP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𝑂𝑏𝑡𝑎𝑖𝑛𝑖𝑛𝑔</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𝑡𝑒𝑠𝑡</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𝑠𝑡𝑎𝑡𝑖𝑠𝑡𝑖𝑐</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𝑎𝑡</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𝑙𝑒𝑎𝑠𝑡</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𝑎𝑠</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𝑒𝑥𝑡𝑟𝑒𝑚𝑒</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𝑎𝑠</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800" b="0"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srgbClr val="C00000"/>
                                  </a:solidFill>
                                  <a:effectLst/>
                                  <a:uLnTx/>
                                  <a:uFillTx/>
                                  <a:latin typeface="Cambria Math" panose="02040503050406030204" pitchFamily="18" charset="0"/>
                                  <a:cs typeface="+mn-cs"/>
                                </a:rPr>
                                <m:t>𝐹</m:t>
                              </m:r>
                            </m:e>
                            <m:sub>
                              <m:r>
                                <a:rPr kumimoji="1" lang="en-NZ" altLang="ja-JP" sz="1800" b="0" i="1" u="none" strike="noStrike" kern="1200" cap="none" spc="0" normalizeH="0" baseline="0" noProof="0">
                                  <a:ln>
                                    <a:noFill/>
                                  </a:ln>
                                  <a:solidFill>
                                    <a:srgbClr val="C00000"/>
                                  </a:solidFill>
                                  <a:effectLst/>
                                  <a:uLnTx/>
                                  <a:uFillTx/>
                                  <a:latin typeface="Cambria Math" panose="02040503050406030204" pitchFamily="18" charset="0"/>
                                  <a:cs typeface="+mn-cs"/>
                                </a:rPr>
                                <m:t>𝑜𝑏𝑠</m:t>
                              </m:r>
                            </m:sub>
                          </m:s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e>
                      </m:d>
                      <m:sSub>
                        <m:sSubPr>
                          <m:ctrlP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𝐻</m:t>
                          </m:r>
                        </m:e>
                        <m: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0</m:t>
                          </m:r>
                        </m:sub>
                      </m:s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𝑖𝑠</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𝑡𝑟𝑢𝑒</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oMath>
                  </m:oMathPara>
                </a14:m>
                <a:endPar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𝐹</m:t>
                          </m:r>
                        </m:e>
                        <m: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𝑖</m:t>
                          </m:r>
                        </m:sub>
                      </m:s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𝑎𝑡</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𝑙𝑒𝑎𝑠𝑡</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𝑎𝑠</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𝑒𝑥𝑡𝑟𝑒𝑚𝑒</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𝑎𝑠</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𝐹</m:t>
                          </m:r>
                        </m:e>
                        <m: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𝑜𝑏𝑠</m:t>
                          </m:r>
                        </m:sub>
                      </m:sSub>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 ) / </m:t>
                      </m:r>
                      <m:r>
                        <a:rPr kumimoji="1" lang="en-NZ" altLang="ja-JP"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𝐿</m:t>
                      </m:r>
                    </m:oMath>
                  </m:oMathPara>
                </a14:m>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algn="ctr">
                  <a:lnSpc>
                    <a:spcPct val="100000"/>
                  </a:lnSpc>
                  <a:defRPr/>
                </a:pPr>
                <a14:m>
                  <m:oMathPara xmlns:m="http://schemas.openxmlformats.org/officeDocument/2006/math">
                    <m:oMathParaPr>
                      <m:jc m:val="centerGroup"/>
                    </m:oMathParaPr>
                    <m:oMath xmlns:m="http://schemas.openxmlformats.org/officeDocument/2006/math">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f>
                        <m:fPr>
                          <m:ctrlP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fPr>
                        <m:num>
                          <m:d>
                            <m:dPr>
                              <m:ctrlP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dPr>
                            <m:e>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𝐹</m:t>
                                  </m:r>
                                </m:e>
                                <m:sub>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𝑖</m:t>
                                  </m:r>
                                </m:sub>
                              </m:sSub>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𝐹</m:t>
                                  </m:r>
                                </m:e>
                                <m:sub>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𝑜𝑏𝑠</m:t>
                                  </m:r>
                                </m:sub>
                              </m:sSub>
                            </m:e>
                          </m:d>
                        </m:num>
                        <m:den>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𝐿</m:t>
                          </m:r>
                        </m:den>
                      </m:f>
                      <m:r>
                        <a:rPr kumimoji="1" lang="en-NZ" altLang="ja-JP" sz="1800" b="0"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oMath>
                  </m:oMathPara>
                </a14:m>
                <a:endParaRPr lang="en-US" altLang="ja-JP" sz="1800" dirty="0">
                  <a:solidFill>
                    <a:srgbClr val="0070C0"/>
                  </a:solidFill>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3" name="Text Placeholder 5">
                <a:extLst>
                  <a:ext uri="{FF2B5EF4-FFF2-40B4-BE49-F238E27FC236}">
                    <a16:creationId xmlns:a16="http://schemas.microsoft.com/office/drawing/2014/main" id="{C86A4BA8-88F2-4DA0-B6FE-BACDB7EC05DF}"/>
                  </a:ext>
                </a:extLst>
              </p:cNvPr>
              <p:cNvSpPr txBox="1">
                <a:spLocks noRot="1" noChangeAspect="1" noMove="1" noResize="1" noEditPoints="1" noAdjustHandles="1" noChangeArrowheads="1" noChangeShapeType="1" noTextEdit="1"/>
              </p:cNvSpPr>
              <p:nvPr/>
            </p:nvSpPr>
            <p:spPr>
              <a:xfrm>
                <a:off x="1214651" y="2613553"/>
                <a:ext cx="10657886" cy="2253788"/>
              </a:xfrm>
              <a:prstGeom prst="rect">
                <a:avLst/>
              </a:prstGeom>
              <a:blipFill>
                <a:blip r:embed="rId4"/>
                <a:stretch>
                  <a:fillRect l="-457" t="-1626"/>
                </a:stretch>
              </a:blipFill>
            </p:spPr>
            <p:txBody>
              <a:bodyPr/>
              <a:lstStyle/>
              <a:p>
                <a:r>
                  <a:rPr lang="en-NZ">
                    <a:noFill/>
                  </a:rPr>
                  <a:t> </a:t>
                </a:r>
              </a:p>
            </p:txBody>
          </p:sp>
        </mc:Fallback>
      </mc:AlternateContent>
      <p:sp>
        <p:nvSpPr>
          <p:cNvPr id="14" name="Footer Placeholder 2">
            <a:extLst>
              <a:ext uri="{FF2B5EF4-FFF2-40B4-BE49-F238E27FC236}">
                <a16:creationId xmlns:a16="http://schemas.microsoft.com/office/drawing/2014/main" id="{CD53C926-C24F-4EC1-956A-A5CDD42A07D2}"/>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907BCCBA-8C94-56FC-E120-2773DAC2D9C6}"/>
              </a:ext>
            </a:extLst>
          </p:cNvPr>
          <p:cNvSpPr txBox="1">
            <a:spLocks/>
          </p:cNvSpPr>
          <p:nvPr/>
        </p:nvSpPr>
        <p:spPr>
          <a:xfrm>
            <a:off x="319463" y="4943896"/>
            <a:ext cx="11553074" cy="12540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u="sng" noProof="0" dirty="0">
                <a:solidFill>
                  <a:schemeClr val="tx1"/>
                </a:solidFill>
                <a:latin typeface="Calibri" panose="020F0502020204030204"/>
                <a:ea typeface="游ゴシック" panose="020B0400000000000000" pitchFamily="34" charset="-128"/>
              </a:rPr>
              <a:t>Note: </a:t>
            </a:r>
            <a:endParaRPr lang="en-NZ" altLang="ja-JP" sz="1800" b="1" u="sng" dirty="0">
              <a:solidFill>
                <a:schemeClr val="tx1"/>
              </a:solidFill>
              <a:latin typeface="Calibri" panose="020F0502020204030204"/>
              <a:ea typeface="游ゴシック" panose="020B0400000000000000" pitchFamily="34" charset="-128"/>
            </a:endParaRPr>
          </a:p>
          <a:p>
            <a:pPr lvl="0">
              <a:lnSpc>
                <a:spcPct val="100000"/>
              </a:lnSpc>
              <a:defRPr/>
            </a:pPr>
            <a:r>
              <a:rPr lang="en-NZ" altLang="ja-JP" sz="1800" dirty="0">
                <a:solidFill>
                  <a:schemeClr val="tx1"/>
                </a:solidFill>
              </a:rPr>
              <a:t>If we use the method of Exact Permutations in Step 4 we will get an ‘exact’ p-value.</a:t>
            </a:r>
          </a:p>
          <a:p>
            <a:pPr lvl="0">
              <a:lnSpc>
                <a:spcPct val="100000"/>
              </a:lnSpc>
              <a:defRPr/>
            </a:pPr>
            <a:r>
              <a:rPr lang="en-NZ" altLang="ja-JP" sz="1800" dirty="0">
                <a:solidFill>
                  <a:schemeClr val="tx1"/>
                </a:solidFill>
              </a:rPr>
              <a:t>If we use the method of Random Permutations in Step 4 we will get an estimate of the ‘true’ p-value.</a:t>
            </a:r>
            <a:endParaRPr lang="en-US" altLang="ja-JP" sz="1800" dirty="0">
              <a:solidFill>
                <a:schemeClr val="tx1"/>
              </a:solidFill>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1800" noProof="0" dirty="0">
              <a:solidFill>
                <a:schemeClr val="tx1"/>
              </a:solidFill>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65779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674412"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3.3b – </a:t>
            </a:r>
            <a:r>
              <a:rPr lang="en-US" altLang="ja-JP" b="1" u="sng" dirty="0">
                <a:solidFill>
                  <a:prstClr val="black"/>
                </a:solidFill>
                <a:latin typeface="Calibri" panose="020F0502020204030204"/>
                <a:ea typeface="游ゴシック Light" panose="020B0300000000000000" pitchFamily="34" charset="-128"/>
              </a:rPr>
              <a:t>Additional Notes on </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F9002F38-2735-4709-890C-427E83254016}"/>
              </a:ext>
            </a:extLst>
          </p:cNvPr>
          <p:cNvSpPr txBox="1">
            <a:spLocks/>
          </p:cNvSpPr>
          <p:nvPr/>
        </p:nvSpPr>
        <p:spPr>
          <a:xfrm>
            <a:off x="528851" y="904166"/>
            <a:ext cx="11134298" cy="16679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use permutation test when the ANOVA conditions are violated, or when we can’t be sure that they are satisfied. This often happens when:</a:t>
            </a:r>
          </a:p>
          <a:p>
            <a:pPr marL="1085793" marR="0" lvl="1" indent="-400050" algn="just" defTabSz="914324" rtl="0" eaLnBrk="1" fontAlgn="auto" latinLnBrk="0" hangingPunct="1">
              <a:lnSpc>
                <a:spcPct val="100000"/>
              </a:lnSpc>
              <a:spcBef>
                <a:spcPts val="500"/>
              </a:spcBef>
              <a:spcAft>
                <a:spcPts val="0"/>
              </a:spcAft>
              <a:buClrTx/>
              <a:buSzTx/>
              <a:buFont typeface="+mj-lt"/>
              <a:buAutoNum type="romanUcPeriod"/>
              <a:tabLst/>
              <a:defRPr/>
            </a:pP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Data is sampled from an unknown distribution</a:t>
            </a:r>
          </a:p>
          <a:p>
            <a:pPr marL="1085793" marR="0" lvl="1" indent="-400050" algn="just" defTabSz="914324" rtl="0" eaLnBrk="1" fontAlgn="auto" latinLnBrk="0" hangingPunct="1">
              <a:lnSpc>
                <a:spcPct val="100000"/>
              </a:lnSpc>
              <a:spcBef>
                <a:spcPts val="500"/>
              </a:spcBef>
              <a:spcAft>
                <a:spcPts val="0"/>
              </a:spcAft>
              <a:buClrTx/>
              <a:buSzTx/>
              <a:buFont typeface="+mj-lt"/>
              <a:buAutoNum type="romanUcPeriod"/>
              <a:tabLst/>
              <a:defRPr/>
            </a:pP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Sample sizes are small</a:t>
            </a:r>
          </a:p>
          <a:p>
            <a:pPr marL="1085793" marR="0" lvl="1" indent="-400050" algn="just" defTabSz="914324" rtl="0" eaLnBrk="1" fontAlgn="auto" latinLnBrk="0" hangingPunct="1">
              <a:lnSpc>
                <a:spcPct val="100000"/>
              </a:lnSpc>
              <a:spcBef>
                <a:spcPts val="500"/>
              </a:spcBef>
              <a:spcAft>
                <a:spcPts val="0"/>
              </a:spcAft>
              <a:buClrTx/>
              <a:buSzTx/>
              <a:buFont typeface="+mj-lt"/>
              <a:buAutoNum type="romanUcPeriod"/>
              <a:tabLst/>
              <a:defRPr/>
            </a:pPr>
            <a:r>
              <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Outliers are present in the data</a:t>
            </a:r>
          </a:p>
        </p:txBody>
      </p:sp>
      <p:sp>
        <p:nvSpPr>
          <p:cNvPr id="9" name="Text Placeholder 5">
            <a:extLst>
              <a:ext uri="{FF2B5EF4-FFF2-40B4-BE49-F238E27FC236}">
                <a16:creationId xmlns:a16="http://schemas.microsoft.com/office/drawing/2014/main" id="{C8CB9E0E-D30C-47BE-8FA6-85D618838F74}"/>
              </a:ext>
            </a:extLst>
          </p:cNvPr>
          <p:cNvSpPr txBox="1">
            <a:spLocks/>
          </p:cNvSpPr>
          <p:nvPr/>
        </p:nvSpPr>
        <p:spPr>
          <a:xfrm>
            <a:off x="528851" y="5345266"/>
            <a:ext cx="10657886" cy="10935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just" defTabSz="914324" rtl="0" eaLnBrk="1" fontAlgn="auto" latinLnBrk="0" hangingPunct="1">
              <a:lnSpc>
                <a:spcPct val="100000"/>
              </a:lnSpc>
              <a:spcBef>
                <a:spcPts val="0"/>
              </a:spcBef>
              <a:spcAft>
                <a:spcPts val="0"/>
              </a:spcAft>
              <a:buClrTx/>
              <a:buSzTx/>
              <a:tabLst/>
              <a:defRPr/>
            </a:pPr>
            <a:r>
              <a:rPr kumimoji="1" lang="en-NZ" altLang="ja-JP" sz="18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Warning:</a:t>
            </a:r>
          </a:p>
          <a:p>
            <a:pPr marR="0" lvl="0" algn="just"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Permutation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testing is not a silver bullet. If the original sample is a poor representation of the population, </a:t>
            </a:r>
            <a:b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then the inferences gathered from permutation testing can be misleading.</a:t>
            </a:r>
          </a:p>
        </p:txBody>
      </p:sp>
      <p:sp>
        <p:nvSpPr>
          <p:cNvPr id="10" name="Text Placeholder 5">
            <a:extLst>
              <a:ext uri="{FF2B5EF4-FFF2-40B4-BE49-F238E27FC236}">
                <a16:creationId xmlns:a16="http://schemas.microsoft.com/office/drawing/2014/main" id="{486C2E04-9EB5-4843-8D61-E2E2B915F42A}"/>
              </a:ext>
            </a:extLst>
          </p:cNvPr>
          <p:cNvSpPr txBox="1">
            <a:spLocks/>
          </p:cNvSpPr>
          <p:nvPr/>
        </p:nvSpPr>
        <p:spPr>
          <a:xfrm>
            <a:off x="528851" y="2827925"/>
            <a:ext cx="11134298" cy="132462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general, even if the ANOVA criteria are violated but…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1200093" lvl="1" indent="-514350" algn="just">
              <a:lnSpc>
                <a:spcPct val="100000"/>
              </a:lnSpc>
              <a:spcBef>
                <a:spcPts val="0"/>
              </a:spcBef>
              <a:buFont typeface="+mj-lt"/>
              <a:buAutoNum type="romanLcPeriod"/>
              <a:defRPr/>
            </a:pPr>
            <a:r>
              <a:rPr lang="en-US" altLang="ja-JP" sz="1600" dirty="0">
                <a:solidFill>
                  <a:prstClr val="black"/>
                </a:solidFill>
                <a:latin typeface="Calibri" panose="020F0502020204030204"/>
                <a:ea typeface="游ゴシック" panose="020B0400000000000000" pitchFamily="34" charset="-128"/>
              </a:rPr>
              <a:t>The data are r</a:t>
            </a:r>
            <a:r>
              <a:rPr kumimoji="1" lang="en-US" altLang="ja-JP" sz="16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oughly</a:t>
            </a: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symmetric; and</a:t>
            </a:r>
          </a:p>
          <a:p>
            <a:pPr marL="1200093" lvl="1" indent="-514350" algn="just">
              <a:lnSpc>
                <a:spcPct val="100000"/>
              </a:lnSpc>
              <a:spcBef>
                <a:spcPts val="0"/>
              </a:spcBef>
              <a:buFont typeface="+mj-lt"/>
              <a:buAutoNum type="romanLcPeriod"/>
              <a:defRPr/>
            </a:pPr>
            <a:r>
              <a:rPr lang="en-US" altLang="ja-JP" sz="1600" dirty="0">
                <a:solidFill>
                  <a:prstClr val="black"/>
                </a:solidFill>
                <a:latin typeface="Calibri" panose="020F0502020204030204"/>
                <a:ea typeface="游ゴシック" panose="020B0400000000000000" pitchFamily="34" charset="-128"/>
              </a:rPr>
              <a:t>The sample size is large</a:t>
            </a:r>
          </a:p>
          <a:p>
            <a:pPr lvl="1" indent="0" algn="just">
              <a:lnSpc>
                <a:spcPct val="100000"/>
              </a:lnSpc>
              <a:spcBef>
                <a:spcPts val="0"/>
              </a:spcBef>
              <a:buNone/>
              <a:defRPr/>
            </a:pPr>
            <a:endParaRPr kumimoji="1" lang="en-US"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800" dirty="0">
                <a:solidFill>
                  <a:prstClr val="black"/>
                </a:solidFill>
                <a:latin typeface="Calibri" panose="020F0502020204030204"/>
                <a:ea typeface="游ゴシック" panose="020B0400000000000000" pitchFamily="34" charset="-128"/>
              </a:rPr>
              <a:t>There will be agreement between normal theory ANOVA methods are permutation tests</a:t>
            </a:r>
            <a:r>
              <a:rPr lang="en-US" altLang="ja-JP" sz="2000" dirty="0">
                <a:solidFill>
                  <a:prstClr val="black"/>
                </a:solidFill>
                <a:latin typeface="Calibri" panose="020F0502020204030204"/>
                <a:ea typeface="游ゴシック" panose="020B0400000000000000" pitchFamily="34" charset="-128"/>
              </a:rPr>
              <a:t>.</a:t>
            </a:r>
            <a:endParaRPr kumimoji="1" lang="en-US" altLang="ja-JP" sz="20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800B6D4E-C929-4E99-BEC3-F59D3736A89E}"/>
              </a:ext>
            </a:extLst>
          </p:cNvPr>
          <p:cNvSpPr txBox="1">
            <a:spLocks/>
          </p:cNvSpPr>
          <p:nvPr/>
        </p:nvSpPr>
        <p:spPr>
          <a:xfrm>
            <a:off x="528851" y="4406459"/>
            <a:ext cx="11134298" cy="7578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cases whereby the ANOVA conditions are violated but ANOVA gives the same conclusions as a permutation test, </a:t>
            </a:r>
            <a:b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is generally acceptable to state the ANOVA results to support the permutation test results.</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421398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9" name="Footer Placeholder 2">
            <a:extLst>
              <a:ext uri="{FF2B5EF4-FFF2-40B4-BE49-F238E27FC236}">
                <a16:creationId xmlns:a16="http://schemas.microsoft.com/office/drawing/2014/main" id="{95F7BAFD-C5B6-48AB-B7DE-B8DC846D667E}"/>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Permutation Testing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4804F189-050F-4766-BDAF-2406F2FB6C86}"/>
              </a:ext>
            </a:extLst>
          </p:cNvPr>
          <p:cNvSpPr txBox="1">
            <a:spLocks/>
          </p:cNvSpPr>
          <p:nvPr/>
        </p:nvSpPr>
        <p:spPr>
          <a:xfrm>
            <a:off x="607326" y="3139067"/>
            <a:ext cx="10977349" cy="5798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800" b="1" dirty="0">
                <a:solidFill>
                  <a:srgbClr val="C00000"/>
                </a:solidFill>
              </a:rPr>
              <a:t>To make these ideas concrete let’s apply them to some examples</a:t>
            </a:r>
            <a:endParaRPr lang="en-US" altLang="ja-JP" sz="2800" b="1" dirty="0">
              <a:solidFill>
                <a:srgbClr val="C00000"/>
              </a:solidFill>
            </a:endParaRPr>
          </a:p>
        </p:txBody>
      </p:sp>
      <p:sp>
        <p:nvSpPr>
          <p:cNvPr id="11" name="Title 6">
            <a:extLst>
              <a:ext uri="{FF2B5EF4-FFF2-40B4-BE49-F238E27FC236}">
                <a16:creationId xmlns:a16="http://schemas.microsoft.com/office/drawing/2014/main" id="{21E69A48-59AC-44EE-83C0-2B1F7F7E78C8}"/>
              </a:ext>
            </a:extLst>
          </p:cNvPr>
          <p:cNvSpPr txBox="1">
            <a:spLocks/>
          </p:cNvSpPr>
          <p:nvPr/>
        </p:nvSpPr>
        <p:spPr>
          <a:xfrm>
            <a:off x="319463" y="196889"/>
            <a:ext cx="8674412"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3.3b – </a:t>
            </a:r>
            <a:r>
              <a:rPr lang="en-US" altLang="ja-JP" b="1" u="sng" dirty="0">
                <a:solidFill>
                  <a:prstClr val="black"/>
                </a:solidFill>
                <a:latin typeface="Calibri" panose="020F0502020204030204"/>
                <a:ea typeface="游ゴシック Light" panose="020B0300000000000000" pitchFamily="34" charset="-128"/>
              </a:rPr>
              <a:t>Additional Notes on </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1434015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3.4 – Computational Examples</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560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26CD91-8304-49E1-9D02-72EECE7CEA25}"/>
              </a:ext>
            </a:extLst>
          </p:cNvPr>
          <p:cNvPicPr>
            <a:picLocks noChangeAspect="1"/>
          </p:cNvPicPr>
          <p:nvPr/>
        </p:nvPicPr>
        <p:blipFill>
          <a:blip r:embed="rId2"/>
          <a:stretch>
            <a:fillRect/>
          </a:stretch>
        </p:blipFill>
        <p:spPr>
          <a:xfrm>
            <a:off x="8143552" y="2794483"/>
            <a:ext cx="3565838" cy="4034401"/>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3.4a – Fish Size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502693" y="966899"/>
            <a:ext cx="10931856" cy="9360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r>
              <a:rPr lang="en-NZ" altLang="ja-JP" sz="2000" dirty="0">
                <a:solidFill>
                  <a:srgbClr val="0070C0"/>
                </a:solidFill>
              </a:rPr>
              <a:t>The length (in cm) of a particular species of fish inside (A) and outside (B) of a marine reserve are being studied. 10 fish from either group are caught and their length measured. The data pertaining to this experiment is shown below:</a:t>
            </a:r>
            <a:endParaRPr kumimoji="1" lang="en-US" altLang="ja-JP" sz="20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2" name="Table 1">
            <a:extLst>
              <a:ext uri="{FF2B5EF4-FFF2-40B4-BE49-F238E27FC236}">
                <a16:creationId xmlns:a16="http://schemas.microsoft.com/office/drawing/2014/main" id="{0C5C7799-AE7C-4DB9-B7C5-5D54DADAA41C}"/>
              </a:ext>
            </a:extLst>
          </p:cNvPr>
          <p:cNvGraphicFramePr>
            <a:graphicFrameLocks noGrp="1"/>
          </p:cNvGraphicFramePr>
          <p:nvPr>
            <p:extLst>
              <p:ext uri="{D42A27DB-BD31-4B8C-83A1-F6EECF244321}">
                <p14:modId xmlns:p14="http://schemas.microsoft.com/office/powerpoint/2010/main" val="3690011864"/>
              </p:ext>
            </p:extLst>
          </p:nvPr>
        </p:nvGraphicFramePr>
        <p:xfrm>
          <a:off x="1872018" y="2218269"/>
          <a:ext cx="6705600" cy="628650"/>
        </p:xfrm>
        <a:graphic>
          <a:graphicData uri="http://schemas.openxmlformats.org/drawingml/2006/table">
            <a:tbl>
              <a:tblPr/>
              <a:tblGrid>
                <a:gridCol w="609600">
                  <a:extLst>
                    <a:ext uri="{9D8B030D-6E8A-4147-A177-3AD203B41FA5}">
                      <a16:colId xmlns:a16="http://schemas.microsoft.com/office/drawing/2014/main" val="4037610628"/>
                    </a:ext>
                  </a:extLst>
                </a:gridCol>
                <a:gridCol w="609600">
                  <a:extLst>
                    <a:ext uri="{9D8B030D-6E8A-4147-A177-3AD203B41FA5}">
                      <a16:colId xmlns:a16="http://schemas.microsoft.com/office/drawing/2014/main" val="590370213"/>
                    </a:ext>
                  </a:extLst>
                </a:gridCol>
                <a:gridCol w="609600">
                  <a:extLst>
                    <a:ext uri="{9D8B030D-6E8A-4147-A177-3AD203B41FA5}">
                      <a16:colId xmlns:a16="http://schemas.microsoft.com/office/drawing/2014/main" val="3452557641"/>
                    </a:ext>
                  </a:extLst>
                </a:gridCol>
                <a:gridCol w="609600">
                  <a:extLst>
                    <a:ext uri="{9D8B030D-6E8A-4147-A177-3AD203B41FA5}">
                      <a16:colId xmlns:a16="http://schemas.microsoft.com/office/drawing/2014/main" val="3162769819"/>
                    </a:ext>
                  </a:extLst>
                </a:gridCol>
                <a:gridCol w="609600">
                  <a:extLst>
                    <a:ext uri="{9D8B030D-6E8A-4147-A177-3AD203B41FA5}">
                      <a16:colId xmlns:a16="http://schemas.microsoft.com/office/drawing/2014/main" val="3968378480"/>
                    </a:ext>
                  </a:extLst>
                </a:gridCol>
                <a:gridCol w="609600">
                  <a:extLst>
                    <a:ext uri="{9D8B030D-6E8A-4147-A177-3AD203B41FA5}">
                      <a16:colId xmlns:a16="http://schemas.microsoft.com/office/drawing/2014/main" val="2641096747"/>
                    </a:ext>
                  </a:extLst>
                </a:gridCol>
                <a:gridCol w="609600">
                  <a:extLst>
                    <a:ext uri="{9D8B030D-6E8A-4147-A177-3AD203B41FA5}">
                      <a16:colId xmlns:a16="http://schemas.microsoft.com/office/drawing/2014/main" val="2998617417"/>
                    </a:ext>
                  </a:extLst>
                </a:gridCol>
                <a:gridCol w="609600">
                  <a:extLst>
                    <a:ext uri="{9D8B030D-6E8A-4147-A177-3AD203B41FA5}">
                      <a16:colId xmlns:a16="http://schemas.microsoft.com/office/drawing/2014/main" val="2672304242"/>
                    </a:ext>
                  </a:extLst>
                </a:gridCol>
                <a:gridCol w="609600">
                  <a:extLst>
                    <a:ext uri="{9D8B030D-6E8A-4147-A177-3AD203B41FA5}">
                      <a16:colId xmlns:a16="http://schemas.microsoft.com/office/drawing/2014/main" val="684859242"/>
                    </a:ext>
                  </a:extLst>
                </a:gridCol>
                <a:gridCol w="609600">
                  <a:extLst>
                    <a:ext uri="{9D8B030D-6E8A-4147-A177-3AD203B41FA5}">
                      <a16:colId xmlns:a16="http://schemas.microsoft.com/office/drawing/2014/main" val="3591260737"/>
                    </a:ext>
                  </a:extLst>
                </a:gridCol>
                <a:gridCol w="609600">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C0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23" name="Text Placeholder 5">
            <a:extLst>
              <a:ext uri="{FF2B5EF4-FFF2-40B4-BE49-F238E27FC236}">
                <a16:creationId xmlns:a16="http://schemas.microsoft.com/office/drawing/2014/main" id="{2C143A60-C496-44B0-A55B-3584A1A49D44}"/>
              </a:ext>
            </a:extLst>
          </p:cNvPr>
          <p:cNvSpPr txBox="1">
            <a:spLocks/>
          </p:cNvSpPr>
          <p:nvPr/>
        </p:nvSpPr>
        <p:spPr>
          <a:xfrm>
            <a:off x="625523" y="3129276"/>
            <a:ext cx="10931856"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Does the mean length of the fish differ between the two groups?</a:t>
            </a:r>
          </a:p>
        </p:txBody>
      </p:sp>
      <p:sp>
        <p:nvSpPr>
          <p:cNvPr id="24" name="Text Placeholder 5">
            <a:extLst>
              <a:ext uri="{FF2B5EF4-FFF2-40B4-BE49-F238E27FC236}">
                <a16:creationId xmlns:a16="http://schemas.microsoft.com/office/drawing/2014/main" id="{6DCC25E8-7B4B-4E56-9BBB-CBF52D7E37F9}"/>
              </a:ext>
            </a:extLst>
          </p:cNvPr>
          <p:cNvSpPr txBox="1">
            <a:spLocks/>
          </p:cNvSpPr>
          <p:nvPr/>
        </p:nvSpPr>
        <p:spPr>
          <a:xfrm>
            <a:off x="634621" y="3775035"/>
            <a:ext cx="7508931"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wish to test between the hypotheses</a:t>
            </a: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BEB3E68-9B22-41B6-9B26-692BD2042DDD}"/>
                  </a:ext>
                </a:extLst>
              </p:cNvPr>
              <p:cNvSpPr txBox="1">
                <a:spLocks/>
              </p:cNvSpPr>
              <p:nvPr/>
            </p:nvSpPr>
            <p:spPr>
              <a:xfrm>
                <a:off x="1958453" y="4164431"/>
                <a:ext cx="2106306"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𝑨</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Sub>
                    </m:oMath>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𝑨</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𝑩</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DBEB3E68-9B22-41B6-9B26-692BD2042DDD}"/>
                  </a:ext>
                </a:extLst>
              </p:cNvPr>
              <p:cNvSpPr txBox="1">
                <a:spLocks noRot="1" noChangeAspect="1" noMove="1" noResize="1" noEditPoints="1" noAdjustHandles="1" noChangeArrowheads="1" noChangeShapeType="1" noTextEdit="1"/>
              </p:cNvSpPr>
              <p:nvPr/>
            </p:nvSpPr>
            <p:spPr>
              <a:xfrm>
                <a:off x="1958453" y="4164431"/>
                <a:ext cx="2106306" cy="695961"/>
              </a:xfrm>
              <a:prstGeom prst="rect">
                <a:avLst/>
              </a:prstGeom>
              <a:blipFill>
                <a:blip r:embed="rId4"/>
                <a:stretch>
                  <a:fillRect b="-5263"/>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911B491C-FF86-414B-9A7C-67AEF51D098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lang="en-NZ" altLang="ja-JP" sz="1200" dirty="0">
                <a:solidFill>
                  <a:srgbClr val="C00000"/>
                </a:solidFill>
              </a:rPr>
              <a:t>3.4a - Fish Size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AFC44167-32BF-4C9D-B88C-E740F6E9DE05}"/>
                  </a:ext>
                </a:extLst>
              </p:cNvPr>
              <p:cNvSpPr txBox="1">
                <a:spLocks/>
              </p:cNvSpPr>
              <p:nvPr/>
            </p:nvSpPr>
            <p:spPr>
              <a:xfrm>
                <a:off x="8859042" y="2205217"/>
                <a:ext cx="2002932"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 xmlns:m="http://schemas.openxmlformats.org/officeDocument/2006/math">
                    <m:acc>
                      <m:accPr>
                        <m: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𝝁</m:t>
                            </m:r>
                          </m:e>
                          <m:sub>
                            <m:r>
                              <a:rPr lang="en-NZ" altLang="ja-JP" sz="1600" b="1" i="1">
                                <a:solidFill>
                                  <a:prstClr val="black"/>
                                </a:solidFill>
                                <a:latin typeface="Cambria Math" panose="02040503050406030204" pitchFamily="18" charset="0"/>
                              </a:rPr>
                              <m:t>𝑨</m:t>
                            </m:r>
                          </m:sub>
                        </m:sSub>
                      </m:e>
                    </m:acc>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42.8</a:t>
                </a:r>
                <a:b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14:m>
                  <m:oMath xmlns:m="http://schemas.openxmlformats.org/officeDocument/2006/math">
                    <m:acc>
                      <m:accPr>
                        <m: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𝝁</m:t>
                            </m:r>
                          </m:e>
                          <m:sub>
                            <m:r>
                              <a:rPr lang="en-NZ" altLang="ja-JP" sz="1600" b="1" i="1">
                                <a:solidFill>
                                  <a:prstClr val="black"/>
                                </a:solidFill>
                                <a:latin typeface="Cambria Math" panose="02040503050406030204" pitchFamily="18" charset="0"/>
                              </a:rPr>
                              <m:t>𝑩</m:t>
                            </m:r>
                          </m:sub>
                        </m:sSub>
                      </m:e>
                    </m:acc>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55.8</a:t>
                </a:r>
              </a:p>
            </p:txBody>
          </p:sp>
        </mc:Choice>
        <mc:Fallback xmlns="">
          <p:sp>
            <p:nvSpPr>
              <p:cNvPr id="12" name="Text Placeholder 5">
                <a:extLst>
                  <a:ext uri="{FF2B5EF4-FFF2-40B4-BE49-F238E27FC236}">
                    <a16:creationId xmlns:a16="http://schemas.microsoft.com/office/drawing/2014/main" id="{AFC44167-32BF-4C9D-B88C-E740F6E9DE05}"/>
                  </a:ext>
                </a:extLst>
              </p:cNvPr>
              <p:cNvSpPr txBox="1">
                <a:spLocks noRot="1" noChangeAspect="1" noMove="1" noResize="1" noEditPoints="1" noAdjustHandles="1" noChangeArrowheads="1" noChangeShapeType="1" noTextEdit="1"/>
              </p:cNvSpPr>
              <p:nvPr/>
            </p:nvSpPr>
            <p:spPr>
              <a:xfrm>
                <a:off x="8859042" y="2205217"/>
                <a:ext cx="2002932" cy="695961"/>
              </a:xfrm>
              <a:prstGeom prst="rect">
                <a:avLst/>
              </a:prstGeom>
              <a:blipFill>
                <a:blip r:embed="rId5"/>
                <a:stretch>
                  <a:fillRect t="-2632"/>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9C7DF1D9-B705-421A-B36B-2A9D4BF7AE81}"/>
              </a:ext>
            </a:extLst>
          </p:cNvPr>
          <p:cNvSpPr txBox="1">
            <a:spLocks/>
          </p:cNvSpPr>
          <p:nvPr/>
        </p:nvSpPr>
        <p:spPr>
          <a:xfrm>
            <a:off x="625523" y="5008826"/>
            <a:ext cx="7508931" cy="6959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2000" dirty="0">
                <a:solidFill>
                  <a:prstClr val="black"/>
                </a:solidFill>
                <a:latin typeface="Calibri" panose="020F0502020204030204"/>
                <a:ea typeface="游ゴシック" panose="020B0400000000000000" pitchFamily="34" charset="-128"/>
              </a:rPr>
              <a:t>T</a:t>
            </a:r>
            <a:r>
              <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he variance of the data in the two groups is different</a:t>
            </a:r>
            <a:r>
              <a:rPr lang="en-US" altLang="ja-JP" sz="2000" dirty="0">
                <a:solidFill>
                  <a:prstClr val="black"/>
                </a:solidFill>
                <a:latin typeface="Calibri" panose="020F0502020204030204"/>
                <a:ea typeface="游ゴシック" panose="020B0400000000000000" pitchFamily="34" charset="-128"/>
              </a:rPr>
              <a:t>.</a:t>
            </a:r>
            <a:br>
              <a:rPr lang="en-US" altLang="ja-JP" sz="2000" dirty="0">
                <a:solidFill>
                  <a:prstClr val="black"/>
                </a:solidFill>
                <a:latin typeface="Calibri" panose="020F0502020204030204"/>
                <a:ea typeface="游ゴシック" panose="020B0400000000000000" pitchFamily="34" charset="-128"/>
              </a:rPr>
            </a:br>
            <a:r>
              <a:rPr lang="en-US" altLang="ja-JP" sz="2000" dirty="0">
                <a:solidFill>
                  <a:prstClr val="black"/>
                </a:solidFill>
                <a:latin typeface="Calibri" panose="020F0502020204030204"/>
                <a:ea typeface="游ゴシック" panose="020B0400000000000000" pitchFamily="34" charset="-128"/>
              </a:rPr>
              <a:t>The ANOVA conditions are violated.</a:t>
            </a:r>
            <a:endPar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BC937377-3727-4EBE-84C5-7D9CB5874D11}"/>
              </a:ext>
            </a:extLst>
          </p:cNvPr>
          <p:cNvSpPr txBox="1">
            <a:spLocks/>
          </p:cNvSpPr>
          <p:nvPr/>
        </p:nvSpPr>
        <p:spPr>
          <a:xfrm>
            <a:off x="634621" y="5766875"/>
            <a:ext cx="7508931"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must conduct a permutation test </a:t>
            </a:r>
            <a:r>
              <a:rPr lang="en-US" altLang="ja-JP" sz="2000" dirty="0">
                <a:solidFill>
                  <a:prstClr val="black"/>
                </a:solidFill>
                <a:latin typeface="Calibri" panose="020F0502020204030204"/>
                <a:ea typeface="游ゴシック" panose="020B0400000000000000" pitchFamily="34" charset="-128"/>
              </a:rPr>
              <a:t>to test between </a:t>
            </a:r>
            <a:r>
              <a:rPr lang="en-US" altLang="ja-JP" sz="2000" b="1" i="1" dirty="0">
                <a:solidFill>
                  <a:prstClr val="black"/>
                </a:solidFill>
                <a:latin typeface="Calibri" panose="020F0502020204030204"/>
                <a:ea typeface="游ゴシック" panose="020B0400000000000000" pitchFamily="34" charset="-128"/>
              </a:rPr>
              <a:t>H</a:t>
            </a:r>
            <a:r>
              <a:rPr lang="en-US" altLang="ja-JP" sz="2000" b="1" i="1" baseline="-25000" dirty="0">
                <a:solidFill>
                  <a:prstClr val="black"/>
                </a:solidFill>
                <a:latin typeface="Calibri" panose="020F0502020204030204"/>
                <a:ea typeface="游ゴシック" panose="020B0400000000000000" pitchFamily="34" charset="-128"/>
              </a:rPr>
              <a:t>0</a:t>
            </a:r>
            <a:r>
              <a:rPr lang="en-US" altLang="ja-JP" sz="2000" dirty="0">
                <a:solidFill>
                  <a:prstClr val="black"/>
                </a:solidFill>
                <a:latin typeface="Calibri" panose="020F0502020204030204"/>
                <a:ea typeface="游ゴシック" panose="020B0400000000000000" pitchFamily="34" charset="-128"/>
              </a:rPr>
              <a:t> and </a:t>
            </a:r>
            <a:r>
              <a:rPr lang="en-US" altLang="ja-JP" sz="2000" b="1" i="1" dirty="0">
                <a:solidFill>
                  <a:prstClr val="black"/>
                </a:solidFill>
                <a:latin typeface="Calibri" panose="020F0502020204030204"/>
                <a:ea typeface="游ゴシック" panose="020B0400000000000000" pitchFamily="34" charset="-128"/>
              </a:rPr>
              <a:t>H</a:t>
            </a:r>
            <a:r>
              <a:rPr lang="en-US" altLang="ja-JP" sz="2000" b="1" i="1" baseline="-25000" dirty="0">
                <a:solidFill>
                  <a:prstClr val="black"/>
                </a:solidFill>
                <a:latin typeface="Calibri" panose="020F0502020204030204"/>
                <a:ea typeface="游ゴシック" panose="020B0400000000000000" pitchFamily="34" charset="-128"/>
              </a:rPr>
              <a:t>1</a:t>
            </a:r>
            <a:r>
              <a:rPr lang="en-US" altLang="ja-JP" sz="2000" b="1" i="1" dirty="0">
                <a:solidFill>
                  <a:prstClr val="black"/>
                </a:solidFill>
                <a:latin typeface="Calibri" panose="020F0502020204030204"/>
                <a:ea typeface="游ゴシック" panose="020B0400000000000000" pitchFamily="34" charset="-128"/>
              </a:rPr>
              <a:t>.</a:t>
            </a:r>
            <a:endPar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80318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15" grpId="0"/>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D07D47C8-93D1-4704-BE01-75240089728B}"/>
              </a:ext>
            </a:extLst>
          </p:cNvPr>
          <p:cNvSpPr txBox="1">
            <a:spLocks/>
          </p:cNvSpPr>
          <p:nvPr/>
        </p:nvSpPr>
        <p:spPr>
          <a:xfrm>
            <a:off x="319462" y="1050295"/>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1&amp;2:</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1487605" y="1050295"/>
            <a:ext cx="1038493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Does the mean length of a particular species of fish differ inside (A) and outside (B) a marine reserve.</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ED0A1361-E274-4E57-97C4-D8208576D514}"/>
                  </a:ext>
                </a:extLst>
              </p:cNvPr>
              <p:cNvSpPr txBox="1">
                <a:spLocks/>
              </p:cNvSpPr>
              <p:nvPr/>
            </p:nvSpPr>
            <p:spPr>
              <a:xfrm>
                <a:off x="2811438" y="1424125"/>
                <a:ext cx="170597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𝑨</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Sub>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𝑨</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𝑩</m:t>
                          </m:r>
                        </m:sub>
                      </m:sSub>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ED0A1361-E274-4E57-97C4-D8208576D514}"/>
                  </a:ext>
                </a:extLst>
              </p:cNvPr>
              <p:cNvSpPr txBox="1">
                <a:spLocks noRot="1" noChangeAspect="1" noMove="1" noResize="1" noEditPoints="1" noAdjustHandles="1" noChangeArrowheads="1" noChangeShapeType="1" noTextEdit="1"/>
              </p:cNvSpPr>
              <p:nvPr/>
            </p:nvSpPr>
            <p:spPr>
              <a:xfrm>
                <a:off x="2811438" y="1424125"/>
                <a:ext cx="1705971" cy="695961"/>
              </a:xfrm>
              <a:prstGeom prst="rect">
                <a:avLst/>
              </a:prstGeom>
              <a:blipFill>
                <a:blip r:embed="rId3"/>
                <a:stretch>
                  <a:fillRect/>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0BBBCDFB-1D98-40D6-A345-09B1D6E66BC7}"/>
              </a:ext>
            </a:extLst>
          </p:cNvPr>
          <p:cNvSpPr txBox="1">
            <a:spLocks/>
          </p:cNvSpPr>
          <p:nvPr/>
        </p:nvSpPr>
        <p:spPr>
          <a:xfrm>
            <a:off x="319461" y="2186919"/>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3:</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2FB80A48-E8E7-40F9-ADEC-2BD9EBAA99FC}"/>
              </a:ext>
            </a:extLst>
          </p:cNvPr>
          <p:cNvSpPr txBox="1">
            <a:spLocks/>
          </p:cNvSpPr>
          <p:nvPr/>
        </p:nvSpPr>
        <p:spPr>
          <a:xfrm>
            <a:off x="1487605" y="2189865"/>
            <a:ext cx="10384932" cy="6286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Take a sample of data and determine an appropriate test statistic, in this case the F-statistic. </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graphicFrame>
        <p:nvGraphicFramePr>
          <p:cNvPr id="23" name="Table 22">
            <a:extLst>
              <a:ext uri="{FF2B5EF4-FFF2-40B4-BE49-F238E27FC236}">
                <a16:creationId xmlns:a16="http://schemas.microsoft.com/office/drawing/2014/main" id="{1819EA64-D14B-4DEF-9109-69E92E89CE5B}"/>
              </a:ext>
            </a:extLst>
          </p:cNvPr>
          <p:cNvGraphicFramePr>
            <a:graphicFrameLocks noGrp="1"/>
          </p:cNvGraphicFramePr>
          <p:nvPr/>
        </p:nvGraphicFramePr>
        <p:xfrm>
          <a:off x="1624082" y="2662835"/>
          <a:ext cx="4913194" cy="628650"/>
        </p:xfrm>
        <a:graphic>
          <a:graphicData uri="http://schemas.openxmlformats.org/drawingml/2006/table">
            <a:tbl>
              <a:tblPr/>
              <a:tblGrid>
                <a:gridCol w="446654">
                  <a:extLst>
                    <a:ext uri="{9D8B030D-6E8A-4147-A177-3AD203B41FA5}">
                      <a16:colId xmlns:a16="http://schemas.microsoft.com/office/drawing/2014/main" val="4037610628"/>
                    </a:ext>
                  </a:extLst>
                </a:gridCol>
                <a:gridCol w="446654">
                  <a:extLst>
                    <a:ext uri="{9D8B030D-6E8A-4147-A177-3AD203B41FA5}">
                      <a16:colId xmlns:a16="http://schemas.microsoft.com/office/drawing/2014/main" val="590370213"/>
                    </a:ext>
                  </a:extLst>
                </a:gridCol>
                <a:gridCol w="446654">
                  <a:extLst>
                    <a:ext uri="{9D8B030D-6E8A-4147-A177-3AD203B41FA5}">
                      <a16:colId xmlns:a16="http://schemas.microsoft.com/office/drawing/2014/main" val="3452557641"/>
                    </a:ext>
                  </a:extLst>
                </a:gridCol>
                <a:gridCol w="446654">
                  <a:extLst>
                    <a:ext uri="{9D8B030D-6E8A-4147-A177-3AD203B41FA5}">
                      <a16:colId xmlns:a16="http://schemas.microsoft.com/office/drawing/2014/main" val="3162769819"/>
                    </a:ext>
                  </a:extLst>
                </a:gridCol>
                <a:gridCol w="446654">
                  <a:extLst>
                    <a:ext uri="{9D8B030D-6E8A-4147-A177-3AD203B41FA5}">
                      <a16:colId xmlns:a16="http://schemas.microsoft.com/office/drawing/2014/main" val="3968378480"/>
                    </a:ext>
                  </a:extLst>
                </a:gridCol>
                <a:gridCol w="446654">
                  <a:extLst>
                    <a:ext uri="{9D8B030D-6E8A-4147-A177-3AD203B41FA5}">
                      <a16:colId xmlns:a16="http://schemas.microsoft.com/office/drawing/2014/main" val="2641096747"/>
                    </a:ext>
                  </a:extLst>
                </a:gridCol>
                <a:gridCol w="446654">
                  <a:extLst>
                    <a:ext uri="{9D8B030D-6E8A-4147-A177-3AD203B41FA5}">
                      <a16:colId xmlns:a16="http://schemas.microsoft.com/office/drawing/2014/main" val="2998617417"/>
                    </a:ext>
                  </a:extLst>
                </a:gridCol>
                <a:gridCol w="446654">
                  <a:extLst>
                    <a:ext uri="{9D8B030D-6E8A-4147-A177-3AD203B41FA5}">
                      <a16:colId xmlns:a16="http://schemas.microsoft.com/office/drawing/2014/main" val="2672304242"/>
                    </a:ext>
                  </a:extLst>
                </a:gridCol>
                <a:gridCol w="446654">
                  <a:extLst>
                    <a:ext uri="{9D8B030D-6E8A-4147-A177-3AD203B41FA5}">
                      <a16:colId xmlns:a16="http://schemas.microsoft.com/office/drawing/2014/main" val="684859242"/>
                    </a:ext>
                  </a:extLst>
                </a:gridCol>
                <a:gridCol w="446654">
                  <a:extLst>
                    <a:ext uri="{9D8B030D-6E8A-4147-A177-3AD203B41FA5}">
                      <a16:colId xmlns:a16="http://schemas.microsoft.com/office/drawing/2014/main" val="3591260737"/>
                    </a:ext>
                  </a:extLst>
                </a:gridCol>
                <a:gridCol w="446654">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2386394-4421-4543-9D1E-96EE8A30692C}"/>
                  </a:ext>
                </a:extLst>
              </p:cNvPr>
              <p:cNvSpPr txBox="1">
                <a:spLocks/>
              </p:cNvSpPr>
              <p:nvPr/>
            </p:nvSpPr>
            <p:spPr>
              <a:xfrm>
                <a:off x="6680070" y="2629179"/>
                <a:ext cx="2065363"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
                    </m:oMathParaPr>
                    <m:oMath xmlns:m="http://schemas.openxmlformats.org/officeDocument/2006/math">
                      <m:r>
                        <a:rPr lang="en-NZ" altLang="ja-JP" sz="1400" b="1" i="1">
                          <a:solidFill>
                            <a:schemeClr val="tx1"/>
                          </a:solidFill>
                          <a:latin typeface="Cambria Math" panose="02040503050406030204" pitchFamily="18" charset="0"/>
                        </a:rPr>
                        <m:t>𝑭</m:t>
                      </m:r>
                      <m:r>
                        <a:rPr lang="en-NZ" altLang="ja-JP" sz="1400" b="1" i="1">
                          <a:solidFill>
                            <a:schemeClr val="tx1"/>
                          </a:solidFill>
                          <a:latin typeface="Cambria Math" panose="02040503050406030204" pitchFamily="18" charset="0"/>
                        </a:rPr>
                        <m:t>  ≡   </m:t>
                      </m:r>
                      <m:f>
                        <m:fPr>
                          <m:ctrlPr>
                            <a:rPr lang="en-NZ" altLang="ja-JP" sz="1400" b="1" i="1">
                              <a:solidFill>
                                <a:schemeClr val="tx1"/>
                              </a:solidFill>
                              <a:latin typeface="Cambria Math" panose="02040503050406030204" pitchFamily="18" charset="0"/>
                            </a:rPr>
                          </m:ctrlPr>
                        </m:fPr>
                        <m:num>
                          <m:r>
                            <a:rPr lang="en-NZ" altLang="ja-JP" sz="1400" b="1" i="1">
                              <a:solidFill>
                                <a:schemeClr val="tx1"/>
                              </a:solidFill>
                              <a:latin typeface="Cambria Math" panose="02040503050406030204" pitchFamily="18" charset="0"/>
                            </a:rPr>
                            <m:t>𝑴𝑺𝑻</m:t>
                          </m:r>
                        </m:num>
                        <m:den>
                          <m:r>
                            <a:rPr lang="en-NZ" altLang="ja-JP" sz="1400" b="1" i="1">
                              <a:solidFill>
                                <a:schemeClr val="tx1"/>
                              </a:solidFill>
                              <a:latin typeface="Cambria Math" panose="02040503050406030204" pitchFamily="18" charset="0"/>
                            </a:rPr>
                            <m:t>𝑴𝑺𝑬</m:t>
                          </m:r>
                        </m:den>
                      </m:f>
                    </m:oMath>
                  </m:oMathPara>
                </a14:m>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2386394-4421-4543-9D1E-96EE8A30692C}"/>
                  </a:ext>
                </a:extLst>
              </p:cNvPr>
              <p:cNvSpPr txBox="1">
                <a:spLocks noRot="1" noChangeAspect="1" noMove="1" noResize="1" noEditPoints="1" noAdjustHandles="1" noChangeArrowheads="1" noChangeShapeType="1" noTextEdit="1"/>
              </p:cNvSpPr>
              <p:nvPr/>
            </p:nvSpPr>
            <p:spPr>
              <a:xfrm>
                <a:off x="6680070" y="2629179"/>
                <a:ext cx="2065363" cy="695961"/>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CF4D204A-8E74-4219-A75A-3F563F0E20CA}"/>
                  </a:ext>
                </a:extLst>
              </p:cNvPr>
              <p:cNvSpPr txBox="1">
                <a:spLocks/>
              </p:cNvSpPr>
              <p:nvPr/>
            </p:nvSpPr>
            <p:spPr>
              <a:xfrm>
                <a:off x="8745433" y="2749082"/>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5.168</a:t>
                </a:r>
              </a:p>
            </p:txBody>
          </p:sp>
        </mc:Choice>
        <mc:Fallback xmlns="">
          <p:sp>
            <p:nvSpPr>
              <p:cNvPr id="25" name="Text Placeholder 5">
                <a:extLst>
                  <a:ext uri="{FF2B5EF4-FFF2-40B4-BE49-F238E27FC236}">
                    <a16:creationId xmlns:a16="http://schemas.microsoft.com/office/drawing/2014/main" id="{CF4D204A-8E74-4219-A75A-3F563F0E20CA}"/>
                  </a:ext>
                </a:extLst>
              </p:cNvPr>
              <p:cNvSpPr txBox="1">
                <a:spLocks noRot="1" noChangeAspect="1" noMove="1" noResize="1" noEditPoints="1" noAdjustHandles="1" noChangeArrowheads="1" noChangeShapeType="1" noTextEdit="1"/>
              </p:cNvSpPr>
              <p:nvPr/>
            </p:nvSpPr>
            <p:spPr>
              <a:xfrm>
                <a:off x="8745433" y="2749082"/>
                <a:ext cx="2065363" cy="452058"/>
              </a:xfrm>
              <a:prstGeom prst="rect">
                <a:avLst/>
              </a:prstGeom>
              <a:blipFill>
                <a:blip r:embed="rId5"/>
                <a:stretch>
                  <a:fillRect t="-2703"/>
                </a:stretch>
              </a:blipFill>
            </p:spPr>
            <p:txBody>
              <a:bodyPr/>
              <a:lstStyle/>
              <a:p>
                <a:r>
                  <a:rPr lang="en-NZ">
                    <a:noFill/>
                  </a:rPr>
                  <a:t> </a:t>
                </a:r>
              </a:p>
            </p:txBody>
          </p:sp>
        </mc:Fallback>
      </mc:AlternateContent>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3.4a – Fish Size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9" name="Text Placeholder 5">
            <a:extLst>
              <a:ext uri="{FF2B5EF4-FFF2-40B4-BE49-F238E27FC236}">
                <a16:creationId xmlns:a16="http://schemas.microsoft.com/office/drawing/2014/main" id="{1F6552BF-6FDD-4975-9AA1-E71C9522F2D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lang="en-NZ" altLang="ja-JP" sz="1200" dirty="0">
                <a:solidFill>
                  <a:srgbClr val="C00000"/>
                </a:solidFill>
              </a:rPr>
              <a:t>3.4a - Fish Size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5" name="Picture 4">
            <a:extLst>
              <a:ext uri="{FF2B5EF4-FFF2-40B4-BE49-F238E27FC236}">
                <a16:creationId xmlns:a16="http://schemas.microsoft.com/office/drawing/2014/main" id="{279FEC97-BBF1-4A1F-81F8-F7503CEBC254}"/>
              </a:ext>
            </a:extLst>
          </p:cNvPr>
          <p:cNvPicPr>
            <a:picLocks noChangeAspect="1"/>
          </p:cNvPicPr>
          <p:nvPr/>
        </p:nvPicPr>
        <p:blipFill>
          <a:blip r:embed="rId6"/>
          <a:stretch>
            <a:fillRect/>
          </a:stretch>
        </p:blipFill>
        <p:spPr>
          <a:xfrm>
            <a:off x="1708244" y="3661115"/>
            <a:ext cx="5390866" cy="1543640"/>
          </a:xfrm>
          <a:prstGeom prst="rect">
            <a:avLst/>
          </a:prstGeom>
        </p:spPr>
      </p:pic>
    </p:spTree>
    <p:extLst>
      <p:ext uri="{BB962C8B-B14F-4D97-AF65-F5344CB8AC3E}">
        <p14:creationId xmlns:p14="http://schemas.microsoft.com/office/powerpoint/2010/main" val="68389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4" grpId="0"/>
      <p:bldP spid="25"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1FE943-EF6C-4634-966F-13C444EBCC70}"/>
              </a:ext>
            </a:extLst>
          </p:cNvPr>
          <p:cNvPicPr>
            <a:picLocks noChangeAspect="1"/>
          </p:cNvPicPr>
          <p:nvPr/>
        </p:nvPicPr>
        <p:blipFill>
          <a:blip r:embed="rId2"/>
          <a:stretch>
            <a:fillRect/>
          </a:stretch>
        </p:blipFill>
        <p:spPr>
          <a:xfrm>
            <a:off x="5820624" y="2599940"/>
            <a:ext cx="6054136" cy="3644923"/>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2281EDEF-0406-4AA6-B214-E967D9AD95F8}"/>
              </a:ext>
            </a:extLst>
          </p:cNvPr>
          <p:cNvSpPr txBox="1">
            <a:spLocks/>
          </p:cNvSpPr>
          <p:nvPr/>
        </p:nvSpPr>
        <p:spPr>
          <a:xfrm>
            <a:off x="319461" y="978025"/>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4&amp;5:</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51BD8A10-C258-4C5B-B1C6-B069ECF3E2EF}"/>
              </a:ext>
            </a:extLst>
          </p:cNvPr>
          <p:cNvSpPr txBox="1">
            <a:spLocks/>
          </p:cNvSpPr>
          <p:nvPr/>
        </p:nvSpPr>
        <p:spPr>
          <a:xfrm>
            <a:off x="1487605" y="978025"/>
            <a:ext cx="7359679"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Create 1,000 re-ordered samples by permuting observations between groups.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Obtain the associated distribution of test statistics.</a:t>
            </a:r>
            <a:endParaRPr kumimoji="1" lang="en-US" altLang="ja-JP" sz="1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graphicFrame>
        <p:nvGraphicFramePr>
          <p:cNvPr id="3" name="Table 2">
            <a:extLst>
              <a:ext uri="{FF2B5EF4-FFF2-40B4-BE49-F238E27FC236}">
                <a16:creationId xmlns:a16="http://schemas.microsoft.com/office/drawing/2014/main" id="{E1380942-854D-4042-AB85-A698A1D88C2A}"/>
              </a:ext>
            </a:extLst>
          </p:cNvPr>
          <p:cNvGraphicFramePr>
            <a:graphicFrameLocks noGrp="1"/>
          </p:cNvGraphicFramePr>
          <p:nvPr>
            <p:extLst>
              <p:ext uri="{D42A27DB-BD31-4B8C-83A1-F6EECF244321}">
                <p14:modId xmlns:p14="http://schemas.microsoft.com/office/powerpoint/2010/main" val="4220223027"/>
              </p:ext>
            </p:extLst>
          </p:nvPr>
        </p:nvGraphicFramePr>
        <p:xfrm>
          <a:off x="768561" y="2862495"/>
          <a:ext cx="4913194" cy="666750"/>
        </p:xfrm>
        <a:graphic>
          <a:graphicData uri="http://schemas.openxmlformats.org/drawingml/2006/table">
            <a:tbl>
              <a:tblPr/>
              <a:tblGrid>
                <a:gridCol w="446654">
                  <a:extLst>
                    <a:ext uri="{9D8B030D-6E8A-4147-A177-3AD203B41FA5}">
                      <a16:colId xmlns:a16="http://schemas.microsoft.com/office/drawing/2014/main" val="2956152970"/>
                    </a:ext>
                  </a:extLst>
                </a:gridCol>
                <a:gridCol w="446654">
                  <a:extLst>
                    <a:ext uri="{9D8B030D-6E8A-4147-A177-3AD203B41FA5}">
                      <a16:colId xmlns:a16="http://schemas.microsoft.com/office/drawing/2014/main" val="414538103"/>
                    </a:ext>
                  </a:extLst>
                </a:gridCol>
                <a:gridCol w="446654">
                  <a:extLst>
                    <a:ext uri="{9D8B030D-6E8A-4147-A177-3AD203B41FA5}">
                      <a16:colId xmlns:a16="http://schemas.microsoft.com/office/drawing/2014/main" val="1339804077"/>
                    </a:ext>
                  </a:extLst>
                </a:gridCol>
                <a:gridCol w="446654">
                  <a:extLst>
                    <a:ext uri="{9D8B030D-6E8A-4147-A177-3AD203B41FA5}">
                      <a16:colId xmlns:a16="http://schemas.microsoft.com/office/drawing/2014/main" val="4148791291"/>
                    </a:ext>
                  </a:extLst>
                </a:gridCol>
                <a:gridCol w="446654">
                  <a:extLst>
                    <a:ext uri="{9D8B030D-6E8A-4147-A177-3AD203B41FA5}">
                      <a16:colId xmlns:a16="http://schemas.microsoft.com/office/drawing/2014/main" val="1211629232"/>
                    </a:ext>
                  </a:extLst>
                </a:gridCol>
                <a:gridCol w="446654">
                  <a:extLst>
                    <a:ext uri="{9D8B030D-6E8A-4147-A177-3AD203B41FA5}">
                      <a16:colId xmlns:a16="http://schemas.microsoft.com/office/drawing/2014/main" val="3313089687"/>
                    </a:ext>
                  </a:extLst>
                </a:gridCol>
                <a:gridCol w="446654">
                  <a:extLst>
                    <a:ext uri="{9D8B030D-6E8A-4147-A177-3AD203B41FA5}">
                      <a16:colId xmlns:a16="http://schemas.microsoft.com/office/drawing/2014/main" val="3764362846"/>
                    </a:ext>
                  </a:extLst>
                </a:gridCol>
                <a:gridCol w="446654">
                  <a:extLst>
                    <a:ext uri="{9D8B030D-6E8A-4147-A177-3AD203B41FA5}">
                      <a16:colId xmlns:a16="http://schemas.microsoft.com/office/drawing/2014/main" val="3312613770"/>
                    </a:ext>
                  </a:extLst>
                </a:gridCol>
                <a:gridCol w="446654">
                  <a:extLst>
                    <a:ext uri="{9D8B030D-6E8A-4147-A177-3AD203B41FA5}">
                      <a16:colId xmlns:a16="http://schemas.microsoft.com/office/drawing/2014/main" val="2627503338"/>
                    </a:ext>
                  </a:extLst>
                </a:gridCol>
                <a:gridCol w="446654">
                  <a:extLst>
                    <a:ext uri="{9D8B030D-6E8A-4147-A177-3AD203B41FA5}">
                      <a16:colId xmlns:a16="http://schemas.microsoft.com/office/drawing/2014/main" val="3935349071"/>
                    </a:ext>
                  </a:extLst>
                </a:gridCol>
                <a:gridCol w="446654">
                  <a:extLst>
                    <a:ext uri="{9D8B030D-6E8A-4147-A177-3AD203B41FA5}">
                      <a16:colId xmlns:a16="http://schemas.microsoft.com/office/drawing/2014/main" val="365376092"/>
                    </a:ext>
                  </a:extLst>
                </a:gridCol>
              </a:tblGrid>
              <a:tr h="333375">
                <a:tc>
                  <a:txBody>
                    <a:bodyPr/>
                    <a:lstStyle/>
                    <a:p>
                      <a:pPr algn="ctr" rtl="0"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37791720"/>
                  </a:ext>
                </a:extLst>
              </a:tr>
              <a:tr h="333375">
                <a:tc>
                  <a:txBody>
                    <a:bodyPr/>
                    <a:lstStyle/>
                    <a:p>
                      <a:pPr algn="ctr" rtl="0" fontAlgn="b"/>
                      <a:r>
                        <a:rPr lang="en-NZ" sz="2000" b="1" i="0" u="none" strike="noStrike" dirty="0">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76300506"/>
                  </a:ext>
                </a:extLst>
              </a:tr>
            </a:tbl>
          </a:graphicData>
        </a:graphic>
      </p:graphicFrame>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EC52E9DF-0B79-42F4-96E9-5195635959D6}"/>
                  </a:ext>
                </a:extLst>
              </p:cNvPr>
              <p:cNvSpPr txBox="1">
                <a:spLocks/>
              </p:cNvSpPr>
              <p:nvPr/>
            </p:nvSpPr>
            <p:spPr>
              <a:xfrm>
                <a:off x="4108728" y="3542346"/>
                <a:ext cx="1573027"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right"/>
                    </m:oMathParaPr>
                    <m:oMath xmlns:m="http://schemas.openxmlformats.org/officeDocument/2006/math">
                      <m:sSub>
                        <m:sSub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𝟐𝟗𝟓</m:t>
                      </m:r>
                    </m:oMath>
                  </m:oMathPara>
                </a14:m>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EC52E9DF-0B79-42F4-96E9-5195635959D6}"/>
                  </a:ext>
                </a:extLst>
              </p:cNvPr>
              <p:cNvSpPr txBox="1">
                <a:spLocks noRot="1" noChangeAspect="1" noMove="1" noResize="1" noEditPoints="1" noAdjustHandles="1" noChangeArrowheads="1" noChangeShapeType="1" noTextEdit="1"/>
              </p:cNvSpPr>
              <p:nvPr/>
            </p:nvSpPr>
            <p:spPr>
              <a:xfrm>
                <a:off x="4108728" y="3542346"/>
                <a:ext cx="1573027" cy="452058"/>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2DA77CC5-1BA1-4E2D-B327-8111BA88F783}"/>
                  </a:ext>
                </a:extLst>
              </p:cNvPr>
              <p:cNvSpPr txBox="1">
                <a:spLocks/>
              </p:cNvSpPr>
              <p:nvPr/>
            </p:nvSpPr>
            <p:spPr>
              <a:xfrm>
                <a:off x="4014512" y="4761243"/>
                <a:ext cx="166724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right"/>
                    </m:oMathParaPr>
                    <m:oMath xmlns:m="http://schemas.openxmlformats.org/officeDocument/2006/math">
                      <m:sSub>
                        <m:sSub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𝟎𝟎𝟎</m:t>
                          </m:r>
                        </m:sub>
                      </m:s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4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𝟎𝟕𝟕</m:t>
                      </m:r>
                    </m:oMath>
                  </m:oMathPara>
                </a14:m>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2DA77CC5-1BA1-4E2D-B327-8111BA88F783}"/>
                  </a:ext>
                </a:extLst>
              </p:cNvPr>
              <p:cNvSpPr txBox="1">
                <a:spLocks noRot="1" noChangeAspect="1" noMove="1" noResize="1" noEditPoints="1" noAdjustHandles="1" noChangeArrowheads="1" noChangeShapeType="1" noTextEdit="1"/>
              </p:cNvSpPr>
              <p:nvPr/>
            </p:nvSpPr>
            <p:spPr>
              <a:xfrm>
                <a:off x="4014512" y="4761243"/>
                <a:ext cx="1667243" cy="452058"/>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4CD5ADA2-8B96-4689-9FC1-8DFCC567957A}"/>
                  </a:ext>
                </a:extLst>
              </p:cNvPr>
              <p:cNvSpPr txBox="1">
                <a:spLocks/>
              </p:cNvSpPr>
              <p:nvPr/>
            </p:nvSpPr>
            <p:spPr>
              <a:xfrm>
                <a:off x="2576889" y="3522088"/>
                <a:ext cx="1705971" cy="5300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m>
                        <m:mPr>
                          <m:mcs>
                            <m:mc>
                              <m:mcPr>
                                <m:count m:val="1"/>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m:rPr>
                                <m:brk m:alnAt="7"/>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1" name="Text Placeholder 5">
                <a:extLst>
                  <a:ext uri="{FF2B5EF4-FFF2-40B4-BE49-F238E27FC236}">
                    <a16:creationId xmlns:a16="http://schemas.microsoft.com/office/drawing/2014/main" id="{4CD5ADA2-8B96-4689-9FC1-8DFCC567957A}"/>
                  </a:ext>
                </a:extLst>
              </p:cNvPr>
              <p:cNvSpPr txBox="1">
                <a:spLocks noRot="1" noChangeAspect="1" noMove="1" noResize="1" noEditPoints="1" noAdjustHandles="1" noChangeArrowheads="1" noChangeShapeType="1" noTextEdit="1"/>
              </p:cNvSpPr>
              <p:nvPr/>
            </p:nvSpPr>
            <p:spPr>
              <a:xfrm>
                <a:off x="2576889" y="3522088"/>
                <a:ext cx="1705971" cy="530060"/>
              </a:xfrm>
              <a:prstGeom prst="rect">
                <a:avLst/>
              </a:prstGeom>
              <a:blipFill>
                <a:blip r:embed="rId6"/>
                <a:stretch>
                  <a:fillRect/>
                </a:stretch>
              </a:blipFill>
            </p:spPr>
            <p:txBody>
              <a:bodyPr/>
              <a:lstStyle/>
              <a:p>
                <a:r>
                  <a:rPr lang="en-NZ">
                    <a:noFill/>
                  </a:rPr>
                  <a:t> </a:t>
                </a:r>
              </a:p>
            </p:txBody>
          </p:sp>
        </mc:Fallback>
      </mc:AlternateContent>
      <p:sp>
        <p:nvSpPr>
          <p:cNvPr id="36" name="Text Placeholder 5">
            <a:extLst>
              <a:ext uri="{FF2B5EF4-FFF2-40B4-BE49-F238E27FC236}">
                <a16:creationId xmlns:a16="http://schemas.microsoft.com/office/drawing/2014/main" id="{9D99EA1B-E529-4588-A4CD-E2A58A6A0F38}"/>
              </a:ext>
            </a:extLst>
          </p:cNvPr>
          <p:cNvSpPr txBox="1">
            <a:spLocks/>
          </p:cNvSpPr>
          <p:nvPr/>
        </p:nvSpPr>
        <p:spPr>
          <a:xfrm rot="16200000">
            <a:off x="-107400" y="2885610"/>
            <a:ext cx="1100575"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Re-ordered Sample</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a:t>
            </a:r>
            <a:endParaRPr kumimoji="1" lang="en-US" altLang="ja-JP" sz="1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37" name="Text Placeholder 5">
            <a:extLst>
              <a:ext uri="{FF2B5EF4-FFF2-40B4-BE49-F238E27FC236}">
                <a16:creationId xmlns:a16="http://schemas.microsoft.com/office/drawing/2014/main" id="{B78B46D8-F73E-4DC9-B2BE-988D4C11E7F9}"/>
              </a:ext>
            </a:extLst>
          </p:cNvPr>
          <p:cNvSpPr txBox="1">
            <a:spLocks/>
          </p:cNvSpPr>
          <p:nvPr/>
        </p:nvSpPr>
        <p:spPr>
          <a:xfrm rot="16200000">
            <a:off x="-107399" y="4022234"/>
            <a:ext cx="1100575"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Re-ordered Sample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1000</a:t>
            </a:r>
            <a:endParaRPr kumimoji="1" lang="en-US" altLang="ja-JP" sz="1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graphicFrame>
        <p:nvGraphicFramePr>
          <p:cNvPr id="38" name="Table 37">
            <a:extLst>
              <a:ext uri="{FF2B5EF4-FFF2-40B4-BE49-F238E27FC236}">
                <a16:creationId xmlns:a16="http://schemas.microsoft.com/office/drawing/2014/main" id="{A62A910B-ABF7-4EBB-BC61-23E9477AF752}"/>
              </a:ext>
            </a:extLst>
          </p:cNvPr>
          <p:cNvGraphicFramePr>
            <a:graphicFrameLocks noGrp="1"/>
          </p:cNvGraphicFramePr>
          <p:nvPr>
            <p:extLst>
              <p:ext uri="{D42A27DB-BD31-4B8C-83A1-F6EECF244321}">
                <p14:modId xmlns:p14="http://schemas.microsoft.com/office/powerpoint/2010/main" val="1820822377"/>
              </p:ext>
            </p:extLst>
          </p:nvPr>
        </p:nvGraphicFramePr>
        <p:xfrm>
          <a:off x="782394" y="4043951"/>
          <a:ext cx="4913194" cy="647700"/>
        </p:xfrm>
        <a:graphic>
          <a:graphicData uri="http://schemas.openxmlformats.org/drawingml/2006/table">
            <a:tbl>
              <a:tblPr/>
              <a:tblGrid>
                <a:gridCol w="446654">
                  <a:extLst>
                    <a:ext uri="{9D8B030D-6E8A-4147-A177-3AD203B41FA5}">
                      <a16:colId xmlns:a16="http://schemas.microsoft.com/office/drawing/2014/main" val="2956152970"/>
                    </a:ext>
                  </a:extLst>
                </a:gridCol>
                <a:gridCol w="446654">
                  <a:extLst>
                    <a:ext uri="{9D8B030D-6E8A-4147-A177-3AD203B41FA5}">
                      <a16:colId xmlns:a16="http://schemas.microsoft.com/office/drawing/2014/main" val="414538103"/>
                    </a:ext>
                  </a:extLst>
                </a:gridCol>
                <a:gridCol w="446654">
                  <a:extLst>
                    <a:ext uri="{9D8B030D-6E8A-4147-A177-3AD203B41FA5}">
                      <a16:colId xmlns:a16="http://schemas.microsoft.com/office/drawing/2014/main" val="1339804077"/>
                    </a:ext>
                  </a:extLst>
                </a:gridCol>
                <a:gridCol w="446654">
                  <a:extLst>
                    <a:ext uri="{9D8B030D-6E8A-4147-A177-3AD203B41FA5}">
                      <a16:colId xmlns:a16="http://schemas.microsoft.com/office/drawing/2014/main" val="4148791291"/>
                    </a:ext>
                  </a:extLst>
                </a:gridCol>
                <a:gridCol w="446654">
                  <a:extLst>
                    <a:ext uri="{9D8B030D-6E8A-4147-A177-3AD203B41FA5}">
                      <a16:colId xmlns:a16="http://schemas.microsoft.com/office/drawing/2014/main" val="1211629232"/>
                    </a:ext>
                  </a:extLst>
                </a:gridCol>
                <a:gridCol w="446654">
                  <a:extLst>
                    <a:ext uri="{9D8B030D-6E8A-4147-A177-3AD203B41FA5}">
                      <a16:colId xmlns:a16="http://schemas.microsoft.com/office/drawing/2014/main" val="3313089687"/>
                    </a:ext>
                  </a:extLst>
                </a:gridCol>
                <a:gridCol w="446654">
                  <a:extLst>
                    <a:ext uri="{9D8B030D-6E8A-4147-A177-3AD203B41FA5}">
                      <a16:colId xmlns:a16="http://schemas.microsoft.com/office/drawing/2014/main" val="3764362846"/>
                    </a:ext>
                  </a:extLst>
                </a:gridCol>
                <a:gridCol w="446654">
                  <a:extLst>
                    <a:ext uri="{9D8B030D-6E8A-4147-A177-3AD203B41FA5}">
                      <a16:colId xmlns:a16="http://schemas.microsoft.com/office/drawing/2014/main" val="3312613770"/>
                    </a:ext>
                  </a:extLst>
                </a:gridCol>
                <a:gridCol w="446654">
                  <a:extLst>
                    <a:ext uri="{9D8B030D-6E8A-4147-A177-3AD203B41FA5}">
                      <a16:colId xmlns:a16="http://schemas.microsoft.com/office/drawing/2014/main" val="2627503338"/>
                    </a:ext>
                  </a:extLst>
                </a:gridCol>
                <a:gridCol w="446654">
                  <a:extLst>
                    <a:ext uri="{9D8B030D-6E8A-4147-A177-3AD203B41FA5}">
                      <a16:colId xmlns:a16="http://schemas.microsoft.com/office/drawing/2014/main" val="3935349071"/>
                    </a:ext>
                  </a:extLst>
                </a:gridCol>
                <a:gridCol w="446654">
                  <a:extLst>
                    <a:ext uri="{9D8B030D-6E8A-4147-A177-3AD203B41FA5}">
                      <a16:colId xmlns:a16="http://schemas.microsoft.com/office/drawing/2014/main" val="365376092"/>
                    </a:ext>
                  </a:extLst>
                </a:gridCol>
              </a:tblGrid>
              <a:tr h="0">
                <a:tc>
                  <a:txBody>
                    <a:bodyPr/>
                    <a:lstStyle/>
                    <a:p>
                      <a:pPr algn="ctr" rtl="0" fontAlgn="b"/>
                      <a:r>
                        <a:rPr lang="en-NZ" sz="2000" b="1" i="0" u="none" strike="noStrike">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26282493"/>
                  </a:ext>
                </a:extLst>
              </a:tr>
              <a:tr h="333375">
                <a:tc>
                  <a:txBody>
                    <a:bodyPr/>
                    <a:lstStyle/>
                    <a:p>
                      <a:pPr algn="ctr" rtl="0" fontAlgn="b"/>
                      <a:r>
                        <a:rPr lang="en-NZ" sz="2000" b="1" i="0" u="none" strike="noStrike">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2000" b="0" i="0" u="none" strike="noStrike" dirty="0">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72370786"/>
                  </a:ext>
                </a:extLst>
              </a:tr>
            </a:tbl>
          </a:graphicData>
        </a:graphic>
      </p:graphicFrame>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3.4a – Fish Size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9" name="Text Placeholder 5">
            <a:extLst>
              <a:ext uri="{FF2B5EF4-FFF2-40B4-BE49-F238E27FC236}">
                <a16:creationId xmlns:a16="http://schemas.microsoft.com/office/drawing/2014/main" id="{1F6552BF-6FDD-4975-9AA1-E71C9522F2D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lang="en-NZ" altLang="ja-JP" sz="1200" dirty="0">
                <a:solidFill>
                  <a:srgbClr val="C00000"/>
                </a:solidFill>
              </a:rPr>
              <a:t>3.4a - Fish Size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graphicFrame>
        <p:nvGraphicFramePr>
          <p:cNvPr id="40" name="Table 39">
            <a:extLst>
              <a:ext uri="{FF2B5EF4-FFF2-40B4-BE49-F238E27FC236}">
                <a16:creationId xmlns:a16="http://schemas.microsoft.com/office/drawing/2014/main" id="{B6F7366C-08D7-41E1-9479-53206896AA0D}"/>
              </a:ext>
            </a:extLst>
          </p:cNvPr>
          <p:cNvGraphicFramePr>
            <a:graphicFrameLocks noGrp="1"/>
          </p:cNvGraphicFramePr>
          <p:nvPr>
            <p:extLst>
              <p:ext uri="{D42A27DB-BD31-4B8C-83A1-F6EECF244321}">
                <p14:modId xmlns:p14="http://schemas.microsoft.com/office/powerpoint/2010/main" val="1374994260"/>
              </p:ext>
            </p:extLst>
          </p:nvPr>
        </p:nvGraphicFramePr>
        <p:xfrm>
          <a:off x="755928" y="1799925"/>
          <a:ext cx="6705600" cy="628650"/>
        </p:xfrm>
        <a:graphic>
          <a:graphicData uri="http://schemas.openxmlformats.org/drawingml/2006/table">
            <a:tbl>
              <a:tblPr/>
              <a:tblGrid>
                <a:gridCol w="609600">
                  <a:extLst>
                    <a:ext uri="{9D8B030D-6E8A-4147-A177-3AD203B41FA5}">
                      <a16:colId xmlns:a16="http://schemas.microsoft.com/office/drawing/2014/main" val="4037610628"/>
                    </a:ext>
                  </a:extLst>
                </a:gridCol>
                <a:gridCol w="609600">
                  <a:extLst>
                    <a:ext uri="{9D8B030D-6E8A-4147-A177-3AD203B41FA5}">
                      <a16:colId xmlns:a16="http://schemas.microsoft.com/office/drawing/2014/main" val="590370213"/>
                    </a:ext>
                  </a:extLst>
                </a:gridCol>
                <a:gridCol w="609600">
                  <a:extLst>
                    <a:ext uri="{9D8B030D-6E8A-4147-A177-3AD203B41FA5}">
                      <a16:colId xmlns:a16="http://schemas.microsoft.com/office/drawing/2014/main" val="3452557641"/>
                    </a:ext>
                  </a:extLst>
                </a:gridCol>
                <a:gridCol w="609600">
                  <a:extLst>
                    <a:ext uri="{9D8B030D-6E8A-4147-A177-3AD203B41FA5}">
                      <a16:colId xmlns:a16="http://schemas.microsoft.com/office/drawing/2014/main" val="3162769819"/>
                    </a:ext>
                  </a:extLst>
                </a:gridCol>
                <a:gridCol w="609600">
                  <a:extLst>
                    <a:ext uri="{9D8B030D-6E8A-4147-A177-3AD203B41FA5}">
                      <a16:colId xmlns:a16="http://schemas.microsoft.com/office/drawing/2014/main" val="3968378480"/>
                    </a:ext>
                  </a:extLst>
                </a:gridCol>
                <a:gridCol w="609600">
                  <a:extLst>
                    <a:ext uri="{9D8B030D-6E8A-4147-A177-3AD203B41FA5}">
                      <a16:colId xmlns:a16="http://schemas.microsoft.com/office/drawing/2014/main" val="2641096747"/>
                    </a:ext>
                  </a:extLst>
                </a:gridCol>
                <a:gridCol w="609600">
                  <a:extLst>
                    <a:ext uri="{9D8B030D-6E8A-4147-A177-3AD203B41FA5}">
                      <a16:colId xmlns:a16="http://schemas.microsoft.com/office/drawing/2014/main" val="2998617417"/>
                    </a:ext>
                  </a:extLst>
                </a:gridCol>
                <a:gridCol w="609600">
                  <a:extLst>
                    <a:ext uri="{9D8B030D-6E8A-4147-A177-3AD203B41FA5}">
                      <a16:colId xmlns:a16="http://schemas.microsoft.com/office/drawing/2014/main" val="2672304242"/>
                    </a:ext>
                  </a:extLst>
                </a:gridCol>
                <a:gridCol w="609600">
                  <a:extLst>
                    <a:ext uri="{9D8B030D-6E8A-4147-A177-3AD203B41FA5}">
                      <a16:colId xmlns:a16="http://schemas.microsoft.com/office/drawing/2014/main" val="684859242"/>
                    </a:ext>
                  </a:extLst>
                </a:gridCol>
                <a:gridCol w="609600">
                  <a:extLst>
                    <a:ext uri="{9D8B030D-6E8A-4147-A177-3AD203B41FA5}">
                      <a16:colId xmlns:a16="http://schemas.microsoft.com/office/drawing/2014/main" val="3591260737"/>
                    </a:ext>
                  </a:extLst>
                </a:gridCol>
                <a:gridCol w="609600">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41" name="Text Placeholder 5">
            <a:extLst>
              <a:ext uri="{FF2B5EF4-FFF2-40B4-BE49-F238E27FC236}">
                <a16:creationId xmlns:a16="http://schemas.microsoft.com/office/drawing/2014/main" id="{F0513867-81B4-4539-A0CD-760FA34CD4CE}"/>
              </a:ext>
            </a:extLst>
          </p:cNvPr>
          <p:cNvSpPr txBox="1">
            <a:spLocks/>
          </p:cNvSpPr>
          <p:nvPr/>
        </p:nvSpPr>
        <p:spPr>
          <a:xfrm rot="16200000">
            <a:off x="-107400" y="1816599"/>
            <a:ext cx="1100575"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b="1" i="1" dirty="0">
                <a:solidFill>
                  <a:prstClr val="black"/>
                </a:solidFill>
                <a:latin typeface="Calibri" panose="020F0502020204030204"/>
                <a:ea typeface="游ゴシック" panose="020B0400000000000000" pitchFamily="34" charset="-128"/>
              </a:rPr>
              <a:t>ORIGINAL SAMPLE</a:t>
            </a:r>
            <a:endParaRPr kumimoji="1" lang="en-US" altLang="ja-JP" sz="1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42" name="Text Placeholder 5">
                <a:extLst>
                  <a:ext uri="{FF2B5EF4-FFF2-40B4-BE49-F238E27FC236}">
                    <a16:creationId xmlns:a16="http://schemas.microsoft.com/office/drawing/2014/main" id="{2B93BB97-1E79-46AE-B193-7B8A2212C01C}"/>
                  </a:ext>
                </a:extLst>
              </p:cNvPr>
              <p:cNvSpPr txBox="1">
                <a:spLocks/>
              </p:cNvSpPr>
              <p:nvPr/>
            </p:nvSpPr>
            <p:spPr>
              <a:xfrm>
                <a:off x="7271475" y="1986803"/>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5.168</a:t>
                </a:r>
              </a:p>
            </p:txBody>
          </p:sp>
        </mc:Choice>
        <mc:Fallback xmlns="">
          <p:sp>
            <p:nvSpPr>
              <p:cNvPr id="42" name="Text Placeholder 5">
                <a:extLst>
                  <a:ext uri="{FF2B5EF4-FFF2-40B4-BE49-F238E27FC236}">
                    <a16:creationId xmlns:a16="http://schemas.microsoft.com/office/drawing/2014/main" id="{2B93BB97-1E79-46AE-B193-7B8A2212C01C}"/>
                  </a:ext>
                </a:extLst>
              </p:cNvPr>
              <p:cNvSpPr txBox="1">
                <a:spLocks noRot="1" noChangeAspect="1" noMove="1" noResize="1" noEditPoints="1" noAdjustHandles="1" noChangeArrowheads="1" noChangeShapeType="1" noTextEdit="1"/>
              </p:cNvSpPr>
              <p:nvPr/>
            </p:nvSpPr>
            <p:spPr>
              <a:xfrm>
                <a:off x="7271475" y="1986803"/>
                <a:ext cx="2065363" cy="452058"/>
              </a:xfrm>
              <a:prstGeom prst="rect">
                <a:avLst/>
              </a:prstGeom>
              <a:blipFill>
                <a:blip r:embed="rId7"/>
                <a:stretch>
                  <a:fillRect t="-2703"/>
                </a:stretch>
              </a:blipFill>
            </p:spPr>
            <p:txBody>
              <a:bodyPr/>
              <a:lstStyle/>
              <a:p>
                <a:r>
                  <a:rPr lang="en-NZ">
                    <a:noFill/>
                  </a:rPr>
                  <a:t> </a:t>
                </a:r>
              </a:p>
            </p:txBody>
          </p:sp>
        </mc:Fallback>
      </mc:AlternateContent>
    </p:spTree>
    <p:extLst>
      <p:ext uri="{BB962C8B-B14F-4D97-AF65-F5344CB8AC3E}">
        <p14:creationId xmlns:p14="http://schemas.microsoft.com/office/powerpoint/2010/main" val="427609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6" grpId="0"/>
      <p:bldP spid="37"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D07D47C8-93D1-4704-BE01-75240089728B}"/>
              </a:ext>
            </a:extLst>
          </p:cNvPr>
          <p:cNvSpPr txBox="1">
            <a:spLocks/>
          </p:cNvSpPr>
          <p:nvPr/>
        </p:nvSpPr>
        <p:spPr>
          <a:xfrm>
            <a:off x="319462" y="1050295"/>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Step 6:</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1487605" y="1050295"/>
            <a:ext cx="1038493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Rank all the test statistics</a:t>
            </a:r>
            <a:r>
              <a:rPr kumimoji="1" lang="en-US"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from lowest to highest and see where </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lies in this distribution</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3.4a – Fish Size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3.4</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9" name="Text Placeholder 5">
            <a:extLst>
              <a:ext uri="{FF2B5EF4-FFF2-40B4-BE49-F238E27FC236}">
                <a16:creationId xmlns:a16="http://schemas.microsoft.com/office/drawing/2014/main" id="{1F6552BF-6FDD-4975-9AA1-E71C9522F2D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lang="en-NZ" altLang="ja-JP" sz="1200" dirty="0">
                <a:solidFill>
                  <a:srgbClr val="C00000"/>
                </a:solidFill>
              </a:rPr>
              <a:t>3.4a - Fish Size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5" name="Picture 4">
            <a:extLst>
              <a:ext uri="{FF2B5EF4-FFF2-40B4-BE49-F238E27FC236}">
                <a16:creationId xmlns:a16="http://schemas.microsoft.com/office/drawing/2014/main" id="{4F1A940D-DF2A-4EA8-95FC-52385D43E39A}"/>
              </a:ext>
            </a:extLst>
          </p:cNvPr>
          <p:cNvPicPr>
            <a:picLocks noChangeAspect="1"/>
          </p:cNvPicPr>
          <p:nvPr/>
        </p:nvPicPr>
        <p:blipFill>
          <a:blip r:embed="rId3"/>
          <a:stretch>
            <a:fillRect/>
          </a:stretch>
        </p:blipFill>
        <p:spPr>
          <a:xfrm>
            <a:off x="5051804" y="1889426"/>
            <a:ext cx="6976423" cy="1442185"/>
          </a:xfrm>
          <a:prstGeom prst="rect">
            <a:avLst/>
          </a:prstGeom>
        </p:spPr>
      </p:pic>
      <p:pic>
        <p:nvPicPr>
          <p:cNvPr id="7" name="Picture 6">
            <a:extLst>
              <a:ext uri="{FF2B5EF4-FFF2-40B4-BE49-F238E27FC236}">
                <a16:creationId xmlns:a16="http://schemas.microsoft.com/office/drawing/2014/main" id="{C930BB0B-0213-4F73-BF5C-475943F73F8B}"/>
              </a:ext>
            </a:extLst>
          </p:cNvPr>
          <p:cNvPicPr>
            <a:picLocks noChangeAspect="1"/>
          </p:cNvPicPr>
          <p:nvPr/>
        </p:nvPicPr>
        <p:blipFill>
          <a:blip r:embed="rId4"/>
          <a:stretch>
            <a:fillRect/>
          </a:stretch>
        </p:blipFill>
        <p:spPr>
          <a:xfrm>
            <a:off x="319462" y="1736688"/>
            <a:ext cx="4171583" cy="4017080"/>
          </a:xfrm>
          <a:prstGeom prst="rect">
            <a:avLst/>
          </a:prstGeom>
        </p:spPr>
      </p:pic>
      <p:sp>
        <p:nvSpPr>
          <p:cNvPr id="33" name="Text Placeholder 5">
            <a:extLst>
              <a:ext uri="{FF2B5EF4-FFF2-40B4-BE49-F238E27FC236}">
                <a16:creationId xmlns:a16="http://schemas.microsoft.com/office/drawing/2014/main" id="{9071680D-F91E-4143-A748-BCF37782E7B6}"/>
              </a:ext>
            </a:extLst>
          </p:cNvPr>
          <p:cNvSpPr txBox="1">
            <a:spLocks/>
          </p:cNvSpPr>
          <p:nvPr/>
        </p:nvSpPr>
        <p:spPr>
          <a:xfrm>
            <a:off x="1487605" y="3314551"/>
            <a:ext cx="162534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cs typeface="+mn-cs"/>
              </a:rPr>
              <a:t>F</a:t>
            </a:r>
            <a:r>
              <a:rPr kumimoji="1" lang="en-US" altLang="ja-JP" sz="1800" b="1" i="1"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obs</a:t>
            </a:r>
            <a:r>
              <a:rPr kumimoji="1" lang="en-US" altLang="ja-JP" sz="1800" b="1"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cs typeface="+mn-cs"/>
              </a:rPr>
              <a:t> = 5.168</a:t>
            </a:r>
            <a:endParaRPr kumimoji="1" lang="en-US"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5" name="Text Placeholder 5">
            <a:extLst>
              <a:ext uri="{FF2B5EF4-FFF2-40B4-BE49-F238E27FC236}">
                <a16:creationId xmlns:a16="http://schemas.microsoft.com/office/drawing/2014/main" id="{DDEA3290-7A9A-4BB1-B5A6-84EEBEC1EDE3}"/>
              </a:ext>
            </a:extLst>
          </p:cNvPr>
          <p:cNvSpPr txBox="1">
            <a:spLocks/>
          </p:cNvSpPr>
          <p:nvPr/>
        </p:nvSpPr>
        <p:spPr>
          <a:xfrm>
            <a:off x="5112942" y="3804584"/>
            <a:ext cx="4067453" cy="5081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P-value = # {F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i </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i</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 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 / L   =   0.0405</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40" name="Text Placeholder 5">
            <a:extLst>
              <a:ext uri="{FF2B5EF4-FFF2-40B4-BE49-F238E27FC236}">
                <a16:creationId xmlns:a16="http://schemas.microsoft.com/office/drawing/2014/main" id="{DF87732F-B128-40F3-A404-ED3B54B95EF6}"/>
              </a:ext>
            </a:extLst>
          </p:cNvPr>
          <p:cNvSpPr txBox="1">
            <a:spLocks/>
          </p:cNvSpPr>
          <p:nvPr/>
        </p:nvSpPr>
        <p:spPr>
          <a:xfrm>
            <a:off x="5051804" y="4277557"/>
            <a:ext cx="4067453" cy="5081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Some evidence against H</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41" name="Text Placeholder 5">
            <a:extLst>
              <a:ext uri="{FF2B5EF4-FFF2-40B4-BE49-F238E27FC236}">
                <a16:creationId xmlns:a16="http://schemas.microsoft.com/office/drawing/2014/main" id="{481AB286-5172-4D02-A096-04815DBF36D6}"/>
              </a:ext>
            </a:extLst>
          </p:cNvPr>
          <p:cNvSpPr txBox="1">
            <a:spLocks/>
          </p:cNvSpPr>
          <p:nvPr/>
        </p:nvSpPr>
        <p:spPr>
          <a:xfrm>
            <a:off x="1692321" y="5711897"/>
            <a:ext cx="180763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F-Statistic</a:t>
            </a:r>
            <a:endParaRPr kumimoji="1" lang="en-US"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217189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976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power company have 5 </a:t>
            </a:r>
            <a:r>
              <a:rPr lang="en-NZ" altLang="ja-JP" sz="1800" dirty="0">
                <a:solidFill>
                  <a:srgbClr val="C00000"/>
                </a:solidFill>
                <a:latin typeface="Calibri" panose="020F0502020204030204"/>
                <a:ea typeface="游ゴシック" panose="020B0400000000000000" pitchFamily="34" charset="-128"/>
              </a:rPr>
              <a:t>regional call centres across NZ (A = Northland, B = Auckland, C = Central &amp; Wellington, D = Canterbury, E = Southern). The time (in minutes) between incoming calls at each of the call centres is recorded in the csv entitled ‘Call Centre Data’.</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FA4ED09E-B65D-4B75-AD86-D0367FBE8184}"/>
              </a:ext>
            </a:extLst>
          </p:cNvPr>
          <p:cNvSpPr txBox="1">
            <a:spLocks/>
          </p:cNvSpPr>
          <p:nvPr/>
        </p:nvSpPr>
        <p:spPr>
          <a:xfrm>
            <a:off x="5896970" y="1844615"/>
            <a:ext cx="5405650" cy="4371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snapshot of the results is shown adjacent.</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3.4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74B00F12-81CA-4C21-8561-E5E7397B758E}"/>
              </a:ext>
            </a:extLst>
          </p:cNvPr>
          <p:cNvSpPr txBox="1">
            <a:spLocks/>
          </p:cNvSpPr>
          <p:nvPr/>
        </p:nvSpPr>
        <p:spPr>
          <a:xfrm>
            <a:off x="5883322" y="2299429"/>
            <a:ext cx="5405650"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Does the mean time between calls differ across call centres?</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3.4b – Incoming Calls to a Call Centre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graphicFrame>
        <p:nvGraphicFramePr>
          <p:cNvPr id="2" name="Table 1">
            <a:extLst>
              <a:ext uri="{FF2B5EF4-FFF2-40B4-BE49-F238E27FC236}">
                <a16:creationId xmlns:a16="http://schemas.microsoft.com/office/drawing/2014/main" id="{034A0E5B-0746-4936-AAD5-2A4FFB1AEB39}"/>
              </a:ext>
            </a:extLst>
          </p:cNvPr>
          <p:cNvGraphicFramePr>
            <a:graphicFrameLocks noGrp="1"/>
          </p:cNvGraphicFramePr>
          <p:nvPr/>
        </p:nvGraphicFramePr>
        <p:xfrm>
          <a:off x="409433" y="1952538"/>
          <a:ext cx="5359402" cy="4457700"/>
        </p:xfrm>
        <a:graphic>
          <a:graphicData uri="http://schemas.openxmlformats.org/drawingml/2006/table">
            <a:tbl>
              <a:tblPr/>
              <a:tblGrid>
                <a:gridCol w="982639">
                  <a:extLst>
                    <a:ext uri="{9D8B030D-6E8A-4147-A177-3AD203B41FA5}">
                      <a16:colId xmlns:a16="http://schemas.microsoft.com/office/drawing/2014/main" val="1881419191"/>
                    </a:ext>
                  </a:extLst>
                </a:gridCol>
                <a:gridCol w="846161">
                  <a:extLst>
                    <a:ext uri="{9D8B030D-6E8A-4147-A177-3AD203B41FA5}">
                      <a16:colId xmlns:a16="http://schemas.microsoft.com/office/drawing/2014/main" val="1794385830"/>
                    </a:ext>
                  </a:extLst>
                </a:gridCol>
                <a:gridCol w="805218">
                  <a:extLst>
                    <a:ext uri="{9D8B030D-6E8A-4147-A177-3AD203B41FA5}">
                      <a16:colId xmlns:a16="http://schemas.microsoft.com/office/drawing/2014/main" val="1730539770"/>
                    </a:ext>
                  </a:extLst>
                </a:gridCol>
                <a:gridCol w="897666">
                  <a:extLst>
                    <a:ext uri="{9D8B030D-6E8A-4147-A177-3AD203B41FA5}">
                      <a16:colId xmlns:a16="http://schemas.microsoft.com/office/drawing/2014/main" val="1828717014"/>
                    </a:ext>
                  </a:extLst>
                </a:gridCol>
                <a:gridCol w="913859">
                  <a:extLst>
                    <a:ext uri="{9D8B030D-6E8A-4147-A177-3AD203B41FA5}">
                      <a16:colId xmlns:a16="http://schemas.microsoft.com/office/drawing/2014/main" val="145939037"/>
                    </a:ext>
                  </a:extLst>
                </a:gridCol>
                <a:gridCol w="913859">
                  <a:extLst>
                    <a:ext uri="{9D8B030D-6E8A-4147-A177-3AD203B41FA5}">
                      <a16:colId xmlns:a16="http://schemas.microsoft.com/office/drawing/2014/main" val="974907179"/>
                    </a:ext>
                  </a:extLst>
                </a:gridCol>
              </a:tblGrid>
              <a:tr h="190500">
                <a:tc>
                  <a:txBody>
                    <a:bodyPr/>
                    <a:lstStyle/>
                    <a:p>
                      <a:pPr algn="ctr" fontAlgn="b"/>
                      <a:r>
                        <a:rPr lang="en-NZ" sz="1400" b="1" i="0" u="none" strike="noStrike">
                          <a:solidFill>
                            <a:srgbClr val="FFFFFF"/>
                          </a:solidFill>
                          <a:effectLst/>
                          <a:latin typeface="Calibri" panose="020F0502020204030204" pitchFamily="34" charset="0"/>
                        </a:rPr>
                        <a:t>Observation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C</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2915485821"/>
                  </a:ext>
                </a:extLst>
              </a:tr>
              <a:tr h="190500">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858977554"/>
                  </a:ext>
                </a:extLst>
              </a:tr>
              <a:tr h="190500">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840562293"/>
                  </a:ext>
                </a:extLst>
              </a:tr>
              <a:tr h="190500">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472515988"/>
                  </a:ext>
                </a:extLst>
              </a:tr>
              <a:tr h="190500">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684198130"/>
                  </a:ext>
                </a:extLst>
              </a:tr>
              <a:tr h="190500">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189648697"/>
                  </a:ext>
                </a:extLst>
              </a:tr>
              <a:tr h="190500">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06181215"/>
                  </a:ext>
                </a:extLst>
              </a:tr>
              <a:tr h="190500">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756557635"/>
                  </a:ext>
                </a:extLst>
              </a:tr>
              <a:tr h="190500">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118516937"/>
                  </a:ext>
                </a:extLst>
              </a:tr>
              <a:tr h="190500">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24949901"/>
                  </a:ext>
                </a:extLst>
              </a:tr>
              <a:tr h="190500">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088995092"/>
                  </a:ext>
                </a:extLst>
              </a:tr>
              <a:tr h="190500">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64890743"/>
                  </a:ext>
                </a:extLst>
              </a:tr>
              <a:tr h="190500">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1.58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0.59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54950324"/>
                  </a:ext>
                </a:extLst>
              </a:tr>
              <a:tr h="190500">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971146523"/>
                  </a:ext>
                </a:extLst>
              </a:tr>
              <a:tr h="190500">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4180561252"/>
                  </a:ext>
                </a:extLst>
              </a:tr>
              <a:tr h="190500">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13.20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897360263"/>
                  </a:ext>
                </a:extLst>
              </a:tr>
              <a:tr h="190500">
                <a:tc>
                  <a:txBody>
                    <a:bodyPr/>
                    <a:lstStyle/>
                    <a:p>
                      <a:pPr algn="ctr" fontAlgn="b"/>
                      <a:r>
                        <a:rPr lang="en-NZ" sz="14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427871428"/>
                  </a:ext>
                </a:extLst>
              </a:tr>
              <a:tr h="190500">
                <a:tc>
                  <a:txBody>
                    <a:bodyPr/>
                    <a:lstStyle/>
                    <a:p>
                      <a:pPr algn="ctr" fontAlgn="b"/>
                      <a:r>
                        <a:rPr lang="en-NZ" sz="14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90392509"/>
                  </a:ext>
                </a:extLst>
              </a:tr>
              <a:tr h="190500">
                <a:tc>
                  <a:txBody>
                    <a:bodyPr/>
                    <a:lstStyle/>
                    <a:p>
                      <a:pPr algn="ctr" fontAlgn="b"/>
                      <a:r>
                        <a:rPr lang="en-NZ" sz="14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077150401"/>
                  </a:ext>
                </a:extLst>
              </a:tr>
              <a:tr h="190500">
                <a:tc>
                  <a:txBody>
                    <a:bodyPr/>
                    <a:lstStyle/>
                    <a:p>
                      <a:pPr algn="ctr" fontAlgn="b"/>
                      <a:r>
                        <a:rPr lang="en-NZ"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dirty="0">
                          <a:solidFill>
                            <a:srgbClr val="000000"/>
                          </a:solidFill>
                          <a:effectLst/>
                          <a:latin typeface="Calibri" panose="020F0502020204030204" pitchFamily="34" charset="0"/>
                        </a:rPr>
                        <a:t>0.74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255895289"/>
                  </a:ext>
                </a:extLst>
              </a:tr>
            </a:tbl>
          </a:graphicData>
        </a:graphic>
      </p:graphicFrame>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CE6A0619-E209-4E52-9FB4-857DAD160686}"/>
              </a:ext>
            </a:extLst>
          </p:cNvPr>
          <p:cNvSpPr txBox="1">
            <a:spLocks/>
          </p:cNvSpPr>
          <p:nvPr/>
        </p:nvSpPr>
        <p:spPr>
          <a:xfrm>
            <a:off x="5883321" y="3098904"/>
            <a:ext cx="5899246" cy="14773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In Section 3.2 we showed that the ANOVA conditions were violated for this data set.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1700" dirty="0">
              <a:solidFill>
                <a:prstClr val="black"/>
              </a:solidFill>
              <a:latin typeface="Calibri" panose="020F0502020204030204"/>
              <a:ea typeface="游ゴシック" panose="020B0400000000000000" pitchFamily="34" charset="-128"/>
            </a:endParaRPr>
          </a:p>
          <a:p>
            <a:pPr marL="285750" marR="0" lvl="0" indent="-285750" algn="just" defTabSz="914324" rtl="0" eaLnBrk="1" fontAlgn="auto" latinLnBrk="0" hangingPunct="1">
              <a:lnSpc>
                <a:spcPct val="100000"/>
              </a:lnSpc>
              <a:spcBef>
                <a:spcPts val="0"/>
              </a:spcBef>
              <a:spcAft>
                <a:spcPts val="0"/>
              </a:spcAft>
              <a:buClrTx/>
              <a:buSzTx/>
              <a:buFont typeface="Symbol" panose="05050102010706020507" pitchFamily="18" charset="2"/>
              <a:buChar char="Þ"/>
              <a:tabLst/>
              <a:defRPr/>
            </a:pPr>
            <a:r>
              <a:rPr kumimoji="1" lang="en-US"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The p-values produced from ANOVA tests would be meaningless</a:t>
            </a: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B8FEC98A-2381-486E-81BC-A12B8EAB8C8E}"/>
                  </a:ext>
                </a:extLst>
              </p:cNvPr>
              <p:cNvSpPr txBox="1">
                <a:spLocks/>
              </p:cNvSpPr>
              <p:nvPr/>
            </p:nvSpPr>
            <p:spPr>
              <a:xfrm>
                <a:off x="7079205" y="5443696"/>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r>
                      <a:rPr lang="en-NZ" altLang="ja-JP" sz="1600" b="0" i="1" smtClean="0">
                        <a:solidFill>
                          <a:schemeClr val="tx1"/>
                        </a:solidFill>
                        <a:latin typeface="Cambria Math" panose="02040503050406030204" pitchFamily="18" charset="0"/>
                      </a:rPr>
                      <m:t>=1, …, 5</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oMath>
                </a14:m>
                <a:endParaRPr lang="en-NZ" altLang="ja-JP" sz="1600" dirty="0">
                  <a:solidFill>
                    <a:schemeClr val="tx1"/>
                  </a:solidFill>
                </a:endParaRPr>
              </a:p>
            </p:txBody>
          </p:sp>
        </mc:Choice>
        <mc:Fallback xmlns="">
          <p:sp>
            <p:nvSpPr>
              <p:cNvPr id="13" name="Text Placeholder 5">
                <a:extLst>
                  <a:ext uri="{FF2B5EF4-FFF2-40B4-BE49-F238E27FC236}">
                    <a16:creationId xmlns:a16="http://schemas.microsoft.com/office/drawing/2014/main" id="{B8FEC98A-2381-486E-81BC-A12B8EAB8C8E}"/>
                  </a:ext>
                </a:extLst>
              </p:cNvPr>
              <p:cNvSpPr txBox="1">
                <a:spLocks noRot="1" noChangeAspect="1" noMove="1" noResize="1" noEditPoints="1" noAdjustHandles="1" noChangeArrowheads="1" noChangeShapeType="1" noTextEdit="1"/>
              </p:cNvSpPr>
              <p:nvPr/>
            </p:nvSpPr>
            <p:spPr>
              <a:xfrm>
                <a:off x="7079205" y="5443696"/>
                <a:ext cx="3507477" cy="1021587"/>
              </a:xfrm>
              <a:prstGeom prst="rect">
                <a:avLst/>
              </a:prstGeom>
              <a:blipFill>
                <a:blip r:embed="rId2"/>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4E325F15-3D64-4DC7-A973-69449A331D3E}"/>
              </a:ext>
            </a:extLst>
          </p:cNvPr>
          <p:cNvSpPr txBox="1">
            <a:spLocks/>
          </p:cNvSpPr>
          <p:nvPr/>
        </p:nvSpPr>
        <p:spPr>
          <a:xfrm>
            <a:off x="5896970" y="4819287"/>
            <a:ext cx="5899246" cy="7271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just" defTabSz="914324" rtl="0" eaLnBrk="1" fontAlgn="auto" latinLnBrk="0" hangingPunct="1">
              <a:lnSpc>
                <a:spcPct val="100000"/>
              </a:lnSpc>
              <a:spcBef>
                <a:spcPts val="0"/>
              </a:spcBef>
              <a:spcAft>
                <a:spcPts val="0"/>
              </a:spcAft>
              <a:buClrTx/>
              <a:buSzTx/>
              <a:tabLst/>
              <a:defRPr/>
            </a:pPr>
            <a:r>
              <a:rPr kumimoji="1" lang="en-US"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Instead, we conduct a permutation test to determine between the hypotheses:</a:t>
            </a:r>
          </a:p>
        </p:txBody>
      </p:sp>
    </p:spTree>
    <p:extLst>
      <p:ext uri="{BB962C8B-B14F-4D97-AF65-F5344CB8AC3E}">
        <p14:creationId xmlns:p14="http://schemas.microsoft.com/office/powerpoint/2010/main" val="94817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5A92334-432F-4B61-83DC-606A1E007695}"/>
              </a:ext>
            </a:extLst>
          </p:cNvPr>
          <p:cNvPicPr>
            <a:picLocks noChangeAspect="1"/>
          </p:cNvPicPr>
          <p:nvPr/>
        </p:nvPicPr>
        <p:blipFill>
          <a:blip r:embed="rId2"/>
          <a:stretch>
            <a:fillRect/>
          </a:stretch>
        </p:blipFill>
        <p:spPr>
          <a:xfrm>
            <a:off x="6441254" y="2391866"/>
            <a:ext cx="4463040" cy="3934171"/>
          </a:xfrm>
          <a:prstGeom prst="rect">
            <a:avLst/>
          </a:prstGeom>
        </p:spPr>
      </p:pic>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976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power company have 5 </a:t>
            </a:r>
            <a:r>
              <a:rPr lang="en-NZ" altLang="ja-JP" sz="1800" dirty="0">
                <a:solidFill>
                  <a:srgbClr val="C00000"/>
                </a:solidFill>
                <a:latin typeface="Calibri" panose="020F0502020204030204"/>
                <a:ea typeface="游ゴシック" panose="020B0400000000000000" pitchFamily="34" charset="-128"/>
              </a:rPr>
              <a:t>regional call centres across NZ (A = Northland, B = Auckland, C = Central &amp; Wellington, D = Canterbury, E = Southern). The time (in seconds) between incoming calls at each of the call centres is recorded in the csv entitled ‘Call Centre Data’.</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FA4ED09E-B65D-4B75-AD86-D0367FBE8184}"/>
              </a:ext>
            </a:extLst>
          </p:cNvPr>
          <p:cNvSpPr txBox="1">
            <a:spLocks/>
          </p:cNvSpPr>
          <p:nvPr/>
        </p:nvSpPr>
        <p:spPr>
          <a:xfrm>
            <a:off x="5896970" y="1844615"/>
            <a:ext cx="5405650" cy="4371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snapshot of the results is shown adjacent.</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3.4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74B00F12-81CA-4C21-8561-E5E7397B758E}"/>
              </a:ext>
            </a:extLst>
          </p:cNvPr>
          <p:cNvSpPr txBox="1">
            <a:spLocks/>
          </p:cNvSpPr>
          <p:nvPr/>
        </p:nvSpPr>
        <p:spPr>
          <a:xfrm>
            <a:off x="5883322" y="2299429"/>
            <a:ext cx="5405650"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Does the mean time between calls differ across call centres?</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3.4b – Incoming Calls to a Call Centre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graphicFrame>
        <p:nvGraphicFramePr>
          <p:cNvPr id="2" name="Table 1">
            <a:extLst>
              <a:ext uri="{FF2B5EF4-FFF2-40B4-BE49-F238E27FC236}">
                <a16:creationId xmlns:a16="http://schemas.microsoft.com/office/drawing/2014/main" id="{034A0E5B-0746-4936-AAD5-2A4FFB1AEB39}"/>
              </a:ext>
            </a:extLst>
          </p:cNvPr>
          <p:cNvGraphicFramePr>
            <a:graphicFrameLocks noGrp="1"/>
          </p:cNvGraphicFramePr>
          <p:nvPr/>
        </p:nvGraphicFramePr>
        <p:xfrm>
          <a:off x="409433" y="1952538"/>
          <a:ext cx="5359402" cy="4457700"/>
        </p:xfrm>
        <a:graphic>
          <a:graphicData uri="http://schemas.openxmlformats.org/drawingml/2006/table">
            <a:tbl>
              <a:tblPr/>
              <a:tblGrid>
                <a:gridCol w="982639">
                  <a:extLst>
                    <a:ext uri="{9D8B030D-6E8A-4147-A177-3AD203B41FA5}">
                      <a16:colId xmlns:a16="http://schemas.microsoft.com/office/drawing/2014/main" val="1881419191"/>
                    </a:ext>
                  </a:extLst>
                </a:gridCol>
                <a:gridCol w="846161">
                  <a:extLst>
                    <a:ext uri="{9D8B030D-6E8A-4147-A177-3AD203B41FA5}">
                      <a16:colId xmlns:a16="http://schemas.microsoft.com/office/drawing/2014/main" val="1794385830"/>
                    </a:ext>
                  </a:extLst>
                </a:gridCol>
                <a:gridCol w="805218">
                  <a:extLst>
                    <a:ext uri="{9D8B030D-6E8A-4147-A177-3AD203B41FA5}">
                      <a16:colId xmlns:a16="http://schemas.microsoft.com/office/drawing/2014/main" val="1730539770"/>
                    </a:ext>
                  </a:extLst>
                </a:gridCol>
                <a:gridCol w="897666">
                  <a:extLst>
                    <a:ext uri="{9D8B030D-6E8A-4147-A177-3AD203B41FA5}">
                      <a16:colId xmlns:a16="http://schemas.microsoft.com/office/drawing/2014/main" val="1828717014"/>
                    </a:ext>
                  </a:extLst>
                </a:gridCol>
                <a:gridCol w="913859">
                  <a:extLst>
                    <a:ext uri="{9D8B030D-6E8A-4147-A177-3AD203B41FA5}">
                      <a16:colId xmlns:a16="http://schemas.microsoft.com/office/drawing/2014/main" val="145939037"/>
                    </a:ext>
                  </a:extLst>
                </a:gridCol>
                <a:gridCol w="913859">
                  <a:extLst>
                    <a:ext uri="{9D8B030D-6E8A-4147-A177-3AD203B41FA5}">
                      <a16:colId xmlns:a16="http://schemas.microsoft.com/office/drawing/2014/main" val="974907179"/>
                    </a:ext>
                  </a:extLst>
                </a:gridCol>
              </a:tblGrid>
              <a:tr h="190500">
                <a:tc>
                  <a:txBody>
                    <a:bodyPr/>
                    <a:lstStyle/>
                    <a:p>
                      <a:pPr algn="ctr" fontAlgn="b"/>
                      <a:r>
                        <a:rPr lang="en-NZ" sz="1400" b="1" i="0" u="none" strike="noStrike">
                          <a:solidFill>
                            <a:srgbClr val="FFFFFF"/>
                          </a:solidFill>
                          <a:effectLst/>
                          <a:latin typeface="Calibri" panose="020F0502020204030204" pitchFamily="34" charset="0"/>
                        </a:rPr>
                        <a:t>Observation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C</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a:solidFill>
                            <a:srgbClr val="FFFFFF"/>
                          </a:solidFill>
                          <a:effectLst/>
                          <a:latin typeface="Calibri" panose="020F0502020204030204" pitchFamily="34" charset="0"/>
                        </a:rPr>
                        <a:t>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2915485821"/>
                  </a:ext>
                </a:extLst>
              </a:tr>
              <a:tr h="190500">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858977554"/>
                  </a:ext>
                </a:extLst>
              </a:tr>
              <a:tr h="190500">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840562293"/>
                  </a:ext>
                </a:extLst>
              </a:tr>
              <a:tr h="190500">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472515988"/>
                  </a:ext>
                </a:extLst>
              </a:tr>
              <a:tr h="190500">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684198130"/>
                  </a:ext>
                </a:extLst>
              </a:tr>
              <a:tr h="190500">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189648697"/>
                  </a:ext>
                </a:extLst>
              </a:tr>
              <a:tr h="190500">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06181215"/>
                  </a:ext>
                </a:extLst>
              </a:tr>
              <a:tr h="190500">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756557635"/>
                  </a:ext>
                </a:extLst>
              </a:tr>
              <a:tr h="190500">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6.21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118516937"/>
                  </a:ext>
                </a:extLst>
              </a:tr>
              <a:tr h="190500">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24949901"/>
                  </a:ext>
                </a:extLst>
              </a:tr>
              <a:tr h="190500">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4.78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088995092"/>
                  </a:ext>
                </a:extLst>
              </a:tr>
              <a:tr h="190500">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64890743"/>
                  </a:ext>
                </a:extLst>
              </a:tr>
              <a:tr h="190500">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1.58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0.59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54950324"/>
                  </a:ext>
                </a:extLst>
              </a:tr>
              <a:tr h="190500">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971146523"/>
                  </a:ext>
                </a:extLst>
              </a:tr>
              <a:tr h="190500">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8.08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5.87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4180561252"/>
                  </a:ext>
                </a:extLst>
              </a:tr>
              <a:tr h="190500">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13.20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897360263"/>
                  </a:ext>
                </a:extLst>
              </a:tr>
              <a:tr h="190500">
                <a:tc>
                  <a:txBody>
                    <a:bodyPr/>
                    <a:lstStyle/>
                    <a:p>
                      <a:pPr algn="ctr" fontAlgn="b"/>
                      <a:r>
                        <a:rPr lang="en-NZ" sz="14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427871428"/>
                  </a:ext>
                </a:extLst>
              </a:tr>
              <a:tr h="190500">
                <a:tc>
                  <a:txBody>
                    <a:bodyPr/>
                    <a:lstStyle/>
                    <a:p>
                      <a:pPr algn="ctr" fontAlgn="b"/>
                      <a:r>
                        <a:rPr lang="en-NZ" sz="14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590392509"/>
                  </a:ext>
                </a:extLst>
              </a:tr>
              <a:tr h="190500">
                <a:tc>
                  <a:txBody>
                    <a:bodyPr/>
                    <a:lstStyle/>
                    <a:p>
                      <a:pPr algn="ctr" fontAlgn="b"/>
                      <a:r>
                        <a:rPr lang="en-NZ" sz="14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7.95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077150401"/>
                  </a:ext>
                </a:extLst>
              </a:tr>
              <a:tr h="190500">
                <a:tc>
                  <a:txBody>
                    <a:bodyPr/>
                    <a:lstStyle/>
                    <a:p>
                      <a:pPr algn="ctr" fontAlgn="b"/>
                      <a:r>
                        <a:rPr lang="en-NZ"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1.11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2.12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3.31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a:solidFill>
                            <a:srgbClr val="000000"/>
                          </a:solidFill>
                          <a:effectLst/>
                          <a:latin typeface="Calibri" panose="020F0502020204030204" pitchFamily="34" charset="0"/>
                        </a:rPr>
                        <a:t>0.23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400" b="0" i="0" u="none" strike="noStrike" dirty="0">
                          <a:solidFill>
                            <a:srgbClr val="000000"/>
                          </a:solidFill>
                          <a:effectLst/>
                          <a:latin typeface="Calibri" panose="020F0502020204030204" pitchFamily="34" charset="0"/>
                        </a:rPr>
                        <a:t>0.74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255895289"/>
                  </a:ext>
                </a:extLst>
              </a:tr>
            </a:tbl>
          </a:graphicData>
        </a:graphic>
      </p:graphicFrame>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4E325F15-3D64-4DC7-A973-69449A331D3E}"/>
              </a:ext>
            </a:extLst>
          </p:cNvPr>
          <p:cNvSpPr txBox="1">
            <a:spLocks/>
          </p:cNvSpPr>
          <p:nvPr/>
        </p:nvSpPr>
        <p:spPr>
          <a:xfrm>
            <a:off x="5896969" y="5992493"/>
            <a:ext cx="6192395" cy="4436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ctr" defTabSz="914324" rtl="0" eaLnBrk="1" fontAlgn="auto" latinLnBrk="0" hangingPunct="1">
              <a:lnSpc>
                <a:spcPct val="100000"/>
              </a:lnSpc>
              <a:spcBef>
                <a:spcPts val="0"/>
              </a:spcBef>
              <a:spcAft>
                <a:spcPts val="0"/>
              </a:spcAft>
              <a:buClrTx/>
              <a:buSzTx/>
              <a:tabLst/>
              <a:defRPr/>
            </a:pPr>
            <a:r>
              <a:rPr lang="en-US" altLang="ja-JP" sz="1500" dirty="0">
                <a:solidFill>
                  <a:prstClr val="black"/>
                </a:solidFill>
                <a:latin typeface="Calibri" panose="020F0502020204030204"/>
                <a:ea typeface="游ゴシック" panose="020B0400000000000000" pitchFamily="34" charset="-128"/>
              </a:rPr>
              <a:t>Recall - w</a:t>
            </a:r>
            <a:r>
              <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 have reason to believe that the mean</a:t>
            </a:r>
            <a:r>
              <a:rPr kumimoji="1" lang="en-US" altLang="ja-JP" sz="15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5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differs between groups</a:t>
            </a:r>
          </a:p>
        </p:txBody>
      </p:sp>
    </p:spTree>
    <p:extLst>
      <p:ext uri="{BB962C8B-B14F-4D97-AF65-F5344CB8AC3E}">
        <p14:creationId xmlns:p14="http://schemas.microsoft.com/office/powerpoint/2010/main" val="288176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3.4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3.4b – Incoming Calls to a Call Centre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5" name="Picture 4">
            <a:extLst>
              <a:ext uri="{FF2B5EF4-FFF2-40B4-BE49-F238E27FC236}">
                <a16:creationId xmlns:a16="http://schemas.microsoft.com/office/drawing/2014/main" id="{05A148EF-8996-41FC-8018-A8B44A1FC18D}"/>
              </a:ext>
            </a:extLst>
          </p:cNvPr>
          <p:cNvPicPr>
            <a:picLocks noChangeAspect="1"/>
          </p:cNvPicPr>
          <p:nvPr/>
        </p:nvPicPr>
        <p:blipFill>
          <a:blip r:embed="rId2"/>
          <a:stretch>
            <a:fillRect/>
          </a:stretch>
        </p:blipFill>
        <p:spPr>
          <a:xfrm>
            <a:off x="374645" y="1182705"/>
            <a:ext cx="5492286" cy="1439838"/>
          </a:xfrm>
          <a:prstGeom prst="rect">
            <a:avLst/>
          </a:prstGeom>
        </p:spPr>
      </p:pic>
      <p:pic>
        <p:nvPicPr>
          <p:cNvPr id="7" name="Picture 6">
            <a:extLst>
              <a:ext uri="{FF2B5EF4-FFF2-40B4-BE49-F238E27FC236}">
                <a16:creationId xmlns:a16="http://schemas.microsoft.com/office/drawing/2014/main" id="{3EDE4CFD-7285-4B30-8464-29210A587008}"/>
              </a:ext>
            </a:extLst>
          </p:cNvPr>
          <p:cNvPicPr>
            <a:picLocks noChangeAspect="1"/>
          </p:cNvPicPr>
          <p:nvPr/>
        </p:nvPicPr>
        <p:blipFill>
          <a:blip r:embed="rId3"/>
          <a:stretch>
            <a:fillRect/>
          </a:stretch>
        </p:blipFill>
        <p:spPr>
          <a:xfrm>
            <a:off x="374645" y="2856319"/>
            <a:ext cx="6749486" cy="3430232"/>
          </a:xfrm>
          <a:prstGeom prst="rect">
            <a:avLst/>
          </a:prstGeom>
        </p:spPr>
      </p:pic>
      <p:sp>
        <p:nvSpPr>
          <p:cNvPr id="8" name="Right Brace 7">
            <a:extLst>
              <a:ext uri="{FF2B5EF4-FFF2-40B4-BE49-F238E27FC236}">
                <a16:creationId xmlns:a16="http://schemas.microsoft.com/office/drawing/2014/main" id="{0C8A0F1C-1945-4749-8E1B-734CC57450BF}"/>
              </a:ext>
            </a:extLst>
          </p:cNvPr>
          <p:cNvSpPr/>
          <p:nvPr/>
        </p:nvSpPr>
        <p:spPr>
          <a:xfrm>
            <a:off x="7642745" y="1182704"/>
            <a:ext cx="272956" cy="14398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0" name="Right Brace 19">
            <a:extLst>
              <a:ext uri="{FF2B5EF4-FFF2-40B4-BE49-F238E27FC236}">
                <a16:creationId xmlns:a16="http://schemas.microsoft.com/office/drawing/2014/main" id="{EE46F275-E328-4519-84BF-0B73E2C487A0}"/>
              </a:ext>
            </a:extLst>
          </p:cNvPr>
          <p:cNvSpPr/>
          <p:nvPr/>
        </p:nvSpPr>
        <p:spPr>
          <a:xfrm>
            <a:off x="7656392" y="2856318"/>
            <a:ext cx="259309" cy="332633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1" name="Text Placeholder 5">
            <a:extLst>
              <a:ext uri="{FF2B5EF4-FFF2-40B4-BE49-F238E27FC236}">
                <a16:creationId xmlns:a16="http://schemas.microsoft.com/office/drawing/2014/main" id="{D2C07203-DDA3-45A6-A6FB-0D81EEB27F1D}"/>
              </a:ext>
            </a:extLst>
          </p:cNvPr>
          <p:cNvSpPr txBox="1">
            <a:spLocks/>
          </p:cNvSpPr>
          <p:nvPr/>
        </p:nvSpPr>
        <p:spPr>
          <a:xfrm>
            <a:off x="8216896" y="1534188"/>
            <a:ext cx="328655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Fitting the ANOVA model and obtaining </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1987E8F4-FAFD-478C-9770-F138E0191546}"/>
              </a:ext>
            </a:extLst>
          </p:cNvPr>
          <p:cNvSpPr txBox="1">
            <a:spLocks/>
          </p:cNvSpPr>
          <p:nvPr/>
        </p:nvSpPr>
        <p:spPr>
          <a:xfrm>
            <a:off x="8216896" y="4142817"/>
            <a:ext cx="3286559" cy="10130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Creating 1,000 re-ordered samples and obtaining the F-statistics for each sample</a:t>
            </a:r>
            <a:endPar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32615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42D5D3F9-A866-409A-A2B0-FE868BF98419}"/>
              </a:ext>
            </a:extLst>
          </p:cNvPr>
          <p:cNvCxnSpPr>
            <a:cxnSpLocks/>
          </p:cNvCxnSpPr>
          <p:nvPr/>
        </p:nvCxnSpPr>
        <p:spPr>
          <a:xfrm>
            <a:off x="5268036" y="1534188"/>
            <a:ext cx="0" cy="301051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3.4 – Checking ANOVA Conditions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3.4b – Incoming Calls to a Call Centre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Text Placeholder 5">
            <a:extLst>
              <a:ext uri="{FF2B5EF4-FFF2-40B4-BE49-F238E27FC236}">
                <a16:creationId xmlns:a16="http://schemas.microsoft.com/office/drawing/2014/main" id="{7A2B5208-0F44-4ED6-86F0-61AA2895FCA9}"/>
              </a:ext>
            </a:extLst>
          </p:cNvPr>
          <p:cNvSpPr txBox="1">
            <a:spLocks/>
          </p:cNvSpPr>
          <p:nvPr/>
        </p:nvSpPr>
        <p:spPr>
          <a:xfrm>
            <a:off x="1909550" y="6520328"/>
            <a:ext cx="8372901" cy="25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3.4b - Incoming Calls (Permutation Test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E7EE611D-3F3E-4F33-A35A-CDCCBE74FDC0}"/>
              </a:ext>
            </a:extLst>
          </p:cNvPr>
          <p:cNvPicPr>
            <a:picLocks noChangeAspect="1"/>
          </p:cNvPicPr>
          <p:nvPr/>
        </p:nvPicPr>
        <p:blipFill>
          <a:blip r:embed="rId2"/>
          <a:stretch>
            <a:fillRect/>
          </a:stretch>
        </p:blipFill>
        <p:spPr>
          <a:xfrm>
            <a:off x="480088" y="4983589"/>
            <a:ext cx="6910274" cy="1367904"/>
          </a:xfrm>
          <a:prstGeom prst="rect">
            <a:avLst/>
          </a:prstGeom>
        </p:spPr>
      </p:pic>
      <p:pic>
        <p:nvPicPr>
          <p:cNvPr id="6" name="Picture 5">
            <a:extLst>
              <a:ext uri="{FF2B5EF4-FFF2-40B4-BE49-F238E27FC236}">
                <a16:creationId xmlns:a16="http://schemas.microsoft.com/office/drawing/2014/main" id="{DE2CFDE9-363E-4D00-B399-CC69F92831B8}"/>
              </a:ext>
            </a:extLst>
          </p:cNvPr>
          <p:cNvPicPr>
            <a:picLocks noChangeAspect="1"/>
          </p:cNvPicPr>
          <p:nvPr/>
        </p:nvPicPr>
        <p:blipFill>
          <a:blip r:embed="rId3"/>
          <a:stretch>
            <a:fillRect/>
          </a:stretch>
        </p:blipFill>
        <p:spPr>
          <a:xfrm>
            <a:off x="480088" y="1049198"/>
            <a:ext cx="4083046" cy="3934391"/>
          </a:xfrm>
          <a:prstGeom prst="rect">
            <a:avLst/>
          </a:prstGeom>
        </p:spPr>
      </p:pic>
      <p:sp>
        <p:nvSpPr>
          <p:cNvPr id="16" name="Text Placeholder 5">
            <a:extLst>
              <a:ext uri="{FF2B5EF4-FFF2-40B4-BE49-F238E27FC236}">
                <a16:creationId xmlns:a16="http://schemas.microsoft.com/office/drawing/2014/main" id="{0552B44C-3C76-4DE0-88B7-1E66AF320C41}"/>
              </a:ext>
            </a:extLst>
          </p:cNvPr>
          <p:cNvSpPr txBox="1">
            <a:spLocks/>
          </p:cNvSpPr>
          <p:nvPr/>
        </p:nvSpPr>
        <p:spPr>
          <a:xfrm>
            <a:off x="4563134" y="1157169"/>
            <a:ext cx="162534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cs typeface="+mn-cs"/>
              </a:rPr>
              <a:t>F</a:t>
            </a:r>
            <a:r>
              <a:rPr kumimoji="1" lang="en-US" altLang="ja-JP" sz="1800" b="1" i="1"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obs</a:t>
            </a:r>
            <a:r>
              <a:rPr kumimoji="1" lang="en-US" altLang="ja-JP" sz="1800" b="1"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cs typeface="+mn-cs"/>
              </a:rPr>
              <a:t> = 147.68</a:t>
            </a:r>
            <a:endParaRPr kumimoji="1" lang="en-US"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cxnSp>
        <p:nvCxnSpPr>
          <p:cNvPr id="17" name="Straight Arrow Connector 16">
            <a:extLst>
              <a:ext uri="{FF2B5EF4-FFF2-40B4-BE49-F238E27FC236}">
                <a16:creationId xmlns:a16="http://schemas.microsoft.com/office/drawing/2014/main" id="{A7859536-F449-4328-B2F5-29166B37997B}"/>
              </a:ext>
            </a:extLst>
          </p:cNvPr>
          <p:cNvCxnSpPr>
            <a:cxnSpLocks/>
          </p:cNvCxnSpPr>
          <p:nvPr/>
        </p:nvCxnSpPr>
        <p:spPr>
          <a:xfrm>
            <a:off x="4217158" y="3374409"/>
            <a:ext cx="833253"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 Placeholder 5">
            <a:extLst>
              <a:ext uri="{FF2B5EF4-FFF2-40B4-BE49-F238E27FC236}">
                <a16:creationId xmlns:a16="http://schemas.microsoft.com/office/drawing/2014/main" id="{20A39576-15F9-43A8-89DC-057D835AC95F}"/>
              </a:ext>
            </a:extLst>
          </p:cNvPr>
          <p:cNvSpPr txBox="1">
            <a:spLocks/>
          </p:cNvSpPr>
          <p:nvPr/>
        </p:nvSpPr>
        <p:spPr>
          <a:xfrm>
            <a:off x="7644459" y="2825842"/>
            <a:ext cx="4067453" cy="5081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P-value = # {F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i </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i</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 F</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 / L   =   0</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4" name="Text Placeholder 5">
            <a:extLst>
              <a:ext uri="{FF2B5EF4-FFF2-40B4-BE49-F238E27FC236}">
                <a16:creationId xmlns:a16="http://schemas.microsoft.com/office/drawing/2014/main" id="{16794A05-5062-4A06-9F79-6E575C29C2D3}"/>
              </a:ext>
            </a:extLst>
          </p:cNvPr>
          <p:cNvSpPr txBox="1">
            <a:spLocks/>
          </p:cNvSpPr>
          <p:nvPr/>
        </p:nvSpPr>
        <p:spPr>
          <a:xfrm>
            <a:off x="7583321" y="3298815"/>
            <a:ext cx="4067453" cy="5081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Very strong evidence against H</a:t>
            </a:r>
            <a:r>
              <a:rPr kumimoji="1" lang="en-US"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48813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3.5 – The </a:t>
            </a:r>
            <a:r>
              <a:rPr kumimoji="0" lang="en-NZ" sz="4500" b="1" i="0" u="none" strike="noStrike" kern="1200" cap="none" spc="0" normalizeH="0" baseline="0" noProof="0" dirty="0" err="1">
                <a:ln>
                  <a:noFill/>
                </a:ln>
                <a:solidFill>
                  <a:srgbClr val="FFC000"/>
                </a:solidFill>
                <a:effectLst/>
                <a:uLnTx/>
                <a:uFillTx/>
                <a:latin typeface="Calibri" panose="020F0502020204030204"/>
                <a:ea typeface="+mn-ea"/>
                <a:cs typeface="+mn-cs"/>
              </a:rPr>
              <a:t>lmPerm</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 Package</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458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F2B5B-518C-316D-C09C-89FC32621B2A}"/>
              </a:ext>
            </a:extLst>
          </p:cNvPr>
          <p:cNvPicPr>
            <a:picLocks noChangeAspect="1"/>
          </p:cNvPicPr>
          <p:nvPr/>
        </p:nvPicPr>
        <p:blipFill>
          <a:blip r:embed="rId2"/>
          <a:stretch>
            <a:fillRect/>
          </a:stretch>
        </p:blipFill>
        <p:spPr>
          <a:xfrm>
            <a:off x="6660468" y="4876263"/>
            <a:ext cx="3664760" cy="1833388"/>
          </a:xfrm>
          <a:prstGeom prst="rect">
            <a:avLst/>
          </a:prstGeom>
        </p:spPr>
      </p:pic>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AE50A56B-56FB-8A3A-01BC-F58E719FAEEE}"/>
                  </a:ext>
                </a:extLst>
              </p:cNvPr>
              <p:cNvSpPr txBox="1">
                <a:spLocks/>
              </p:cNvSpPr>
              <p:nvPr/>
            </p:nvSpPr>
            <p:spPr>
              <a:xfrm>
                <a:off x="8170116" y="5891616"/>
                <a:ext cx="80915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AE50A56B-56FB-8A3A-01BC-F58E719FAEEE}"/>
                  </a:ext>
                </a:extLst>
              </p:cNvPr>
              <p:cNvSpPr txBox="1">
                <a:spLocks noRot="1" noChangeAspect="1" noMove="1" noResize="1" noEditPoints="1" noAdjustHandles="1" noChangeArrowheads="1" noChangeShapeType="1" noTextEdit="1"/>
              </p:cNvSpPr>
              <p:nvPr/>
            </p:nvSpPr>
            <p:spPr>
              <a:xfrm>
                <a:off x="8170116" y="5891616"/>
                <a:ext cx="809159" cy="398844"/>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3583496"/>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use the sample data to calculate the observed test statistic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using the formula: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sup>
                                <m:e>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sup>
                                    <m:e>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nary>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sup>
                                <m:e>
                                  <m:nary>
                                    <m:nary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23"/>
                                        </m:r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sup>
                                    <m:e>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nary>
                                </m:e>
                              </m:nary>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𝟏</m:t>
                                  </m:r>
                                </m:e>
                              </m:d>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3583496"/>
                <a:ext cx="11472203" cy="1021587"/>
              </a:xfrm>
              <a:prstGeom prst="rect">
                <a:avLst/>
              </a:prstGeom>
              <a:blipFill>
                <a:blip r:embed="rId4"/>
                <a:stretch>
                  <a:fillRect l="-266" t="-1796" b="-5988"/>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251223" y="2298735"/>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C4A4FEE8-CFD1-4003-AD06-D508D11C4922}"/>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C4A4FEE8-CFD1-4003-AD06-D508D11C4922}"/>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707CDE52-52E3-4005-BDF2-6C34DD97E41D}"/>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707CDE52-52E3-4005-BDF2-6C34DD97E41D}"/>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0B023A64-E0ED-4C3C-9566-D9FAFD2E6133}"/>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1" name="Text Placeholder 5">
                <a:extLst>
                  <a:ext uri="{FF2B5EF4-FFF2-40B4-BE49-F238E27FC236}">
                    <a16:creationId xmlns:a16="http://schemas.microsoft.com/office/drawing/2014/main" id="{0B023A64-E0ED-4C3C-9566-D9FAFD2E6133}"/>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8"/>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6402FBED-F34C-4A15-91A8-0CADC18271CE}"/>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6402FBED-F34C-4A15-91A8-0CADC18271CE}"/>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9"/>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78518" y="4876263"/>
                <a:ext cx="5958508" cy="4488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If</a:t>
                </a:r>
                <a:r>
                  <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conditions are satisfied then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look to see where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lies in the distribution of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k-1 , N-k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78518" y="4876263"/>
                <a:ext cx="5958508" cy="448852"/>
              </a:xfrm>
              <a:prstGeom prst="rect">
                <a:avLst/>
              </a:prstGeom>
              <a:blipFill>
                <a:blip r:embed="rId10"/>
                <a:stretch>
                  <a:fillRect l="-614" t="-2703" b="-486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91F5E52D-05D1-4BA0-9B12-457FB8B51379}"/>
                  </a:ext>
                </a:extLst>
              </p:cNvPr>
              <p:cNvSpPr txBox="1">
                <a:spLocks/>
              </p:cNvSpPr>
              <p:nvPr/>
            </p:nvSpPr>
            <p:spPr>
              <a:xfrm>
                <a:off x="278517" y="5485575"/>
                <a:ext cx="5844778" cy="4071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particular, the p-value of the test is calculated as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d>
                    <m:r>
                      <a:rPr kumimoji="1" lang="en-NZ" altLang="ja-JP" sz="1600" b="1"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8" name="Text Placeholder 5">
                <a:extLst>
                  <a:ext uri="{FF2B5EF4-FFF2-40B4-BE49-F238E27FC236}">
                    <a16:creationId xmlns:a16="http://schemas.microsoft.com/office/drawing/2014/main" id="{91F5E52D-05D1-4BA0-9B12-457FB8B51379}"/>
                  </a:ext>
                </a:extLst>
              </p:cNvPr>
              <p:cNvSpPr txBox="1">
                <a:spLocks noRot="1" noChangeAspect="1" noMove="1" noResize="1" noEditPoints="1" noAdjustHandles="1" noChangeArrowheads="1" noChangeShapeType="1" noTextEdit="1"/>
              </p:cNvSpPr>
              <p:nvPr/>
            </p:nvSpPr>
            <p:spPr>
              <a:xfrm>
                <a:off x="278517" y="5485575"/>
                <a:ext cx="5844778" cy="407199"/>
              </a:xfrm>
              <a:prstGeom prst="rect">
                <a:avLst/>
              </a:prstGeom>
              <a:blipFill>
                <a:blip r:embed="rId11"/>
                <a:stretch>
                  <a:fillRect l="-626" t="-4478" b="-1493"/>
                </a:stretch>
              </a:blipFill>
            </p:spPr>
            <p:txBody>
              <a:bodyPr/>
              <a:lstStyle/>
              <a:p>
                <a:r>
                  <a:rPr lang="en-NZ">
                    <a:noFill/>
                  </a:rPr>
                  <a:t> </a:t>
                </a:r>
              </a:p>
            </p:txBody>
          </p:sp>
        </mc:Fallback>
      </mc:AlternateContent>
      <p:sp>
        <p:nvSpPr>
          <p:cNvPr id="39" name="Text Placeholder 5">
            <a:extLst>
              <a:ext uri="{FF2B5EF4-FFF2-40B4-BE49-F238E27FC236}">
                <a16:creationId xmlns:a16="http://schemas.microsoft.com/office/drawing/2014/main" id="{A70D6EAD-B290-4FD1-B949-1D090DBEB701}"/>
              </a:ext>
            </a:extLst>
          </p:cNvPr>
          <p:cNvSpPr txBox="1">
            <a:spLocks/>
          </p:cNvSpPr>
          <p:nvPr/>
        </p:nvSpPr>
        <p:spPr>
          <a:xfrm>
            <a:off x="251222" y="5836491"/>
            <a:ext cx="5767439" cy="78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greater the value of the observed test statistic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smaller this p-value will be and the more evidence we have against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null hypothesis.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89733653-5326-A3B7-028D-8FB5D3C37F72}"/>
                  </a:ext>
                </a:extLst>
              </p:cNvPr>
              <p:cNvSpPr txBox="1">
                <a:spLocks/>
              </p:cNvSpPr>
              <p:nvPr/>
            </p:nvSpPr>
            <p:spPr>
              <a:xfrm>
                <a:off x="8785579" y="5895228"/>
                <a:ext cx="134463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89733653-5326-A3B7-028D-8FB5D3C37F72}"/>
                  </a:ext>
                </a:extLst>
              </p:cNvPr>
              <p:cNvSpPr txBox="1">
                <a:spLocks noRot="1" noChangeAspect="1" noMove="1" noResize="1" noEditPoints="1" noAdjustHandles="1" noChangeArrowheads="1" noChangeShapeType="1" noTextEdit="1"/>
              </p:cNvSpPr>
              <p:nvPr/>
            </p:nvSpPr>
            <p:spPr>
              <a:xfrm>
                <a:off x="8785579" y="5895228"/>
                <a:ext cx="1344639" cy="398844"/>
              </a:xfrm>
              <a:prstGeom prst="rect">
                <a:avLst/>
              </a:prstGeom>
              <a:blipFill>
                <a:blip r:embed="rId12"/>
                <a:stretch>
                  <a:fillRect/>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AA0882C0-2E92-BBD9-6A8F-2C3516DCEF0A}"/>
              </a:ext>
            </a:extLst>
          </p:cNvPr>
          <p:cNvCxnSpPr>
            <a:cxnSpLocks/>
            <a:stCxn id="33" idx="2"/>
          </p:cNvCxnSpPr>
          <p:nvPr/>
        </p:nvCxnSpPr>
        <p:spPr>
          <a:xfrm flipH="1">
            <a:off x="8573858" y="6290460"/>
            <a:ext cx="838" cy="22986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9893E68C-8CA5-6D37-135C-EC63D2635A6B}"/>
                  </a:ext>
                </a:extLst>
              </p:cNvPr>
              <p:cNvSpPr txBox="1">
                <a:spLocks/>
              </p:cNvSpPr>
              <p:nvPr/>
            </p:nvSpPr>
            <p:spPr>
              <a:xfrm>
                <a:off x="7671553" y="996728"/>
                <a:ext cx="3857767" cy="1621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d>
                      <m:dPr>
                        <m:begChr m:val="["/>
                        <m:endChr m:val="]"/>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3"/>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e>
                              <m:m>
                                <m:mPr>
                                  <m:mcs>
                                    <m:mc>
                                      <m:mcPr>
                                        <m:count m:val="2"/>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m>
                                      <m:mPr>
                                        <m:mcs>
                                          <m:mc>
                                            <m:mcPr>
                                              <m:count m:val="1"/>
                                              <m:mcJc m:val="center"/>
                                            </m:mcPr>
                                          </m:mc>
                                        </m:mcs>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
                            </m:e>
                          </m:mr>
                        </m:m>
                      </m:e>
                    </m:d>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9893E68C-8CA5-6D37-135C-EC63D2635A6B}"/>
                  </a:ext>
                </a:extLst>
              </p:cNvPr>
              <p:cNvSpPr txBox="1">
                <a:spLocks noRot="1" noChangeAspect="1" noMove="1" noResize="1" noEditPoints="1" noAdjustHandles="1" noChangeArrowheads="1" noChangeShapeType="1" noTextEdit="1"/>
              </p:cNvSpPr>
              <p:nvPr/>
            </p:nvSpPr>
            <p:spPr>
              <a:xfrm>
                <a:off x="7671553" y="996728"/>
                <a:ext cx="3857767" cy="1621449"/>
              </a:xfrm>
              <a:prstGeom prst="rect">
                <a:avLst/>
              </a:prstGeom>
              <a:blipFill>
                <a:blip r:embed="rId13"/>
                <a:stretch>
                  <a:fillRect/>
                </a:stretch>
              </a:blipFill>
            </p:spPr>
            <p:txBody>
              <a:bodyPr/>
              <a:lstStyle/>
              <a:p>
                <a:r>
                  <a:rPr lang="en-NZ">
                    <a:noFill/>
                  </a:rPr>
                  <a:t> </a:t>
                </a:r>
              </a:p>
            </p:txBody>
          </p:sp>
        </mc:Fallback>
      </mc:AlternateContent>
      <p:sp>
        <p:nvSpPr>
          <p:cNvPr id="36" name="Title 6">
            <a:extLst>
              <a:ext uri="{FF2B5EF4-FFF2-40B4-BE49-F238E27FC236}">
                <a16:creationId xmlns:a16="http://schemas.microsoft.com/office/drawing/2014/main" id="{9D93DD8A-385B-F933-EDF4-B3432421127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Recap of Last Lecture: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3025E797-93F3-7AC8-5F7B-CB8DD5F1CBE9}"/>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71328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4" grpId="0"/>
      <p:bldP spid="37" grpId="0"/>
      <p:bldP spid="38" grpId="0"/>
      <p:bldP spid="39" grpId="0"/>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we are interested in whether or not the means of these groups are the same.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E1DCB443-F47F-4A0A-A587-CF64CC68E3D1}"/>
              </a:ext>
            </a:extLst>
          </p:cNvPr>
          <p:cNvSpPr txBox="1">
            <a:spLocks/>
          </p:cNvSpPr>
          <p:nvPr/>
        </p:nvSpPr>
        <p:spPr>
          <a:xfrm>
            <a:off x="387193" y="3896538"/>
            <a:ext cx="11417614" cy="14198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ANOVA Conditions </a:t>
            </a: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do not hold </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then although we can still calculate the F-statistic, this will no longer follow an </a:t>
            </a:r>
            <a:r>
              <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20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k-1 , N-k</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distribution.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the p-value produced from ANOVA will be meaningless</a:t>
            </a:r>
            <a:b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We won’t be able to use the p-value to decide between the null and alternative hypothesis.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89674A2D-8E4C-4D1F-8B7B-67F311DA9891}"/>
              </a:ext>
            </a:extLst>
          </p:cNvPr>
          <p:cNvSpPr txBox="1">
            <a:spLocks/>
          </p:cNvSpPr>
          <p:nvPr/>
        </p:nvSpPr>
        <p:spPr>
          <a:xfrm>
            <a:off x="387193" y="5742367"/>
            <a:ext cx="11417614" cy="4768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If </a:t>
            </a:r>
            <a:r>
              <a:rPr lang="en-NZ" altLang="ja-JP" sz="2000" b="1" dirty="0">
                <a:solidFill>
                  <a:srgbClr val="C00000"/>
                </a:solidFill>
              </a:rPr>
              <a:t>the ANOVA conditions are violated we decide </a:t>
            </a: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between H</a:t>
            </a:r>
            <a:r>
              <a:rPr kumimoji="1" lang="en-NZ" altLang="ja-JP" sz="2000" b="1" i="0"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0</a:t>
            </a: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and H</a:t>
            </a:r>
            <a:r>
              <a:rPr kumimoji="1" lang="en-NZ" altLang="ja-JP" sz="2000" b="1" i="0"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1</a:t>
            </a: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using a permutation test</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itle 6">
            <a:extLst>
              <a:ext uri="{FF2B5EF4-FFF2-40B4-BE49-F238E27FC236}">
                <a16:creationId xmlns:a16="http://schemas.microsoft.com/office/drawing/2014/main" id="{F9101DD3-5DA6-E0E7-660A-6BA4193D1720}"/>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Recap of Last Lecture: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886EAA23-02FC-E412-30F7-B863AA528F9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886EAA23-02FC-E412-30F7-B863AA528F9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9C2719F1-8C52-B740-A0EC-B6EDB6D07656}"/>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9C2719F1-8C52-B740-A0EC-B6EDB6D07656}"/>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38FBAD11-DAC7-6500-DA52-4CBB654FEBAF}"/>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7" name="Text Placeholder 5">
                <a:extLst>
                  <a:ext uri="{FF2B5EF4-FFF2-40B4-BE49-F238E27FC236}">
                    <a16:creationId xmlns:a16="http://schemas.microsoft.com/office/drawing/2014/main" id="{38FBAD11-DAC7-6500-DA52-4CBB654FEBAF}"/>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1CE0B6B6-BFEB-2C5E-6443-F40D13D87299}"/>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1CE0B6B6-BFEB-2C5E-6443-F40D13D87299}"/>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5"/>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B85C6DA9-92D4-490E-6B67-0B11A3CF3D7B}"/>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B85C6DA9-92D4-490E-6B67-0B11A3CF3D7B}"/>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6"/>
                <a:stretch>
                  <a:fillRect b="-16667"/>
                </a:stretch>
              </a:blipFill>
            </p:spPr>
            <p:txBody>
              <a:bodyPr/>
              <a:lstStyle/>
              <a:p>
                <a:r>
                  <a:rPr lang="en-NZ">
                    <a:noFill/>
                  </a:rPr>
                  <a:t> </a:t>
                </a:r>
              </a:p>
            </p:txBody>
          </p:sp>
        </mc:Fallback>
      </mc:AlternateContent>
      <p:sp>
        <p:nvSpPr>
          <p:cNvPr id="18" name="Footer Placeholder 2">
            <a:extLst>
              <a:ext uri="{FF2B5EF4-FFF2-40B4-BE49-F238E27FC236}">
                <a16:creationId xmlns:a16="http://schemas.microsoft.com/office/drawing/2014/main" id="{FA778AAB-17EC-4CEE-D086-B088805CA03A}"/>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72464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1339758"/>
            <a:ext cx="11232109"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ended last lecture by doing two examples of permutation tests. In each example:</a:t>
            </a: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6" name="Title 6">
            <a:extLst>
              <a:ext uri="{FF2B5EF4-FFF2-40B4-BE49-F238E27FC236}">
                <a16:creationId xmlns:a16="http://schemas.microsoft.com/office/drawing/2014/main" id="{F9101DD3-5DA6-E0E7-660A-6BA4193D1720}"/>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Recap of Last Lecture: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Footer Placeholder 2">
            <a:extLst>
              <a:ext uri="{FF2B5EF4-FFF2-40B4-BE49-F238E27FC236}">
                <a16:creationId xmlns:a16="http://schemas.microsoft.com/office/drawing/2014/main" id="{FA778AAB-17EC-4CEE-D086-B088805CA03A}"/>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514FD7A7-5EA2-BF3E-C2ED-10CCE906D8B8}"/>
              </a:ext>
            </a:extLst>
          </p:cNvPr>
          <p:cNvSpPr txBox="1">
            <a:spLocks/>
          </p:cNvSpPr>
          <p:nvPr/>
        </p:nvSpPr>
        <p:spPr>
          <a:xfrm>
            <a:off x="251224" y="3303785"/>
            <a:ext cx="3159633"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dirty="0">
                <a:solidFill>
                  <a:prstClr val="black"/>
                </a:solidFill>
                <a:latin typeface="Calibri" panose="020F0502020204030204"/>
                <a:ea typeface="游ゴシック" panose="020B0400000000000000" pitchFamily="34" charset="-128"/>
              </a:rPr>
              <a:t>Two questions to consider:</a:t>
            </a:r>
            <a:endParaRPr kumimoji="1" lang="en-NZ" altLang="ja-JP" sz="20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9F1D0BCB-7296-2230-ED8A-2381B607670B}"/>
                  </a:ext>
                </a:extLst>
              </p:cNvPr>
              <p:cNvSpPr txBox="1">
                <a:spLocks/>
              </p:cNvSpPr>
              <p:nvPr/>
            </p:nvSpPr>
            <p:spPr>
              <a:xfrm>
                <a:off x="479945" y="1733528"/>
                <a:ext cx="11232109" cy="9810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71493" lvl="1" indent="-285750" algn="just">
                  <a:lnSpc>
                    <a:spcPct val="100000"/>
                  </a:lnSpc>
                  <a:spcBef>
                    <a:spcPts val="0"/>
                  </a:spcBef>
                  <a:defRPr/>
                </a:pPr>
                <a:r>
                  <a:rPr lang="en-NZ" altLang="ja-JP" sz="2000" dirty="0">
                    <a:solidFill>
                      <a:schemeClr val="bg2">
                        <a:lumMod val="25000"/>
                      </a:schemeClr>
                    </a:solidFill>
                    <a:latin typeface="Calibri" panose="020F0502020204030204"/>
                    <a:ea typeface="游ゴシック" panose="020B0400000000000000" pitchFamily="34" charset="-128"/>
                  </a:rPr>
                  <a:t>W</a:t>
                </a:r>
                <a:r>
                  <a:rPr kumimoji="1" lang="en-NZ" altLang="ja-JP" sz="2000" b="0" i="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cs typeface="+mn-cs"/>
                  </a:rPr>
                  <a:t>e constructed 1,000 re-ordered samples.</a:t>
                </a:r>
              </a:p>
              <a:p>
                <a:pPr marL="971493" lvl="1" indent="-285750" algn="just">
                  <a:lnSpc>
                    <a:spcPct val="100000"/>
                  </a:lnSpc>
                  <a:spcBef>
                    <a:spcPts val="0"/>
                  </a:spcBef>
                  <a:defRPr/>
                </a:pPr>
                <a:r>
                  <a:rPr kumimoji="1" lang="en-NZ" altLang="ja-JP" sz="2000" b="0" i="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cs typeface="+mn-cs"/>
                  </a:rPr>
                  <a:t>Calculated an F-Statistic for each re-ordered sample.</a:t>
                </a:r>
              </a:p>
              <a:p>
                <a:pPr marL="971493" lvl="1" indent="-285750" algn="just">
                  <a:lnSpc>
                    <a:spcPct val="100000"/>
                  </a:lnSpc>
                  <a:spcBef>
                    <a:spcPts val="0"/>
                  </a:spcBef>
                  <a:defRPr/>
                </a:pPr>
                <a:r>
                  <a:rPr lang="en-NZ" altLang="ja-JP" sz="2000" dirty="0">
                    <a:solidFill>
                      <a:schemeClr val="bg2">
                        <a:lumMod val="25000"/>
                      </a:schemeClr>
                    </a:solidFill>
                    <a:latin typeface="Calibri" panose="020F0502020204030204"/>
                    <a:ea typeface="游ゴシック" panose="020B0400000000000000" pitchFamily="34" charset="-128"/>
                  </a:rPr>
                  <a:t>Determined where </a:t>
                </a:r>
                <a14:m>
                  <m:oMath xmlns:m="http://schemas.openxmlformats.org/officeDocument/2006/math">
                    <m:sSub>
                      <m:sSubPr>
                        <m:ctrlPr>
                          <a:rPr lang="en-NZ" altLang="ja-JP" sz="2000" b="1" i="1" smtClean="0">
                            <a:solidFill>
                              <a:schemeClr val="bg2">
                                <a:lumMod val="25000"/>
                              </a:schemeClr>
                            </a:solidFill>
                            <a:latin typeface="Cambria Math" panose="02040503050406030204" pitchFamily="18" charset="0"/>
                            <a:ea typeface="游ゴシック" panose="020B0400000000000000" pitchFamily="34" charset="-128"/>
                          </a:rPr>
                        </m:ctrlPr>
                      </m:sSubPr>
                      <m:e>
                        <m:r>
                          <a:rPr lang="en-NZ" altLang="ja-JP" sz="2000" b="1" i="1" smtClean="0">
                            <a:solidFill>
                              <a:schemeClr val="bg2">
                                <a:lumMod val="25000"/>
                              </a:schemeClr>
                            </a:solidFill>
                            <a:latin typeface="Cambria Math" panose="02040503050406030204" pitchFamily="18" charset="0"/>
                            <a:ea typeface="游ゴシック" panose="020B0400000000000000" pitchFamily="34" charset="-128"/>
                          </a:rPr>
                          <m:t>𝑭</m:t>
                        </m:r>
                      </m:e>
                      <m:sub>
                        <m:r>
                          <a:rPr lang="en-NZ" altLang="ja-JP" sz="2000" b="1" i="1" smtClean="0">
                            <a:solidFill>
                              <a:schemeClr val="bg2">
                                <a:lumMod val="25000"/>
                              </a:schemeClr>
                            </a:solidFill>
                            <a:latin typeface="Cambria Math" panose="02040503050406030204" pitchFamily="18" charset="0"/>
                            <a:ea typeface="游ゴシック" panose="020B0400000000000000" pitchFamily="34" charset="-128"/>
                          </a:rPr>
                          <m:t>𝒐𝒃𝒔</m:t>
                        </m:r>
                      </m:sub>
                    </m:sSub>
                  </m:oMath>
                </a14:m>
                <a:r>
                  <a:rPr kumimoji="1" lang="en-NZ" altLang="ja-JP" sz="2000" b="0" i="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cs typeface="+mn-cs"/>
                  </a:rPr>
                  <a:t> (the F-statistic from our initial sample) fell within this distribution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9F1D0BCB-7296-2230-ED8A-2381B607670B}"/>
                  </a:ext>
                </a:extLst>
              </p:cNvPr>
              <p:cNvSpPr txBox="1">
                <a:spLocks noRot="1" noChangeAspect="1" noMove="1" noResize="1" noEditPoints="1" noAdjustHandles="1" noChangeArrowheads="1" noChangeShapeType="1" noTextEdit="1"/>
              </p:cNvSpPr>
              <p:nvPr/>
            </p:nvSpPr>
            <p:spPr>
              <a:xfrm>
                <a:off x="479945" y="1733528"/>
                <a:ext cx="11232109" cy="981009"/>
              </a:xfrm>
              <a:prstGeom prst="rect">
                <a:avLst/>
              </a:prstGeom>
              <a:blipFill>
                <a:blip r:embed="rId2"/>
                <a:stretch>
                  <a:fillRect t="-3106" b="-13665"/>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FD6FB4F4-98F0-83B1-2F89-501F91A1A264}"/>
              </a:ext>
            </a:extLst>
          </p:cNvPr>
          <p:cNvSpPr txBox="1">
            <a:spLocks/>
          </p:cNvSpPr>
          <p:nvPr/>
        </p:nvSpPr>
        <p:spPr>
          <a:xfrm>
            <a:off x="479945" y="3739990"/>
            <a:ext cx="11232109" cy="9810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028643" lvl="1" indent="-342900" algn="just">
              <a:lnSpc>
                <a:spcPct val="100000"/>
              </a:lnSpc>
              <a:spcBef>
                <a:spcPts val="0"/>
              </a:spcBef>
              <a:buFont typeface="+mj-lt"/>
              <a:buAutoNum type="arabicPeriod"/>
              <a:defRPr/>
            </a:pPr>
            <a:r>
              <a:rPr lang="en-NZ" altLang="ja-JP" sz="2000" dirty="0">
                <a:solidFill>
                  <a:schemeClr val="bg2">
                    <a:lumMod val="25000"/>
                  </a:schemeClr>
                </a:solidFill>
                <a:latin typeface="Calibri" panose="020F0502020204030204"/>
                <a:ea typeface="游ゴシック" panose="020B0400000000000000" pitchFamily="34" charset="-128"/>
              </a:rPr>
              <a:t>It was a bit of a mission writing the code to do a permutation test. Is there a faster way?</a:t>
            </a:r>
          </a:p>
          <a:p>
            <a:pPr marL="1028643" lvl="1" indent="-342900">
              <a:lnSpc>
                <a:spcPct val="100000"/>
              </a:lnSpc>
              <a:spcBef>
                <a:spcPts val="0"/>
              </a:spcBef>
              <a:buFont typeface="+mj-lt"/>
              <a:buAutoNum type="arabicPeriod"/>
              <a:defRPr/>
            </a:pPr>
            <a:r>
              <a:rPr lang="en-NZ" altLang="ja-JP" sz="2000" dirty="0">
                <a:solidFill>
                  <a:schemeClr val="bg2">
                    <a:lumMod val="25000"/>
                  </a:schemeClr>
                </a:solidFill>
                <a:latin typeface="Calibri" panose="020F0502020204030204"/>
                <a:ea typeface="游ゴシック" panose="020B0400000000000000" pitchFamily="34" charset="-128"/>
              </a:rPr>
              <a:t>Given that there are typically many millions of re-ordered samples that could be formed, </a:t>
            </a:r>
            <a:br>
              <a:rPr lang="en-NZ" altLang="ja-JP" sz="2000" dirty="0">
                <a:solidFill>
                  <a:schemeClr val="bg2">
                    <a:lumMod val="25000"/>
                  </a:schemeClr>
                </a:solidFill>
                <a:latin typeface="Calibri" panose="020F0502020204030204"/>
                <a:ea typeface="游ゴシック" panose="020B0400000000000000" pitchFamily="34" charset="-128"/>
              </a:rPr>
            </a:br>
            <a:r>
              <a:rPr lang="en-NZ" altLang="ja-JP" sz="2000" dirty="0">
                <a:solidFill>
                  <a:schemeClr val="bg2">
                    <a:lumMod val="25000"/>
                  </a:schemeClr>
                </a:solidFill>
                <a:latin typeface="Calibri" panose="020F0502020204030204"/>
                <a:ea typeface="游ゴシック" panose="020B0400000000000000" pitchFamily="34" charset="-128"/>
              </a:rPr>
              <a:t>w</a:t>
            </a:r>
            <a:r>
              <a:rPr kumimoji="1" lang="en-NZ" altLang="ja-JP" sz="2000" b="0" i="0"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cs typeface="+mn-cs"/>
              </a:rPr>
              <a:t>as 1,000 re-ordered samples enough? </a:t>
            </a:r>
          </a:p>
          <a:p>
            <a:pPr marL="342900" marR="0" lvl="0" indent="-342900" algn="just" defTabSz="914324" rtl="0" eaLnBrk="1" fontAlgn="auto" latinLnBrk="0" hangingPunct="1">
              <a:lnSpc>
                <a:spcPct val="100000"/>
              </a:lnSpc>
              <a:spcBef>
                <a:spcPts val="0"/>
              </a:spcBef>
              <a:spcAft>
                <a:spcPts val="0"/>
              </a:spcAft>
              <a:buClrTx/>
              <a:buSzTx/>
              <a:buFont typeface="+mj-lt"/>
              <a:buAutoNum type="arabicPeriod"/>
              <a:tabLst/>
              <a:defRPr/>
            </a:pPr>
            <a:endParaRPr kumimoji="1" lang="en-NZ" altLang="ja-JP" sz="2000" b="0" i="1" u="none" strike="noStrike" kern="1200" cap="none" spc="0" normalizeH="0" baseline="0" noProof="0" dirty="0">
              <a:ln>
                <a:noFill/>
              </a:ln>
              <a:solidFill>
                <a:schemeClr val="bg2">
                  <a:lumMod val="25000"/>
                </a:schemeClr>
              </a:solidFill>
              <a:effectLst/>
              <a:uLnTx/>
              <a:uFillTx/>
              <a:latin typeface="Calibri" panose="020F0502020204030204"/>
              <a:ea typeface="游ゴシック" panose="020B0400000000000000" pitchFamily="34" charset="-128"/>
              <a:cs typeface="+mn-cs"/>
            </a:endParaRPr>
          </a:p>
        </p:txBody>
      </p:sp>
      <p:sp>
        <p:nvSpPr>
          <p:cNvPr id="24" name="Text Placeholder 5">
            <a:extLst>
              <a:ext uri="{FF2B5EF4-FFF2-40B4-BE49-F238E27FC236}">
                <a16:creationId xmlns:a16="http://schemas.microsoft.com/office/drawing/2014/main" id="{F221A760-3A79-9B3A-6DC8-56991F4C2DE3}"/>
              </a:ext>
            </a:extLst>
          </p:cNvPr>
          <p:cNvSpPr txBox="1">
            <a:spLocks/>
          </p:cNvSpPr>
          <p:nvPr/>
        </p:nvSpPr>
        <p:spPr>
          <a:xfrm>
            <a:off x="251223" y="5153117"/>
            <a:ext cx="1105540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dirty="0">
                <a:solidFill>
                  <a:srgbClr val="C00000"/>
                </a:solidFill>
                <a:latin typeface="Calibri" panose="020F0502020204030204"/>
                <a:ea typeface="游ゴシック" panose="020B0400000000000000" pitchFamily="34" charset="-128"/>
              </a:rPr>
              <a:t>The </a:t>
            </a:r>
            <a:r>
              <a:rPr lang="en-NZ" altLang="ja-JP" sz="2000" b="1" i="1" dirty="0" err="1">
                <a:solidFill>
                  <a:srgbClr val="C00000"/>
                </a:solidFill>
                <a:latin typeface="Calibri" panose="020F0502020204030204"/>
                <a:ea typeface="游ゴシック" panose="020B0400000000000000" pitchFamily="34" charset="-128"/>
              </a:rPr>
              <a:t>lmPerm</a:t>
            </a:r>
            <a:r>
              <a:rPr lang="en-NZ" altLang="ja-JP" sz="2000" b="1" i="1" dirty="0">
                <a:solidFill>
                  <a:srgbClr val="C00000"/>
                </a:solidFill>
                <a:latin typeface="Calibri" panose="020F0502020204030204"/>
                <a:ea typeface="游ゴシック" panose="020B0400000000000000" pitchFamily="34" charset="-128"/>
              </a:rPr>
              <a:t>() </a:t>
            </a:r>
            <a:r>
              <a:rPr lang="en-NZ" altLang="ja-JP" sz="2000" dirty="0">
                <a:solidFill>
                  <a:srgbClr val="C00000"/>
                </a:solidFill>
                <a:latin typeface="Calibri" panose="020F0502020204030204"/>
                <a:ea typeface="游ゴシック" panose="020B0400000000000000" pitchFamily="34" charset="-128"/>
              </a:rPr>
              <a:t>package provides an easier way to construct permutation tests and automatically determines how many re-ordered samples are required.</a:t>
            </a:r>
            <a:endParaRPr kumimoji="1" lang="en-NZ" altLang="ja-JP" sz="20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50132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2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477672" y="1182588"/>
            <a:ext cx="11133757" cy="11469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US" altLang="ja-JP" sz="22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US" altLang="ja-JP" sz="22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package provides permutation tests for linear models.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can be used for all manner of ANOVA / ANCOVA designs as well as simple, polynomial and multiple regressions.</a:t>
            </a:r>
            <a:endParaRPr kumimoji="1" lang="en-US" altLang="ja-JP" sz="2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3.5a – The </a:t>
            </a:r>
            <a:r>
              <a:rPr kumimoji="1" lang="en-US" altLang="ja-JP" sz="3600" b="1" i="0" u="sng" strike="noStrike" kern="1200" cap="none" spc="0" normalizeH="0" baseline="0" noProof="0" dirty="0" err="1">
                <a:ln>
                  <a:noFill/>
                </a:ln>
                <a:solidFill>
                  <a:prstClr val="black"/>
                </a:solidFill>
                <a:effectLst/>
                <a:uLnTx/>
                <a:uFillTx/>
                <a:latin typeface="Calibri" panose="020F0502020204030204"/>
                <a:ea typeface="游ゴシック Light" panose="020B0300000000000000" pitchFamily="34" charset="-128"/>
                <a:cs typeface="+mj-cs"/>
              </a:rPr>
              <a:t>lmPerm</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Package: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3F84F902-8C76-45BC-BEF1-F5BD8E34BEB9}"/>
              </a:ext>
            </a:extLst>
          </p:cNvPr>
          <p:cNvSpPr txBox="1">
            <a:spLocks/>
          </p:cNvSpPr>
          <p:nvPr/>
        </p:nvSpPr>
        <p:spPr>
          <a:xfrm>
            <a:off x="477671" y="2395901"/>
            <a:ext cx="11611693" cy="813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US" altLang="ja-JP" sz="2200" dirty="0">
                <a:solidFill>
                  <a:prstClr val="black"/>
                </a:solidFill>
                <a:latin typeface="Calibri" panose="020F0502020204030204"/>
                <a:ea typeface="游ゴシック" panose="020B0400000000000000" pitchFamily="34" charset="-128"/>
              </a:rPr>
              <a:t>From our perspective t</a:t>
            </a: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he </a:t>
            </a:r>
            <a:r>
              <a:rPr kumimoji="1" lang="en-US" altLang="ja-JP" sz="22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US" altLang="ja-JP" sz="22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package is useful because it can quickly and easily carry out ANOVA and permutation tests simultaneously. </a:t>
            </a:r>
            <a:endParaRPr kumimoji="1" lang="en-US" altLang="ja-JP" sz="2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CD849A43-3C66-401F-A49A-46E56E336E85}"/>
              </a:ext>
            </a:extLst>
          </p:cNvPr>
          <p:cNvSpPr txBox="1">
            <a:spLocks/>
          </p:cNvSpPr>
          <p:nvPr/>
        </p:nvSpPr>
        <p:spPr>
          <a:xfrm>
            <a:off x="477672" y="4260262"/>
            <a:ext cx="11449456" cy="813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US" altLang="ja-JP" sz="2200" dirty="0">
                <a:solidFill>
                  <a:prstClr val="black"/>
                </a:solidFill>
                <a:latin typeface="Calibri" panose="020F0502020204030204"/>
                <a:ea typeface="游ゴシック" panose="020B0400000000000000" pitchFamily="34" charset="-128"/>
              </a:rPr>
              <a:t>In order to use it, </a:t>
            </a:r>
            <a:r>
              <a:rPr kumimoji="1" lang="en-US" altLang="ja-JP" sz="22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you will need to install it on your computer using the command </a:t>
            </a:r>
            <a:r>
              <a:rPr kumimoji="1" lang="en-US" altLang="ja-JP" sz="22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install.packages</a:t>
            </a:r>
            <a:r>
              <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22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2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AB2756B5-14C0-48DA-A45A-35B2935116C5}"/>
              </a:ext>
            </a:extLst>
          </p:cNvPr>
          <p:cNvSpPr txBox="1">
            <a:spLocks/>
          </p:cNvSpPr>
          <p:nvPr/>
        </p:nvSpPr>
        <p:spPr>
          <a:xfrm>
            <a:off x="477672" y="5330452"/>
            <a:ext cx="11449456" cy="813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US" altLang="ja-JP" sz="2200" dirty="0">
                <a:solidFill>
                  <a:prstClr val="black"/>
                </a:solidFill>
                <a:latin typeface="Calibri" panose="020F0502020204030204"/>
                <a:ea typeface="游ゴシック" panose="020B0400000000000000" pitchFamily="34" charset="-128"/>
              </a:rPr>
              <a:t>You don’t need to re-install the package every time you run some code which uses the package, </a:t>
            </a:r>
            <a:br>
              <a:rPr lang="en-US" altLang="ja-JP" sz="2200" dirty="0">
                <a:solidFill>
                  <a:prstClr val="black"/>
                </a:solidFill>
                <a:latin typeface="Calibri" panose="020F0502020204030204"/>
                <a:ea typeface="游ゴシック" panose="020B0400000000000000" pitchFamily="34" charset="-128"/>
              </a:rPr>
            </a:br>
            <a:r>
              <a:rPr lang="en-US" altLang="ja-JP" sz="2200" dirty="0">
                <a:solidFill>
                  <a:prstClr val="black"/>
                </a:solidFill>
                <a:latin typeface="Calibri" panose="020F0502020204030204"/>
                <a:ea typeface="游ゴシック" panose="020B0400000000000000" pitchFamily="34" charset="-128"/>
              </a:rPr>
              <a:t>but for each new session of R you will need to run the command </a:t>
            </a:r>
            <a:r>
              <a:rPr lang="en-US" altLang="ja-JP" sz="2200" b="1" i="1" dirty="0">
                <a:solidFill>
                  <a:prstClr val="black"/>
                </a:solidFill>
                <a:latin typeface="Calibri" panose="020F0502020204030204"/>
                <a:ea typeface="游ゴシック" panose="020B0400000000000000" pitchFamily="34" charset="-128"/>
              </a:rPr>
              <a:t>library(</a:t>
            </a:r>
            <a:r>
              <a:rPr lang="en-US" altLang="ja-JP" sz="2200" b="1" i="1" dirty="0" err="1">
                <a:solidFill>
                  <a:prstClr val="black"/>
                </a:solidFill>
                <a:latin typeface="Calibri" panose="020F0502020204030204"/>
                <a:ea typeface="游ゴシック" panose="020B0400000000000000" pitchFamily="34" charset="-128"/>
              </a:rPr>
              <a:t>lmPerm</a:t>
            </a:r>
            <a:r>
              <a:rPr lang="en-US" altLang="ja-JP" sz="2200" b="1" i="1" dirty="0">
                <a:solidFill>
                  <a:prstClr val="black"/>
                </a:solidFill>
                <a:latin typeface="Calibri" panose="020F0502020204030204"/>
                <a:ea typeface="游ゴシック" panose="020B0400000000000000" pitchFamily="34" charset="-128"/>
              </a:rPr>
              <a:t>).</a:t>
            </a:r>
            <a:endPar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2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3CCBC5CE-2E5E-A459-0961-CE643BD178AD}"/>
              </a:ext>
            </a:extLst>
          </p:cNvPr>
          <p:cNvSpPr txBox="1">
            <a:spLocks/>
          </p:cNvSpPr>
          <p:nvPr/>
        </p:nvSpPr>
        <p:spPr>
          <a:xfrm>
            <a:off x="477670" y="3305580"/>
            <a:ext cx="11264387" cy="813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r>
              <a:rPr lang="en-US" altLang="ja-JP" sz="2200" dirty="0">
                <a:solidFill>
                  <a:prstClr val="black"/>
                </a:solidFill>
                <a:latin typeface="Calibri" panose="020F0502020204030204"/>
                <a:ea typeface="游ゴシック" panose="020B0400000000000000" pitchFamily="34" charset="-128"/>
              </a:rPr>
              <a:t>Furthermore, rather than constructing an arbitrary number of reordered samples </a:t>
            </a:r>
            <a:r>
              <a:rPr lang="en-US" altLang="ja-JP" sz="2200" b="1" i="1" dirty="0">
                <a:solidFill>
                  <a:prstClr val="black"/>
                </a:solidFill>
                <a:latin typeface="Calibri" panose="020F0502020204030204"/>
                <a:ea typeface="游ゴシック" panose="020B0400000000000000" pitchFamily="34" charset="-128"/>
              </a:rPr>
              <a:t>L</a:t>
            </a:r>
            <a:r>
              <a:rPr lang="en-US" altLang="ja-JP" sz="2200" dirty="0">
                <a:solidFill>
                  <a:prstClr val="black"/>
                </a:solidFill>
                <a:latin typeface="Calibri" panose="020F0502020204030204"/>
                <a:ea typeface="游ゴシック" panose="020B0400000000000000" pitchFamily="34" charset="-128"/>
              </a:rPr>
              <a:t> (≈ 1,000) it also continues to form such samples until a specified stopping criteria is met.</a:t>
            </a:r>
            <a:endParaRPr kumimoji="1" lang="en-US" altLang="ja-JP" sz="2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50621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P spid="27"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522225" y="1626015"/>
            <a:ext cx="11449456"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There are two main commands in</a:t>
            </a:r>
            <a:r>
              <a:rPr kumimoji="1" lang="en-US"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the </a:t>
            </a:r>
            <a:r>
              <a:rPr kumimoji="1" lang="en-US" altLang="ja-JP" sz="1800" b="1" i="0"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US"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package that you will need to master; </a:t>
            </a:r>
            <a:r>
              <a:rPr kumimoji="1" lang="en-US" altLang="ja-JP" sz="1800" b="1" i="1"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cs typeface="+mn-cs"/>
              </a:rPr>
              <a:t>lmp</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US" altLang="ja-JP" sz="1800" b="1" i="1"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cs typeface="+mn-cs"/>
              </a:rPr>
              <a:t>aovp</a:t>
            </a:r>
            <a:r>
              <a:rPr kumimoji="1" lang="en-US" altLang="ja-JP" sz="18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800" b="0" baseline="0" dirty="0">
                <a:solidFill>
                  <a:prstClr val="black"/>
                </a:solidFill>
                <a:latin typeface="Calibri" panose="020F0502020204030204"/>
                <a:ea typeface="游ゴシック" panose="020B0400000000000000" pitchFamily="34" charset="-128"/>
              </a:rPr>
              <a:t>These essentially replace the </a:t>
            </a:r>
            <a:r>
              <a:rPr lang="en-US" altLang="ja-JP" sz="1800" b="1" i="1" baseline="0" dirty="0" err="1">
                <a:solidFill>
                  <a:prstClr val="black"/>
                </a:solidFill>
                <a:latin typeface="Calibri" panose="020F0502020204030204"/>
                <a:ea typeface="游ゴシック" panose="020B0400000000000000" pitchFamily="34" charset="-128"/>
              </a:rPr>
              <a:t>lm</a:t>
            </a:r>
            <a:r>
              <a:rPr lang="en-US" altLang="ja-JP" sz="1800" b="1" i="1" baseline="0" dirty="0">
                <a:solidFill>
                  <a:prstClr val="black"/>
                </a:solidFill>
                <a:latin typeface="Calibri" panose="020F0502020204030204"/>
                <a:ea typeface="游ゴシック" panose="020B0400000000000000" pitchFamily="34" charset="-128"/>
              </a:rPr>
              <a:t>() </a:t>
            </a:r>
            <a:r>
              <a:rPr lang="en-US" altLang="ja-JP" sz="1800" b="0" baseline="0" dirty="0">
                <a:solidFill>
                  <a:prstClr val="black"/>
                </a:solidFill>
                <a:latin typeface="Calibri" panose="020F0502020204030204"/>
                <a:ea typeface="游ゴシック" panose="020B0400000000000000" pitchFamily="34" charset="-128"/>
              </a:rPr>
              <a:t>and </a:t>
            </a:r>
            <a:r>
              <a:rPr lang="en-US" altLang="ja-JP" sz="1800" b="1" i="1" baseline="0" dirty="0" err="1">
                <a:solidFill>
                  <a:prstClr val="black"/>
                </a:solidFill>
                <a:latin typeface="Calibri" panose="020F0502020204030204"/>
                <a:ea typeface="游ゴシック" panose="020B0400000000000000" pitchFamily="34" charset="-128"/>
              </a:rPr>
              <a:t>aov</a:t>
            </a:r>
            <a:r>
              <a:rPr lang="en-US" altLang="ja-JP" sz="1800" b="1" i="1" baseline="0" dirty="0">
                <a:solidFill>
                  <a:prstClr val="black"/>
                </a:solidFill>
                <a:latin typeface="Calibri" panose="020F0502020204030204"/>
                <a:ea typeface="游ゴシック" panose="020B0400000000000000" pitchFamily="34" charset="-128"/>
              </a:rPr>
              <a:t>() </a:t>
            </a:r>
            <a:r>
              <a:rPr lang="en-US" altLang="ja-JP" sz="1800" b="0" baseline="0" dirty="0">
                <a:solidFill>
                  <a:prstClr val="black"/>
                </a:solidFill>
                <a:latin typeface="Calibri" panose="020F0502020204030204"/>
                <a:ea typeface="游ゴシック" panose="020B0400000000000000" pitchFamily="34" charset="-128"/>
              </a:rPr>
              <a:t>commands we have been using up to now.</a:t>
            </a:r>
            <a:endParaRPr kumimoji="1" lang="en-US"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3.5a – </a:t>
            </a:r>
            <a:r>
              <a:rPr kumimoji="1" lang="en-US" altLang="ja-JP" sz="3600" b="1" i="0" u="sng" strike="noStrike" kern="1200" cap="none" spc="0" normalizeH="0" baseline="0" noProof="0" dirty="0" err="1">
                <a:ln>
                  <a:noFill/>
                </a:ln>
                <a:solidFill>
                  <a:prstClr val="black"/>
                </a:solidFill>
                <a:effectLst/>
                <a:uLnTx/>
                <a:uFillTx/>
                <a:latin typeface="Calibri" panose="020F0502020204030204"/>
                <a:ea typeface="游ゴシック Light" panose="020B0300000000000000" pitchFamily="34" charset="-128"/>
                <a:cs typeface="+mj-cs"/>
              </a:rPr>
              <a:t>lmPerm</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Basic Syntax:</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4499D912-E1AE-481E-B9F3-32B23A5E8D4A}"/>
              </a:ext>
            </a:extLst>
          </p:cNvPr>
          <p:cNvSpPr txBox="1">
            <a:spLocks/>
          </p:cNvSpPr>
          <p:nvPr/>
        </p:nvSpPr>
        <p:spPr>
          <a:xfrm>
            <a:off x="470416" y="2582517"/>
            <a:ext cx="11449456" cy="4812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basic syntax for both of these commands is shown below…</a:t>
            </a:r>
            <a:endParaRPr kumimoji="1" lang="en-US"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pic>
        <p:nvPicPr>
          <p:cNvPr id="3" name="Picture 2">
            <a:extLst>
              <a:ext uri="{FF2B5EF4-FFF2-40B4-BE49-F238E27FC236}">
                <a16:creationId xmlns:a16="http://schemas.microsoft.com/office/drawing/2014/main" id="{3CB58B76-71A0-4937-8061-A63986BC90B4}"/>
              </a:ext>
            </a:extLst>
          </p:cNvPr>
          <p:cNvPicPr>
            <a:picLocks noChangeAspect="1"/>
          </p:cNvPicPr>
          <p:nvPr/>
        </p:nvPicPr>
        <p:blipFill>
          <a:blip r:embed="rId3"/>
          <a:stretch>
            <a:fillRect/>
          </a:stretch>
        </p:blipFill>
        <p:spPr>
          <a:xfrm>
            <a:off x="2765785" y="3042715"/>
            <a:ext cx="6962337" cy="604482"/>
          </a:xfrm>
          <a:prstGeom prst="rect">
            <a:avLst/>
          </a:prstGeom>
        </p:spPr>
      </p:pic>
      <p:sp>
        <p:nvSpPr>
          <p:cNvPr id="13" name="Text Placeholder 5">
            <a:extLst>
              <a:ext uri="{FF2B5EF4-FFF2-40B4-BE49-F238E27FC236}">
                <a16:creationId xmlns:a16="http://schemas.microsoft.com/office/drawing/2014/main" id="{04B319E7-C7E0-440F-A09C-53C84DD48389}"/>
              </a:ext>
            </a:extLst>
          </p:cNvPr>
          <p:cNvSpPr txBox="1">
            <a:spLocks/>
          </p:cNvSpPr>
          <p:nvPr/>
        </p:nvSpPr>
        <p:spPr>
          <a:xfrm>
            <a:off x="500217" y="4266659"/>
            <a:ext cx="1488170" cy="4812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800" dirty="0">
                <a:solidFill>
                  <a:prstClr val="black"/>
                </a:solidFill>
                <a:latin typeface="Calibri" panose="020F0502020204030204"/>
                <a:ea typeface="游ゴシック" panose="020B0400000000000000" pitchFamily="34" charset="-128"/>
              </a:rPr>
              <a:t>w</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here…</a:t>
            </a:r>
            <a:endParaRPr kumimoji="1" lang="en-US"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194E1BA2-B74E-4A47-93E3-800ED0D30800}"/>
                  </a:ext>
                </a:extLst>
              </p:cNvPr>
              <p:cNvSpPr txBox="1">
                <a:spLocks/>
              </p:cNvSpPr>
              <p:nvPr/>
            </p:nvSpPr>
            <p:spPr>
              <a:xfrm>
                <a:off x="903816" y="4685388"/>
                <a:ext cx="9813009" cy="10770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800" b="1" i="1" dirty="0">
                    <a:solidFill>
                      <a:prstClr val="black"/>
                    </a:solidFill>
                    <a:latin typeface="Calibri" panose="020F0502020204030204"/>
                    <a:ea typeface="游ゴシック" panose="020B0400000000000000" pitchFamily="34" charset="-128"/>
                  </a:rPr>
                  <a:t>formula</a:t>
                </a:r>
                <a:r>
                  <a:rPr lang="en-US" altLang="ja-JP" sz="1800" dirty="0">
                    <a:solidFill>
                      <a:prstClr val="black"/>
                    </a:solidFill>
                    <a:latin typeface="Calibri" panose="020F0502020204030204"/>
                    <a:ea typeface="游ゴシック" panose="020B0400000000000000" pitchFamily="34" charset="-128"/>
                  </a:rPr>
                  <a:t> specifies the model to fit e.g. </a:t>
                </a:r>
                <a14:m>
                  <m:oMath xmlns:m="http://schemas.openxmlformats.org/officeDocument/2006/math">
                    <m:r>
                      <a:rPr lang="en-NZ" altLang="ja-JP" sz="1800" b="0" i="1" smtClean="0">
                        <a:solidFill>
                          <a:prstClr val="black"/>
                        </a:solidFill>
                        <a:latin typeface="Cambria Math" panose="02040503050406030204" pitchFamily="18" charset="0"/>
                        <a:ea typeface="游ゴシック" panose="020B0400000000000000" pitchFamily="34" charset="-128"/>
                      </a:rPr>
                      <m:t>𝑇𝑖𝑚𝑒</m:t>
                    </m:r>
                    <m:r>
                      <a:rPr lang="en-NZ" altLang="ja-JP" sz="1800" b="0" i="1" smtClean="0">
                        <a:solidFill>
                          <a:prstClr val="black"/>
                        </a:solidFill>
                        <a:latin typeface="Cambria Math" panose="02040503050406030204" pitchFamily="18" charset="0"/>
                        <a:ea typeface="游ゴシック" panose="020B0400000000000000" pitchFamily="34" charset="-128"/>
                      </a:rPr>
                      <m:t> ~ </m:t>
                    </m:r>
                    <m:r>
                      <a:rPr lang="en-NZ" altLang="ja-JP" sz="1800" b="0" i="1" smtClean="0">
                        <a:solidFill>
                          <a:prstClr val="black"/>
                        </a:solidFill>
                        <a:latin typeface="Cambria Math" panose="02040503050406030204" pitchFamily="18" charset="0"/>
                        <a:ea typeface="游ゴシック" panose="020B0400000000000000" pitchFamily="34" charset="-128"/>
                      </a:rPr>
                      <m:t>𝐺𝑟𝑜𝑢𝑝</m:t>
                    </m:r>
                  </m:oMath>
                </a14:m>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800" b="1" i="1" dirty="0">
                    <a:solidFill>
                      <a:prstClr val="black"/>
                    </a:solidFill>
                    <a:latin typeface="Calibri" panose="020F0502020204030204"/>
                    <a:ea typeface="游ゴシック" panose="020B0400000000000000" pitchFamily="34" charset="-128"/>
                  </a:rPr>
                  <a:t>data</a:t>
                </a:r>
                <a:r>
                  <a:rPr lang="en-US" altLang="ja-JP" sz="1800" dirty="0">
                    <a:solidFill>
                      <a:prstClr val="black"/>
                    </a:solidFill>
                    <a:latin typeface="Calibri" panose="020F0502020204030204"/>
                    <a:ea typeface="游ゴシック" panose="020B0400000000000000" pitchFamily="34" charset="-128"/>
                  </a:rPr>
                  <a:t> specifies the data set to use</a:t>
                </a:r>
              </a:p>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800" b="1" i="1" dirty="0">
                    <a:solidFill>
                      <a:prstClr val="black"/>
                    </a:solidFill>
                    <a:latin typeface="Calibri" panose="020F0502020204030204"/>
                    <a:ea typeface="游ゴシック" panose="020B0400000000000000" pitchFamily="34" charset="-128"/>
                  </a:rPr>
                  <a:t>p</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erm </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specifies the method of permutation testing to use (either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Exact, Prob </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or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SPR</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194E1BA2-B74E-4A47-93E3-800ED0D30800}"/>
                  </a:ext>
                </a:extLst>
              </p:cNvPr>
              <p:cNvSpPr txBox="1">
                <a:spLocks noRot="1" noChangeAspect="1" noMove="1" noResize="1" noEditPoints="1" noAdjustHandles="1" noChangeArrowheads="1" noChangeShapeType="1" noTextEdit="1"/>
              </p:cNvSpPr>
              <p:nvPr/>
            </p:nvSpPr>
            <p:spPr>
              <a:xfrm>
                <a:off x="903816" y="4685388"/>
                <a:ext cx="9813009" cy="1077034"/>
              </a:xfrm>
              <a:prstGeom prst="rect">
                <a:avLst/>
              </a:prstGeom>
              <a:blipFill>
                <a:blip r:embed="rId4"/>
                <a:stretch>
                  <a:fillRect l="-373" t="-3409"/>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31A38688-4580-1728-85E7-51CAA826A1DA}"/>
              </a:ext>
            </a:extLst>
          </p:cNvPr>
          <p:cNvSpPr txBox="1">
            <a:spLocks/>
          </p:cNvSpPr>
          <p:nvPr/>
        </p:nvSpPr>
        <p:spPr>
          <a:xfrm>
            <a:off x="1586328" y="3647198"/>
            <a:ext cx="2817349" cy="3993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b="1" dirty="0">
                <a:solidFill>
                  <a:srgbClr val="C00000"/>
                </a:solidFill>
                <a:latin typeface="Calibri" panose="020F0502020204030204"/>
                <a:ea typeface="游ゴシック" panose="020B0400000000000000" pitchFamily="34" charset="-128"/>
              </a:rPr>
              <a:t>or </a:t>
            </a:r>
            <a:r>
              <a:rPr lang="en-NZ" altLang="ja-JP" sz="1600" b="1" dirty="0" err="1">
                <a:solidFill>
                  <a:srgbClr val="C00000"/>
                </a:solidFill>
                <a:latin typeface="Calibri" panose="020F0502020204030204"/>
                <a:ea typeface="游ゴシック" panose="020B0400000000000000" pitchFamily="34" charset="-128"/>
              </a:rPr>
              <a:t>aovp</a:t>
            </a:r>
            <a:r>
              <a:rPr lang="en-NZ" altLang="ja-JP" sz="1600" b="1" dirty="0">
                <a:solidFill>
                  <a:srgbClr val="C00000"/>
                </a:solidFill>
                <a:latin typeface="Calibri" panose="020F0502020204030204"/>
                <a:ea typeface="游ゴシック" panose="020B0400000000000000" pitchFamily="34" charset="-128"/>
              </a:rPr>
              <a:t>()</a:t>
            </a:r>
            <a:endParaRPr kumimoji="1" lang="ja-JP" altLang="en-NZ"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cxnSp>
        <p:nvCxnSpPr>
          <p:cNvPr id="5" name="Straight Arrow Connector 4">
            <a:extLst>
              <a:ext uri="{FF2B5EF4-FFF2-40B4-BE49-F238E27FC236}">
                <a16:creationId xmlns:a16="http://schemas.microsoft.com/office/drawing/2014/main" id="{51C5D34F-E763-7E2B-C911-3A4AC496EEDB}"/>
              </a:ext>
            </a:extLst>
          </p:cNvPr>
          <p:cNvCxnSpPr>
            <a:cxnSpLocks/>
          </p:cNvCxnSpPr>
          <p:nvPr/>
        </p:nvCxnSpPr>
        <p:spPr>
          <a:xfrm flipV="1">
            <a:off x="3111690" y="3429000"/>
            <a:ext cx="0" cy="27927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3411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432411" y="1457396"/>
            <a:ext cx="11449456" cy="12263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rabicPeriod"/>
              <a:tabLst/>
              <a:defRPr/>
            </a:pPr>
            <a:r>
              <a:rPr lang="en-US" altLang="ja-JP" sz="1800" b="1" i="1" dirty="0">
                <a:solidFill>
                  <a:prstClr val="black"/>
                </a:solidFill>
                <a:latin typeface="Calibri" panose="020F0502020204030204"/>
                <a:ea typeface="游ゴシック" panose="020B0400000000000000" pitchFamily="34" charset="-128"/>
              </a:rPr>
              <a:t>Perm = Exact:</a:t>
            </a:r>
            <a:br>
              <a:rPr lang="en-US" altLang="ja-JP" sz="1800" b="1" i="1" dirty="0">
                <a:solidFill>
                  <a:prstClr val="black"/>
                </a:solidFill>
                <a:latin typeface="Calibri" panose="020F0502020204030204"/>
                <a:ea typeface="游ゴシック" panose="020B0400000000000000" pitchFamily="34" charset="-128"/>
              </a:rPr>
            </a:br>
            <a:r>
              <a:rPr lang="en-US" altLang="ja-JP" sz="1800" dirty="0">
                <a:solidFill>
                  <a:prstClr val="black"/>
                </a:solidFill>
                <a:latin typeface="Calibri" panose="020F0502020204030204"/>
                <a:ea typeface="游ゴシック" panose="020B0400000000000000" pitchFamily="34" charset="-128"/>
              </a:rPr>
              <a:t>This constructs all possible permutations of the data that can be constructed by switching the response variable between groups. This will lead to an exact p-value.</a:t>
            </a:r>
            <a:br>
              <a:rPr lang="en-US" altLang="ja-JP" sz="1800" dirty="0">
                <a:solidFill>
                  <a:prstClr val="black"/>
                </a:solidFill>
                <a:latin typeface="Calibri" panose="020F0502020204030204"/>
                <a:ea typeface="游ゴシック" panose="020B0400000000000000" pitchFamily="34" charset="-128"/>
              </a:rPr>
            </a:br>
            <a:r>
              <a:rPr lang="en-US" altLang="ja-JP" sz="1800" dirty="0">
                <a:solidFill>
                  <a:prstClr val="black"/>
                </a:solidFill>
                <a:latin typeface="Calibri" panose="020F0502020204030204"/>
                <a:ea typeface="游ゴシック" panose="020B0400000000000000" pitchFamily="34" charset="-128"/>
              </a:rPr>
              <a:t>However, if the number of observations </a:t>
            </a:r>
            <a:r>
              <a:rPr lang="en-US" altLang="ja-JP" sz="1800" b="1" i="1" dirty="0">
                <a:solidFill>
                  <a:prstClr val="black"/>
                </a:solidFill>
                <a:latin typeface="Calibri" panose="020F0502020204030204"/>
                <a:ea typeface="游ゴシック" panose="020B0400000000000000" pitchFamily="34" charset="-128"/>
              </a:rPr>
              <a:t>N &gt; 10</a:t>
            </a:r>
            <a:r>
              <a:rPr lang="en-US" altLang="ja-JP" sz="1800" dirty="0">
                <a:solidFill>
                  <a:prstClr val="black"/>
                </a:solidFill>
                <a:latin typeface="Calibri" panose="020F0502020204030204"/>
                <a:ea typeface="游ゴシック" panose="020B0400000000000000" pitchFamily="34" charset="-128"/>
              </a:rPr>
              <a:t> then R will automatically default to the perm – “</a:t>
            </a:r>
            <a:r>
              <a:rPr lang="en-US" altLang="ja-JP" sz="1800" b="1" i="1" dirty="0">
                <a:solidFill>
                  <a:prstClr val="black"/>
                </a:solidFill>
                <a:latin typeface="Calibri" panose="020F0502020204030204"/>
                <a:ea typeface="游ゴシック" panose="020B0400000000000000" pitchFamily="34" charset="-128"/>
              </a:rPr>
              <a:t>Prob” </a:t>
            </a:r>
            <a:r>
              <a:rPr lang="en-US" altLang="ja-JP" sz="1800" dirty="0">
                <a:solidFill>
                  <a:prstClr val="black"/>
                </a:solidFill>
                <a:latin typeface="Calibri" panose="020F0502020204030204"/>
                <a:ea typeface="游ゴシック" panose="020B0400000000000000" pitchFamily="34" charset="-128"/>
              </a:rPr>
              <a:t>setting below.</a:t>
            </a:r>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3.5a – </a:t>
            </a:r>
            <a:r>
              <a:rPr kumimoji="1" lang="en-US" altLang="ja-JP" sz="3600" b="1" i="0" u="sng" strike="noStrike" kern="1200" cap="none" spc="0" normalizeH="0" baseline="0" noProof="0" dirty="0" err="1">
                <a:ln>
                  <a:noFill/>
                </a:ln>
                <a:solidFill>
                  <a:prstClr val="black"/>
                </a:solidFill>
                <a:effectLst/>
                <a:uLnTx/>
                <a:uFillTx/>
                <a:latin typeface="Calibri" panose="020F0502020204030204"/>
                <a:ea typeface="游ゴシック Light" panose="020B0300000000000000" pitchFamily="34" charset="-128"/>
                <a:cs typeface="+mj-cs"/>
              </a:rPr>
              <a:t>lmPerm</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Method Options: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70CEF5BB-37DB-44BB-B176-AD34B095667A}"/>
                  </a:ext>
                </a:extLst>
              </p:cNvPr>
              <p:cNvSpPr txBox="1">
                <a:spLocks/>
              </p:cNvSpPr>
              <p:nvPr/>
            </p:nvSpPr>
            <p:spPr>
              <a:xfrm>
                <a:off x="432411" y="2908464"/>
                <a:ext cx="11449456" cy="10854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rabicPeriod" startAt="2"/>
                  <a:tabLst/>
                  <a:defRPr/>
                </a:pPr>
                <a:r>
                  <a:rPr lang="en-US" altLang="ja-JP" sz="1800" b="1" i="1" dirty="0">
                    <a:solidFill>
                      <a:prstClr val="black"/>
                    </a:solidFill>
                    <a:latin typeface="Calibri" panose="020F0502020204030204"/>
                    <a:ea typeface="游ゴシック" panose="020B0400000000000000" pitchFamily="34" charset="-128"/>
                  </a:rPr>
                  <a:t>Perm = Prob:</a:t>
                </a:r>
                <a:br>
                  <a:rPr lang="en-US" altLang="ja-JP" sz="1800" b="1" i="1" dirty="0">
                    <a:solidFill>
                      <a:prstClr val="black"/>
                    </a:solidFill>
                    <a:latin typeface="Calibri" panose="020F0502020204030204"/>
                    <a:ea typeface="游ゴシック" panose="020B0400000000000000" pitchFamily="34" charset="-128"/>
                  </a:rPr>
                </a:br>
                <a:r>
                  <a:rPr lang="en-US" altLang="ja-JP" sz="1800" dirty="0">
                    <a:solidFill>
                      <a:prstClr val="black"/>
                    </a:solidFill>
                    <a:latin typeface="Calibri" panose="020F0502020204030204"/>
                    <a:ea typeface="游ゴシック" panose="020B0400000000000000" pitchFamily="34" charset="-128"/>
                  </a:rPr>
                  <a:t>This constructs a subset of reordered samples obtained by randomly exchanging pairs of the response variable between groups. This gives an estimate </a:t>
                </a:r>
                <a14:m>
                  <m:oMath xmlns:m="http://schemas.openxmlformats.org/officeDocument/2006/math">
                    <m:acc>
                      <m:accPr>
                        <m:chr m:val="̂"/>
                        <m:ctrlPr>
                          <a:rPr lang="en-US" altLang="ja-JP" sz="1800" b="1" i="1" smtClean="0">
                            <a:solidFill>
                              <a:prstClr val="black"/>
                            </a:solidFill>
                            <a:latin typeface="Cambria Math" panose="02040503050406030204" pitchFamily="18" charset="0"/>
                            <a:ea typeface="游ゴシック" panose="020B0400000000000000" pitchFamily="34" charset="-128"/>
                          </a:rPr>
                        </m:ctrlPr>
                      </m:accPr>
                      <m:e>
                        <m:r>
                          <a:rPr lang="en-NZ" altLang="ja-JP" sz="1800" b="1" i="1" smtClean="0">
                            <a:solidFill>
                              <a:prstClr val="black"/>
                            </a:solidFill>
                            <a:latin typeface="Cambria Math" panose="02040503050406030204" pitchFamily="18" charset="0"/>
                            <a:ea typeface="游ゴシック" panose="020B0400000000000000" pitchFamily="34" charset="-128"/>
                          </a:rPr>
                          <m:t>𝒑</m:t>
                        </m:r>
                        <m:r>
                          <a:rPr lang="en-NZ" altLang="ja-JP" sz="1800" b="1" i="1" smtClean="0">
                            <a:solidFill>
                              <a:prstClr val="black"/>
                            </a:solidFill>
                            <a:latin typeface="Cambria Math" panose="02040503050406030204" pitchFamily="18" charset="0"/>
                            <a:ea typeface="游ゴシック" panose="020B0400000000000000" pitchFamily="34" charset="-128"/>
                          </a:rPr>
                          <m:t>−</m:t>
                        </m:r>
                        <m:r>
                          <a:rPr lang="en-NZ" altLang="ja-JP" sz="1800" b="1" i="1" smtClean="0">
                            <a:solidFill>
                              <a:prstClr val="black"/>
                            </a:solidFill>
                            <a:latin typeface="Cambria Math" panose="02040503050406030204" pitchFamily="18" charset="0"/>
                            <a:ea typeface="游ゴシック" panose="020B0400000000000000" pitchFamily="34" charset="-128"/>
                          </a:rPr>
                          <m:t>𝒗𝒂𝒍𝒖𝒆</m:t>
                        </m:r>
                      </m:e>
                    </m:acc>
                  </m:oMath>
                </a14:m>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of the true p-value under consideration.</a:t>
                </a:r>
              </a:p>
            </p:txBody>
          </p:sp>
        </mc:Choice>
        <mc:Fallback xmlns="">
          <p:sp>
            <p:nvSpPr>
              <p:cNvPr id="11" name="Text Placeholder 5">
                <a:extLst>
                  <a:ext uri="{FF2B5EF4-FFF2-40B4-BE49-F238E27FC236}">
                    <a16:creationId xmlns:a16="http://schemas.microsoft.com/office/drawing/2014/main" id="{70CEF5BB-37DB-44BB-B176-AD34B095667A}"/>
                  </a:ext>
                </a:extLst>
              </p:cNvPr>
              <p:cNvSpPr txBox="1">
                <a:spLocks noRot="1" noChangeAspect="1" noMove="1" noResize="1" noEditPoints="1" noAdjustHandles="1" noChangeArrowheads="1" noChangeShapeType="1" noTextEdit="1"/>
              </p:cNvSpPr>
              <p:nvPr/>
            </p:nvSpPr>
            <p:spPr>
              <a:xfrm>
                <a:off x="432411" y="2908464"/>
                <a:ext cx="11449456" cy="1085485"/>
              </a:xfrm>
              <a:prstGeom prst="rect">
                <a:avLst/>
              </a:prstGeom>
              <a:blipFill>
                <a:blip r:embed="rId3"/>
                <a:stretch>
                  <a:fillRect l="-479" t="-280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FD792C64-B2FD-476F-92E4-42F3212D5B37}"/>
                  </a:ext>
                </a:extLst>
              </p:cNvPr>
              <p:cNvSpPr txBox="1">
                <a:spLocks/>
              </p:cNvSpPr>
              <p:nvPr/>
            </p:nvSpPr>
            <p:spPr>
              <a:xfrm>
                <a:off x="784468" y="3902158"/>
                <a:ext cx="11304897" cy="8802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R continues to form re-ordered samples until the following stopping rule (based on Anscombe’s criterion*) is met</a:t>
                </a:r>
              </a:p>
              <a:p>
                <a:pPr lvl="0" algn="ctr">
                  <a:lnSpc>
                    <a:spcPct val="100000"/>
                  </a:lnSpc>
                  <a:defRPr/>
                </a:pP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𝒔</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𝒆</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acc>
                          <m:acc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𝒑</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𝒗𝒂𝒍𝒖𝒆</m:t>
                            </m:r>
                          </m:e>
                        </m:acc>
                      </m:e>
                    </m:d>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&lt;  </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𝐶</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d>
                      <m:dPr>
                        <m:ctrlPr>
                          <a:rPr lang="en-NZ" altLang="ja-JP" sz="1800" i="1">
                            <a:solidFill>
                              <a:prstClr val="black"/>
                            </a:solidFill>
                            <a:latin typeface="Cambria Math" panose="02040503050406030204" pitchFamily="18" charset="0"/>
                          </a:rPr>
                        </m:ctrlPr>
                      </m:dPr>
                      <m:e>
                        <m:acc>
                          <m:accPr>
                            <m:chr m:val="̂"/>
                            <m:ctrlPr>
                              <a:rPr lang="en-NZ" altLang="ja-JP" sz="1800" b="1" i="1">
                                <a:solidFill>
                                  <a:prstClr val="black"/>
                                </a:solidFill>
                                <a:latin typeface="Cambria Math" panose="02040503050406030204" pitchFamily="18" charset="0"/>
                              </a:rPr>
                            </m:ctrlPr>
                          </m:accPr>
                          <m:e>
                            <m:r>
                              <a:rPr lang="en-NZ" altLang="ja-JP" sz="1800" b="1" i="1">
                                <a:solidFill>
                                  <a:prstClr val="black"/>
                                </a:solidFill>
                                <a:latin typeface="Cambria Math" panose="02040503050406030204" pitchFamily="18" charset="0"/>
                              </a:rPr>
                              <m:t>𝒑</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𝒗𝒂𝒍𝒖𝒆</m:t>
                            </m:r>
                          </m:e>
                        </m:acc>
                      </m:e>
                    </m:d>
                  </m:oMath>
                </a14:m>
                <a:r>
                  <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for some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𝑪</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oMath>
                </a14:m>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lang="en-US" altLang="ja-JP" sz="1800" dirty="0">
                    <a:solidFill>
                      <a:prstClr val="black"/>
                    </a:solidFill>
                    <a:latin typeface="Calibri" panose="020F0502020204030204"/>
                    <a:ea typeface="游ゴシック" panose="020B0400000000000000" pitchFamily="34" charset="-128"/>
                  </a:rPr>
                  <a:t>In R the default is </a:t>
                </a:r>
                <a:r>
                  <a:rPr lang="en-US" altLang="ja-JP" sz="1800" b="1" dirty="0">
                    <a:solidFill>
                      <a:prstClr val="black"/>
                    </a:solidFill>
                    <a:latin typeface="Calibri" panose="020F0502020204030204"/>
                    <a:ea typeface="游ゴシック" panose="020B0400000000000000" pitchFamily="34" charset="-128"/>
                  </a:rPr>
                  <a:t>C = 0.1.</a:t>
                </a:r>
                <a:endParaRPr kumimoji="1" lang="en-US" altLang="ja-JP" sz="18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FD792C64-B2FD-476F-92E4-42F3212D5B37}"/>
                  </a:ext>
                </a:extLst>
              </p:cNvPr>
              <p:cNvSpPr txBox="1">
                <a:spLocks noRot="1" noChangeAspect="1" noMove="1" noResize="1" noEditPoints="1" noAdjustHandles="1" noChangeArrowheads="1" noChangeShapeType="1" noTextEdit="1"/>
              </p:cNvSpPr>
              <p:nvPr/>
            </p:nvSpPr>
            <p:spPr>
              <a:xfrm>
                <a:off x="784468" y="3902158"/>
                <a:ext cx="11304897" cy="880282"/>
              </a:xfrm>
              <a:prstGeom prst="rect">
                <a:avLst/>
              </a:prstGeom>
              <a:blipFill>
                <a:blip r:embed="rId4"/>
                <a:stretch>
                  <a:fillRect l="-485" t="-3448" b="-18621"/>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AB407603-7788-450B-BB43-BDD3341B7A2C}"/>
              </a:ext>
            </a:extLst>
          </p:cNvPr>
          <p:cNvSpPr txBox="1">
            <a:spLocks/>
          </p:cNvSpPr>
          <p:nvPr/>
        </p:nvSpPr>
        <p:spPr>
          <a:xfrm>
            <a:off x="1807633" y="6450291"/>
            <a:ext cx="6680259" cy="3863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200" dirty="0">
                <a:solidFill>
                  <a:schemeClr val="bg2">
                    <a:lumMod val="50000"/>
                  </a:schemeClr>
                </a:solidFill>
                <a:latin typeface="Calibri" panose="020F0502020204030204"/>
                <a:ea typeface="游ゴシック" panose="020B0400000000000000" pitchFamily="34" charset="-128"/>
              </a:rPr>
              <a:t>* F.J. Anscombe. 1953. Sequential estimation. Journal of the Royal Statistical Society B, 15:1-29)</a:t>
            </a:r>
            <a:endParaRPr kumimoji="1" lang="en-US" altLang="ja-JP" sz="1200" b="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p:sp>
        <p:nvSpPr>
          <p:cNvPr id="16" name="Text Placeholder 5">
            <a:extLst>
              <a:ext uri="{FF2B5EF4-FFF2-40B4-BE49-F238E27FC236}">
                <a16:creationId xmlns:a16="http://schemas.microsoft.com/office/drawing/2014/main" id="{9D2E3FA3-4761-4D38-8DD2-6BDA5067B461}"/>
              </a:ext>
            </a:extLst>
          </p:cNvPr>
          <p:cNvSpPr txBox="1">
            <a:spLocks/>
          </p:cNvSpPr>
          <p:nvPr/>
        </p:nvSpPr>
        <p:spPr>
          <a:xfrm>
            <a:off x="432411" y="5268194"/>
            <a:ext cx="11595816" cy="5205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rabicPeriod" startAt="3"/>
              <a:tabLst/>
              <a:defRPr/>
            </a:pPr>
            <a:r>
              <a:rPr lang="en-US" altLang="ja-JP" sz="1800" b="1" i="1" dirty="0">
                <a:solidFill>
                  <a:prstClr val="black"/>
                </a:solidFill>
                <a:latin typeface="Calibri" panose="020F0502020204030204"/>
                <a:ea typeface="游ゴシック" panose="020B0400000000000000" pitchFamily="34" charset="-128"/>
              </a:rPr>
              <a:t>Perm = SPR:</a:t>
            </a:r>
            <a:r>
              <a:rPr lang="en-NZ" altLang="ja-JP" sz="1800" b="1" i="1" dirty="0">
                <a:solidFill>
                  <a:prstClr val="black"/>
                </a:solidFill>
                <a:latin typeface="Calibri" panose="020F0502020204030204"/>
                <a:ea typeface="游ゴシック" panose="020B0400000000000000" pitchFamily="34" charset="-128"/>
              </a:rPr>
              <a:t> </a:t>
            </a:r>
            <a:br>
              <a:rPr lang="en-NZ" altLang="ja-JP" sz="1800" b="1" i="1" dirty="0">
                <a:solidFill>
                  <a:prstClr val="black"/>
                </a:solidFill>
                <a:latin typeface="Calibri" panose="020F0502020204030204"/>
                <a:ea typeface="游ゴシック" panose="020B0400000000000000" pitchFamily="34" charset="-128"/>
              </a:rPr>
            </a:br>
            <a:r>
              <a:rPr lang="en-NZ" altLang="ja-JP" sz="1800" dirty="0">
                <a:solidFill>
                  <a:prstClr val="black"/>
                </a:solidFill>
                <a:latin typeface="Calibri" panose="020F0502020204030204"/>
                <a:ea typeface="游ゴシック" panose="020B0400000000000000" pitchFamily="34" charset="-128"/>
              </a:rPr>
              <a:t>Constructs</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a random subset of re-ordered samples with the stopping rule being based on a sequential probability test.</a:t>
            </a:r>
            <a:endParaRPr kumimoji="1" lang="en-US"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18" name="Text Placeholder 5">
            <a:extLst>
              <a:ext uri="{FF2B5EF4-FFF2-40B4-BE49-F238E27FC236}">
                <a16:creationId xmlns:a16="http://schemas.microsoft.com/office/drawing/2014/main" id="{F3900C13-2730-4FD3-9B95-8EB7B4897D1A}"/>
              </a:ext>
            </a:extLst>
          </p:cNvPr>
          <p:cNvSpPr txBox="1">
            <a:spLocks/>
          </p:cNvSpPr>
          <p:nvPr/>
        </p:nvSpPr>
        <p:spPr>
          <a:xfrm>
            <a:off x="1122527" y="919282"/>
            <a:ext cx="99469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ctr" defTabSz="914324" rtl="0" eaLnBrk="1" fontAlgn="auto" latinLnBrk="0" hangingPunct="1">
              <a:lnSpc>
                <a:spcPct val="100000"/>
              </a:lnSpc>
              <a:spcBef>
                <a:spcPts val="0"/>
              </a:spcBef>
              <a:spcAft>
                <a:spcPts val="0"/>
              </a:spcAft>
              <a:buClrTx/>
              <a:buSzTx/>
              <a:tabLst/>
              <a:defRPr/>
            </a:pPr>
            <a:r>
              <a:rPr lang="en-NZ" altLang="ja-JP" sz="1600" dirty="0">
                <a:solidFill>
                  <a:prstClr val="black"/>
                </a:solidFill>
                <a:latin typeface="Calibri" panose="020F0502020204030204"/>
                <a:ea typeface="游ゴシック" panose="020B0400000000000000" pitchFamily="34" charset="-128"/>
              </a:rPr>
              <a:t>The perm=“Method” argument essentially determines when R should stop creating re-ordered samples.</a:t>
            </a:r>
            <a:endParaRPr kumimoji="1" lang="en-US"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19" name="Text Placeholder 5">
            <a:extLst>
              <a:ext uri="{FF2B5EF4-FFF2-40B4-BE49-F238E27FC236}">
                <a16:creationId xmlns:a16="http://schemas.microsoft.com/office/drawing/2014/main" id="{4496E50C-2B93-4B02-A644-A3C30F63145C}"/>
              </a:ext>
            </a:extLst>
          </p:cNvPr>
          <p:cNvSpPr txBox="1">
            <a:spLocks/>
          </p:cNvSpPr>
          <p:nvPr/>
        </p:nvSpPr>
        <p:spPr>
          <a:xfrm>
            <a:off x="1183666" y="5927925"/>
            <a:ext cx="9946945" cy="4105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ctr" defTabSz="914324" rtl="0" eaLnBrk="1" fontAlgn="auto" latinLnBrk="0" hangingPunct="1">
              <a:lnSpc>
                <a:spcPct val="100000"/>
              </a:lnSpc>
              <a:spcBef>
                <a:spcPts val="0"/>
              </a:spcBef>
              <a:spcAft>
                <a:spcPts val="0"/>
              </a:spcAft>
              <a:buClrTx/>
              <a:buSzTx/>
              <a:tabLst/>
              <a:defRPr/>
            </a:pPr>
            <a:r>
              <a:rPr lang="en-NZ" altLang="ja-JP" sz="1600" dirty="0">
                <a:solidFill>
                  <a:srgbClr val="C00000"/>
                </a:solidFill>
                <a:latin typeface="Calibri" panose="020F0502020204030204"/>
                <a:ea typeface="游ゴシック" panose="020B0400000000000000" pitchFamily="34" charset="-128"/>
              </a:rPr>
              <a:t>In Stat 293 we will use only the </a:t>
            </a:r>
            <a:r>
              <a:rPr lang="en-NZ" altLang="ja-JP" sz="1600" b="1" i="1" dirty="0">
                <a:solidFill>
                  <a:srgbClr val="C00000"/>
                </a:solidFill>
                <a:latin typeface="Calibri" panose="020F0502020204030204"/>
                <a:ea typeface="游ゴシック" panose="020B0400000000000000" pitchFamily="34" charset="-128"/>
              </a:rPr>
              <a:t>Exact</a:t>
            </a:r>
            <a:r>
              <a:rPr lang="en-NZ" altLang="ja-JP" sz="1600" dirty="0">
                <a:solidFill>
                  <a:srgbClr val="C00000"/>
                </a:solidFill>
                <a:latin typeface="Calibri" panose="020F0502020204030204"/>
                <a:ea typeface="游ゴシック" panose="020B0400000000000000" pitchFamily="34" charset="-128"/>
              </a:rPr>
              <a:t> and </a:t>
            </a:r>
            <a:r>
              <a:rPr lang="en-NZ" altLang="ja-JP" sz="1600" b="1" i="1" dirty="0">
                <a:solidFill>
                  <a:srgbClr val="C00000"/>
                </a:solidFill>
                <a:latin typeface="Calibri" panose="020F0502020204030204"/>
                <a:ea typeface="游ゴシック" panose="020B0400000000000000" pitchFamily="34" charset="-128"/>
              </a:rPr>
              <a:t>Prob</a:t>
            </a:r>
            <a:r>
              <a:rPr lang="en-NZ" altLang="ja-JP" sz="1600" dirty="0">
                <a:solidFill>
                  <a:srgbClr val="C00000"/>
                </a:solidFill>
                <a:latin typeface="Calibri" panose="020F0502020204030204"/>
                <a:ea typeface="游ゴシック" panose="020B0400000000000000" pitchFamily="34" charset="-128"/>
              </a:rPr>
              <a:t> options.</a:t>
            </a:r>
            <a:endParaRPr kumimoji="1" lang="en-US" altLang="ja-JP" sz="1600" b="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239444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P spid="16"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445758" y="1190482"/>
            <a:ext cx="114494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Contrast Settings in R determine how model coefficients should be interpreted. </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Unfortunately, the commands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use different default contrast settings.</a:t>
            </a:r>
          </a:p>
        </p:txBody>
      </p:sp>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3.5a – </a:t>
            </a:r>
            <a:r>
              <a:rPr kumimoji="1" lang="en-US" altLang="ja-JP" sz="3600" b="1" i="0" u="sng" strike="noStrike" kern="1200" cap="none" spc="0" normalizeH="0" baseline="0" noProof="0" dirty="0" err="1">
                <a:ln>
                  <a:noFill/>
                </a:ln>
                <a:solidFill>
                  <a:prstClr val="black"/>
                </a:solidFill>
                <a:effectLst/>
                <a:uLnTx/>
                <a:uFillTx/>
                <a:latin typeface="Calibri" panose="020F0502020204030204"/>
                <a:ea typeface="游ゴシック Light" panose="020B0300000000000000" pitchFamily="34" charset="-128"/>
                <a:cs typeface="+mj-cs"/>
              </a:rPr>
              <a:t>lmPerm</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Contrast Settings: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3.5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3733AC69-3DC0-4E5B-971E-DCDA8B11C1CA}"/>
              </a:ext>
            </a:extLst>
          </p:cNvPr>
          <p:cNvSpPr txBox="1">
            <a:spLocks/>
          </p:cNvSpPr>
          <p:nvPr/>
        </p:nvSpPr>
        <p:spPr>
          <a:xfrm>
            <a:off x="478491" y="3245347"/>
            <a:ext cx="114494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However, as indicated in the previous chapter, the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command uses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treatment contrast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settings whereby model coefficients are specified relative to a reference level (i.e. the group that is first numerically or alphabetically).</a:t>
            </a:r>
          </a:p>
        </p:txBody>
      </p:sp>
      <p:sp>
        <p:nvSpPr>
          <p:cNvPr id="20" name="Text Placeholder 5">
            <a:extLst>
              <a:ext uri="{FF2B5EF4-FFF2-40B4-BE49-F238E27FC236}">
                <a16:creationId xmlns:a16="http://schemas.microsoft.com/office/drawing/2014/main" id="{9FF640FA-B7FC-492E-9801-6E3AAC0CE913}"/>
              </a:ext>
            </a:extLst>
          </p:cNvPr>
          <p:cNvSpPr txBox="1">
            <a:spLocks/>
          </p:cNvSpPr>
          <p:nvPr/>
        </p:nvSpPr>
        <p:spPr>
          <a:xfrm>
            <a:off x="445758" y="2081072"/>
            <a:ext cx="114494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command uses </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sum contrast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settings whereby model coefficients are specified relative to the estimate of the overall mean.</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0561132-17C2-4631-897E-34A634919612}"/>
                  </a:ext>
                </a:extLst>
              </p:cNvPr>
              <p:cNvGraphicFramePr>
                <a:graphicFrameLocks noGrp="1"/>
              </p:cNvGraphicFramePr>
              <p:nvPr>
                <p:extLst>
                  <p:ext uri="{D42A27DB-BD31-4B8C-83A1-F6EECF244321}">
                    <p14:modId xmlns:p14="http://schemas.microsoft.com/office/powerpoint/2010/main" val="988619227"/>
                  </p:ext>
                </p:extLst>
              </p:nvPr>
            </p:nvGraphicFramePr>
            <p:xfrm>
              <a:off x="5609160" y="4527479"/>
              <a:ext cx="5582003" cy="1637735"/>
            </p:xfrm>
            <a:graphic>
              <a:graphicData uri="http://schemas.openxmlformats.org/drawingml/2006/table">
                <a:tbl>
                  <a:tblPr/>
                  <a:tblGrid>
                    <a:gridCol w="1790175">
                      <a:extLst>
                        <a:ext uri="{9D8B030D-6E8A-4147-A177-3AD203B41FA5}">
                          <a16:colId xmlns:a16="http://schemas.microsoft.com/office/drawing/2014/main" val="1296561804"/>
                        </a:ext>
                      </a:extLst>
                    </a:gridCol>
                    <a:gridCol w="1895914">
                      <a:extLst>
                        <a:ext uri="{9D8B030D-6E8A-4147-A177-3AD203B41FA5}">
                          <a16:colId xmlns:a16="http://schemas.microsoft.com/office/drawing/2014/main" val="3616094179"/>
                        </a:ext>
                      </a:extLst>
                    </a:gridCol>
                    <a:gridCol w="1895914">
                      <a:extLst>
                        <a:ext uri="{9D8B030D-6E8A-4147-A177-3AD203B41FA5}">
                          <a16:colId xmlns:a16="http://schemas.microsoft.com/office/drawing/2014/main" val="2622746532"/>
                        </a:ext>
                      </a:extLst>
                    </a:gridCol>
                  </a:tblGrid>
                  <a:tr h="655094">
                    <a:tc>
                      <a:txBody>
                        <a:bodyPr/>
                        <a:lstStyle/>
                        <a:p>
                          <a:pPr algn="ctr" fontAlgn="ctr"/>
                          <a:r>
                            <a:rPr lang="en-NZ" sz="1800" b="1" i="0" u="none" strike="noStrike" dirty="0">
                              <a:solidFill>
                                <a:srgbClr val="FFFFFF"/>
                              </a:solidFill>
                              <a:effectLst/>
                              <a:latin typeface="Calibri" panose="020F0502020204030204" pitchFamily="34" charset="0"/>
                            </a:rPr>
                            <a:t>Coefficient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Sum Contrast</a:t>
                          </a:r>
                          <a:br>
                            <a:rPr lang="en-NZ" sz="1800" b="1" i="0" u="none" strike="noStrike" dirty="0">
                              <a:solidFill>
                                <a:srgbClr val="FFFFFF"/>
                              </a:solidFill>
                              <a:effectLst/>
                              <a:latin typeface="Calibri" panose="020F0502020204030204" pitchFamily="34" charset="0"/>
                            </a:rPr>
                          </a:br>
                          <a:r>
                            <a:rPr lang="en-NZ" sz="1800" b="1" i="0" u="none" strike="noStrike" dirty="0" err="1">
                              <a:solidFill>
                                <a:srgbClr val="FFFFFF"/>
                              </a:solidFill>
                              <a:effectLst/>
                              <a:latin typeface="Calibri" panose="020F0502020204030204" pitchFamily="34" charset="0"/>
                            </a:rPr>
                            <a:t>lmp</a:t>
                          </a:r>
                          <a:r>
                            <a:rPr lang="en-NZ" sz="1800" b="1" i="0" u="none" strike="noStrike" dirty="0">
                              <a:solidFill>
                                <a:srgbClr val="FFFFFF"/>
                              </a:solidFill>
                              <a:effectLst/>
                              <a:latin typeface="Calibri" panose="020F050202020403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Treatment Contrast</a:t>
                          </a:r>
                          <a:br>
                            <a:rPr lang="en-NZ" sz="1800" b="1" i="0" u="none" strike="noStrike" dirty="0">
                              <a:solidFill>
                                <a:srgbClr val="FFFFFF"/>
                              </a:solidFill>
                              <a:effectLst/>
                              <a:latin typeface="Calibri" panose="020F0502020204030204" pitchFamily="34" charset="0"/>
                            </a:rPr>
                          </a:br>
                          <a:r>
                            <a:rPr lang="en-NZ" sz="1800" b="1" i="0" u="none" strike="noStrike" dirty="0" err="1">
                              <a:solidFill>
                                <a:srgbClr val="FFFFFF"/>
                              </a:solidFill>
                              <a:effectLst/>
                              <a:latin typeface="Calibri" panose="020F0502020204030204" pitchFamily="34" charset="0"/>
                            </a:rPr>
                            <a:t>lm</a:t>
                          </a:r>
                          <a:r>
                            <a:rPr lang="en-NZ" sz="1800" b="1" i="0" u="none" strike="noStrike" dirty="0">
                              <a:solidFill>
                                <a:srgbClr val="FFFFFF"/>
                              </a:solidFill>
                              <a:effectLst/>
                              <a:latin typeface="Calibri" panose="020F050202020403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272500999"/>
                      </a:ext>
                    </a:extLst>
                  </a:tr>
                  <a:tr h="327547">
                    <a:tc>
                      <a:txBody>
                        <a:bodyPr/>
                        <a:lstStyle/>
                        <a:p>
                          <a:pPr algn="ctr" fontAlgn="ctr"/>
                          <a:r>
                            <a:rPr lang="en-NZ" sz="1800" b="0" i="0" u="none" strike="noStrike" dirty="0">
                              <a:solidFill>
                                <a:srgbClr val="000000"/>
                              </a:solidFill>
                              <a:effectLst/>
                              <a:latin typeface="Calibri" panose="020F0502020204030204" pitchFamily="34" charset="0"/>
                            </a:rPr>
                            <a:t>Output 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 </a:t>
                          </a:r>
                          <a14:m>
                            <m:oMath xmlns:m="http://schemas.openxmlformats.org/officeDocument/2006/math">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oMath>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1</m:t>
                                  </m:r>
                                </m:sub>
                              </m:sSub>
                            </m:oMath>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50814767"/>
                      </a:ext>
                    </a:extLst>
                  </a:tr>
                  <a:tr h="327547">
                    <a:tc>
                      <a:txBody>
                        <a:bodyPr/>
                        <a:lstStyle/>
                        <a:p>
                          <a:pPr algn="ctr" fontAlgn="ctr"/>
                          <a:r>
                            <a:rPr lang="en-NZ" sz="1800" b="0" i="0" u="none" strike="noStrike" dirty="0">
                              <a:solidFill>
                                <a:srgbClr val="000000"/>
                              </a:solidFill>
                              <a:effectLst/>
                              <a:latin typeface="Calibri" panose="020F0502020204030204" pitchFamily="34" charset="0"/>
                            </a:rPr>
                            <a:t>Output 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1</m:t>
                                  </m:r>
                                </m:sub>
                              </m:sSub>
                              <m:r>
                                <a:rPr lang="en-NZ" sz="1800" b="0" i="0" u="none" strike="noStrike" smtClean="0">
                                  <a:solidFill>
                                    <a:srgbClr val="000000"/>
                                  </a:solidFill>
                                  <a:effectLst/>
                                  <a:latin typeface="Cambria Math" panose="02040503050406030204" pitchFamily="18" charset="0"/>
                                </a:rPr>
                                <m:t>−</m:t>
                              </m:r>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oMath>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2</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1</m:t>
                                  </m:r>
                                </m:sub>
                              </m:sSub>
                            </m:oMath>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50258079"/>
                      </a:ext>
                    </a:extLst>
                  </a:tr>
                  <a:tr h="327547">
                    <a:tc>
                      <a:txBody>
                        <a:bodyPr/>
                        <a:lstStyle/>
                        <a:p>
                          <a:pPr algn="ctr" fontAlgn="ctr"/>
                          <a:r>
                            <a:rPr lang="en-NZ" sz="1800" b="0" i="0" u="none" strike="noStrike" dirty="0">
                              <a:solidFill>
                                <a:srgbClr val="000000"/>
                              </a:solidFill>
                              <a:effectLst/>
                              <a:latin typeface="Calibri" panose="020F0502020204030204" pitchFamily="34" charset="0"/>
                            </a:rPr>
                            <a:t>Output 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2</m:t>
                                  </m:r>
                                </m:sub>
                              </m:sSub>
                              <m:r>
                                <a:rPr lang="en-NZ" sz="1800" b="0" i="1" u="none" strike="noStrike" smtClean="0">
                                  <a:solidFill>
                                    <a:srgbClr val="000000"/>
                                  </a:solidFill>
                                  <a:effectLst/>
                                  <a:latin typeface="Cambria Math" panose="02040503050406030204" pitchFamily="18" charset="0"/>
                                </a:rPr>
                                <m:t>−</m:t>
                              </m:r>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oMath>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3</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acc>
                                    <m:accPr>
                                      <m:chr m:val="̂"/>
                                      <m:ctrlPr>
                                        <a:rPr lang="en-NZ" sz="1800" b="0" i="1" u="none" strike="noStrike" smtClean="0">
                                          <a:solidFill>
                                            <a:srgbClr val="000000"/>
                                          </a:solidFill>
                                          <a:effectLst/>
                                          <a:latin typeface="Cambria Math" panose="02040503050406030204" pitchFamily="18" charset="0"/>
                                        </a:rPr>
                                      </m:ctrlPr>
                                    </m:accPr>
                                    <m:e>
                                      <m:r>
                                        <a:rPr lang="en-NZ" sz="1800" b="0" i="1" u="none" strike="noStrike" smtClean="0">
                                          <a:solidFill>
                                            <a:srgbClr val="000000"/>
                                          </a:solidFill>
                                          <a:effectLst/>
                                          <a:latin typeface="Cambria Math" panose="02040503050406030204" pitchFamily="18" charset="0"/>
                                        </a:rPr>
                                        <m:t>𝜇</m:t>
                                      </m:r>
                                    </m:e>
                                  </m:acc>
                                </m:e>
                                <m:sub>
                                  <m:r>
                                    <a:rPr lang="en-NZ" sz="1800" b="0" i="1" u="none" strike="noStrike" smtClean="0">
                                      <a:solidFill>
                                        <a:srgbClr val="000000"/>
                                      </a:solidFill>
                                      <a:effectLst/>
                                      <a:latin typeface="Cambria Math" panose="02040503050406030204" pitchFamily="18" charset="0"/>
                                    </a:rPr>
                                    <m:t>1</m:t>
                                  </m:r>
                                </m:sub>
                              </m:sSub>
                            </m:oMath>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194927"/>
                      </a:ext>
                    </a:extLst>
                  </a:tr>
                </a:tbl>
              </a:graphicData>
            </a:graphic>
          </p:graphicFrame>
        </mc:Choice>
        <mc:Fallback xmlns="">
          <p:graphicFrame>
            <p:nvGraphicFramePr>
              <p:cNvPr id="2" name="Table 1">
                <a:extLst>
                  <a:ext uri="{FF2B5EF4-FFF2-40B4-BE49-F238E27FC236}">
                    <a16:creationId xmlns:a16="http://schemas.microsoft.com/office/drawing/2014/main" id="{50561132-17C2-4631-897E-34A634919612}"/>
                  </a:ext>
                </a:extLst>
              </p:cNvPr>
              <p:cNvGraphicFramePr>
                <a:graphicFrameLocks noGrp="1"/>
              </p:cNvGraphicFramePr>
              <p:nvPr>
                <p:extLst>
                  <p:ext uri="{D42A27DB-BD31-4B8C-83A1-F6EECF244321}">
                    <p14:modId xmlns:p14="http://schemas.microsoft.com/office/powerpoint/2010/main" val="988619227"/>
                  </p:ext>
                </p:extLst>
              </p:nvPr>
            </p:nvGraphicFramePr>
            <p:xfrm>
              <a:off x="5609160" y="4527479"/>
              <a:ext cx="5582003" cy="1637735"/>
            </p:xfrm>
            <a:graphic>
              <a:graphicData uri="http://schemas.openxmlformats.org/drawingml/2006/table">
                <a:tbl>
                  <a:tblPr/>
                  <a:tblGrid>
                    <a:gridCol w="1790175">
                      <a:extLst>
                        <a:ext uri="{9D8B030D-6E8A-4147-A177-3AD203B41FA5}">
                          <a16:colId xmlns:a16="http://schemas.microsoft.com/office/drawing/2014/main" val="1296561804"/>
                        </a:ext>
                      </a:extLst>
                    </a:gridCol>
                    <a:gridCol w="1895914">
                      <a:extLst>
                        <a:ext uri="{9D8B030D-6E8A-4147-A177-3AD203B41FA5}">
                          <a16:colId xmlns:a16="http://schemas.microsoft.com/office/drawing/2014/main" val="3616094179"/>
                        </a:ext>
                      </a:extLst>
                    </a:gridCol>
                    <a:gridCol w="1895914">
                      <a:extLst>
                        <a:ext uri="{9D8B030D-6E8A-4147-A177-3AD203B41FA5}">
                          <a16:colId xmlns:a16="http://schemas.microsoft.com/office/drawing/2014/main" val="2622746532"/>
                        </a:ext>
                      </a:extLst>
                    </a:gridCol>
                  </a:tblGrid>
                  <a:tr h="655094">
                    <a:tc>
                      <a:txBody>
                        <a:bodyPr/>
                        <a:lstStyle/>
                        <a:p>
                          <a:pPr algn="ctr" fontAlgn="ctr"/>
                          <a:r>
                            <a:rPr lang="en-NZ" sz="1800" b="1" i="0" u="none" strike="noStrike" dirty="0">
                              <a:solidFill>
                                <a:srgbClr val="FFFFFF"/>
                              </a:solidFill>
                              <a:effectLst/>
                              <a:latin typeface="Calibri" panose="020F0502020204030204" pitchFamily="34" charset="0"/>
                            </a:rPr>
                            <a:t>Coefficient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Sum Contrast</a:t>
                          </a:r>
                          <a:br>
                            <a:rPr lang="en-NZ" sz="1800" b="1" i="0" u="none" strike="noStrike" dirty="0">
                              <a:solidFill>
                                <a:srgbClr val="FFFFFF"/>
                              </a:solidFill>
                              <a:effectLst/>
                              <a:latin typeface="Calibri" panose="020F0502020204030204" pitchFamily="34" charset="0"/>
                            </a:rPr>
                          </a:br>
                          <a:r>
                            <a:rPr lang="en-NZ" sz="1800" b="1" i="0" u="none" strike="noStrike" dirty="0" err="1">
                              <a:solidFill>
                                <a:srgbClr val="FFFFFF"/>
                              </a:solidFill>
                              <a:effectLst/>
                              <a:latin typeface="Calibri" panose="020F0502020204030204" pitchFamily="34" charset="0"/>
                            </a:rPr>
                            <a:t>lmp</a:t>
                          </a:r>
                          <a:r>
                            <a:rPr lang="en-NZ" sz="1800" b="1" i="0" u="none" strike="noStrike" dirty="0">
                              <a:solidFill>
                                <a:srgbClr val="FFFFFF"/>
                              </a:solidFill>
                              <a:effectLst/>
                              <a:latin typeface="Calibri" panose="020F050202020403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Treatment Contrast</a:t>
                          </a:r>
                          <a:br>
                            <a:rPr lang="en-NZ" sz="1800" b="1" i="0" u="none" strike="noStrike" dirty="0">
                              <a:solidFill>
                                <a:srgbClr val="FFFFFF"/>
                              </a:solidFill>
                              <a:effectLst/>
                              <a:latin typeface="Calibri" panose="020F0502020204030204" pitchFamily="34" charset="0"/>
                            </a:rPr>
                          </a:br>
                          <a:r>
                            <a:rPr lang="en-NZ" sz="1800" b="1" i="0" u="none" strike="noStrike" dirty="0" err="1">
                              <a:solidFill>
                                <a:srgbClr val="FFFFFF"/>
                              </a:solidFill>
                              <a:effectLst/>
                              <a:latin typeface="Calibri" panose="020F0502020204030204" pitchFamily="34" charset="0"/>
                            </a:rPr>
                            <a:t>lm</a:t>
                          </a:r>
                          <a:r>
                            <a:rPr lang="en-NZ" sz="1800" b="1" i="0" u="none" strike="noStrike" dirty="0">
                              <a:solidFill>
                                <a:srgbClr val="FFFFFF"/>
                              </a:solidFill>
                              <a:effectLst/>
                              <a:latin typeface="Calibri" panose="020F050202020403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272500999"/>
                      </a:ext>
                    </a:extLst>
                  </a:tr>
                  <a:tr h="327547">
                    <a:tc>
                      <a:txBody>
                        <a:bodyPr/>
                        <a:lstStyle/>
                        <a:p>
                          <a:pPr algn="ctr" fontAlgn="ctr"/>
                          <a:r>
                            <a:rPr lang="en-NZ" sz="1800" b="0" i="0" u="none" strike="noStrike" dirty="0">
                              <a:solidFill>
                                <a:srgbClr val="000000"/>
                              </a:solidFill>
                              <a:effectLst/>
                              <a:latin typeface="Calibri" panose="020F0502020204030204" pitchFamily="34" charset="0"/>
                            </a:rPr>
                            <a:t>Output 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94855" t="-203704" r="-100322" b="-23703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94855" t="-203704" r="-322" b="-237037"/>
                          </a:stretch>
                        </a:blipFill>
                      </a:tcPr>
                    </a:tc>
                    <a:extLst>
                      <a:ext uri="{0D108BD9-81ED-4DB2-BD59-A6C34878D82A}">
                        <a16:rowId xmlns:a16="http://schemas.microsoft.com/office/drawing/2014/main" val="1950814767"/>
                      </a:ext>
                    </a:extLst>
                  </a:tr>
                  <a:tr h="327547">
                    <a:tc>
                      <a:txBody>
                        <a:bodyPr/>
                        <a:lstStyle/>
                        <a:p>
                          <a:pPr algn="ctr" fontAlgn="ctr"/>
                          <a:r>
                            <a:rPr lang="en-NZ" sz="1800" b="0" i="0" u="none" strike="noStrike" dirty="0">
                              <a:solidFill>
                                <a:srgbClr val="000000"/>
                              </a:solidFill>
                              <a:effectLst/>
                              <a:latin typeface="Calibri" panose="020F0502020204030204" pitchFamily="34" charset="0"/>
                            </a:rPr>
                            <a:t>Output 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94855" t="-303704" r="-100322" b="-13703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94855" t="-303704" r="-322" b="-137037"/>
                          </a:stretch>
                        </a:blipFill>
                      </a:tcPr>
                    </a:tc>
                    <a:extLst>
                      <a:ext uri="{0D108BD9-81ED-4DB2-BD59-A6C34878D82A}">
                        <a16:rowId xmlns:a16="http://schemas.microsoft.com/office/drawing/2014/main" val="550258079"/>
                      </a:ext>
                    </a:extLst>
                  </a:tr>
                  <a:tr h="327547">
                    <a:tc>
                      <a:txBody>
                        <a:bodyPr/>
                        <a:lstStyle/>
                        <a:p>
                          <a:pPr algn="ctr" fontAlgn="ctr"/>
                          <a:r>
                            <a:rPr lang="en-NZ" sz="1800" b="0" i="0" u="none" strike="noStrike" dirty="0">
                              <a:solidFill>
                                <a:srgbClr val="000000"/>
                              </a:solidFill>
                              <a:effectLst/>
                              <a:latin typeface="Calibri" panose="020F0502020204030204" pitchFamily="34" charset="0"/>
                            </a:rPr>
                            <a:t>Output 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94855" t="-403704" r="-100322" b="-3703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94855" t="-403704" r="-322" b="-37037"/>
                          </a:stretch>
                        </a:blipFill>
                      </a:tcPr>
                    </a:tc>
                    <a:extLst>
                      <a:ext uri="{0D108BD9-81ED-4DB2-BD59-A6C34878D82A}">
                        <a16:rowId xmlns:a16="http://schemas.microsoft.com/office/drawing/2014/main" val="29194927"/>
                      </a:ext>
                    </a:extLst>
                  </a:tr>
                </a:tbl>
              </a:graphicData>
            </a:graphic>
          </p:graphicFrame>
        </mc:Fallback>
      </mc:AlternateContent>
      <p:sp>
        <p:nvSpPr>
          <p:cNvPr id="21" name="Text Placeholder 5">
            <a:extLst>
              <a:ext uri="{FF2B5EF4-FFF2-40B4-BE49-F238E27FC236}">
                <a16:creationId xmlns:a16="http://schemas.microsoft.com/office/drawing/2014/main" id="{2C5A66E7-B43B-4556-AB10-0A3227F4B5A9}"/>
              </a:ext>
            </a:extLst>
          </p:cNvPr>
          <p:cNvSpPr txBox="1">
            <a:spLocks/>
          </p:cNvSpPr>
          <p:nvPr/>
        </p:nvSpPr>
        <p:spPr>
          <a:xfrm>
            <a:off x="478491" y="4527479"/>
            <a:ext cx="4582865" cy="1466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 one-way ANOVA model with three levels the adjacent table shows the interpretation of the coefficients under the default settings of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US"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a:t>
            </a:r>
            <a:r>
              <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p:txBody>
      </p:sp>
    </p:spTree>
    <p:extLst>
      <p:ext uri="{BB962C8B-B14F-4D97-AF65-F5344CB8AC3E}">
        <p14:creationId xmlns:p14="http://schemas.microsoft.com/office/powerpoint/2010/main" val="271859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436694" y="1358076"/>
            <a:ext cx="11449456" cy="11223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is possible to change the default contrast settings of the </a:t>
            </a:r>
            <a:r>
              <a:rPr kumimoji="1" lang="en-US" altLang="ja-JP" sz="22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package. </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particular, they can be reverted to </a:t>
            </a:r>
            <a:r>
              <a:rPr kumimoji="1" lang="en-US" altLang="ja-JP" sz="22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treatment contrast settings </a:t>
            </a: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by specifying additional arguments in the </a:t>
            </a:r>
            <a:r>
              <a:rPr kumimoji="1" lang="en-US" altLang="ja-JP" sz="22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a:t>
            </a:r>
            <a:r>
              <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or </a:t>
            </a:r>
            <a:r>
              <a:rPr kumimoji="1" lang="en-US" altLang="ja-JP" sz="22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aovp</a:t>
            </a:r>
            <a:r>
              <a:rPr kumimoji="1" lang="en-US"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command e.g. </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8" name="Title 6">
            <a:extLst>
              <a:ext uri="{FF2B5EF4-FFF2-40B4-BE49-F238E27FC236}">
                <a16:creationId xmlns:a16="http://schemas.microsoft.com/office/drawing/2014/main" id="{71F314D8-21AA-4AEA-8723-4171F411F87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3.5a – </a:t>
            </a:r>
            <a:r>
              <a:rPr kumimoji="1" lang="en-US" altLang="ja-JP" sz="3600" b="1" i="0" u="sng" strike="noStrike" kern="1200" cap="none" spc="0" normalizeH="0" baseline="0" noProof="0" dirty="0" err="1">
                <a:ln>
                  <a:noFill/>
                </a:ln>
                <a:solidFill>
                  <a:prstClr val="black"/>
                </a:solidFill>
                <a:effectLst/>
                <a:uLnTx/>
                <a:uFillTx/>
                <a:latin typeface="Calibri" panose="020F0502020204030204"/>
                <a:ea typeface="游ゴシック Light" panose="020B0300000000000000" pitchFamily="34" charset="-128"/>
                <a:cs typeface="+mj-cs"/>
              </a:rPr>
              <a:t>lmPerm</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Contrast Settings: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Footer Placeholder 2">
            <a:extLst>
              <a:ext uri="{FF2B5EF4-FFF2-40B4-BE49-F238E27FC236}">
                <a16:creationId xmlns:a16="http://schemas.microsoft.com/office/drawing/2014/main" id="{D8EC4AEF-34A8-41D3-9A85-71CC614B3A6F}"/>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3.5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1610C968-096C-4AD2-A3FA-B5AB8FAEB67B}"/>
              </a:ext>
            </a:extLst>
          </p:cNvPr>
          <p:cNvSpPr txBox="1">
            <a:spLocks/>
          </p:cNvSpPr>
          <p:nvPr/>
        </p:nvSpPr>
        <p:spPr>
          <a:xfrm>
            <a:off x="502116" y="2833240"/>
            <a:ext cx="11318612" cy="483720"/>
          </a:xfrm>
          <a:prstGeom prst="rect">
            <a:avLst/>
          </a:prstGeom>
          <a:solidFill>
            <a:srgbClr val="F8F8F8"/>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formula ,  data = </a:t>
            </a:r>
            <a:r>
              <a:rPr kumimoji="1" lang="en-US" altLang="ja-JP" sz="18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dsname</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perm = “</a:t>
            </a:r>
            <a:r>
              <a:rPr kumimoji="1" lang="en-US" altLang="ja-JP" sz="1800" b="0" i="0" u="none" strike="noStrike" kern="1200" cap="none" spc="0" normalizeH="0" baseline="0" noProof="0" dirty="0">
                <a:ln>
                  <a:noFill/>
                </a:ln>
                <a:solidFill>
                  <a:srgbClr val="FF0000"/>
                </a:solidFill>
                <a:effectLst/>
                <a:uLnTx/>
                <a:uFillTx/>
                <a:latin typeface="Calibri" panose="020F0502020204030204"/>
                <a:ea typeface="游ゴシック" panose="020B0400000000000000" pitchFamily="34" charset="-128"/>
                <a:cs typeface="+mn-cs"/>
              </a:rPr>
              <a:t>Method</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center=</a:t>
            </a:r>
            <a:r>
              <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FALSE</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contrasts = list(Group="</a:t>
            </a:r>
            <a:r>
              <a:rPr kumimoji="1" lang="en-US" altLang="ja-JP" sz="1800" b="0" i="0" u="none" strike="noStrike" kern="1200" cap="none" spc="0" normalizeH="0" baseline="0" noProof="0" dirty="0" err="1">
                <a:ln>
                  <a:noFill/>
                </a:ln>
                <a:solidFill>
                  <a:srgbClr val="00B050"/>
                </a:solidFill>
                <a:effectLst/>
                <a:uLnTx/>
                <a:uFillTx/>
                <a:latin typeface="Calibri" panose="020F0502020204030204"/>
                <a:ea typeface="游ゴシック" panose="020B0400000000000000" pitchFamily="34" charset="-128"/>
                <a:cs typeface="+mn-cs"/>
              </a:rPr>
              <a:t>contr.treatment</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p:sp>
        <p:nvSpPr>
          <p:cNvPr id="15" name="Text Placeholder 5">
            <a:extLst>
              <a:ext uri="{FF2B5EF4-FFF2-40B4-BE49-F238E27FC236}">
                <a16:creationId xmlns:a16="http://schemas.microsoft.com/office/drawing/2014/main" id="{6F1CBC86-A4D8-4CA4-8F05-1DD48459C6FA}"/>
              </a:ext>
            </a:extLst>
          </p:cNvPr>
          <p:cNvSpPr txBox="1">
            <a:spLocks/>
          </p:cNvSpPr>
          <p:nvPr/>
        </p:nvSpPr>
        <p:spPr>
          <a:xfrm>
            <a:off x="436694" y="3833031"/>
            <a:ext cx="11449456" cy="8920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This is illustrated in the next example. However, for more information on changing contrast settings in R see the link:  </a:t>
            </a: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hlinkClick r:id="rId3"/>
              </a:rPr>
              <a:t>http://www.clayford.net/statistics/tag/sum-contrasts/</a:t>
            </a:r>
            <a:endPar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p:cxnSp>
        <p:nvCxnSpPr>
          <p:cNvPr id="3" name="Straight Connector 2">
            <a:extLst>
              <a:ext uri="{FF2B5EF4-FFF2-40B4-BE49-F238E27FC236}">
                <a16:creationId xmlns:a16="http://schemas.microsoft.com/office/drawing/2014/main" id="{300A0566-707C-53EE-F8B4-9C6C9166D284}"/>
              </a:ext>
            </a:extLst>
          </p:cNvPr>
          <p:cNvCxnSpPr/>
          <p:nvPr/>
        </p:nvCxnSpPr>
        <p:spPr>
          <a:xfrm>
            <a:off x="5820228" y="2498557"/>
            <a:ext cx="0" cy="11917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23926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625523" y="856807"/>
            <a:ext cx="10931856" cy="13158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As part of a transport study, data were collected on travel times from a certain suburb to the city centre during the morning rush hour. Three methods were to be compared, bus, private car and bicycle.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data pertaining to this experiment is contained in the csv entitled 'Transport Study', but is also shown below:</a:t>
            </a:r>
            <a:endParaRPr kumimoji="1" lang="en-US" altLang="ja-JP" sz="20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2" name="Table 1">
            <a:extLst>
              <a:ext uri="{FF2B5EF4-FFF2-40B4-BE49-F238E27FC236}">
                <a16:creationId xmlns:a16="http://schemas.microsoft.com/office/drawing/2014/main" id="{0C5C7799-AE7C-4DB9-B7C5-5D54DADAA41C}"/>
              </a:ext>
            </a:extLst>
          </p:cNvPr>
          <p:cNvGraphicFramePr>
            <a:graphicFrameLocks noGrp="1"/>
          </p:cNvGraphicFramePr>
          <p:nvPr>
            <p:extLst>
              <p:ext uri="{D42A27DB-BD31-4B8C-83A1-F6EECF244321}">
                <p14:modId xmlns:p14="http://schemas.microsoft.com/office/powerpoint/2010/main" val="2257701512"/>
              </p:ext>
            </p:extLst>
          </p:nvPr>
        </p:nvGraphicFramePr>
        <p:xfrm>
          <a:off x="3274325" y="2296613"/>
          <a:ext cx="5643350" cy="1563456"/>
        </p:xfrm>
        <a:graphic>
          <a:graphicData uri="http://schemas.openxmlformats.org/drawingml/2006/table">
            <a:tbl>
              <a:tblPr/>
              <a:tblGrid>
                <a:gridCol w="1221322">
                  <a:extLst>
                    <a:ext uri="{9D8B030D-6E8A-4147-A177-3AD203B41FA5}">
                      <a16:colId xmlns:a16="http://schemas.microsoft.com/office/drawing/2014/main" val="4037610628"/>
                    </a:ext>
                  </a:extLst>
                </a:gridCol>
                <a:gridCol w="796272">
                  <a:extLst>
                    <a:ext uri="{9D8B030D-6E8A-4147-A177-3AD203B41FA5}">
                      <a16:colId xmlns:a16="http://schemas.microsoft.com/office/drawing/2014/main" val="590370213"/>
                    </a:ext>
                  </a:extLst>
                </a:gridCol>
                <a:gridCol w="804082">
                  <a:extLst>
                    <a:ext uri="{9D8B030D-6E8A-4147-A177-3AD203B41FA5}">
                      <a16:colId xmlns:a16="http://schemas.microsoft.com/office/drawing/2014/main" val="3452557641"/>
                    </a:ext>
                  </a:extLst>
                </a:gridCol>
                <a:gridCol w="940558">
                  <a:extLst>
                    <a:ext uri="{9D8B030D-6E8A-4147-A177-3AD203B41FA5}">
                      <a16:colId xmlns:a16="http://schemas.microsoft.com/office/drawing/2014/main" val="3162769819"/>
                    </a:ext>
                  </a:extLst>
                </a:gridCol>
                <a:gridCol w="940558">
                  <a:extLst>
                    <a:ext uri="{9D8B030D-6E8A-4147-A177-3AD203B41FA5}">
                      <a16:colId xmlns:a16="http://schemas.microsoft.com/office/drawing/2014/main" val="3968378480"/>
                    </a:ext>
                  </a:extLst>
                </a:gridCol>
                <a:gridCol w="940558">
                  <a:extLst>
                    <a:ext uri="{9D8B030D-6E8A-4147-A177-3AD203B41FA5}">
                      <a16:colId xmlns:a16="http://schemas.microsoft.com/office/drawing/2014/main" val="2641096747"/>
                    </a:ext>
                  </a:extLst>
                </a:gridCol>
              </a:tblGrid>
              <a:tr h="390864">
                <a:tc>
                  <a:txBody>
                    <a:bodyPr/>
                    <a:lstStyle/>
                    <a:p>
                      <a:pPr algn="ctr" fontAlgn="b"/>
                      <a:endParaRPr lang="en-NZ" sz="20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5">
                  <a:txBody>
                    <a:bodyPr/>
                    <a:lstStyle/>
                    <a:p>
                      <a:pPr algn="ctr" fontAlgn="b"/>
                      <a:r>
                        <a:rPr lang="en-NZ" sz="2000" b="1" i="0" u="none" strike="noStrike" dirty="0">
                          <a:solidFill>
                            <a:schemeClr val="bg1"/>
                          </a:solidFill>
                          <a:effectLst/>
                          <a:latin typeface="Calibri" panose="020F0502020204030204" pitchFamily="34" charset="0"/>
                        </a:rPr>
                        <a:t>Time in Mins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77643406"/>
                  </a:ext>
                </a:extLst>
              </a:tr>
              <a:tr h="390864">
                <a:tc>
                  <a:txBody>
                    <a:bodyPr/>
                    <a:lstStyle/>
                    <a:p>
                      <a:pPr algn="ctr" fontAlgn="b"/>
                      <a:r>
                        <a:rPr lang="en-NZ" sz="2000" b="1" i="0" u="none" strike="noStrike" dirty="0">
                          <a:solidFill>
                            <a:srgbClr val="FFFFFF"/>
                          </a:solidFill>
                          <a:effectLst/>
                          <a:latin typeface="Calibri" panose="020F0502020204030204" pitchFamily="34" charset="0"/>
                        </a:rPr>
                        <a:t>Bus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chemeClr val="tx1"/>
                          </a:solidFill>
                          <a:effectLst/>
                          <a:latin typeface="Calibri" panose="020F0502020204030204" pitchFamily="34" charset="0"/>
                        </a:rPr>
                        <a:t>21.00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31.00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390864">
                <a:tc>
                  <a:txBody>
                    <a:bodyPr/>
                    <a:lstStyle/>
                    <a:p>
                      <a:pPr algn="ctr" fontAlgn="b"/>
                      <a:r>
                        <a:rPr lang="en-NZ" sz="2000" b="1" i="0" u="none" strike="noStrike" dirty="0">
                          <a:solidFill>
                            <a:srgbClr val="FFFFFF"/>
                          </a:solidFill>
                          <a:effectLst/>
                          <a:latin typeface="Calibri" panose="020F0502020204030204" pitchFamily="34" charset="0"/>
                        </a:rPr>
                        <a:t>Car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25.00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r h="390864">
                <a:tc>
                  <a:txBody>
                    <a:bodyPr/>
                    <a:lstStyle/>
                    <a:p>
                      <a:pPr algn="ctr" fontAlgn="b"/>
                      <a:r>
                        <a:rPr lang="en-NZ" sz="2000" b="1" i="0" u="none" strike="noStrike" dirty="0">
                          <a:solidFill>
                            <a:srgbClr val="FFFFFF"/>
                          </a:solidFill>
                          <a:effectLst/>
                          <a:latin typeface="Calibri" panose="020F0502020204030204" pitchFamily="34" charset="0"/>
                        </a:rPr>
                        <a:t>Cycle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30.00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chemeClr val="tx1"/>
                          </a:solidFill>
                          <a:effectLst/>
                          <a:latin typeface="Calibri" panose="020F0502020204030204" pitchFamily="34" charset="0"/>
                        </a:rPr>
                        <a:t>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34097281"/>
                  </a:ext>
                </a:extLst>
              </a:tr>
            </a:tbl>
          </a:graphicData>
        </a:graphic>
      </p:graphicFrame>
      <p:sp>
        <p:nvSpPr>
          <p:cNvPr id="23" name="Text Placeholder 5">
            <a:extLst>
              <a:ext uri="{FF2B5EF4-FFF2-40B4-BE49-F238E27FC236}">
                <a16:creationId xmlns:a16="http://schemas.microsoft.com/office/drawing/2014/main" id="{2C143A60-C496-44B0-A55B-3584A1A49D44}"/>
              </a:ext>
            </a:extLst>
          </p:cNvPr>
          <p:cNvSpPr txBox="1">
            <a:spLocks/>
          </p:cNvSpPr>
          <p:nvPr/>
        </p:nvSpPr>
        <p:spPr>
          <a:xfrm>
            <a:off x="625523" y="4327461"/>
            <a:ext cx="10931856"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Does the mean travel time differ by mode of transport?</a:t>
            </a: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BEB3E68-9B22-41B6-9B26-692BD2042DDD}"/>
                  </a:ext>
                </a:extLst>
              </p:cNvPr>
              <p:cNvSpPr txBox="1">
                <a:spLocks/>
              </p:cNvSpPr>
              <p:nvPr/>
            </p:nvSpPr>
            <p:spPr>
              <a:xfrm>
                <a:off x="1937981" y="4994911"/>
                <a:ext cx="6760192"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lang="en-NZ" altLang="ja-JP" sz="2000" dirty="0">
                    <a:solidFill>
                      <a:prstClr val="black"/>
                    </a:solidFill>
                  </a:rPr>
                  <a:t>for all i,j</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r>
                  <a:rPr kumimoji="1" lang="en-NZ" altLang="ja-JP" sz="20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a:t>
                </a:r>
                <a:endPar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DBEB3E68-9B22-41B6-9B26-692BD2042DDD}"/>
                  </a:ext>
                </a:extLst>
              </p:cNvPr>
              <p:cNvSpPr txBox="1">
                <a:spLocks noRot="1" noChangeAspect="1" noMove="1" noResize="1" noEditPoints="1" noAdjustHandles="1" noChangeArrowheads="1" noChangeShapeType="1" noTextEdit="1"/>
              </p:cNvSpPr>
              <p:nvPr/>
            </p:nvSpPr>
            <p:spPr>
              <a:xfrm>
                <a:off x="1937981" y="4994911"/>
                <a:ext cx="6760192" cy="695961"/>
              </a:xfrm>
              <a:prstGeom prst="rect">
                <a:avLst/>
              </a:prstGeom>
              <a:blipFill>
                <a:blip r:embed="rId3"/>
                <a:stretch>
                  <a:fillRect t="-3478" b="-20000"/>
                </a:stretch>
              </a:blipFill>
            </p:spPr>
            <p:txBody>
              <a:bodyPr/>
              <a:lstStyle/>
              <a:p>
                <a:r>
                  <a:rPr lang="en-NZ">
                    <a:noFill/>
                  </a:rPr>
                  <a:t> </a:t>
                </a:r>
              </a:p>
            </p:txBody>
          </p:sp>
        </mc:Fallback>
      </mc:AlternateContent>
      <p:sp>
        <p:nvSpPr>
          <p:cNvPr id="14" name="Title 6">
            <a:extLst>
              <a:ext uri="{FF2B5EF4-FFF2-40B4-BE49-F238E27FC236}">
                <a16:creationId xmlns:a16="http://schemas.microsoft.com/office/drawing/2014/main" id="{7E26098E-3C45-4BDB-951F-49424A94151B}"/>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3.5b – Transport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FDE96B8-F8EF-4229-8B3F-A6F62E88197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3.5 - Transport Study (One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Footer Placeholder 2">
            <a:extLst>
              <a:ext uri="{FF2B5EF4-FFF2-40B4-BE49-F238E27FC236}">
                <a16:creationId xmlns:a16="http://schemas.microsoft.com/office/drawing/2014/main" id="{BE54B05B-8782-4E6B-BAC5-3586FA4EABAB}"/>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3.5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22212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576C63-9E92-11DD-7E4C-151B60A06A37}"/>
              </a:ext>
            </a:extLst>
          </p:cNvPr>
          <p:cNvPicPr>
            <a:picLocks noChangeAspect="1"/>
          </p:cNvPicPr>
          <p:nvPr/>
        </p:nvPicPr>
        <p:blipFill>
          <a:blip r:embed="rId2"/>
          <a:stretch>
            <a:fillRect/>
          </a:stretch>
        </p:blipFill>
        <p:spPr>
          <a:xfrm>
            <a:off x="575239" y="1355139"/>
            <a:ext cx="6677932" cy="665387"/>
          </a:xfrm>
          <a:prstGeom prst="rect">
            <a:avLst/>
          </a:prstGeom>
        </p:spPr>
      </p:pic>
      <p:pic>
        <p:nvPicPr>
          <p:cNvPr id="8" name="Picture 7">
            <a:extLst>
              <a:ext uri="{FF2B5EF4-FFF2-40B4-BE49-F238E27FC236}">
                <a16:creationId xmlns:a16="http://schemas.microsoft.com/office/drawing/2014/main" id="{0E535E82-D6DE-62BE-C9E6-018060885637}"/>
              </a:ext>
            </a:extLst>
          </p:cNvPr>
          <p:cNvPicPr>
            <a:picLocks noChangeAspect="1"/>
          </p:cNvPicPr>
          <p:nvPr/>
        </p:nvPicPr>
        <p:blipFill>
          <a:blip r:embed="rId3"/>
          <a:stretch>
            <a:fillRect/>
          </a:stretch>
        </p:blipFill>
        <p:spPr>
          <a:xfrm>
            <a:off x="575239" y="3861102"/>
            <a:ext cx="9526704" cy="765742"/>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486853" y="871578"/>
            <a:ext cx="1093185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The tables below help to interpret the output of the </a:t>
            </a:r>
            <a:r>
              <a:rPr kumimoji="1" lang="en-NZ" altLang="ja-JP" sz="1800" b="1" i="1"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lmp</a:t>
            </a:r>
            <a:r>
              <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command under different contrast settings:</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4" name="Title 6">
            <a:extLst>
              <a:ext uri="{FF2B5EF4-FFF2-40B4-BE49-F238E27FC236}">
                <a16:creationId xmlns:a16="http://schemas.microsoft.com/office/drawing/2014/main" id="{7E26098E-3C45-4BDB-951F-49424A94151B}"/>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3.5b – Transport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FDE96B8-F8EF-4229-8B3F-A6F62E88197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3.5 - Transport Study (One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Footer Placeholder 2">
            <a:extLst>
              <a:ext uri="{FF2B5EF4-FFF2-40B4-BE49-F238E27FC236}">
                <a16:creationId xmlns:a16="http://schemas.microsoft.com/office/drawing/2014/main" id="{BE54B05B-8782-4E6B-BAC5-3586FA4EABAB}"/>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3.5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40708DF0-1429-474D-B568-710E42618715}"/>
                  </a:ext>
                </a:extLst>
              </p:cNvPr>
              <p:cNvGraphicFramePr>
                <a:graphicFrameLocks noGrp="1"/>
              </p:cNvGraphicFramePr>
              <p:nvPr>
                <p:extLst>
                  <p:ext uri="{D42A27DB-BD31-4B8C-83A1-F6EECF244321}">
                    <p14:modId xmlns:p14="http://schemas.microsoft.com/office/powerpoint/2010/main" val="3826342285"/>
                  </p:ext>
                </p:extLst>
              </p:nvPr>
            </p:nvGraphicFramePr>
            <p:xfrm>
              <a:off x="575239" y="2039882"/>
              <a:ext cx="10755083" cy="1669797"/>
            </p:xfrm>
            <a:graphic>
              <a:graphicData uri="http://schemas.openxmlformats.org/drawingml/2006/table">
                <a:tbl>
                  <a:tblPr/>
                  <a:tblGrid>
                    <a:gridCol w="1096223">
                      <a:extLst>
                        <a:ext uri="{9D8B030D-6E8A-4147-A177-3AD203B41FA5}">
                          <a16:colId xmlns:a16="http://schemas.microsoft.com/office/drawing/2014/main" val="4037610628"/>
                        </a:ext>
                      </a:extLst>
                    </a:gridCol>
                    <a:gridCol w="1066980">
                      <a:extLst>
                        <a:ext uri="{9D8B030D-6E8A-4147-A177-3AD203B41FA5}">
                          <a16:colId xmlns:a16="http://schemas.microsoft.com/office/drawing/2014/main" val="590370213"/>
                        </a:ext>
                      </a:extLst>
                    </a:gridCol>
                    <a:gridCol w="914029">
                      <a:extLst>
                        <a:ext uri="{9D8B030D-6E8A-4147-A177-3AD203B41FA5}">
                          <a16:colId xmlns:a16="http://schemas.microsoft.com/office/drawing/2014/main" val="3452557641"/>
                        </a:ext>
                      </a:extLst>
                    </a:gridCol>
                    <a:gridCol w="974967">
                      <a:extLst>
                        <a:ext uri="{9D8B030D-6E8A-4147-A177-3AD203B41FA5}">
                          <a16:colId xmlns:a16="http://schemas.microsoft.com/office/drawing/2014/main" val="3162769819"/>
                        </a:ext>
                      </a:extLst>
                    </a:gridCol>
                    <a:gridCol w="924818">
                      <a:extLst>
                        <a:ext uri="{9D8B030D-6E8A-4147-A177-3AD203B41FA5}">
                          <a16:colId xmlns:a16="http://schemas.microsoft.com/office/drawing/2014/main" val="3968378480"/>
                        </a:ext>
                      </a:extLst>
                    </a:gridCol>
                    <a:gridCol w="888003">
                      <a:extLst>
                        <a:ext uri="{9D8B030D-6E8A-4147-A177-3AD203B41FA5}">
                          <a16:colId xmlns:a16="http://schemas.microsoft.com/office/drawing/2014/main" val="2641096747"/>
                        </a:ext>
                      </a:extLst>
                    </a:gridCol>
                    <a:gridCol w="1181164">
                      <a:extLst>
                        <a:ext uri="{9D8B030D-6E8A-4147-A177-3AD203B41FA5}">
                          <a16:colId xmlns:a16="http://schemas.microsoft.com/office/drawing/2014/main" val="3120083427"/>
                        </a:ext>
                      </a:extLst>
                    </a:gridCol>
                    <a:gridCol w="2139086">
                      <a:extLst>
                        <a:ext uri="{9D8B030D-6E8A-4147-A177-3AD203B41FA5}">
                          <a16:colId xmlns:a16="http://schemas.microsoft.com/office/drawing/2014/main" val="535598441"/>
                        </a:ext>
                      </a:extLst>
                    </a:gridCol>
                    <a:gridCol w="1569813">
                      <a:extLst>
                        <a:ext uri="{9D8B030D-6E8A-4147-A177-3AD203B41FA5}">
                          <a16:colId xmlns:a16="http://schemas.microsoft.com/office/drawing/2014/main" val="484258243"/>
                        </a:ext>
                      </a:extLst>
                    </a:gridCol>
                  </a:tblGrid>
                  <a:tr h="332472">
                    <a:tc>
                      <a:txBody>
                        <a:bodyPr/>
                        <a:lstStyle/>
                        <a:p>
                          <a:pPr algn="ctr" fontAlgn="b"/>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5">
                      <a:txBody>
                        <a:bodyPr/>
                        <a:lstStyle/>
                        <a:p>
                          <a:pPr algn="ctr" fontAlgn="b"/>
                          <a:r>
                            <a:rPr lang="en-NZ" sz="1600" b="1" i="0" u="none" strike="noStrike" dirty="0">
                              <a:solidFill>
                                <a:schemeClr val="bg1"/>
                              </a:solidFill>
                              <a:effectLst/>
                              <a:latin typeface="Calibri" panose="020F0502020204030204" pitchFamily="34" charset="0"/>
                            </a:rPr>
                            <a:t>Time in Mins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1" i="0" u="none" strike="noStrike" dirty="0">
                              <a:solidFill>
                                <a:schemeClr val="bg1"/>
                              </a:solidFill>
                              <a:effectLst/>
                              <a:latin typeface="Calibri" panose="020F0502020204030204" pitchFamily="34" charset="0"/>
                            </a:rPr>
                            <a:t>Est Overall 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chemeClr val="bg1"/>
                              </a:solidFill>
                              <a:effectLst/>
                              <a:latin typeface="Calibri" panose="020F0502020204030204" pitchFamily="34" charset="0"/>
                            </a:rPr>
                            <a:t>R Output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chemeClr val="bg1"/>
                              </a:solidFill>
                              <a:effectLst/>
                              <a:latin typeface="Calibri" panose="020F0502020204030204" pitchFamily="34" charset="0"/>
                            </a:rPr>
                            <a:t>Est Group 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777643406"/>
                      </a:ext>
                    </a:extLst>
                  </a:tr>
                  <a:tr h="390864">
                    <a:tc>
                      <a:txBody>
                        <a:bodyPr/>
                        <a:lstStyle/>
                        <a:p>
                          <a:pPr algn="ctr" fontAlgn="b"/>
                          <a:r>
                            <a:rPr lang="en-NZ" sz="1600" b="1" i="0" u="none" strike="noStrike" dirty="0">
                              <a:solidFill>
                                <a:srgbClr val="FFFFFF"/>
                              </a:solidFill>
                              <a:effectLst/>
                              <a:latin typeface="Calibri" panose="020F0502020204030204" pitchFamily="34" charset="0"/>
                            </a:rPr>
                            <a:t>Bus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rowSpan="3">
                      <a:txBody>
                        <a:bodyPr/>
                        <a:lstStyle/>
                        <a:p>
                          <a:pPr algn="ctr" fontAlgn="b"/>
                          <a14:m>
                            <m:oMath xmlns:m="http://schemas.openxmlformats.org/officeDocument/2006/math">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oMath>
                          </a14:m>
                          <a:r>
                            <a:rPr lang="en-NZ" sz="1600" b="0" i="0" u="none" strike="noStrike" dirty="0">
                              <a:solidFill>
                                <a:srgbClr val="FF0000"/>
                              </a:solidFill>
                              <a:effectLst/>
                              <a:latin typeface="Calibri" panose="020F0502020204030204" pitchFamily="34" charset="0"/>
                            </a:rPr>
                            <a:t> = </a:t>
                          </a:r>
                          <a:br>
                            <a:rPr lang="en-NZ" sz="1600" b="0" i="0" u="none" strike="noStrike" dirty="0">
                              <a:solidFill>
                                <a:srgbClr val="FF0000"/>
                              </a:solidFill>
                              <a:effectLst/>
                              <a:latin typeface="Calibri" panose="020F0502020204030204" pitchFamily="34" charset="0"/>
                            </a:rPr>
                          </a:br>
                          <a:r>
                            <a:rPr lang="en-NZ" sz="1600" b="0" i="0" u="none" strike="noStrike" dirty="0">
                              <a:solidFill>
                                <a:srgbClr val="FF0000"/>
                              </a:solidFill>
                              <a:effectLst/>
                              <a:latin typeface="Calibri" panose="020F0502020204030204" pitchFamily="34" charset="0"/>
                            </a:rPr>
                            <a:t>26.01667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FF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1</m:t>
                                  </m:r>
                                </m:sub>
                              </m:sSub>
                              <m:r>
                                <a:rPr lang="en-NZ" sz="1600" b="0" i="0" u="none" strike="noStrike" smtClean="0">
                                  <a:solidFill>
                                    <a:srgbClr val="FF0000"/>
                                  </a:solidFill>
                                  <a:effectLst/>
                                  <a:latin typeface="Cambria Math" panose="02040503050406030204" pitchFamily="18" charset="0"/>
                                </a:rPr>
                                <m:t>−</m:t>
                              </m:r>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r>
                                <a:rPr lang="en-NZ" sz="1600" b="0" i="0" u="none" strike="noStrike" smtClean="0">
                                  <a:solidFill>
                                    <a:srgbClr val="FF0000"/>
                                  </a:solidFill>
                                  <a:effectLst/>
                                  <a:latin typeface="Cambria Math" panose="02040503050406030204" pitchFamily="18" charset="0"/>
                                </a:rPr>
                                <m:t>=−1.216667</m:t>
                              </m:r>
                            </m:oMath>
                          </a14:m>
                          <a:endParaRPr lang="en-NZ" sz="16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1</m:t>
                                  </m:r>
                                </m:sub>
                              </m:sSub>
                              <m:r>
                                <a:rPr lang="en-NZ" sz="1600" b="0" i="0" u="none" strike="noStrike" smtClean="0">
                                  <a:solidFill>
                                    <a:srgbClr val="FF0000"/>
                                  </a:solidFill>
                                  <a:effectLst/>
                                  <a:latin typeface="Cambria Math" panose="02040503050406030204" pitchFamily="18" charset="0"/>
                                </a:rPr>
                                <m:t> </m:t>
                              </m:r>
                            </m:oMath>
                          </a14:m>
                          <a:r>
                            <a:rPr lang="en-NZ" sz="1600" b="0" i="0" u="none" strike="noStrike" dirty="0">
                              <a:solidFill>
                                <a:srgbClr val="FF0000"/>
                              </a:solidFill>
                              <a:effectLst/>
                              <a:latin typeface="Calibri" panose="020F0502020204030204" pitchFamily="34" charset="0"/>
                            </a:rPr>
                            <a:t>= 24.80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390864">
                    <a:tc>
                      <a:txBody>
                        <a:bodyPr/>
                        <a:lstStyle/>
                        <a:p>
                          <a:pPr algn="ctr" fontAlgn="b"/>
                          <a:r>
                            <a:rPr lang="en-NZ" sz="1600" b="1" i="0" u="none" strike="noStrike" dirty="0">
                              <a:solidFill>
                                <a:srgbClr val="FFFFFF"/>
                              </a:solidFill>
                              <a:effectLst/>
                              <a:latin typeface="Calibri" panose="020F0502020204030204" pitchFamily="34" charset="0"/>
                            </a:rPr>
                            <a:t>Car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25.00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vMerge="1">
                      <a:txBody>
                        <a:bodyPr/>
                        <a:lstStyle/>
                        <a:p>
                          <a:pPr algn="ctr" fontAlgn="b"/>
                          <a:endParaRPr lang="en-NZ" sz="18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FF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2</m:t>
                                  </m:r>
                                </m:sub>
                              </m:sSub>
                              <m:r>
                                <a:rPr lang="en-NZ" sz="1600" b="0" i="1" u="none" strike="noStrike" smtClean="0">
                                  <a:solidFill>
                                    <a:srgbClr val="FF0000"/>
                                  </a:solidFill>
                                  <a:effectLst/>
                                  <a:latin typeface="Cambria Math" panose="02040503050406030204" pitchFamily="18" charset="0"/>
                                </a:rPr>
                                <m:t>−</m:t>
                              </m:r>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r>
                                <a:rPr lang="en-NZ" sz="1600" b="0" i="1" u="none" strike="noStrike" smtClean="0">
                                  <a:solidFill>
                                    <a:srgbClr val="FF0000"/>
                                  </a:solidFill>
                                  <a:effectLst/>
                                  <a:latin typeface="Cambria Math" panose="02040503050406030204" pitchFamily="18" charset="0"/>
                                </a:rPr>
                                <m:t>=−1.516667</m:t>
                              </m:r>
                            </m:oMath>
                          </a14:m>
                          <a:endParaRPr lang="en-NZ" sz="16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2</m:t>
                                  </m:r>
                                </m:sub>
                              </m:sSub>
                            </m:oMath>
                          </a14:m>
                          <a:r>
                            <a:rPr lang="en-NZ" sz="1600" b="0" i="0" u="none" strike="noStrike" dirty="0">
                              <a:solidFill>
                                <a:srgbClr val="FF0000"/>
                              </a:solidFill>
                              <a:effectLst/>
                              <a:latin typeface="Calibri" panose="020F0502020204030204" pitchFamily="34" charset="0"/>
                            </a:rPr>
                            <a:t> = 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r h="390864">
                    <a:tc>
                      <a:txBody>
                        <a:bodyPr/>
                        <a:lstStyle/>
                        <a:p>
                          <a:pPr algn="ctr" fontAlgn="b"/>
                          <a:r>
                            <a:rPr lang="en-NZ" sz="1600" b="1" i="0" u="none" strike="noStrike" dirty="0">
                              <a:solidFill>
                                <a:srgbClr val="FFFFFF"/>
                              </a:solidFill>
                              <a:effectLst/>
                              <a:latin typeface="Calibri" panose="020F0502020204030204" pitchFamily="34" charset="0"/>
                            </a:rPr>
                            <a:t>Cycle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vMerge="1">
                      <a:txBody>
                        <a:bodyPr/>
                        <a:lstStyle/>
                        <a:p>
                          <a:pPr algn="ctr" fontAlgn="b"/>
                          <a:endParaRPr lang="en-NZ" sz="18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3</m:t>
                                  </m:r>
                                </m:sub>
                              </m:sSub>
                            </m:oMath>
                          </a14:m>
                          <a:r>
                            <a:rPr lang="en-NZ" sz="1600" b="0" i="0" u="none" strike="noStrike" dirty="0">
                              <a:solidFill>
                                <a:srgbClr val="FF0000"/>
                              </a:solidFill>
                              <a:effectLst/>
                              <a:latin typeface="Calibri" panose="020F0502020204030204" pitchFamily="34" charset="0"/>
                            </a:rPr>
                            <a:t> = 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34097281"/>
                      </a:ext>
                    </a:extLst>
                  </a:tr>
                </a:tbl>
              </a:graphicData>
            </a:graphic>
          </p:graphicFrame>
        </mc:Choice>
        <mc:Fallback xmlns="">
          <p:graphicFrame>
            <p:nvGraphicFramePr>
              <p:cNvPr id="15" name="Table 14">
                <a:extLst>
                  <a:ext uri="{FF2B5EF4-FFF2-40B4-BE49-F238E27FC236}">
                    <a16:creationId xmlns:a16="http://schemas.microsoft.com/office/drawing/2014/main" id="{40708DF0-1429-474D-B568-710E42618715}"/>
                  </a:ext>
                </a:extLst>
              </p:cNvPr>
              <p:cNvGraphicFramePr>
                <a:graphicFrameLocks noGrp="1"/>
              </p:cNvGraphicFramePr>
              <p:nvPr>
                <p:extLst>
                  <p:ext uri="{D42A27DB-BD31-4B8C-83A1-F6EECF244321}">
                    <p14:modId xmlns:p14="http://schemas.microsoft.com/office/powerpoint/2010/main" val="3826342285"/>
                  </p:ext>
                </p:extLst>
              </p:nvPr>
            </p:nvGraphicFramePr>
            <p:xfrm>
              <a:off x="575239" y="2039882"/>
              <a:ext cx="10755083" cy="1669797"/>
            </p:xfrm>
            <a:graphic>
              <a:graphicData uri="http://schemas.openxmlformats.org/drawingml/2006/table">
                <a:tbl>
                  <a:tblPr/>
                  <a:tblGrid>
                    <a:gridCol w="1096223">
                      <a:extLst>
                        <a:ext uri="{9D8B030D-6E8A-4147-A177-3AD203B41FA5}">
                          <a16:colId xmlns:a16="http://schemas.microsoft.com/office/drawing/2014/main" val="4037610628"/>
                        </a:ext>
                      </a:extLst>
                    </a:gridCol>
                    <a:gridCol w="1066980">
                      <a:extLst>
                        <a:ext uri="{9D8B030D-6E8A-4147-A177-3AD203B41FA5}">
                          <a16:colId xmlns:a16="http://schemas.microsoft.com/office/drawing/2014/main" val="590370213"/>
                        </a:ext>
                      </a:extLst>
                    </a:gridCol>
                    <a:gridCol w="914029">
                      <a:extLst>
                        <a:ext uri="{9D8B030D-6E8A-4147-A177-3AD203B41FA5}">
                          <a16:colId xmlns:a16="http://schemas.microsoft.com/office/drawing/2014/main" val="3452557641"/>
                        </a:ext>
                      </a:extLst>
                    </a:gridCol>
                    <a:gridCol w="974967">
                      <a:extLst>
                        <a:ext uri="{9D8B030D-6E8A-4147-A177-3AD203B41FA5}">
                          <a16:colId xmlns:a16="http://schemas.microsoft.com/office/drawing/2014/main" val="3162769819"/>
                        </a:ext>
                      </a:extLst>
                    </a:gridCol>
                    <a:gridCol w="924818">
                      <a:extLst>
                        <a:ext uri="{9D8B030D-6E8A-4147-A177-3AD203B41FA5}">
                          <a16:colId xmlns:a16="http://schemas.microsoft.com/office/drawing/2014/main" val="3968378480"/>
                        </a:ext>
                      </a:extLst>
                    </a:gridCol>
                    <a:gridCol w="888003">
                      <a:extLst>
                        <a:ext uri="{9D8B030D-6E8A-4147-A177-3AD203B41FA5}">
                          <a16:colId xmlns:a16="http://schemas.microsoft.com/office/drawing/2014/main" val="2641096747"/>
                        </a:ext>
                      </a:extLst>
                    </a:gridCol>
                    <a:gridCol w="1181164">
                      <a:extLst>
                        <a:ext uri="{9D8B030D-6E8A-4147-A177-3AD203B41FA5}">
                          <a16:colId xmlns:a16="http://schemas.microsoft.com/office/drawing/2014/main" val="3120083427"/>
                        </a:ext>
                      </a:extLst>
                    </a:gridCol>
                    <a:gridCol w="2139086">
                      <a:extLst>
                        <a:ext uri="{9D8B030D-6E8A-4147-A177-3AD203B41FA5}">
                          <a16:colId xmlns:a16="http://schemas.microsoft.com/office/drawing/2014/main" val="535598441"/>
                        </a:ext>
                      </a:extLst>
                    </a:gridCol>
                    <a:gridCol w="1569813">
                      <a:extLst>
                        <a:ext uri="{9D8B030D-6E8A-4147-A177-3AD203B41FA5}">
                          <a16:colId xmlns:a16="http://schemas.microsoft.com/office/drawing/2014/main" val="484258243"/>
                        </a:ext>
                      </a:extLst>
                    </a:gridCol>
                  </a:tblGrid>
                  <a:tr h="497205">
                    <a:tc>
                      <a:txBody>
                        <a:bodyPr/>
                        <a:lstStyle/>
                        <a:p>
                          <a:pPr algn="ctr" fontAlgn="b"/>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5">
                      <a:txBody>
                        <a:bodyPr/>
                        <a:lstStyle/>
                        <a:p>
                          <a:pPr algn="ctr" fontAlgn="b"/>
                          <a:r>
                            <a:rPr lang="en-NZ" sz="1600" b="1" i="0" u="none" strike="noStrike" dirty="0">
                              <a:solidFill>
                                <a:schemeClr val="bg1"/>
                              </a:solidFill>
                              <a:effectLst/>
                              <a:latin typeface="Calibri" panose="020F0502020204030204" pitchFamily="34" charset="0"/>
                            </a:rPr>
                            <a:t>Time in Mins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1" i="0" u="none" strike="noStrike" dirty="0">
                              <a:solidFill>
                                <a:schemeClr val="bg1"/>
                              </a:solidFill>
                              <a:effectLst/>
                              <a:latin typeface="Calibri" panose="020F0502020204030204" pitchFamily="34" charset="0"/>
                            </a:rPr>
                            <a:t>Est Overall 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chemeClr val="bg1"/>
                              </a:solidFill>
                              <a:effectLst/>
                              <a:latin typeface="Calibri" panose="020F0502020204030204" pitchFamily="34" charset="0"/>
                            </a:rPr>
                            <a:t>R Output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chemeClr val="bg1"/>
                              </a:solidFill>
                              <a:effectLst/>
                              <a:latin typeface="Calibri" panose="020F0502020204030204" pitchFamily="34" charset="0"/>
                            </a:rPr>
                            <a:t>Est Group 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777643406"/>
                      </a:ext>
                    </a:extLst>
                  </a:tr>
                  <a:tr h="390864">
                    <a:tc>
                      <a:txBody>
                        <a:bodyPr/>
                        <a:lstStyle/>
                        <a:p>
                          <a:pPr algn="ctr" fontAlgn="b"/>
                          <a:r>
                            <a:rPr lang="en-NZ" sz="1600" b="1" i="0" u="none" strike="noStrike" dirty="0">
                              <a:solidFill>
                                <a:srgbClr val="FFFFFF"/>
                              </a:solidFill>
                              <a:effectLst/>
                              <a:latin typeface="Calibri" panose="020F0502020204030204" pitchFamily="34" charset="0"/>
                            </a:rPr>
                            <a:t>Bus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rowSpan="3">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5"/>
                          <a:stretch>
                            <a:fillRect l="-496392" t="-46114" r="-314433" b="-5181"/>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5"/>
                          <a:stretch>
                            <a:fillRect l="-329630" t="-139063" r="-73789" b="-217188"/>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5"/>
                          <a:stretch>
                            <a:fillRect l="-584496" t="-139063" r="-388" b="-217188"/>
                          </a:stretch>
                        </a:blipFill>
                      </a:tcPr>
                    </a:tc>
                    <a:extLst>
                      <a:ext uri="{0D108BD9-81ED-4DB2-BD59-A6C34878D82A}">
                        <a16:rowId xmlns:a16="http://schemas.microsoft.com/office/drawing/2014/main" val="4064976744"/>
                      </a:ext>
                    </a:extLst>
                  </a:tr>
                  <a:tr h="390864">
                    <a:tc>
                      <a:txBody>
                        <a:bodyPr/>
                        <a:lstStyle/>
                        <a:p>
                          <a:pPr algn="ctr" fontAlgn="b"/>
                          <a:r>
                            <a:rPr lang="en-NZ" sz="1600" b="1" i="0" u="none" strike="noStrike" dirty="0">
                              <a:solidFill>
                                <a:srgbClr val="FFFFFF"/>
                              </a:solidFill>
                              <a:effectLst/>
                              <a:latin typeface="Calibri" panose="020F0502020204030204" pitchFamily="34" charset="0"/>
                            </a:rPr>
                            <a:t>Car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25.00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vMerge="1">
                      <a:txBody>
                        <a:bodyPr/>
                        <a:lstStyle/>
                        <a:p>
                          <a:pPr algn="ctr" fontAlgn="b"/>
                          <a:endParaRPr lang="en-NZ" sz="18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5"/>
                          <a:stretch>
                            <a:fillRect l="-329630" t="-235385" r="-73789" b="-113846"/>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5"/>
                          <a:stretch>
                            <a:fillRect l="-584496" t="-235385" r="-388" b="-113846"/>
                          </a:stretch>
                        </a:blipFill>
                      </a:tcPr>
                    </a:tc>
                    <a:extLst>
                      <a:ext uri="{0D108BD9-81ED-4DB2-BD59-A6C34878D82A}">
                        <a16:rowId xmlns:a16="http://schemas.microsoft.com/office/drawing/2014/main" val="3456739895"/>
                      </a:ext>
                    </a:extLst>
                  </a:tr>
                  <a:tr h="390864">
                    <a:tc>
                      <a:txBody>
                        <a:bodyPr/>
                        <a:lstStyle/>
                        <a:p>
                          <a:pPr algn="ctr" fontAlgn="b"/>
                          <a:r>
                            <a:rPr lang="en-NZ" sz="1600" b="1" i="0" u="none" strike="noStrike" dirty="0">
                              <a:solidFill>
                                <a:srgbClr val="FFFFFF"/>
                              </a:solidFill>
                              <a:effectLst/>
                              <a:latin typeface="Calibri" panose="020F0502020204030204" pitchFamily="34" charset="0"/>
                            </a:rPr>
                            <a:t>Cycle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vMerge="1">
                      <a:txBody>
                        <a:bodyPr/>
                        <a:lstStyle/>
                        <a:p>
                          <a:pPr algn="ctr" fontAlgn="b"/>
                          <a:endParaRPr lang="en-NZ" sz="18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5"/>
                          <a:stretch>
                            <a:fillRect l="-584496" t="-340625" r="-388" b="-15625"/>
                          </a:stretch>
                        </a:blipFill>
                      </a:tcPr>
                    </a:tc>
                    <a:extLst>
                      <a:ext uri="{0D108BD9-81ED-4DB2-BD59-A6C34878D82A}">
                        <a16:rowId xmlns:a16="http://schemas.microsoft.com/office/drawing/2014/main" val="12340972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629932FD-4654-BDD6-4AEE-5A2EAE74C212}"/>
                  </a:ext>
                </a:extLst>
              </p:cNvPr>
              <p:cNvGraphicFramePr>
                <a:graphicFrameLocks noGrp="1"/>
              </p:cNvGraphicFramePr>
              <p:nvPr>
                <p:extLst>
                  <p:ext uri="{D42A27DB-BD31-4B8C-83A1-F6EECF244321}">
                    <p14:modId xmlns:p14="http://schemas.microsoft.com/office/powerpoint/2010/main" val="4207499276"/>
                  </p:ext>
                </p:extLst>
              </p:nvPr>
            </p:nvGraphicFramePr>
            <p:xfrm>
              <a:off x="575683" y="4608408"/>
              <a:ext cx="9573919" cy="1505064"/>
            </p:xfrm>
            <a:graphic>
              <a:graphicData uri="http://schemas.openxmlformats.org/drawingml/2006/table">
                <a:tbl>
                  <a:tblPr/>
                  <a:tblGrid>
                    <a:gridCol w="1096223">
                      <a:extLst>
                        <a:ext uri="{9D8B030D-6E8A-4147-A177-3AD203B41FA5}">
                          <a16:colId xmlns:a16="http://schemas.microsoft.com/office/drawing/2014/main" val="4037610628"/>
                        </a:ext>
                      </a:extLst>
                    </a:gridCol>
                    <a:gridCol w="1066980">
                      <a:extLst>
                        <a:ext uri="{9D8B030D-6E8A-4147-A177-3AD203B41FA5}">
                          <a16:colId xmlns:a16="http://schemas.microsoft.com/office/drawing/2014/main" val="590370213"/>
                        </a:ext>
                      </a:extLst>
                    </a:gridCol>
                    <a:gridCol w="914029">
                      <a:extLst>
                        <a:ext uri="{9D8B030D-6E8A-4147-A177-3AD203B41FA5}">
                          <a16:colId xmlns:a16="http://schemas.microsoft.com/office/drawing/2014/main" val="3452557641"/>
                        </a:ext>
                      </a:extLst>
                    </a:gridCol>
                    <a:gridCol w="974967">
                      <a:extLst>
                        <a:ext uri="{9D8B030D-6E8A-4147-A177-3AD203B41FA5}">
                          <a16:colId xmlns:a16="http://schemas.microsoft.com/office/drawing/2014/main" val="3162769819"/>
                        </a:ext>
                      </a:extLst>
                    </a:gridCol>
                    <a:gridCol w="924818">
                      <a:extLst>
                        <a:ext uri="{9D8B030D-6E8A-4147-A177-3AD203B41FA5}">
                          <a16:colId xmlns:a16="http://schemas.microsoft.com/office/drawing/2014/main" val="3968378480"/>
                        </a:ext>
                      </a:extLst>
                    </a:gridCol>
                    <a:gridCol w="888003">
                      <a:extLst>
                        <a:ext uri="{9D8B030D-6E8A-4147-A177-3AD203B41FA5}">
                          <a16:colId xmlns:a16="http://schemas.microsoft.com/office/drawing/2014/main" val="2641096747"/>
                        </a:ext>
                      </a:extLst>
                    </a:gridCol>
                    <a:gridCol w="2139086">
                      <a:extLst>
                        <a:ext uri="{9D8B030D-6E8A-4147-A177-3AD203B41FA5}">
                          <a16:colId xmlns:a16="http://schemas.microsoft.com/office/drawing/2014/main" val="535598441"/>
                        </a:ext>
                      </a:extLst>
                    </a:gridCol>
                    <a:gridCol w="1569813">
                      <a:extLst>
                        <a:ext uri="{9D8B030D-6E8A-4147-A177-3AD203B41FA5}">
                          <a16:colId xmlns:a16="http://schemas.microsoft.com/office/drawing/2014/main" val="484258243"/>
                        </a:ext>
                      </a:extLst>
                    </a:gridCol>
                  </a:tblGrid>
                  <a:tr h="332472">
                    <a:tc>
                      <a:txBody>
                        <a:bodyPr/>
                        <a:lstStyle/>
                        <a:p>
                          <a:pPr algn="ctr" fontAlgn="b"/>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5">
                      <a:txBody>
                        <a:bodyPr/>
                        <a:lstStyle/>
                        <a:p>
                          <a:pPr algn="ctr" fontAlgn="b"/>
                          <a:r>
                            <a:rPr lang="en-NZ" sz="1600" b="1" i="0" u="none" strike="noStrike" dirty="0">
                              <a:solidFill>
                                <a:schemeClr val="bg1"/>
                              </a:solidFill>
                              <a:effectLst/>
                              <a:latin typeface="Calibri" panose="020F0502020204030204" pitchFamily="34" charset="0"/>
                            </a:rPr>
                            <a:t>Time in Mins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1" i="0" u="none" strike="noStrike" dirty="0">
                              <a:solidFill>
                                <a:schemeClr val="bg1"/>
                              </a:solidFill>
                              <a:effectLst/>
                              <a:latin typeface="Calibri" panose="020F0502020204030204" pitchFamily="34" charset="0"/>
                            </a:rPr>
                            <a:t>R Output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chemeClr val="bg1"/>
                              </a:solidFill>
                              <a:effectLst/>
                              <a:latin typeface="Calibri" panose="020F0502020204030204" pitchFamily="34" charset="0"/>
                            </a:rPr>
                            <a:t>Est Group 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777643406"/>
                      </a:ext>
                    </a:extLst>
                  </a:tr>
                  <a:tr h="390864">
                    <a:tc>
                      <a:txBody>
                        <a:bodyPr/>
                        <a:lstStyle/>
                        <a:p>
                          <a:pPr algn="ctr" fontAlgn="b"/>
                          <a:r>
                            <a:rPr lang="en-NZ" sz="1600" b="1" i="0" u="none" strike="noStrike" dirty="0">
                              <a:solidFill>
                                <a:srgbClr val="FFFFFF"/>
                              </a:solidFill>
                              <a:effectLst/>
                              <a:latin typeface="Calibri" panose="020F0502020204030204" pitchFamily="34" charset="0"/>
                            </a:rPr>
                            <a:t>Bus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FF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1</m:t>
                                  </m:r>
                                </m:sub>
                              </m:sSub>
                              <m:r>
                                <a:rPr lang="en-NZ" sz="1600" b="0" i="1" u="none" strike="noStrike" smtClean="0">
                                  <a:solidFill>
                                    <a:srgbClr val="FF0000"/>
                                  </a:solidFill>
                                  <a:effectLst/>
                                  <a:latin typeface="Cambria Math" panose="02040503050406030204" pitchFamily="18" charset="0"/>
                                </a:rPr>
                                <m:t>=24.80</m:t>
                              </m:r>
                            </m:oMath>
                          </a14:m>
                          <a:endParaRPr lang="en-NZ" sz="16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1</m:t>
                                  </m:r>
                                </m:sub>
                              </m:sSub>
                              <m:r>
                                <a:rPr lang="en-NZ" sz="1600" b="0" i="0" u="none" strike="noStrike" smtClean="0">
                                  <a:solidFill>
                                    <a:srgbClr val="FF0000"/>
                                  </a:solidFill>
                                  <a:effectLst/>
                                  <a:latin typeface="Cambria Math" panose="02040503050406030204" pitchFamily="18" charset="0"/>
                                </a:rPr>
                                <m:t> </m:t>
                              </m:r>
                            </m:oMath>
                          </a14:m>
                          <a:r>
                            <a:rPr lang="en-NZ" sz="1600" b="0" i="0" u="none" strike="noStrike" dirty="0">
                              <a:solidFill>
                                <a:srgbClr val="FF0000"/>
                              </a:solidFill>
                              <a:effectLst/>
                              <a:latin typeface="Calibri" panose="020F0502020204030204" pitchFamily="34" charset="0"/>
                            </a:rPr>
                            <a:t>= 24.80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390864">
                    <a:tc>
                      <a:txBody>
                        <a:bodyPr/>
                        <a:lstStyle/>
                        <a:p>
                          <a:pPr algn="ctr" fontAlgn="b"/>
                          <a:r>
                            <a:rPr lang="en-NZ" sz="1600" b="1" i="0" u="none" strike="noStrike" dirty="0">
                              <a:solidFill>
                                <a:srgbClr val="FFFFFF"/>
                              </a:solidFill>
                              <a:effectLst/>
                              <a:latin typeface="Calibri" panose="020F0502020204030204" pitchFamily="34" charset="0"/>
                            </a:rPr>
                            <a:t>Car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25.00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FF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2</m:t>
                                  </m:r>
                                </m:sub>
                              </m:sSub>
                              <m:r>
                                <a:rPr lang="en-NZ" sz="1600" b="0" i="1" u="none" strike="noStrike" smtClean="0">
                                  <a:solidFill>
                                    <a:srgbClr val="FF0000"/>
                                  </a:solidFill>
                                  <a:effectLst/>
                                  <a:latin typeface="Cambria Math" panose="02040503050406030204" pitchFamily="18" charset="0"/>
                                </a:rPr>
                                <m:t> −</m:t>
                              </m:r>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1</m:t>
                                  </m:r>
                                </m:sub>
                              </m:sSub>
                              <m:r>
                                <a:rPr lang="en-NZ" sz="1600" b="0" i="1" u="none" strike="noStrike" smtClean="0">
                                  <a:solidFill>
                                    <a:srgbClr val="FF0000"/>
                                  </a:solidFill>
                                  <a:effectLst/>
                                  <a:latin typeface="Cambria Math" panose="02040503050406030204" pitchFamily="18" charset="0"/>
                                </a:rPr>
                                <m:t>=−0.30</m:t>
                              </m:r>
                            </m:oMath>
                          </a14:m>
                          <a:endParaRPr lang="en-NZ" sz="16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2</m:t>
                                  </m:r>
                                </m:sub>
                              </m:sSub>
                            </m:oMath>
                          </a14:m>
                          <a:r>
                            <a:rPr lang="en-NZ" sz="1600" b="0" i="0" u="none" strike="noStrike" dirty="0">
                              <a:solidFill>
                                <a:srgbClr val="FF0000"/>
                              </a:solidFill>
                              <a:effectLst/>
                              <a:latin typeface="Calibri" panose="020F0502020204030204" pitchFamily="34" charset="0"/>
                            </a:rPr>
                            <a:t> = 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r h="390864">
                    <a:tc>
                      <a:txBody>
                        <a:bodyPr/>
                        <a:lstStyle/>
                        <a:p>
                          <a:pPr algn="ctr" fontAlgn="b"/>
                          <a:r>
                            <a:rPr lang="en-NZ" sz="1600" b="1" i="0" u="none" strike="noStrike" dirty="0">
                              <a:solidFill>
                                <a:srgbClr val="FFFFFF"/>
                              </a:solidFill>
                              <a:effectLst/>
                              <a:latin typeface="Calibri" panose="020F0502020204030204" pitchFamily="34" charset="0"/>
                            </a:rPr>
                            <a:t>Cycle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FF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3</m:t>
                                  </m:r>
                                </m:sub>
                              </m:sSub>
                              <m:r>
                                <a:rPr lang="en-NZ" sz="1600" b="0" i="1" u="none" strike="noStrike" smtClean="0">
                                  <a:solidFill>
                                    <a:srgbClr val="FF0000"/>
                                  </a:solidFill>
                                  <a:effectLst/>
                                  <a:latin typeface="Cambria Math" panose="02040503050406030204" pitchFamily="18" charset="0"/>
                                </a:rPr>
                                <m:t> −</m:t>
                              </m:r>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1</m:t>
                                  </m:r>
                                </m:sub>
                              </m:sSub>
                              <m:r>
                                <a:rPr lang="en-NZ" sz="1600" b="0" i="1" u="none" strike="noStrike" smtClean="0">
                                  <a:solidFill>
                                    <a:srgbClr val="FF0000"/>
                                  </a:solidFill>
                                  <a:effectLst/>
                                  <a:latin typeface="Cambria Math" panose="02040503050406030204" pitchFamily="18" charset="0"/>
                                </a:rPr>
                                <m:t>=3.95 </m:t>
                              </m:r>
                            </m:oMath>
                          </a14:m>
                          <a:endParaRPr lang="en-NZ" sz="1600" b="0" i="0" u="none" strike="noStrike" dirty="0">
                            <a:solidFill>
                              <a:srgbClr val="FF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14:m>
                            <m:oMath xmlns:m="http://schemas.openxmlformats.org/officeDocument/2006/math">
                              <m:sSub>
                                <m:sSubPr>
                                  <m:ctrlPr>
                                    <a:rPr lang="en-NZ" sz="1600" b="0" i="1" u="none" strike="noStrike" smtClean="0">
                                      <a:solidFill>
                                        <a:srgbClr val="FF0000"/>
                                      </a:solidFill>
                                      <a:effectLst/>
                                      <a:latin typeface="Cambria Math" panose="02040503050406030204" pitchFamily="18" charset="0"/>
                                    </a:rPr>
                                  </m:ctrlPr>
                                </m:sSubPr>
                                <m:e>
                                  <m:acc>
                                    <m:accPr>
                                      <m:chr m:val="̂"/>
                                      <m:ctrlPr>
                                        <a:rPr lang="en-NZ" sz="1600" b="0" i="1" u="none" strike="noStrike" smtClean="0">
                                          <a:solidFill>
                                            <a:srgbClr val="FF0000"/>
                                          </a:solidFill>
                                          <a:effectLst/>
                                          <a:latin typeface="Cambria Math" panose="02040503050406030204" pitchFamily="18" charset="0"/>
                                        </a:rPr>
                                      </m:ctrlPr>
                                    </m:accPr>
                                    <m:e>
                                      <m:r>
                                        <a:rPr lang="en-NZ" sz="1600" b="0" i="1" u="none" strike="noStrike" smtClean="0">
                                          <a:solidFill>
                                            <a:srgbClr val="FF0000"/>
                                          </a:solidFill>
                                          <a:effectLst/>
                                          <a:latin typeface="Cambria Math" panose="02040503050406030204" pitchFamily="18" charset="0"/>
                                        </a:rPr>
                                        <m:t>𝜇</m:t>
                                      </m:r>
                                    </m:e>
                                  </m:acc>
                                </m:e>
                                <m:sub>
                                  <m:r>
                                    <a:rPr lang="en-NZ" sz="1600" b="0" i="1" u="none" strike="noStrike" smtClean="0">
                                      <a:solidFill>
                                        <a:srgbClr val="FF0000"/>
                                      </a:solidFill>
                                      <a:effectLst/>
                                      <a:latin typeface="Cambria Math" panose="02040503050406030204" pitchFamily="18" charset="0"/>
                                    </a:rPr>
                                    <m:t>3</m:t>
                                  </m:r>
                                </m:sub>
                              </m:sSub>
                            </m:oMath>
                          </a14:m>
                          <a:r>
                            <a:rPr lang="en-NZ" sz="1600" b="0" i="0" u="none" strike="noStrike" dirty="0">
                              <a:solidFill>
                                <a:srgbClr val="FF0000"/>
                              </a:solidFill>
                              <a:effectLst/>
                              <a:latin typeface="Calibri" panose="020F0502020204030204" pitchFamily="34" charset="0"/>
                            </a:rPr>
                            <a:t> = 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34097281"/>
                      </a:ext>
                    </a:extLst>
                  </a:tr>
                </a:tbl>
              </a:graphicData>
            </a:graphic>
          </p:graphicFrame>
        </mc:Choice>
        <mc:Fallback xmlns="">
          <p:graphicFrame>
            <p:nvGraphicFramePr>
              <p:cNvPr id="18" name="Table 17">
                <a:extLst>
                  <a:ext uri="{FF2B5EF4-FFF2-40B4-BE49-F238E27FC236}">
                    <a16:creationId xmlns:a16="http://schemas.microsoft.com/office/drawing/2014/main" id="{629932FD-4654-BDD6-4AEE-5A2EAE74C212}"/>
                  </a:ext>
                </a:extLst>
              </p:cNvPr>
              <p:cNvGraphicFramePr>
                <a:graphicFrameLocks noGrp="1"/>
              </p:cNvGraphicFramePr>
              <p:nvPr>
                <p:extLst>
                  <p:ext uri="{D42A27DB-BD31-4B8C-83A1-F6EECF244321}">
                    <p14:modId xmlns:p14="http://schemas.microsoft.com/office/powerpoint/2010/main" val="4207499276"/>
                  </p:ext>
                </p:extLst>
              </p:nvPr>
            </p:nvGraphicFramePr>
            <p:xfrm>
              <a:off x="575683" y="4608408"/>
              <a:ext cx="9573919" cy="1505064"/>
            </p:xfrm>
            <a:graphic>
              <a:graphicData uri="http://schemas.openxmlformats.org/drawingml/2006/table">
                <a:tbl>
                  <a:tblPr/>
                  <a:tblGrid>
                    <a:gridCol w="1096223">
                      <a:extLst>
                        <a:ext uri="{9D8B030D-6E8A-4147-A177-3AD203B41FA5}">
                          <a16:colId xmlns:a16="http://schemas.microsoft.com/office/drawing/2014/main" val="4037610628"/>
                        </a:ext>
                      </a:extLst>
                    </a:gridCol>
                    <a:gridCol w="1066980">
                      <a:extLst>
                        <a:ext uri="{9D8B030D-6E8A-4147-A177-3AD203B41FA5}">
                          <a16:colId xmlns:a16="http://schemas.microsoft.com/office/drawing/2014/main" val="590370213"/>
                        </a:ext>
                      </a:extLst>
                    </a:gridCol>
                    <a:gridCol w="914029">
                      <a:extLst>
                        <a:ext uri="{9D8B030D-6E8A-4147-A177-3AD203B41FA5}">
                          <a16:colId xmlns:a16="http://schemas.microsoft.com/office/drawing/2014/main" val="3452557641"/>
                        </a:ext>
                      </a:extLst>
                    </a:gridCol>
                    <a:gridCol w="974967">
                      <a:extLst>
                        <a:ext uri="{9D8B030D-6E8A-4147-A177-3AD203B41FA5}">
                          <a16:colId xmlns:a16="http://schemas.microsoft.com/office/drawing/2014/main" val="3162769819"/>
                        </a:ext>
                      </a:extLst>
                    </a:gridCol>
                    <a:gridCol w="924818">
                      <a:extLst>
                        <a:ext uri="{9D8B030D-6E8A-4147-A177-3AD203B41FA5}">
                          <a16:colId xmlns:a16="http://schemas.microsoft.com/office/drawing/2014/main" val="3968378480"/>
                        </a:ext>
                      </a:extLst>
                    </a:gridCol>
                    <a:gridCol w="888003">
                      <a:extLst>
                        <a:ext uri="{9D8B030D-6E8A-4147-A177-3AD203B41FA5}">
                          <a16:colId xmlns:a16="http://schemas.microsoft.com/office/drawing/2014/main" val="2641096747"/>
                        </a:ext>
                      </a:extLst>
                    </a:gridCol>
                    <a:gridCol w="2139086">
                      <a:extLst>
                        <a:ext uri="{9D8B030D-6E8A-4147-A177-3AD203B41FA5}">
                          <a16:colId xmlns:a16="http://schemas.microsoft.com/office/drawing/2014/main" val="535598441"/>
                        </a:ext>
                      </a:extLst>
                    </a:gridCol>
                    <a:gridCol w="1569813">
                      <a:extLst>
                        <a:ext uri="{9D8B030D-6E8A-4147-A177-3AD203B41FA5}">
                          <a16:colId xmlns:a16="http://schemas.microsoft.com/office/drawing/2014/main" val="484258243"/>
                        </a:ext>
                      </a:extLst>
                    </a:gridCol>
                  </a:tblGrid>
                  <a:tr h="332472">
                    <a:tc>
                      <a:txBody>
                        <a:bodyPr/>
                        <a:lstStyle/>
                        <a:p>
                          <a:pPr algn="ctr" fontAlgn="b"/>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5">
                      <a:txBody>
                        <a:bodyPr/>
                        <a:lstStyle/>
                        <a:p>
                          <a:pPr algn="ctr" fontAlgn="b"/>
                          <a:r>
                            <a:rPr lang="en-NZ" sz="1600" b="1" i="0" u="none" strike="noStrike" dirty="0">
                              <a:solidFill>
                                <a:schemeClr val="bg1"/>
                              </a:solidFill>
                              <a:effectLst/>
                              <a:latin typeface="Calibri" panose="020F0502020204030204" pitchFamily="34" charset="0"/>
                            </a:rPr>
                            <a:t>Time in Mins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1" i="0" u="none" strike="noStrike" dirty="0">
                              <a:solidFill>
                                <a:schemeClr val="bg1"/>
                              </a:solidFill>
                              <a:effectLst/>
                              <a:latin typeface="Calibri" panose="020F0502020204030204" pitchFamily="34" charset="0"/>
                            </a:rPr>
                            <a:t>R Output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chemeClr val="bg1"/>
                              </a:solidFill>
                              <a:effectLst/>
                              <a:latin typeface="Calibri" panose="020F0502020204030204" pitchFamily="34" charset="0"/>
                            </a:rPr>
                            <a:t>Est Group 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777643406"/>
                      </a:ext>
                    </a:extLst>
                  </a:tr>
                  <a:tr h="390864">
                    <a:tc>
                      <a:txBody>
                        <a:bodyPr/>
                        <a:lstStyle/>
                        <a:p>
                          <a:pPr algn="ctr" fontAlgn="b"/>
                          <a:r>
                            <a:rPr lang="en-NZ" sz="1600" b="1" i="0" u="none" strike="noStrike" dirty="0">
                              <a:solidFill>
                                <a:srgbClr val="FFFFFF"/>
                              </a:solidFill>
                              <a:effectLst/>
                              <a:latin typeface="Calibri" panose="020F0502020204030204" pitchFamily="34" charset="0"/>
                            </a:rPr>
                            <a:t>Bus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6"/>
                          <a:stretch>
                            <a:fillRect l="-274359" t="-85938" r="-74074" b="-217188"/>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6"/>
                          <a:stretch>
                            <a:fillRect l="-509302" t="-85938" r="-775" b="-217188"/>
                          </a:stretch>
                        </a:blipFill>
                      </a:tcPr>
                    </a:tc>
                    <a:extLst>
                      <a:ext uri="{0D108BD9-81ED-4DB2-BD59-A6C34878D82A}">
                        <a16:rowId xmlns:a16="http://schemas.microsoft.com/office/drawing/2014/main" val="4064976744"/>
                      </a:ext>
                    </a:extLst>
                  </a:tr>
                  <a:tr h="390864">
                    <a:tc>
                      <a:txBody>
                        <a:bodyPr/>
                        <a:lstStyle/>
                        <a:p>
                          <a:pPr algn="ctr" fontAlgn="b"/>
                          <a:r>
                            <a:rPr lang="en-NZ" sz="1600" b="1" i="0" u="none" strike="noStrike" dirty="0">
                              <a:solidFill>
                                <a:srgbClr val="FFFFFF"/>
                              </a:solidFill>
                              <a:effectLst/>
                              <a:latin typeface="Calibri" panose="020F0502020204030204" pitchFamily="34" charset="0"/>
                            </a:rPr>
                            <a:t>Car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23.00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25.00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24.50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6"/>
                          <a:stretch>
                            <a:fillRect l="-274359" t="-183077" r="-74074" b="-113846"/>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6"/>
                          <a:stretch>
                            <a:fillRect l="-509302" t="-183077" r="-775" b="-113846"/>
                          </a:stretch>
                        </a:blipFill>
                      </a:tcPr>
                    </a:tc>
                    <a:extLst>
                      <a:ext uri="{0D108BD9-81ED-4DB2-BD59-A6C34878D82A}">
                        <a16:rowId xmlns:a16="http://schemas.microsoft.com/office/drawing/2014/main" val="3456739895"/>
                      </a:ext>
                    </a:extLst>
                  </a:tr>
                  <a:tr h="390864">
                    <a:tc>
                      <a:txBody>
                        <a:bodyPr/>
                        <a:lstStyle/>
                        <a:p>
                          <a:pPr algn="ctr" fontAlgn="b"/>
                          <a:r>
                            <a:rPr lang="en-NZ" sz="1600" b="1" i="0" u="none" strike="noStrike" dirty="0">
                              <a:solidFill>
                                <a:srgbClr val="FFFFFF"/>
                              </a:solidFill>
                              <a:effectLst/>
                              <a:latin typeface="Calibri" panose="020F0502020204030204" pitchFamily="34" charset="0"/>
                            </a:rPr>
                            <a:t>Cycle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29.00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6"/>
                          <a:stretch>
                            <a:fillRect l="-274359" t="-287500" r="-74074" b="-15625"/>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6"/>
                          <a:stretch>
                            <a:fillRect l="-509302" t="-287500" r="-775" b="-15625"/>
                          </a:stretch>
                        </a:blipFill>
                      </a:tcPr>
                    </a:tc>
                    <a:extLst>
                      <a:ext uri="{0D108BD9-81ED-4DB2-BD59-A6C34878D82A}">
                        <a16:rowId xmlns:a16="http://schemas.microsoft.com/office/drawing/2014/main" val="1234097281"/>
                      </a:ext>
                    </a:extLst>
                  </a:tr>
                </a:tbl>
              </a:graphicData>
            </a:graphic>
          </p:graphicFrame>
        </mc:Fallback>
      </mc:AlternateContent>
    </p:spTree>
    <p:extLst>
      <p:ext uri="{BB962C8B-B14F-4D97-AF65-F5344CB8AC3E}">
        <p14:creationId xmlns:p14="http://schemas.microsoft.com/office/powerpoint/2010/main" val="21342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7326217" y="1949986"/>
            <a:ext cx="4191644" cy="30636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sng"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Normal Theory ANOVA Results: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F-Statistic = 3.57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DF = (2,12)</a:t>
            </a:r>
          </a:p>
          <a:p>
            <a:pPr marR="0" lvl="0" algn="just" defTabSz="914324" rtl="0" eaLnBrk="1" fontAlgn="auto" latinLnBrk="0" hangingPunct="1">
              <a:lnSpc>
                <a:spcPct val="100000"/>
              </a:lnSpc>
              <a:spcBef>
                <a:spcPts val="0"/>
              </a:spcBef>
              <a:spcAft>
                <a:spcPts val="0"/>
              </a:spcAft>
              <a:buClrTx/>
              <a:buSzTx/>
              <a:tabLst/>
              <a:defRPr/>
            </a:pPr>
            <a:r>
              <a:rPr lang="en-NZ" altLang="ja-JP" sz="1800" dirty="0">
                <a:solidFill>
                  <a:schemeClr val="tx1"/>
                </a:solidFill>
                <a:latin typeface="Calibri" panose="020F0502020204030204"/>
                <a:ea typeface="游ゴシック" panose="020B0400000000000000" pitchFamily="34" charset="-128"/>
              </a:rPr>
              <a:t>P-value = 0.06073</a:t>
            </a:r>
          </a:p>
          <a:p>
            <a:pPr marR="0" lvl="0" algn="just" defTabSz="914324" rtl="0" eaLnBrk="1" fontAlgn="auto" latinLnBrk="0" hangingPunct="1">
              <a:lnSpc>
                <a:spcPct val="100000"/>
              </a:lnSpc>
              <a:spcBef>
                <a:spcPts val="0"/>
              </a:spcBef>
              <a:spcAft>
                <a:spcPts val="0"/>
              </a:spcAft>
              <a:buClrTx/>
              <a:buSzTx/>
              <a:tabLst/>
              <a:defRPr/>
            </a:pPr>
            <a:endParaRPr lang="en-NZ" altLang="ja-JP" sz="1800" dirty="0">
              <a:solidFill>
                <a:schemeClr val="tx1"/>
              </a:solidFill>
              <a:latin typeface="Calibri" panose="020F0502020204030204"/>
              <a:ea typeface="游ゴシック" panose="020B0400000000000000" pitchFamily="34" charset="-128"/>
            </a:endParaRPr>
          </a:p>
          <a:p>
            <a:pPr marL="285750" marR="0" lvl="0" indent="-285750" algn="just" defTabSz="914324" rtl="0" eaLnBrk="1" fontAlgn="auto" latinLnBrk="0" hangingPunct="1">
              <a:lnSpc>
                <a:spcPct val="100000"/>
              </a:lnSpc>
              <a:spcBef>
                <a:spcPts val="0"/>
              </a:spcBef>
              <a:spcAft>
                <a:spcPts val="0"/>
              </a:spcAft>
              <a:buClrTx/>
              <a:buSzTx/>
              <a:buFont typeface="Symbol" panose="05050102010706020507" pitchFamily="18" charset="2"/>
              <a:buChar char="Þ"/>
              <a:tabLst/>
              <a:defRPr/>
            </a:pPr>
            <a:r>
              <a:rPr lang="en-NZ" altLang="ja-JP" sz="1800" dirty="0">
                <a:solidFill>
                  <a:schemeClr val="tx1"/>
                </a:solidFill>
                <a:latin typeface="Calibri" panose="020F0502020204030204"/>
                <a:ea typeface="游ゴシック" panose="020B0400000000000000" pitchFamily="34" charset="-128"/>
              </a:rPr>
              <a:t>IF ANOVA conditions hold then weak evidence against </a:t>
            </a:r>
            <a:r>
              <a:rPr lang="en-NZ" altLang="ja-JP" sz="1800" b="1" i="1" dirty="0">
                <a:solidFill>
                  <a:schemeClr val="tx1"/>
                </a:solidFill>
                <a:latin typeface="Calibri" panose="020F0502020204030204"/>
                <a:ea typeface="游ゴシック" panose="020B0400000000000000" pitchFamily="34" charset="-128"/>
              </a:rPr>
              <a:t>H</a:t>
            </a:r>
            <a:r>
              <a:rPr lang="en-NZ" altLang="ja-JP" sz="1800" b="1" i="1" baseline="-25000" dirty="0">
                <a:solidFill>
                  <a:schemeClr val="tx1"/>
                </a:solidFill>
                <a:latin typeface="Calibri" panose="020F0502020204030204"/>
                <a:ea typeface="游ゴシック" panose="020B0400000000000000" pitchFamily="34" charset="-128"/>
              </a:rPr>
              <a:t>0</a:t>
            </a:r>
            <a:r>
              <a:rPr lang="en-NZ" altLang="ja-JP" sz="1800" dirty="0">
                <a:solidFill>
                  <a:schemeClr val="tx1"/>
                </a:solidFill>
                <a:latin typeface="Calibri" panose="020F0502020204030204"/>
                <a:ea typeface="游ゴシック" panose="020B0400000000000000" pitchFamily="34" charset="-128"/>
              </a:rPr>
              <a:t>.</a:t>
            </a:r>
          </a:p>
          <a:p>
            <a:pPr marR="0" lvl="0" algn="just" defTabSz="914324" rtl="0" eaLnBrk="1" fontAlgn="auto" latinLnBrk="0" hangingPunct="1">
              <a:lnSpc>
                <a:spcPct val="100000"/>
              </a:lnSpc>
              <a:spcBef>
                <a:spcPts val="0"/>
              </a:spcBef>
              <a:spcAft>
                <a:spcPts val="0"/>
              </a:spcAft>
              <a:buClrTx/>
              <a:buSzTx/>
              <a:tabLst/>
              <a:defRPr/>
            </a:pPr>
            <a:endParaRPr lang="en-NZ" altLang="ja-JP" sz="1800" dirty="0">
              <a:solidFill>
                <a:schemeClr val="tx1"/>
              </a:solidFill>
              <a:latin typeface="Calibri" panose="020F0502020204030204"/>
              <a:ea typeface="游ゴシック" panose="020B0400000000000000" pitchFamily="34" charset="-128"/>
            </a:endParaRPr>
          </a:p>
          <a:p>
            <a:pPr marR="0" lvl="0" algn="just" defTabSz="914324" rtl="0" eaLnBrk="1" fontAlgn="auto" latinLnBrk="0" hangingPunct="1">
              <a:lnSpc>
                <a:spcPct val="100000"/>
              </a:lnSpc>
              <a:spcBef>
                <a:spcPts val="0"/>
              </a:spcBef>
              <a:spcAft>
                <a:spcPts val="0"/>
              </a:spcAft>
              <a:buClrTx/>
              <a:buSzTx/>
              <a:tabLst/>
              <a:defRPr/>
            </a:pPr>
            <a:r>
              <a:rPr lang="en-NZ" altLang="ja-JP" sz="1800" dirty="0">
                <a:solidFill>
                  <a:schemeClr val="tx1"/>
                </a:solidFill>
                <a:latin typeface="Calibri" panose="020F0502020204030204"/>
                <a:ea typeface="游ゴシック" panose="020B0400000000000000" pitchFamily="34" charset="-128"/>
              </a:rPr>
              <a:t>However, sample size too small to determine if ANOVA conditions hold</a:t>
            </a:r>
          </a:p>
          <a:p>
            <a:pPr marL="285750" marR="0" lvl="0" indent="-285750" algn="just" defTabSz="914324" rtl="0" eaLnBrk="1" fontAlgn="auto" latinLnBrk="0" hangingPunct="1">
              <a:lnSpc>
                <a:spcPct val="100000"/>
              </a:lnSpc>
              <a:spcBef>
                <a:spcPts val="0"/>
              </a:spcBef>
              <a:spcAft>
                <a:spcPts val="0"/>
              </a:spcAft>
              <a:buClrTx/>
              <a:buSzTx/>
              <a:buFont typeface="Symbol" panose="05050102010706020507" pitchFamily="18" charset="2"/>
              <a:buChar char="Þ"/>
              <a:tabLst/>
              <a:defRPr/>
            </a:pP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4" name="Title 6">
            <a:extLst>
              <a:ext uri="{FF2B5EF4-FFF2-40B4-BE49-F238E27FC236}">
                <a16:creationId xmlns:a16="http://schemas.microsoft.com/office/drawing/2014/main" id="{7E26098E-3C45-4BDB-951F-49424A94151B}"/>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3.5b – Transport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FDE96B8-F8EF-4229-8B3F-A6F62E88197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3.5 - Transport Study (One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Footer Placeholder 2">
            <a:extLst>
              <a:ext uri="{FF2B5EF4-FFF2-40B4-BE49-F238E27FC236}">
                <a16:creationId xmlns:a16="http://schemas.microsoft.com/office/drawing/2014/main" id="{BE54B05B-8782-4E6B-BAC5-3586FA4EABAB}"/>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3.5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00F0DEF8-55E0-420B-9A2D-AC2B9ECF54B8}"/>
              </a:ext>
            </a:extLst>
          </p:cNvPr>
          <p:cNvPicPr>
            <a:picLocks noChangeAspect="1"/>
          </p:cNvPicPr>
          <p:nvPr/>
        </p:nvPicPr>
        <p:blipFill>
          <a:blip r:embed="rId3"/>
          <a:stretch>
            <a:fillRect/>
          </a:stretch>
        </p:blipFill>
        <p:spPr>
          <a:xfrm>
            <a:off x="319463" y="1527328"/>
            <a:ext cx="4965938" cy="532826"/>
          </a:xfrm>
          <a:prstGeom prst="rect">
            <a:avLst/>
          </a:prstGeom>
        </p:spPr>
      </p:pic>
      <p:pic>
        <p:nvPicPr>
          <p:cNvPr id="6" name="Picture 5">
            <a:extLst>
              <a:ext uri="{FF2B5EF4-FFF2-40B4-BE49-F238E27FC236}">
                <a16:creationId xmlns:a16="http://schemas.microsoft.com/office/drawing/2014/main" id="{DB993D3F-BE94-4637-9688-5A0B18702855}"/>
              </a:ext>
            </a:extLst>
          </p:cNvPr>
          <p:cNvPicPr>
            <a:picLocks noChangeAspect="1"/>
          </p:cNvPicPr>
          <p:nvPr/>
        </p:nvPicPr>
        <p:blipFill>
          <a:blip r:embed="rId4"/>
          <a:stretch>
            <a:fillRect/>
          </a:stretch>
        </p:blipFill>
        <p:spPr>
          <a:xfrm>
            <a:off x="319463" y="2155516"/>
            <a:ext cx="4980548" cy="400397"/>
          </a:xfrm>
          <a:prstGeom prst="rect">
            <a:avLst/>
          </a:prstGeom>
        </p:spPr>
      </p:pic>
      <p:pic>
        <p:nvPicPr>
          <p:cNvPr id="8" name="Picture 7">
            <a:extLst>
              <a:ext uri="{FF2B5EF4-FFF2-40B4-BE49-F238E27FC236}">
                <a16:creationId xmlns:a16="http://schemas.microsoft.com/office/drawing/2014/main" id="{984FFD79-F670-4243-AA8C-827A93A4C3FD}"/>
              </a:ext>
            </a:extLst>
          </p:cNvPr>
          <p:cNvPicPr>
            <a:picLocks noChangeAspect="1"/>
          </p:cNvPicPr>
          <p:nvPr/>
        </p:nvPicPr>
        <p:blipFill>
          <a:blip r:embed="rId5"/>
          <a:stretch>
            <a:fillRect/>
          </a:stretch>
        </p:blipFill>
        <p:spPr>
          <a:xfrm>
            <a:off x="316768" y="2782803"/>
            <a:ext cx="6324600" cy="952500"/>
          </a:xfrm>
          <a:prstGeom prst="rect">
            <a:avLst/>
          </a:prstGeom>
        </p:spPr>
      </p:pic>
      <p:pic>
        <p:nvPicPr>
          <p:cNvPr id="16" name="Picture 15">
            <a:extLst>
              <a:ext uri="{FF2B5EF4-FFF2-40B4-BE49-F238E27FC236}">
                <a16:creationId xmlns:a16="http://schemas.microsoft.com/office/drawing/2014/main" id="{4D1FD14E-6299-470F-A977-68C15B328595}"/>
              </a:ext>
            </a:extLst>
          </p:cNvPr>
          <p:cNvPicPr>
            <a:picLocks noChangeAspect="1"/>
          </p:cNvPicPr>
          <p:nvPr/>
        </p:nvPicPr>
        <p:blipFill>
          <a:blip r:embed="rId6"/>
          <a:stretch>
            <a:fillRect/>
          </a:stretch>
        </p:blipFill>
        <p:spPr>
          <a:xfrm>
            <a:off x="316768" y="3962193"/>
            <a:ext cx="6162675" cy="1514475"/>
          </a:xfrm>
          <a:prstGeom prst="rect">
            <a:avLst/>
          </a:prstGeom>
        </p:spPr>
      </p:pic>
      <p:sp>
        <p:nvSpPr>
          <p:cNvPr id="13" name="Oval 12">
            <a:extLst>
              <a:ext uri="{FF2B5EF4-FFF2-40B4-BE49-F238E27FC236}">
                <a16:creationId xmlns:a16="http://schemas.microsoft.com/office/drawing/2014/main" id="{F278FB6D-9233-A152-71EF-97731E6F00FC}"/>
              </a:ext>
            </a:extLst>
          </p:cNvPr>
          <p:cNvSpPr/>
          <p:nvPr/>
        </p:nvSpPr>
        <p:spPr>
          <a:xfrm>
            <a:off x="1495002" y="3193996"/>
            <a:ext cx="3281713" cy="2175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5" name="Oval 14">
            <a:extLst>
              <a:ext uri="{FF2B5EF4-FFF2-40B4-BE49-F238E27FC236}">
                <a16:creationId xmlns:a16="http://schemas.microsoft.com/office/drawing/2014/main" id="{924AE9E2-2977-F971-CB05-EAAE7B4447C1}"/>
              </a:ext>
            </a:extLst>
          </p:cNvPr>
          <p:cNvSpPr/>
          <p:nvPr/>
        </p:nvSpPr>
        <p:spPr>
          <a:xfrm>
            <a:off x="1168881" y="4354045"/>
            <a:ext cx="2051992" cy="56418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5" name="Straight Arrow Connector 4">
            <a:extLst>
              <a:ext uri="{FF2B5EF4-FFF2-40B4-BE49-F238E27FC236}">
                <a16:creationId xmlns:a16="http://schemas.microsoft.com/office/drawing/2014/main" id="{8DA03F99-CFF6-19E7-C2BC-C5E406707FE4}"/>
              </a:ext>
            </a:extLst>
          </p:cNvPr>
          <p:cNvCxnSpPr>
            <a:stCxn id="13" idx="6"/>
          </p:cNvCxnSpPr>
          <p:nvPr/>
        </p:nvCxnSpPr>
        <p:spPr>
          <a:xfrm flipV="1">
            <a:off x="4776715" y="2155516"/>
            <a:ext cx="2661315" cy="1147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DA80F10-5806-51B7-F628-7A96000B343B}"/>
              </a:ext>
            </a:extLst>
          </p:cNvPr>
          <p:cNvCxnSpPr>
            <a:cxnSpLocks/>
          </p:cNvCxnSpPr>
          <p:nvPr/>
        </p:nvCxnSpPr>
        <p:spPr>
          <a:xfrm flipV="1">
            <a:off x="3220873" y="2198535"/>
            <a:ext cx="4217157" cy="24305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12347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947A9ED-301A-4BD0-A5F4-0F53B65C4A13}"/>
              </a:ext>
            </a:extLst>
          </p:cNvPr>
          <p:cNvPicPr>
            <a:picLocks noChangeAspect="1"/>
          </p:cNvPicPr>
          <p:nvPr/>
        </p:nvPicPr>
        <p:blipFill>
          <a:blip r:embed="rId2"/>
          <a:stretch>
            <a:fillRect/>
          </a:stretch>
        </p:blipFill>
        <p:spPr>
          <a:xfrm>
            <a:off x="6906601" y="29116"/>
            <a:ext cx="4735020" cy="5144066"/>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7E26098E-3C45-4BDB-951F-49424A94151B}"/>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3.5b – Transport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FDE96B8-F8EF-4229-8B3F-A6F62E88197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3.5 - Transport Study (One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Footer Placeholder 2">
            <a:extLst>
              <a:ext uri="{FF2B5EF4-FFF2-40B4-BE49-F238E27FC236}">
                <a16:creationId xmlns:a16="http://schemas.microsoft.com/office/drawing/2014/main" id="{BE54B05B-8782-4E6B-BAC5-3586FA4EABAB}"/>
              </a:ext>
            </a:extLst>
          </p:cNvPr>
          <p:cNvSpPr txBox="1">
            <a:spLocks/>
          </p:cNvSpPr>
          <p:nvPr/>
        </p:nvSpPr>
        <p:spPr>
          <a:xfrm>
            <a:off x="8698173" y="86139"/>
            <a:ext cx="3391192"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3.5 – The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Package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00F0DEF8-55E0-420B-9A2D-AC2B9ECF54B8}"/>
              </a:ext>
            </a:extLst>
          </p:cNvPr>
          <p:cNvPicPr>
            <a:picLocks noChangeAspect="1"/>
          </p:cNvPicPr>
          <p:nvPr/>
        </p:nvPicPr>
        <p:blipFill>
          <a:blip r:embed="rId4"/>
          <a:stretch>
            <a:fillRect/>
          </a:stretch>
        </p:blipFill>
        <p:spPr>
          <a:xfrm>
            <a:off x="319463" y="1527328"/>
            <a:ext cx="4965938" cy="532826"/>
          </a:xfrm>
          <a:prstGeom prst="rect">
            <a:avLst/>
          </a:prstGeom>
        </p:spPr>
      </p:pic>
      <p:pic>
        <p:nvPicPr>
          <p:cNvPr id="6" name="Picture 5">
            <a:extLst>
              <a:ext uri="{FF2B5EF4-FFF2-40B4-BE49-F238E27FC236}">
                <a16:creationId xmlns:a16="http://schemas.microsoft.com/office/drawing/2014/main" id="{DB993D3F-BE94-4637-9688-5A0B18702855}"/>
              </a:ext>
            </a:extLst>
          </p:cNvPr>
          <p:cNvPicPr>
            <a:picLocks noChangeAspect="1"/>
          </p:cNvPicPr>
          <p:nvPr/>
        </p:nvPicPr>
        <p:blipFill>
          <a:blip r:embed="rId5"/>
          <a:stretch>
            <a:fillRect/>
          </a:stretch>
        </p:blipFill>
        <p:spPr>
          <a:xfrm>
            <a:off x="319463" y="2155516"/>
            <a:ext cx="4980548" cy="400397"/>
          </a:xfrm>
          <a:prstGeom prst="rect">
            <a:avLst/>
          </a:prstGeom>
        </p:spPr>
      </p:pic>
      <p:pic>
        <p:nvPicPr>
          <p:cNvPr id="8" name="Picture 7">
            <a:extLst>
              <a:ext uri="{FF2B5EF4-FFF2-40B4-BE49-F238E27FC236}">
                <a16:creationId xmlns:a16="http://schemas.microsoft.com/office/drawing/2014/main" id="{984FFD79-F670-4243-AA8C-827A93A4C3FD}"/>
              </a:ext>
            </a:extLst>
          </p:cNvPr>
          <p:cNvPicPr>
            <a:picLocks noChangeAspect="1"/>
          </p:cNvPicPr>
          <p:nvPr/>
        </p:nvPicPr>
        <p:blipFill>
          <a:blip r:embed="rId6"/>
          <a:stretch>
            <a:fillRect/>
          </a:stretch>
        </p:blipFill>
        <p:spPr>
          <a:xfrm>
            <a:off x="316768" y="2782803"/>
            <a:ext cx="6324600" cy="952500"/>
          </a:xfrm>
          <a:prstGeom prst="rect">
            <a:avLst/>
          </a:prstGeom>
        </p:spPr>
      </p:pic>
      <p:pic>
        <p:nvPicPr>
          <p:cNvPr id="16" name="Picture 15">
            <a:extLst>
              <a:ext uri="{FF2B5EF4-FFF2-40B4-BE49-F238E27FC236}">
                <a16:creationId xmlns:a16="http://schemas.microsoft.com/office/drawing/2014/main" id="{4D1FD14E-6299-470F-A977-68C15B328595}"/>
              </a:ext>
            </a:extLst>
          </p:cNvPr>
          <p:cNvPicPr>
            <a:picLocks noChangeAspect="1"/>
          </p:cNvPicPr>
          <p:nvPr/>
        </p:nvPicPr>
        <p:blipFill>
          <a:blip r:embed="rId7"/>
          <a:stretch>
            <a:fillRect/>
          </a:stretch>
        </p:blipFill>
        <p:spPr>
          <a:xfrm>
            <a:off x="316768" y="3962193"/>
            <a:ext cx="6162675" cy="1514475"/>
          </a:xfrm>
          <a:prstGeom prst="rect">
            <a:avLst/>
          </a:prstGeom>
        </p:spPr>
      </p:pic>
      <p:pic>
        <p:nvPicPr>
          <p:cNvPr id="5" name="Picture 4">
            <a:extLst>
              <a:ext uri="{FF2B5EF4-FFF2-40B4-BE49-F238E27FC236}">
                <a16:creationId xmlns:a16="http://schemas.microsoft.com/office/drawing/2014/main" id="{8583C44C-4E67-4AC9-B868-D70DDFFF3D69}"/>
              </a:ext>
            </a:extLst>
          </p:cNvPr>
          <p:cNvPicPr>
            <a:picLocks noChangeAspect="1"/>
          </p:cNvPicPr>
          <p:nvPr/>
        </p:nvPicPr>
        <p:blipFill>
          <a:blip r:embed="rId8"/>
          <a:stretch>
            <a:fillRect/>
          </a:stretch>
        </p:blipFill>
        <p:spPr>
          <a:xfrm>
            <a:off x="8075990" y="420094"/>
            <a:ext cx="2885792" cy="504825"/>
          </a:xfrm>
          <a:prstGeom prst="rect">
            <a:avLst/>
          </a:prstGeom>
        </p:spPr>
      </p:pic>
      <p:sp>
        <p:nvSpPr>
          <p:cNvPr id="18" name="Text Placeholder 5">
            <a:extLst>
              <a:ext uri="{FF2B5EF4-FFF2-40B4-BE49-F238E27FC236}">
                <a16:creationId xmlns:a16="http://schemas.microsoft.com/office/drawing/2014/main" id="{E139B326-77B1-4992-BD63-466EDA913361}"/>
              </a:ext>
            </a:extLst>
          </p:cNvPr>
          <p:cNvSpPr txBox="1">
            <a:spLocks/>
          </p:cNvSpPr>
          <p:nvPr/>
        </p:nvSpPr>
        <p:spPr>
          <a:xfrm>
            <a:off x="8021399" y="688792"/>
            <a:ext cx="1441099"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F</a:t>
            </a:r>
            <a:r>
              <a:rPr kumimoji="1" lang="en-NZ" altLang="ja-JP" sz="1800" b="1" i="1"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obs</a:t>
            </a:r>
            <a:r>
              <a:rPr kumimoji="1" lang="en-NZ" altLang="ja-JP" sz="1800" b="1" i="1"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cs typeface="+mn-cs"/>
              </a:rPr>
              <a:t> = 3.57</a:t>
            </a:r>
            <a:endParaRPr kumimoji="1" lang="en-US"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32D3B465-6BD5-4639-AAA8-3C31C9B9F39B}"/>
              </a:ext>
            </a:extLst>
          </p:cNvPr>
          <p:cNvSpPr txBox="1">
            <a:spLocks/>
          </p:cNvSpPr>
          <p:nvPr/>
        </p:nvSpPr>
        <p:spPr>
          <a:xfrm>
            <a:off x="7178289" y="5028721"/>
            <a:ext cx="4191644" cy="13296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sng"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Permutatio</a:t>
            </a:r>
            <a:r>
              <a:rPr lang="en-NZ" altLang="ja-JP" sz="1800" b="1" u="sng" dirty="0">
                <a:solidFill>
                  <a:schemeClr val="tx1"/>
                </a:solidFill>
                <a:latin typeface="Calibri" panose="020F0502020204030204"/>
                <a:ea typeface="游ゴシック" panose="020B0400000000000000" pitchFamily="34" charset="-128"/>
              </a:rPr>
              <a:t>n Test</a:t>
            </a:r>
            <a:r>
              <a:rPr kumimoji="1" lang="en-NZ" altLang="ja-JP" sz="1800" b="1" i="0" u="sng"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Results:</a:t>
            </a:r>
          </a:p>
          <a:p>
            <a:pPr algn="ctr">
              <a:lnSpc>
                <a:spcPct val="100000"/>
              </a:lnSpc>
              <a:defRPr/>
            </a:pPr>
            <a:r>
              <a:rPr lang="en-NZ" altLang="ja-JP" sz="1800" dirty="0">
                <a:solidFill>
                  <a:schemeClr val="tx1"/>
                </a:solidFill>
                <a:latin typeface="Calibri" panose="020F0502020204030204"/>
                <a:ea typeface="游ゴシック" panose="020B0400000000000000" pitchFamily="34" charset="-128"/>
              </a:rPr>
              <a:t>1,644 reordered samples constructed</a:t>
            </a:r>
            <a:br>
              <a:rPr lang="en-NZ" altLang="ja-JP" sz="1800" dirty="0">
                <a:solidFill>
                  <a:schemeClr val="tx1"/>
                </a:solidFill>
                <a:latin typeface="Calibri" panose="020F0502020204030204"/>
                <a:ea typeface="游ゴシック" panose="020B0400000000000000" pitchFamily="34" charset="-128"/>
              </a:rPr>
            </a:br>
            <a:r>
              <a:rPr lang="en-NZ" altLang="ja-JP" sz="1800" dirty="0">
                <a:solidFill>
                  <a:schemeClr val="tx1"/>
                </a:solidFill>
                <a:latin typeface="Calibri" panose="020F0502020204030204"/>
                <a:ea typeface="游ゴシック" panose="020B0400000000000000" pitchFamily="34" charset="-128"/>
              </a:rPr>
              <a:t>P-value = 0.07968</a:t>
            </a:r>
            <a:br>
              <a:rPr lang="en-NZ" altLang="ja-JP" sz="1800" dirty="0">
                <a:solidFill>
                  <a:schemeClr val="tx1"/>
                </a:solidFill>
                <a:latin typeface="Calibri" panose="020F0502020204030204"/>
                <a:ea typeface="游ゴシック" panose="020B0400000000000000" pitchFamily="34" charset="-128"/>
              </a:rPr>
            </a:br>
            <a:endParaRPr lang="en-NZ" altLang="ja-JP" sz="1800" dirty="0">
              <a:solidFill>
                <a:schemeClr val="tx1"/>
              </a:solidFill>
              <a:latin typeface="Calibri" panose="020F0502020204030204"/>
              <a:ea typeface="游ゴシック" panose="020B0400000000000000" pitchFamily="34" charset="-128"/>
            </a:endParaRPr>
          </a:p>
          <a:p>
            <a:pPr marL="285750" marR="0" lvl="0" indent="-285750" algn="ctr" defTabSz="914324" rtl="0" eaLnBrk="1" fontAlgn="auto" latinLnBrk="0" hangingPunct="1">
              <a:lnSpc>
                <a:spcPct val="100000"/>
              </a:lnSpc>
              <a:spcBef>
                <a:spcPts val="0"/>
              </a:spcBef>
              <a:spcAft>
                <a:spcPts val="0"/>
              </a:spcAft>
              <a:buClrTx/>
              <a:buSzTx/>
              <a:buFont typeface="Symbol" panose="05050102010706020507" pitchFamily="18" charset="2"/>
              <a:buChar char="Þ"/>
              <a:tabLst/>
              <a:defRPr/>
            </a:pPr>
            <a:r>
              <a:rPr lang="en-NZ" altLang="ja-JP" sz="1800" dirty="0">
                <a:solidFill>
                  <a:schemeClr val="tx1"/>
                </a:solidFill>
                <a:latin typeface="Calibri" panose="020F0502020204030204"/>
                <a:ea typeface="游ゴシック" panose="020B0400000000000000" pitchFamily="34" charset="-128"/>
              </a:rPr>
              <a:t>Weak evidence against </a:t>
            </a:r>
            <a:r>
              <a:rPr lang="en-NZ" altLang="ja-JP" sz="1800" b="1" i="1" dirty="0">
                <a:solidFill>
                  <a:schemeClr val="tx1"/>
                </a:solidFill>
                <a:latin typeface="Calibri" panose="020F0502020204030204"/>
                <a:ea typeface="游ゴシック" panose="020B0400000000000000" pitchFamily="34" charset="-128"/>
              </a:rPr>
              <a:t>H</a:t>
            </a:r>
            <a:r>
              <a:rPr lang="en-NZ" altLang="ja-JP" sz="1800" b="1" i="1" baseline="-25000" dirty="0">
                <a:solidFill>
                  <a:schemeClr val="tx1"/>
                </a:solidFill>
                <a:latin typeface="Calibri" panose="020F0502020204030204"/>
                <a:ea typeface="游ゴシック" panose="020B0400000000000000" pitchFamily="34" charset="-128"/>
              </a:rPr>
              <a:t>0</a:t>
            </a:r>
            <a:r>
              <a:rPr lang="en-NZ" altLang="ja-JP" sz="1800" dirty="0">
                <a:solidFill>
                  <a:schemeClr val="tx1"/>
                </a:solidFill>
                <a:latin typeface="Calibri" panose="020F0502020204030204"/>
                <a:ea typeface="游ゴシック" panose="020B0400000000000000" pitchFamily="34" charset="-128"/>
              </a:rPr>
              <a:t>.</a:t>
            </a:r>
          </a:p>
        </p:txBody>
      </p:sp>
      <p:pic>
        <p:nvPicPr>
          <p:cNvPr id="20" name="Picture 19">
            <a:extLst>
              <a:ext uri="{FF2B5EF4-FFF2-40B4-BE49-F238E27FC236}">
                <a16:creationId xmlns:a16="http://schemas.microsoft.com/office/drawing/2014/main" id="{24494CAA-4452-4571-9C01-FF6EACCE64C2}"/>
              </a:ext>
            </a:extLst>
          </p:cNvPr>
          <p:cNvPicPr>
            <a:picLocks noChangeAspect="1"/>
          </p:cNvPicPr>
          <p:nvPr/>
        </p:nvPicPr>
        <p:blipFill>
          <a:blip r:embed="rId8"/>
          <a:stretch>
            <a:fillRect/>
          </a:stretch>
        </p:blipFill>
        <p:spPr>
          <a:xfrm>
            <a:off x="8150047" y="4522093"/>
            <a:ext cx="2885792" cy="504825"/>
          </a:xfrm>
          <a:prstGeom prst="rect">
            <a:avLst/>
          </a:prstGeom>
        </p:spPr>
      </p:pic>
      <p:sp>
        <p:nvSpPr>
          <p:cNvPr id="17" name="Text Placeholder 5">
            <a:extLst>
              <a:ext uri="{FF2B5EF4-FFF2-40B4-BE49-F238E27FC236}">
                <a16:creationId xmlns:a16="http://schemas.microsoft.com/office/drawing/2014/main" id="{CB10817A-4FE5-48B7-AC4E-41FAA18502DE}"/>
              </a:ext>
            </a:extLst>
          </p:cNvPr>
          <p:cNvSpPr txBox="1">
            <a:spLocks/>
          </p:cNvSpPr>
          <p:nvPr/>
        </p:nvSpPr>
        <p:spPr>
          <a:xfrm>
            <a:off x="8798336" y="4490831"/>
            <a:ext cx="1441099"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F-Statistics</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2" name="Oval 1">
            <a:extLst>
              <a:ext uri="{FF2B5EF4-FFF2-40B4-BE49-F238E27FC236}">
                <a16:creationId xmlns:a16="http://schemas.microsoft.com/office/drawing/2014/main" id="{9BF43B29-ABEE-F01F-774B-690976E99B84}"/>
              </a:ext>
            </a:extLst>
          </p:cNvPr>
          <p:cNvSpPr/>
          <p:nvPr/>
        </p:nvSpPr>
        <p:spPr>
          <a:xfrm>
            <a:off x="3148084" y="4301916"/>
            <a:ext cx="1314734" cy="5432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1" name="Straight Arrow Connector 20">
            <a:extLst>
              <a:ext uri="{FF2B5EF4-FFF2-40B4-BE49-F238E27FC236}">
                <a16:creationId xmlns:a16="http://schemas.microsoft.com/office/drawing/2014/main" id="{2BFD3640-6850-B4A9-0403-147530FF2578}"/>
              </a:ext>
            </a:extLst>
          </p:cNvPr>
          <p:cNvCxnSpPr>
            <a:cxnSpLocks/>
            <a:stCxn id="2" idx="6"/>
          </p:cNvCxnSpPr>
          <p:nvPr/>
        </p:nvCxnSpPr>
        <p:spPr>
          <a:xfrm>
            <a:off x="4462818" y="4573548"/>
            <a:ext cx="3558581" cy="5996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624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3.6 – Two-Way ANOVA with </a:t>
            </a:r>
            <a:r>
              <a:rPr kumimoji="0" lang="en-NZ" sz="4500" b="1" i="0" u="none" strike="noStrike" kern="1200" cap="none" spc="0" normalizeH="0" baseline="0" noProof="0" dirty="0" err="1">
                <a:ln>
                  <a:noFill/>
                </a:ln>
                <a:solidFill>
                  <a:srgbClr val="FFC000"/>
                </a:solidFill>
                <a:effectLst/>
                <a:uLnTx/>
                <a:uFillTx/>
                <a:latin typeface="Calibri" panose="020F0502020204030204"/>
                <a:ea typeface="+mn-ea"/>
                <a:cs typeface="+mn-cs"/>
              </a:rPr>
              <a:t>lmPerm</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968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692D5C0D-78E6-4805-B226-457FC79E5FF6}"/>
              </a:ext>
            </a:extLst>
          </p:cNvPr>
          <p:cNvSpPr txBox="1">
            <a:spLocks/>
          </p:cNvSpPr>
          <p:nvPr/>
        </p:nvSpPr>
        <p:spPr>
          <a:xfrm>
            <a:off x="319462" y="818170"/>
            <a:ext cx="1141969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two-way ANOVA the response variable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 a function of two factors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each containing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levels respectively.</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Each combination of levels is known as a </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cell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(or treatment). There are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ab</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cells in total.</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itle 6">
            <a:extLst>
              <a:ext uri="{FF2B5EF4-FFF2-40B4-BE49-F238E27FC236}">
                <a16:creationId xmlns:a16="http://schemas.microsoft.com/office/drawing/2014/main" id="{5A021925-4DAE-4C6F-AB06-12B8716D0BAC}"/>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3.6a – Re-cap of Two-Way ANOVA</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7" name="Text Placeholder 5">
            <a:extLst>
              <a:ext uri="{FF2B5EF4-FFF2-40B4-BE49-F238E27FC236}">
                <a16:creationId xmlns:a16="http://schemas.microsoft.com/office/drawing/2014/main" id="{0DC1EED5-986E-398F-6A6D-18043E16FDD1}"/>
              </a:ext>
            </a:extLst>
          </p:cNvPr>
          <p:cNvSpPr txBox="1">
            <a:spLocks/>
          </p:cNvSpPr>
          <p:nvPr/>
        </p:nvSpPr>
        <p:spPr>
          <a:xfrm>
            <a:off x="319462" y="1390968"/>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The two factors may (or may not) exhibit </a:t>
            </a:r>
            <a:r>
              <a:rPr lang="en-NZ" altLang="ja-JP" sz="1600" b="1" dirty="0">
                <a:solidFill>
                  <a:schemeClr val="tx1"/>
                </a:solidFill>
              </a:rPr>
              <a:t>interaction</a:t>
            </a:r>
            <a:r>
              <a:rPr lang="en-NZ" altLang="ja-JP" sz="1600" dirty="0">
                <a:solidFill>
                  <a:schemeClr val="tx1"/>
                </a:solidFill>
              </a:rPr>
              <a:t>. </a:t>
            </a:r>
          </a:p>
          <a:p>
            <a:pPr algn="just">
              <a:lnSpc>
                <a:spcPct val="100000"/>
              </a:lnSpc>
            </a:pPr>
            <a:r>
              <a:rPr lang="en-NZ" altLang="ja-JP" sz="1600" dirty="0">
                <a:solidFill>
                  <a:schemeClr val="tx1"/>
                </a:solidFill>
              </a:rPr>
              <a:t>Interaction occurs when the impact of a factor on the response variable depends on the level of the other factor.</a:t>
            </a:r>
            <a:endParaRPr lang="en-NZ" altLang="ja-JP" sz="1600" i="1" dirty="0">
              <a:solidFill>
                <a:srgbClr val="C00000"/>
              </a:solidFill>
            </a:endParaRPr>
          </a:p>
        </p:txBody>
      </p:sp>
      <p:sp>
        <p:nvSpPr>
          <p:cNvPr id="28" name="Text Placeholder 5">
            <a:extLst>
              <a:ext uri="{FF2B5EF4-FFF2-40B4-BE49-F238E27FC236}">
                <a16:creationId xmlns:a16="http://schemas.microsoft.com/office/drawing/2014/main" id="{3426BE44-CA40-60CA-EAB6-50B88E4CD7DB}"/>
              </a:ext>
            </a:extLst>
          </p:cNvPr>
          <p:cNvSpPr txBox="1">
            <a:spLocks/>
          </p:cNvSpPr>
          <p:nvPr/>
        </p:nvSpPr>
        <p:spPr>
          <a:xfrm>
            <a:off x="319462" y="2027225"/>
            <a:ext cx="1123210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Often, the simplest way to identify the presence of interactions is with a </a:t>
            </a:r>
            <a:r>
              <a:rPr lang="en-NZ" altLang="ja-JP" sz="1600" b="1" dirty="0">
                <a:solidFill>
                  <a:schemeClr val="tx1"/>
                </a:solidFill>
              </a:rPr>
              <a:t>marginal means</a:t>
            </a:r>
            <a:r>
              <a:rPr lang="en-NZ" altLang="ja-JP" sz="1600" dirty="0">
                <a:solidFill>
                  <a:schemeClr val="tx1"/>
                </a:solidFill>
              </a:rPr>
              <a:t> plot.</a:t>
            </a:r>
            <a:endParaRPr lang="en-NZ" altLang="ja-JP" sz="1600" i="1" dirty="0">
              <a:solidFill>
                <a:srgbClr val="C00000"/>
              </a:solidFill>
            </a:endParaRPr>
          </a:p>
        </p:txBody>
      </p:sp>
      <p:graphicFrame>
        <p:nvGraphicFramePr>
          <p:cNvPr id="29" name="Table 28">
            <a:extLst>
              <a:ext uri="{FF2B5EF4-FFF2-40B4-BE49-F238E27FC236}">
                <a16:creationId xmlns:a16="http://schemas.microsoft.com/office/drawing/2014/main" id="{311F3250-CD13-0F6A-10C2-D3AC2A1E6380}"/>
              </a:ext>
            </a:extLst>
          </p:cNvPr>
          <p:cNvGraphicFramePr>
            <a:graphicFrameLocks noGrp="1"/>
          </p:cNvGraphicFramePr>
          <p:nvPr>
            <p:extLst>
              <p:ext uri="{D42A27DB-BD31-4B8C-83A1-F6EECF244321}">
                <p14:modId xmlns:p14="http://schemas.microsoft.com/office/powerpoint/2010/main" val="2948084398"/>
              </p:ext>
            </p:extLst>
          </p:nvPr>
        </p:nvGraphicFramePr>
        <p:xfrm>
          <a:off x="617490" y="3094482"/>
          <a:ext cx="3213100" cy="3417888"/>
        </p:xfrm>
        <a:graphic>
          <a:graphicData uri="http://schemas.openxmlformats.org/drawingml/2006/table">
            <a:tbl>
              <a:tblPr firstRow="1" firstCol="1" bandRow="1">
                <a:tableStyleId>{5C22544A-7EE6-4342-B048-85BDC9FD1C3A}</a:tableStyleId>
              </a:tblPr>
              <a:tblGrid>
                <a:gridCol w="573869">
                  <a:extLst>
                    <a:ext uri="{9D8B030D-6E8A-4147-A177-3AD203B41FA5}">
                      <a16:colId xmlns:a16="http://schemas.microsoft.com/office/drawing/2014/main" val="1659444516"/>
                    </a:ext>
                  </a:extLst>
                </a:gridCol>
                <a:gridCol w="835831">
                  <a:extLst>
                    <a:ext uri="{9D8B030D-6E8A-4147-A177-3AD203B41FA5}">
                      <a16:colId xmlns:a16="http://schemas.microsoft.com/office/drawing/2014/main" val="1590401375"/>
                    </a:ext>
                  </a:extLst>
                </a:gridCol>
                <a:gridCol w="901700">
                  <a:extLst>
                    <a:ext uri="{9D8B030D-6E8A-4147-A177-3AD203B41FA5}">
                      <a16:colId xmlns:a16="http://schemas.microsoft.com/office/drawing/2014/main" val="667814405"/>
                    </a:ext>
                  </a:extLst>
                </a:gridCol>
                <a:gridCol w="901700">
                  <a:extLst>
                    <a:ext uri="{9D8B030D-6E8A-4147-A177-3AD203B41FA5}">
                      <a16:colId xmlns:a16="http://schemas.microsoft.com/office/drawing/2014/main" val="1126257905"/>
                    </a:ext>
                  </a:extLst>
                </a:gridCol>
              </a:tblGrid>
              <a:tr h="190500">
                <a:tc>
                  <a:txBody>
                    <a:bodyPr/>
                    <a:lstStyle/>
                    <a:p>
                      <a:pPr>
                        <a:lnSpc>
                          <a:spcPct val="107000"/>
                        </a:lnSpc>
                      </a:pPr>
                      <a:endParaRPr lang="en-NZ" sz="11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10mgs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20mgs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30mgs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35967317"/>
                  </a:ext>
                </a:extLst>
              </a:tr>
              <a:tr h="200025">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55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4737088"/>
                  </a:ext>
                </a:extLst>
              </a:tr>
              <a:tr h="190500">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60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55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27662414"/>
                  </a:ext>
                </a:extLst>
              </a:tr>
              <a:tr h="190500">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372802481"/>
                  </a:ext>
                </a:extLst>
              </a:tr>
              <a:tr h="190500">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55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60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06817266"/>
                  </a:ext>
                </a:extLst>
              </a:tr>
              <a:tr h="190500">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60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06423521"/>
                  </a:ext>
                </a:extLst>
              </a:tr>
              <a:tr h="190500">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60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50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618157351"/>
                  </a:ext>
                </a:extLst>
              </a:tr>
              <a:tr h="190500">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60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55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57871065"/>
                  </a:ext>
                </a:extLst>
              </a:tr>
              <a:tr h="200025">
                <a:tc>
                  <a:txBody>
                    <a:bodyPr/>
                    <a:lstStyle/>
                    <a:p>
                      <a:pPr algn="ctr">
                        <a:lnSpc>
                          <a:spcPct val="107000"/>
                        </a:lnSpc>
                        <a:spcAft>
                          <a:spcPts val="800"/>
                        </a:spcAft>
                      </a:pPr>
                      <a:r>
                        <a:rPr lang="en-NZ" sz="1100">
                          <a:effectLst/>
                        </a:rPr>
                        <a:t>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50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50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50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44509371"/>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50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45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35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01916131"/>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70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35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60043920"/>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55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60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40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957139029"/>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70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40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995622970"/>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80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85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35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12086593"/>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75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80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45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59074407"/>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55</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74928605"/>
                  </a:ext>
                </a:extLst>
              </a:tr>
              <a:tr h="190500">
                <a:tc>
                  <a:txBody>
                    <a:bodyPr/>
                    <a:lstStyle/>
                    <a:p>
                      <a:pPr algn="ctr">
                        <a:lnSpc>
                          <a:spcPct val="107000"/>
                        </a:lnSpc>
                        <a:spcAft>
                          <a:spcPts val="800"/>
                        </a:spcAft>
                      </a:pPr>
                      <a:r>
                        <a:rPr lang="en-NZ" sz="1100">
                          <a:effectLst/>
                        </a:rPr>
                        <a:t>Female</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65</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60</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40</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16153935"/>
                  </a:ext>
                </a:extLst>
              </a:tr>
            </a:tbl>
          </a:graphicData>
        </a:graphic>
      </p:graphicFrame>
      <p:sp>
        <p:nvSpPr>
          <p:cNvPr id="30" name="Text Placeholder 5">
            <a:extLst>
              <a:ext uri="{FF2B5EF4-FFF2-40B4-BE49-F238E27FC236}">
                <a16:creationId xmlns:a16="http://schemas.microsoft.com/office/drawing/2014/main" id="{CF82FE9E-DC87-D8D7-EB69-3B407F444C4C}"/>
              </a:ext>
            </a:extLst>
          </p:cNvPr>
          <p:cNvSpPr txBox="1">
            <a:spLocks/>
          </p:cNvSpPr>
          <p:nvPr/>
        </p:nvSpPr>
        <p:spPr>
          <a:xfrm>
            <a:off x="319462" y="2392351"/>
            <a:ext cx="3875964" cy="6131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b="1" i="1" dirty="0">
                <a:solidFill>
                  <a:srgbClr val="0070C0"/>
                </a:solidFill>
              </a:rPr>
              <a:t>Cholesterol level in blood of male and female patients taking different dosages of Atorvastatin</a:t>
            </a:r>
          </a:p>
          <a:p>
            <a:pPr algn="ctr">
              <a:lnSpc>
                <a:spcPct val="100000"/>
              </a:lnSpc>
            </a:pPr>
            <a:endParaRPr lang="en-NZ" altLang="ja-JP" sz="1400" b="1" i="1" dirty="0">
              <a:solidFill>
                <a:srgbClr val="0070C0"/>
              </a:solidFill>
            </a:endParaRPr>
          </a:p>
          <a:p>
            <a:pPr algn="ctr">
              <a:lnSpc>
                <a:spcPct val="100000"/>
              </a:lnSpc>
            </a:pPr>
            <a:endParaRPr lang="en-NZ" altLang="ja-JP" sz="1400" b="1" i="1" dirty="0">
              <a:solidFill>
                <a:srgbClr val="0070C0"/>
              </a:solidFill>
            </a:endParaRPr>
          </a:p>
        </p:txBody>
      </p:sp>
      <p:graphicFrame>
        <p:nvGraphicFramePr>
          <p:cNvPr id="31" name="Table 30">
            <a:extLst>
              <a:ext uri="{FF2B5EF4-FFF2-40B4-BE49-F238E27FC236}">
                <a16:creationId xmlns:a16="http://schemas.microsoft.com/office/drawing/2014/main" id="{ECFFC77A-E018-0CF2-5257-FB492BDDC2D9}"/>
              </a:ext>
            </a:extLst>
          </p:cNvPr>
          <p:cNvGraphicFramePr>
            <a:graphicFrameLocks noGrp="1"/>
          </p:cNvGraphicFramePr>
          <p:nvPr>
            <p:extLst>
              <p:ext uri="{D42A27DB-BD31-4B8C-83A1-F6EECF244321}">
                <p14:modId xmlns:p14="http://schemas.microsoft.com/office/powerpoint/2010/main" val="1193288468"/>
              </p:ext>
            </p:extLst>
          </p:nvPr>
        </p:nvGraphicFramePr>
        <p:xfrm>
          <a:off x="8526055" y="2931921"/>
          <a:ext cx="3213100" cy="773303"/>
        </p:xfrm>
        <a:graphic>
          <a:graphicData uri="http://schemas.openxmlformats.org/drawingml/2006/table">
            <a:tbl>
              <a:tblPr firstRow="1" firstCol="1" bandRow="1">
                <a:tableStyleId>{5C22544A-7EE6-4342-B048-85BDC9FD1C3A}</a:tableStyleId>
              </a:tblPr>
              <a:tblGrid>
                <a:gridCol w="614813">
                  <a:extLst>
                    <a:ext uri="{9D8B030D-6E8A-4147-A177-3AD203B41FA5}">
                      <a16:colId xmlns:a16="http://schemas.microsoft.com/office/drawing/2014/main" val="3074826136"/>
                    </a:ext>
                  </a:extLst>
                </a:gridCol>
                <a:gridCol w="794887">
                  <a:extLst>
                    <a:ext uri="{9D8B030D-6E8A-4147-A177-3AD203B41FA5}">
                      <a16:colId xmlns:a16="http://schemas.microsoft.com/office/drawing/2014/main" val="387258914"/>
                    </a:ext>
                  </a:extLst>
                </a:gridCol>
                <a:gridCol w="901700">
                  <a:extLst>
                    <a:ext uri="{9D8B030D-6E8A-4147-A177-3AD203B41FA5}">
                      <a16:colId xmlns:a16="http://schemas.microsoft.com/office/drawing/2014/main" val="2306200820"/>
                    </a:ext>
                  </a:extLst>
                </a:gridCol>
                <a:gridCol w="901700">
                  <a:extLst>
                    <a:ext uri="{9D8B030D-6E8A-4147-A177-3AD203B41FA5}">
                      <a16:colId xmlns:a16="http://schemas.microsoft.com/office/drawing/2014/main" val="650978296"/>
                    </a:ext>
                  </a:extLst>
                </a:gridCol>
              </a:tblGrid>
              <a:tr h="190500">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a:effectLst/>
                        </a:rPr>
                        <a:t>Dosage 10mgs</a:t>
                      </a:r>
                      <a:endParaRPr lang="en-NZ"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dirty="0">
                          <a:effectLst/>
                        </a:rPr>
                        <a:t>Dosage 20mgs</a:t>
                      </a:r>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dirty="0">
                          <a:effectLst/>
                        </a:rPr>
                        <a:t>Dosage 30mgs</a:t>
                      </a:r>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838439194"/>
                  </a:ext>
                </a:extLst>
              </a:tr>
              <a:tr h="200025">
                <a:tc>
                  <a:txBody>
                    <a:bodyPr/>
                    <a:lstStyle/>
                    <a:p>
                      <a:pPr algn="ctr">
                        <a:lnSpc>
                          <a:spcPct val="107000"/>
                        </a:lnSpc>
                        <a:spcAft>
                          <a:spcPts val="800"/>
                        </a:spcAft>
                      </a:pPr>
                      <a:r>
                        <a:rPr lang="en-NZ" sz="1200">
                          <a:effectLst/>
                        </a:rPr>
                        <a:t>Male</a:t>
                      </a:r>
                      <a:endParaRPr lang="en-NZ"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dirty="0">
                          <a:effectLst/>
                        </a:rPr>
                        <a:t>60.00</a:t>
                      </a:r>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dirty="0">
                          <a:effectLst/>
                        </a:rPr>
                        <a:t>62.50</a:t>
                      </a:r>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a:effectLst/>
                        </a:rPr>
                        <a:t>57.50</a:t>
                      </a:r>
                      <a:endParaRPr lang="en-NZ"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72944342"/>
                  </a:ext>
                </a:extLst>
              </a:tr>
              <a:tr h="190500">
                <a:tc>
                  <a:txBody>
                    <a:bodyPr/>
                    <a:lstStyle/>
                    <a:p>
                      <a:pPr algn="ctr">
                        <a:lnSpc>
                          <a:spcPct val="107000"/>
                        </a:lnSpc>
                        <a:spcAft>
                          <a:spcPts val="800"/>
                        </a:spcAft>
                      </a:pPr>
                      <a:r>
                        <a:rPr lang="en-NZ" sz="1200" dirty="0">
                          <a:effectLst/>
                        </a:rPr>
                        <a:t>Female</a:t>
                      </a:r>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a:effectLst/>
                        </a:rPr>
                        <a:t>66.88</a:t>
                      </a:r>
                      <a:endParaRPr lang="en-NZ"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a:effectLst/>
                        </a:rPr>
                        <a:t>66.88</a:t>
                      </a:r>
                      <a:endParaRPr lang="en-NZ"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200" dirty="0">
                          <a:effectLst/>
                        </a:rPr>
                        <a:t>40.63</a:t>
                      </a:r>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46888167"/>
                  </a:ext>
                </a:extLst>
              </a:tr>
            </a:tbl>
          </a:graphicData>
        </a:graphic>
      </p:graphicFrame>
      <p:sp>
        <p:nvSpPr>
          <p:cNvPr id="32" name="Text Placeholder 5">
            <a:extLst>
              <a:ext uri="{FF2B5EF4-FFF2-40B4-BE49-F238E27FC236}">
                <a16:creationId xmlns:a16="http://schemas.microsoft.com/office/drawing/2014/main" id="{34A21AC4-E7DE-C083-1B10-8EB7D978F82C}"/>
              </a:ext>
            </a:extLst>
          </p:cNvPr>
          <p:cNvSpPr txBox="1">
            <a:spLocks/>
          </p:cNvSpPr>
          <p:nvPr/>
        </p:nvSpPr>
        <p:spPr>
          <a:xfrm>
            <a:off x="4544428" y="2437529"/>
            <a:ext cx="680568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b="1" i="1" dirty="0">
                <a:solidFill>
                  <a:srgbClr val="0070C0"/>
                </a:solidFill>
              </a:rPr>
              <a:t>Marginal Means Plot and Table</a:t>
            </a:r>
          </a:p>
          <a:p>
            <a:pPr>
              <a:lnSpc>
                <a:spcPct val="100000"/>
              </a:lnSpc>
            </a:pPr>
            <a:endParaRPr lang="en-NZ" altLang="ja-JP" sz="1400" b="1" i="1" dirty="0">
              <a:solidFill>
                <a:srgbClr val="0070C0"/>
              </a:solidFill>
            </a:endParaRPr>
          </a:p>
          <a:p>
            <a:pPr>
              <a:lnSpc>
                <a:spcPct val="100000"/>
              </a:lnSpc>
            </a:pPr>
            <a:endParaRPr lang="en-NZ" altLang="ja-JP" sz="1400" b="1" i="1" dirty="0">
              <a:solidFill>
                <a:srgbClr val="0070C0"/>
              </a:solidFill>
            </a:endParaRPr>
          </a:p>
        </p:txBody>
      </p:sp>
      <p:graphicFrame>
        <p:nvGraphicFramePr>
          <p:cNvPr id="33" name="Chart 32">
            <a:extLst>
              <a:ext uri="{FF2B5EF4-FFF2-40B4-BE49-F238E27FC236}">
                <a16:creationId xmlns:a16="http://schemas.microsoft.com/office/drawing/2014/main" id="{62B7C796-F0A4-0078-89AE-FEBEE74E856B}"/>
              </a:ext>
            </a:extLst>
          </p:cNvPr>
          <p:cNvGraphicFramePr/>
          <p:nvPr>
            <p:extLst>
              <p:ext uri="{D42A27DB-BD31-4B8C-83A1-F6EECF244321}">
                <p14:modId xmlns:p14="http://schemas.microsoft.com/office/powerpoint/2010/main" val="1516034305"/>
              </p:ext>
            </p:extLst>
          </p:nvPr>
        </p:nvGraphicFramePr>
        <p:xfrm>
          <a:off x="4076566" y="2801291"/>
          <a:ext cx="4323558" cy="2343150"/>
        </p:xfrm>
        <a:graphic>
          <a:graphicData uri="http://schemas.openxmlformats.org/drawingml/2006/chart">
            <c:chart xmlns:c="http://schemas.openxmlformats.org/drawingml/2006/chart" xmlns:r="http://schemas.openxmlformats.org/officeDocument/2006/relationships" r:id="rId2"/>
          </a:graphicData>
        </a:graphic>
      </p:graphicFrame>
      <p:sp>
        <p:nvSpPr>
          <p:cNvPr id="34" name="Text Placeholder 5">
            <a:extLst>
              <a:ext uri="{FF2B5EF4-FFF2-40B4-BE49-F238E27FC236}">
                <a16:creationId xmlns:a16="http://schemas.microsoft.com/office/drawing/2014/main" id="{62243DDD-21BB-17F1-7F91-225BC3E9852F}"/>
              </a:ext>
            </a:extLst>
          </p:cNvPr>
          <p:cNvSpPr txBox="1">
            <a:spLocks/>
          </p:cNvSpPr>
          <p:nvPr/>
        </p:nvSpPr>
        <p:spPr>
          <a:xfrm>
            <a:off x="8471949" y="4060369"/>
            <a:ext cx="3328344" cy="9627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i="1" dirty="0">
                <a:solidFill>
                  <a:srgbClr val="C00000"/>
                </a:solidFill>
              </a:rPr>
              <a:t>Intersection of marginal means plots suggests presence of interaction.</a:t>
            </a:r>
          </a:p>
          <a:p>
            <a:pPr algn="just">
              <a:lnSpc>
                <a:spcPct val="100000"/>
              </a:lnSpc>
            </a:pPr>
            <a:endParaRPr lang="en-NZ" altLang="ja-JP" sz="1600" dirty="0">
              <a:solidFill>
                <a:srgbClr val="C00000"/>
              </a:solidFill>
            </a:endParaRPr>
          </a:p>
          <a:p>
            <a:pPr algn="just">
              <a:lnSpc>
                <a:spcPct val="100000"/>
              </a:lnSpc>
            </a:pPr>
            <a:endParaRPr lang="en-NZ" altLang="ja-JP" sz="1600" i="1" dirty="0">
              <a:solidFill>
                <a:srgbClr val="C00000"/>
              </a:solidFill>
            </a:endParaRPr>
          </a:p>
        </p:txBody>
      </p:sp>
      <p:sp>
        <p:nvSpPr>
          <p:cNvPr id="35" name="Text Placeholder 5">
            <a:extLst>
              <a:ext uri="{FF2B5EF4-FFF2-40B4-BE49-F238E27FC236}">
                <a16:creationId xmlns:a16="http://schemas.microsoft.com/office/drawing/2014/main" id="{F1C5B693-E78B-36E2-2B42-37E58A673298}"/>
              </a:ext>
            </a:extLst>
          </p:cNvPr>
          <p:cNvSpPr txBox="1">
            <a:spLocks/>
          </p:cNvSpPr>
          <p:nvPr/>
        </p:nvSpPr>
        <p:spPr>
          <a:xfrm>
            <a:off x="4222725" y="5281612"/>
            <a:ext cx="7328846"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The level of cholesterol in the blood of female patients drops significantly at 30mgs. </a:t>
            </a:r>
            <a:br>
              <a:rPr lang="en-NZ" altLang="ja-JP" sz="1600" dirty="0">
                <a:solidFill>
                  <a:schemeClr val="tx1"/>
                </a:solidFill>
              </a:rPr>
            </a:br>
            <a:r>
              <a:rPr lang="en-NZ" altLang="ja-JP" sz="1600" dirty="0">
                <a:solidFill>
                  <a:schemeClr val="tx1"/>
                </a:solidFill>
              </a:rPr>
              <a:t>=&gt; The impact of dosage on the response variable has a dependence on gender.</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36" name="Text Placeholder 5">
            <a:extLst>
              <a:ext uri="{FF2B5EF4-FFF2-40B4-BE49-F238E27FC236}">
                <a16:creationId xmlns:a16="http://schemas.microsoft.com/office/drawing/2014/main" id="{8475FA23-792E-FB58-BEA5-F738DCF69B40}"/>
              </a:ext>
            </a:extLst>
          </p:cNvPr>
          <p:cNvSpPr txBox="1">
            <a:spLocks/>
          </p:cNvSpPr>
          <p:nvPr/>
        </p:nvSpPr>
        <p:spPr>
          <a:xfrm>
            <a:off x="4222725" y="6039829"/>
            <a:ext cx="7328846" cy="7275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rgbClr val="C00000"/>
                </a:solidFill>
              </a:rPr>
              <a:t>If factors exhibit interaction they are too closely intertwined to analyse their effects on the response variable separately. </a:t>
            </a: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p:spTree>
    <p:extLst>
      <p:ext uri="{BB962C8B-B14F-4D97-AF65-F5344CB8AC3E}">
        <p14:creationId xmlns:p14="http://schemas.microsoft.com/office/powerpoint/2010/main" val="4087178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2" grpId="0"/>
      <p:bldGraphic spid="33" grpId="0">
        <p:bldAsOne/>
      </p:bldGraphic>
      <p:bldP spid="34" grpId="0"/>
      <p:bldP spid="35" grpId="0"/>
      <p:bldP spid="3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692D5C0D-78E6-4805-B226-457FC79E5FF6}"/>
              </a:ext>
            </a:extLst>
          </p:cNvPr>
          <p:cNvSpPr txBox="1">
            <a:spLocks/>
          </p:cNvSpPr>
          <p:nvPr/>
        </p:nvSpPr>
        <p:spPr>
          <a:xfrm>
            <a:off x="319463" y="941917"/>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two-way ANOVA the response variable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 a function of two factors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each containing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Each combination of levels is known as a </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cell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(or treatment). There are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ab</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cells in total.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itle 6">
            <a:extLst>
              <a:ext uri="{FF2B5EF4-FFF2-40B4-BE49-F238E27FC236}">
                <a16:creationId xmlns:a16="http://schemas.microsoft.com/office/drawing/2014/main" id="{5A021925-4DAE-4C6F-AB06-12B8716D0BAC}"/>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3.6a – Re-cap of Two-Way ANOVA</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Text Placeholder 5">
            <a:extLst>
              <a:ext uri="{FF2B5EF4-FFF2-40B4-BE49-F238E27FC236}">
                <a16:creationId xmlns:a16="http://schemas.microsoft.com/office/drawing/2014/main" id="{70B7C6CF-746C-47DD-979E-997C856F94B6}"/>
              </a:ext>
            </a:extLst>
          </p:cNvPr>
          <p:cNvSpPr txBox="1">
            <a:spLocks/>
          </p:cNvSpPr>
          <p:nvPr/>
        </p:nvSpPr>
        <p:spPr>
          <a:xfrm>
            <a:off x="319463" y="1758478"/>
            <a:ext cx="11232109" cy="361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is assumed that the data in each of the cells arise from distribution that are:</a:t>
            </a: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73D247F9-398D-419A-B0A9-70A3E0FAB09A}"/>
                  </a:ext>
                </a:extLst>
              </p:cNvPr>
              <p:cNvSpPr txBox="1">
                <a:spLocks/>
              </p:cNvSpPr>
              <p:nvPr/>
            </p:nvSpPr>
            <p:spPr>
              <a:xfrm>
                <a:off x="1071858" y="2118330"/>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homogenous variance </a:t>
                </a:r>
                <a14:m>
                  <m:oMath xmlns:m="http://schemas.openxmlformats.org/officeDocument/2006/math">
                    <m:sSup>
                      <m:sSupPr>
                        <m:ctrlPr>
                          <a:rPr kumimoji="1" lang="en-NZ" altLang="ja-JP" sz="17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7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p>
                        <m:r>
                          <a:rPr kumimoji="1" lang="en-NZ" altLang="ja-JP" sz="17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p>
                  </m:oMath>
                </a14:m>
                <a:endPar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73D247F9-398D-419A-B0A9-70A3E0FAB09A}"/>
                  </a:ext>
                </a:extLst>
              </p:cNvPr>
              <p:cNvSpPr txBox="1">
                <a:spLocks noRot="1" noChangeAspect="1" noMove="1" noResize="1" noEditPoints="1" noAdjustHandles="1" noChangeArrowheads="1" noChangeShapeType="1" noTextEdit="1"/>
              </p:cNvSpPr>
              <p:nvPr/>
            </p:nvSpPr>
            <p:spPr>
              <a:xfrm>
                <a:off x="1071858" y="2118330"/>
                <a:ext cx="3571164" cy="1088844"/>
              </a:xfrm>
              <a:prstGeom prst="rect">
                <a:avLst/>
              </a:prstGeom>
              <a:blipFill>
                <a:blip r:embed="rId3"/>
                <a:stretch>
                  <a:fillRect l="-1195" t="-1676"/>
                </a:stretch>
              </a:blipFill>
            </p:spPr>
            <p:txBody>
              <a:bodyPr/>
              <a:lstStyle/>
              <a:p>
                <a:r>
                  <a:rPr lang="en-NZ">
                    <a:noFill/>
                  </a:rPr>
                  <a:t> </a:t>
                </a:r>
              </a:p>
            </p:txBody>
          </p:sp>
        </mc:Fallback>
      </mc:AlternateContent>
      <p:sp>
        <p:nvSpPr>
          <p:cNvPr id="20" name="Left Brace 19">
            <a:extLst>
              <a:ext uri="{FF2B5EF4-FFF2-40B4-BE49-F238E27FC236}">
                <a16:creationId xmlns:a16="http://schemas.microsoft.com/office/drawing/2014/main" id="{5FB3CB67-C6EB-4D64-904D-7E289CA0E025}"/>
              </a:ext>
            </a:extLst>
          </p:cNvPr>
          <p:cNvSpPr/>
          <p:nvPr/>
        </p:nvSpPr>
        <p:spPr>
          <a:xfrm rot="10800000">
            <a:off x="4272989" y="2143010"/>
            <a:ext cx="356383" cy="7233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Placeholder 5">
            <a:extLst>
              <a:ext uri="{FF2B5EF4-FFF2-40B4-BE49-F238E27FC236}">
                <a16:creationId xmlns:a16="http://schemas.microsoft.com/office/drawing/2014/main" id="{5F8AB422-6833-4325-AE27-668C63C16542}"/>
              </a:ext>
            </a:extLst>
          </p:cNvPr>
          <p:cNvSpPr txBox="1">
            <a:spLocks/>
          </p:cNvSpPr>
          <p:nvPr/>
        </p:nvSpPr>
        <p:spPr>
          <a:xfrm>
            <a:off x="4898662" y="2305549"/>
            <a:ext cx="3250441"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endParaRPr kumimoji="1" lang="en-NZ" altLang="ja-JP" sz="16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E9F6BEB8-8E60-4B33-9708-17D3734B3147}"/>
              </a:ext>
            </a:extLst>
          </p:cNvPr>
          <p:cNvSpPr txBox="1">
            <a:spLocks/>
          </p:cNvSpPr>
          <p:nvPr/>
        </p:nvSpPr>
        <p:spPr>
          <a:xfrm>
            <a:off x="319463" y="3219800"/>
            <a:ext cx="6381589" cy="3827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sample of data and express it in a two-way table</a:t>
            </a: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E5B38A52-5110-4455-8FCF-ACEB1B4FC108}"/>
                  </a:ext>
                </a:extLst>
              </p:cNvPr>
              <p:cNvGraphicFramePr>
                <a:graphicFrameLocks noGrp="1"/>
              </p:cNvGraphicFramePr>
              <p:nvPr>
                <p:extLst>
                  <p:ext uri="{D42A27DB-BD31-4B8C-83A1-F6EECF244321}">
                    <p14:modId xmlns:p14="http://schemas.microsoft.com/office/powerpoint/2010/main" val="4232564984"/>
                  </p:ext>
                </p:extLst>
              </p:nvPr>
            </p:nvGraphicFramePr>
            <p:xfrm>
              <a:off x="757961" y="3602597"/>
              <a:ext cx="5155185" cy="1114135"/>
            </p:xfrm>
            <a:graphic>
              <a:graphicData uri="http://schemas.openxmlformats.org/drawingml/2006/table">
                <a:tbl>
                  <a:tblPr firstRow="1" firstCol="1" bandRow="1">
                    <a:tableStyleId>{5C22544A-7EE6-4342-B048-85BDC9FD1C3A}</a:tableStyleId>
                  </a:tblPr>
                  <a:tblGrid>
                    <a:gridCol w="784236">
                      <a:extLst>
                        <a:ext uri="{9D8B030D-6E8A-4147-A177-3AD203B41FA5}">
                          <a16:colId xmlns:a16="http://schemas.microsoft.com/office/drawing/2014/main" val="3074826136"/>
                        </a:ext>
                      </a:extLst>
                    </a:gridCol>
                    <a:gridCol w="1477525">
                      <a:extLst>
                        <a:ext uri="{9D8B030D-6E8A-4147-A177-3AD203B41FA5}">
                          <a16:colId xmlns:a16="http://schemas.microsoft.com/office/drawing/2014/main" val="387258914"/>
                        </a:ext>
                      </a:extLst>
                    </a:gridCol>
                    <a:gridCol w="1446712">
                      <a:extLst>
                        <a:ext uri="{9D8B030D-6E8A-4147-A177-3AD203B41FA5}">
                          <a16:colId xmlns:a16="http://schemas.microsoft.com/office/drawing/2014/main" val="2306200820"/>
                        </a:ext>
                      </a:extLst>
                    </a:gridCol>
                    <a:gridCol w="1446712">
                      <a:extLst>
                        <a:ext uri="{9D8B030D-6E8A-4147-A177-3AD203B41FA5}">
                          <a16:colId xmlns:a16="http://schemas.microsoft.com/office/drawing/2014/main" val="650978296"/>
                        </a:ext>
                      </a:extLst>
                    </a:gridCol>
                  </a:tblGrid>
                  <a:tr h="445901">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3</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38439194"/>
                      </a:ext>
                    </a:extLst>
                  </a:tr>
                  <a:tr h="334117">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1</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111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112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11</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121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122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12</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131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132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13</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2944342"/>
                      </a:ext>
                    </a:extLst>
                  </a:tr>
                  <a:tr h="334117">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211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212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21</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221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222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22</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231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232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23</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46888167"/>
                      </a:ext>
                    </a:extLst>
                  </a:tr>
                </a:tbl>
              </a:graphicData>
            </a:graphic>
          </p:graphicFrame>
        </mc:Choice>
        <mc:Fallback xmlns="">
          <p:graphicFrame>
            <p:nvGraphicFramePr>
              <p:cNvPr id="23" name="Table 22">
                <a:extLst>
                  <a:ext uri="{FF2B5EF4-FFF2-40B4-BE49-F238E27FC236}">
                    <a16:creationId xmlns:a16="http://schemas.microsoft.com/office/drawing/2014/main" id="{E5B38A52-5110-4455-8FCF-ACEB1B4FC108}"/>
                  </a:ext>
                </a:extLst>
              </p:cNvPr>
              <p:cNvGraphicFramePr>
                <a:graphicFrameLocks noGrp="1"/>
              </p:cNvGraphicFramePr>
              <p:nvPr>
                <p:extLst>
                  <p:ext uri="{D42A27DB-BD31-4B8C-83A1-F6EECF244321}">
                    <p14:modId xmlns:p14="http://schemas.microsoft.com/office/powerpoint/2010/main" val="4232564984"/>
                  </p:ext>
                </p:extLst>
              </p:nvPr>
            </p:nvGraphicFramePr>
            <p:xfrm>
              <a:off x="757961" y="3602597"/>
              <a:ext cx="5155185" cy="1114135"/>
            </p:xfrm>
            <a:graphic>
              <a:graphicData uri="http://schemas.openxmlformats.org/drawingml/2006/table">
                <a:tbl>
                  <a:tblPr firstRow="1" firstCol="1" bandRow="1">
                    <a:tableStyleId>{5C22544A-7EE6-4342-B048-85BDC9FD1C3A}</a:tableStyleId>
                  </a:tblPr>
                  <a:tblGrid>
                    <a:gridCol w="784236">
                      <a:extLst>
                        <a:ext uri="{9D8B030D-6E8A-4147-A177-3AD203B41FA5}">
                          <a16:colId xmlns:a16="http://schemas.microsoft.com/office/drawing/2014/main" val="3074826136"/>
                        </a:ext>
                      </a:extLst>
                    </a:gridCol>
                    <a:gridCol w="1477525">
                      <a:extLst>
                        <a:ext uri="{9D8B030D-6E8A-4147-A177-3AD203B41FA5}">
                          <a16:colId xmlns:a16="http://schemas.microsoft.com/office/drawing/2014/main" val="387258914"/>
                        </a:ext>
                      </a:extLst>
                    </a:gridCol>
                    <a:gridCol w="1446712">
                      <a:extLst>
                        <a:ext uri="{9D8B030D-6E8A-4147-A177-3AD203B41FA5}">
                          <a16:colId xmlns:a16="http://schemas.microsoft.com/office/drawing/2014/main" val="2306200820"/>
                        </a:ext>
                      </a:extLst>
                    </a:gridCol>
                    <a:gridCol w="1446712">
                      <a:extLst>
                        <a:ext uri="{9D8B030D-6E8A-4147-A177-3AD203B41FA5}">
                          <a16:colId xmlns:a16="http://schemas.microsoft.com/office/drawing/2014/main" val="650978296"/>
                        </a:ext>
                      </a:extLst>
                    </a:gridCol>
                  </a:tblGrid>
                  <a:tr h="445901">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3</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38439194"/>
                      </a:ext>
                    </a:extLst>
                  </a:tr>
                  <a:tr h="334117">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1</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4"/>
                          <a:stretch>
                            <a:fillRect l="-53498" t="-136364" r="-197119" b="-141818"/>
                          </a:stretch>
                        </a:blipFill>
                      </a:tcPr>
                    </a:tc>
                    <a:tc>
                      <a:txBody>
                        <a:bodyPr/>
                        <a:lstStyle/>
                        <a:p>
                          <a:endParaRPr lang="en-US"/>
                        </a:p>
                      </a:txBody>
                      <a:tcPr marL="68580" marR="68580" marT="0" marB="0" anchor="ctr">
                        <a:blipFill>
                          <a:blip r:embed="rId4"/>
                          <a:stretch>
                            <a:fillRect l="-157384" t="-136364" r="-102110" b="-141818"/>
                          </a:stretch>
                        </a:blipFill>
                      </a:tcPr>
                    </a:tc>
                    <a:tc>
                      <a:txBody>
                        <a:bodyPr/>
                        <a:lstStyle/>
                        <a:p>
                          <a:endParaRPr lang="en-US"/>
                        </a:p>
                      </a:txBody>
                      <a:tcPr marL="68580" marR="68580" marT="0" marB="0" anchor="ctr">
                        <a:blipFill>
                          <a:blip r:embed="rId4"/>
                          <a:stretch>
                            <a:fillRect l="-256303" t="-136364" r="-1681" b="-141818"/>
                          </a:stretch>
                        </a:blipFill>
                      </a:tcPr>
                    </a:tc>
                    <a:extLst>
                      <a:ext uri="{0D108BD9-81ED-4DB2-BD59-A6C34878D82A}">
                        <a16:rowId xmlns:a16="http://schemas.microsoft.com/office/drawing/2014/main" val="3572944342"/>
                      </a:ext>
                    </a:extLst>
                  </a:tr>
                  <a:tr h="334117">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4"/>
                          <a:stretch>
                            <a:fillRect l="-53498" t="-236364" r="-197119" b="-41818"/>
                          </a:stretch>
                        </a:blipFill>
                      </a:tcPr>
                    </a:tc>
                    <a:tc>
                      <a:txBody>
                        <a:bodyPr/>
                        <a:lstStyle/>
                        <a:p>
                          <a:endParaRPr lang="en-US"/>
                        </a:p>
                      </a:txBody>
                      <a:tcPr marL="68580" marR="68580" marT="0" marB="0" anchor="ctr">
                        <a:blipFill>
                          <a:blip r:embed="rId4"/>
                          <a:stretch>
                            <a:fillRect l="-157384" t="-236364" r="-102110" b="-41818"/>
                          </a:stretch>
                        </a:blipFill>
                      </a:tcPr>
                    </a:tc>
                    <a:tc>
                      <a:txBody>
                        <a:bodyPr/>
                        <a:lstStyle/>
                        <a:p>
                          <a:endParaRPr lang="en-US"/>
                        </a:p>
                      </a:txBody>
                      <a:tcPr marL="68580" marR="68580" marT="0" marB="0" anchor="ctr">
                        <a:blipFill>
                          <a:blip r:embed="rId4"/>
                          <a:stretch>
                            <a:fillRect l="-256303" t="-236364" r="-1681" b="-41818"/>
                          </a:stretch>
                        </a:blipFill>
                      </a:tcPr>
                    </a:tc>
                    <a:extLst>
                      <a:ext uri="{0D108BD9-81ED-4DB2-BD59-A6C34878D82A}">
                        <a16:rowId xmlns:a16="http://schemas.microsoft.com/office/drawing/2014/main" val="746888167"/>
                      </a:ext>
                    </a:extLst>
                  </a:tr>
                </a:tbl>
              </a:graphicData>
            </a:graphic>
          </p:graphicFrame>
        </mc:Fallback>
      </mc:AlternateContent>
      <p:sp>
        <p:nvSpPr>
          <p:cNvPr id="24" name="Text Placeholder 5">
            <a:extLst>
              <a:ext uri="{FF2B5EF4-FFF2-40B4-BE49-F238E27FC236}">
                <a16:creationId xmlns:a16="http://schemas.microsoft.com/office/drawing/2014/main" id="{84F64223-80CD-4E14-926C-D6BA7765C30B}"/>
              </a:ext>
            </a:extLst>
          </p:cNvPr>
          <p:cNvSpPr txBox="1">
            <a:spLocks/>
          </p:cNvSpPr>
          <p:nvPr/>
        </p:nvSpPr>
        <p:spPr>
          <a:xfrm>
            <a:off x="6603243" y="3222724"/>
            <a:ext cx="457920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NZ" altLang="ja-JP" sz="18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modelled as:</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640766C9-7D0A-4ECA-A5C5-F887F8995E9F}"/>
                  </a:ext>
                </a:extLst>
              </p:cNvPr>
              <p:cNvSpPr txBox="1">
                <a:spLocks/>
              </p:cNvSpPr>
              <p:nvPr/>
            </p:nvSpPr>
            <p:spPr>
              <a:xfrm>
                <a:off x="6409901" y="3626477"/>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d>
                            <m:d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𝜶𝜷</m:t>
                              </m:r>
                            </m:e>
                          </m:d>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640766C9-7D0A-4ECA-A5C5-F887F8995E9F}"/>
                  </a:ext>
                </a:extLst>
              </p:cNvPr>
              <p:cNvSpPr txBox="1">
                <a:spLocks noRot="1" noChangeAspect="1" noMove="1" noResize="1" noEditPoints="1" noAdjustHandles="1" noChangeArrowheads="1" noChangeShapeType="1" noTextEdit="1"/>
              </p:cNvSpPr>
              <p:nvPr/>
            </p:nvSpPr>
            <p:spPr>
              <a:xfrm>
                <a:off x="6409901" y="3626477"/>
                <a:ext cx="5462638" cy="474953"/>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EBF7F41F-E968-4A71-A801-F2C7DA76F295}"/>
                  </a:ext>
                </a:extLst>
              </p:cNvPr>
              <p:cNvSpPr txBox="1">
                <a:spLocks/>
              </p:cNvSpPr>
              <p:nvPr/>
            </p:nvSpPr>
            <p:spPr>
              <a:xfrm>
                <a:off x="651556" y="4928811"/>
                <a:ext cx="6281507"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overall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j</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B</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𝜶𝜷</m:t>
                            </m:r>
                          </m:e>
                        </m:d>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𝒊𝒋</m:t>
                        </m:r>
                      </m:sub>
                    </m:sSub>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interaction between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A and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j</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B</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𝒊𝒋𝒌</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EBF7F41F-E968-4A71-A801-F2C7DA76F295}"/>
                  </a:ext>
                </a:extLst>
              </p:cNvPr>
              <p:cNvSpPr txBox="1">
                <a:spLocks noRot="1" noChangeAspect="1" noMove="1" noResize="1" noEditPoints="1" noAdjustHandles="1" noChangeArrowheads="1" noChangeShapeType="1" noTextEdit="1"/>
              </p:cNvSpPr>
              <p:nvPr/>
            </p:nvSpPr>
            <p:spPr>
              <a:xfrm>
                <a:off x="651556" y="4928811"/>
                <a:ext cx="6281507" cy="1318675"/>
              </a:xfrm>
              <a:prstGeom prst="rect">
                <a:avLst/>
              </a:prstGeom>
              <a:blipFill>
                <a:blip r:embed="rId6"/>
                <a:stretch>
                  <a:fillRect l="-583" t="-1389" b="-7870"/>
                </a:stretch>
              </a:blipFill>
            </p:spPr>
            <p:txBody>
              <a:bodyPr/>
              <a:lstStyle/>
              <a:p>
                <a:r>
                  <a:rPr lang="en-NZ">
                    <a:noFill/>
                  </a:rPr>
                  <a:t> </a:t>
                </a:r>
              </a:p>
            </p:txBody>
          </p:sp>
        </mc:Fallback>
      </mc:AlternateContent>
    </p:spTree>
    <p:extLst>
      <p:ext uri="{BB962C8B-B14F-4D97-AF65-F5344CB8AC3E}">
        <p14:creationId xmlns:p14="http://schemas.microsoft.com/office/powerpoint/2010/main" val="293891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animBg="1"/>
      <p:bldP spid="21" grpId="0"/>
      <p:bldP spid="22" grpId="0"/>
      <p:bldP spid="24" grpId="0"/>
      <p:bldP spid="25" grpId="0"/>
      <p:bldP spid="2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692D5C0D-78E6-4805-B226-457FC79E5FF6}"/>
              </a:ext>
            </a:extLst>
          </p:cNvPr>
          <p:cNvSpPr txBox="1">
            <a:spLocks/>
          </p:cNvSpPr>
          <p:nvPr/>
        </p:nvSpPr>
        <p:spPr>
          <a:xfrm>
            <a:off x="319463" y="941917"/>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two-way ANOVA the response variable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 a function of two factors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each containing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Each combination of levels is known as a </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cell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(or treatment). There are </a:t>
            </a:r>
            <a:r>
              <a:rPr kumimoji="1" lang="en-NZ"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ab</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cells in total.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itle 6">
            <a:extLst>
              <a:ext uri="{FF2B5EF4-FFF2-40B4-BE49-F238E27FC236}">
                <a16:creationId xmlns:a16="http://schemas.microsoft.com/office/drawing/2014/main" id="{5A021925-4DAE-4C6F-AB06-12B8716D0BAC}"/>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3.6a – Re-cap of Two-Way ANOVA</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Text Placeholder 5">
            <a:extLst>
              <a:ext uri="{FF2B5EF4-FFF2-40B4-BE49-F238E27FC236}">
                <a16:creationId xmlns:a16="http://schemas.microsoft.com/office/drawing/2014/main" id="{70B7C6CF-746C-47DD-979E-997C856F94B6}"/>
              </a:ext>
            </a:extLst>
          </p:cNvPr>
          <p:cNvSpPr txBox="1">
            <a:spLocks/>
          </p:cNvSpPr>
          <p:nvPr/>
        </p:nvSpPr>
        <p:spPr>
          <a:xfrm>
            <a:off x="319463" y="1758478"/>
            <a:ext cx="11232109" cy="361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is assumed that the data in each of the cells arise from distribution that are:</a:t>
            </a: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73D247F9-398D-419A-B0A9-70A3E0FAB09A}"/>
              </a:ext>
            </a:extLst>
          </p:cNvPr>
          <p:cNvSpPr txBox="1">
            <a:spLocks/>
          </p:cNvSpPr>
          <p:nvPr/>
        </p:nvSpPr>
        <p:spPr>
          <a:xfrm>
            <a:off x="1071858" y="2118330"/>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homogenous variance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Left Brace 19">
            <a:extLst>
              <a:ext uri="{FF2B5EF4-FFF2-40B4-BE49-F238E27FC236}">
                <a16:creationId xmlns:a16="http://schemas.microsoft.com/office/drawing/2014/main" id="{5FB3CB67-C6EB-4D64-904D-7E289CA0E025}"/>
              </a:ext>
            </a:extLst>
          </p:cNvPr>
          <p:cNvSpPr/>
          <p:nvPr/>
        </p:nvSpPr>
        <p:spPr>
          <a:xfrm rot="10800000">
            <a:off x="4272989" y="2143010"/>
            <a:ext cx="356383" cy="7233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Placeholder 5">
            <a:extLst>
              <a:ext uri="{FF2B5EF4-FFF2-40B4-BE49-F238E27FC236}">
                <a16:creationId xmlns:a16="http://schemas.microsoft.com/office/drawing/2014/main" id="{5F8AB422-6833-4325-AE27-668C63C16542}"/>
              </a:ext>
            </a:extLst>
          </p:cNvPr>
          <p:cNvSpPr txBox="1">
            <a:spLocks/>
          </p:cNvSpPr>
          <p:nvPr/>
        </p:nvSpPr>
        <p:spPr>
          <a:xfrm>
            <a:off x="4898662" y="2305549"/>
            <a:ext cx="3250441"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endParaRPr kumimoji="1" lang="en-NZ" altLang="ja-JP" sz="16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E9F6BEB8-8E60-4B33-9708-17D3734B3147}"/>
              </a:ext>
            </a:extLst>
          </p:cNvPr>
          <p:cNvSpPr txBox="1">
            <a:spLocks/>
          </p:cNvSpPr>
          <p:nvPr/>
        </p:nvSpPr>
        <p:spPr>
          <a:xfrm>
            <a:off x="319463" y="3219800"/>
            <a:ext cx="6381589" cy="361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sample of data and express it in a two-way table </a:t>
            </a: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E5B38A52-5110-4455-8FCF-ACEB1B4FC108}"/>
                  </a:ext>
                </a:extLst>
              </p:cNvPr>
              <p:cNvGraphicFramePr>
                <a:graphicFrameLocks noGrp="1"/>
              </p:cNvGraphicFramePr>
              <p:nvPr>
                <p:extLst>
                  <p:ext uri="{D42A27DB-BD31-4B8C-83A1-F6EECF244321}">
                    <p14:modId xmlns:p14="http://schemas.microsoft.com/office/powerpoint/2010/main" val="3394776948"/>
                  </p:ext>
                </p:extLst>
              </p:nvPr>
            </p:nvGraphicFramePr>
            <p:xfrm>
              <a:off x="757961" y="3602597"/>
              <a:ext cx="5024141" cy="1114135"/>
            </p:xfrm>
            <a:graphic>
              <a:graphicData uri="http://schemas.openxmlformats.org/drawingml/2006/table">
                <a:tbl>
                  <a:tblPr firstRow="1" firstCol="1" bandRow="1">
                    <a:tableStyleId>{5C22544A-7EE6-4342-B048-85BDC9FD1C3A}</a:tableStyleId>
                  </a:tblPr>
                  <a:tblGrid>
                    <a:gridCol w="688702">
                      <a:extLst>
                        <a:ext uri="{9D8B030D-6E8A-4147-A177-3AD203B41FA5}">
                          <a16:colId xmlns:a16="http://schemas.microsoft.com/office/drawing/2014/main" val="3074826136"/>
                        </a:ext>
                      </a:extLst>
                    </a:gridCol>
                    <a:gridCol w="1515565">
                      <a:extLst>
                        <a:ext uri="{9D8B030D-6E8A-4147-A177-3AD203B41FA5}">
                          <a16:colId xmlns:a16="http://schemas.microsoft.com/office/drawing/2014/main" val="387258914"/>
                        </a:ext>
                      </a:extLst>
                    </a:gridCol>
                    <a:gridCol w="1409937">
                      <a:extLst>
                        <a:ext uri="{9D8B030D-6E8A-4147-A177-3AD203B41FA5}">
                          <a16:colId xmlns:a16="http://schemas.microsoft.com/office/drawing/2014/main" val="2306200820"/>
                        </a:ext>
                      </a:extLst>
                    </a:gridCol>
                    <a:gridCol w="1409937">
                      <a:extLst>
                        <a:ext uri="{9D8B030D-6E8A-4147-A177-3AD203B41FA5}">
                          <a16:colId xmlns:a16="http://schemas.microsoft.com/office/drawing/2014/main" val="650978296"/>
                        </a:ext>
                      </a:extLst>
                    </a:gridCol>
                  </a:tblGrid>
                  <a:tr h="445901">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3</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38439194"/>
                      </a:ext>
                    </a:extLst>
                  </a:tr>
                  <a:tr h="334117">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1</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111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112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11</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121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122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12</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131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132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13</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2944342"/>
                      </a:ext>
                    </a:extLst>
                  </a:tr>
                  <a:tr h="334117">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211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212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21</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221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222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22</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231</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232</m:t>
                                    </m:r>
                                  </m:sub>
                                </m:s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23</m:t>
                                    </m:r>
                                    <m:r>
                                      <a:rPr lang="en-NZ" sz="12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n-NZ"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46888167"/>
                      </a:ext>
                    </a:extLst>
                  </a:tr>
                </a:tbl>
              </a:graphicData>
            </a:graphic>
          </p:graphicFrame>
        </mc:Choice>
        <mc:Fallback xmlns="">
          <p:graphicFrame>
            <p:nvGraphicFramePr>
              <p:cNvPr id="23" name="Table 22">
                <a:extLst>
                  <a:ext uri="{FF2B5EF4-FFF2-40B4-BE49-F238E27FC236}">
                    <a16:creationId xmlns:a16="http://schemas.microsoft.com/office/drawing/2014/main" id="{E5B38A52-5110-4455-8FCF-ACEB1B4FC108}"/>
                  </a:ext>
                </a:extLst>
              </p:cNvPr>
              <p:cNvGraphicFramePr>
                <a:graphicFrameLocks noGrp="1"/>
              </p:cNvGraphicFramePr>
              <p:nvPr>
                <p:extLst>
                  <p:ext uri="{D42A27DB-BD31-4B8C-83A1-F6EECF244321}">
                    <p14:modId xmlns:p14="http://schemas.microsoft.com/office/powerpoint/2010/main" val="3394776948"/>
                  </p:ext>
                </p:extLst>
              </p:nvPr>
            </p:nvGraphicFramePr>
            <p:xfrm>
              <a:off x="757961" y="3602597"/>
              <a:ext cx="5024141" cy="1114135"/>
            </p:xfrm>
            <a:graphic>
              <a:graphicData uri="http://schemas.openxmlformats.org/drawingml/2006/table">
                <a:tbl>
                  <a:tblPr firstRow="1" firstCol="1" bandRow="1">
                    <a:tableStyleId>{5C22544A-7EE6-4342-B048-85BDC9FD1C3A}</a:tableStyleId>
                  </a:tblPr>
                  <a:tblGrid>
                    <a:gridCol w="688702">
                      <a:extLst>
                        <a:ext uri="{9D8B030D-6E8A-4147-A177-3AD203B41FA5}">
                          <a16:colId xmlns:a16="http://schemas.microsoft.com/office/drawing/2014/main" val="3074826136"/>
                        </a:ext>
                      </a:extLst>
                    </a:gridCol>
                    <a:gridCol w="1515565">
                      <a:extLst>
                        <a:ext uri="{9D8B030D-6E8A-4147-A177-3AD203B41FA5}">
                          <a16:colId xmlns:a16="http://schemas.microsoft.com/office/drawing/2014/main" val="387258914"/>
                        </a:ext>
                      </a:extLst>
                    </a:gridCol>
                    <a:gridCol w="1409937">
                      <a:extLst>
                        <a:ext uri="{9D8B030D-6E8A-4147-A177-3AD203B41FA5}">
                          <a16:colId xmlns:a16="http://schemas.microsoft.com/office/drawing/2014/main" val="2306200820"/>
                        </a:ext>
                      </a:extLst>
                    </a:gridCol>
                    <a:gridCol w="1409937">
                      <a:extLst>
                        <a:ext uri="{9D8B030D-6E8A-4147-A177-3AD203B41FA5}">
                          <a16:colId xmlns:a16="http://schemas.microsoft.com/office/drawing/2014/main" val="650978296"/>
                        </a:ext>
                      </a:extLst>
                    </a:gridCol>
                  </a:tblGrid>
                  <a:tr h="445901">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b</a:t>
                          </a:r>
                          <a:r>
                            <a:rPr lang="en-NZ" sz="2000" baseline="-25000" dirty="0">
                              <a:effectLst/>
                            </a:rPr>
                            <a:t>3</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38439194"/>
                      </a:ext>
                    </a:extLst>
                  </a:tr>
                  <a:tr h="334117">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1</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3"/>
                          <a:stretch>
                            <a:fillRect l="-45783" t="-136364" r="-187550" b="-141818"/>
                          </a:stretch>
                        </a:blipFill>
                      </a:tcPr>
                    </a:tc>
                    <a:tc>
                      <a:txBody>
                        <a:bodyPr/>
                        <a:lstStyle/>
                        <a:p>
                          <a:endParaRPr lang="en-US"/>
                        </a:p>
                      </a:txBody>
                      <a:tcPr marL="68580" marR="68580" marT="0" marB="0" anchor="ctr">
                        <a:blipFill>
                          <a:blip r:embed="rId3"/>
                          <a:stretch>
                            <a:fillRect l="-157143" t="-136364" r="-102165" b="-141818"/>
                          </a:stretch>
                        </a:blipFill>
                      </a:tcPr>
                    </a:tc>
                    <a:tc>
                      <a:txBody>
                        <a:bodyPr/>
                        <a:lstStyle/>
                        <a:p>
                          <a:endParaRPr lang="en-US"/>
                        </a:p>
                      </a:txBody>
                      <a:tcPr marL="68580" marR="68580" marT="0" marB="0" anchor="ctr">
                        <a:blipFill>
                          <a:blip r:embed="rId3"/>
                          <a:stretch>
                            <a:fillRect l="-256034" t="-136364" r="-1724" b="-141818"/>
                          </a:stretch>
                        </a:blipFill>
                      </a:tcPr>
                    </a:tc>
                    <a:extLst>
                      <a:ext uri="{0D108BD9-81ED-4DB2-BD59-A6C34878D82A}">
                        <a16:rowId xmlns:a16="http://schemas.microsoft.com/office/drawing/2014/main" val="3572944342"/>
                      </a:ext>
                    </a:extLst>
                  </a:tr>
                  <a:tr h="334117">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r>
                            <a:rPr lang="en-NZ" sz="2000"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NZ"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3"/>
                          <a:stretch>
                            <a:fillRect l="-45783" t="-236364" r="-187550" b="-41818"/>
                          </a:stretch>
                        </a:blipFill>
                      </a:tcPr>
                    </a:tc>
                    <a:tc>
                      <a:txBody>
                        <a:bodyPr/>
                        <a:lstStyle/>
                        <a:p>
                          <a:endParaRPr lang="en-US"/>
                        </a:p>
                      </a:txBody>
                      <a:tcPr marL="68580" marR="68580" marT="0" marB="0" anchor="ctr">
                        <a:blipFill>
                          <a:blip r:embed="rId3"/>
                          <a:stretch>
                            <a:fillRect l="-157143" t="-236364" r="-102165" b="-41818"/>
                          </a:stretch>
                        </a:blipFill>
                      </a:tcPr>
                    </a:tc>
                    <a:tc>
                      <a:txBody>
                        <a:bodyPr/>
                        <a:lstStyle/>
                        <a:p>
                          <a:endParaRPr lang="en-US"/>
                        </a:p>
                      </a:txBody>
                      <a:tcPr marL="68580" marR="68580" marT="0" marB="0" anchor="ctr">
                        <a:blipFill>
                          <a:blip r:embed="rId3"/>
                          <a:stretch>
                            <a:fillRect l="-256034" t="-236364" r="-1724" b="-41818"/>
                          </a:stretch>
                        </a:blipFill>
                      </a:tcPr>
                    </a:tc>
                    <a:extLst>
                      <a:ext uri="{0D108BD9-81ED-4DB2-BD59-A6C34878D82A}">
                        <a16:rowId xmlns:a16="http://schemas.microsoft.com/office/drawing/2014/main" val="746888167"/>
                      </a:ext>
                    </a:extLst>
                  </a:tr>
                </a:tbl>
              </a:graphicData>
            </a:graphic>
          </p:graphicFrame>
        </mc:Fallback>
      </mc:AlternateContent>
      <p:sp>
        <p:nvSpPr>
          <p:cNvPr id="24" name="Text Placeholder 5">
            <a:extLst>
              <a:ext uri="{FF2B5EF4-FFF2-40B4-BE49-F238E27FC236}">
                <a16:creationId xmlns:a16="http://schemas.microsoft.com/office/drawing/2014/main" id="{84F64223-80CD-4E14-926C-D6BA7765C30B}"/>
              </a:ext>
            </a:extLst>
          </p:cNvPr>
          <p:cNvSpPr txBox="1">
            <a:spLocks/>
          </p:cNvSpPr>
          <p:nvPr/>
        </p:nvSpPr>
        <p:spPr>
          <a:xfrm>
            <a:off x="6603243" y="3222724"/>
            <a:ext cx="457920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NZ" altLang="ja-JP" sz="18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modelled as:</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640766C9-7D0A-4ECA-A5C5-F887F8995E9F}"/>
                  </a:ext>
                </a:extLst>
              </p:cNvPr>
              <p:cNvSpPr txBox="1">
                <a:spLocks/>
              </p:cNvSpPr>
              <p:nvPr/>
            </p:nvSpPr>
            <p:spPr>
              <a:xfrm>
                <a:off x="6409901" y="3626477"/>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d>
                            <m:d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𝜶𝜷</m:t>
                              </m:r>
                            </m:e>
                          </m:d>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640766C9-7D0A-4ECA-A5C5-F887F8995E9F}"/>
                  </a:ext>
                </a:extLst>
              </p:cNvPr>
              <p:cNvSpPr txBox="1">
                <a:spLocks noRot="1" noChangeAspect="1" noMove="1" noResize="1" noEditPoints="1" noAdjustHandles="1" noChangeArrowheads="1" noChangeShapeType="1" noTextEdit="1"/>
              </p:cNvSpPr>
              <p:nvPr/>
            </p:nvSpPr>
            <p:spPr>
              <a:xfrm>
                <a:off x="6409901" y="3626477"/>
                <a:ext cx="5462638" cy="474953"/>
              </a:xfrm>
              <a:prstGeom prst="rect">
                <a:avLst/>
              </a:prstGeom>
              <a:blipFill>
                <a:blip r:embed="rId4"/>
                <a:stretch>
                  <a:fillRect/>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9A97F0D9-2159-4921-B587-168F51D20606}"/>
              </a:ext>
            </a:extLst>
          </p:cNvPr>
          <p:cNvSpPr txBox="1">
            <a:spLocks/>
          </p:cNvSpPr>
          <p:nvPr/>
        </p:nvSpPr>
        <p:spPr>
          <a:xfrm>
            <a:off x="319463" y="4891339"/>
            <a:ext cx="4211594" cy="361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following hypotheses:</a:t>
            </a: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A9E171C8-0918-4EA2-B7DE-A9AFFE00DADF}"/>
                  </a:ext>
                </a:extLst>
              </p:cNvPr>
              <p:cNvSpPr txBox="1">
                <a:spLocks/>
              </p:cNvSpPr>
              <p:nvPr/>
            </p:nvSpPr>
            <p:spPr>
              <a:xfrm>
                <a:off x="319463" y="5593741"/>
                <a:ext cx="3379738"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𝜶𝜷</m:t>
                          </m:r>
                          <m:r>
                            <a:rPr lang="en-NZ" altLang="ja-JP" sz="1600" b="1" i="1" smtClean="0">
                              <a:solidFill>
                                <a:schemeClr val="tx1"/>
                              </a:solidFill>
                              <a:latin typeface="Cambria Math" panose="02040503050406030204" pitchFamily="18" charset="0"/>
                            </a:rPr>
                            <m:t>)</m:t>
                          </m:r>
                        </m:e>
                        <m:sub>
                          <m:r>
                            <a:rPr lang="en-NZ" altLang="ja-JP" sz="1600" b="1" i="1" smtClean="0">
                              <a:solidFill>
                                <a:schemeClr val="tx1"/>
                              </a:solidFill>
                              <a:latin typeface="Cambria Math" panose="02040503050406030204" pitchFamily="18" charset="0"/>
                            </a:rPr>
                            <m:t>𝒊𝒋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𝜶𝜷</m:t>
                          </m:r>
                          <m:r>
                            <a:rPr lang="en-NZ" altLang="ja-JP" sz="1600" b="1" i="1">
                              <a:solidFill>
                                <a:schemeClr val="tx1"/>
                              </a:solidFill>
                              <a:latin typeface="Cambria Math" panose="02040503050406030204" pitchFamily="18" charset="0"/>
                            </a:rPr>
                            <m:t>)</m:t>
                          </m:r>
                        </m:e>
                        <m:sub>
                          <m:r>
                            <a:rPr lang="en-NZ" altLang="ja-JP" sz="1600" b="1" i="1">
                              <a:solidFill>
                                <a:schemeClr val="tx1"/>
                              </a:solidFill>
                              <a:latin typeface="Cambria Math" panose="02040503050406030204" pitchFamily="18" charset="0"/>
                            </a:rPr>
                            <m:t>𝒊𝒋</m:t>
                          </m:r>
                        </m:sub>
                      </m:sSub>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𝒇𝒐𝒓</m:t>
                      </m:r>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oMath>
                  </m:oMathPara>
                </a14:m>
                <a:br>
                  <a:rPr lang="en-NZ" altLang="ja-JP" sz="1600" b="1" i="1" dirty="0">
                    <a:solidFill>
                      <a:schemeClr val="tx1"/>
                    </a:solidFill>
                    <a:latin typeface="Cambria Math" panose="02040503050406030204" pitchFamily="18" charset="0"/>
                  </a:rPr>
                </a:br>
                <a:endParaRPr lang="en-NZ" altLang="ja-JP" sz="1600" b="1" dirty="0">
                  <a:solidFill>
                    <a:schemeClr val="tx1"/>
                  </a:solidFill>
                </a:endParaRPr>
              </a:p>
            </p:txBody>
          </p:sp>
        </mc:Choice>
        <mc:Fallback xmlns="">
          <p:sp>
            <p:nvSpPr>
              <p:cNvPr id="28" name="Text Placeholder 5">
                <a:extLst>
                  <a:ext uri="{FF2B5EF4-FFF2-40B4-BE49-F238E27FC236}">
                    <a16:creationId xmlns:a16="http://schemas.microsoft.com/office/drawing/2014/main" id="{A9E171C8-0918-4EA2-B7DE-A9AFFE00DADF}"/>
                  </a:ext>
                </a:extLst>
              </p:cNvPr>
              <p:cNvSpPr txBox="1">
                <a:spLocks noRot="1" noChangeAspect="1" noMove="1" noResize="1" noEditPoints="1" noAdjustHandles="1" noChangeArrowheads="1" noChangeShapeType="1" noTextEdit="1"/>
              </p:cNvSpPr>
              <p:nvPr/>
            </p:nvSpPr>
            <p:spPr>
              <a:xfrm>
                <a:off x="319463" y="5593741"/>
                <a:ext cx="3379738" cy="695961"/>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BA1AED94-11A6-43B7-AAAE-E88CA9E6F95B}"/>
                  </a:ext>
                </a:extLst>
              </p:cNvPr>
              <p:cNvSpPr txBox="1">
                <a:spLocks/>
              </p:cNvSpPr>
              <p:nvPr/>
            </p:nvSpPr>
            <p:spPr>
              <a:xfrm>
                <a:off x="4671199" y="5593741"/>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𝒇𝒐𝒓</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𝒊</m:t>
                      </m:r>
                    </m:oMath>
                  </m:oMathPara>
                </a14:m>
                <a:br>
                  <a:rPr lang="en-NZ" altLang="ja-JP" sz="1600" b="1" i="1" dirty="0">
                    <a:solidFill>
                      <a:schemeClr val="tx1"/>
                    </a:solidFill>
                    <a:latin typeface="Cambria Math" panose="02040503050406030204" pitchFamily="18" charset="0"/>
                  </a:rPr>
                </a:br>
                <a:endParaRPr lang="en-NZ" altLang="ja-JP" sz="1600" b="1" dirty="0">
                  <a:solidFill>
                    <a:schemeClr val="tx1"/>
                  </a:solidFill>
                </a:endParaRPr>
              </a:p>
            </p:txBody>
          </p:sp>
        </mc:Choice>
        <mc:Fallback xmlns="">
          <p:sp>
            <p:nvSpPr>
              <p:cNvPr id="29" name="Text Placeholder 5">
                <a:extLst>
                  <a:ext uri="{FF2B5EF4-FFF2-40B4-BE49-F238E27FC236}">
                    <a16:creationId xmlns:a16="http://schemas.microsoft.com/office/drawing/2014/main" id="{BA1AED94-11A6-43B7-AAAE-E88CA9E6F95B}"/>
                  </a:ext>
                </a:extLst>
              </p:cNvPr>
              <p:cNvSpPr txBox="1">
                <a:spLocks noRot="1" noChangeAspect="1" noMove="1" noResize="1" noEditPoints="1" noAdjustHandles="1" noChangeArrowheads="1" noChangeShapeType="1" noTextEdit="1"/>
              </p:cNvSpPr>
              <p:nvPr/>
            </p:nvSpPr>
            <p:spPr>
              <a:xfrm>
                <a:off x="4671199" y="5593741"/>
                <a:ext cx="2849601" cy="695961"/>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72A43117-8245-4565-A695-0DFEFDC9D0EE}"/>
                  </a:ext>
                </a:extLst>
              </p:cNvPr>
              <p:cNvSpPr txBox="1">
                <a:spLocks/>
              </p:cNvSpPr>
              <p:nvPr/>
            </p:nvSpPr>
            <p:spPr>
              <a:xfrm>
                <a:off x="8701971" y="5593741"/>
                <a:ext cx="2849601" cy="6511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𝜷</m:t>
                          </m:r>
                        </m:e>
                        <m:sub>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𝒃</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𝜷</m:t>
                          </m:r>
                        </m:e>
                        <m:sub>
                          <m:r>
                            <a:rPr lang="en-NZ" altLang="ja-JP" sz="1600" b="1" i="1">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𝒇𝒐𝒓</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𝒋</m:t>
                      </m:r>
                    </m:oMath>
                  </m:oMathPara>
                </a14:m>
                <a:br>
                  <a:rPr lang="en-NZ" altLang="ja-JP" sz="1600" b="1" i="1" dirty="0">
                    <a:solidFill>
                      <a:schemeClr val="tx1"/>
                    </a:solidFill>
                    <a:latin typeface="Cambria Math" panose="02040503050406030204" pitchFamily="18" charset="0"/>
                  </a:rPr>
                </a:br>
                <a:endParaRPr lang="en-NZ" altLang="ja-JP" sz="1600" b="1" dirty="0">
                  <a:solidFill>
                    <a:schemeClr val="tx1"/>
                  </a:solidFill>
                </a:endParaRPr>
              </a:p>
            </p:txBody>
          </p:sp>
        </mc:Choice>
        <mc:Fallback xmlns="">
          <p:sp>
            <p:nvSpPr>
              <p:cNvPr id="30" name="Text Placeholder 5">
                <a:extLst>
                  <a:ext uri="{FF2B5EF4-FFF2-40B4-BE49-F238E27FC236}">
                    <a16:creationId xmlns:a16="http://schemas.microsoft.com/office/drawing/2014/main" id="{72A43117-8245-4565-A695-0DFEFDC9D0EE}"/>
                  </a:ext>
                </a:extLst>
              </p:cNvPr>
              <p:cNvSpPr txBox="1">
                <a:spLocks noRot="1" noChangeAspect="1" noMove="1" noResize="1" noEditPoints="1" noAdjustHandles="1" noChangeArrowheads="1" noChangeShapeType="1" noTextEdit="1"/>
              </p:cNvSpPr>
              <p:nvPr/>
            </p:nvSpPr>
            <p:spPr>
              <a:xfrm>
                <a:off x="8701971" y="5593741"/>
                <a:ext cx="2849601" cy="651123"/>
              </a:xfrm>
              <a:prstGeom prst="rect">
                <a:avLst/>
              </a:prstGeom>
              <a:blipFill>
                <a:blip r:embed="rId7"/>
                <a:stretch>
                  <a:fillRect/>
                </a:stretch>
              </a:blipFill>
            </p:spPr>
            <p:txBody>
              <a:bodyPr/>
              <a:lstStyle/>
              <a:p>
                <a:r>
                  <a:rPr lang="en-NZ">
                    <a:noFill/>
                  </a:rPr>
                  <a:t> </a:t>
                </a:r>
              </a:p>
            </p:txBody>
          </p:sp>
        </mc:Fallback>
      </mc:AlternateContent>
      <p:sp>
        <p:nvSpPr>
          <p:cNvPr id="31" name="Text Placeholder 5">
            <a:extLst>
              <a:ext uri="{FF2B5EF4-FFF2-40B4-BE49-F238E27FC236}">
                <a16:creationId xmlns:a16="http://schemas.microsoft.com/office/drawing/2014/main" id="{7E4C2353-D2F4-4785-869A-321135067463}"/>
              </a:ext>
            </a:extLst>
          </p:cNvPr>
          <p:cNvSpPr txBox="1">
            <a:spLocks/>
          </p:cNvSpPr>
          <p:nvPr/>
        </p:nvSpPr>
        <p:spPr>
          <a:xfrm>
            <a:off x="309349" y="5253004"/>
            <a:ext cx="3875851"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Is there any interaction between factors?</a:t>
            </a:r>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32" name="Text Placeholder 5">
            <a:extLst>
              <a:ext uri="{FF2B5EF4-FFF2-40B4-BE49-F238E27FC236}">
                <a16:creationId xmlns:a16="http://schemas.microsoft.com/office/drawing/2014/main" id="{35A16358-DD7E-4DC5-968C-34C093C8C23C}"/>
              </a:ext>
            </a:extLst>
          </p:cNvPr>
          <p:cNvSpPr txBox="1">
            <a:spLocks/>
          </p:cNvSpPr>
          <p:nvPr/>
        </p:nvSpPr>
        <p:spPr>
          <a:xfrm>
            <a:off x="4629373" y="5253004"/>
            <a:ext cx="3377430"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Does factor A have any effect on Y?</a:t>
            </a:r>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33" name="Text Placeholder 5">
            <a:extLst>
              <a:ext uri="{FF2B5EF4-FFF2-40B4-BE49-F238E27FC236}">
                <a16:creationId xmlns:a16="http://schemas.microsoft.com/office/drawing/2014/main" id="{D715500E-90A8-4C2E-A80E-5ECD360FD175}"/>
              </a:ext>
            </a:extLst>
          </p:cNvPr>
          <p:cNvSpPr txBox="1">
            <a:spLocks/>
          </p:cNvSpPr>
          <p:nvPr/>
        </p:nvSpPr>
        <p:spPr>
          <a:xfrm>
            <a:off x="8711935" y="5253004"/>
            <a:ext cx="3377430"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Does factor B have any effect on Y?</a:t>
            </a:r>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A791808D-23E1-7302-3A25-99F727FE4828}"/>
              </a:ext>
            </a:extLst>
          </p:cNvPr>
          <p:cNvSpPr txBox="1">
            <a:spLocks/>
          </p:cNvSpPr>
          <p:nvPr/>
        </p:nvSpPr>
        <p:spPr>
          <a:xfrm>
            <a:off x="2217705" y="6419000"/>
            <a:ext cx="7328846" cy="3483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rgbClr val="C00000"/>
                </a:solidFill>
              </a:rPr>
              <a:t>We only proceed to tests of factors </a:t>
            </a:r>
            <a:r>
              <a:rPr lang="en-NZ" altLang="ja-JP" sz="1600" b="1" i="1" dirty="0">
                <a:solidFill>
                  <a:srgbClr val="C00000"/>
                </a:solidFill>
              </a:rPr>
              <a:t>A</a:t>
            </a:r>
            <a:r>
              <a:rPr lang="en-NZ" altLang="ja-JP" sz="1600" dirty="0">
                <a:solidFill>
                  <a:srgbClr val="C00000"/>
                </a:solidFill>
              </a:rPr>
              <a:t> and </a:t>
            </a:r>
            <a:r>
              <a:rPr lang="en-NZ" altLang="ja-JP" sz="1600" b="1" i="1" dirty="0">
                <a:solidFill>
                  <a:srgbClr val="C00000"/>
                </a:solidFill>
              </a:rPr>
              <a:t>B</a:t>
            </a:r>
            <a:r>
              <a:rPr lang="en-NZ" altLang="ja-JP" sz="1600" dirty="0">
                <a:solidFill>
                  <a:srgbClr val="C00000"/>
                </a:solidFill>
              </a:rPr>
              <a:t> if there is no evidence of interaction.</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p:cxnSp>
        <p:nvCxnSpPr>
          <p:cNvPr id="3" name="Straight Arrow Connector 2">
            <a:extLst>
              <a:ext uri="{FF2B5EF4-FFF2-40B4-BE49-F238E27FC236}">
                <a16:creationId xmlns:a16="http://schemas.microsoft.com/office/drawing/2014/main" id="{9D91D8F4-F17C-57E3-B9C2-51225A7F1CD2}"/>
              </a:ext>
            </a:extLst>
          </p:cNvPr>
          <p:cNvCxnSpPr/>
          <p:nvPr/>
        </p:nvCxnSpPr>
        <p:spPr>
          <a:xfrm>
            <a:off x="2425260" y="6182657"/>
            <a:ext cx="432180" cy="2363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58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3" grpId="0"/>
      <p:bldP spid="2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9" name="Title 6">
            <a:extLst>
              <a:ext uri="{FF2B5EF4-FFF2-40B4-BE49-F238E27FC236}">
                <a16:creationId xmlns:a16="http://schemas.microsoft.com/office/drawing/2014/main" id="{5A021925-4DAE-4C6F-AB06-12B8716D0BAC}"/>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3.6a – Re-cap of Two-Way ANOVA</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4" name="Text Placeholder 5">
            <a:extLst>
              <a:ext uri="{FF2B5EF4-FFF2-40B4-BE49-F238E27FC236}">
                <a16:creationId xmlns:a16="http://schemas.microsoft.com/office/drawing/2014/main" id="{928A6980-3CC1-7276-C095-4023ACACBF69}"/>
              </a:ext>
            </a:extLst>
          </p:cNvPr>
          <p:cNvSpPr txBox="1">
            <a:spLocks/>
          </p:cNvSpPr>
          <p:nvPr/>
        </p:nvSpPr>
        <p:spPr>
          <a:xfrm>
            <a:off x="319466" y="1883172"/>
            <a:ext cx="1123210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Two-way ANOVA can be performed in R using either </a:t>
            </a:r>
            <a:r>
              <a:rPr kumimoji="1" lang="en-NZ" altLang="ja-JP" sz="17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or </a:t>
            </a:r>
            <a:r>
              <a:rPr kumimoji="1" lang="en-NZ" altLang="ja-JP" sz="17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5" name="Text Placeholder 5">
            <a:extLst>
              <a:ext uri="{FF2B5EF4-FFF2-40B4-BE49-F238E27FC236}">
                <a16:creationId xmlns:a16="http://schemas.microsoft.com/office/drawing/2014/main" id="{5507BBC0-927A-2D0A-A542-0E72A9CD14F2}"/>
              </a:ext>
            </a:extLst>
          </p:cNvPr>
          <p:cNvSpPr txBox="1">
            <a:spLocks/>
          </p:cNvSpPr>
          <p:nvPr/>
        </p:nvSpPr>
        <p:spPr>
          <a:xfrm>
            <a:off x="319465" y="2390414"/>
            <a:ext cx="1123210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a balanced design </a:t>
            </a:r>
            <a:r>
              <a:rPr kumimoji="1" lang="en-NZ" altLang="ja-JP" sz="17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(equal # observations in each cell)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these two approaches will yield the exact same results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6" name="Text Placeholder 5">
            <a:extLst>
              <a:ext uri="{FF2B5EF4-FFF2-40B4-BE49-F238E27FC236}">
                <a16:creationId xmlns:a16="http://schemas.microsoft.com/office/drawing/2014/main" id="{B0D6F2D7-B917-89F0-B5AC-BD7B24533693}"/>
              </a:ext>
            </a:extLst>
          </p:cNvPr>
          <p:cNvSpPr txBox="1">
            <a:spLocks/>
          </p:cNvSpPr>
          <p:nvPr/>
        </p:nvSpPr>
        <p:spPr>
          <a:xfrm>
            <a:off x="319464" y="2897656"/>
            <a:ext cx="11232109" cy="6538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an unbalanced design </a:t>
            </a:r>
            <a:r>
              <a:rPr kumimoji="1" lang="en-NZ" altLang="ja-JP" sz="17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(unequal # observations in each cell)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there are some important differences to these approaches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that you should be aware of.</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7" name="Text Placeholder 5">
            <a:extLst>
              <a:ext uri="{FF2B5EF4-FFF2-40B4-BE49-F238E27FC236}">
                <a16:creationId xmlns:a16="http://schemas.microsoft.com/office/drawing/2014/main" id="{8608098B-7002-C951-857C-FCCD57EF5808}"/>
              </a:ext>
            </a:extLst>
          </p:cNvPr>
          <p:cNvSpPr txBox="1">
            <a:spLocks/>
          </p:cNvSpPr>
          <p:nvPr/>
        </p:nvSpPr>
        <p:spPr>
          <a:xfrm>
            <a:off x="319463" y="3719704"/>
            <a:ext cx="11232109" cy="5300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Stat 293, we only consider balanced designs.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177EED40-5601-1B52-392B-698961157A98}"/>
              </a:ext>
            </a:extLst>
          </p:cNvPr>
          <p:cNvSpPr txBox="1">
            <a:spLocks/>
          </p:cNvSpPr>
          <p:nvPr/>
        </p:nvSpPr>
        <p:spPr>
          <a:xfrm>
            <a:off x="319463" y="4187518"/>
            <a:ext cx="1170876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However, in Section 3.6c there is an </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optional </a:t>
            </a:r>
            <a:r>
              <a:rPr kumimoji="1" lang="en-NZ" altLang="ja-JP" sz="17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example where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consider an unbalanced design, just to illustrate the difference between </a:t>
            </a:r>
            <a:r>
              <a:rPr kumimoji="1" lang="en-NZ" altLang="ja-JP" sz="17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7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lmPerm</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lang="en-NZ" altLang="ja-JP" sz="1700" b="1" dirty="0">
                <a:solidFill>
                  <a:prstClr val="black"/>
                </a:solidFill>
                <a:latin typeface="Calibri" panose="020F0502020204030204"/>
                <a:ea typeface="游ゴシック" panose="020B0400000000000000" pitchFamily="34" charset="-128"/>
              </a:rPr>
              <a:t> </a:t>
            </a:r>
            <a:r>
              <a:rPr lang="en-NZ" altLang="ja-JP" sz="1700" dirty="0">
                <a:solidFill>
                  <a:prstClr val="black"/>
                </a:solidFill>
                <a:latin typeface="Calibri" panose="020F0502020204030204"/>
                <a:ea typeface="游ゴシック" panose="020B0400000000000000" pitchFamily="34" charset="-128"/>
              </a:rPr>
              <a:t>outputs.</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b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This is the only place in Part 1 of Stat 293 where you will encounter an unbalanced design.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6741001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AEAF6403-EF16-40AE-8519-D305B88AA726}"/>
                  </a:ext>
                </a:extLst>
              </p:cNvPr>
              <p:cNvSpPr txBox="1">
                <a:spLocks/>
              </p:cNvSpPr>
              <p:nvPr/>
            </p:nvSpPr>
            <p:spPr>
              <a:xfrm>
                <a:off x="599833" y="1150606"/>
                <a:ext cx="535515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
                    </m:oMathParaPr>
                    <m:oMath xmlns:m="http://schemas.openxmlformats.org/officeDocument/2006/math">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𝑫𝑺</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𝟏</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𝒍𝒎</m:t>
                      </m:r>
                      <m:d>
                        <m:dPr>
                          <m:ctrlP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ctrlPr>
                        </m:dPr>
                        <m:e>
                          <m:m>
                            <m:mPr>
                              <m:mcs>
                                <m:mc>
                                  <m:mcPr>
                                    <m:count m:val="3"/>
                                    <m:mcJc m:val="center"/>
                                  </m:mcPr>
                                </m:mc>
                              </m:mcs>
                              <m:ctrlP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ctrlPr>
                            </m:mPr>
                            <m:mr>
                              <m:e>
                                <m:r>
                                  <a:rPr lang="en-NZ" altLang="ja-JP" sz="1700" b="1" i="1">
                                    <a:solidFill>
                                      <a:srgbClr val="C00000"/>
                                    </a:solidFill>
                                    <a:latin typeface="Cambria Math" panose="02040503050406030204" pitchFamily="18" charset="0"/>
                                  </a:rPr>
                                  <m:t>𝒚</m:t>
                                </m:r>
                                <m:r>
                                  <a:rPr lang="en-NZ" altLang="ja-JP" sz="1700" b="1" i="1">
                                    <a:solidFill>
                                      <a:srgbClr val="C00000"/>
                                    </a:solidFill>
                                    <a:latin typeface="Cambria Math" panose="02040503050406030204" pitchFamily="18" charset="0"/>
                                  </a:rPr>
                                  <m:t> ~ </m:t>
                                </m:r>
                                <m:r>
                                  <a:rPr lang="en-NZ" altLang="ja-JP" sz="1700" b="1" i="1">
                                    <a:solidFill>
                                      <a:srgbClr val="C00000"/>
                                    </a:solidFill>
                                    <a:latin typeface="Cambria Math" panose="02040503050406030204" pitchFamily="18" charset="0"/>
                                  </a:rPr>
                                  <m:t>𝑨</m:t>
                                </m:r>
                                <m:r>
                                  <a:rPr lang="en-NZ" altLang="ja-JP" sz="1700" b="1" i="1">
                                    <a:solidFill>
                                      <a:srgbClr val="C00000"/>
                                    </a:solidFill>
                                    <a:latin typeface="Cambria Math" panose="02040503050406030204" pitchFamily="18" charset="0"/>
                                  </a:rPr>
                                  <m:t>+</m:t>
                                </m:r>
                                <m:r>
                                  <a:rPr lang="en-NZ" altLang="ja-JP" sz="1700" b="1" i="1">
                                    <a:solidFill>
                                      <a:srgbClr val="C00000"/>
                                    </a:solidFill>
                                    <a:latin typeface="Cambria Math" panose="02040503050406030204" pitchFamily="18" charset="0"/>
                                  </a:rPr>
                                  <m:t>𝑩</m:t>
                                </m:r>
                                <m:r>
                                  <a:rPr lang="en-NZ" altLang="ja-JP" sz="1700" b="1" i="1">
                                    <a:solidFill>
                                      <a:srgbClr val="C00000"/>
                                    </a:solidFill>
                                    <a:latin typeface="Cambria Math" panose="02040503050406030204" pitchFamily="18" charset="0"/>
                                  </a:rPr>
                                  <m:t>+</m:t>
                                </m:r>
                                <m:r>
                                  <a:rPr lang="en-NZ" altLang="ja-JP" sz="1700" b="1" i="1">
                                    <a:solidFill>
                                      <a:srgbClr val="C00000"/>
                                    </a:solidFill>
                                    <a:latin typeface="Cambria Math" panose="02040503050406030204" pitchFamily="18" charset="0"/>
                                  </a:rPr>
                                  <m:t>𝑨</m:t>
                                </m:r>
                                <m:r>
                                  <a:rPr lang="en-NZ" altLang="ja-JP" sz="1700" b="1" i="1">
                                    <a:solidFill>
                                      <a:srgbClr val="C00000"/>
                                    </a:solidFill>
                                    <a:latin typeface="Cambria Math" panose="02040503050406030204" pitchFamily="18" charset="0"/>
                                  </a:rPr>
                                  <m:t>∗</m:t>
                                </m:r>
                                <m:r>
                                  <a:rPr lang="en-NZ" altLang="ja-JP" sz="1700" b="1" i="1">
                                    <a:solidFill>
                                      <a:srgbClr val="C00000"/>
                                    </a:solidFill>
                                    <a:latin typeface="Cambria Math" panose="02040503050406030204" pitchFamily="18" charset="0"/>
                                  </a:rPr>
                                  <m:t>𝑩</m:t>
                                </m:r>
                              </m:e>
                              <m:e>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e>
                              <m:e>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𝒅𝒂𝒕𝒂</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𝑫𝑺</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𝟎</m:t>
                                </m:r>
                              </m:e>
                            </m:mr>
                          </m:m>
                        </m:e>
                      </m:d>
                    </m:oMath>
                  </m:oMathPara>
                </a14:m>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6" name="Text Placeholder 5">
                <a:extLst>
                  <a:ext uri="{FF2B5EF4-FFF2-40B4-BE49-F238E27FC236}">
                    <a16:creationId xmlns:a16="http://schemas.microsoft.com/office/drawing/2014/main" id="{AEAF6403-EF16-40AE-8519-D305B88AA726}"/>
                  </a:ext>
                </a:extLst>
              </p:cNvPr>
              <p:cNvSpPr txBox="1">
                <a:spLocks noRot="1" noChangeAspect="1" noMove="1" noResize="1" noEditPoints="1" noAdjustHandles="1" noChangeArrowheads="1" noChangeShapeType="1" noTextEdit="1"/>
              </p:cNvSpPr>
              <p:nvPr/>
            </p:nvSpPr>
            <p:spPr>
              <a:xfrm>
                <a:off x="599833" y="1150606"/>
                <a:ext cx="5355152" cy="365126"/>
              </a:xfrm>
              <a:prstGeom prst="rect">
                <a:avLst/>
              </a:prstGeom>
              <a:blipFill>
                <a:blip r:embed="rId3"/>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49598C4E-91DF-4A9F-8D1A-DB53F8904AD6}"/>
              </a:ext>
            </a:extLst>
          </p:cNvPr>
          <p:cNvSpPr txBox="1">
            <a:spLocks/>
          </p:cNvSpPr>
          <p:nvPr/>
        </p:nvSpPr>
        <p:spPr>
          <a:xfrm>
            <a:off x="247405" y="780119"/>
            <a:ext cx="584859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l</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 Method</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cxnSp>
        <p:nvCxnSpPr>
          <p:cNvPr id="3" name="Straight Connector 2">
            <a:extLst>
              <a:ext uri="{FF2B5EF4-FFF2-40B4-BE49-F238E27FC236}">
                <a16:creationId xmlns:a16="http://schemas.microsoft.com/office/drawing/2014/main" id="{3C28EBDA-79F2-4283-B7D7-0146F4CC683B}"/>
              </a:ext>
            </a:extLst>
          </p:cNvPr>
          <p:cNvCxnSpPr>
            <a:cxnSpLocks/>
          </p:cNvCxnSpPr>
          <p:nvPr/>
        </p:nvCxnSpPr>
        <p:spPr>
          <a:xfrm>
            <a:off x="6095999" y="1145245"/>
            <a:ext cx="0" cy="4174287"/>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80A98CB2-1C3F-4AD0-BF9F-836DB92EC594}"/>
                  </a:ext>
                </a:extLst>
              </p:cNvPr>
              <p:cNvSpPr txBox="1">
                <a:spLocks/>
              </p:cNvSpPr>
              <p:nvPr/>
            </p:nvSpPr>
            <p:spPr>
              <a:xfrm>
                <a:off x="453153" y="2850198"/>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𝒂</m:t>
                      </m:r>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𝒇𝒐𝒓</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𝒔𝒐𝒎𝒆</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oMath>
                  </m:oMathPara>
                </a14:m>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7" name="Text Placeholder 5">
                <a:extLst>
                  <a:ext uri="{FF2B5EF4-FFF2-40B4-BE49-F238E27FC236}">
                    <a16:creationId xmlns:a16="http://schemas.microsoft.com/office/drawing/2014/main" id="{80A98CB2-1C3F-4AD0-BF9F-836DB92EC594}"/>
                  </a:ext>
                </a:extLst>
              </p:cNvPr>
              <p:cNvSpPr txBox="1">
                <a:spLocks noRot="1" noChangeAspect="1" noMove="1" noResize="1" noEditPoints="1" noAdjustHandles="1" noChangeArrowheads="1" noChangeShapeType="1" noTextEdit="1"/>
              </p:cNvSpPr>
              <p:nvPr/>
            </p:nvSpPr>
            <p:spPr>
              <a:xfrm>
                <a:off x="453153" y="2850198"/>
                <a:ext cx="2849601" cy="695961"/>
              </a:xfrm>
              <a:prstGeom prst="rect">
                <a:avLst/>
              </a:prstGeom>
              <a:blipFill>
                <a:blip r:embed="rId4"/>
                <a:stretch>
                  <a:fillRect/>
                </a:stretch>
              </a:blipFill>
            </p:spPr>
            <p:txBody>
              <a:bodyPr/>
              <a:lstStyle/>
              <a:p>
                <a:r>
                  <a:rPr lang="en-NZ">
                    <a:noFill/>
                  </a:rPr>
                  <a:t> </a:t>
                </a:r>
              </a:p>
            </p:txBody>
          </p:sp>
        </mc:Fallback>
      </mc:AlternateContent>
      <p:sp>
        <p:nvSpPr>
          <p:cNvPr id="28" name="Left Brace 27">
            <a:extLst>
              <a:ext uri="{FF2B5EF4-FFF2-40B4-BE49-F238E27FC236}">
                <a16:creationId xmlns:a16="http://schemas.microsoft.com/office/drawing/2014/main" id="{CC713EC5-7D78-476D-98E4-E1B87356C83C}"/>
              </a:ext>
            </a:extLst>
          </p:cNvPr>
          <p:cNvSpPr/>
          <p:nvPr/>
        </p:nvSpPr>
        <p:spPr>
          <a:xfrm rot="10800000">
            <a:off x="3302752" y="3011260"/>
            <a:ext cx="356383" cy="38238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Placeholder 5">
            <a:extLst>
              <a:ext uri="{FF2B5EF4-FFF2-40B4-BE49-F238E27FC236}">
                <a16:creationId xmlns:a16="http://schemas.microsoft.com/office/drawing/2014/main" id="{56FF97A0-E47C-457A-9059-CCAC1F9C24B3}"/>
              </a:ext>
            </a:extLst>
          </p:cNvPr>
          <p:cNvSpPr txBox="1">
            <a:spLocks/>
          </p:cNvSpPr>
          <p:nvPr/>
        </p:nvSpPr>
        <p:spPr>
          <a:xfrm>
            <a:off x="3832891" y="2780565"/>
            <a:ext cx="2263104" cy="7779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How much variance is explained by factor A.</a:t>
            </a:r>
            <a:b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b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Calculate sum of squares</a:t>
            </a:r>
            <a:b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b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&amp; F-Statistic.</a:t>
            </a:r>
          </a:p>
        </p:txBody>
      </p:sp>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31428708-6341-4C40-9C24-92617C64D546}"/>
                  </a:ext>
                </a:extLst>
              </p:cNvPr>
              <p:cNvSpPr txBox="1">
                <a:spLocks/>
              </p:cNvSpPr>
              <p:nvPr/>
            </p:nvSpPr>
            <p:spPr>
              <a:xfrm>
                <a:off x="453153" y="3814509"/>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𝒃</m:t>
                      </m:r>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𝒇𝒐𝒓</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𝒔𝒐𝒎𝒆</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oMath>
                  </m:oMathPara>
                </a14:m>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31428708-6341-4C40-9C24-92617C64D546}"/>
                  </a:ext>
                </a:extLst>
              </p:cNvPr>
              <p:cNvSpPr txBox="1">
                <a:spLocks noRot="1" noChangeAspect="1" noMove="1" noResize="1" noEditPoints="1" noAdjustHandles="1" noChangeArrowheads="1" noChangeShapeType="1" noTextEdit="1"/>
              </p:cNvSpPr>
              <p:nvPr/>
            </p:nvSpPr>
            <p:spPr>
              <a:xfrm>
                <a:off x="453153" y="3814509"/>
                <a:ext cx="2849601" cy="695961"/>
              </a:xfrm>
              <a:prstGeom prst="rect">
                <a:avLst/>
              </a:prstGeom>
              <a:blipFill>
                <a:blip r:embed="rId5"/>
                <a:stretch>
                  <a:fillRect/>
                </a:stretch>
              </a:blipFill>
            </p:spPr>
            <p:txBody>
              <a:bodyPr/>
              <a:lstStyle/>
              <a:p>
                <a:r>
                  <a:rPr lang="en-NZ">
                    <a:noFill/>
                  </a:rPr>
                  <a:t> </a:t>
                </a:r>
              </a:p>
            </p:txBody>
          </p:sp>
        </mc:Fallback>
      </mc:AlternateContent>
      <p:sp>
        <p:nvSpPr>
          <p:cNvPr id="31" name="Left Brace 30">
            <a:extLst>
              <a:ext uri="{FF2B5EF4-FFF2-40B4-BE49-F238E27FC236}">
                <a16:creationId xmlns:a16="http://schemas.microsoft.com/office/drawing/2014/main" id="{FCB388B2-1633-46A1-A42E-5894A41CE693}"/>
              </a:ext>
            </a:extLst>
          </p:cNvPr>
          <p:cNvSpPr/>
          <p:nvPr/>
        </p:nvSpPr>
        <p:spPr>
          <a:xfrm rot="10800000">
            <a:off x="3302751" y="3957003"/>
            <a:ext cx="356383" cy="38238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Placeholder 5">
            <a:extLst>
              <a:ext uri="{FF2B5EF4-FFF2-40B4-BE49-F238E27FC236}">
                <a16:creationId xmlns:a16="http://schemas.microsoft.com/office/drawing/2014/main" id="{816F00FF-C452-49D0-9482-863A99CDD2F8}"/>
              </a:ext>
            </a:extLst>
          </p:cNvPr>
          <p:cNvSpPr txBox="1">
            <a:spLocks/>
          </p:cNvSpPr>
          <p:nvPr/>
        </p:nvSpPr>
        <p:spPr>
          <a:xfrm>
            <a:off x="3832891" y="3728185"/>
            <a:ext cx="2263104" cy="9464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How much of</a:t>
            </a:r>
            <a:r>
              <a:rPr kumimoji="1" lang="en-NZ" altLang="ja-JP" sz="14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remaining </a:t>
            </a: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variance is explained by B. </a:t>
            </a:r>
            <a:br>
              <a:rPr lang="en-NZ" altLang="ja-JP" sz="1400" i="1" dirty="0">
                <a:solidFill>
                  <a:srgbClr val="E7E6E6">
                    <a:lumMod val="50000"/>
                  </a:srgbClr>
                </a:solidFill>
              </a:rPr>
            </a:br>
            <a:r>
              <a:rPr lang="en-NZ" altLang="ja-JP" sz="1400" i="1" dirty="0">
                <a:solidFill>
                  <a:srgbClr val="E7E6E6">
                    <a:lumMod val="50000"/>
                  </a:srgbClr>
                </a:solidFill>
              </a:rPr>
              <a:t>Calculate sum of squares &amp; F-Statistic conditional on A.</a:t>
            </a: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388812FA-B196-44BD-96C6-59E10666C532}"/>
                  </a:ext>
                </a:extLst>
              </p:cNvPr>
              <p:cNvSpPr txBox="1">
                <a:spLocks/>
              </p:cNvSpPr>
              <p:nvPr/>
            </p:nvSpPr>
            <p:spPr>
              <a:xfrm>
                <a:off x="453153" y="4664260"/>
                <a:ext cx="3379738"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𝜶𝜷</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𝒇𝒐𝒓</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𝒔𝒐𝒎𝒆</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oMath>
                  </m:oMathPara>
                </a14:m>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388812FA-B196-44BD-96C6-59E10666C532}"/>
                  </a:ext>
                </a:extLst>
              </p:cNvPr>
              <p:cNvSpPr txBox="1">
                <a:spLocks noRot="1" noChangeAspect="1" noMove="1" noResize="1" noEditPoints="1" noAdjustHandles="1" noChangeArrowheads="1" noChangeShapeType="1" noTextEdit="1"/>
              </p:cNvSpPr>
              <p:nvPr/>
            </p:nvSpPr>
            <p:spPr>
              <a:xfrm>
                <a:off x="453153" y="4664260"/>
                <a:ext cx="3379738" cy="695961"/>
              </a:xfrm>
              <a:prstGeom prst="rect">
                <a:avLst/>
              </a:prstGeom>
              <a:blipFill>
                <a:blip r:embed="rId6"/>
                <a:stretch>
                  <a:fillRect/>
                </a:stretch>
              </a:blipFill>
            </p:spPr>
            <p:txBody>
              <a:bodyPr/>
              <a:lstStyle/>
              <a:p>
                <a:r>
                  <a:rPr lang="en-NZ">
                    <a:noFill/>
                  </a:rPr>
                  <a:t> </a:t>
                </a:r>
              </a:p>
            </p:txBody>
          </p:sp>
        </mc:Fallback>
      </mc:AlternateContent>
      <p:sp>
        <p:nvSpPr>
          <p:cNvPr id="34" name="Left Brace 33">
            <a:extLst>
              <a:ext uri="{FF2B5EF4-FFF2-40B4-BE49-F238E27FC236}">
                <a16:creationId xmlns:a16="http://schemas.microsoft.com/office/drawing/2014/main" id="{4D85EF9E-E289-4050-9383-FFA38EB349EC}"/>
              </a:ext>
            </a:extLst>
          </p:cNvPr>
          <p:cNvSpPr/>
          <p:nvPr/>
        </p:nvSpPr>
        <p:spPr>
          <a:xfrm rot="10800000">
            <a:off x="3302751" y="4789910"/>
            <a:ext cx="356383" cy="38238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Placeholder 5">
            <a:extLst>
              <a:ext uri="{FF2B5EF4-FFF2-40B4-BE49-F238E27FC236}">
                <a16:creationId xmlns:a16="http://schemas.microsoft.com/office/drawing/2014/main" id="{C1304798-8F0F-44B9-A70F-E81BDC445483}"/>
              </a:ext>
            </a:extLst>
          </p:cNvPr>
          <p:cNvSpPr txBox="1">
            <a:spLocks/>
          </p:cNvSpPr>
          <p:nvPr/>
        </p:nvSpPr>
        <p:spPr>
          <a:xfrm>
            <a:off x="3816684" y="4707997"/>
            <a:ext cx="2122094" cy="6631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Invariant to order of variables. Calculate sum</a:t>
            </a:r>
            <a:r>
              <a:rPr kumimoji="1" lang="en-NZ" altLang="ja-JP" sz="1400" b="0" i="1" u="none" strike="noStrike" kern="1200" cap="none" spc="0" normalizeH="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of Squares and F-Statistic</a:t>
            </a:r>
            <a:endParaRPr kumimoji="1" lang="en-NZ" altLang="ja-JP" sz="14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49" name="Text Placeholder 5">
            <a:extLst>
              <a:ext uri="{FF2B5EF4-FFF2-40B4-BE49-F238E27FC236}">
                <a16:creationId xmlns:a16="http://schemas.microsoft.com/office/drawing/2014/main" id="{D87973F3-2FA5-4D7A-94EA-DC4D131FA040}"/>
              </a:ext>
            </a:extLst>
          </p:cNvPr>
          <p:cNvSpPr txBox="1">
            <a:spLocks/>
          </p:cNvSpPr>
          <p:nvPr/>
        </p:nvSpPr>
        <p:spPr>
          <a:xfrm>
            <a:off x="319462" y="5459566"/>
            <a:ext cx="11335725" cy="8315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For balanced designs, the two approaches will agree.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dirty="0">
                <a:solidFill>
                  <a:prstClr val="black"/>
                </a:solidFill>
                <a:latin typeface="Calibri" panose="020F0502020204030204"/>
                <a:ea typeface="游ゴシック" panose="020B0400000000000000" pitchFamily="34" charset="-128"/>
              </a:rPr>
              <a:t>For unbalanced designs they won’t. The greater the imbalance the greater the difference.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For more info on Type I and Type III sums of squares see STAT 292.</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50" name="Title 6">
            <a:extLst>
              <a:ext uri="{FF2B5EF4-FFF2-40B4-BE49-F238E27FC236}">
                <a16:creationId xmlns:a16="http://schemas.microsoft.com/office/drawing/2014/main" id="{3A600FFF-C4D5-4BF2-8501-C51D7CF08043}"/>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3.6a – Re-cap of Two-Way ANOVA</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51" name="Footer Placeholder 2">
            <a:extLst>
              <a:ext uri="{FF2B5EF4-FFF2-40B4-BE49-F238E27FC236}">
                <a16:creationId xmlns:a16="http://schemas.microsoft.com/office/drawing/2014/main" id="{EEBB4574-EBE3-45F9-AF34-D2281C697832}"/>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52" name="Text Placeholder 5">
                <a:extLst>
                  <a:ext uri="{FF2B5EF4-FFF2-40B4-BE49-F238E27FC236}">
                    <a16:creationId xmlns:a16="http://schemas.microsoft.com/office/drawing/2014/main" id="{0FD57A7A-3E96-40B3-B7DB-E4545A071F8E}"/>
                  </a:ext>
                </a:extLst>
              </p:cNvPr>
              <p:cNvSpPr txBox="1">
                <a:spLocks/>
              </p:cNvSpPr>
              <p:nvPr/>
            </p:nvSpPr>
            <p:spPr>
              <a:xfrm>
                <a:off x="599830" y="1493659"/>
                <a:ext cx="536573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
                    </m:oMathParaPr>
                    <m:oMath xmlns:m="http://schemas.openxmlformats.org/officeDocument/2006/math">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𝒂𝒏𝒐𝒗𝒂</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𝑫𝑺</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𝟏</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oMath>
                  </m:oMathPara>
                </a14:m>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52" name="Text Placeholder 5">
                <a:extLst>
                  <a:ext uri="{FF2B5EF4-FFF2-40B4-BE49-F238E27FC236}">
                    <a16:creationId xmlns:a16="http://schemas.microsoft.com/office/drawing/2014/main" id="{0FD57A7A-3E96-40B3-B7DB-E4545A071F8E}"/>
                  </a:ext>
                </a:extLst>
              </p:cNvPr>
              <p:cNvSpPr txBox="1">
                <a:spLocks noRot="1" noChangeAspect="1" noMove="1" noResize="1" noEditPoints="1" noAdjustHandles="1" noChangeArrowheads="1" noChangeShapeType="1" noTextEdit="1"/>
              </p:cNvSpPr>
              <p:nvPr/>
            </p:nvSpPr>
            <p:spPr>
              <a:xfrm>
                <a:off x="599830" y="1493659"/>
                <a:ext cx="5365732" cy="365126"/>
              </a:xfrm>
              <a:prstGeom prst="rect">
                <a:avLst/>
              </a:prstGeom>
              <a:blipFill>
                <a:blip r:embed="rId7"/>
                <a:stretch>
                  <a:fillRect b="-10000"/>
                </a:stretch>
              </a:blipFill>
            </p:spPr>
            <p:txBody>
              <a:bodyPr/>
              <a:lstStyle/>
              <a:p>
                <a:r>
                  <a:rPr lang="en-NZ">
                    <a:noFill/>
                  </a:rPr>
                  <a:t> </a:t>
                </a:r>
              </a:p>
            </p:txBody>
          </p:sp>
        </mc:Fallback>
      </mc:AlternateContent>
      <p:sp>
        <p:nvSpPr>
          <p:cNvPr id="54" name="Text Placeholder 5">
            <a:extLst>
              <a:ext uri="{FF2B5EF4-FFF2-40B4-BE49-F238E27FC236}">
                <a16:creationId xmlns:a16="http://schemas.microsoft.com/office/drawing/2014/main" id="{271A0CF7-502C-48BD-B735-AA36FEEDFA07}"/>
              </a:ext>
            </a:extLst>
          </p:cNvPr>
          <p:cNvSpPr txBox="1">
            <a:spLocks/>
          </p:cNvSpPr>
          <p:nvPr/>
        </p:nvSpPr>
        <p:spPr>
          <a:xfrm>
            <a:off x="319462" y="1834335"/>
            <a:ext cx="5776533" cy="9447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Uses Type I sums </a:t>
            </a:r>
            <a:r>
              <a:rPr lang="en-NZ" altLang="ja-JP" sz="1400" dirty="0">
                <a:solidFill>
                  <a:prstClr val="black"/>
                </a:solidFill>
              </a:rPr>
              <a:t>of squares</a:t>
            </a:r>
            <a:endParaRPr lang="en-NZ" altLang="ja-JP" sz="1400" dirty="0">
              <a:solidFill>
                <a:prstClr val="black"/>
              </a:solidFill>
              <a:latin typeface="Calibri" panose="020F0502020204030204"/>
              <a:ea typeface="游ゴシック" panose="020B0400000000000000" pitchFamily="34" charset="-128"/>
            </a:endParaRPr>
          </a:p>
          <a:p>
            <a:pPr marL="285750" indent="-285750">
              <a:lnSpc>
                <a:spcPct val="100000"/>
              </a:lnSpc>
              <a:buFont typeface="Arial" panose="020B0604020202020204" pitchFamily="34" charset="0"/>
              <a:buChar char="•"/>
            </a:pPr>
            <a:r>
              <a:rPr lang="en-NZ" altLang="ja-JP" sz="1400" dirty="0">
                <a:solidFill>
                  <a:prstClr val="black"/>
                </a:solidFill>
              </a:rPr>
              <a:t>Sum of squares calculated sequentially. </a:t>
            </a:r>
          </a:p>
          <a:p>
            <a:pPr marL="285750" indent="-285750">
              <a:lnSpc>
                <a:spcPct val="100000"/>
              </a:lnSpc>
              <a:buFont typeface="Arial" panose="020B0604020202020204" pitchFamily="34" charset="0"/>
              <a:buChar char="•"/>
            </a:pPr>
            <a:r>
              <a:rPr lang="en-NZ" altLang="ja-JP" sz="1400" dirty="0">
                <a:solidFill>
                  <a:prstClr val="black"/>
                </a:solidFill>
              </a:rPr>
              <a:t>Each effect is adjusted for those that appear earlier in the model.</a:t>
            </a:r>
            <a:endParaRPr lang="en-NZ" altLang="ja-JP" sz="1400" dirty="0">
              <a:solidFill>
                <a:prstClr val="black"/>
              </a:solidFill>
              <a:latin typeface="Calibri" panose="020F0502020204030204"/>
              <a:ea typeface="游ゴシック" panose="020B0400000000000000" pitchFamily="34" charset="-128"/>
            </a:endParaRPr>
          </a:p>
          <a:p>
            <a:pPr marL="285750" indent="-285750">
              <a:lnSpc>
                <a:spcPct val="100000"/>
              </a:lnSpc>
              <a:buFont typeface="Arial" panose="020B0604020202020204" pitchFamily="34" charset="0"/>
              <a:buChar cha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Order</a:t>
            </a:r>
            <a:r>
              <a:rPr kumimoji="1" lang="en-NZ" altLang="ja-JP" sz="14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in which variables are entered into the model </a:t>
            </a:r>
            <a:r>
              <a:rPr kumimoji="1" lang="en-NZ" altLang="ja-JP" sz="14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does</a:t>
            </a:r>
            <a:r>
              <a:rPr kumimoji="1" lang="en-NZ" altLang="ja-JP" sz="14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matter.</a:t>
            </a: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55" name="Text Placeholder 5">
            <a:extLst>
              <a:ext uri="{FF2B5EF4-FFF2-40B4-BE49-F238E27FC236}">
                <a16:creationId xmlns:a16="http://schemas.microsoft.com/office/drawing/2014/main" id="{3E457AFF-CCCE-4260-9E0F-0149BB75C94C}"/>
              </a:ext>
            </a:extLst>
          </p:cNvPr>
          <p:cNvSpPr txBox="1">
            <a:spLocks/>
          </p:cNvSpPr>
          <p:nvPr/>
        </p:nvSpPr>
        <p:spPr>
          <a:xfrm>
            <a:off x="5954985" y="780119"/>
            <a:ext cx="584859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l</a:t>
            </a:r>
            <a:r>
              <a:rPr kumimoji="1" lang="en-NZ" altLang="ja-JP" sz="18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mPerm</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Method</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56" name="Text Placeholder 5">
                <a:extLst>
                  <a:ext uri="{FF2B5EF4-FFF2-40B4-BE49-F238E27FC236}">
                    <a16:creationId xmlns:a16="http://schemas.microsoft.com/office/drawing/2014/main" id="{BF9C6435-1284-465C-998E-0C7E5902D592}"/>
                  </a:ext>
                </a:extLst>
              </p:cNvPr>
              <p:cNvSpPr txBox="1">
                <a:spLocks/>
              </p:cNvSpPr>
              <p:nvPr/>
            </p:nvSpPr>
            <p:spPr>
              <a:xfrm>
                <a:off x="6095997" y="1153343"/>
                <a:ext cx="6096004" cy="6261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
                    </m:oMathParaPr>
                    <m:oMath xmlns:m="http://schemas.openxmlformats.org/officeDocument/2006/math">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𝑫𝑺</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𝟏</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𝒍𝒎𝒑</m:t>
                      </m:r>
                      <m:d>
                        <m:dPr>
                          <m:ctrlP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ctrlPr>
                        </m:dPr>
                        <m:e>
                          <m:m>
                            <m:mPr>
                              <m:mcs>
                                <m:mc>
                                  <m:mcPr>
                                    <m:count m:val="3"/>
                                    <m:mcJc m:val="center"/>
                                  </m:mcPr>
                                </m:mc>
                              </m:mcs>
                              <m:ctrlP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ctrlPr>
                            </m:mPr>
                            <m:mr>
                              <m:e>
                                <m:r>
                                  <a:rPr lang="en-NZ" altLang="ja-JP" sz="1400" b="1" i="1">
                                    <a:solidFill>
                                      <a:srgbClr val="C00000"/>
                                    </a:solidFill>
                                    <a:latin typeface="Cambria Math" panose="02040503050406030204" pitchFamily="18" charset="0"/>
                                  </a:rPr>
                                  <m:t>𝒚</m:t>
                                </m:r>
                                <m:r>
                                  <a:rPr lang="en-NZ" altLang="ja-JP" sz="1400" b="1" i="1">
                                    <a:solidFill>
                                      <a:srgbClr val="C00000"/>
                                    </a:solidFill>
                                    <a:latin typeface="Cambria Math" panose="02040503050406030204" pitchFamily="18" charset="0"/>
                                  </a:rPr>
                                  <m:t> ~ </m:t>
                                </m:r>
                                <m:r>
                                  <a:rPr lang="en-NZ" altLang="ja-JP" sz="1400" b="1" i="1">
                                    <a:solidFill>
                                      <a:srgbClr val="C00000"/>
                                    </a:solidFill>
                                    <a:latin typeface="Cambria Math" panose="02040503050406030204" pitchFamily="18" charset="0"/>
                                  </a:rPr>
                                  <m:t>𝑨</m:t>
                                </m:r>
                                <m:r>
                                  <a:rPr lang="en-NZ" altLang="ja-JP" sz="1400" b="1" i="1">
                                    <a:solidFill>
                                      <a:srgbClr val="C00000"/>
                                    </a:solidFill>
                                    <a:latin typeface="Cambria Math" panose="02040503050406030204" pitchFamily="18" charset="0"/>
                                  </a:rPr>
                                  <m:t>+</m:t>
                                </m:r>
                                <m:r>
                                  <a:rPr lang="en-NZ" altLang="ja-JP" sz="1400" b="1" i="1">
                                    <a:solidFill>
                                      <a:srgbClr val="C00000"/>
                                    </a:solidFill>
                                    <a:latin typeface="Cambria Math" panose="02040503050406030204" pitchFamily="18" charset="0"/>
                                  </a:rPr>
                                  <m:t>𝑩</m:t>
                                </m:r>
                                <m:r>
                                  <a:rPr lang="en-NZ" altLang="ja-JP" sz="1400" b="1" i="1">
                                    <a:solidFill>
                                      <a:srgbClr val="C00000"/>
                                    </a:solidFill>
                                    <a:latin typeface="Cambria Math" panose="02040503050406030204" pitchFamily="18" charset="0"/>
                                  </a:rPr>
                                  <m:t>+</m:t>
                                </m:r>
                                <m:r>
                                  <a:rPr lang="en-NZ" altLang="ja-JP" sz="1400" b="1" i="1">
                                    <a:solidFill>
                                      <a:srgbClr val="C00000"/>
                                    </a:solidFill>
                                    <a:latin typeface="Cambria Math" panose="02040503050406030204" pitchFamily="18" charset="0"/>
                                  </a:rPr>
                                  <m:t>𝑨</m:t>
                                </m:r>
                                <m:r>
                                  <a:rPr lang="en-NZ" altLang="ja-JP" sz="1400" b="1" i="1">
                                    <a:solidFill>
                                      <a:srgbClr val="C00000"/>
                                    </a:solidFill>
                                    <a:latin typeface="Cambria Math" panose="02040503050406030204" pitchFamily="18" charset="0"/>
                                  </a:rPr>
                                  <m:t>∗</m:t>
                                </m:r>
                                <m:r>
                                  <a:rPr lang="en-NZ" altLang="ja-JP" sz="1400" b="1" i="1">
                                    <a:solidFill>
                                      <a:srgbClr val="C00000"/>
                                    </a:solidFill>
                                    <a:latin typeface="Cambria Math" panose="02040503050406030204" pitchFamily="18" charset="0"/>
                                  </a:rPr>
                                  <m:t>𝑩</m:t>
                                </m:r>
                              </m:e>
                              <m:e>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m:t>
                                </m:r>
                              </m:e>
                              <m:e>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𝒅𝒂𝒕𝒂</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m:t>
                                </m:r>
                                <m:m>
                                  <m:mPr>
                                    <m:mcs>
                                      <m:mc>
                                        <m:mcPr>
                                          <m:count m:val="3"/>
                                          <m:mcJc m:val="center"/>
                                        </m:mcPr>
                                      </m:mc>
                                    </m:mcs>
                                    <m:ctrlP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ctrlPr>
                                  </m:mPr>
                                  <m:mr>
                                    <m:e>
                                      <m:r>
                                        <m:rPr>
                                          <m:brk m:alnAt="7"/>
                                        </m:rP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𝑫</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𝑺</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𝟎</m:t>
                                      </m:r>
                                    </m:e>
                                    <m:e>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m:t>
                                      </m:r>
                                    </m:e>
                                    <m:e>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𝒑𝒆𝒓𝒎</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𝑴𝒆𝒕𝒉𝒐𝒅</m:t>
                                      </m:r>
                                      <m:r>
                                        <a:rPr kumimoji="1" lang="en-NZ" altLang="ja-JP" sz="1400" b="1" i="1" u="none" strike="noStrike" kern="1200" cap="none" spc="0" normalizeH="0" baseline="0" noProof="0" smtClean="0">
                                          <a:ln>
                                            <a:noFill/>
                                          </a:ln>
                                          <a:solidFill>
                                            <a:srgbClr val="C00000"/>
                                          </a:solidFill>
                                          <a:effectLst/>
                                          <a:uLnTx/>
                                          <a:uFillTx/>
                                          <a:latin typeface="Cambria Math" panose="02040503050406030204" pitchFamily="18" charset="0"/>
                                        </a:rPr>
                                        <m:t>"</m:t>
                                      </m:r>
                                    </m:e>
                                  </m:mr>
                                </m:m>
                              </m:e>
                            </m:mr>
                          </m:m>
                        </m:e>
                      </m:d>
                    </m:oMath>
                  </m:oMathPara>
                </a14:m>
                <a:endParaRPr kumimoji="1" lang="en-NZ" altLang="ja-JP" sz="14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56" name="Text Placeholder 5">
                <a:extLst>
                  <a:ext uri="{FF2B5EF4-FFF2-40B4-BE49-F238E27FC236}">
                    <a16:creationId xmlns:a16="http://schemas.microsoft.com/office/drawing/2014/main" id="{BF9C6435-1284-465C-998E-0C7E5902D592}"/>
                  </a:ext>
                </a:extLst>
              </p:cNvPr>
              <p:cNvSpPr txBox="1">
                <a:spLocks noRot="1" noChangeAspect="1" noMove="1" noResize="1" noEditPoints="1" noAdjustHandles="1" noChangeArrowheads="1" noChangeShapeType="1" noTextEdit="1"/>
              </p:cNvSpPr>
              <p:nvPr/>
            </p:nvSpPr>
            <p:spPr>
              <a:xfrm>
                <a:off x="6095997" y="1153343"/>
                <a:ext cx="6096004" cy="626193"/>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7" name="Text Placeholder 5">
                <a:extLst>
                  <a:ext uri="{FF2B5EF4-FFF2-40B4-BE49-F238E27FC236}">
                    <a16:creationId xmlns:a16="http://schemas.microsoft.com/office/drawing/2014/main" id="{4049C58F-601D-49DF-BAD4-5B994F2DCB96}"/>
                  </a:ext>
                </a:extLst>
              </p:cNvPr>
              <p:cNvSpPr txBox="1">
                <a:spLocks/>
              </p:cNvSpPr>
              <p:nvPr/>
            </p:nvSpPr>
            <p:spPr>
              <a:xfrm>
                <a:off x="6378060" y="1466439"/>
                <a:ext cx="536573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
                    </m:oMathParaPr>
                    <m:oMath xmlns:m="http://schemas.openxmlformats.org/officeDocument/2006/math">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𝒂𝒏𝒐𝒗𝒂</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𝑫𝑺</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𝟏</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rPr>
                        <m:t>)</m:t>
                      </m:r>
                    </m:oMath>
                  </m:oMathPara>
                </a14:m>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57" name="Text Placeholder 5">
                <a:extLst>
                  <a:ext uri="{FF2B5EF4-FFF2-40B4-BE49-F238E27FC236}">
                    <a16:creationId xmlns:a16="http://schemas.microsoft.com/office/drawing/2014/main" id="{4049C58F-601D-49DF-BAD4-5B994F2DCB96}"/>
                  </a:ext>
                </a:extLst>
              </p:cNvPr>
              <p:cNvSpPr txBox="1">
                <a:spLocks noRot="1" noChangeAspect="1" noMove="1" noResize="1" noEditPoints="1" noAdjustHandles="1" noChangeArrowheads="1" noChangeShapeType="1" noTextEdit="1"/>
              </p:cNvSpPr>
              <p:nvPr/>
            </p:nvSpPr>
            <p:spPr>
              <a:xfrm>
                <a:off x="6378060" y="1466439"/>
                <a:ext cx="5365732" cy="365126"/>
              </a:xfrm>
              <a:prstGeom prst="rect">
                <a:avLst/>
              </a:prstGeom>
              <a:blipFill>
                <a:blip r:embed="rId9"/>
                <a:stretch>
                  <a:fillRect b="-10169"/>
                </a:stretch>
              </a:blipFill>
            </p:spPr>
            <p:txBody>
              <a:bodyPr/>
              <a:lstStyle/>
              <a:p>
                <a:r>
                  <a:rPr lang="en-NZ">
                    <a:noFill/>
                  </a:rPr>
                  <a:t> </a:t>
                </a:r>
              </a:p>
            </p:txBody>
          </p:sp>
        </mc:Fallback>
      </mc:AlternateContent>
      <p:sp>
        <p:nvSpPr>
          <p:cNvPr id="58" name="Text Placeholder 5">
            <a:extLst>
              <a:ext uri="{FF2B5EF4-FFF2-40B4-BE49-F238E27FC236}">
                <a16:creationId xmlns:a16="http://schemas.microsoft.com/office/drawing/2014/main" id="{80935CD0-6290-4698-ADA5-6C46A65E7A6E}"/>
              </a:ext>
            </a:extLst>
          </p:cNvPr>
          <p:cNvSpPr txBox="1">
            <a:spLocks/>
          </p:cNvSpPr>
          <p:nvPr/>
        </p:nvSpPr>
        <p:spPr>
          <a:xfrm>
            <a:off x="6095995" y="1836536"/>
            <a:ext cx="5871901" cy="9678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Uses Type III sums of squares </a:t>
            </a: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400" dirty="0">
                <a:solidFill>
                  <a:prstClr val="black"/>
                </a:solidFill>
              </a:rPr>
              <a:t>Sum of squares calculated uniquely</a:t>
            </a:r>
            <a:endParaRPr lang="en-NZ" altLang="ja-JP" sz="1400" dirty="0">
              <a:solidFill>
                <a:prstClr val="black"/>
              </a:solidFill>
              <a:latin typeface="Calibri" panose="020F0502020204030204"/>
              <a:ea typeface="游ゴシック" panose="020B0400000000000000" pitchFamily="34" charset="-128"/>
            </a:endParaRP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Each</a:t>
            </a:r>
            <a:r>
              <a:rPr kumimoji="1" lang="en-NZ" altLang="ja-JP" sz="14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effect is adjusted simultaneously for the effects of all other factors</a:t>
            </a: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400" baseline="0" dirty="0">
                <a:solidFill>
                  <a:prstClr val="black"/>
                </a:solidFill>
                <a:latin typeface="Calibri" panose="020F0502020204030204"/>
                <a:ea typeface="游ゴシック" panose="020B0400000000000000" pitchFamily="34" charset="-128"/>
              </a:rPr>
              <a:t>Order</a:t>
            </a:r>
            <a:r>
              <a:rPr lang="en-NZ" altLang="ja-JP" sz="1400" dirty="0">
                <a:solidFill>
                  <a:prstClr val="black"/>
                </a:solidFill>
                <a:latin typeface="Calibri" panose="020F0502020204030204"/>
                <a:ea typeface="游ゴシック" panose="020B0400000000000000" pitchFamily="34" charset="-128"/>
              </a:rPr>
              <a:t> in which variables are entered into model </a:t>
            </a:r>
            <a:r>
              <a:rPr lang="en-NZ" altLang="ja-JP" sz="1400" b="1" dirty="0">
                <a:solidFill>
                  <a:prstClr val="black"/>
                </a:solidFill>
                <a:latin typeface="Calibri" panose="020F0502020204030204"/>
                <a:ea typeface="游ゴシック" panose="020B0400000000000000" pitchFamily="34" charset="-128"/>
              </a:rPr>
              <a:t>does not </a:t>
            </a:r>
            <a:r>
              <a:rPr lang="en-NZ" altLang="ja-JP" sz="1400" dirty="0">
                <a:solidFill>
                  <a:prstClr val="black"/>
                </a:solidFill>
                <a:latin typeface="Calibri" panose="020F0502020204030204"/>
                <a:ea typeface="游ゴシック" panose="020B0400000000000000" pitchFamily="34" charset="-128"/>
              </a:rPr>
              <a:t>matter.</a:t>
            </a: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59" name="Text Placeholder 5">
                <a:extLst>
                  <a:ext uri="{FF2B5EF4-FFF2-40B4-BE49-F238E27FC236}">
                    <a16:creationId xmlns:a16="http://schemas.microsoft.com/office/drawing/2014/main" id="{C4FDDAA4-8406-4369-B7A7-D185D9A6F329}"/>
                  </a:ext>
                </a:extLst>
              </p:cNvPr>
              <p:cNvSpPr txBox="1">
                <a:spLocks/>
              </p:cNvSpPr>
              <p:nvPr/>
            </p:nvSpPr>
            <p:spPr>
              <a:xfrm>
                <a:off x="6626132" y="2809509"/>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𝒂</m:t>
                      </m:r>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𝒇𝒐𝒓</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𝒔𝒐𝒎𝒆</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oMath>
                  </m:oMathPara>
                </a14:m>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59" name="Text Placeholder 5">
                <a:extLst>
                  <a:ext uri="{FF2B5EF4-FFF2-40B4-BE49-F238E27FC236}">
                    <a16:creationId xmlns:a16="http://schemas.microsoft.com/office/drawing/2014/main" id="{C4FDDAA4-8406-4369-B7A7-D185D9A6F329}"/>
                  </a:ext>
                </a:extLst>
              </p:cNvPr>
              <p:cNvSpPr txBox="1">
                <a:spLocks noRot="1" noChangeAspect="1" noMove="1" noResize="1" noEditPoints="1" noAdjustHandles="1" noChangeArrowheads="1" noChangeShapeType="1" noTextEdit="1"/>
              </p:cNvSpPr>
              <p:nvPr/>
            </p:nvSpPr>
            <p:spPr>
              <a:xfrm>
                <a:off x="6626132" y="2809509"/>
                <a:ext cx="2849601" cy="695961"/>
              </a:xfrm>
              <a:prstGeom prst="rect">
                <a:avLst/>
              </a:prstGeom>
              <a:blipFill>
                <a:blip r:embed="rId10"/>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60" name="Text Placeholder 5">
                <a:extLst>
                  <a:ext uri="{FF2B5EF4-FFF2-40B4-BE49-F238E27FC236}">
                    <a16:creationId xmlns:a16="http://schemas.microsoft.com/office/drawing/2014/main" id="{B03AB496-F32F-4EFF-BFFC-CCCECC9D5937}"/>
                  </a:ext>
                </a:extLst>
              </p:cNvPr>
              <p:cNvSpPr txBox="1">
                <a:spLocks/>
              </p:cNvSpPr>
              <p:nvPr/>
            </p:nvSpPr>
            <p:spPr>
              <a:xfrm>
                <a:off x="6626132" y="3773820"/>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𝒃</m:t>
                      </m:r>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𝒇𝒐𝒓</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𝒔𝒐𝒎𝒆</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oMath>
                  </m:oMathPara>
                </a14:m>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60" name="Text Placeholder 5">
                <a:extLst>
                  <a:ext uri="{FF2B5EF4-FFF2-40B4-BE49-F238E27FC236}">
                    <a16:creationId xmlns:a16="http://schemas.microsoft.com/office/drawing/2014/main" id="{B03AB496-F32F-4EFF-BFFC-CCCECC9D5937}"/>
                  </a:ext>
                </a:extLst>
              </p:cNvPr>
              <p:cNvSpPr txBox="1">
                <a:spLocks noRot="1" noChangeAspect="1" noMove="1" noResize="1" noEditPoints="1" noAdjustHandles="1" noChangeArrowheads="1" noChangeShapeType="1" noTextEdit="1"/>
              </p:cNvSpPr>
              <p:nvPr/>
            </p:nvSpPr>
            <p:spPr>
              <a:xfrm>
                <a:off x="6626132" y="3773820"/>
                <a:ext cx="2849601" cy="695961"/>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61" name="Text Placeholder 5">
                <a:extLst>
                  <a:ext uri="{FF2B5EF4-FFF2-40B4-BE49-F238E27FC236}">
                    <a16:creationId xmlns:a16="http://schemas.microsoft.com/office/drawing/2014/main" id="{1ED12698-FBF7-44BB-BF5C-3975EA03F663}"/>
                  </a:ext>
                </a:extLst>
              </p:cNvPr>
              <p:cNvSpPr txBox="1">
                <a:spLocks/>
              </p:cNvSpPr>
              <p:nvPr/>
            </p:nvSpPr>
            <p:spPr>
              <a:xfrm>
                <a:off x="6626132" y="4623571"/>
                <a:ext cx="305013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oMath>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𝜶𝜷</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𝒇𝒐𝒓</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𝒔𝒐𝒎𝒆</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oMath>
                  </m:oMathPara>
                </a14:m>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61" name="Text Placeholder 5">
                <a:extLst>
                  <a:ext uri="{FF2B5EF4-FFF2-40B4-BE49-F238E27FC236}">
                    <a16:creationId xmlns:a16="http://schemas.microsoft.com/office/drawing/2014/main" id="{1ED12698-FBF7-44BB-BF5C-3975EA03F663}"/>
                  </a:ext>
                </a:extLst>
              </p:cNvPr>
              <p:cNvSpPr txBox="1">
                <a:spLocks noRot="1" noChangeAspect="1" noMove="1" noResize="1" noEditPoints="1" noAdjustHandles="1" noChangeArrowheads="1" noChangeShapeType="1" noTextEdit="1"/>
              </p:cNvSpPr>
              <p:nvPr/>
            </p:nvSpPr>
            <p:spPr>
              <a:xfrm>
                <a:off x="6626132" y="4623571"/>
                <a:ext cx="3050131" cy="695961"/>
              </a:xfrm>
              <a:prstGeom prst="rect">
                <a:avLst/>
              </a:prstGeom>
              <a:blipFill>
                <a:blip r:embed="rId12"/>
                <a:stretch>
                  <a:fillRect/>
                </a:stretch>
              </a:blipFill>
            </p:spPr>
            <p:txBody>
              <a:bodyPr/>
              <a:lstStyle/>
              <a:p>
                <a:r>
                  <a:rPr lang="en-NZ">
                    <a:noFill/>
                  </a:rPr>
                  <a:t> </a:t>
                </a:r>
              </a:p>
            </p:txBody>
          </p:sp>
        </mc:Fallback>
      </mc:AlternateContent>
      <p:sp>
        <p:nvSpPr>
          <p:cNvPr id="62" name="Left Brace 61">
            <a:extLst>
              <a:ext uri="{FF2B5EF4-FFF2-40B4-BE49-F238E27FC236}">
                <a16:creationId xmlns:a16="http://schemas.microsoft.com/office/drawing/2014/main" id="{31A2C150-007E-4866-886E-70F42782CD35}"/>
              </a:ext>
            </a:extLst>
          </p:cNvPr>
          <p:cNvSpPr/>
          <p:nvPr/>
        </p:nvSpPr>
        <p:spPr>
          <a:xfrm rot="10800000">
            <a:off x="9827672" y="3013316"/>
            <a:ext cx="356383" cy="21589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Placeholder 5">
            <a:extLst>
              <a:ext uri="{FF2B5EF4-FFF2-40B4-BE49-F238E27FC236}">
                <a16:creationId xmlns:a16="http://schemas.microsoft.com/office/drawing/2014/main" id="{B498F214-F579-4FED-9ECD-F9AC174A5CF1}"/>
              </a:ext>
            </a:extLst>
          </p:cNvPr>
          <p:cNvSpPr txBox="1">
            <a:spLocks/>
          </p:cNvSpPr>
          <p:nvPr/>
        </p:nvSpPr>
        <p:spPr>
          <a:xfrm>
            <a:off x="10184054" y="3733632"/>
            <a:ext cx="1905311" cy="93062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i="1" dirty="0">
                <a:solidFill>
                  <a:srgbClr val="E7E6E6">
                    <a:lumMod val="50000"/>
                  </a:srgbClr>
                </a:solidFill>
                <a:latin typeface="Calibri" panose="020F0502020204030204"/>
                <a:ea typeface="游ゴシック" panose="020B0400000000000000" pitchFamily="34" charset="-128"/>
              </a:rPr>
              <a:t>S</a:t>
            </a:r>
            <a:r>
              <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ums of</a:t>
            </a:r>
            <a:r>
              <a:rPr kumimoji="1" lang="en-NZ" altLang="ja-JP" sz="1400" b="0" i="1" u="none" strike="noStrike" kern="1200" cap="none" spc="0" normalizeH="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squares and F-Statistics calculated simultaneously.</a:t>
            </a:r>
            <a:endParaRPr kumimoji="1" lang="en-NZ" altLang="ja-JP" sz="14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61290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5" grpId="0"/>
      <p:bldP spid="56" grpId="0"/>
      <p:bldP spid="57" grpId="0"/>
      <p:bldP spid="58" grpId="0"/>
      <p:bldP spid="59" grpId="0"/>
      <p:bldP spid="60" grpId="0"/>
      <p:bldP spid="61" grpId="0"/>
      <p:bldP spid="62" grpId="0" animBg="1"/>
      <p:bldP spid="6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3.6b – Insulation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Insulation Study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5" name="Text Placeholder 5">
            <a:extLst>
              <a:ext uri="{FF2B5EF4-FFF2-40B4-BE49-F238E27FC236}">
                <a16:creationId xmlns:a16="http://schemas.microsoft.com/office/drawing/2014/main" id="{7B3223F7-87B7-4C4E-81CF-8BC058228DC0}"/>
              </a:ext>
            </a:extLst>
          </p:cNvPr>
          <p:cNvSpPr txBox="1">
            <a:spLocks/>
          </p:cNvSpPr>
          <p:nvPr/>
        </p:nvSpPr>
        <p:spPr>
          <a:xfrm>
            <a:off x="625523" y="856807"/>
            <a:ext cx="10931856" cy="13158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company is interested in whether five production lots (labelled 1, 2, 3, 4, 5) and two cutting methods (lengthwise or crosswise) have any effect on insulation strength. A balanced sample is taken and is available on the webpage: </a:t>
            </a: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hlinkClick r:id="rId2"/>
              </a:rPr>
              <a:t>http://www.statsci.org/data/general/insulate.txt</a:t>
            </a:r>
            <a:r>
              <a:rPr lang="en-NZ" altLang="ja-JP" sz="2000" dirty="0">
                <a:solidFill>
                  <a:srgbClr val="0070C0"/>
                </a:solidFill>
                <a:latin typeface="Calibri" panose="020F0502020204030204"/>
                <a:ea typeface="游ゴシック" panose="020B0400000000000000" pitchFamily="34" charset="-128"/>
              </a:rPr>
              <a:t> </a:t>
            </a: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but is also available in the csv entitled '</a:t>
            </a:r>
            <a:r>
              <a:rPr kumimoji="1" lang="en-NZ" altLang="ja-JP" sz="2000" b="0"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factinsulate</a:t>
            </a: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The data is shown below.</a:t>
            </a:r>
            <a:endParaRPr kumimoji="1" lang="en-US" altLang="ja-JP" sz="20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7" name="Table 6">
            <a:extLst>
              <a:ext uri="{FF2B5EF4-FFF2-40B4-BE49-F238E27FC236}">
                <a16:creationId xmlns:a16="http://schemas.microsoft.com/office/drawing/2014/main" id="{76670A54-015A-4F5D-A889-818AA26574AD}"/>
              </a:ext>
            </a:extLst>
          </p:cNvPr>
          <p:cNvGraphicFramePr>
            <a:graphicFrameLocks noGrp="1"/>
          </p:cNvGraphicFramePr>
          <p:nvPr>
            <p:extLst>
              <p:ext uri="{D42A27DB-BD31-4B8C-83A1-F6EECF244321}">
                <p14:modId xmlns:p14="http://schemas.microsoft.com/office/powerpoint/2010/main" val="3191343182"/>
              </p:ext>
            </p:extLst>
          </p:nvPr>
        </p:nvGraphicFramePr>
        <p:xfrm>
          <a:off x="945202" y="2454123"/>
          <a:ext cx="10301597" cy="1712071"/>
        </p:xfrm>
        <a:graphic>
          <a:graphicData uri="http://schemas.openxmlformats.org/drawingml/2006/table">
            <a:tbl>
              <a:tblPr/>
              <a:tblGrid>
                <a:gridCol w="700392">
                  <a:extLst>
                    <a:ext uri="{9D8B030D-6E8A-4147-A177-3AD203B41FA5}">
                      <a16:colId xmlns:a16="http://schemas.microsoft.com/office/drawing/2014/main" val="378594080"/>
                    </a:ext>
                  </a:extLst>
                </a:gridCol>
                <a:gridCol w="2042810">
                  <a:extLst>
                    <a:ext uri="{9D8B030D-6E8A-4147-A177-3AD203B41FA5}">
                      <a16:colId xmlns:a16="http://schemas.microsoft.com/office/drawing/2014/main" val="431019701"/>
                    </a:ext>
                  </a:extLst>
                </a:gridCol>
                <a:gridCol w="1823937">
                  <a:extLst>
                    <a:ext uri="{9D8B030D-6E8A-4147-A177-3AD203B41FA5}">
                      <a16:colId xmlns:a16="http://schemas.microsoft.com/office/drawing/2014/main" val="1560030749"/>
                    </a:ext>
                  </a:extLst>
                </a:gridCol>
                <a:gridCol w="1853120">
                  <a:extLst>
                    <a:ext uri="{9D8B030D-6E8A-4147-A177-3AD203B41FA5}">
                      <a16:colId xmlns:a16="http://schemas.microsoft.com/office/drawing/2014/main" val="3577755959"/>
                    </a:ext>
                  </a:extLst>
                </a:gridCol>
                <a:gridCol w="1882303">
                  <a:extLst>
                    <a:ext uri="{9D8B030D-6E8A-4147-A177-3AD203B41FA5}">
                      <a16:colId xmlns:a16="http://schemas.microsoft.com/office/drawing/2014/main" val="3538857325"/>
                    </a:ext>
                  </a:extLst>
                </a:gridCol>
                <a:gridCol w="1999035">
                  <a:extLst>
                    <a:ext uri="{9D8B030D-6E8A-4147-A177-3AD203B41FA5}">
                      <a16:colId xmlns:a16="http://schemas.microsoft.com/office/drawing/2014/main" val="4222012912"/>
                    </a:ext>
                  </a:extLst>
                </a:gridCol>
              </a:tblGrid>
              <a:tr h="238038">
                <a:tc>
                  <a:txBody>
                    <a:bodyPr/>
                    <a:lstStyle/>
                    <a:p>
                      <a:pPr algn="ctr" fontAlgn="ctr"/>
                      <a:r>
                        <a:rPr lang="en-NZ" sz="1200" b="1" i="0" u="none" strike="noStrike" dirty="0">
                          <a:solidFill>
                            <a:srgbClr val="FFFFFF"/>
                          </a:solidFill>
                          <a:effectLst/>
                          <a:latin typeface="Calibri" panose="020F0502020204030204" pitchFamily="34" charset="0"/>
                        </a:rPr>
                        <a:t> </a:t>
                      </a:r>
                      <a:r>
                        <a:rPr lang="en-NZ" sz="1800" b="1" i="0" u="none" strike="noStrike" dirty="0">
                          <a:solidFill>
                            <a:srgbClr val="FFFFFF"/>
                          </a:solidFill>
                          <a:effectLst/>
                          <a:latin typeface="Calibri" panose="020F0502020204030204" pitchFamily="34" charset="0"/>
                        </a:rPr>
                        <a:t>Cut</a:t>
                      </a:r>
                      <a:endParaRPr lang="en-NZ" sz="12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4103422414"/>
                  </a:ext>
                </a:extLst>
              </a:tr>
              <a:tr h="714113">
                <a:tc>
                  <a:txBody>
                    <a:bodyPr/>
                    <a:lstStyle/>
                    <a:p>
                      <a:pPr algn="ctr" fontAlgn="ctr"/>
                      <a:r>
                        <a:rPr lang="en-NZ" sz="1800" b="1" i="0" u="none" strike="noStrike" dirty="0">
                          <a:solidFill>
                            <a:srgbClr val="FFFFFF"/>
                          </a:solidFill>
                          <a:effectLst/>
                          <a:latin typeface="Calibri" panose="020F0502020204030204" pitchFamily="34" charset="0"/>
                        </a:rPr>
                        <a:t>Cross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200" b="0" i="0" u="none" strike="noStrike">
                          <a:solidFill>
                            <a:srgbClr val="000000"/>
                          </a:solidFill>
                          <a:effectLst/>
                          <a:latin typeface="Calibri" panose="020F0502020204030204" pitchFamily="34" charset="0"/>
                        </a:rPr>
                        <a:t>0.46, 0.67, 0.69, 0.73, 0.77, 0.78, 0.79, 0.80, 0.85, 0.89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0.84, 0.84, 0.86, 0.89, 1.03, 1.03, 1.06, 1.17, 1.18, 1.32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0.52, 0.52, 0.58, 0.59, 0.60, 0.63, 0.64, 0.65, 0.71, 0.80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0.81, 0.82, 0.86, 0.87, 0.88, 0.89, 0.9, 0.93, 0.97, 1.06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0.45, 0.47, 0.47, 0.52, 0.53, 0.54, 0.55, 0.56, 0.57, 0.6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01746709"/>
                  </a:ext>
                </a:extLst>
              </a:tr>
              <a:tr h="714113">
                <a:tc>
                  <a:txBody>
                    <a:bodyPr/>
                    <a:lstStyle/>
                    <a:p>
                      <a:pPr algn="ctr" fontAlgn="ctr"/>
                      <a:r>
                        <a:rPr lang="en-NZ" sz="1800" b="1" i="0" u="none" strike="noStrike" dirty="0">
                          <a:solidFill>
                            <a:srgbClr val="FFFFFF"/>
                          </a:solidFill>
                          <a:effectLst/>
                          <a:latin typeface="Calibri" panose="020F0502020204030204" pitchFamily="34" charset="0"/>
                        </a:rPr>
                        <a:t>Length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200" b="0" i="0" u="none" strike="noStrike">
                          <a:solidFill>
                            <a:srgbClr val="000000"/>
                          </a:solidFill>
                          <a:effectLst/>
                          <a:latin typeface="Calibri" panose="020F0502020204030204" pitchFamily="34" charset="0"/>
                        </a:rPr>
                        <a:t>0.84, 0.86, 0.87, 0.88, 0.88, 0.91, 0.92, 0.93, 0.95, 1.15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0.80, 0.85, 0.87, 0.97, 1.00, 1.01, 1.08, 1.09, 1.14, 1.16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0.59, 0.63, 0.64, 0.64, 0.65, 0.68, 0.72, 0.75, 0.79, 0.81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dirty="0">
                          <a:solidFill>
                            <a:srgbClr val="000000"/>
                          </a:solidFill>
                          <a:effectLst/>
                          <a:latin typeface="Calibri" panose="020F0502020204030204" pitchFamily="34" charset="0"/>
                        </a:rPr>
                        <a:t>0.79, 0.79, 0.81, 0.82, 0.84, 0.86, 0.92, 0.93, 0.96, 0.98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dirty="0">
                          <a:solidFill>
                            <a:srgbClr val="000000"/>
                          </a:solidFill>
                          <a:effectLst/>
                          <a:latin typeface="Calibri" panose="020F0502020204030204" pitchFamily="34" charset="0"/>
                        </a:rPr>
                        <a:t>0.44, 0.47, 0.48, 0.49, 0.51, 0.53, 0.59, 0.61, 0.67, 0.72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79914665"/>
                  </a:ext>
                </a:extLst>
              </a:tr>
            </a:tbl>
          </a:graphicData>
        </a:graphic>
      </p:graphicFrame>
      <p:sp>
        <p:nvSpPr>
          <p:cNvPr id="8" name="Text Placeholder 5">
            <a:extLst>
              <a:ext uri="{FF2B5EF4-FFF2-40B4-BE49-F238E27FC236}">
                <a16:creationId xmlns:a16="http://schemas.microsoft.com/office/drawing/2014/main" id="{5375945A-B703-4EB8-8139-8CFFE7DEFE5C}"/>
              </a:ext>
            </a:extLst>
          </p:cNvPr>
          <p:cNvSpPr txBox="1">
            <a:spLocks/>
          </p:cNvSpPr>
          <p:nvPr/>
        </p:nvSpPr>
        <p:spPr>
          <a:xfrm>
            <a:off x="945201" y="4383207"/>
            <a:ext cx="2226859" cy="7958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Factor A -&gt; Lot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tx1"/>
                </a:solidFill>
                <a:latin typeface="Calibri" panose="020F0502020204030204"/>
                <a:ea typeface="游ゴシック" panose="020B0400000000000000" pitchFamily="34" charset="-128"/>
              </a:rPr>
              <a:t>5 Levels (1,2,3,4,5)</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75CDC0D5-4929-499A-847D-566CAEC3E69D}"/>
              </a:ext>
            </a:extLst>
          </p:cNvPr>
          <p:cNvSpPr txBox="1">
            <a:spLocks/>
          </p:cNvSpPr>
          <p:nvPr/>
        </p:nvSpPr>
        <p:spPr>
          <a:xfrm>
            <a:off x="4600433" y="4379931"/>
            <a:ext cx="2991134" cy="7958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Factor B -&gt; Cut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tx1"/>
                </a:solidFill>
                <a:latin typeface="Calibri" panose="020F0502020204030204"/>
                <a:ea typeface="游ゴシック" panose="020B0400000000000000" pitchFamily="34" charset="-128"/>
              </a:rPr>
              <a:t>2 Levels (Cross, Length)</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33F27584-FCD2-4A2B-AFAF-D469FD870FA1}"/>
              </a:ext>
            </a:extLst>
          </p:cNvPr>
          <p:cNvSpPr txBox="1">
            <a:spLocks/>
          </p:cNvSpPr>
          <p:nvPr/>
        </p:nvSpPr>
        <p:spPr>
          <a:xfrm>
            <a:off x="8469481" y="4344883"/>
            <a:ext cx="2777318" cy="7958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10 Cells with 10 </a:t>
            </a:r>
            <a:r>
              <a:rPr kumimoji="1" lang="en-NZ" altLang="ja-JP" sz="1800" b="0" i="0"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Obs</a:t>
            </a: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each</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tx1"/>
                </a:solidFill>
                <a:latin typeface="Calibri" panose="020F0502020204030204"/>
                <a:ea typeface="游ゴシック" panose="020B0400000000000000" pitchFamily="34" charset="-128"/>
              </a:rPr>
              <a:t>=&gt; Balanced Design</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AA3A2871-BC68-4DBA-A880-DDC37BF77831}"/>
              </a:ext>
            </a:extLst>
          </p:cNvPr>
          <p:cNvSpPr txBox="1">
            <a:spLocks/>
          </p:cNvSpPr>
          <p:nvPr/>
        </p:nvSpPr>
        <p:spPr>
          <a:xfrm>
            <a:off x="625523" y="5319419"/>
            <a:ext cx="11097904" cy="105733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The sample size in each cell is small.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b="1" dirty="0">
                <a:solidFill>
                  <a:schemeClr val="tx1"/>
                </a:solidFill>
                <a:latin typeface="Calibri" panose="020F0502020204030204"/>
                <a:ea typeface="游ゴシック" panose="020B0400000000000000" pitchFamily="34" charset="-128"/>
              </a:rPr>
              <a:t>=&gt; I</a:t>
            </a: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t will be difficult to determine whether the ANOVA conditions hold.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b="1" dirty="0">
                <a:solidFill>
                  <a:schemeClr val="tx1"/>
                </a:solidFill>
                <a:latin typeface="Calibri" panose="020F0502020204030204"/>
                <a:ea typeface="游ゴシック" panose="020B0400000000000000" pitchFamily="34" charset="-128"/>
              </a:rPr>
              <a:t>Two-Way ANOVA must be supported with a permutation test</a:t>
            </a:r>
            <a:endParaRPr kumimoji="1" lang="en-US" altLang="ja-JP" sz="20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93134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3.6b – Insulation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Insulation Study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10" name="Picture 9">
            <a:extLst>
              <a:ext uri="{FF2B5EF4-FFF2-40B4-BE49-F238E27FC236}">
                <a16:creationId xmlns:a16="http://schemas.microsoft.com/office/drawing/2014/main" id="{93B62E75-3472-4A7C-BB09-CF6CA13FE4CD}"/>
              </a:ext>
            </a:extLst>
          </p:cNvPr>
          <p:cNvPicPr>
            <a:picLocks noChangeAspect="1"/>
          </p:cNvPicPr>
          <p:nvPr/>
        </p:nvPicPr>
        <p:blipFill>
          <a:blip r:embed="rId2"/>
          <a:stretch>
            <a:fillRect/>
          </a:stretch>
        </p:blipFill>
        <p:spPr>
          <a:xfrm>
            <a:off x="577755" y="2003065"/>
            <a:ext cx="7738312" cy="2202159"/>
          </a:xfrm>
          <a:prstGeom prst="rect">
            <a:avLst/>
          </a:prstGeom>
        </p:spPr>
      </p:pic>
      <p:sp>
        <p:nvSpPr>
          <p:cNvPr id="14" name="Text Placeholder 5">
            <a:extLst>
              <a:ext uri="{FF2B5EF4-FFF2-40B4-BE49-F238E27FC236}">
                <a16:creationId xmlns:a16="http://schemas.microsoft.com/office/drawing/2014/main" id="{D14FA389-D8C7-427F-A65A-D195E32FE910}"/>
              </a:ext>
            </a:extLst>
          </p:cNvPr>
          <p:cNvSpPr txBox="1">
            <a:spLocks/>
          </p:cNvSpPr>
          <p:nvPr/>
        </p:nvSpPr>
        <p:spPr>
          <a:xfrm>
            <a:off x="319463" y="880773"/>
            <a:ext cx="11294782" cy="11222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Conducting two-way ANOVA on the data using the </a:t>
            </a:r>
            <a:r>
              <a:rPr lang="en-NZ" altLang="ja-JP" sz="1800" b="1" i="1" dirty="0" err="1">
                <a:solidFill>
                  <a:prstClr val="black"/>
                </a:solidFill>
                <a:latin typeface="Calibri" panose="020F0502020204030204"/>
                <a:ea typeface="游ゴシック" panose="020B0400000000000000" pitchFamily="34" charset="-128"/>
              </a:rPr>
              <a:t>lm</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command. Note because this is a balanced design:</a:t>
            </a:r>
          </a:p>
          <a:p>
            <a:pPr marL="1085793" lvl="1" indent="-400050">
              <a:lnSpc>
                <a:spcPct val="100000"/>
              </a:lnSpc>
              <a:spcBef>
                <a:spcPts val="0"/>
              </a:spcBef>
              <a:buFont typeface="+mj-lt"/>
              <a:buAutoNum type="romanUcPeriod"/>
            </a:pPr>
            <a:r>
              <a:rPr lang="en-NZ" altLang="ja-JP" sz="1800" dirty="0">
                <a:solidFill>
                  <a:prstClr val="black"/>
                </a:solidFill>
                <a:latin typeface="Calibri" panose="020F0502020204030204"/>
                <a:ea typeface="游ゴシック" panose="020B0400000000000000" pitchFamily="34" charset="-128"/>
              </a:rPr>
              <a:t>This will give the same results as conducting two-way ANOVA using </a:t>
            </a:r>
            <a:r>
              <a:rPr lang="en-NZ" altLang="ja-JP" sz="1800" b="1" i="1" dirty="0" err="1">
                <a:solidFill>
                  <a:prstClr val="black"/>
                </a:solidFill>
                <a:latin typeface="Calibri" panose="020F0502020204030204"/>
                <a:ea typeface="游ゴシック" panose="020B0400000000000000" pitchFamily="34" charset="-128"/>
              </a:rPr>
              <a:t>lmp</a:t>
            </a:r>
            <a:r>
              <a:rPr lang="en-NZ" altLang="ja-JP" sz="1800" b="1" i="1" dirty="0">
                <a:solidFill>
                  <a:prstClr val="black"/>
                </a:solidFill>
                <a:latin typeface="Calibri" panose="020F0502020204030204"/>
                <a:ea typeface="游ゴシック" panose="020B0400000000000000" pitchFamily="34" charset="-128"/>
              </a:rPr>
              <a:t>()</a:t>
            </a:r>
            <a:r>
              <a:rPr lang="en-NZ" altLang="ja-JP" sz="1800" dirty="0">
                <a:solidFill>
                  <a:prstClr val="black"/>
                </a:solidFill>
                <a:latin typeface="Calibri" panose="020F0502020204030204"/>
                <a:ea typeface="游ゴシック" panose="020B0400000000000000" pitchFamily="34" charset="-128"/>
              </a:rPr>
              <a:t>.</a:t>
            </a:r>
          </a:p>
          <a:p>
            <a:pPr marL="1085793" lvl="1" indent="-400050">
              <a:lnSpc>
                <a:spcPct val="100000"/>
              </a:lnSpc>
              <a:spcBef>
                <a:spcPts val="0"/>
              </a:spcBef>
              <a:buFont typeface="+mj-lt"/>
              <a:buAutoNum type="romanUcPeriod"/>
            </a:pPr>
            <a:r>
              <a:rPr lang="en-NZ" altLang="ja-JP" sz="1800" dirty="0">
                <a:solidFill>
                  <a:prstClr val="black"/>
                </a:solidFill>
                <a:latin typeface="Calibri" panose="020F0502020204030204"/>
                <a:ea typeface="游ゴシック" panose="020B0400000000000000" pitchFamily="34" charset="-128"/>
              </a:rPr>
              <a:t>The order in which variables are entered into the model does not matter.</a:t>
            </a:r>
            <a:endParaRPr kumimoji="1" lang="en-NZ" altLang="ja-JP" sz="180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6E9B980F-8886-3B8E-090B-2F00268886EB}"/>
                  </a:ext>
                </a:extLst>
              </p:cNvPr>
              <p:cNvSpPr txBox="1">
                <a:spLocks/>
              </p:cNvSpPr>
              <p:nvPr/>
            </p:nvSpPr>
            <p:spPr>
              <a:xfrm>
                <a:off x="422098" y="4787508"/>
                <a:ext cx="3379738"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𝜶𝜷</m:t>
                          </m:r>
                          <m:r>
                            <a:rPr lang="en-NZ" altLang="ja-JP" sz="1600" b="1" i="1" smtClean="0">
                              <a:solidFill>
                                <a:schemeClr val="tx1"/>
                              </a:solidFill>
                              <a:latin typeface="Cambria Math" panose="02040503050406030204" pitchFamily="18" charset="0"/>
                            </a:rPr>
                            <m:t>)</m:t>
                          </m:r>
                        </m:e>
                        <m:sub>
                          <m:r>
                            <a:rPr lang="en-NZ" altLang="ja-JP" sz="1600" b="1" i="1" smtClean="0">
                              <a:solidFill>
                                <a:schemeClr val="tx1"/>
                              </a:solidFill>
                              <a:latin typeface="Cambria Math" panose="02040503050406030204" pitchFamily="18" charset="0"/>
                            </a:rPr>
                            <m:t>𝒊𝒋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𝜶𝜷</m:t>
                          </m:r>
                          <m:r>
                            <a:rPr lang="en-NZ" altLang="ja-JP" sz="1600" b="1" i="1">
                              <a:solidFill>
                                <a:schemeClr val="tx1"/>
                              </a:solidFill>
                              <a:latin typeface="Cambria Math" panose="02040503050406030204" pitchFamily="18" charset="0"/>
                            </a:rPr>
                            <m:t>)</m:t>
                          </m:r>
                        </m:e>
                        <m:sub>
                          <m:r>
                            <a:rPr lang="en-NZ" altLang="ja-JP" sz="1600" b="1" i="1">
                              <a:solidFill>
                                <a:schemeClr val="tx1"/>
                              </a:solidFill>
                              <a:latin typeface="Cambria Math" panose="02040503050406030204" pitchFamily="18" charset="0"/>
                            </a:rPr>
                            <m:t>𝒊𝒋</m:t>
                          </m:r>
                        </m:sub>
                      </m:sSub>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𝒇𝒐𝒓</m:t>
                      </m:r>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oMath>
                  </m:oMathPara>
                </a14:m>
                <a:br>
                  <a:rPr lang="en-NZ" altLang="ja-JP" sz="1600" b="1" i="1" dirty="0">
                    <a:solidFill>
                      <a:schemeClr val="tx1"/>
                    </a:solidFill>
                    <a:latin typeface="Cambria Math" panose="02040503050406030204" pitchFamily="18" charset="0"/>
                  </a:rPr>
                </a:br>
                <a:endParaRPr lang="en-NZ" altLang="ja-JP" sz="1600" b="1" dirty="0">
                  <a:solidFill>
                    <a:schemeClr val="tx1"/>
                  </a:solidFill>
                </a:endParaRPr>
              </a:p>
            </p:txBody>
          </p:sp>
        </mc:Choice>
        <mc:Fallback xmlns="">
          <p:sp>
            <p:nvSpPr>
              <p:cNvPr id="9" name="Text Placeholder 5">
                <a:extLst>
                  <a:ext uri="{FF2B5EF4-FFF2-40B4-BE49-F238E27FC236}">
                    <a16:creationId xmlns:a16="http://schemas.microsoft.com/office/drawing/2014/main" id="{6E9B980F-8886-3B8E-090B-2F00268886EB}"/>
                  </a:ext>
                </a:extLst>
              </p:cNvPr>
              <p:cNvSpPr txBox="1">
                <a:spLocks noRot="1" noChangeAspect="1" noMove="1" noResize="1" noEditPoints="1" noAdjustHandles="1" noChangeArrowheads="1" noChangeShapeType="1" noTextEdit="1"/>
              </p:cNvSpPr>
              <p:nvPr/>
            </p:nvSpPr>
            <p:spPr>
              <a:xfrm>
                <a:off x="422098" y="4787508"/>
                <a:ext cx="3379738" cy="695961"/>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4F982926-9E9B-0F73-D8B6-8C208E84B8CF}"/>
                  </a:ext>
                </a:extLst>
              </p:cNvPr>
              <p:cNvSpPr txBox="1">
                <a:spLocks/>
              </p:cNvSpPr>
              <p:nvPr/>
            </p:nvSpPr>
            <p:spPr>
              <a:xfrm>
                <a:off x="4773834" y="4787508"/>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𝒇𝒐𝒓</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𝒊</m:t>
                      </m:r>
                    </m:oMath>
                  </m:oMathPara>
                </a14:m>
                <a:br>
                  <a:rPr lang="en-NZ" altLang="ja-JP" sz="1600" b="1" i="1" dirty="0">
                    <a:solidFill>
                      <a:schemeClr val="tx1"/>
                    </a:solidFill>
                    <a:latin typeface="Cambria Math" panose="02040503050406030204" pitchFamily="18" charset="0"/>
                  </a:rPr>
                </a:br>
                <a:endParaRPr lang="en-NZ" altLang="ja-JP" sz="1600" b="1" dirty="0">
                  <a:solidFill>
                    <a:schemeClr val="tx1"/>
                  </a:solidFill>
                </a:endParaRPr>
              </a:p>
            </p:txBody>
          </p:sp>
        </mc:Choice>
        <mc:Fallback xmlns="">
          <p:sp>
            <p:nvSpPr>
              <p:cNvPr id="11" name="Text Placeholder 5">
                <a:extLst>
                  <a:ext uri="{FF2B5EF4-FFF2-40B4-BE49-F238E27FC236}">
                    <a16:creationId xmlns:a16="http://schemas.microsoft.com/office/drawing/2014/main" id="{4F982926-9E9B-0F73-D8B6-8C208E84B8CF}"/>
                  </a:ext>
                </a:extLst>
              </p:cNvPr>
              <p:cNvSpPr txBox="1">
                <a:spLocks noRot="1" noChangeAspect="1" noMove="1" noResize="1" noEditPoints="1" noAdjustHandles="1" noChangeArrowheads="1" noChangeShapeType="1" noTextEdit="1"/>
              </p:cNvSpPr>
              <p:nvPr/>
            </p:nvSpPr>
            <p:spPr>
              <a:xfrm>
                <a:off x="4773834" y="4787508"/>
                <a:ext cx="2849601" cy="695961"/>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718FF88F-52F8-BB01-6181-AF1DC503CD8A}"/>
                  </a:ext>
                </a:extLst>
              </p:cNvPr>
              <p:cNvSpPr txBox="1">
                <a:spLocks/>
              </p:cNvSpPr>
              <p:nvPr/>
            </p:nvSpPr>
            <p:spPr>
              <a:xfrm>
                <a:off x="8804606" y="4787508"/>
                <a:ext cx="2849601" cy="6511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𝜷</m:t>
                          </m:r>
                        </m:e>
                        <m:sub>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𝒃</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𝜷</m:t>
                          </m:r>
                        </m:e>
                        <m:sub>
                          <m:r>
                            <a:rPr lang="en-NZ" altLang="ja-JP" sz="1600" b="1" i="1">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𝒇𝒐𝒓</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𝒋</m:t>
                      </m:r>
                    </m:oMath>
                  </m:oMathPara>
                </a14:m>
                <a:br>
                  <a:rPr lang="en-NZ" altLang="ja-JP" sz="1600" b="1" i="1" dirty="0">
                    <a:solidFill>
                      <a:schemeClr val="tx1"/>
                    </a:solidFill>
                    <a:latin typeface="Cambria Math" panose="02040503050406030204" pitchFamily="18" charset="0"/>
                  </a:rPr>
                </a:br>
                <a:endParaRPr lang="en-NZ" altLang="ja-JP" sz="1600" b="1" dirty="0">
                  <a:solidFill>
                    <a:schemeClr val="tx1"/>
                  </a:solidFill>
                </a:endParaRPr>
              </a:p>
            </p:txBody>
          </p:sp>
        </mc:Choice>
        <mc:Fallback xmlns="">
          <p:sp>
            <p:nvSpPr>
              <p:cNvPr id="12" name="Text Placeholder 5">
                <a:extLst>
                  <a:ext uri="{FF2B5EF4-FFF2-40B4-BE49-F238E27FC236}">
                    <a16:creationId xmlns:a16="http://schemas.microsoft.com/office/drawing/2014/main" id="{718FF88F-52F8-BB01-6181-AF1DC503CD8A}"/>
                  </a:ext>
                </a:extLst>
              </p:cNvPr>
              <p:cNvSpPr txBox="1">
                <a:spLocks noRot="1" noChangeAspect="1" noMove="1" noResize="1" noEditPoints="1" noAdjustHandles="1" noChangeArrowheads="1" noChangeShapeType="1" noTextEdit="1"/>
              </p:cNvSpPr>
              <p:nvPr/>
            </p:nvSpPr>
            <p:spPr>
              <a:xfrm>
                <a:off x="8804606" y="4787508"/>
                <a:ext cx="2849601" cy="651123"/>
              </a:xfrm>
              <a:prstGeom prst="rect">
                <a:avLst/>
              </a:prstGeom>
              <a:blipFill>
                <a:blip r:embed="rId5"/>
                <a:stretch>
                  <a:fillRect/>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2016BAD9-5E42-9E6B-2AEA-8EBCD9855D50}"/>
              </a:ext>
            </a:extLst>
          </p:cNvPr>
          <p:cNvSpPr txBox="1">
            <a:spLocks/>
          </p:cNvSpPr>
          <p:nvPr/>
        </p:nvSpPr>
        <p:spPr>
          <a:xfrm>
            <a:off x="411984" y="4446771"/>
            <a:ext cx="3875851"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Is there any interaction between factors?</a:t>
            </a:r>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EB0D06A2-1CB8-208C-15A6-805C297D26DB}"/>
              </a:ext>
            </a:extLst>
          </p:cNvPr>
          <p:cNvSpPr txBox="1">
            <a:spLocks/>
          </p:cNvSpPr>
          <p:nvPr/>
        </p:nvSpPr>
        <p:spPr>
          <a:xfrm>
            <a:off x="4732008" y="4446771"/>
            <a:ext cx="3377430"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Does factor A have any effect on Y?</a:t>
            </a:r>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AFB93E85-7804-1F76-1FAC-9DE3A78FCB3A}"/>
              </a:ext>
            </a:extLst>
          </p:cNvPr>
          <p:cNvSpPr txBox="1">
            <a:spLocks/>
          </p:cNvSpPr>
          <p:nvPr/>
        </p:nvSpPr>
        <p:spPr>
          <a:xfrm>
            <a:off x="8814570" y="4446771"/>
            <a:ext cx="3377430"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Does factor B have any effect on Y?</a:t>
            </a:r>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C7B72F62-674E-4C79-5EC5-48E5AF8AD0D5}"/>
                  </a:ext>
                </a:extLst>
              </p:cNvPr>
              <p:cNvSpPr txBox="1">
                <a:spLocks/>
              </p:cNvSpPr>
              <p:nvPr/>
            </p:nvSpPr>
            <p:spPr>
              <a:xfrm>
                <a:off x="422097" y="5484956"/>
                <a:ext cx="3659105"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600" b="0" i="1" smtClean="0">
                          <a:solidFill>
                            <a:srgbClr val="FF0000"/>
                          </a:solidFill>
                          <a:latin typeface="Cambria Math" panose="02040503050406030204" pitchFamily="18" charset="0"/>
                        </a:rPr>
                        <m:t>𝑝</m:t>
                      </m:r>
                      <m:r>
                        <a:rPr lang="en-NZ" altLang="ja-JP" sz="1600" b="0" i="1" smtClean="0">
                          <a:solidFill>
                            <a:srgbClr val="FF0000"/>
                          </a:solidFill>
                          <a:latin typeface="Cambria Math" panose="02040503050406030204" pitchFamily="18" charset="0"/>
                        </a:rPr>
                        <m:t>=0.009504</m:t>
                      </m:r>
                    </m:oMath>
                  </m:oMathPara>
                </a14:m>
                <a:br>
                  <a:rPr lang="en-NZ" altLang="ja-JP" sz="1600" i="1" dirty="0">
                    <a:solidFill>
                      <a:srgbClr val="FF0000"/>
                    </a:solidFill>
                    <a:latin typeface="Cambria Math" panose="02040503050406030204" pitchFamily="18" charset="0"/>
                  </a:rPr>
                </a:br>
                <a:r>
                  <a:rPr lang="en-NZ" altLang="ja-JP" sz="1600" i="1" dirty="0">
                    <a:solidFill>
                      <a:srgbClr val="FF0000"/>
                    </a:solidFill>
                    <a:latin typeface="Cambria Math" panose="02040503050406030204" pitchFamily="18" charset="0"/>
                  </a:rPr>
                  <a:t>Very strong evidence for the presence of interaction between Lot and Cut</a:t>
                </a:r>
              </a:p>
              <a:p>
                <a:pPr>
                  <a:lnSpc>
                    <a:spcPct val="100000"/>
                  </a:lnSpc>
                </a:pPr>
                <a:br>
                  <a:rPr lang="en-NZ" altLang="ja-JP" sz="1600" i="1" dirty="0">
                    <a:solidFill>
                      <a:srgbClr val="FF0000"/>
                    </a:solidFill>
                    <a:latin typeface="Cambria Math" panose="02040503050406030204" pitchFamily="18" charset="0"/>
                  </a:rPr>
                </a:br>
                <a:endParaRPr lang="en-NZ" altLang="ja-JP" sz="1600" i="1" dirty="0">
                  <a:solidFill>
                    <a:srgbClr val="FF0000"/>
                  </a:solidFill>
                </a:endParaRPr>
              </a:p>
            </p:txBody>
          </p:sp>
        </mc:Choice>
        <mc:Fallback xmlns="">
          <p:sp>
            <p:nvSpPr>
              <p:cNvPr id="19" name="Text Placeholder 5">
                <a:extLst>
                  <a:ext uri="{FF2B5EF4-FFF2-40B4-BE49-F238E27FC236}">
                    <a16:creationId xmlns:a16="http://schemas.microsoft.com/office/drawing/2014/main" id="{C7B72F62-674E-4C79-5EC5-48E5AF8AD0D5}"/>
                  </a:ext>
                </a:extLst>
              </p:cNvPr>
              <p:cNvSpPr txBox="1">
                <a:spLocks noRot="1" noChangeAspect="1" noMove="1" noResize="1" noEditPoints="1" noAdjustHandles="1" noChangeArrowheads="1" noChangeShapeType="1" noTextEdit="1"/>
              </p:cNvSpPr>
              <p:nvPr/>
            </p:nvSpPr>
            <p:spPr>
              <a:xfrm>
                <a:off x="422097" y="5484956"/>
                <a:ext cx="3659105" cy="695961"/>
              </a:xfrm>
              <a:prstGeom prst="rect">
                <a:avLst/>
              </a:prstGeom>
              <a:blipFill>
                <a:blip r:embed="rId6"/>
                <a:stretch>
                  <a:fillRect l="-833" r="-2000" b="-2894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45E6404-9627-E454-B6A0-240B048CFD60}"/>
                  </a:ext>
                </a:extLst>
              </p:cNvPr>
              <p:cNvSpPr txBox="1">
                <a:spLocks/>
              </p:cNvSpPr>
              <p:nvPr/>
            </p:nvSpPr>
            <p:spPr>
              <a:xfrm>
                <a:off x="4737439" y="5484956"/>
                <a:ext cx="3578627" cy="9293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600" b="0" i="1" smtClean="0">
                          <a:solidFill>
                            <a:srgbClr val="FF0000"/>
                          </a:solidFill>
                          <a:latin typeface="Cambria Math" panose="02040503050406030204" pitchFamily="18" charset="0"/>
                        </a:rPr>
                        <m:t>𝑝</m:t>
                      </m:r>
                      <m:r>
                        <a:rPr lang="en-NZ" altLang="ja-JP" sz="1600" b="0" i="1" smtClean="0">
                          <a:solidFill>
                            <a:srgbClr val="FF0000"/>
                          </a:solidFill>
                          <a:latin typeface="Cambria Math" panose="02040503050406030204" pitchFamily="18" charset="0"/>
                        </a:rPr>
                        <m:t>≤2.2</m:t>
                      </m:r>
                      <m:sSup>
                        <m:sSupPr>
                          <m:ctrlPr>
                            <a:rPr lang="en-NZ" altLang="ja-JP" sz="1600" b="0" i="1" smtClean="0">
                              <a:solidFill>
                                <a:srgbClr val="FF0000"/>
                              </a:solidFill>
                              <a:latin typeface="Cambria Math" panose="02040503050406030204" pitchFamily="18" charset="0"/>
                            </a:rPr>
                          </m:ctrlPr>
                        </m:sSupPr>
                        <m:e>
                          <m:r>
                            <a:rPr lang="en-NZ" altLang="ja-JP" sz="1600" b="0" i="1" smtClean="0">
                              <a:solidFill>
                                <a:srgbClr val="FF0000"/>
                              </a:solidFill>
                              <a:latin typeface="Cambria Math" panose="02040503050406030204" pitchFamily="18" charset="0"/>
                            </a:rPr>
                            <m:t>𝑒</m:t>
                          </m:r>
                        </m:e>
                        <m:sup>
                          <m:r>
                            <a:rPr lang="en-NZ" altLang="ja-JP" sz="1600" b="0" i="1" smtClean="0">
                              <a:solidFill>
                                <a:srgbClr val="FF0000"/>
                              </a:solidFill>
                              <a:latin typeface="Cambria Math" panose="02040503050406030204" pitchFamily="18" charset="0"/>
                            </a:rPr>
                            <m:t>−16</m:t>
                          </m:r>
                        </m:sup>
                      </m:sSup>
                    </m:oMath>
                  </m:oMathPara>
                </a14:m>
                <a:br>
                  <a:rPr lang="en-NZ" altLang="ja-JP" sz="1600" i="1" dirty="0">
                    <a:solidFill>
                      <a:srgbClr val="FF0000"/>
                    </a:solidFill>
                    <a:latin typeface="Cambria Math" panose="02040503050406030204" pitchFamily="18" charset="0"/>
                  </a:rPr>
                </a:br>
                <a:r>
                  <a:rPr lang="en-NZ" altLang="ja-JP" sz="1600" i="1" dirty="0">
                    <a:solidFill>
                      <a:srgbClr val="FF0000"/>
                    </a:solidFill>
                    <a:latin typeface="Cambria Math" panose="02040503050406030204" pitchFamily="18" charset="0"/>
                  </a:rPr>
                  <a:t>Very strong evidence for the effect of Lot on the response variable strength</a:t>
                </a:r>
              </a:p>
              <a:p>
                <a:pPr>
                  <a:lnSpc>
                    <a:spcPct val="100000"/>
                  </a:lnSpc>
                </a:pPr>
                <a:br>
                  <a:rPr lang="en-NZ" altLang="ja-JP" sz="1600" i="1" dirty="0">
                    <a:solidFill>
                      <a:srgbClr val="FF0000"/>
                    </a:solidFill>
                    <a:latin typeface="Cambria Math" panose="02040503050406030204" pitchFamily="18" charset="0"/>
                  </a:rPr>
                </a:br>
                <a:endParaRPr lang="en-NZ" altLang="ja-JP" sz="1600" i="1" dirty="0">
                  <a:solidFill>
                    <a:srgbClr val="FF0000"/>
                  </a:solidFill>
                </a:endParaRPr>
              </a:p>
            </p:txBody>
          </p:sp>
        </mc:Choice>
        <mc:Fallback xmlns="">
          <p:sp>
            <p:nvSpPr>
              <p:cNvPr id="20" name="Text Placeholder 5">
                <a:extLst>
                  <a:ext uri="{FF2B5EF4-FFF2-40B4-BE49-F238E27FC236}">
                    <a16:creationId xmlns:a16="http://schemas.microsoft.com/office/drawing/2014/main" id="{545E6404-9627-E454-B6A0-240B048CFD60}"/>
                  </a:ext>
                </a:extLst>
              </p:cNvPr>
              <p:cNvSpPr txBox="1">
                <a:spLocks noRot="1" noChangeAspect="1" noMove="1" noResize="1" noEditPoints="1" noAdjustHandles="1" noChangeArrowheads="1" noChangeShapeType="1" noTextEdit="1"/>
              </p:cNvSpPr>
              <p:nvPr/>
            </p:nvSpPr>
            <p:spPr>
              <a:xfrm>
                <a:off x="4737439" y="5484956"/>
                <a:ext cx="3578627" cy="929354"/>
              </a:xfrm>
              <a:prstGeom prst="rect">
                <a:avLst/>
              </a:prstGeom>
              <a:blipFill>
                <a:blip r:embed="rId7"/>
                <a:stretch>
                  <a:fillRect l="-85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A626E0C8-AD4F-3AD1-7187-AE7B671E13E4}"/>
                  </a:ext>
                </a:extLst>
              </p:cNvPr>
              <p:cNvSpPr txBox="1">
                <a:spLocks/>
              </p:cNvSpPr>
              <p:nvPr/>
            </p:nvSpPr>
            <p:spPr>
              <a:xfrm>
                <a:off x="8804606" y="5482523"/>
                <a:ext cx="3379738" cy="9293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600" b="0" i="1" smtClean="0">
                          <a:solidFill>
                            <a:srgbClr val="FF0000"/>
                          </a:solidFill>
                          <a:latin typeface="Cambria Math" panose="02040503050406030204" pitchFamily="18" charset="0"/>
                        </a:rPr>
                        <m:t>𝑝</m:t>
                      </m:r>
                      <m:r>
                        <a:rPr lang="en-NZ" altLang="ja-JP" sz="1600" b="0" i="1" smtClean="0">
                          <a:solidFill>
                            <a:srgbClr val="FF0000"/>
                          </a:solidFill>
                          <a:latin typeface="Cambria Math" panose="02040503050406030204" pitchFamily="18" charset="0"/>
                        </a:rPr>
                        <m:t>=0.035272</m:t>
                      </m:r>
                    </m:oMath>
                  </m:oMathPara>
                </a14:m>
                <a:endParaRPr lang="en-NZ" altLang="ja-JP" sz="1600" i="1" dirty="0">
                  <a:solidFill>
                    <a:srgbClr val="FF0000"/>
                  </a:solidFill>
                  <a:latin typeface="Cambria Math" panose="02040503050406030204" pitchFamily="18" charset="0"/>
                </a:endParaRPr>
              </a:p>
              <a:p>
                <a:pPr>
                  <a:lnSpc>
                    <a:spcPct val="100000"/>
                  </a:lnSpc>
                </a:pPr>
                <a:r>
                  <a:rPr lang="en-NZ" altLang="ja-JP" sz="1600" i="1" dirty="0">
                    <a:solidFill>
                      <a:srgbClr val="FF0000"/>
                    </a:solidFill>
                    <a:latin typeface="Cambria Math" panose="02040503050406030204" pitchFamily="18" charset="0"/>
                  </a:rPr>
                  <a:t>Strong evidence for the effect of cut on the response variable strength</a:t>
                </a:r>
              </a:p>
              <a:p>
                <a:pPr>
                  <a:lnSpc>
                    <a:spcPct val="100000"/>
                  </a:lnSpc>
                </a:pPr>
                <a:br>
                  <a:rPr lang="en-NZ" altLang="ja-JP" sz="1600" i="1" dirty="0">
                    <a:solidFill>
                      <a:srgbClr val="FF0000"/>
                    </a:solidFill>
                    <a:latin typeface="Cambria Math" panose="02040503050406030204" pitchFamily="18" charset="0"/>
                  </a:rPr>
                </a:br>
                <a:endParaRPr lang="en-NZ" altLang="ja-JP" sz="1600" i="1" dirty="0">
                  <a:solidFill>
                    <a:srgbClr val="FF0000"/>
                  </a:solidFill>
                </a:endParaRPr>
              </a:p>
            </p:txBody>
          </p:sp>
        </mc:Choice>
        <mc:Fallback xmlns="">
          <p:sp>
            <p:nvSpPr>
              <p:cNvPr id="21" name="Text Placeholder 5">
                <a:extLst>
                  <a:ext uri="{FF2B5EF4-FFF2-40B4-BE49-F238E27FC236}">
                    <a16:creationId xmlns:a16="http://schemas.microsoft.com/office/drawing/2014/main" id="{A626E0C8-AD4F-3AD1-7187-AE7B671E13E4}"/>
                  </a:ext>
                </a:extLst>
              </p:cNvPr>
              <p:cNvSpPr txBox="1">
                <a:spLocks noRot="1" noChangeAspect="1" noMove="1" noResize="1" noEditPoints="1" noAdjustHandles="1" noChangeArrowheads="1" noChangeShapeType="1" noTextEdit="1"/>
              </p:cNvSpPr>
              <p:nvPr/>
            </p:nvSpPr>
            <p:spPr>
              <a:xfrm>
                <a:off x="8804606" y="5482523"/>
                <a:ext cx="3379738" cy="929354"/>
              </a:xfrm>
              <a:prstGeom prst="rect">
                <a:avLst/>
              </a:prstGeom>
              <a:blipFill>
                <a:blip r:embed="rId8"/>
                <a:stretch>
                  <a:fillRect l="-901"/>
                </a:stretch>
              </a:blipFill>
            </p:spPr>
            <p:txBody>
              <a:bodyPr/>
              <a:lstStyle/>
              <a:p>
                <a:r>
                  <a:rPr lang="en-NZ">
                    <a:noFill/>
                  </a:rPr>
                  <a:t> </a:t>
                </a:r>
              </a:p>
            </p:txBody>
          </p:sp>
        </mc:Fallback>
      </mc:AlternateContent>
    </p:spTree>
    <p:extLst>
      <p:ext uri="{BB962C8B-B14F-4D97-AF65-F5344CB8AC3E}">
        <p14:creationId xmlns:p14="http://schemas.microsoft.com/office/powerpoint/2010/main" val="231510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7" grpId="0"/>
      <p:bldP spid="18" grpId="0"/>
      <p:bldP spid="19" grpId="0"/>
      <p:bldP spid="20" grpId="0"/>
      <p:bldP spid="2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3.6b – Insulation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Insulation Study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C288C80-B109-4C60-9C7A-DF6DC3FD2843}"/>
              </a:ext>
            </a:extLst>
          </p:cNvPr>
          <p:cNvSpPr txBox="1">
            <a:spLocks/>
          </p:cNvSpPr>
          <p:nvPr/>
        </p:nvSpPr>
        <p:spPr>
          <a:xfrm>
            <a:off x="448609" y="2390423"/>
            <a:ext cx="11294782" cy="24428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2400" dirty="0">
                <a:solidFill>
                  <a:prstClr val="black"/>
                </a:solidFill>
                <a:latin typeface="Calibri" panose="020F0502020204030204"/>
                <a:ea typeface="游ゴシック" panose="020B0400000000000000" pitchFamily="34" charset="-128"/>
              </a:rPr>
              <a:t>There is very strong evidence for an interaction between Lot and Cut.</a:t>
            </a:r>
          </a:p>
          <a:p>
            <a:pPr marR="0" lvl="0" defTabSz="914324" rtl="0" eaLnBrk="1" fontAlgn="auto" latinLnBrk="0" hangingPunct="1">
              <a:lnSpc>
                <a:spcPct val="100000"/>
              </a:lnSpc>
              <a:spcBef>
                <a:spcPts val="0"/>
              </a:spcBef>
              <a:spcAft>
                <a:spcPts val="0"/>
              </a:spcAft>
              <a:buClrTx/>
              <a:buSzTx/>
              <a:tabLst/>
              <a:defRPr/>
            </a:pPr>
            <a:r>
              <a:rPr lang="en-NZ" altLang="ja-JP" sz="2400" dirty="0">
                <a:solidFill>
                  <a:prstClr val="black"/>
                </a:solidFill>
                <a:latin typeface="Calibri" panose="020F0502020204030204"/>
                <a:ea typeface="游ゴシック" panose="020B0400000000000000" pitchFamily="34" charset="-128"/>
              </a:rPr>
              <a:t> </a:t>
            </a:r>
          </a:p>
          <a:p>
            <a:pPr marR="0" lvl="0" defTabSz="914324" rtl="0" eaLnBrk="1" fontAlgn="auto" latinLnBrk="0" hangingPunct="1">
              <a:lnSpc>
                <a:spcPct val="100000"/>
              </a:lnSpc>
              <a:spcBef>
                <a:spcPts val="0"/>
              </a:spcBef>
              <a:spcAft>
                <a:spcPts val="0"/>
              </a:spcAft>
              <a:buClrTx/>
              <a:buSzTx/>
              <a:tabLst/>
              <a:defRPr/>
            </a:pPr>
            <a:r>
              <a:rPr lang="en-NZ" altLang="ja-JP" sz="2400" dirty="0">
                <a:solidFill>
                  <a:prstClr val="black"/>
                </a:solidFill>
                <a:latin typeface="Calibri" panose="020F0502020204030204"/>
                <a:ea typeface="游ゴシック" panose="020B0400000000000000" pitchFamily="34" charset="-128"/>
              </a:rPr>
              <a:t>However, since we do not know if the two-way ANOVA conditions are satisfied this analysis must be supplemented with a permutation test. </a:t>
            </a:r>
            <a:br>
              <a:rPr lang="en-NZ" altLang="ja-JP" sz="2400" dirty="0">
                <a:solidFill>
                  <a:prstClr val="black"/>
                </a:solidFill>
                <a:latin typeface="Calibri" panose="020F0502020204030204"/>
                <a:ea typeface="游ゴシック" panose="020B0400000000000000" pitchFamily="34" charset="-128"/>
              </a:rPr>
            </a:br>
            <a:br>
              <a:rPr lang="en-NZ" altLang="ja-JP" sz="2400" dirty="0">
                <a:solidFill>
                  <a:prstClr val="black"/>
                </a:solidFill>
                <a:latin typeface="Calibri" panose="020F0502020204030204"/>
                <a:ea typeface="游ゴシック" panose="020B0400000000000000" pitchFamily="34" charset="-128"/>
              </a:rPr>
            </a:br>
            <a:r>
              <a:rPr lang="en-NZ" altLang="ja-JP" sz="2400" dirty="0">
                <a:solidFill>
                  <a:prstClr val="black"/>
                </a:solidFill>
                <a:latin typeface="Calibri" panose="020F0502020204030204"/>
                <a:ea typeface="游ゴシック" panose="020B0400000000000000" pitchFamily="34" charset="-128"/>
              </a:rPr>
              <a:t>We will do so using the </a:t>
            </a:r>
            <a:r>
              <a:rPr lang="en-NZ" altLang="ja-JP" sz="2400" dirty="0" err="1">
                <a:solidFill>
                  <a:prstClr val="black"/>
                </a:solidFill>
                <a:latin typeface="Calibri" panose="020F0502020204030204"/>
                <a:ea typeface="游ゴシック" panose="020B0400000000000000" pitchFamily="34" charset="-128"/>
              </a:rPr>
              <a:t>lmPerm</a:t>
            </a:r>
            <a:r>
              <a:rPr lang="en-NZ" altLang="ja-JP" sz="2400" dirty="0">
                <a:solidFill>
                  <a:prstClr val="black"/>
                </a:solidFill>
                <a:latin typeface="Calibri" panose="020F0502020204030204"/>
                <a:ea typeface="游ゴシック" panose="020B0400000000000000" pitchFamily="34" charset="-128"/>
              </a:rPr>
              <a:t> package.</a:t>
            </a:r>
            <a:endParaRPr kumimoji="1" lang="en-NZ" altLang="ja-JP" sz="240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8000158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3.6b – Insulation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Insulation Study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D14FA389-D8C7-427F-A65A-D195E32FE910}"/>
              </a:ext>
            </a:extLst>
          </p:cNvPr>
          <p:cNvSpPr txBox="1">
            <a:spLocks/>
          </p:cNvSpPr>
          <p:nvPr/>
        </p:nvSpPr>
        <p:spPr>
          <a:xfrm>
            <a:off x="319463" y="1016303"/>
            <a:ext cx="11294782" cy="4155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Conducting permutation test on the data using the </a:t>
            </a:r>
            <a:r>
              <a:rPr lang="en-NZ" altLang="ja-JP" sz="1800" b="1" i="1" dirty="0" err="1">
                <a:solidFill>
                  <a:prstClr val="black"/>
                </a:solidFill>
                <a:latin typeface="Calibri" panose="020F0502020204030204"/>
                <a:ea typeface="游ゴシック" panose="020B0400000000000000" pitchFamily="34" charset="-128"/>
              </a:rPr>
              <a:t>lmPerm</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package. </a:t>
            </a:r>
          </a:p>
        </p:txBody>
      </p:sp>
      <p:pic>
        <p:nvPicPr>
          <p:cNvPr id="6" name="Picture 5">
            <a:extLst>
              <a:ext uri="{FF2B5EF4-FFF2-40B4-BE49-F238E27FC236}">
                <a16:creationId xmlns:a16="http://schemas.microsoft.com/office/drawing/2014/main" id="{B3930B62-B1DD-4A6E-86D7-68C4549B7201}"/>
              </a:ext>
            </a:extLst>
          </p:cNvPr>
          <p:cNvPicPr>
            <a:picLocks noChangeAspect="1"/>
          </p:cNvPicPr>
          <p:nvPr/>
        </p:nvPicPr>
        <p:blipFill>
          <a:blip r:embed="rId2"/>
          <a:stretch>
            <a:fillRect/>
          </a:stretch>
        </p:blipFill>
        <p:spPr>
          <a:xfrm>
            <a:off x="319465" y="1950417"/>
            <a:ext cx="6638396" cy="670545"/>
          </a:xfrm>
          <a:prstGeom prst="rect">
            <a:avLst/>
          </a:prstGeom>
        </p:spPr>
      </p:pic>
      <p:pic>
        <p:nvPicPr>
          <p:cNvPr id="8" name="Picture 7">
            <a:extLst>
              <a:ext uri="{FF2B5EF4-FFF2-40B4-BE49-F238E27FC236}">
                <a16:creationId xmlns:a16="http://schemas.microsoft.com/office/drawing/2014/main" id="{F33027DB-ADAD-4F2F-8AB1-DE3516DD00BE}"/>
              </a:ext>
            </a:extLst>
          </p:cNvPr>
          <p:cNvPicPr>
            <a:picLocks noChangeAspect="1"/>
          </p:cNvPicPr>
          <p:nvPr/>
        </p:nvPicPr>
        <p:blipFill>
          <a:blip r:embed="rId3"/>
          <a:stretch>
            <a:fillRect/>
          </a:stretch>
        </p:blipFill>
        <p:spPr>
          <a:xfrm>
            <a:off x="319465" y="2863687"/>
            <a:ext cx="6860181" cy="670544"/>
          </a:xfrm>
          <a:prstGeom prst="rect">
            <a:avLst/>
          </a:prstGeom>
        </p:spPr>
      </p:pic>
      <p:pic>
        <p:nvPicPr>
          <p:cNvPr id="11" name="Picture 10">
            <a:extLst>
              <a:ext uri="{FF2B5EF4-FFF2-40B4-BE49-F238E27FC236}">
                <a16:creationId xmlns:a16="http://schemas.microsoft.com/office/drawing/2014/main" id="{B8EFF73A-118B-486E-8328-4245F1E60EEC}"/>
              </a:ext>
            </a:extLst>
          </p:cNvPr>
          <p:cNvPicPr>
            <a:picLocks noChangeAspect="1"/>
          </p:cNvPicPr>
          <p:nvPr/>
        </p:nvPicPr>
        <p:blipFill>
          <a:blip r:embed="rId4"/>
          <a:stretch>
            <a:fillRect/>
          </a:stretch>
        </p:blipFill>
        <p:spPr>
          <a:xfrm>
            <a:off x="319464" y="4168383"/>
            <a:ext cx="7091272" cy="469457"/>
          </a:xfrm>
          <a:prstGeom prst="rect">
            <a:avLst/>
          </a:prstGeom>
        </p:spPr>
      </p:pic>
      <p:pic>
        <p:nvPicPr>
          <p:cNvPr id="13" name="Picture 12">
            <a:extLst>
              <a:ext uri="{FF2B5EF4-FFF2-40B4-BE49-F238E27FC236}">
                <a16:creationId xmlns:a16="http://schemas.microsoft.com/office/drawing/2014/main" id="{CA6F6FBE-6C69-4135-829F-E261F16BE662}"/>
              </a:ext>
            </a:extLst>
          </p:cNvPr>
          <p:cNvPicPr>
            <a:picLocks noChangeAspect="1"/>
          </p:cNvPicPr>
          <p:nvPr/>
        </p:nvPicPr>
        <p:blipFill>
          <a:blip r:embed="rId5"/>
          <a:stretch>
            <a:fillRect/>
          </a:stretch>
        </p:blipFill>
        <p:spPr>
          <a:xfrm>
            <a:off x="319463" y="4961054"/>
            <a:ext cx="6326187" cy="607201"/>
          </a:xfrm>
          <a:prstGeom prst="rect">
            <a:avLst/>
          </a:prstGeom>
        </p:spPr>
      </p:pic>
      <p:sp>
        <p:nvSpPr>
          <p:cNvPr id="12" name="Text Placeholder 5">
            <a:extLst>
              <a:ext uri="{FF2B5EF4-FFF2-40B4-BE49-F238E27FC236}">
                <a16:creationId xmlns:a16="http://schemas.microsoft.com/office/drawing/2014/main" id="{8A9B471D-9EE4-44D3-9487-8DBF0366A7EC}"/>
              </a:ext>
            </a:extLst>
          </p:cNvPr>
          <p:cNvSpPr txBox="1">
            <a:spLocks/>
          </p:cNvSpPr>
          <p:nvPr/>
        </p:nvSpPr>
        <p:spPr>
          <a:xfrm>
            <a:off x="7410736" y="3429000"/>
            <a:ext cx="4514858" cy="6838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Console Message:  </a:t>
            </a:r>
            <a:r>
              <a:rPr lang="en-NZ" altLang="ja-JP" sz="1800" dirty="0">
                <a:solidFill>
                  <a:srgbClr val="0000FF"/>
                </a:solidFill>
                <a:latin typeface="Calibri" panose="020F0502020204030204"/>
                <a:ea typeface="游ゴシック" panose="020B0400000000000000" pitchFamily="34" charset="-128"/>
              </a:rPr>
              <a:t>[1] “Settings : unique SS”</a:t>
            </a:r>
          </a:p>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=&gt; Sums of squares are calculated uniquely</a:t>
            </a:r>
          </a:p>
        </p:txBody>
      </p:sp>
      <p:cxnSp>
        <p:nvCxnSpPr>
          <p:cNvPr id="10" name="Straight Arrow Connector 9">
            <a:extLst>
              <a:ext uri="{FF2B5EF4-FFF2-40B4-BE49-F238E27FC236}">
                <a16:creationId xmlns:a16="http://schemas.microsoft.com/office/drawing/2014/main" id="{3AFD23FE-CD05-4E6B-BDEB-E3B43FFE4F98}"/>
              </a:ext>
            </a:extLst>
          </p:cNvPr>
          <p:cNvCxnSpPr>
            <a:cxnSpLocks/>
          </p:cNvCxnSpPr>
          <p:nvPr/>
        </p:nvCxnSpPr>
        <p:spPr>
          <a:xfrm>
            <a:off x="4503761" y="3770903"/>
            <a:ext cx="2675885"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9069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3.6b – Insulation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Insulation Study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D14FA389-D8C7-427F-A65A-D195E32FE910}"/>
              </a:ext>
            </a:extLst>
          </p:cNvPr>
          <p:cNvSpPr txBox="1">
            <a:spLocks/>
          </p:cNvSpPr>
          <p:nvPr/>
        </p:nvSpPr>
        <p:spPr>
          <a:xfrm>
            <a:off x="319463" y="1016303"/>
            <a:ext cx="5235176" cy="4155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Interpreting the </a:t>
            </a:r>
            <a:r>
              <a:rPr lang="en-NZ" altLang="ja-JP" sz="1800" b="1" i="1" dirty="0">
                <a:solidFill>
                  <a:prstClr val="black"/>
                </a:solidFill>
                <a:latin typeface="Calibri" panose="020F0502020204030204"/>
                <a:ea typeface="游ゴシック" panose="020B0400000000000000" pitchFamily="34" charset="-128"/>
              </a:rPr>
              <a:t>summary()</a:t>
            </a:r>
            <a:r>
              <a:rPr lang="en-NZ" altLang="ja-JP" sz="1800" dirty="0">
                <a:solidFill>
                  <a:prstClr val="black"/>
                </a:solidFill>
                <a:latin typeface="Calibri" panose="020F0502020204030204"/>
                <a:ea typeface="游ゴシック" panose="020B0400000000000000" pitchFamily="34" charset="-128"/>
              </a:rPr>
              <a:t> tables:</a:t>
            </a:r>
          </a:p>
        </p:txBody>
      </p:sp>
      <p:pic>
        <p:nvPicPr>
          <p:cNvPr id="7" name="Picture 6">
            <a:extLst>
              <a:ext uri="{FF2B5EF4-FFF2-40B4-BE49-F238E27FC236}">
                <a16:creationId xmlns:a16="http://schemas.microsoft.com/office/drawing/2014/main" id="{D9CA182F-F56F-4A05-ADA6-7B22C4751A26}"/>
              </a:ext>
            </a:extLst>
          </p:cNvPr>
          <p:cNvPicPr>
            <a:picLocks noChangeAspect="1"/>
          </p:cNvPicPr>
          <p:nvPr/>
        </p:nvPicPr>
        <p:blipFill>
          <a:blip r:embed="rId2"/>
          <a:stretch>
            <a:fillRect/>
          </a:stretch>
        </p:blipFill>
        <p:spPr>
          <a:xfrm>
            <a:off x="592753" y="1644055"/>
            <a:ext cx="6153992" cy="4446285"/>
          </a:xfrm>
          <a:prstGeom prst="rect">
            <a:avLst/>
          </a:prstGeom>
        </p:spPr>
      </p:pic>
      <p:sp>
        <p:nvSpPr>
          <p:cNvPr id="15" name="Text Placeholder 5">
            <a:extLst>
              <a:ext uri="{FF2B5EF4-FFF2-40B4-BE49-F238E27FC236}">
                <a16:creationId xmlns:a16="http://schemas.microsoft.com/office/drawing/2014/main" id="{367EFD36-7E5F-41EF-8856-AD2F2F38B7F0}"/>
              </a:ext>
            </a:extLst>
          </p:cNvPr>
          <p:cNvSpPr txBox="1">
            <a:spLocks/>
          </p:cNvSpPr>
          <p:nvPr/>
        </p:nvSpPr>
        <p:spPr>
          <a:xfrm>
            <a:off x="6919415" y="2504056"/>
            <a:ext cx="4899547" cy="27262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b="1" i="1" dirty="0" err="1">
                <a:solidFill>
                  <a:prstClr val="black"/>
                </a:solidFill>
                <a:latin typeface="Calibri" panose="020F0502020204030204"/>
                <a:ea typeface="游ゴシック" panose="020B0400000000000000" pitchFamily="34" charset="-128"/>
              </a:rPr>
              <a:t>Iter</a:t>
            </a:r>
            <a:r>
              <a:rPr lang="en-NZ" altLang="ja-JP" sz="1800"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gives the number of iterations required for the stopping rule to be met for each coefficient.</a:t>
            </a:r>
            <a:br>
              <a:rPr lang="en-NZ" altLang="ja-JP" sz="1800" dirty="0">
                <a:solidFill>
                  <a:prstClr val="black"/>
                </a:solidFill>
                <a:latin typeface="Calibri" panose="020F0502020204030204"/>
                <a:ea typeface="游ゴシック" panose="020B0400000000000000" pitchFamily="34" charset="-128"/>
              </a:rPr>
            </a:br>
            <a:endParaRPr lang="en-NZ" altLang="ja-JP" sz="1800" dirty="0">
              <a:solidFill>
                <a:prstClr val="black"/>
              </a:solidFill>
              <a:latin typeface="Calibri" panose="020F0502020204030204"/>
              <a:ea typeface="游ゴシック" panose="020B0400000000000000" pitchFamily="34" charset="-128"/>
            </a:endParaRP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b="1" i="1" dirty="0">
                <a:solidFill>
                  <a:prstClr val="black"/>
                </a:solidFill>
                <a:latin typeface="Calibri" panose="020F0502020204030204"/>
                <a:ea typeface="游ゴシック" panose="020B0400000000000000" pitchFamily="34" charset="-128"/>
              </a:rPr>
              <a:t>P-values</a:t>
            </a:r>
            <a:r>
              <a:rPr lang="en-NZ" altLang="ja-JP" sz="1800" dirty="0">
                <a:solidFill>
                  <a:prstClr val="black"/>
                </a:solidFill>
                <a:latin typeface="Calibri" panose="020F0502020204030204"/>
                <a:ea typeface="游ゴシック" panose="020B0400000000000000" pitchFamily="34" charset="-128"/>
              </a:rPr>
              <a:t> are tested individually for each coefficient to check whether the stopping rule has been met.</a:t>
            </a: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NZ" altLang="ja-JP" sz="1800" dirty="0">
              <a:solidFill>
                <a:prstClr val="black"/>
              </a:solidFill>
              <a:latin typeface="Calibri" panose="020F0502020204030204"/>
              <a:ea typeface="游ゴシック" panose="020B0400000000000000" pitchFamily="34" charset="-128"/>
            </a:endParaRP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Sampling continues until p-values for all coefficients meet the stopping rule</a:t>
            </a:r>
          </a:p>
        </p:txBody>
      </p:sp>
    </p:spTree>
    <p:extLst>
      <p:ext uri="{BB962C8B-B14F-4D97-AF65-F5344CB8AC3E}">
        <p14:creationId xmlns:p14="http://schemas.microsoft.com/office/powerpoint/2010/main" val="7118188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3.6b – Insulation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Insulation Study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D14FA389-D8C7-427F-A65A-D195E32FE910}"/>
              </a:ext>
            </a:extLst>
          </p:cNvPr>
          <p:cNvSpPr txBox="1">
            <a:spLocks/>
          </p:cNvSpPr>
          <p:nvPr/>
        </p:nvSpPr>
        <p:spPr>
          <a:xfrm>
            <a:off x="319463" y="1016303"/>
            <a:ext cx="5235176" cy="4155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Interpreting the </a:t>
            </a:r>
            <a:r>
              <a:rPr lang="en-NZ" altLang="ja-JP" sz="1800" b="1" i="1" dirty="0" err="1">
                <a:solidFill>
                  <a:prstClr val="black"/>
                </a:solidFill>
                <a:latin typeface="Calibri" panose="020F0502020204030204"/>
                <a:ea typeface="游ゴシック" panose="020B0400000000000000" pitchFamily="34" charset="-128"/>
              </a:rPr>
              <a:t>anova</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table:</a:t>
            </a:r>
          </a:p>
        </p:txBody>
      </p:sp>
      <p:sp>
        <p:nvSpPr>
          <p:cNvPr id="15" name="Text Placeholder 5">
            <a:extLst>
              <a:ext uri="{FF2B5EF4-FFF2-40B4-BE49-F238E27FC236}">
                <a16:creationId xmlns:a16="http://schemas.microsoft.com/office/drawing/2014/main" id="{367EFD36-7E5F-41EF-8856-AD2F2F38B7F0}"/>
              </a:ext>
            </a:extLst>
          </p:cNvPr>
          <p:cNvSpPr txBox="1">
            <a:spLocks/>
          </p:cNvSpPr>
          <p:nvPr/>
        </p:nvSpPr>
        <p:spPr>
          <a:xfrm>
            <a:off x="6972990" y="1403374"/>
            <a:ext cx="4899547" cy="441550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b="1" i="1" dirty="0" err="1">
                <a:solidFill>
                  <a:prstClr val="black"/>
                </a:solidFill>
                <a:latin typeface="Calibri" panose="020F0502020204030204"/>
                <a:ea typeface="游ゴシック" panose="020B0400000000000000" pitchFamily="34" charset="-128"/>
              </a:rPr>
              <a:t>Iter</a:t>
            </a:r>
            <a:r>
              <a:rPr lang="en-NZ" altLang="ja-JP" sz="1800"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gives the number of re-ordered samples required for the stopping rule to be met for each factor.</a:t>
            </a:r>
            <a:br>
              <a:rPr lang="en-NZ" altLang="ja-JP" sz="1800" dirty="0">
                <a:solidFill>
                  <a:prstClr val="black"/>
                </a:solidFill>
                <a:latin typeface="Calibri" panose="020F0502020204030204"/>
                <a:ea typeface="游ゴシック" panose="020B0400000000000000" pitchFamily="34" charset="-128"/>
              </a:rPr>
            </a:br>
            <a:endParaRPr lang="en-NZ" altLang="ja-JP" sz="1800" dirty="0">
              <a:solidFill>
                <a:prstClr val="black"/>
              </a:solidFill>
              <a:latin typeface="Calibri" panose="020F0502020204030204"/>
              <a:ea typeface="游ゴシック" panose="020B0400000000000000" pitchFamily="34" charset="-128"/>
            </a:endParaRP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b="1" i="1" dirty="0">
                <a:solidFill>
                  <a:prstClr val="black"/>
                </a:solidFill>
                <a:latin typeface="Calibri" panose="020F0502020204030204"/>
                <a:ea typeface="游ゴシック" panose="020B0400000000000000" pitchFamily="34" charset="-128"/>
              </a:rPr>
              <a:t>P-values</a:t>
            </a:r>
            <a:r>
              <a:rPr lang="en-NZ" altLang="ja-JP" sz="1800" dirty="0">
                <a:solidFill>
                  <a:prstClr val="black"/>
                </a:solidFill>
                <a:latin typeface="Calibri" panose="020F0502020204030204"/>
                <a:ea typeface="游ゴシック" panose="020B0400000000000000" pitchFamily="34" charset="-128"/>
              </a:rPr>
              <a:t> are tested individually for each factor to check whether the stopping rule has been met.</a:t>
            </a: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NZ" altLang="ja-JP" sz="1800" dirty="0">
              <a:solidFill>
                <a:prstClr val="black"/>
              </a:solidFill>
              <a:latin typeface="Calibri" panose="020F0502020204030204"/>
              <a:ea typeface="游ゴシック" panose="020B0400000000000000" pitchFamily="34" charset="-128"/>
            </a:endParaRP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Sampling continues until p-values for all factors meet the stopping rule.</a:t>
            </a: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NZ" altLang="ja-JP" sz="1800" dirty="0">
              <a:solidFill>
                <a:prstClr val="black"/>
              </a:solidFill>
              <a:latin typeface="Calibri" panose="020F0502020204030204"/>
              <a:ea typeface="游ゴシック" panose="020B0400000000000000" pitchFamily="34" charset="-128"/>
            </a:endParaRPr>
          </a:p>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Sums of squares are calculated uniquely. They are equivalent to SAS Type III SS by default.</a:t>
            </a: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F6E96E14-0FFE-4B15-A269-ED5B2232745D}"/>
                  </a:ext>
                </a:extLst>
              </p:cNvPr>
              <p:cNvSpPr txBox="1">
                <a:spLocks/>
              </p:cNvSpPr>
              <p:nvPr/>
            </p:nvSpPr>
            <p:spPr>
              <a:xfrm>
                <a:off x="319463" y="4158328"/>
                <a:ext cx="6168788" cy="2111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defTabSz="914324" rtl="0" eaLnBrk="1" fontAlgn="auto" latinLnBrk="0" hangingPunct="1">
                  <a:lnSpc>
                    <a:spcPct val="100000"/>
                  </a:lnSpc>
                  <a:spcBef>
                    <a:spcPts val="0"/>
                  </a:spcBef>
                  <a:spcAft>
                    <a:spcPts val="0"/>
                  </a:spcAft>
                  <a:buClrTx/>
                  <a:buSzTx/>
                  <a:tabLst/>
                  <a:defRPr/>
                </a:pPr>
                <a:r>
                  <a:rPr lang="en-NZ" altLang="ja-JP" sz="1800" b="1" u="sng" dirty="0">
                    <a:solidFill>
                      <a:schemeClr val="tx1"/>
                    </a:solidFill>
                    <a:latin typeface="Calibri" panose="020F0502020204030204"/>
                    <a:ea typeface="游ゴシック" panose="020B0400000000000000" pitchFamily="34" charset="-128"/>
                  </a:rPr>
                  <a:t>Conclusion: </a:t>
                </a:r>
              </a:p>
              <a:p>
                <a:pPr marR="0" lvl="0" defTabSz="914324" rtl="0" eaLnBrk="1" fontAlgn="auto" latinLnBrk="0" hangingPunct="1">
                  <a:lnSpc>
                    <a:spcPct val="100000"/>
                  </a:lnSpc>
                  <a:spcBef>
                    <a:spcPts val="0"/>
                  </a:spcBef>
                  <a:spcAft>
                    <a:spcPts val="0"/>
                  </a:spcAft>
                  <a:buClrTx/>
                  <a:buSzTx/>
                  <a:tabLst/>
                  <a:defRPr/>
                </a:pPr>
                <a:endParaRPr lang="en-NZ" altLang="ja-JP" sz="800" b="1" u="sng" dirty="0">
                  <a:solidFill>
                    <a:prstClr val="black"/>
                  </a:solidFill>
                  <a:latin typeface="Calibri" panose="020F0502020204030204"/>
                  <a:ea typeface="游ゴシック" panose="020B0400000000000000" pitchFamily="34" charset="-128"/>
                </a:endParaRPr>
              </a:p>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Permutation test provides very strong evidence for interaction between Lot and Cut.</a:t>
                </a:r>
                <a:br>
                  <a:rPr lang="en-NZ" altLang="ja-JP" sz="1800" dirty="0">
                    <a:solidFill>
                      <a:prstClr val="black"/>
                    </a:solidFill>
                    <a:latin typeface="Calibri" panose="020F0502020204030204"/>
                    <a:ea typeface="游ゴシック" panose="020B0400000000000000" pitchFamily="34" charset="-128"/>
                  </a:rPr>
                </a:br>
                <a14:m>
                  <m:oMathPara xmlns:m="http://schemas.openxmlformats.org/officeDocument/2006/math">
                    <m:oMathParaPr>
                      <m:jc m:val="left"/>
                    </m:oMathParaPr>
                    <m:oMath xmlns:m="http://schemas.openxmlformats.org/officeDocument/2006/math">
                      <m:r>
                        <a:rPr lang="en-NZ" altLang="ja-JP" sz="1800" b="0" i="1" smtClean="0">
                          <a:solidFill>
                            <a:srgbClr val="FF0000"/>
                          </a:solidFill>
                          <a:latin typeface="Cambria Math" panose="02040503050406030204" pitchFamily="18" charset="0"/>
                          <a:ea typeface="游ゴシック" panose="020B0400000000000000" pitchFamily="34" charset="-128"/>
                        </a:rPr>
                        <m:t>𝑝</m:t>
                      </m:r>
                      <m:r>
                        <a:rPr lang="en-NZ" altLang="ja-JP" sz="1800" b="0" i="1" smtClean="0">
                          <a:solidFill>
                            <a:srgbClr val="FF0000"/>
                          </a:solidFill>
                          <a:latin typeface="Cambria Math" panose="02040503050406030204" pitchFamily="18" charset="0"/>
                          <a:ea typeface="游ゴシック" panose="020B0400000000000000" pitchFamily="34" charset="-128"/>
                        </a:rPr>
                        <m:t>=0.0064</m:t>
                      </m:r>
                    </m:oMath>
                  </m:oMathPara>
                </a14:m>
                <a:endParaRPr lang="en-NZ" altLang="ja-JP" sz="1800" dirty="0">
                  <a:solidFill>
                    <a:srgbClr val="FF0000"/>
                  </a:solidFill>
                  <a:latin typeface="Calibri" panose="020F0502020204030204"/>
                  <a:ea typeface="游ゴシック" panose="020B0400000000000000" pitchFamily="34" charset="-128"/>
                </a:endParaRPr>
              </a:p>
              <a:p>
                <a:pPr marR="0" lvl="0" defTabSz="914324" rtl="0" eaLnBrk="1" fontAlgn="auto" latinLnBrk="0" hangingPunct="1">
                  <a:lnSpc>
                    <a:spcPct val="100000"/>
                  </a:lnSpc>
                  <a:spcBef>
                    <a:spcPts val="0"/>
                  </a:spcBef>
                  <a:spcAft>
                    <a:spcPts val="0"/>
                  </a:spcAft>
                  <a:buClrTx/>
                  <a:buSzTx/>
                  <a:tabLst/>
                  <a:defRPr/>
                </a:pPr>
                <a:endParaRPr lang="en-NZ" altLang="ja-JP" sz="1800" dirty="0">
                  <a:solidFill>
                    <a:prstClr val="black"/>
                  </a:solidFill>
                  <a:latin typeface="Calibri" panose="020F0502020204030204"/>
                  <a:ea typeface="游ゴシック" panose="020B0400000000000000" pitchFamily="34" charset="-128"/>
                </a:endParaRPr>
              </a:p>
              <a:p>
                <a:pPr marR="0" lvl="0" defTabSz="914324" rtl="0" eaLnBrk="1" fontAlgn="auto" latinLnBrk="0" hangingPunct="1">
                  <a:lnSpc>
                    <a:spcPct val="100000"/>
                  </a:lnSpc>
                  <a:spcBef>
                    <a:spcPts val="0"/>
                  </a:spcBef>
                  <a:spcAft>
                    <a:spcPts val="0"/>
                  </a:spcAft>
                  <a:buClrTx/>
                  <a:buSzTx/>
                  <a:tabLst/>
                  <a:defRPr/>
                </a:pPr>
                <a:r>
                  <a:rPr lang="en-NZ" altLang="ja-JP" sz="1800" dirty="0">
                    <a:solidFill>
                      <a:prstClr val="black"/>
                    </a:solidFill>
                    <a:latin typeface="Calibri" panose="020F0502020204030204"/>
                    <a:ea typeface="游ゴシック" panose="020B0400000000000000" pitchFamily="34" charset="-128"/>
                  </a:rPr>
                  <a:t>=&gt; Lot and Cut are too strongly intertwined for their effects on the response variable to be assessed separately.</a:t>
                </a:r>
              </a:p>
            </p:txBody>
          </p:sp>
        </mc:Choice>
        <mc:Fallback xmlns="">
          <p:sp>
            <p:nvSpPr>
              <p:cNvPr id="10" name="Text Placeholder 5">
                <a:extLst>
                  <a:ext uri="{FF2B5EF4-FFF2-40B4-BE49-F238E27FC236}">
                    <a16:creationId xmlns:a16="http://schemas.microsoft.com/office/drawing/2014/main" id="{F6E96E14-0FFE-4B15-A269-ED5B2232745D}"/>
                  </a:ext>
                </a:extLst>
              </p:cNvPr>
              <p:cNvSpPr txBox="1">
                <a:spLocks noRot="1" noChangeAspect="1" noMove="1" noResize="1" noEditPoints="1" noAdjustHandles="1" noChangeArrowheads="1" noChangeShapeType="1" noTextEdit="1"/>
              </p:cNvSpPr>
              <p:nvPr/>
            </p:nvSpPr>
            <p:spPr>
              <a:xfrm>
                <a:off x="319463" y="4158328"/>
                <a:ext cx="6168788" cy="2111233"/>
              </a:xfrm>
              <a:prstGeom prst="rect">
                <a:avLst/>
              </a:prstGeom>
              <a:blipFill>
                <a:blip r:embed="rId2"/>
                <a:stretch>
                  <a:fillRect l="-791" t="-1445" b="-5780"/>
                </a:stretch>
              </a:blipFill>
            </p:spPr>
            <p:txBody>
              <a:bodyPr/>
              <a:lstStyle/>
              <a:p>
                <a:r>
                  <a:rPr lang="en-NZ">
                    <a:noFill/>
                  </a:rPr>
                  <a:t> </a:t>
                </a:r>
              </a:p>
            </p:txBody>
          </p:sp>
        </mc:Fallback>
      </mc:AlternateContent>
      <p:pic>
        <p:nvPicPr>
          <p:cNvPr id="9" name="Picture 8">
            <a:extLst>
              <a:ext uri="{FF2B5EF4-FFF2-40B4-BE49-F238E27FC236}">
                <a16:creationId xmlns:a16="http://schemas.microsoft.com/office/drawing/2014/main" id="{84A5097A-BFA2-4B93-A111-DD1FD00AF6B0}"/>
              </a:ext>
            </a:extLst>
          </p:cNvPr>
          <p:cNvPicPr>
            <a:picLocks noChangeAspect="1"/>
          </p:cNvPicPr>
          <p:nvPr/>
        </p:nvPicPr>
        <p:blipFill>
          <a:blip r:embed="rId3"/>
          <a:stretch>
            <a:fillRect/>
          </a:stretch>
        </p:blipFill>
        <p:spPr>
          <a:xfrm>
            <a:off x="319463" y="1644055"/>
            <a:ext cx="5867353" cy="2259205"/>
          </a:xfrm>
          <a:prstGeom prst="rect">
            <a:avLst/>
          </a:prstGeom>
        </p:spPr>
      </p:pic>
    </p:spTree>
    <p:extLst>
      <p:ext uri="{BB962C8B-B14F-4D97-AF65-F5344CB8AC3E}">
        <p14:creationId xmlns:p14="http://schemas.microsoft.com/office/powerpoint/2010/main" val="90876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63AF7B5E-FC29-48EE-AFEE-D0DFB9221250}"/>
              </a:ext>
            </a:extLst>
          </p:cNvPr>
          <p:cNvSpPr txBox="1">
            <a:spLocks/>
          </p:cNvSpPr>
          <p:nvPr/>
        </p:nvSpPr>
        <p:spPr>
          <a:xfrm>
            <a:off x="319463" y="196889"/>
            <a:ext cx="864711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3.6c – Drug Study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 name="Footer Placeholder 2">
            <a:extLst>
              <a:ext uri="{FF2B5EF4-FFF2-40B4-BE49-F238E27FC236}">
                <a16:creationId xmlns:a16="http://schemas.microsoft.com/office/drawing/2014/main" id="{E14D1B3B-2CB4-43B3-992A-DD6F7F58DBA6}"/>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3.6</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 – Two Way ANOVA with </a:t>
            </a:r>
            <a:r>
              <a:rPr kumimoji="1" lang="en-US" altLang="ja-JP" sz="1600" b="0" i="0" u="none" strike="noStrike" kern="1200" cap="none" spc="0" normalizeH="0" baseline="0" noProof="0" dirty="0" err="1">
                <a:ln>
                  <a:noFill/>
                </a:ln>
                <a:solidFill>
                  <a:srgbClr val="DEDDDD"/>
                </a:solidFill>
                <a:effectLst/>
                <a:uLnTx/>
                <a:uFillTx/>
                <a:latin typeface="Gidole"/>
                <a:ea typeface="游ゴシック" panose="020B0400000000000000" pitchFamily="34" charset="-128"/>
                <a:cs typeface="+mn-cs"/>
              </a:rPr>
              <a:t>lmPerm</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DF9C6DA-E636-4EF8-8E33-DB3E130F1D3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3.6 - Drug Study Example (Two Way ANOVA with </a:t>
            </a:r>
            <a:r>
              <a:rPr kumimoji="1" lang="en-NZ" altLang="ja-JP" sz="1200" b="0"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5" name="Text Placeholder 5">
            <a:extLst>
              <a:ext uri="{FF2B5EF4-FFF2-40B4-BE49-F238E27FC236}">
                <a16:creationId xmlns:a16="http://schemas.microsoft.com/office/drawing/2014/main" id="{7B3223F7-87B7-4C4E-81CF-8BC058228DC0}"/>
              </a:ext>
            </a:extLst>
          </p:cNvPr>
          <p:cNvSpPr txBox="1">
            <a:spLocks/>
          </p:cNvSpPr>
          <p:nvPr/>
        </p:nvSpPr>
        <p:spPr>
          <a:xfrm>
            <a:off x="625523" y="856806"/>
            <a:ext cx="10931856" cy="18045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Researchers are interested in determining whether…</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	</a:t>
            </a:r>
            <a:r>
              <a:rPr kumimoji="1" lang="en-NZ" altLang="ja-JP" sz="1800" b="0"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i</a:t>
            </a: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Genotype (AA, Aa, aa)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	</a:t>
            </a: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ii. Two different prescription drugs (A and B)</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…have an effect on the level of chemical X within the blood streams of patients. An unbalanced sample of data has been taken showing the concentration of chemical X within the blood two hours after taking a standard dose of Drug A or Drug B for people of each genotype. This data is available in the csv entitled 'Drug Study’.</a:t>
            </a:r>
            <a:endParaRPr kumimoji="1" lang="en-US"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5375945A-B703-4EB8-8139-8CFFE7DEFE5C}"/>
              </a:ext>
            </a:extLst>
          </p:cNvPr>
          <p:cNvSpPr txBox="1">
            <a:spLocks/>
          </p:cNvSpPr>
          <p:nvPr/>
        </p:nvSpPr>
        <p:spPr>
          <a:xfrm>
            <a:off x="945201" y="4383207"/>
            <a:ext cx="2226859" cy="7958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Factor A -&gt; Genotype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tx1"/>
                </a:solidFill>
                <a:latin typeface="Calibri" panose="020F0502020204030204"/>
                <a:ea typeface="游ゴシック" panose="020B0400000000000000" pitchFamily="34" charset="-128"/>
              </a:rPr>
              <a:t>3 Levels (AA, Aa, aa)</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75CDC0D5-4929-499A-847D-566CAEC3E69D}"/>
              </a:ext>
            </a:extLst>
          </p:cNvPr>
          <p:cNvSpPr txBox="1">
            <a:spLocks/>
          </p:cNvSpPr>
          <p:nvPr/>
        </p:nvSpPr>
        <p:spPr>
          <a:xfrm>
            <a:off x="4600433" y="4379931"/>
            <a:ext cx="2991134" cy="7958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Factor B -&gt; Drug</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tx1"/>
                </a:solidFill>
                <a:latin typeface="Calibri" panose="020F0502020204030204"/>
                <a:ea typeface="游ゴシック" panose="020B0400000000000000" pitchFamily="34" charset="-128"/>
              </a:rPr>
              <a:t>2 Levels (A, B)</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33F27584-FCD2-4A2B-AFAF-D469FD870FA1}"/>
              </a:ext>
            </a:extLst>
          </p:cNvPr>
          <p:cNvSpPr txBox="1">
            <a:spLocks/>
          </p:cNvSpPr>
          <p:nvPr/>
        </p:nvSpPr>
        <p:spPr>
          <a:xfrm>
            <a:off x="8469481" y="4344883"/>
            <a:ext cx="2777318" cy="7958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6 Cells with unequal #  </a:t>
            </a:r>
            <a:r>
              <a:rPr kumimoji="1" lang="en-NZ" altLang="ja-JP" sz="1800" b="0" i="0"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Obs</a:t>
            </a:r>
            <a:endParaRPr kumimoji="1" lang="en-NZ" altLang="ja-JP" sz="18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chemeClr val="tx1"/>
                </a:solidFill>
                <a:latin typeface="Calibri" panose="020F0502020204030204"/>
                <a:ea typeface="游ゴシック" panose="020B0400000000000000" pitchFamily="34" charset="-128"/>
              </a:rPr>
              <a:t>=&gt; Unbalanced Design</a:t>
            </a:r>
            <a:endParaRPr kumimoji="1" lang="en-US"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AA3A2871-BC68-4DBA-A880-DDC37BF77831}"/>
              </a:ext>
            </a:extLst>
          </p:cNvPr>
          <p:cNvSpPr txBox="1">
            <a:spLocks/>
          </p:cNvSpPr>
          <p:nvPr/>
        </p:nvSpPr>
        <p:spPr>
          <a:xfrm>
            <a:off x="625523" y="5256495"/>
            <a:ext cx="11097904" cy="105733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The sample size in each cell is small.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b="1" dirty="0">
                <a:solidFill>
                  <a:schemeClr val="tx1"/>
                </a:solidFill>
                <a:latin typeface="Calibri" panose="020F0502020204030204"/>
                <a:ea typeface="游ゴシック" panose="020B0400000000000000" pitchFamily="34" charset="-128"/>
              </a:rPr>
              <a:t>=&gt; I</a:t>
            </a: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t will be difficult to determine whether the ANOVA conditions hold.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000" b="1" dirty="0">
                <a:solidFill>
                  <a:schemeClr val="tx1"/>
                </a:solidFill>
                <a:latin typeface="Calibri" panose="020F0502020204030204"/>
                <a:ea typeface="游ゴシック" panose="020B0400000000000000" pitchFamily="34" charset="-128"/>
              </a:rPr>
              <a:t>Two-Way ANOVA must be supported with a permutation test</a:t>
            </a:r>
            <a:endParaRPr kumimoji="1" lang="en-US" altLang="ja-JP" sz="20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graphicFrame>
        <p:nvGraphicFramePr>
          <p:cNvPr id="11" name="Table 10">
            <a:extLst>
              <a:ext uri="{FF2B5EF4-FFF2-40B4-BE49-F238E27FC236}">
                <a16:creationId xmlns:a16="http://schemas.microsoft.com/office/drawing/2014/main" id="{FB848BD9-86F4-4A57-A250-AB3035DA04D3}"/>
              </a:ext>
            </a:extLst>
          </p:cNvPr>
          <p:cNvGraphicFramePr>
            <a:graphicFrameLocks noGrp="1"/>
          </p:cNvGraphicFramePr>
          <p:nvPr>
            <p:extLst>
              <p:ext uri="{D42A27DB-BD31-4B8C-83A1-F6EECF244321}">
                <p14:modId xmlns:p14="http://schemas.microsoft.com/office/powerpoint/2010/main" val="1541793531"/>
              </p:ext>
            </p:extLst>
          </p:nvPr>
        </p:nvGraphicFramePr>
        <p:xfrm>
          <a:off x="3111688" y="2785797"/>
          <a:ext cx="5968624" cy="1434602"/>
        </p:xfrm>
        <a:graphic>
          <a:graphicData uri="http://schemas.openxmlformats.org/drawingml/2006/table">
            <a:tbl>
              <a:tblPr/>
              <a:tblGrid>
                <a:gridCol w="1492156">
                  <a:extLst>
                    <a:ext uri="{9D8B030D-6E8A-4147-A177-3AD203B41FA5}">
                      <a16:colId xmlns:a16="http://schemas.microsoft.com/office/drawing/2014/main" val="2096338109"/>
                    </a:ext>
                  </a:extLst>
                </a:gridCol>
                <a:gridCol w="1492156">
                  <a:extLst>
                    <a:ext uri="{9D8B030D-6E8A-4147-A177-3AD203B41FA5}">
                      <a16:colId xmlns:a16="http://schemas.microsoft.com/office/drawing/2014/main" val="2684607110"/>
                    </a:ext>
                  </a:extLst>
                </a:gridCol>
                <a:gridCol w="1492156">
                  <a:extLst>
                    <a:ext uri="{9D8B030D-6E8A-4147-A177-3AD203B41FA5}">
                      <a16:colId xmlns:a16="http://schemas.microsoft.com/office/drawing/2014/main" val="3096380320"/>
                    </a:ext>
                  </a:extLst>
                </a:gridCol>
                <a:gridCol w="1492156">
                  <a:extLst>
                    <a:ext uri="{9D8B030D-6E8A-4147-A177-3AD203B41FA5}">
                      <a16:colId xmlns:a16="http://schemas.microsoft.com/office/drawing/2014/main" val="3961303757"/>
                    </a:ext>
                  </a:extLst>
                </a:gridCol>
              </a:tblGrid>
              <a:tr h="286920">
                <a:tc>
                  <a:txBody>
                    <a:bodyPr/>
                    <a:lstStyle/>
                    <a:p>
                      <a:pPr algn="ctr" fontAlgn="ctr"/>
                      <a:r>
                        <a:rPr lang="en-NZ" sz="1600" b="1" i="0" u="none" strike="noStrike" dirty="0">
                          <a:solidFill>
                            <a:srgbClr val="FFFFFF"/>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dirty="0">
                          <a:solidFill>
                            <a:srgbClr val="FFFFFF"/>
                          </a:solidFill>
                          <a:effectLst/>
                          <a:latin typeface="Calibri" panose="020F0502020204030204" pitchFamily="34" charset="0"/>
                        </a:rPr>
                        <a:t>Genotype AA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Genotype Aa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Genotype aa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4173985857"/>
                  </a:ext>
                </a:extLst>
              </a:tr>
              <a:tr h="573841">
                <a:tc>
                  <a:txBody>
                    <a:bodyPr/>
                    <a:lstStyle/>
                    <a:p>
                      <a:pPr algn="ctr" fontAlgn="ctr"/>
                      <a:r>
                        <a:rPr lang="en-NZ" sz="1600" b="1" i="0" u="none" strike="noStrike" dirty="0">
                          <a:solidFill>
                            <a:srgbClr val="FFFFFF"/>
                          </a:solidFill>
                          <a:effectLst/>
                          <a:latin typeface="Calibri" panose="020F0502020204030204" pitchFamily="34" charset="0"/>
                        </a:rPr>
                        <a:t>Drug 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13, 7, 5, 9,</a:t>
                      </a:r>
                      <a:br>
                        <a:rPr lang="en-NZ" sz="1600" b="0" i="0" u="none" strike="noStrike" dirty="0">
                          <a:solidFill>
                            <a:srgbClr val="000000"/>
                          </a:solidFill>
                          <a:effectLst/>
                          <a:latin typeface="Calibri" panose="020F0502020204030204" pitchFamily="34" charset="0"/>
                        </a:rPr>
                      </a:br>
                      <a:r>
                        <a:rPr lang="en-NZ" sz="1600" b="0" i="0" u="none" strike="noStrike" dirty="0">
                          <a:solidFill>
                            <a:srgbClr val="000000"/>
                          </a:solidFill>
                          <a:effectLst/>
                          <a:latin typeface="Calibri" panose="020F0502020204030204" pitchFamily="34" charset="0"/>
                        </a:rPr>
                        <a:t>12, 10, 5, 9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11, 12, 9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51813750"/>
                  </a:ext>
                </a:extLst>
              </a:tr>
              <a:tr h="573841">
                <a:tc>
                  <a:txBody>
                    <a:bodyPr/>
                    <a:lstStyle/>
                    <a:p>
                      <a:pPr algn="ctr" fontAlgn="ctr"/>
                      <a:r>
                        <a:rPr lang="en-NZ" sz="1600" b="1" i="0" u="none" strike="noStrike">
                          <a:solidFill>
                            <a:srgbClr val="FFFFFF"/>
                          </a:solidFill>
                          <a:effectLst/>
                          <a:latin typeface="Calibri" panose="020F0502020204030204" pitchFamily="34" charset="0"/>
                        </a:rPr>
                        <a:t>Drug 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6, 8, 9, 12,</a:t>
                      </a:r>
                      <a:br>
                        <a:rPr lang="en-NZ" sz="1600" b="0" i="0" u="none" strike="noStrike">
                          <a:solidFill>
                            <a:srgbClr val="000000"/>
                          </a:solidFill>
                          <a:effectLst/>
                          <a:latin typeface="Calibri" panose="020F0502020204030204" pitchFamily="34" charset="0"/>
                        </a:rPr>
                      </a:br>
                      <a:r>
                        <a:rPr lang="en-NZ" sz="1600" b="0" i="0" u="none" strike="noStrike">
                          <a:solidFill>
                            <a:srgbClr val="000000"/>
                          </a:solidFill>
                          <a:effectLst/>
                          <a:latin typeface="Calibri" panose="020F0502020204030204" pitchFamily="34" charset="0"/>
                        </a:rPr>
                        <a:t>9, 5, 10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13, 9, 9, 12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8332202"/>
                  </a:ext>
                </a:extLst>
              </a:tr>
            </a:tbl>
          </a:graphicData>
        </a:graphic>
      </p:graphicFrame>
    </p:spTree>
    <p:extLst>
      <p:ext uri="{BB962C8B-B14F-4D97-AF65-F5344CB8AC3E}">
        <p14:creationId xmlns:p14="http://schemas.microsoft.com/office/powerpoint/2010/main" val="46673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4249</TotalTime>
  <Words>9494</Words>
  <Application>Microsoft Office PowerPoint</Application>
  <PresentationFormat>Widescreen</PresentationFormat>
  <Paragraphs>1719</Paragraphs>
  <Slides>68</Slides>
  <Notes>0</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Calibri</vt:lpstr>
      <vt:lpstr>Calibri Light</vt:lpstr>
      <vt:lpstr>Cambria Math</vt:lpstr>
      <vt:lpstr>Coo Hew</vt:lpstr>
      <vt:lpstr>Gidole</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47</cp:revision>
  <dcterms:created xsi:type="dcterms:W3CDTF">2022-04-25T00:02:59Z</dcterms:created>
  <dcterms:modified xsi:type="dcterms:W3CDTF">2022-08-21T02:25:47Z</dcterms:modified>
</cp:coreProperties>
</file>