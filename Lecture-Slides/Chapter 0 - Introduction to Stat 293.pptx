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262" r:id="rId7"/>
    <p:sldId id="260" r:id="rId8"/>
    <p:sldId id="259" r:id="rId9"/>
    <p:sldId id="261" r:id="rId10"/>
    <p:sldId id="263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E317D-B4B3-49FF-A581-52DA3797B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D1B94-82C5-46E5-9EE1-28AB8A7330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E43B2-B15D-4099-8746-DD99E50DB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5FC5E-0CE5-4FB9-9BB4-ECE697CDD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7D2AF-5F8C-4771-98FC-EF00D7715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8445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383CE-5E9A-473E-8F92-32291246D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230B0-AC0C-4B6E-A4F5-4FAC675DD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AEB70-DC6E-4EE4-ABDB-D9F4B1250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9991B-0CBC-41B9-80F8-8DEAEE723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DD3A1-1FE1-4787-A35A-C16B93D6A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43992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14EA0-3971-4A70-AC19-921C78D90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2611F5-0784-4CBC-8768-D25827C13B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B5F23-A571-41AA-B1EC-A876E11F8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AC112F-CDEB-4D92-ADE3-86AB8B719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C8463-30EC-4EEA-A19B-D84CED32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690601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969F9-639E-4E86-B905-361A7203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E7B1BF-80D7-4904-ACB2-42BD379AA3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29B174-563E-4F48-B5C9-95A627200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1DC02-87F0-4A1D-814B-64EFA7C0B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48FCFA-D637-43EC-A9A3-E70338057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4529AD-9E9D-4052-B7D9-D0ABBD46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271835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1600E-542F-4FAC-AAB5-8EC98DEDC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A7919A-1454-4109-8BB4-8CC19322D2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D27C1-A966-4D82-8362-CDDD918F2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0123ED-5724-478B-AD91-AB6F0B8609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48748A-2608-4871-83D6-9304E2F0E5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AE35C4-EDAF-4BD6-9BFC-1EA10B4AD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FD6A4F-56CD-4B0A-B844-E166B4526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330B7D-9487-4FC0-9C56-2353E1DE7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60082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5C3C4-2906-41C1-88A2-141162399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00F41E-FA6F-4E2A-82C4-91AA30005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F7A56E-0DBD-4EA3-8EDD-71A7BE87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5D2D90-D199-4D9E-8339-CDC5C773A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1906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515A83-8386-4308-93A9-38AC8CB47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A18E28-C4E7-438B-8852-AAC55079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89BCA-AF1F-4251-9148-6DC5AFDAD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89886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047F-40DD-4BDF-9001-58E69C283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02E97F-46A8-4EA1-BCDC-A7C11AC8A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3CF31-99FA-4CD7-88D6-06ACA4199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009333-1C32-4955-A275-956BBBC46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C1F9E-9626-4A35-A52E-454BC798D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12061-68AF-49E0-BFE2-B0BDDAE2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38086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44005-25DC-4DE2-9B63-AFDA0D59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A3A2AC-6C82-44DD-87D0-DA52CB41B2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F6E4F4-5787-4725-861E-C195BB844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02CCB-120B-4DD2-94BC-7891091C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6A5B3-8827-476F-8183-918928FCD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3B3C-10A8-4EA5-B6F7-D5CCA0B99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499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FF9CB-509B-46B8-B7D2-F360A55F5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F0ECD0-22A1-406D-8DC1-17433E09BB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CFA5C-D24C-41B7-94F5-D416A1233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57DE0-7248-42FF-9572-C708D27A7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FB283-1E90-4BE8-911F-1C7EFE65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96164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FE2739-245C-4111-A3C2-73970E9127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012DF-D28D-4996-81BE-C8A9519B4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3C28B-C11D-4ED0-8304-E677041EB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24285-CE19-4637-BFEA-02DA1668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82C048-E851-4CE1-8616-62FDD148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780827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5A7951-8353-4D37-9B17-202BEBF3FE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6BFE0-9436-4E6B-AF5B-C732AEE49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4AF23-4F70-4BD2-943B-70BE8CCE5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A4C4C-8F90-4540-BA9B-F7C8969CE244}" type="datetimeFigureOut">
              <a:rPr lang="en-NZ" smtClean="0"/>
              <a:t>9/07/2022</a:t>
            </a:fld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99E8B-B066-44AE-9836-C6C32D09A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5CC73-3019-45C0-9430-8C08AD9C2C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492C7C-3FC3-4F92-9C7C-A099A49FCCC9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974031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okuthaba.sibanda@vuw.ac.nz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wlwNRbaKMI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studio.cloud/learn/primers" TargetMode="External"/><Relationship Id="rId5" Type="http://schemas.openxmlformats.org/officeDocument/2006/relationships/hyperlink" Target="https://education.rstudio.com/learn/beginner/" TargetMode="External"/><Relationship Id="rId4" Type="http://schemas.openxmlformats.org/officeDocument/2006/relationships/hyperlink" Target="https://www.youtube.com/watch?v=eD07NznguA4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uwsa.org.nz/class-representatives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ofRy3oIoXD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" name="Rectangle 70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" name="Rectangle 72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1" name="Rectangle 74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" name="Rectangle 7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Programmes and courses | Study at Wellington | Victoria University of  Wellington">
            <a:extLst>
              <a:ext uri="{FF2B5EF4-FFF2-40B4-BE49-F238E27FC236}">
                <a16:creationId xmlns:a16="http://schemas.microsoft.com/office/drawing/2014/main" id="{087F352A-9067-4A20-840B-9F57464891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" r="1" b="1"/>
          <a:stretch/>
        </p:blipFill>
        <p:spPr bwMode="auto">
          <a:xfrm>
            <a:off x="457200" y="457200"/>
            <a:ext cx="11277600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6EF4C4-5CC1-4D9D-A4EE-9A6C2CC6D81C}"/>
              </a:ext>
            </a:extLst>
          </p:cNvPr>
          <p:cNvSpPr txBox="1"/>
          <p:nvPr/>
        </p:nvSpPr>
        <p:spPr>
          <a:xfrm>
            <a:off x="3858329" y="913501"/>
            <a:ext cx="69234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3500" b="1" u="sng" dirty="0">
                <a:solidFill>
                  <a:schemeClr val="bg1"/>
                </a:solidFill>
              </a:rPr>
              <a:t>STATS 293 </a:t>
            </a:r>
            <a:br>
              <a:rPr lang="en-NZ" sz="3500" b="1" dirty="0">
                <a:solidFill>
                  <a:schemeClr val="bg1"/>
                </a:solidFill>
              </a:rPr>
            </a:br>
            <a:r>
              <a:rPr lang="en-NZ" sz="3500" dirty="0">
                <a:solidFill>
                  <a:schemeClr val="bg1"/>
                </a:solidFill>
              </a:rPr>
              <a:t>Applied Statistics with 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E15834-4C1C-48A4-9F77-1A195C7F3F70}"/>
              </a:ext>
            </a:extLst>
          </p:cNvPr>
          <p:cNvSpPr txBox="1"/>
          <p:nvPr/>
        </p:nvSpPr>
        <p:spPr>
          <a:xfrm>
            <a:off x="4038600" y="4646474"/>
            <a:ext cx="69234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Chapter 0 – Introduction to Stat 293</a:t>
            </a:r>
          </a:p>
        </p:txBody>
      </p:sp>
    </p:spTree>
    <p:extLst>
      <p:ext uri="{BB962C8B-B14F-4D97-AF65-F5344CB8AC3E}">
        <p14:creationId xmlns:p14="http://schemas.microsoft.com/office/powerpoint/2010/main" val="247786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2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What is Stat 293 All About?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223929" y="859474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Stat 293 gives a more advanced presentation of statistical methods appropriate for applications in the biological &amp; social sciences. Illustrative examples throughout the course make use of </a:t>
            </a:r>
            <a:r>
              <a:rPr lang="en-NZ" altLang="ja-JP" sz="1800" b="1" i="1" dirty="0">
                <a:solidFill>
                  <a:srgbClr val="002060"/>
                </a:solidFill>
              </a:rPr>
              <a:t>R</a:t>
            </a:r>
            <a:r>
              <a:rPr lang="en-NZ" altLang="ja-JP" sz="1800" dirty="0">
                <a:solidFill>
                  <a:schemeClr val="tx1"/>
                </a:solidFill>
              </a:rPr>
              <a:t>. The course is split into two parts:</a:t>
            </a:r>
            <a:endParaRPr lang="en-US" altLang="ja-JP" sz="1800" b="1" i="1" dirty="0">
              <a:solidFill>
                <a:schemeClr val="tx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31B613B-387F-D621-8627-21EF3FED6790}"/>
              </a:ext>
            </a:extLst>
          </p:cNvPr>
          <p:cNvSpPr txBox="1">
            <a:spLocks/>
          </p:cNvSpPr>
          <p:nvPr/>
        </p:nvSpPr>
        <p:spPr>
          <a:xfrm>
            <a:off x="223929" y="2233553"/>
            <a:ext cx="5726495" cy="281611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1 </a:t>
            </a:r>
            <a:r>
              <a:rPr lang="en-NZ" altLang="ja-JP" sz="1800" dirty="0">
                <a:solidFill>
                  <a:schemeClr val="tx1"/>
                </a:solidFill>
              </a:rPr>
              <a:t>– Notation &amp; Expectation Algebra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2 </a:t>
            </a:r>
            <a:r>
              <a:rPr lang="en-NZ" altLang="ja-JP" sz="1800" dirty="0">
                <a:solidFill>
                  <a:schemeClr val="tx1"/>
                </a:solidFill>
              </a:rPr>
              <a:t>– One-Way ANOVA (Theory &amp; Model Fitting)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3 </a:t>
            </a:r>
            <a:r>
              <a:rPr lang="en-NZ" altLang="ja-JP" sz="1800" dirty="0">
                <a:solidFill>
                  <a:schemeClr val="tx1"/>
                </a:solidFill>
              </a:rPr>
              <a:t>– Permutation Testing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4 </a:t>
            </a:r>
            <a:r>
              <a:rPr lang="en-NZ" altLang="ja-JP" sz="1800" dirty="0">
                <a:solidFill>
                  <a:schemeClr val="tx1"/>
                </a:solidFill>
              </a:rPr>
              <a:t>– Randomised Block Designs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5 </a:t>
            </a:r>
            <a:r>
              <a:rPr lang="en-NZ" altLang="ja-JP" sz="1800" dirty="0">
                <a:solidFill>
                  <a:schemeClr val="tx1"/>
                </a:solidFill>
              </a:rPr>
              <a:t>– Nested Designs</a:t>
            </a:r>
            <a:endParaRPr lang="en-US" altLang="ja-JP" sz="1800" dirty="0">
              <a:solidFill>
                <a:schemeClr val="tx1"/>
              </a:solidFill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5F99E02-B7F4-BABA-A61F-D03A1F0F88F8}"/>
              </a:ext>
            </a:extLst>
          </p:cNvPr>
          <p:cNvSpPr txBox="1">
            <a:spLocks/>
          </p:cNvSpPr>
          <p:nvPr/>
        </p:nvSpPr>
        <p:spPr>
          <a:xfrm>
            <a:off x="6241576" y="2233554"/>
            <a:ext cx="5726495" cy="28161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6 </a:t>
            </a:r>
            <a:r>
              <a:rPr lang="en-NZ" altLang="ja-JP" sz="1800" dirty="0">
                <a:solidFill>
                  <a:schemeClr val="tx1"/>
                </a:solidFill>
              </a:rPr>
              <a:t>– Multiple Linear Regression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7 </a:t>
            </a:r>
            <a:r>
              <a:rPr lang="en-NZ" altLang="ja-JP" sz="1800" dirty="0">
                <a:solidFill>
                  <a:schemeClr val="tx1"/>
                </a:solidFill>
              </a:rPr>
              <a:t>– Regression Diagnostics &amp; Model Selection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8 </a:t>
            </a:r>
            <a:r>
              <a:rPr lang="en-NZ" altLang="ja-JP" sz="1800" dirty="0">
                <a:solidFill>
                  <a:schemeClr val="tx1"/>
                </a:solidFill>
              </a:rPr>
              <a:t>– Introduction to Generalised Linear Models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1800" b="1" dirty="0">
                <a:solidFill>
                  <a:schemeClr val="tx1"/>
                </a:solidFill>
              </a:rPr>
              <a:t>Chapter 9 </a:t>
            </a:r>
            <a:r>
              <a:rPr lang="en-NZ" altLang="ja-JP" sz="1800" dirty="0">
                <a:solidFill>
                  <a:schemeClr val="tx1"/>
                </a:solidFill>
              </a:rPr>
              <a:t>– Modelling Count Data</a:t>
            </a:r>
            <a:br>
              <a:rPr lang="en-NZ" altLang="ja-JP" sz="1800" dirty="0">
                <a:solidFill>
                  <a:schemeClr val="tx1"/>
                </a:solidFill>
              </a:rPr>
            </a:br>
            <a:endParaRPr lang="en-NZ" altLang="ja-JP" sz="1800" dirty="0">
              <a:solidFill>
                <a:schemeClr val="tx1"/>
              </a:solidFill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CE7083BB-2E14-4F93-8FF7-90CB16A152E4}"/>
              </a:ext>
            </a:extLst>
          </p:cNvPr>
          <p:cNvSpPr txBox="1">
            <a:spLocks/>
          </p:cNvSpPr>
          <p:nvPr/>
        </p:nvSpPr>
        <p:spPr>
          <a:xfrm>
            <a:off x="223928" y="1799382"/>
            <a:ext cx="5726495" cy="419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1800" b="1" u="sng" dirty="0">
                <a:solidFill>
                  <a:srgbClr val="0070C0"/>
                </a:solidFill>
              </a:rPr>
              <a:t>PART I: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635C5FB9-A860-081A-BDC4-4399E457B3AA}"/>
              </a:ext>
            </a:extLst>
          </p:cNvPr>
          <p:cNvSpPr txBox="1">
            <a:spLocks/>
          </p:cNvSpPr>
          <p:nvPr/>
        </p:nvSpPr>
        <p:spPr>
          <a:xfrm>
            <a:off x="6241576" y="1799382"/>
            <a:ext cx="5726495" cy="4191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1800" b="1" u="sng" dirty="0">
                <a:solidFill>
                  <a:srgbClr val="0070C0"/>
                </a:solidFill>
              </a:rPr>
              <a:t>PART II: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2B07F5BB-4935-4806-8454-18AB3E5F6886}"/>
              </a:ext>
            </a:extLst>
          </p:cNvPr>
          <p:cNvSpPr txBox="1">
            <a:spLocks/>
          </p:cNvSpPr>
          <p:nvPr/>
        </p:nvSpPr>
        <p:spPr>
          <a:xfrm>
            <a:off x="223928" y="4863495"/>
            <a:ext cx="5726494" cy="53439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US" altLang="ja-JP" sz="1200" dirty="0">
                <a:solidFill>
                  <a:srgbClr val="0070C0"/>
                </a:solidFill>
              </a:rPr>
              <a:t>A detailed breakdown of topics covered in Part I is contained in the document ‘Stat 293 – Detailed Topic List’ available on Blackboard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39D257E5-61A3-D051-F528-C52FBA0F3B9A}"/>
              </a:ext>
            </a:extLst>
          </p:cNvPr>
          <p:cNvSpPr txBox="1">
            <a:spLocks/>
          </p:cNvSpPr>
          <p:nvPr/>
        </p:nvSpPr>
        <p:spPr>
          <a:xfrm>
            <a:off x="223929" y="5480817"/>
            <a:ext cx="5726493" cy="70184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Taught by Dr Adam Ward </a:t>
            </a:r>
            <a:br>
              <a:rPr lang="en-NZ" altLang="ja-JP" sz="1800" dirty="0">
                <a:solidFill>
                  <a:schemeClr val="tx1"/>
                </a:solidFill>
              </a:rPr>
            </a:br>
            <a:r>
              <a:rPr lang="en-NZ" altLang="ja-JP" sz="1800" dirty="0">
                <a:solidFill>
                  <a:srgbClr val="0070C0"/>
                </a:solidFill>
              </a:rPr>
              <a:t>adward.work@gmail.com</a:t>
            </a:r>
            <a:endParaRPr lang="en-US" altLang="ja-JP" sz="1800" b="1" i="1" dirty="0">
              <a:solidFill>
                <a:srgbClr val="0070C0"/>
              </a:solidFill>
            </a:endParaRP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52F9B597-8877-4A81-8B80-E7704061DF16}"/>
              </a:ext>
            </a:extLst>
          </p:cNvPr>
          <p:cNvSpPr txBox="1">
            <a:spLocks/>
          </p:cNvSpPr>
          <p:nvPr/>
        </p:nvSpPr>
        <p:spPr>
          <a:xfrm>
            <a:off x="6241578" y="5480816"/>
            <a:ext cx="5726493" cy="11701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Taught by Dr Nokuthaba Sibanda </a:t>
            </a:r>
            <a:r>
              <a:rPr lang="en-NZ" altLang="ja-JP" sz="1800" dirty="0">
                <a:solidFill>
                  <a:schemeClr val="tx1"/>
                </a:solidFill>
                <a:hlinkClick r:id="rId3"/>
              </a:rPr>
              <a:t>nokuthaba.sibanda@vuw.ac.nz</a:t>
            </a:r>
            <a:r>
              <a:rPr lang="en-NZ" altLang="ja-JP" sz="1800" dirty="0">
                <a:solidFill>
                  <a:schemeClr val="tx1"/>
                </a:solidFill>
              </a:rPr>
              <a:t>  </a:t>
            </a:r>
          </a:p>
          <a:p>
            <a:pPr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Office Hours – </a:t>
            </a:r>
            <a:r>
              <a:rPr lang="en-NZ" altLang="ja-JP" sz="1800" dirty="0">
                <a:solidFill>
                  <a:schemeClr val="accent5">
                    <a:lumMod val="75000"/>
                  </a:schemeClr>
                </a:solidFill>
              </a:rPr>
              <a:t>Monday, Wednesday, Friday 12-1pm or by appointment</a:t>
            </a:r>
            <a:endParaRPr lang="en-US" altLang="ja-JP" sz="1800" b="1" i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5915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3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Required Software: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628387" y="1050542"/>
            <a:ext cx="11149206" cy="495762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Many of the concepts covered in Stat 293 will be illustrated via examples which involve the use of </a:t>
            </a:r>
            <a:r>
              <a:rPr lang="en-NZ" altLang="ja-JP" sz="2000" b="1" i="1" dirty="0">
                <a:solidFill>
                  <a:schemeClr val="tx1"/>
                </a:solidFill>
              </a:rPr>
              <a:t>R</a:t>
            </a:r>
            <a:r>
              <a:rPr lang="en-NZ" altLang="ja-JP" sz="2000" dirty="0">
                <a:solidFill>
                  <a:schemeClr val="tx1"/>
                </a:solidFill>
              </a:rPr>
              <a:t> 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2000" dirty="0">
                <a:solidFill>
                  <a:schemeClr val="tx1"/>
                </a:solidFill>
              </a:rPr>
              <a:t>(a statistical software package).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NZ" altLang="ja-JP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Stat 293 assumes you have some previous experience with </a:t>
            </a:r>
            <a:r>
              <a:rPr lang="en-NZ" altLang="ja-JP" sz="2000" b="1" i="1" dirty="0">
                <a:solidFill>
                  <a:schemeClr val="tx1"/>
                </a:solidFill>
              </a:rPr>
              <a:t>R </a:t>
            </a:r>
            <a:r>
              <a:rPr lang="en-NZ" altLang="ja-JP" sz="2000" dirty="0">
                <a:solidFill>
                  <a:schemeClr val="tx1"/>
                </a:solidFill>
              </a:rPr>
              <a:t>as used in STAT292.</a:t>
            </a:r>
            <a:br>
              <a:rPr lang="en-NZ" altLang="ja-JP" sz="2000" dirty="0">
                <a:solidFill>
                  <a:schemeClr val="tx1"/>
                </a:solidFill>
              </a:rPr>
            </a:br>
            <a:endParaRPr lang="en-NZ" altLang="ja-JP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b="1" i="1" dirty="0">
                <a:solidFill>
                  <a:schemeClr val="tx1"/>
                </a:solidFill>
              </a:rPr>
              <a:t>R Studio </a:t>
            </a:r>
            <a:r>
              <a:rPr lang="en-NZ" altLang="ja-JP" sz="2000" dirty="0">
                <a:solidFill>
                  <a:schemeClr val="tx1"/>
                </a:solidFill>
              </a:rPr>
              <a:t>is the recommended interface for working with </a:t>
            </a:r>
            <a:r>
              <a:rPr lang="en-NZ" altLang="ja-JP" sz="2000" b="1" i="1" dirty="0">
                <a:solidFill>
                  <a:schemeClr val="tx1"/>
                </a:solidFill>
              </a:rPr>
              <a:t>R. </a:t>
            </a:r>
            <a:br>
              <a:rPr lang="en-NZ" altLang="ja-JP" sz="2000" b="1" i="1" dirty="0">
                <a:solidFill>
                  <a:schemeClr val="tx1"/>
                </a:solidFill>
              </a:rPr>
            </a:br>
            <a:r>
              <a:rPr lang="en-NZ" altLang="ja-JP" sz="2000" dirty="0">
                <a:solidFill>
                  <a:schemeClr val="tx1"/>
                </a:solidFill>
              </a:rPr>
              <a:t>See the introductory video </a:t>
            </a:r>
            <a:r>
              <a:rPr lang="en-NZ" altLang="ja-JP" sz="2000" dirty="0">
                <a:solidFill>
                  <a:schemeClr val="tx1"/>
                </a:solidFill>
                <a:hlinkClick r:id="rId3"/>
              </a:rPr>
              <a:t>https://www.youtube.com/watch?v=uwlwNRbaKMI</a:t>
            </a:r>
            <a:br>
              <a:rPr lang="en-NZ" altLang="ja-JP" sz="2000" dirty="0">
                <a:solidFill>
                  <a:schemeClr val="tx1"/>
                </a:solidFill>
              </a:rPr>
            </a:br>
            <a:endParaRPr lang="en-NZ" altLang="ja-JP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chemeClr val="tx1"/>
                </a:solidFill>
              </a:rPr>
              <a:t>The video below provides a step-by-step guide to downloading and installing </a:t>
            </a:r>
            <a:r>
              <a:rPr lang="en-US" altLang="ja-JP" sz="2000" b="1" i="1" dirty="0">
                <a:solidFill>
                  <a:schemeClr val="tx1"/>
                </a:solidFill>
              </a:rPr>
              <a:t>R</a:t>
            </a:r>
            <a:r>
              <a:rPr lang="en-US" altLang="ja-JP" sz="2000" dirty="0">
                <a:solidFill>
                  <a:schemeClr val="tx1"/>
                </a:solidFill>
              </a:rPr>
              <a:t> and </a:t>
            </a:r>
            <a:r>
              <a:rPr lang="en-US" altLang="ja-JP" sz="2000" b="1" i="1" dirty="0">
                <a:solidFill>
                  <a:schemeClr val="tx1"/>
                </a:solidFill>
              </a:rPr>
              <a:t>R Studio</a:t>
            </a:r>
            <a:r>
              <a:rPr lang="en-US" altLang="ja-JP" sz="2000" dirty="0">
                <a:solidFill>
                  <a:schemeClr val="tx1"/>
                </a:solidFill>
              </a:rPr>
              <a:t> on your local machine </a:t>
            </a:r>
            <a:r>
              <a:rPr lang="en-US" altLang="ja-JP" sz="2000" dirty="0">
                <a:solidFill>
                  <a:schemeClr val="tx1"/>
                </a:solidFill>
                <a:hlinkClick r:id="rId4"/>
              </a:rPr>
              <a:t>https://www.youtube.com/watch?v=eD07NznguA4</a:t>
            </a:r>
            <a:br>
              <a:rPr lang="en-US" altLang="ja-JP" sz="2000" dirty="0">
                <a:solidFill>
                  <a:schemeClr val="tx1"/>
                </a:solidFill>
              </a:rPr>
            </a:br>
            <a:endParaRPr lang="en-US" altLang="ja-JP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chemeClr val="tx1"/>
                </a:solidFill>
              </a:rPr>
              <a:t>Some introductory material for R Studio can be found here:</a:t>
            </a:r>
            <a:br>
              <a:rPr lang="en-US" altLang="ja-JP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  <a:hlinkClick r:id="rId5"/>
              </a:rPr>
              <a:t>https://education.rstudio.com/learn/beginner/</a:t>
            </a:r>
            <a:br>
              <a:rPr lang="en-US" altLang="ja-JP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</a:rPr>
              <a:t>and here:</a:t>
            </a:r>
            <a:br>
              <a:rPr lang="en-US" altLang="ja-JP" sz="2000" dirty="0">
                <a:solidFill>
                  <a:schemeClr val="tx1"/>
                </a:solidFill>
              </a:rPr>
            </a:br>
            <a:r>
              <a:rPr lang="en-US" altLang="ja-JP" sz="2000" dirty="0">
                <a:solidFill>
                  <a:schemeClr val="tx1"/>
                </a:solidFill>
                <a:hlinkClick r:id="rId6"/>
              </a:rPr>
              <a:t>https://rstudio.cloud/learn/primers</a:t>
            </a:r>
            <a:endParaRPr lang="en-US" altLang="ja-JP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br>
              <a:rPr lang="en-US" altLang="ja-JP" sz="2000" dirty="0">
                <a:solidFill>
                  <a:schemeClr val="tx1"/>
                </a:solidFill>
              </a:rPr>
            </a:br>
            <a:endParaRPr lang="en-US" altLang="ja-JP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endParaRPr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389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4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Course Materials: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3957851" y="396185"/>
            <a:ext cx="5964071" cy="3651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The following course materials are available on Blackboard:</a:t>
            </a:r>
            <a:endParaRPr lang="en-US" altLang="ja-JP" sz="1800" dirty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3FDC2F9-D265-A3AA-2E0D-6F546333A219}"/>
              </a:ext>
            </a:extLst>
          </p:cNvPr>
          <p:cNvSpPr txBox="1">
            <a:spLocks/>
          </p:cNvSpPr>
          <p:nvPr/>
        </p:nvSpPr>
        <p:spPr>
          <a:xfrm>
            <a:off x="528221" y="761310"/>
            <a:ext cx="11135558" cy="538349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Course Notes Weeks 1-9 &amp; Weeks 10-12 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Extensive course notes concerning topics covered in the course.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Lecture Slides</a:t>
            </a:r>
            <a:br>
              <a:rPr lang="en-NZ" altLang="ja-JP" sz="1800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Lecture slides that will be covered in the lectures.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Stat 293 – Detailed Topic List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A detailed list of topics covered in Part I of the course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ANOVA Tables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ANOVA tables for One-Way ANOVA, Randomised Block Designs, Two-Stage Nested Designs, Three stage nested designs</a:t>
            </a:r>
            <a:br>
              <a:rPr lang="en-NZ" altLang="ja-JP" sz="2000" dirty="0">
                <a:solidFill>
                  <a:schemeClr val="tx1"/>
                </a:solidFill>
              </a:rPr>
            </a:br>
            <a:endParaRPr lang="en-NZ" altLang="ja-JP" sz="2000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Additional Proofs</a:t>
            </a:r>
            <a:br>
              <a:rPr lang="en-NZ" altLang="ja-JP" sz="2000" i="1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Document showing proofs of statements made during lectures in Part I of the course. 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Note you do not need to be able to replicate these proofs, they are just there as additional material.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R Code</a:t>
            </a:r>
            <a:br>
              <a:rPr lang="en-NZ" altLang="ja-JP" sz="1600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R code used to illustrate topics covered throughout the course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1800" dirty="0">
                <a:solidFill>
                  <a:schemeClr val="tx1"/>
                </a:solidFill>
              </a:rPr>
              <a:t>Data Sets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Data sets used in the R code described above</a:t>
            </a:r>
            <a:br>
              <a:rPr lang="en-NZ" altLang="ja-JP" sz="2000" i="1" dirty="0">
                <a:solidFill>
                  <a:schemeClr val="tx1"/>
                </a:solidFill>
              </a:rPr>
            </a:br>
            <a:endParaRPr lang="en-NZ" altLang="ja-JP" sz="20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NZ" altLang="ja-JP" sz="1600" i="1" dirty="0">
              <a:solidFill>
                <a:schemeClr val="tx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altLang="ja-JP" sz="20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33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5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Lectures &amp; Tutorials: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223929" y="859474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2000" b="1" dirty="0">
                <a:solidFill>
                  <a:schemeClr val="tx1"/>
                </a:solidFill>
              </a:rPr>
              <a:t>Lectures: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Mon, Wed &amp; Fri at 14:10 to 15:00 in HMLT002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853A6368-5C35-6336-7814-B73661D7824C}"/>
              </a:ext>
            </a:extLst>
          </p:cNvPr>
          <p:cNvSpPr txBox="1">
            <a:spLocks/>
          </p:cNvSpPr>
          <p:nvPr/>
        </p:nvSpPr>
        <p:spPr>
          <a:xfrm>
            <a:off x="223929" y="1929960"/>
            <a:ext cx="11553074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2000" b="1" dirty="0">
                <a:solidFill>
                  <a:schemeClr val="tx1"/>
                </a:solidFill>
              </a:rPr>
              <a:t>Tutorials – sign up via </a:t>
            </a:r>
            <a:r>
              <a:rPr lang="en-NZ" altLang="ja-JP" sz="2000" b="1" dirty="0" err="1">
                <a:solidFill>
                  <a:schemeClr val="tx1"/>
                </a:solidFill>
              </a:rPr>
              <a:t>myAllocator</a:t>
            </a:r>
            <a:r>
              <a:rPr lang="en-NZ" altLang="ja-JP" sz="2000" b="1" dirty="0">
                <a:solidFill>
                  <a:schemeClr val="tx1"/>
                </a:solidFill>
              </a:rPr>
              <a:t> – start in Week 1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altLang="ja-JP" sz="2000" dirty="0">
                <a:solidFill>
                  <a:schemeClr val="accent5">
                    <a:lumMod val="75000"/>
                  </a:schemeClr>
                </a:solidFill>
              </a:rPr>
              <a:t>Tuesdays</a:t>
            </a:r>
            <a:r>
              <a:rPr lang="en-US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12-12:50pm</a:t>
            </a:r>
            <a:r>
              <a:rPr lang="en-NZ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tx1"/>
                </a:solidFill>
              </a:rPr>
              <a:t>in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OK319</a:t>
            </a:r>
            <a:r>
              <a:rPr lang="en-NZ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tx1"/>
                </a:solidFill>
              </a:rPr>
              <a:t>and on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Zoom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mi-NZ" altLang="ja-JP" sz="2000" dirty="0">
                <a:solidFill>
                  <a:schemeClr val="accent5">
                    <a:lumMod val="75000"/>
                  </a:schemeClr>
                </a:solidFill>
              </a:rPr>
              <a:t>Fridays</a:t>
            </a:r>
            <a:r>
              <a:rPr lang="mi-NZ" altLang="ja-JP" sz="2000" dirty="0">
                <a:solidFill>
                  <a:schemeClr val="tx1"/>
                </a:solidFill>
              </a:rPr>
              <a:t>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12-12:50pm</a:t>
            </a:r>
            <a:r>
              <a:rPr lang="en-NZ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tx1"/>
                </a:solidFill>
              </a:rPr>
              <a:t>in</a:t>
            </a:r>
            <a:r>
              <a:rPr lang="en-NZ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OK301</a:t>
            </a:r>
            <a:r>
              <a:rPr lang="en-NZ" altLang="ja-JP" sz="2000" dirty="0">
                <a:solidFill>
                  <a:srgbClr val="FF0000"/>
                </a:solidFill>
              </a:rPr>
              <a:t> </a:t>
            </a:r>
            <a:r>
              <a:rPr lang="en-NZ" altLang="ja-JP" sz="2000" dirty="0">
                <a:solidFill>
                  <a:schemeClr val="tx1"/>
                </a:solidFill>
              </a:rPr>
              <a:t>and on </a:t>
            </a: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Zoom</a:t>
            </a:r>
          </a:p>
          <a:p>
            <a:pPr>
              <a:lnSpc>
                <a:spcPct val="100000"/>
              </a:lnSpc>
            </a:pPr>
            <a:r>
              <a:rPr lang="mi-NZ" altLang="ja-JP" sz="2000" dirty="0">
                <a:solidFill>
                  <a:schemeClr val="tx1"/>
                </a:solidFill>
              </a:rPr>
              <a:t>The Week 1 tutorial is a revision/introduction to the R and RStudio environment.</a:t>
            </a:r>
          </a:p>
          <a:p>
            <a:pPr>
              <a:lnSpc>
                <a:spcPct val="100000"/>
              </a:lnSpc>
            </a:pPr>
            <a:r>
              <a:rPr lang="en-US" altLang="ja-JP" sz="2000" dirty="0">
                <a:solidFill>
                  <a:schemeClr val="tx1"/>
                </a:solidFill>
              </a:rPr>
              <a:t>Tutorial questions and solutions available on the </a:t>
            </a:r>
            <a:r>
              <a:rPr lang="en-US" altLang="ja-JP" sz="2000" b="1" dirty="0">
                <a:solidFill>
                  <a:schemeClr val="accent1"/>
                </a:solidFill>
              </a:rPr>
              <a:t>Tutorials</a:t>
            </a:r>
            <a:r>
              <a:rPr lang="en-US" altLang="ja-JP" sz="2000" dirty="0">
                <a:solidFill>
                  <a:schemeClr val="tx1"/>
                </a:solidFill>
              </a:rPr>
              <a:t> page on Blackboard.</a:t>
            </a:r>
          </a:p>
          <a:p>
            <a:pPr>
              <a:lnSpc>
                <a:spcPct val="100000"/>
              </a:lnSpc>
            </a:pPr>
            <a:endParaRPr lang="en-US" altLang="ja-JP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ja-JP" sz="2000" b="1" dirty="0">
                <a:solidFill>
                  <a:schemeClr val="tx1"/>
                </a:solidFill>
              </a:rPr>
              <a:t>Tutors</a:t>
            </a:r>
            <a:r>
              <a:rPr lang="en-US" altLang="ja-JP" sz="2000" dirty="0">
                <a:solidFill>
                  <a:schemeClr val="tx1"/>
                </a:solidFill>
              </a:rPr>
              <a:t>:  </a:t>
            </a:r>
            <a:r>
              <a:rPr lang="en-US" altLang="ja-JP" sz="2000" b="1" dirty="0">
                <a:solidFill>
                  <a:schemeClr val="accent5">
                    <a:lumMod val="75000"/>
                  </a:schemeClr>
                </a:solidFill>
              </a:rPr>
              <a:t>Fugo Takefusa </a:t>
            </a:r>
            <a:r>
              <a:rPr lang="en-US" altLang="ja-JP" sz="2000" dirty="0">
                <a:solidFill>
                  <a:schemeClr val="tx1"/>
                </a:solidFill>
              </a:rPr>
              <a:t>and</a:t>
            </a:r>
            <a:r>
              <a:rPr lang="en-US" altLang="ja-JP" sz="2000" b="1" dirty="0">
                <a:solidFill>
                  <a:schemeClr val="accent5">
                    <a:lumMod val="75000"/>
                  </a:schemeClr>
                </a:solidFill>
              </a:rPr>
              <a:t> Marcus Buckland</a:t>
            </a:r>
          </a:p>
          <a:p>
            <a:pPr>
              <a:lnSpc>
                <a:spcPct val="100000"/>
              </a:lnSpc>
            </a:pPr>
            <a:endParaRPr lang="en-US" altLang="ja-JP" sz="2000" dirty="0">
              <a:solidFill>
                <a:schemeClr val="tx1"/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2000" b="1" dirty="0">
                <a:solidFill>
                  <a:schemeClr val="tx1"/>
                </a:solidFill>
              </a:rPr>
              <a:t>Drop-in help sessions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accent5">
                    <a:lumMod val="75000"/>
                  </a:schemeClr>
                </a:solidFill>
              </a:rPr>
              <a:t>Weeks 3, 5, 6, 8, 10, 12 </a:t>
            </a:r>
            <a:r>
              <a:rPr lang="en-NZ" altLang="ja-JP" sz="2000" dirty="0">
                <a:solidFill>
                  <a:schemeClr val="tx1"/>
                </a:solidFill>
              </a:rPr>
              <a:t>(weeks when assignments are due or during Test 1 week)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sz="2000">
                <a:solidFill>
                  <a:schemeClr val="accent5">
                    <a:lumMod val="75000"/>
                  </a:schemeClr>
                </a:solidFill>
              </a:rPr>
              <a:t>Tuesdays </a:t>
            </a:r>
            <a:r>
              <a:rPr lang="en-NZ" sz="2000" dirty="0">
                <a:solidFill>
                  <a:schemeClr val="accent5">
                    <a:lumMod val="75000"/>
                  </a:schemeClr>
                </a:solidFill>
              </a:rPr>
              <a:t>1:10-2pm </a:t>
            </a:r>
            <a:r>
              <a:rPr lang="en-NZ" sz="2000" dirty="0">
                <a:solidFill>
                  <a:schemeClr val="tx1"/>
                </a:solidFill>
              </a:rPr>
              <a:t>in VZ106</a:t>
            </a:r>
            <a:endParaRPr lang="mi-NZ" altLang="ja-JP" sz="2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36586C64-1A8F-EFD2-F64B-24B8A4590FA0}"/>
              </a:ext>
            </a:extLst>
          </p:cNvPr>
          <p:cNvSpPr txBox="1">
            <a:spLocks/>
          </p:cNvSpPr>
          <p:nvPr/>
        </p:nvSpPr>
        <p:spPr>
          <a:xfrm>
            <a:off x="223929" y="2946327"/>
            <a:ext cx="11553074" cy="48267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ja-JP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84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6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Assessment:</a:t>
            </a:r>
            <a:endParaRPr lang="ja-JP" altLang="en-US" b="1" u="sng" dirty="0"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2805396-E745-6EE0-70A1-63F807A95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114186"/>
              </p:ext>
            </p:extLst>
          </p:nvPr>
        </p:nvGraphicFramePr>
        <p:xfrm>
          <a:off x="2071830" y="695001"/>
          <a:ext cx="8319881" cy="38159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82591">
                  <a:extLst>
                    <a:ext uri="{9D8B030D-6E8A-4147-A177-3AD203B41FA5}">
                      <a16:colId xmlns:a16="http://schemas.microsoft.com/office/drawing/2014/main" val="469958594"/>
                    </a:ext>
                  </a:extLst>
                </a:gridCol>
                <a:gridCol w="3866352">
                  <a:extLst>
                    <a:ext uri="{9D8B030D-6E8A-4147-A177-3AD203B41FA5}">
                      <a16:colId xmlns:a16="http://schemas.microsoft.com/office/drawing/2014/main" val="3279840371"/>
                    </a:ext>
                  </a:extLst>
                </a:gridCol>
                <a:gridCol w="1670938">
                  <a:extLst>
                    <a:ext uri="{9D8B030D-6E8A-4147-A177-3AD203B41FA5}">
                      <a16:colId xmlns:a16="http://schemas.microsoft.com/office/drawing/2014/main" val="79162594"/>
                    </a:ext>
                  </a:extLst>
                </a:gridCol>
              </a:tblGrid>
              <a:tr h="45163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Assessment Method</a:t>
                      </a:r>
                      <a:endParaRPr lang="en-NZ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Due</a:t>
                      </a:r>
                      <a:endParaRPr lang="en-NZ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Weight</a:t>
                      </a:r>
                      <a:endParaRPr lang="en-NZ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68932"/>
                  </a:ext>
                </a:extLst>
              </a:tr>
              <a:tr h="35230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Assignment 1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Fri 29</a:t>
                      </a:r>
                      <a:r>
                        <a:rPr lang="en-NZ" sz="180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th</a:t>
                      </a:r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July 2022 @ 11:59pm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>
                          <a:solidFill>
                            <a:schemeClr val="tx1"/>
                          </a:solidFill>
                          <a:effectLst/>
                        </a:rPr>
                        <a:t>4%</a:t>
                      </a:r>
                      <a:endParaRPr lang="en-NZ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6808305"/>
                  </a:ext>
                </a:extLst>
              </a:tr>
              <a:tr h="35230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Assignment 2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Fri 12</a:t>
                      </a:r>
                      <a:r>
                        <a:rPr lang="en-NZ" sz="1800" u="none" strike="noStrike" baseline="30000" dirty="0">
                          <a:solidFill>
                            <a:schemeClr val="tx1"/>
                          </a:solidFill>
                          <a:effectLst/>
                        </a:rPr>
                        <a:t>th</a:t>
                      </a:r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August 2022 @ 11:59pm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>
                          <a:solidFill>
                            <a:schemeClr val="tx1"/>
                          </a:solidFill>
                          <a:effectLst/>
                        </a:rPr>
                        <a:t>4%</a:t>
                      </a:r>
                      <a:endParaRPr lang="en-NZ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3811346"/>
                  </a:ext>
                </a:extLst>
              </a:tr>
              <a:tr h="48879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Test 1</a:t>
                      </a:r>
                      <a:endParaRPr lang="en-NZ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mi-NZ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Friday</a:t>
                      </a:r>
                      <a:r>
                        <a:rPr lang="mi-NZ" sz="18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19th August 2:10-3pm</a:t>
                      </a:r>
                      <a:endParaRPr lang="en-NZ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30%</a:t>
                      </a:r>
                      <a:endParaRPr lang="en-NZ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3463577"/>
                  </a:ext>
                </a:extLst>
              </a:tr>
              <a:tr h="48879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Assignment 3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Fri 16</a:t>
                      </a:r>
                      <a:r>
                        <a:rPr lang="en-NZ" sz="18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September 2022 </a:t>
                      </a:r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@ 11:59pm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4%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353298"/>
                  </a:ext>
                </a:extLst>
              </a:tr>
              <a:tr h="48879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Assignment 4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Fri 30</a:t>
                      </a:r>
                      <a:r>
                        <a:rPr lang="en-NZ" sz="18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September 2022 </a:t>
                      </a:r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@ 11:59pm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4%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4799215"/>
                  </a:ext>
                </a:extLst>
              </a:tr>
              <a:tr h="488790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>
                          <a:solidFill>
                            <a:schemeClr val="tx1"/>
                          </a:solidFill>
                          <a:effectLst/>
                        </a:rPr>
                        <a:t>Assignment 5</a:t>
                      </a:r>
                      <a:endParaRPr lang="en-NZ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Fri 14</a:t>
                      </a:r>
                      <a:r>
                        <a:rPr lang="en-NZ" sz="1800" b="0" i="0" u="none" strike="noStrike" baseline="300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th</a:t>
                      </a:r>
                      <a:r>
                        <a:rPr lang="en-NZ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October 2022 </a:t>
                      </a:r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@ 11:59pm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4%</a:t>
                      </a:r>
                      <a:endParaRPr lang="en-NZ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012633"/>
                  </a:ext>
                </a:extLst>
              </a:tr>
              <a:tr h="352302"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Test 2</a:t>
                      </a:r>
                      <a:endParaRPr lang="en-NZ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NZ" sz="18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Assessment Week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50%</a:t>
                      </a:r>
                      <a:endParaRPr lang="en-NZ" sz="18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4873377"/>
                  </a:ext>
                </a:extLst>
              </a:tr>
              <a:tr h="352302">
                <a:tc>
                  <a:txBody>
                    <a:bodyPr/>
                    <a:lstStyle/>
                    <a:p>
                      <a:pPr algn="ctr" fontAlgn="ctr"/>
                      <a:endParaRPr lang="en-NZ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Total</a:t>
                      </a:r>
                      <a:endParaRPr lang="en-NZ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NZ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100%</a:t>
                      </a:r>
                      <a:endParaRPr lang="en-NZ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217516"/>
                  </a:ext>
                </a:extLst>
              </a:tr>
            </a:tbl>
          </a:graphicData>
        </a:graphic>
      </p:graphicFrame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1A78B379-4FF5-2121-B783-AAEBED6C9D2E}"/>
              </a:ext>
            </a:extLst>
          </p:cNvPr>
          <p:cNvSpPr txBox="1">
            <a:spLocks/>
          </p:cNvSpPr>
          <p:nvPr/>
        </p:nvSpPr>
        <p:spPr>
          <a:xfrm>
            <a:off x="223929" y="4204930"/>
            <a:ext cx="12177650" cy="4643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ja-JP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ja-JP" sz="2000" b="1" dirty="0">
                <a:solidFill>
                  <a:schemeClr val="accent5">
                    <a:lumMod val="75000"/>
                  </a:schemeClr>
                </a:solidFill>
              </a:rPr>
              <a:t>Tests will be closed book and run in-person on campus, with an online option for those outside the Wellington region.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7499B7BD-735D-A0D6-DAC4-D27DB9921808}"/>
              </a:ext>
            </a:extLst>
          </p:cNvPr>
          <p:cNvSpPr txBox="1">
            <a:spLocks/>
          </p:cNvSpPr>
          <p:nvPr/>
        </p:nvSpPr>
        <p:spPr>
          <a:xfrm>
            <a:off x="223929" y="5263457"/>
            <a:ext cx="11553074" cy="55363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mi-NZ" altLang="ja-JP" sz="2000" dirty="0">
                <a:solidFill>
                  <a:schemeClr val="tx1"/>
                </a:solidFill>
              </a:rPr>
              <a:t>Mandatory course requirements:  </a:t>
            </a:r>
            <a:r>
              <a:rPr lang="mi-NZ" altLang="ja-JP" sz="2000" b="1" dirty="0">
                <a:solidFill>
                  <a:schemeClr val="accent5">
                    <a:lumMod val="75000"/>
                  </a:schemeClr>
                </a:solidFill>
              </a:rPr>
              <a:t>Sit both tests</a:t>
            </a:r>
          </a:p>
          <a:p>
            <a:pPr>
              <a:lnSpc>
                <a:spcPct val="100000"/>
              </a:lnSpc>
            </a:pPr>
            <a:endParaRPr lang="en-NZ" altLang="ja-JP" sz="2000" b="1" dirty="0">
              <a:solidFill>
                <a:schemeClr val="accent5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NZ" altLang="ja-JP" sz="2000" dirty="0">
                <a:solidFill>
                  <a:schemeClr val="tx1"/>
                </a:solidFill>
              </a:rPr>
              <a:t>A minimum mark of 50% over all assessments is required to pass the course.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8357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7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Assignments: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436727" y="972356"/>
            <a:ext cx="11340275" cy="4780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Assignment questions will be accessible via Blackboard.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8060BE9-264B-2B8D-E6C3-C50B4A9CB244}"/>
              </a:ext>
            </a:extLst>
          </p:cNvPr>
          <p:cNvSpPr txBox="1">
            <a:spLocks/>
          </p:cNvSpPr>
          <p:nvPr/>
        </p:nvSpPr>
        <p:spPr>
          <a:xfrm>
            <a:off x="436727" y="1741339"/>
            <a:ext cx="11340275" cy="47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Completed assignments must be submitted via blackboard.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CAF54E2-E982-651D-DC5B-651440DF3486}"/>
              </a:ext>
            </a:extLst>
          </p:cNvPr>
          <p:cNvSpPr txBox="1">
            <a:spLocks/>
          </p:cNvSpPr>
          <p:nvPr/>
        </p:nvSpPr>
        <p:spPr>
          <a:xfrm>
            <a:off x="1323833" y="2126343"/>
            <a:ext cx="9321421" cy="186438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NZ" altLang="ja-JP" sz="1800" dirty="0">
                <a:solidFill>
                  <a:schemeClr val="tx1"/>
                </a:solidFill>
              </a:rPr>
              <a:t> - Assignments </a:t>
            </a:r>
            <a:r>
              <a:rPr lang="en-NZ" altLang="ja-JP" sz="1800" b="1" dirty="0">
                <a:solidFill>
                  <a:schemeClr val="tx1"/>
                </a:solidFill>
              </a:rPr>
              <a:t>must</a:t>
            </a:r>
            <a:r>
              <a:rPr lang="en-NZ" altLang="ja-JP" sz="1800" dirty="0">
                <a:solidFill>
                  <a:schemeClr val="tx1"/>
                </a:solidFill>
              </a:rPr>
              <a:t> be submitted as a </a:t>
            </a:r>
            <a:r>
              <a:rPr lang="en-NZ" altLang="ja-JP" sz="1800" b="1" dirty="0">
                <a:solidFill>
                  <a:schemeClr val="tx1"/>
                </a:solidFill>
              </a:rPr>
              <a:t>single PDF file</a:t>
            </a:r>
            <a:r>
              <a:rPr lang="en-NZ" altLang="ja-JP" sz="1800" dirty="0">
                <a:solidFill>
                  <a:schemeClr val="tx1"/>
                </a:solidFill>
              </a:rPr>
              <a:t>.</a:t>
            </a:r>
            <a:br>
              <a:rPr lang="en-NZ" altLang="ja-JP" sz="2000" dirty="0">
                <a:solidFill>
                  <a:schemeClr val="tx1"/>
                </a:solidFill>
              </a:rPr>
            </a:b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1800" dirty="0">
                <a:solidFill>
                  <a:schemeClr val="tx1"/>
                </a:solidFill>
              </a:rPr>
              <a:t> - To get a pdf file you can either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2000" dirty="0">
                <a:solidFill>
                  <a:schemeClr val="tx1"/>
                </a:solidFill>
              </a:rPr>
              <a:t>	</a:t>
            </a:r>
            <a:r>
              <a:rPr lang="en-NZ" altLang="ja-JP" sz="1600" i="1" dirty="0">
                <a:solidFill>
                  <a:schemeClr val="tx1"/>
                </a:solidFill>
              </a:rPr>
              <a:t>Type in Word or </a:t>
            </a:r>
            <a:r>
              <a:rPr lang="en-NZ" altLang="ja-JP" sz="1600" i="1" dirty="0" err="1">
                <a:solidFill>
                  <a:schemeClr val="tx1"/>
                </a:solidFill>
              </a:rPr>
              <a:t>Rmarkdown</a:t>
            </a:r>
            <a:r>
              <a:rPr lang="en-NZ" altLang="ja-JP" sz="1600" i="1" dirty="0">
                <a:solidFill>
                  <a:schemeClr val="tx1"/>
                </a:solidFill>
              </a:rPr>
              <a:t> and save as a pdf</a:t>
            </a:r>
            <a:br>
              <a:rPr lang="en-NZ" altLang="ja-JP" sz="1600" i="1" dirty="0">
                <a:solidFill>
                  <a:schemeClr val="tx1"/>
                </a:solidFill>
              </a:rPr>
            </a:br>
            <a:r>
              <a:rPr lang="en-NZ" altLang="ja-JP" sz="1600" i="1" dirty="0">
                <a:solidFill>
                  <a:schemeClr val="tx1"/>
                </a:solidFill>
              </a:rPr>
              <a:t>	Handwrite, scan and email to yourself on University or home printer, use a mobile phone 	app or 	take photos and save in a single document for upload</a:t>
            </a:r>
            <a:r>
              <a:rPr lang="en-NZ" altLang="ja-JP" sz="2000" dirty="0">
                <a:solidFill>
                  <a:schemeClr val="tx1"/>
                </a:solidFill>
              </a:rPr>
              <a:t>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B0DBAB15-B204-D09E-AFC0-7B0EC2AA4C04}"/>
              </a:ext>
            </a:extLst>
          </p:cNvPr>
          <p:cNvSpPr txBox="1">
            <a:spLocks/>
          </p:cNvSpPr>
          <p:nvPr/>
        </p:nvSpPr>
        <p:spPr>
          <a:xfrm>
            <a:off x="436727" y="4318843"/>
            <a:ext cx="11340275" cy="74126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Submissions close at 11:59pm on the due date. </a:t>
            </a:r>
            <a:br>
              <a:rPr lang="en-NZ" altLang="ja-JP" sz="2000" dirty="0">
                <a:solidFill>
                  <a:schemeClr val="tx1"/>
                </a:solidFill>
              </a:rPr>
            </a:br>
            <a:r>
              <a:rPr lang="en-NZ" altLang="ja-JP" sz="2000" dirty="0">
                <a:solidFill>
                  <a:schemeClr val="tx1"/>
                </a:solidFill>
              </a:rPr>
              <a:t>Submissions after the due date and time will not be accepted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C39BFC89-4BCF-4513-CDD1-9926653DBF99}"/>
              </a:ext>
            </a:extLst>
          </p:cNvPr>
          <p:cNvSpPr txBox="1">
            <a:spLocks/>
          </p:cNvSpPr>
          <p:nvPr/>
        </p:nvSpPr>
        <p:spPr>
          <a:xfrm>
            <a:off x="436727" y="5388227"/>
            <a:ext cx="11340275" cy="49741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Marked assignments and marks will be available on Blackboard.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2251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e Herenga Waka—Victoria University of Wellington | Universities New  Zealand - Te Pōkai Tara">
            <a:extLst>
              <a:ext uri="{FF2B5EF4-FFF2-40B4-BE49-F238E27FC236}">
                <a16:creationId xmlns:a16="http://schemas.microsoft.com/office/drawing/2014/main" id="{B1142CEC-3289-4C4A-9152-123B70899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6733"/>
            <a:ext cx="2185386" cy="7412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331CF9-2501-4656-A309-CB7129AD346F}"/>
              </a:ext>
            </a:extLst>
          </p:cNvPr>
          <p:cNvSpPr txBox="1">
            <a:spLocks/>
          </p:cNvSpPr>
          <p:nvPr/>
        </p:nvSpPr>
        <p:spPr>
          <a:xfrm>
            <a:off x="10220594" y="6182657"/>
            <a:ext cx="1807633" cy="6753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4000" kern="1200">
                <a:solidFill>
                  <a:schemeClr val="tx2">
                    <a:lumMod val="20000"/>
                    <a:lumOff val="8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54AD89C-DF1E-4948-B597-5DD47B34A9CA}" type="slidenum">
              <a:rPr kumimoji="1" lang="ja-JP" altLang="en-US" smtClean="0">
                <a:solidFill>
                  <a:srgbClr val="575454">
                    <a:lumMod val="20000"/>
                    <a:lumOff val="80000"/>
                  </a:srgbClr>
                </a:solidFill>
                <a:latin typeface="Coo Hew"/>
              </a:rPr>
              <a:pPr/>
              <a:t>8</a:t>
            </a:fld>
            <a:endParaRPr kumimoji="1" lang="ja-JP" altLang="en-US" dirty="0">
              <a:solidFill>
                <a:srgbClr val="575454">
                  <a:lumMod val="20000"/>
                  <a:lumOff val="80000"/>
                </a:srgbClr>
              </a:solidFill>
              <a:latin typeface="Coo Hew"/>
            </a:endParaRP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E01D7A31-5FF0-43DC-9F4D-F2B96A58DE6A}"/>
              </a:ext>
            </a:extLst>
          </p:cNvPr>
          <p:cNvSpPr txBox="1">
            <a:spLocks/>
          </p:cNvSpPr>
          <p:nvPr/>
        </p:nvSpPr>
        <p:spPr>
          <a:xfrm>
            <a:off x="8694057" y="86139"/>
            <a:ext cx="33953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9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ja-JP" sz="1600" dirty="0">
                <a:solidFill>
                  <a:srgbClr val="DEDDDD"/>
                </a:solidFill>
                <a:latin typeface="Gidole"/>
              </a:rPr>
              <a:t>Introduction to Stat 293</a:t>
            </a:r>
            <a:endParaRPr kumimoji="1" lang="ja-JP" altLang="en-US" sz="1600" dirty="0">
              <a:solidFill>
                <a:srgbClr val="DEDDDD"/>
              </a:solidFill>
              <a:latin typeface="Gidole"/>
            </a:endParaRPr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4F3E9ADB-6AEC-42EA-808B-5A433C8B4560}"/>
              </a:ext>
            </a:extLst>
          </p:cNvPr>
          <p:cNvSpPr txBox="1">
            <a:spLocks/>
          </p:cNvSpPr>
          <p:nvPr/>
        </p:nvSpPr>
        <p:spPr>
          <a:xfrm>
            <a:off x="223929" y="143702"/>
            <a:ext cx="8168429" cy="607201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60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ja-JP" b="1" u="sng" dirty="0">
                <a:latin typeface="+mn-lt"/>
              </a:rPr>
              <a:t>Class Rep:</a:t>
            </a:r>
            <a:endParaRPr lang="ja-JP" altLang="en-US" b="1" u="sng" dirty="0">
              <a:latin typeface="+mn-lt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5B06D6C-CCB3-4D8F-9171-6B4779FED53B}"/>
              </a:ext>
            </a:extLst>
          </p:cNvPr>
          <p:cNvSpPr txBox="1">
            <a:spLocks/>
          </p:cNvSpPr>
          <p:nvPr/>
        </p:nvSpPr>
        <p:spPr>
          <a:xfrm>
            <a:off x="436727" y="972356"/>
            <a:ext cx="11340275" cy="47800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Video from VUWSA:   </a:t>
            </a:r>
            <a:r>
              <a:rPr lang="en-NZ" altLang="ja-JP" sz="2000" dirty="0">
                <a:solidFill>
                  <a:schemeClr val="tx1"/>
                </a:solidFill>
                <a:hlinkClick r:id="rId3"/>
              </a:rPr>
              <a:t>https://www.vuwsa.org.nz/class-representatives/</a:t>
            </a:r>
            <a:r>
              <a:rPr lang="en-NZ" altLang="ja-JP" sz="2000" dirty="0">
                <a:solidFill>
                  <a:schemeClr val="tx1"/>
                </a:solidFill>
              </a:rPr>
              <a:t>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38060BE9-264B-2B8D-E6C3-C50B4A9CB244}"/>
              </a:ext>
            </a:extLst>
          </p:cNvPr>
          <p:cNvSpPr txBox="1">
            <a:spLocks/>
          </p:cNvSpPr>
          <p:nvPr/>
        </p:nvSpPr>
        <p:spPr>
          <a:xfrm>
            <a:off x="436727" y="1741339"/>
            <a:ext cx="11340275" cy="47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324" rtl="0" eaLnBrk="1" latinLnBrk="0" hangingPunct="1">
              <a:lnSpc>
                <a:spcPct val="160000"/>
              </a:lnSpc>
              <a:spcBef>
                <a:spcPts val="0"/>
              </a:spcBef>
              <a:buFont typeface="Arial" panose="020B0604020202020204" pitchFamily="34" charset="0"/>
              <a:buNone/>
              <a:defRPr kumimoji="1" sz="1067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74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0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67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29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390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53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14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876" indent="-228581" algn="l" defTabSz="91432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NZ" altLang="ja-JP" sz="2000" dirty="0">
                <a:solidFill>
                  <a:schemeClr val="tx1"/>
                </a:solidFill>
              </a:rPr>
              <a:t>How to sign up if elected: </a:t>
            </a:r>
            <a:r>
              <a:rPr lang="en-NZ" altLang="ja-JP" sz="2000" dirty="0">
                <a:solidFill>
                  <a:schemeClr val="tx1"/>
                </a:solidFill>
                <a:hlinkClick r:id="rId4"/>
              </a:rPr>
              <a:t>https://www.youtube.com/watch?v=ofRy3oIoXD4</a:t>
            </a:r>
            <a:r>
              <a:rPr lang="en-NZ" altLang="ja-JP" sz="2000" dirty="0">
                <a:solidFill>
                  <a:schemeClr val="tx1"/>
                </a:solidFill>
              </a:rPr>
              <a:t> 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914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D20FCBE3029F4AA0E0EE143B1A9720" ma:contentTypeVersion="14" ma:contentTypeDescription="Create a new document." ma:contentTypeScope="" ma:versionID="68c9ce81374b8a90b4bed46871f442e4">
  <xsd:schema xmlns:xsd="http://www.w3.org/2001/XMLSchema" xmlns:xs="http://www.w3.org/2001/XMLSchema" xmlns:p="http://schemas.microsoft.com/office/2006/metadata/properties" xmlns:ns3="2552c344-4a18-445a-987f-cf4271fab47b" xmlns:ns4="70de10ac-0596-4c7f-8ec1-832412effb0d" targetNamespace="http://schemas.microsoft.com/office/2006/metadata/properties" ma:root="true" ma:fieldsID="08d45d6816b4c4c7e8abaab48c1d98fe" ns3:_="" ns4:_="">
    <xsd:import namespace="2552c344-4a18-445a-987f-cf4271fab47b"/>
    <xsd:import namespace="70de10ac-0596-4c7f-8ec1-832412ef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2c344-4a18-445a-987f-cf4271fab4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e10ac-0596-4c7f-8ec1-832412effb0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10E12D-B526-4D57-A320-61E967EA4837}">
  <ds:schemaRefs>
    <ds:schemaRef ds:uri="http://schemas.openxmlformats.org/package/2006/metadata/core-properties"/>
    <ds:schemaRef ds:uri="http://purl.org/dc/dcmitype/"/>
    <ds:schemaRef ds:uri="70de10ac-0596-4c7f-8ec1-832412effb0d"/>
    <ds:schemaRef ds:uri="2552c344-4a18-445a-987f-cf4271fab47b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14D67A2-CD16-4138-AD04-679E6E6086B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A44D5-4B04-4AA4-8D10-0308CC28B2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52c344-4a18-445a-987f-cf4271fab47b"/>
    <ds:schemaRef ds:uri="70de10ac-0596-4c7f-8ec1-832412effb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1045</TotalTime>
  <Words>919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Coo Hew</vt:lpstr>
      <vt:lpstr>Gidole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Adam Ward</dc:creator>
  <cp:lastModifiedBy>Adam Ward</cp:lastModifiedBy>
  <cp:revision>52</cp:revision>
  <dcterms:created xsi:type="dcterms:W3CDTF">2022-02-19T23:15:01Z</dcterms:created>
  <dcterms:modified xsi:type="dcterms:W3CDTF">2022-07-09T03:53:07Z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0x010100E1D20FCBE3029F4AA0E0EE143B1A9720</vt:lpwstr>
  </property>
</Properties>
</file>