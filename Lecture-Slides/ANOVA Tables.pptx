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96" r:id="rId4"/>
    <p:sldId id="297" r:id="rId5"/>
    <p:sldId id="285" r:id="rId6"/>
    <p:sldId id="2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10/08/2022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293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Applied Statistics with 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ANOVA Tables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C9041D-77F0-4656-90D4-0E84B7AC6B27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539E1FA8-24B4-FFD9-7C26-8B31D6C98125}"/>
              </a:ext>
            </a:extLst>
          </p:cNvPr>
          <p:cNvSpPr txBox="1">
            <a:spLocks/>
          </p:cNvSpPr>
          <p:nvPr/>
        </p:nvSpPr>
        <p:spPr>
          <a:xfrm>
            <a:off x="251223" y="237833"/>
            <a:ext cx="9197577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One-Way ANOVA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AC09C63B-DEDA-11CA-1297-AF6E4CB7A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576672"/>
              </p:ext>
            </p:extLst>
          </p:nvPr>
        </p:nvGraphicFramePr>
        <p:xfrm>
          <a:off x="968482" y="4068739"/>
          <a:ext cx="101731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687">
                  <a:extLst>
                    <a:ext uri="{9D8B030D-6E8A-4147-A177-3AD203B41FA5}">
                      <a16:colId xmlns:a16="http://schemas.microsoft.com/office/drawing/2014/main" val="4198110682"/>
                    </a:ext>
                  </a:extLst>
                </a:gridCol>
                <a:gridCol w="1298704">
                  <a:extLst>
                    <a:ext uri="{9D8B030D-6E8A-4147-A177-3AD203B41FA5}">
                      <a16:colId xmlns:a16="http://schemas.microsoft.com/office/drawing/2014/main" val="292302729"/>
                    </a:ext>
                  </a:extLst>
                </a:gridCol>
                <a:gridCol w="1313868">
                  <a:extLst>
                    <a:ext uri="{9D8B030D-6E8A-4147-A177-3AD203B41FA5}">
                      <a16:colId xmlns:a16="http://schemas.microsoft.com/office/drawing/2014/main" val="126256495"/>
                    </a:ext>
                  </a:extLst>
                </a:gridCol>
                <a:gridCol w="3116464">
                  <a:extLst>
                    <a:ext uri="{9D8B030D-6E8A-4147-A177-3AD203B41FA5}">
                      <a16:colId xmlns:a16="http://schemas.microsoft.com/office/drawing/2014/main" val="477450593"/>
                    </a:ext>
                  </a:extLst>
                </a:gridCol>
                <a:gridCol w="2289422">
                  <a:extLst>
                    <a:ext uri="{9D8B030D-6E8A-4147-A177-3AD203B41FA5}">
                      <a16:colId xmlns:a16="http://schemas.microsoft.com/office/drawing/2014/main" val="1101540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Source of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 err="1"/>
                        <a:t>df</a:t>
                      </a:r>
                      <a:endParaRPr lang="en-N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Mean Square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F-Statistic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50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N-1 = kn-1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TSS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485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k-1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MST = SST / (k-1)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MST / 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19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Residual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k (n-1)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MSE = SSE / [ k (n-1) 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376915"/>
                  </a:ext>
                </a:extLst>
              </a:tr>
            </a:tbl>
          </a:graphicData>
        </a:graphic>
      </p:graphicFrame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954FD4C5-9137-5CEF-85F7-B4BAABFAA832}"/>
              </a:ext>
            </a:extLst>
          </p:cNvPr>
          <p:cNvSpPr txBox="1">
            <a:spLocks/>
          </p:cNvSpPr>
          <p:nvPr/>
        </p:nvSpPr>
        <p:spPr>
          <a:xfrm>
            <a:off x="8215952" y="86139"/>
            <a:ext cx="38734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ANOVA Tables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CFE9EF7-CF59-9515-9330-F61924D6BF46}"/>
              </a:ext>
            </a:extLst>
          </p:cNvPr>
          <p:cNvSpPr txBox="1">
            <a:spLocks/>
          </p:cNvSpPr>
          <p:nvPr/>
        </p:nvSpPr>
        <p:spPr>
          <a:xfrm>
            <a:off x="251223" y="972290"/>
            <a:ext cx="11621464" cy="678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The information below shows the model equation and ANOVA table for a completely randomised balance design one-way ANOVA. Here there are </a:t>
            </a:r>
            <a:r>
              <a:rPr lang="en-NZ" altLang="ja-JP" sz="1800" b="1" i="1" dirty="0">
                <a:solidFill>
                  <a:schemeClr val="tx1"/>
                </a:solidFill>
              </a:rPr>
              <a:t>k</a:t>
            </a:r>
            <a:r>
              <a:rPr lang="en-NZ" altLang="ja-JP" sz="1800" dirty="0">
                <a:solidFill>
                  <a:schemeClr val="tx1"/>
                </a:solidFill>
              </a:rPr>
              <a:t> population groups each with </a:t>
            </a:r>
            <a:r>
              <a:rPr lang="en-NZ" altLang="ja-JP" sz="1800" b="1" i="1" dirty="0">
                <a:solidFill>
                  <a:schemeClr val="tx1"/>
                </a:solidFill>
              </a:rPr>
              <a:t>n</a:t>
            </a:r>
            <a:r>
              <a:rPr lang="en-NZ" altLang="ja-JP" sz="1800" dirty="0">
                <a:solidFill>
                  <a:schemeClr val="tx1"/>
                </a:solidFill>
              </a:rPr>
              <a:t> observations.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AC34F56B-6173-5ADE-0B8F-3B6B06E457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223" y="2314309"/>
                <a:ext cx="7350580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=     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∀ 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NZ" altLang="ja-JP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NZ" altLang="ja-JP" sz="1600" b="1" dirty="0">
                    <a:solidFill>
                      <a:srgbClr val="C00000"/>
                    </a:solidFill>
                  </a:rPr>
                  <a:t>  </a:t>
                </a:r>
              </a:p>
              <a:p>
                <a:pPr>
                  <a:lnSpc>
                    <a:spcPct val="100000"/>
                  </a:lnSpc>
                </a:pPr>
                <a:endParaRPr lang="en-NZ" altLang="ja-JP" sz="1600" b="1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en-NZ" altLang="ja-JP" sz="16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AC34F56B-6173-5ADE-0B8F-3B6B06E45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23" y="2314309"/>
                <a:ext cx="7350580" cy="4749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A679971-0CE0-A2BA-F80B-C23FC55BC0D7}"/>
              </a:ext>
            </a:extLst>
          </p:cNvPr>
          <p:cNvSpPr txBox="1">
            <a:spLocks/>
          </p:cNvSpPr>
          <p:nvPr/>
        </p:nvSpPr>
        <p:spPr>
          <a:xfrm>
            <a:off x="251223" y="1881847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Model Equation: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8C8BE4B-0ACB-F360-3836-8A3B6CD30F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2318" y="2800987"/>
                <a:ext cx="1828295" cy="4077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l-GR" altLang="ja-JP" sz="1600" b="1" i="1" dirty="0">
                        <a:solidFill>
                          <a:schemeClr val="tx1"/>
                        </a:solidFill>
                      </a:rPr>
                      <m:t>σ</m:t>
                    </m:r>
                    <m:r>
                      <m:rPr>
                        <m:nor/>
                      </m:rPr>
                      <a:rPr lang="en-NZ" altLang="ja-JP" sz="1600" b="1" i="1" baseline="30000" dirty="0">
                        <a:solidFill>
                          <a:schemeClr val="tx1"/>
                        </a:solidFill>
                      </a:rPr>
                      <m:t>2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1600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8C8BE4B-0ACB-F360-3836-8A3B6CD30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318" y="2800987"/>
                <a:ext cx="1828295" cy="407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CC04CC3C-D154-E47D-4F80-C8378EC429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5810" y="2551785"/>
                <a:ext cx="1828295" cy="81544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 </m:t>
                      </m:r>
                    </m:oMath>
                  </m:oMathPara>
                </a14:m>
                <a:endParaRPr lang="en-NZ" altLang="ja-JP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CC04CC3C-D154-E47D-4F80-C8378EC42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810" y="2551785"/>
                <a:ext cx="1828295" cy="815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D2DB8C5-9506-E80B-8DFC-D19815BEC87B}"/>
              </a:ext>
            </a:extLst>
          </p:cNvPr>
          <p:cNvSpPr txBox="1">
            <a:spLocks/>
          </p:cNvSpPr>
          <p:nvPr/>
        </p:nvSpPr>
        <p:spPr>
          <a:xfrm>
            <a:off x="511030" y="2830111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where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1D54D01-7DE6-E4E1-C699-6FAD2C7D9122}"/>
              </a:ext>
            </a:extLst>
          </p:cNvPr>
          <p:cNvSpPr txBox="1">
            <a:spLocks/>
          </p:cNvSpPr>
          <p:nvPr/>
        </p:nvSpPr>
        <p:spPr>
          <a:xfrm>
            <a:off x="2895566" y="2822875"/>
            <a:ext cx="2972684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 we have the constraint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87EF4C3-2701-E3CA-DE7C-6B3714A67668}"/>
              </a:ext>
            </a:extLst>
          </p:cNvPr>
          <p:cNvSpPr txBox="1">
            <a:spLocks/>
          </p:cNvSpPr>
          <p:nvPr/>
        </p:nvSpPr>
        <p:spPr>
          <a:xfrm>
            <a:off x="278518" y="3448001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ANOVA Table: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70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C9041D-77F0-4656-90D4-0E84B7AC6B27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539E1FA8-24B4-FFD9-7C26-8B31D6C98125}"/>
              </a:ext>
            </a:extLst>
          </p:cNvPr>
          <p:cNvSpPr txBox="1">
            <a:spLocks/>
          </p:cNvSpPr>
          <p:nvPr/>
        </p:nvSpPr>
        <p:spPr>
          <a:xfrm>
            <a:off x="251223" y="237833"/>
            <a:ext cx="9197577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Randomized Block Design (Fixed Effects Model)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AC09C63B-DEDA-11CA-1297-AF6E4CB7A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92363"/>
              </p:ext>
            </p:extLst>
          </p:nvPr>
        </p:nvGraphicFramePr>
        <p:xfrm>
          <a:off x="1173200" y="3866676"/>
          <a:ext cx="101731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687">
                  <a:extLst>
                    <a:ext uri="{9D8B030D-6E8A-4147-A177-3AD203B41FA5}">
                      <a16:colId xmlns:a16="http://schemas.microsoft.com/office/drawing/2014/main" val="4198110682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292302729"/>
                    </a:ext>
                  </a:extLst>
                </a:gridCol>
                <a:gridCol w="1538515">
                  <a:extLst>
                    <a:ext uri="{9D8B030D-6E8A-4147-A177-3AD203B41FA5}">
                      <a16:colId xmlns:a16="http://schemas.microsoft.com/office/drawing/2014/main" val="126256495"/>
                    </a:ext>
                  </a:extLst>
                </a:gridCol>
                <a:gridCol w="3116464">
                  <a:extLst>
                    <a:ext uri="{9D8B030D-6E8A-4147-A177-3AD203B41FA5}">
                      <a16:colId xmlns:a16="http://schemas.microsoft.com/office/drawing/2014/main" val="477450593"/>
                    </a:ext>
                  </a:extLst>
                </a:gridCol>
                <a:gridCol w="2289422">
                  <a:extLst>
                    <a:ext uri="{9D8B030D-6E8A-4147-A177-3AD203B41FA5}">
                      <a16:colId xmlns:a16="http://schemas.microsoft.com/office/drawing/2014/main" val="1101540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Source of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 err="1"/>
                        <a:t>df</a:t>
                      </a:r>
                      <a:endParaRPr lang="en-N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Mean Square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F-Statistic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50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N-1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TSS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485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a-1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MST = SST / (a-1)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MST / 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19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Blocks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b-1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MSB = SSB / (b-1)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MSB / 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38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Residual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N-a-b+1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MSE = SSE / (N-a-b+1)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376915"/>
                  </a:ext>
                </a:extLst>
              </a:tr>
            </a:tbl>
          </a:graphicData>
        </a:graphic>
      </p:graphicFrame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3C04BBE-D3B4-30D9-6122-3DB039D8528A}"/>
              </a:ext>
            </a:extLst>
          </p:cNvPr>
          <p:cNvSpPr txBox="1">
            <a:spLocks/>
          </p:cNvSpPr>
          <p:nvPr/>
        </p:nvSpPr>
        <p:spPr>
          <a:xfrm>
            <a:off x="8215952" y="86139"/>
            <a:ext cx="38734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ANOVA Tables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CD0968-CA67-3072-0EFF-A240300D3278}"/>
              </a:ext>
            </a:extLst>
          </p:cNvPr>
          <p:cNvSpPr txBox="1">
            <a:spLocks/>
          </p:cNvSpPr>
          <p:nvPr/>
        </p:nvSpPr>
        <p:spPr>
          <a:xfrm>
            <a:off x="251223" y="932174"/>
            <a:ext cx="11621464" cy="678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The information below shows the model equation and ANOVA table for a balanced randomised block design </a:t>
            </a:r>
            <a:br>
              <a:rPr lang="en-NZ" altLang="ja-JP" sz="1800" dirty="0">
                <a:solidFill>
                  <a:schemeClr val="tx1"/>
                </a:solidFill>
              </a:rPr>
            </a:br>
            <a:r>
              <a:rPr lang="en-NZ" altLang="ja-JP" sz="1800" b="1" dirty="0">
                <a:solidFill>
                  <a:schemeClr val="tx1"/>
                </a:solidFill>
              </a:rPr>
              <a:t>fixed effects</a:t>
            </a:r>
            <a:r>
              <a:rPr lang="en-NZ" altLang="ja-JP" sz="1800" dirty="0">
                <a:solidFill>
                  <a:schemeClr val="tx1"/>
                </a:solidFill>
              </a:rPr>
              <a:t> model with </a:t>
            </a:r>
            <a:r>
              <a:rPr lang="en-NZ" altLang="ja-JP" sz="1800" b="1" i="1" dirty="0">
                <a:solidFill>
                  <a:schemeClr val="tx1"/>
                </a:solidFill>
              </a:rPr>
              <a:t>a</a:t>
            </a:r>
            <a:r>
              <a:rPr lang="en-NZ" altLang="ja-JP" sz="1800" dirty="0">
                <a:solidFill>
                  <a:schemeClr val="tx1"/>
                </a:solidFill>
              </a:rPr>
              <a:t> factor levels, </a:t>
            </a:r>
            <a:r>
              <a:rPr lang="en-NZ" altLang="ja-JP" sz="1800" b="1" i="1" dirty="0">
                <a:solidFill>
                  <a:schemeClr val="tx1"/>
                </a:solidFill>
              </a:rPr>
              <a:t>b</a:t>
            </a:r>
            <a:r>
              <a:rPr lang="en-NZ" altLang="ja-JP" sz="1800" dirty="0">
                <a:solidFill>
                  <a:schemeClr val="tx1"/>
                </a:solidFill>
              </a:rPr>
              <a:t> blocking levels and </a:t>
            </a:r>
            <a:r>
              <a:rPr lang="en-NZ" altLang="ja-JP" sz="1800" b="1" i="1" dirty="0">
                <a:solidFill>
                  <a:schemeClr val="tx1"/>
                </a:solidFill>
              </a:rPr>
              <a:t>n </a:t>
            </a:r>
            <a:r>
              <a:rPr lang="en-NZ" altLang="ja-JP" sz="1800" dirty="0">
                <a:solidFill>
                  <a:schemeClr val="tx1"/>
                </a:solidFill>
              </a:rPr>
              <a:t>replicates.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933AA98-C77F-5DA2-DB19-B6160FA034B0}"/>
              </a:ext>
            </a:extLst>
          </p:cNvPr>
          <p:cNvSpPr txBox="1">
            <a:spLocks/>
          </p:cNvSpPr>
          <p:nvPr/>
        </p:nvSpPr>
        <p:spPr>
          <a:xfrm>
            <a:off x="251223" y="1711726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Model Equation: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7399F97-2BCF-1B4C-C7E4-92C15162D6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222" y="2115064"/>
                <a:ext cx="9969372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𝝁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7399F97-2BCF-1B4C-C7E4-92C1516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22" y="2115064"/>
                <a:ext cx="9969372" cy="4749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2590BC8-EA4D-5D27-222D-C8CD5ED805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33" y="2610233"/>
                <a:ext cx="1828295" cy="4077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𝒊𝒋𝒌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l-GR" altLang="ja-JP" sz="1600" b="1" i="1" dirty="0">
                        <a:solidFill>
                          <a:schemeClr val="tx1"/>
                        </a:solidFill>
                      </a:rPr>
                      <m:t>σ</m:t>
                    </m:r>
                    <m:r>
                      <m:rPr>
                        <m:nor/>
                      </m:rPr>
                      <a:rPr lang="en-NZ" altLang="ja-JP" sz="1600" b="1" i="1" baseline="30000" dirty="0">
                        <a:solidFill>
                          <a:schemeClr val="tx1"/>
                        </a:solidFill>
                      </a:rPr>
                      <m:t>2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1600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2590BC8-EA4D-5D27-222D-C8CD5ED80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33" y="2610233"/>
                <a:ext cx="1828295" cy="407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8A22F16-0AE1-4C2D-FA90-227AE337A573}"/>
              </a:ext>
            </a:extLst>
          </p:cNvPr>
          <p:cNvSpPr txBox="1">
            <a:spLocks/>
          </p:cNvSpPr>
          <p:nvPr/>
        </p:nvSpPr>
        <p:spPr>
          <a:xfrm>
            <a:off x="115245" y="2639357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where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FE61DA4-D7E3-CD51-3426-F2A439F64FAE}"/>
              </a:ext>
            </a:extLst>
          </p:cNvPr>
          <p:cNvSpPr txBox="1">
            <a:spLocks/>
          </p:cNvSpPr>
          <p:nvPr/>
        </p:nvSpPr>
        <p:spPr>
          <a:xfrm>
            <a:off x="2764828" y="2639356"/>
            <a:ext cx="2972684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 we have the constraints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73993445-BC93-2A46-10BA-0AE6618653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91617" y="2590017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𝜶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73993445-BC93-2A46-10BA-0AE661865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617" y="2590017"/>
                <a:ext cx="1405094" cy="444936"/>
              </a:xfrm>
              <a:prstGeom prst="rect">
                <a:avLst/>
              </a:prstGeom>
              <a:blipFill>
                <a:blip r:embed="rId4"/>
                <a:stretch>
                  <a:fillRect l="-23810" t="-100000" b="-1369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953723F6-34D0-AE40-0794-8F222DED69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1754" y="2587716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𝒋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𝒃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953723F6-34D0-AE40-0794-8F222DED6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754" y="2587716"/>
                <a:ext cx="1405094" cy="444936"/>
              </a:xfrm>
              <a:prstGeom prst="rect">
                <a:avLst/>
              </a:prstGeom>
              <a:blipFill>
                <a:blip r:embed="rId5"/>
                <a:stretch>
                  <a:fillRect l="-23810" t="-93151" b="-14383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3AA8C90-F6C5-7BAA-A688-432745010FB9}"/>
              </a:ext>
            </a:extLst>
          </p:cNvPr>
          <p:cNvSpPr txBox="1">
            <a:spLocks/>
          </p:cNvSpPr>
          <p:nvPr/>
        </p:nvSpPr>
        <p:spPr>
          <a:xfrm>
            <a:off x="251222" y="3296230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ANOVA Table: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02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C9041D-77F0-4656-90D4-0E84B7AC6B27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539E1FA8-24B4-FFD9-7C26-8B31D6C98125}"/>
              </a:ext>
            </a:extLst>
          </p:cNvPr>
          <p:cNvSpPr txBox="1">
            <a:spLocks/>
          </p:cNvSpPr>
          <p:nvPr/>
        </p:nvSpPr>
        <p:spPr>
          <a:xfrm>
            <a:off x="251223" y="237833"/>
            <a:ext cx="9197577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Randomized Block Design (Mixed Effects Model)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AC09C63B-DEDA-11CA-1297-AF6E4CB7A985}"/>
              </a:ext>
            </a:extLst>
          </p:cNvPr>
          <p:cNvGraphicFramePr>
            <a:graphicFrameLocks noGrp="1"/>
          </p:cNvGraphicFramePr>
          <p:nvPr/>
        </p:nvGraphicFramePr>
        <p:xfrm>
          <a:off x="1173200" y="3866676"/>
          <a:ext cx="101731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687">
                  <a:extLst>
                    <a:ext uri="{9D8B030D-6E8A-4147-A177-3AD203B41FA5}">
                      <a16:colId xmlns:a16="http://schemas.microsoft.com/office/drawing/2014/main" val="4198110682"/>
                    </a:ext>
                  </a:extLst>
                </a:gridCol>
                <a:gridCol w="1074057">
                  <a:extLst>
                    <a:ext uri="{9D8B030D-6E8A-4147-A177-3AD203B41FA5}">
                      <a16:colId xmlns:a16="http://schemas.microsoft.com/office/drawing/2014/main" val="292302729"/>
                    </a:ext>
                  </a:extLst>
                </a:gridCol>
                <a:gridCol w="1538515">
                  <a:extLst>
                    <a:ext uri="{9D8B030D-6E8A-4147-A177-3AD203B41FA5}">
                      <a16:colId xmlns:a16="http://schemas.microsoft.com/office/drawing/2014/main" val="126256495"/>
                    </a:ext>
                  </a:extLst>
                </a:gridCol>
                <a:gridCol w="3116464">
                  <a:extLst>
                    <a:ext uri="{9D8B030D-6E8A-4147-A177-3AD203B41FA5}">
                      <a16:colId xmlns:a16="http://schemas.microsoft.com/office/drawing/2014/main" val="477450593"/>
                    </a:ext>
                  </a:extLst>
                </a:gridCol>
                <a:gridCol w="2289422">
                  <a:extLst>
                    <a:ext uri="{9D8B030D-6E8A-4147-A177-3AD203B41FA5}">
                      <a16:colId xmlns:a16="http://schemas.microsoft.com/office/drawing/2014/main" val="1101540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Source of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 err="1"/>
                        <a:t>df</a:t>
                      </a:r>
                      <a:endParaRPr lang="en-N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Mean Square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F-Statistic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50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N-1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TSS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485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a-1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MST = SST / (a-1)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MST / 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19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Blocks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b-1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MSB = SSB / (b-1)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MSB / 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38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Residual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N-a-b+1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SSE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dirty="0"/>
                        <a:t>MSE = SSE / (N-a-b+1)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376915"/>
                  </a:ext>
                </a:extLst>
              </a:tr>
            </a:tbl>
          </a:graphicData>
        </a:graphic>
      </p:graphicFrame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3C04BBE-D3B4-30D9-6122-3DB039D8528A}"/>
              </a:ext>
            </a:extLst>
          </p:cNvPr>
          <p:cNvSpPr txBox="1">
            <a:spLocks/>
          </p:cNvSpPr>
          <p:nvPr/>
        </p:nvSpPr>
        <p:spPr>
          <a:xfrm>
            <a:off x="8215952" y="86139"/>
            <a:ext cx="38734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ANOVA Tables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CD0968-CA67-3072-0EFF-A240300D3278}"/>
              </a:ext>
            </a:extLst>
          </p:cNvPr>
          <p:cNvSpPr txBox="1">
            <a:spLocks/>
          </p:cNvSpPr>
          <p:nvPr/>
        </p:nvSpPr>
        <p:spPr>
          <a:xfrm>
            <a:off x="251223" y="932174"/>
            <a:ext cx="11621464" cy="678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The information below shows the model equation and ANOVA table for a balanced randomised block design </a:t>
            </a:r>
            <a:br>
              <a:rPr lang="en-NZ" altLang="ja-JP" sz="1800" dirty="0">
                <a:solidFill>
                  <a:schemeClr val="tx1"/>
                </a:solidFill>
              </a:rPr>
            </a:br>
            <a:r>
              <a:rPr lang="en-NZ" altLang="ja-JP" sz="1800" b="1" dirty="0">
                <a:solidFill>
                  <a:schemeClr val="tx1"/>
                </a:solidFill>
              </a:rPr>
              <a:t>mixed effects</a:t>
            </a:r>
            <a:r>
              <a:rPr lang="en-NZ" altLang="ja-JP" sz="1800" dirty="0">
                <a:solidFill>
                  <a:schemeClr val="tx1"/>
                </a:solidFill>
              </a:rPr>
              <a:t> model with </a:t>
            </a:r>
            <a:r>
              <a:rPr lang="en-NZ" altLang="ja-JP" sz="1800" b="1" i="1" dirty="0">
                <a:solidFill>
                  <a:schemeClr val="tx1"/>
                </a:solidFill>
              </a:rPr>
              <a:t>a</a:t>
            </a:r>
            <a:r>
              <a:rPr lang="en-NZ" altLang="ja-JP" sz="1800" dirty="0">
                <a:solidFill>
                  <a:schemeClr val="tx1"/>
                </a:solidFill>
              </a:rPr>
              <a:t> factor levels, </a:t>
            </a:r>
            <a:r>
              <a:rPr lang="en-NZ" altLang="ja-JP" sz="1800" b="1" i="1" dirty="0">
                <a:solidFill>
                  <a:schemeClr val="tx1"/>
                </a:solidFill>
              </a:rPr>
              <a:t>b</a:t>
            </a:r>
            <a:r>
              <a:rPr lang="en-NZ" altLang="ja-JP" sz="1800" dirty="0">
                <a:solidFill>
                  <a:schemeClr val="tx1"/>
                </a:solidFill>
              </a:rPr>
              <a:t> blocking levels and </a:t>
            </a:r>
            <a:r>
              <a:rPr lang="en-NZ" altLang="ja-JP" sz="1800" b="1" i="1" dirty="0">
                <a:solidFill>
                  <a:schemeClr val="tx1"/>
                </a:solidFill>
              </a:rPr>
              <a:t>n </a:t>
            </a:r>
            <a:r>
              <a:rPr lang="en-NZ" altLang="ja-JP" sz="1800" dirty="0">
                <a:solidFill>
                  <a:schemeClr val="tx1"/>
                </a:solidFill>
              </a:rPr>
              <a:t>replicates.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933AA98-C77F-5DA2-DB19-B6160FA034B0}"/>
              </a:ext>
            </a:extLst>
          </p:cNvPr>
          <p:cNvSpPr txBox="1">
            <a:spLocks/>
          </p:cNvSpPr>
          <p:nvPr/>
        </p:nvSpPr>
        <p:spPr>
          <a:xfrm>
            <a:off x="251223" y="1711726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Model Equation: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7399F97-2BCF-1B4C-C7E4-92C15162D6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222" y="2115064"/>
                <a:ext cx="8632585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𝝁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𝑩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NZ" altLang="ja-JP" sz="1800" b="1" dirty="0">
                  <a:solidFill>
                    <a:srgbClr val="C00000"/>
                  </a:solidFill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67399F97-2BCF-1B4C-C7E4-92C15162D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22" y="2115064"/>
                <a:ext cx="8632585" cy="4749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2590BC8-EA4D-5D27-222D-C8CD5ED805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33" y="2610233"/>
                <a:ext cx="1828295" cy="4077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𝒊𝒋𝒌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l-GR" altLang="ja-JP" sz="1600" b="1" i="1" dirty="0">
                        <a:solidFill>
                          <a:schemeClr val="tx1"/>
                        </a:solidFill>
                      </a:rPr>
                      <m:t>σ</m:t>
                    </m:r>
                    <m:r>
                      <m:rPr>
                        <m:nor/>
                      </m:rPr>
                      <a:rPr lang="en-NZ" altLang="ja-JP" sz="1600" b="1" i="1" baseline="30000" dirty="0">
                        <a:solidFill>
                          <a:schemeClr val="tx1"/>
                        </a:solidFill>
                      </a:rPr>
                      <m:t>2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1600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2590BC8-EA4D-5D27-222D-C8CD5ED80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33" y="2610233"/>
                <a:ext cx="1828295" cy="407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8A22F16-0AE1-4C2D-FA90-227AE337A573}"/>
              </a:ext>
            </a:extLst>
          </p:cNvPr>
          <p:cNvSpPr txBox="1">
            <a:spLocks/>
          </p:cNvSpPr>
          <p:nvPr/>
        </p:nvSpPr>
        <p:spPr>
          <a:xfrm>
            <a:off x="115245" y="2639357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where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FE61DA4-D7E3-CD51-3426-F2A439F64FAE}"/>
              </a:ext>
            </a:extLst>
          </p:cNvPr>
          <p:cNvSpPr txBox="1">
            <a:spLocks/>
          </p:cNvSpPr>
          <p:nvPr/>
        </p:nvSpPr>
        <p:spPr>
          <a:xfrm>
            <a:off x="5524613" y="2677264"/>
            <a:ext cx="2972684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 we have the constraints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73993445-BC93-2A46-10BA-0AE6618653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83807" y="2655714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𝜶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73993445-BC93-2A46-10BA-0AE661865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807" y="2655714"/>
                <a:ext cx="1405094" cy="444936"/>
              </a:xfrm>
              <a:prstGeom prst="rect">
                <a:avLst/>
              </a:prstGeom>
              <a:blipFill>
                <a:blip r:embed="rId4"/>
                <a:stretch>
                  <a:fillRect l="-23810" t="-100000" b="-1369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3AA8C90-F6C5-7BAA-A688-432745010FB9}"/>
              </a:ext>
            </a:extLst>
          </p:cNvPr>
          <p:cNvSpPr txBox="1">
            <a:spLocks/>
          </p:cNvSpPr>
          <p:nvPr/>
        </p:nvSpPr>
        <p:spPr>
          <a:xfrm>
            <a:off x="251222" y="3296230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ANOVA Table: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6EFAD3-2F38-008E-6CB5-AAF55A136027}"/>
                  </a:ext>
                </a:extLst>
              </p:cNvPr>
              <p:cNvSpPr txBox="1"/>
              <p:nvPr/>
            </p:nvSpPr>
            <p:spPr>
              <a:xfrm>
                <a:off x="3696318" y="2613255"/>
                <a:ext cx="1828295" cy="415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endParaRPr lang="en-NZ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6EFAD3-2F38-008E-6CB5-AAF55A136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318" y="2613255"/>
                <a:ext cx="1828295" cy="415435"/>
              </a:xfrm>
              <a:prstGeom prst="rect">
                <a:avLst/>
              </a:prstGeom>
              <a:blipFill>
                <a:blip r:embed="rId5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732D592-2A90-AAB9-EBAC-9B791BA82B00}"/>
              </a:ext>
            </a:extLst>
          </p:cNvPr>
          <p:cNvSpPr txBox="1">
            <a:spLocks/>
          </p:cNvSpPr>
          <p:nvPr/>
        </p:nvSpPr>
        <p:spPr>
          <a:xfrm>
            <a:off x="2605646" y="2639357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2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C9041D-77F0-4656-90D4-0E84B7AC6B27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2">
                <a:extLst>
                  <a:ext uri="{FF2B5EF4-FFF2-40B4-BE49-F238E27FC236}">
                    <a16:creationId xmlns:a16="http://schemas.microsoft.com/office/drawing/2014/main" id="{AC09C63B-DEDA-11CA-1297-AF6E4CB7A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6083331"/>
                  </p:ext>
                </p:extLst>
              </p:nvPr>
            </p:nvGraphicFramePr>
            <p:xfrm>
              <a:off x="282015" y="3802453"/>
              <a:ext cx="11490547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83141">
                      <a:extLst>
                        <a:ext uri="{9D8B030D-6E8A-4147-A177-3AD203B41FA5}">
                          <a16:colId xmlns:a16="http://schemas.microsoft.com/office/drawing/2014/main" val="4198110682"/>
                        </a:ext>
                      </a:extLst>
                    </a:gridCol>
                    <a:gridCol w="1037229">
                      <a:extLst>
                        <a:ext uri="{9D8B030D-6E8A-4147-A177-3AD203B41FA5}">
                          <a16:colId xmlns:a16="http://schemas.microsoft.com/office/drawing/2014/main" val="292302729"/>
                        </a:ext>
                      </a:extLst>
                    </a:gridCol>
                    <a:gridCol w="1419368">
                      <a:extLst>
                        <a:ext uri="{9D8B030D-6E8A-4147-A177-3AD203B41FA5}">
                          <a16:colId xmlns:a16="http://schemas.microsoft.com/office/drawing/2014/main" val="126256495"/>
                        </a:ext>
                      </a:extLst>
                    </a:gridCol>
                    <a:gridCol w="2729552">
                      <a:extLst>
                        <a:ext uri="{9D8B030D-6E8A-4147-A177-3AD203B41FA5}">
                          <a16:colId xmlns:a16="http://schemas.microsoft.com/office/drawing/2014/main" val="477450593"/>
                        </a:ext>
                      </a:extLst>
                    </a:gridCol>
                    <a:gridCol w="2788657">
                      <a:extLst>
                        <a:ext uri="{9D8B030D-6E8A-4147-A177-3AD203B41FA5}">
                          <a16:colId xmlns:a16="http://schemas.microsoft.com/office/drawing/2014/main" val="3785429377"/>
                        </a:ext>
                      </a:extLst>
                    </a:gridCol>
                    <a:gridCol w="1932600">
                      <a:extLst>
                        <a:ext uri="{9D8B030D-6E8A-4147-A177-3AD203B41FA5}">
                          <a16:colId xmlns:a16="http://schemas.microsoft.com/office/drawing/2014/main" val="11015401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Source of Variation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 err="1"/>
                            <a:t>df</a:t>
                          </a:r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Mean Square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E [ Mean Squares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F-Statistic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6350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abn-1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TSS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485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</a:t>
                          </a:r>
                          <a:r>
                            <a:rPr lang="en-NZ" baseline="-25000" dirty="0"/>
                            <a:t>A</a:t>
                          </a:r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</a:t>
                          </a:r>
                          <a:r>
                            <a:rPr lang="en-NZ" baseline="-25000" dirty="0"/>
                            <a:t>A</a:t>
                          </a:r>
                          <a:r>
                            <a:rPr lang="en-NZ" dirty="0"/>
                            <a:t> = SS</a:t>
                          </a:r>
                          <a:r>
                            <a:rPr lang="en-NZ" baseline="-25000" dirty="0"/>
                            <a:t>A</a:t>
                          </a:r>
                          <a:r>
                            <a:rPr lang="en-NZ" dirty="0"/>
                            <a:t> / (a-1)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+  </m:t>
                                </m:r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 +  </m:t>
                                </m:r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𝑏𝑛</m:t>
                                </m:r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d>
                                  <m:dPr>
                                    <m:ctrlP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MSA / MS</a:t>
                          </a:r>
                          <a:r>
                            <a:rPr lang="en-NZ" baseline="-25000" dirty="0"/>
                            <a:t>B(A)</a:t>
                          </a:r>
                          <a:endParaRPr lang="en-NZ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1980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B(A)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a(b-1)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</a:t>
                          </a:r>
                          <a:r>
                            <a:rPr lang="en-NZ" baseline="-25000" dirty="0"/>
                            <a:t>B(A)</a:t>
                          </a:r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</a:t>
                          </a:r>
                          <a:r>
                            <a:rPr lang="en-NZ" baseline="-25000" dirty="0"/>
                            <a:t>B(A)</a:t>
                          </a:r>
                          <a:r>
                            <a:rPr lang="en-NZ" dirty="0"/>
                            <a:t> = SS</a:t>
                          </a:r>
                          <a:r>
                            <a:rPr lang="en-NZ" baseline="-25000" dirty="0"/>
                            <a:t>B(A)</a:t>
                          </a:r>
                          <a:r>
                            <a:rPr lang="en-NZ" dirty="0"/>
                            <a:t> / [ a(b-1)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+  </m:t>
                                </m:r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NZ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</a:t>
                          </a:r>
                          <a:r>
                            <a:rPr lang="en-NZ" baseline="-25000" dirty="0"/>
                            <a:t>B(A)</a:t>
                          </a:r>
                          <a:r>
                            <a:rPr lang="en-NZ" dirty="0"/>
                            <a:t> / MSE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738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Residual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ab(n-1)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MSE = SSE / [ ab(n-1)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NZ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83769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2">
                <a:extLst>
                  <a:ext uri="{FF2B5EF4-FFF2-40B4-BE49-F238E27FC236}">
                    <a16:creationId xmlns:a16="http://schemas.microsoft.com/office/drawing/2014/main" id="{AC09C63B-DEDA-11CA-1297-AF6E4CB7A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6083331"/>
                  </p:ext>
                </p:extLst>
              </p:nvPr>
            </p:nvGraphicFramePr>
            <p:xfrm>
              <a:off x="282015" y="3802453"/>
              <a:ext cx="11490547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83141">
                      <a:extLst>
                        <a:ext uri="{9D8B030D-6E8A-4147-A177-3AD203B41FA5}">
                          <a16:colId xmlns:a16="http://schemas.microsoft.com/office/drawing/2014/main" val="4198110682"/>
                        </a:ext>
                      </a:extLst>
                    </a:gridCol>
                    <a:gridCol w="1037229">
                      <a:extLst>
                        <a:ext uri="{9D8B030D-6E8A-4147-A177-3AD203B41FA5}">
                          <a16:colId xmlns:a16="http://schemas.microsoft.com/office/drawing/2014/main" val="292302729"/>
                        </a:ext>
                      </a:extLst>
                    </a:gridCol>
                    <a:gridCol w="1419368">
                      <a:extLst>
                        <a:ext uri="{9D8B030D-6E8A-4147-A177-3AD203B41FA5}">
                          <a16:colId xmlns:a16="http://schemas.microsoft.com/office/drawing/2014/main" val="126256495"/>
                        </a:ext>
                      </a:extLst>
                    </a:gridCol>
                    <a:gridCol w="2729552">
                      <a:extLst>
                        <a:ext uri="{9D8B030D-6E8A-4147-A177-3AD203B41FA5}">
                          <a16:colId xmlns:a16="http://schemas.microsoft.com/office/drawing/2014/main" val="477450593"/>
                        </a:ext>
                      </a:extLst>
                    </a:gridCol>
                    <a:gridCol w="2788657">
                      <a:extLst>
                        <a:ext uri="{9D8B030D-6E8A-4147-A177-3AD203B41FA5}">
                          <a16:colId xmlns:a16="http://schemas.microsoft.com/office/drawing/2014/main" val="3785429377"/>
                        </a:ext>
                      </a:extLst>
                    </a:gridCol>
                    <a:gridCol w="1932600">
                      <a:extLst>
                        <a:ext uri="{9D8B030D-6E8A-4147-A177-3AD203B41FA5}">
                          <a16:colId xmlns:a16="http://schemas.microsoft.com/office/drawing/2014/main" val="110154016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Source of Variation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 err="1"/>
                            <a:t>df</a:t>
                          </a:r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Mean Square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E [ Mean Squares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F-Statistic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6350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abn-1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TSS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485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</a:t>
                          </a:r>
                          <a:r>
                            <a:rPr lang="en-NZ" baseline="-25000" dirty="0"/>
                            <a:t>A</a:t>
                          </a:r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</a:t>
                          </a:r>
                          <a:r>
                            <a:rPr lang="en-NZ" baseline="-25000" dirty="0"/>
                            <a:t>A</a:t>
                          </a:r>
                          <a:r>
                            <a:rPr lang="en-NZ" dirty="0"/>
                            <a:t> = SS</a:t>
                          </a:r>
                          <a:r>
                            <a:rPr lang="en-NZ" baseline="-25000" dirty="0"/>
                            <a:t>A</a:t>
                          </a:r>
                          <a:r>
                            <a:rPr lang="en-NZ" dirty="0"/>
                            <a:t> / (a-1)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795" t="-281967" r="-7008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MSA / MS</a:t>
                          </a:r>
                          <a:r>
                            <a:rPr lang="en-NZ" baseline="-25000" dirty="0"/>
                            <a:t>B(A)</a:t>
                          </a:r>
                          <a:endParaRPr lang="en-NZ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1980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B(A)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a(b-1)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</a:t>
                          </a:r>
                          <a:r>
                            <a:rPr lang="en-NZ" baseline="-25000" dirty="0"/>
                            <a:t>B(A)</a:t>
                          </a:r>
                          <a:endParaRPr lang="en-NZ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</a:t>
                          </a:r>
                          <a:r>
                            <a:rPr lang="en-NZ" baseline="-25000" dirty="0"/>
                            <a:t>B(A)</a:t>
                          </a:r>
                          <a:r>
                            <a:rPr lang="en-NZ" dirty="0"/>
                            <a:t> = SS</a:t>
                          </a:r>
                          <a:r>
                            <a:rPr lang="en-NZ" baseline="-25000" dirty="0"/>
                            <a:t>B(A)</a:t>
                          </a:r>
                          <a:r>
                            <a:rPr lang="en-NZ" dirty="0"/>
                            <a:t> / [ a(b-1)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795" t="-381967" r="-7008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</a:t>
                          </a:r>
                          <a:r>
                            <a:rPr lang="en-NZ" baseline="-25000" dirty="0"/>
                            <a:t>B(A)</a:t>
                          </a:r>
                          <a:r>
                            <a:rPr lang="en-NZ" dirty="0"/>
                            <a:t> / MSE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738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Residual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ab(n-1)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SSE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dirty="0"/>
                            <a:t>MSE = SSE / [ ab(n-1)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2795" t="-481967" r="-7008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83769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itle 6">
            <a:extLst>
              <a:ext uri="{FF2B5EF4-FFF2-40B4-BE49-F238E27FC236}">
                <a16:creationId xmlns:a16="http://schemas.microsoft.com/office/drawing/2014/main" id="{7C963C88-6E6E-2444-9663-776716CBAA9D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9411391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Two-Stage Nested Design with Mixed Effects: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1ABFDB76-E490-CD10-5057-CF8EB3B2AB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1942" y="6096518"/>
                <a:ext cx="3080745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游ゴシック" panose="020B0400000000000000" pitchFamily="34" charset="-128"/>
                    <a:cs typeface="+mn-cs"/>
                  </a:rPr>
                  <a:t>Where  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𝒗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𝜶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= </m:t>
                    </m:r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f>
                          <m:f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𝒊</m:t>
                                </m:r>
                              </m:sub>
                              <m:sup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𝟐</m:t>
                                </m:r>
                              </m:sup>
                            </m:sSubSup>
                          </m:num>
                          <m:den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𝒂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−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𝟏</m:t>
                            </m:r>
                          </m:den>
                        </m:f>
                      </m:e>
                    </m:nary>
                  </m:oMath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1ABFDB76-E490-CD10-5057-CF8EB3B2A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942" y="6096518"/>
                <a:ext cx="3080745" cy="675343"/>
              </a:xfrm>
              <a:prstGeom prst="rect">
                <a:avLst/>
              </a:prstGeom>
              <a:blipFill>
                <a:blip r:embed="rId3"/>
                <a:stretch>
                  <a:fillRect l="-158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6C2D0934-7E3F-E633-CEC2-6E2F6D18DEF4}"/>
              </a:ext>
            </a:extLst>
          </p:cNvPr>
          <p:cNvSpPr txBox="1">
            <a:spLocks/>
          </p:cNvSpPr>
          <p:nvPr/>
        </p:nvSpPr>
        <p:spPr>
          <a:xfrm>
            <a:off x="8215952" y="86139"/>
            <a:ext cx="38734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ANOVA Tables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EAF5048-2A0D-5DDA-441F-209B38EDFAFD}"/>
              </a:ext>
            </a:extLst>
          </p:cNvPr>
          <p:cNvSpPr txBox="1">
            <a:spLocks/>
          </p:cNvSpPr>
          <p:nvPr/>
        </p:nvSpPr>
        <p:spPr>
          <a:xfrm>
            <a:off x="251223" y="932174"/>
            <a:ext cx="11621464" cy="678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The information below shows the model equation and ANOVA table for a mixed effects, balanced 2-stage nested design. Here Factor A has </a:t>
            </a:r>
            <a:r>
              <a:rPr lang="en-NZ" altLang="ja-JP" sz="1800" b="1" i="1" dirty="0">
                <a:solidFill>
                  <a:schemeClr val="tx1"/>
                </a:solidFill>
              </a:rPr>
              <a:t>a</a:t>
            </a:r>
            <a:r>
              <a:rPr lang="en-NZ" altLang="ja-JP" sz="1800" dirty="0">
                <a:solidFill>
                  <a:schemeClr val="tx1"/>
                </a:solidFill>
              </a:rPr>
              <a:t> levels, Factor B has </a:t>
            </a:r>
            <a:r>
              <a:rPr lang="en-NZ" altLang="ja-JP" sz="1800" b="1" i="1" dirty="0">
                <a:solidFill>
                  <a:schemeClr val="tx1"/>
                </a:solidFill>
              </a:rPr>
              <a:t>b</a:t>
            </a:r>
            <a:r>
              <a:rPr lang="en-NZ" altLang="ja-JP" sz="1800" dirty="0">
                <a:solidFill>
                  <a:schemeClr val="tx1"/>
                </a:solidFill>
              </a:rPr>
              <a:t> levels (nested inside Factor A) and there are </a:t>
            </a:r>
            <a:r>
              <a:rPr lang="en-NZ" altLang="ja-JP" sz="1800" b="1" i="1" dirty="0">
                <a:solidFill>
                  <a:schemeClr val="tx1"/>
                </a:solidFill>
              </a:rPr>
              <a:t>n</a:t>
            </a:r>
            <a:r>
              <a:rPr lang="en-NZ" altLang="ja-JP" sz="1800" dirty="0">
                <a:solidFill>
                  <a:schemeClr val="tx1"/>
                </a:solidFill>
              </a:rPr>
              <a:t> replicates.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1B76F312-9EE6-EE69-3E14-45D2A41A1E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2014" y="2115064"/>
                <a:ext cx="9380601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𝒀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𝒊𝒋𝒌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 =   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𝝁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𝜶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𝑩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𝒌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𝒊𝒋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b>
                    </m:sSub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  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NZ" altLang="ja-JP" sz="1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NZ" altLang="ja-JP" sz="1800" b="1" i="1" dirty="0">
                  <a:solidFill>
                    <a:srgbClr val="C00000"/>
                  </a:solidFill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1B76F312-9EE6-EE69-3E14-45D2A41A1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14" y="2115064"/>
                <a:ext cx="9380601" cy="474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4248397-E072-ADE8-F8AF-1A1FDA4FF68F}"/>
              </a:ext>
            </a:extLst>
          </p:cNvPr>
          <p:cNvSpPr txBox="1">
            <a:spLocks/>
          </p:cNvSpPr>
          <p:nvPr/>
        </p:nvSpPr>
        <p:spPr>
          <a:xfrm>
            <a:off x="251223" y="1711726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Model Equation: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F3A2B665-218E-1F9B-B507-B75C256045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2811" y="2676156"/>
                <a:ext cx="1828295" cy="4077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l-GR" altLang="ja-JP" sz="1600" b="1" i="1" dirty="0">
                        <a:solidFill>
                          <a:schemeClr val="tx1"/>
                        </a:solidFill>
                      </a:rPr>
                      <m:t>σ</m:t>
                    </m:r>
                    <m:r>
                      <m:rPr>
                        <m:nor/>
                      </m:rPr>
                      <a:rPr lang="en-NZ" altLang="ja-JP" sz="1600" b="1" i="1" baseline="30000" dirty="0">
                        <a:solidFill>
                          <a:schemeClr val="tx1"/>
                        </a:solidFill>
                      </a:rPr>
                      <m:t>2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1600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F3A2B665-218E-1F9B-B507-B75C25604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11" y="2676156"/>
                <a:ext cx="1828295" cy="407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0F30F07-C41C-43E4-51E7-67698A1859C9}"/>
              </a:ext>
            </a:extLst>
          </p:cNvPr>
          <p:cNvSpPr txBox="1">
            <a:spLocks/>
          </p:cNvSpPr>
          <p:nvPr/>
        </p:nvSpPr>
        <p:spPr>
          <a:xfrm>
            <a:off x="41523" y="2705280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where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7390CAAD-13DE-D35B-2D2A-2B509E5B47F2}"/>
              </a:ext>
            </a:extLst>
          </p:cNvPr>
          <p:cNvSpPr txBox="1">
            <a:spLocks/>
          </p:cNvSpPr>
          <p:nvPr/>
        </p:nvSpPr>
        <p:spPr>
          <a:xfrm>
            <a:off x="5450891" y="2743187"/>
            <a:ext cx="2972684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 we have the constraints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2C6756C-F340-AD8E-BF0F-0AF4156ADB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10085" y="2721637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𝜶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D2C6756C-F340-AD8E-BF0F-0AF4156AD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085" y="2721637"/>
                <a:ext cx="1405094" cy="444936"/>
              </a:xfrm>
              <a:prstGeom prst="rect">
                <a:avLst/>
              </a:prstGeom>
              <a:blipFill>
                <a:blip r:embed="rId6"/>
                <a:stretch>
                  <a:fillRect l="-23810" t="-100000" b="-1369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59D6B1-4E60-3F85-FCEF-17F4A9BC3462}"/>
                  </a:ext>
                </a:extLst>
              </p:cNvPr>
              <p:cNvSpPr txBox="1"/>
              <p:nvPr/>
            </p:nvSpPr>
            <p:spPr>
              <a:xfrm>
                <a:off x="3622596" y="2679178"/>
                <a:ext cx="1828295" cy="415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endParaRPr lang="en-NZ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59D6B1-4E60-3F85-FCEF-17F4A9BC3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596" y="2679178"/>
                <a:ext cx="1828295" cy="415435"/>
              </a:xfrm>
              <a:prstGeom prst="rect">
                <a:avLst/>
              </a:prstGeom>
              <a:blipFill>
                <a:blip r:embed="rId7"/>
                <a:stretch>
                  <a:fillRect r="-2667" b="-724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8CB9759-2786-8A70-96C7-15AEFC8C7C01}"/>
              </a:ext>
            </a:extLst>
          </p:cNvPr>
          <p:cNvSpPr txBox="1">
            <a:spLocks/>
          </p:cNvSpPr>
          <p:nvPr/>
        </p:nvSpPr>
        <p:spPr>
          <a:xfrm>
            <a:off x="2531924" y="2705280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591EAC6-ACB7-DEDB-DFA2-74EA2F84FFA2}"/>
              </a:ext>
            </a:extLst>
          </p:cNvPr>
          <p:cNvSpPr txBox="1">
            <a:spLocks/>
          </p:cNvSpPr>
          <p:nvPr/>
        </p:nvSpPr>
        <p:spPr>
          <a:xfrm>
            <a:off x="251222" y="3296230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ANOVA Table: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249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C9041D-77F0-4656-90D4-0E84B7AC6B27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2">
                <a:extLst>
                  <a:ext uri="{FF2B5EF4-FFF2-40B4-BE49-F238E27FC236}">
                    <a16:creationId xmlns:a16="http://schemas.microsoft.com/office/drawing/2014/main" id="{AC09C63B-DEDA-11CA-1297-AF6E4CB7A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9732986"/>
                  </p:ext>
                </p:extLst>
              </p:nvPr>
            </p:nvGraphicFramePr>
            <p:xfrm>
              <a:off x="382140" y="3796791"/>
              <a:ext cx="11490547" cy="2463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7606">
                      <a:extLst>
                        <a:ext uri="{9D8B030D-6E8A-4147-A177-3AD203B41FA5}">
                          <a16:colId xmlns:a16="http://schemas.microsoft.com/office/drawing/2014/main" val="4198110682"/>
                        </a:ext>
                      </a:extLst>
                    </a:gridCol>
                    <a:gridCol w="1009935">
                      <a:extLst>
                        <a:ext uri="{9D8B030D-6E8A-4147-A177-3AD203B41FA5}">
                          <a16:colId xmlns:a16="http://schemas.microsoft.com/office/drawing/2014/main" val="292302729"/>
                        </a:ext>
                      </a:extLst>
                    </a:gridCol>
                    <a:gridCol w="818865">
                      <a:extLst>
                        <a:ext uri="{9D8B030D-6E8A-4147-A177-3AD203B41FA5}">
                          <a16:colId xmlns:a16="http://schemas.microsoft.com/office/drawing/2014/main" val="126256495"/>
                        </a:ext>
                      </a:extLst>
                    </a:gridCol>
                    <a:gridCol w="3098042">
                      <a:extLst>
                        <a:ext uri="{9D8B030D-6E8A-4147-A177-3AD203B41FA5}">
                          <a16:colId xmlns:a16="http://schemas.microsoft.com/office/drawing/2014/main" val="477450593"/>
                        </a:ext>
                      </a:extLst>
                    </a:gridCol>
                    <a:gridCol w="3480179">
                      <a:extLst>
                        <a:ext uri="{9D8B030D-6E8A-4147-A177-3AD203B41FA5}">
                          <a16:colId xmlns:a16="http://schemas.microsoft.com/office/drawing/2014/main" val="3785429377"/>
                        </a:ext>
                      </a:extLst>
                    </a:gridCol>
                    <a:gridCol w="1595920">
                      <a:extLst>
                        <a:ext uri="{9D8B030D-6E8A-4147-A177-3AD203B41FA5}">
                          <a16:colId xmlns:a16="http://schemas.microsoft.com/office/drawing/2014/main" val="11015401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Source of Variation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 err="1"/>
                            <a:t>df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Mean Square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E [ Mean Squares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F-Statistic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6350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abcn-1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TSS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485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17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A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A</a:t>
                          </a:r>
                          <a:r>
                            <a:rPr lang="en-NZ" sz="1700" dirty="0"/>
                            <a:t> = SS</a:t>
                          </a:r>
                          <a:r>
                            <a:rPr lang="en-NZ" sz="1700" baseline="-25000" dirty="0"/>
                            <a:t>A</a:t>
                          </a:r>
                          <a:r>
                            <a:rPr lang="en-NZ" sz="1700" dirty="0"/>
                            <a:t> / (a-1)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+  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 +  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𝑐𝑛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+  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𝑏𝑐𝑛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d>
                                  <m:d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MSA / MS</a:t>
                          </a:r>
                          <a:r>
                            <a:rPr lang="en-NZ" sz="1700" baseline="-25000" dirty="0"/>
                            <a:t>B(A)</a:t>
                          </a:r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1980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B(A)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a(b-1)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B(A)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B(A)</a:t>
                          </a:r>
                          <a:r>
                            <a:rPr lang="en-NZ" sz="1700" dirty="0"/>
                            <a:t> = SS</a:t>
                          </a:r>
                          <a:r>
                            <a:rPr lang="en-NZ" sz="1700" baseline="-25000" dirty="0"/>
                            <a:t>B(A)</a:t>
                          </a:r>
                          <a:r>
                            <a:rPr lang="en-NZ" sz="1700" dirty="0"/>
                            <a:t> / [ a(b-1)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+  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 +   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𝑐𝑛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B(A)</a:t>
                          </a:r>
                          <a:r>
                            <a:rPr lang="en-NZ" sz="1700" dirty="0"/>
                            <a:t> / MS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</a:t>
                          </a:r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738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C(B(A))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ab(c-1)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C(B(A))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= </a:t>
                          </a:r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/ [ ab(c-1) ]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 +  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NZ" sz="17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 / MSE</a:t>
                          </a:r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7130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Residual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 err="1"/>
                            <a:t>abc</a:t>
                          </a:r>
                          <a:r>
                            <a:rPr lang="en-NZ" sz="1700" dirty="0"/>
                            <a:t>(n-1)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MSE = SSE / [ </a:t>
                          </a:r>
                          <a:r>
                            <a:rPr lang="en-NZ" sz="1700"/>
                            <a:t>abc(</a:t>
                          </a:r>
                          <a:r>
                            <a:rPr lang="en-NZ" sz="1700" dirty="0"/>
                            <a:t>n-1)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NZ" sz="17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83769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2">
                <a:extLst>
                  <a:ext uri="{FF2B5EF4-FFF2-40B4-BE49-F238E27FC236}">
                    <a16:creationId xmlns:a16="http://schemas.microsoft.com/office/drawing/2014/main" id="{AC09C63B-DEDA-11CA-1297-AF6E4CB7A9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9732986"/>
                  </p:ext>
                </p:extLst>
              </p:nvPr>
            </p:nvGraphicFramePr>
            <p:xfrm>
              <a:off x="382140" y="3796791"/>
              <a:ext cx="11490547" cy="2463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7606">
                      <a:extLst>
                        <a:ext uri="{9D8B030D-6E8A-4147-A177-3AD203B41FA5}">
                          <a16:colId xmlns:a16="http://schemas.microsoft.com/office/drawing/2014/main" val="4198110682"/>
                        </a:ext>
                      </a:extLst>
                    </a:gridCol>
                    <a:gridCol w="1009935">
                      <a:extLst>
                        <a:ext uri="{9D8B030D-6E8A-4147-A177-3AD203B41FA5}">
                          <a16:colId xmlns:a16="http://schemas.microsoft.com/office/drawing/2014/main" val="292302729"/>
                        </a:ext>
                      </a:extLst>
                    </a:gridCol>
                    <a:gridCol w="818865">
                      <a:extLst>
                        <a:ext uri="{9D8B030D-6E8A-4147-A177-3AD203B41FA5}">
                          <a16:colId xmlns:a16="http://schemas.microsoft.com/office/drawing/2014/main" val="126256495"/>
                        </a:ext>
                      </a:extLst>
                    </a:gridCol>
                    <a:gridCol w="3098042">
                      <a:extLst>
                        <a:ext uri="{9D8B030D-6E8A-4147-A177-3AD203B41FA5}">
                          <a16:colId xmlns:a16="http://schemas.microsoft.com/office/drawing/2014/main" val="477450593"/>
                        </a:ext>
                      </a:extLst>
                    </a:gridCol>
                    <a:gridCol w="3480179">
                      <a:extLst>
                        <a:ext uri="{9D8B030D-6E8A-4147-A177-3AD203B41FA5}">
                          <a16:colId xmlns:a16="http://schemas.microsoft.com/office/drawing/2014/main" val="3785429377"/>
                        </a:ext>
                      </a:extLst>
                    </a:gridCol>
                    <a:gridCol w="1595920">
                      <a:extLst>
                        <a:ext uri="{9D8B030D-6E8A-4147-A177-3AD203B41FA5}">
                          <a16:colId xmlns:a16="http://schemas.microsoft.com/office/drawing/2014/main" val="110154016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Source of Variation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 err="1"/>
                            <a:t>df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Mean Square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E [ Mean Squares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F-Statistic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6350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abcn-1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TSS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485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1700" dirty="0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A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A</a:t>
                          </a:r>
                          <a:r>
                            <a:rPr lang="en-NZ" sz="1700" dirty="0"/>
                            <a:t> = SS</a:t>
                          </a:r>
                          <a:r>
                            <a:rPr lang="en-NZ" sz="1700" baseline="-25000" dirty="0"/>
                            <a:t>A</a:t>
                          </a:r>
                          <a:r>
                            <a:rPr lang="en-NZ" sz="1700" dirty="0"/>
                            <a:t> / (a-1)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588" t="-268852" r="-46585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MSA / MS</a:t>
                          </a:r>
                          <a:r>
                            <a:rPr lang="en-NZ" sz="1700" baseline="-25000" dirty="0"/>
                            <a:t>B(A)</a:t>
                          </a:r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1980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B(A)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a(b-1)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B(A)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B(A)</a:t>
                          </a:r>
                          <a:r>
                            <a:rPr lang="en-NZ" sz="1700" dirty="0"/>
                            <a:t> = SS</a:t>
                          </a:r>
                          <a:r>
                            <a:rPr lang="en-NZ" sz="1700" baseline="-25000" dirty="0"/>
                            <a:t>B(A)</a:t>
                          </a:r>
                          <a:r>
                            <a:rPr lang="en-NZ" sz="1700" dirty="0"/>
                            <a:t> / [ a(b-1)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588" t="-368852" r="-46585" b="-2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B(A)</a:t>
                          </a:r>
                          <a:r>
                            <a:rPr lang="en-NZ" sz="1700" dirty="0"/>
                            <a:t> / MS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</a:t>
                          </a:r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738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C(B(A))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ab(c-1)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C(B(A))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= </a:t>
                          </a:r>
                          <a:r>
                            <a:rPr lang="en-NZ" sz="1700" dirty="0"/>
                            <a:t>SS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/ [ ab(c-1) ]</a:t>
                          </a:r>
                          <a:endParaRPr lang="en-NZ" sz="17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588" t="-468852" r="-46585" b="-1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</a:t>
                          </a:r>
                          <a:r>
                            <a:rPr lang="en-NZ" sz="1700" baseline="-25000" dirty="0"/>
                            <a:t>C(B(A))</a:t>
                          </a:r>
                          <a:r>
                            <a:rPr lang="en-NZ" sz="1700" baseline="0" dirty="0"/>
                            <a:t>  / MSE</a:t>
                          </a:r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71301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Residual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 err="1"/>
                            <a:t>abc</a:t>
                          </a:r>
                          <a:r>
                            <a:rPr lang="en-NZ" sz="1700" dirty="0"/>
                            <a:t>(n-1)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SSE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NZ" sz="1700" dirty="0"/>
                            <a:t>MSE = SSE / [ </a:t>
                          </a:r>
                          <a:r>
                            <a:rPr lang="en-NZ" sz="1700"/>
                            <a:t>abc(</a:t>
                          </a:r>
                          <a:r>
                            <a:rPr lang="en-NZ" sz="1700" dirty="0"/>
                            <a:t>n-1) 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588" t="-568852" r="-46585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NZ" sz="17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283769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1ABFDB76-E490-CD10-5057-CF8EB3B2AB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80221" y="6238755"/>
                <a:ext cx="3080745" cy="61924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游ゴシック" panose="020B0400000000000000" pitchFamily="34" charset="-128"/>
                    <a:cs typeface="+mn-cs"/>
                  </a:rPr>
                  <a:t>Where  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𝒗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𝜶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= </m:t>
                    </m:r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f>
                          <m:f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𝒊</m:t>
                                </m:r>
                              </m:sub>
                              <m:sup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𝟐</m:t>
                                </m:r>
                              </m:sup>
                            </m:sSubSup>
                          </m:num>
                          <m:den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𝒂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−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𝟏</m:t>
                            </m:r>
                          </m:den>
                        </m:f>
                      </m:e>
                    </m:nary>
                  </m:oMath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1ABFDB76-E490-CD10-5057-CF8EB3B2A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221" y="6238755"/>
                <a:ext cx="3080745" cy="619245"/>
              </a:xfrm>
              <a:prstGeom prst="rect">
                <a:avLst/>
              </a:prstGeom>
              <a:blipFill>
                <a:blip r:embed="rId3"/>
                <a:stretch>
                  <a:fillRect l="-178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6">
            <a:extLst>
              <a:ext uri="{FF2B5EF4-FFF2-40B4-BE49-F238E27FC236}">
                <a16:creationId xmlns:a16="http://schemas.microsoft.com/office/drawing/2014/main" id="{F8914188-7080-0A0F-0B94-84B05F057723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9411391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Three-Stage Nested Design with Mixed Effects: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C5F40B6-B831-07F5-265F-DF634AD5196D}"/>
              </a:ext>
            </a:extLst>
          </p:cNvPr>
          <p:cNvSpPr txBox="1">
            <a:spLocks/>
          </p:cNvSpPr>
          <p:nvPr/>
        </p:nvSpPr>
        <p:spPr>
          <a:xfrm>
            <a:off x="8215952" y="86139"/>
            <a:ext cx="38734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ANOVA Tables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93EF81-DC1B-597C-B319-8341B0213519}"/>
              </a:ext>
            </a:extLst>
          </p:cNvPr>
          <p:cNvSpPr txBox="1">
            <a:spLocks/>
          </p:cNvSpPr>
          <p:nvPr/>
        </p:nvSpPr>
        <p:spPr>
          <a:xfrm>
            <a:off x="251223" y="932174"/>
            <a:ext cx="11621464" cy="8829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The information below shows the model equation and ANOVA table for a mixed effects, balanced 3-stage nested design. Here Factor A has </a:t>
            </a:r>
            <a:r>
              <a:rPr lang="en-NZ" altLang="ja-JP" sz="1800" b="1" i="1" dirty="0">
                <a:solidFill>
                  <a:schemeClr val="tx1"/>
                </a:solidFill>
              </a:rPr>
              <a:t>a</a:t>
            </a:r>
            <a:r>
              <a:rPr lang="en-NZ" altLang="ja-JP" sz="1800" dirty="0">
                <a:solidFill>
                  <a:schemeClr val="tx1"/>
                </a:solidFill>
              </a:rPr>
              <a:t> levels, Factor B has </a:t>
            </a:r>
            <a:r>
              <a:rPr lang="en-NZ" altLang="ja-JP" sz="1800" b="1" i="1" dirty="0">
                <a:solidFill>
                  <a:schemeClr val="tx1"/>
                </a:solidFill>
              </a:rPr>
              <a:t>b</a:t>
            </a:r>
            <a:r>
              <a:rPr lang="en-NZ" altLang="ja-JP" sz="1800" dirty="0">
                <a:solidFill>
                  <a:schemeClr val="tx1"/>
                </a:solidFill>
              </a:rPr>
              <a:t> levels (nested inside Factor A), Factor C has </a:t>
            </a:r>
            <a:r>
              <a:rPr lang="en-NZ" altLang="ja-JP" sz="1800" b="1" i="1" dirty="0">
                <a:solidFill>
                  <a:schemeClr val="tx1"/>
                </a:solidFill>
              </a:rPr>
              <a:t>c</a:t>
            </a:r>
            <a:r>
              <a:rPr lang="en-NZ" altLang="ja-JP" sz="1800" dirty="0">
                <a:solidFill>
                  <a:schemeClr val="tx1"/>
                </a:solidFill>
              </a:rPr>
              <a:t> levels (nested inside Factor B)</a:t>
            </a:r>
            <a:br>
              <a:rPr lang="en-NZ" altLang="ja-JP" sz="1800" dirty="0">
                <a:solidFill>
                  <a:schemeClr val="tx1"/>
                </a:solidFill>
              </a:rPr>
            </a:br>
            <a:r>
              <a:rPr lang="en-NZ" altLang="ja-JP" sz="1800" dirty="0">
                <a:solidFill>
                  <a:schemeClr val="tx1"/>
                </a:solidFill>
              </a:rPr>
              <a:t> and there are </a:t>
            </a:r>
            <a:r>
              <a:rPr lang="en-NZ" altLang="ja-JP" sz="1800" b="1" i="1" dirty="0">
                <a:solidFill>
                  <a:schemeClr val="tx1"/>
                </a:solidFill>
              </a:rPr>
              <a:t>n</a:t>
            </a:r>
            <a:r>
              <a:rPr lang="en-NZ" altLang="ja-JP" sz="1800" dirty="0">
                <a:solidFill>
                  <a:schemeClr val="tx1"/>
                </a:solidFill>
              </a:rPr>
              <a:t> replicates.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42FE92F-BE60-EE3E-58DA-B5CDBABA43F8}"/>
              </a:ext>
            </a:extLst>
          </p:cNvPr>
          <p:cNvSpPr txBox="1">
            <a:spLocks/>
          </p:cNvSpPr>
          <p:nvPr/>
        </p:nvSpPr>
        <p:spPr>
          <a:xfrm>
            <a:off x="251223" y="1935770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Model Equation: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473DBC69-AD8A-2650-75F3-B843E6DD31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223" y="2320803"/>
                <a:ext cx="11621464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𝒊𝒋𝒌𝒎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𝝁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𝑩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𝑪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𝒎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NZ" altLang="ja-JP" sz="1800" b="1" i="1" dirty="0">
                  <a:solidFill>
                    <a:srgbClr val="C00000"/>
                  </a:solidFill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473DBC69-AD8A-2650-75F3-B843E6DD3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23" y="2320803"/>
                <a:ext cx="11621464" cy="474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CFB65F2-059B-B62E-1A66-A0887638BD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139" y="2794405"/>
                <a:ext cx="1828295" cy="4077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𝒊𝒋𝒌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l-GR" altLang="ja-JP" sz="1600" b="1" i="1" dirty="0">
                        <a:solidFill>
                          <a:schemeClr val="tx1"/>
                        </a:solidFill>
                      </a:rPr>
                      <m:t>σ</m:t>
                    </m:r>
                    <m:r>
                      <m:rPr>
                        <m:nor/>
                      </m:rPr>
                      <a:rPr lang="en-NZ" altLang="ja-JP" sz="1600" b="1" i="1" baseline="30000" dirty="0">
                        <a:solidFill>
                          <a:schemeClr val="tx1"/>
                        </a:solidFill>
                      </a:rPr>
                      <m:t>2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1600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CFB65F2-059B-B62E-1A66-A0887638B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39" y="2794405"/>
                <a:ext cx="1828295" cy="407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7B8248A-6935-11C6-D6CA-9B8980BCE6CE}"/>
              </a:ext>
            </a:extLst>
          </p:cNvPr>
          <p:cNvSpPr txBox="1">
            <a:spLocks/>
          </p:cNvSpPr>
          <p:nvPr/>
        </p:nvSpPr>
        <p:spPr>
          <a:xfrm>
            <a:off x="54154" y="2814061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where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8D25FE-D5CE-F31D-9E35-63D30931BFED}"/>
                  </a:ext>
                </a:extLst>
              </p:cNvPr>
              <p:cNvSpPr txBox="1"/>
              <p:nvPr/>
            </p:nvSpPr>
            <p:spPr>
              <a:xfrm>
                <a:off x="2891024" y="2788046"/>
                <a:ext cx="1828295" cy="415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kumimoji="1" lang="en-NZ" altLang="ja-JP" sz="18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endParaRPr lang="en-NZ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8D25FE-D5CE-F31D-9E35-63D30931B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024" y="2788046"/>
                <a:ext cx="1828295" cy="415435"/>
              </a:xfrm>
              <a:prstGeom prst="rect">
                <a:avLst/>
              </a:prstGeom>
              <a:blipFill>
                <a:blip r:embed="rId6"/>
                <a:stretch>
                  <a:fillRect r="-2667" b="-724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0E97162-FC76-7C91-1054-122446700E3F}"/>
              </a:ext>
            </a:extLst>
          </p:cNvPr>
          <p:cNvSpPr txBox="1">
            <a:spLocks/>
          </p:cNvSpPr>
          <p:nvPr/>
        </p:nvSpPr>
        <p:spPr>
          <a:xfrm>
            <a:off x="4719319" y="2794405"/>
            <a:ext cx="1051385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911D254-242F-86FB-B871-3ED3855DA4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1052" y="2751032"/>
                <a:ext cx="1967947" cy="4033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NZ" altLang="ja-JP" sz="1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NZ" altLang="ja-JP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  <m:sup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911D254-242F-86FB-B871-3ED3855DA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052" y="2751032"/>
                <a:ext cx="1967947" cy="403339"/>
              </a:xfrm>
              <a:prstGeom prst="rect">
                <a:avLst/>
              </a:prstGeom>
              <a:blipFill>
                <a:blip r:embed="rId7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49DE536-7728-39CC-0CD4-B4535CCD43CC}"/>
              </a:ext>
            </a:extLst>
          </p:cNvPr>
          <p:cNvSpPr txBox="1">
            <a:spLocks/>
          </p:cNvSpPr>
          <p:nvPr/>
        </p:nvSpPr>
        <p:spPr>
          <a:xfrm>
            <a:off x="7427712" y="2787241"/>
            <a:ext cx="2972684" cy="407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and we have the constraint</a:t>
            </a:r>
            <a:r>
              <a:rPr lang="en-NZ" altLang="ja-JP" sz="1600" i="1" dirty="0">
                <a:solidFill>
                  <a:schemeClr val="tx1"/>
                </a:solidFill>
              </a:rPr>
              <a:t> </a:t>
            </a:r>
            <a:r>
              <a:rPr lang="en-NZ" altLang="ja-JP" sz="1600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NZ" altLang="ja-JP" sz="1600" i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FE5F20B6-A9C1-8764-FE4E-73179108F4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71781" y="2752422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𝜶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FE5F20B6-A9C1-8764-FE4E-73179108F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781" y="2752422"/>
                <a:ext cx="1405094" cy="444936"/>
              </a:xfrm>
              <a:prstGeom prst="rect">
                <a:avLst/>
              </a:prstGeom>
              <a:blipFill>
                <a:blip r:embed="rId8"/>
                <a:stretch>
                  <a:fillRect l="-23913" t="-100000" b="-13698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27402B1-7C31-30DA-F2A4-E9C36693FA71}"/>
              </a:ext>
            </a:extLst>
          </p:cNvPr>
          <p:cNvSpPr txBox="1">
            <a:spLocks/>
          </p:cNvSpPr>
          <p:nvPr/>
        </p:nvSpPr>
        <p:spPr>
          <a:xfrm>
            <a:off x="251222" y="3296230"/>
            <a:ext cx="1967947" cy="403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ANOVA Table:</a:t>
            </a:r>
          </a:p>
          <a:p>
            <a:pPr algn="just">
              <a:lnSpc>
                <a:spcPct val="100000"/>
              </a:lnSpc>
            </a:pPr>
            <a:endParaRPr lang="en-NZ" altLang="ja-JP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11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926</Words>
  <Application>Microsoft Office PowerPoint</Application>
  <PresentationFormat>Widescreen</PresentationFormat>
  <Paragraphs>186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48</cp:revision>
  <dcterms:created xsi:type="dcterms:W3CDTF">2022-02-19T23:15:01Z</dcterms:created>
  <dcterms:modified xsi:type="dcterms:W3CDTF">2022-08-10T02:44:19Z</dcterms:modified>
</cp:coreProperties>
</file>