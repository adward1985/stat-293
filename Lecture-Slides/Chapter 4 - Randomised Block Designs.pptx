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340" r:id="rId3"/>
    <p:sldId id="341" r:id="rId4"/>
    <p:sldId id="263" r:id="rId5"/>
    <p:sldId id="269" r:id="rId6"/>
    <p:sldId id="270" r:id="rId7"/>
    <p:sldId id="256" r:id="rId8"/>
    <p:sldId id="271" r:id="rId9"/>
    <p:sldId id="272" r:id="rId10"/>
    <p:sldId id="264" r:id="rId11"/>
    <p:sldId id="273" r:id="rId12"/>
    <p:sldId id="274" r:id="rId13"/>
    <p:sldId id="275" r:id="rId14"/>
    <p:sldId id="276" r:id="rId15"/>
    <p:sldId id="265" r:id="rId16"/>
    <p:sldId id="346" r:id="rId17"/>
    <p:sldId id="348" r:id="rId18"/>
    <p:sldId id="347" r:id="rId19"/>
    <p:sldId id="277" r:id="rId20"/>
    <p:sldId id="278" r:id="rId21"/>
    <p:sldId id="343" r:id="rId22"/>
    <p:sldId id="342" r:id="rId23"/>
    <p:sldId id="344" r:id="rId24"/>
    <p:sldId id="345" r:id="rId25"/>
    <p:sldId id="280" r:id="rId26"/>
    <p:sldId id="281" r:id="rId27"/>
    <p:sldId id="282" r:id="rId28"/>
    <p:sldId id="351" r:id="rId29"/>
    <p:sldId id="349" r:id="rId30"/>
    <p:sldId id="350" r:id="rId31"/>
    <p:sldId id="283" r:id="rId32"/>
    <p:sldId id="284" r:id="rId33"/>
    <p:sldId id="285" r:id="rId34"/>
    <p:sldId id="286" r:id="rId35"/>
    <p:sldId id="287" r:id="rId36"/>
    <p:sldId id="288" r:id="rId37"/>
    <p:sldId id="289" r:id="rId38"/>
    <p:sldId id="290" r:id="rId39"/>
    <p:sldId id="266" r:id="rId40"/>
    <p:sldId id="354" r:id="rId41"/>
    <p:sldId id="291" r:id="rId42"/>
    <p:sldId id="353" r:id="rId43"/>
    <p:sldId id="352" r:id="rId44"/>
    <p:sldId id="292" r:id="rId45"/>
    <p:sldId id="355" r:id="rId46"/>
    <p:sldId id="293" r:id="rId47"/>
    <p:sldId id="295" r:id="rId48"/>
    <p:sldId id="296" r:id="rId49"/>
    <p:sldId id="298" r:id="rId50"/>
    <p:sldId id="307" r:id="rId51"/>
    <p:sldId id="297" r:id="rId52"/>
    <p:sldId id="267" r:id="rId53"/>
    <p:sldId id="300" r:id="rId54"/>
    <p:sldId id="356" r:id="rId55"/>
    <p:sldId id="301" r:id="rId56"/>
    <p:sldId id="302" r:id="rId57"/>
    <p:sldId id="304" r:id="rId58"/>
    <p:sldId id="303" r:id="rId59"/>
    <p:sldId id="268" r:id="rId60"/>
    <p:sldId id="305"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0" d="100"/>
          <a:sy n="70" d="100"/>
        </p:scale>
        <p:origin x="73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A9BA8-3828-4E87-810E-62C28D4385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id="{5B445521-6DE1-48A0-8E17-1ABCC77432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id="{6F851012-DCB7-4A17-8926-2203CD44D6EF}"/>
              </a:ext>
            </a:extLst>
          </p:cNvPr>
          <p:cNvSpPr>
            <a:spLocks noGrp="1"/>
          </p:cNvSpPr>
          <p:nvPr>
            <p:ph type="dt" sz="half" idx="10"/>
          </p:nvPr>
        </p:nvSpPr>
        <p:spPr/>
        <p:txBody>
          <a:bodyPr/>
          <a:lstStyle/>
          <a:p>
            <a:fld id="{060976BB-2844-4411-94E2-076E354D557B}" type="datetimeFigureOut">
              <a:rPr lang="en-NZ" smtClean="0"/>
              <a:t>5/08/2022</a:t>
            </a:fld>
            <a:endParaRPr lang="en-NZ"/>
          </a:p>
        </p:txBody>
      </p:sp>
      <p:sp>
        <p:nvSpPr>
          <p:cNvPr id="5" name="Footer Placeholder 4">
            <a:extLst>
              <a:ext uri="{FF2B5EF4-FFF2-40B4-BE49-F238E27FC236}">
                <a16:creationId xmlns:a16="http://schemas.microsoft.com/office/drawing/2014/main" id="{A25CFDFA-50ED-4E43-BEE4-097011D05F0B}"/>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C469FA34-0385-4338-8153-CE41E8F83883}"/>
              </a:ext>
            </a:extLst>
          </p:cNvPr>
          <p:cNvSpPr>
            <a:spLocks noGrp="1"/>
          </p:cNvSpPr>
          <p:nvPr>
            <p:ph type="sldNum" sz="quarter" idx="12"/>
          </p:nvPr>
        </p:nvSpPr>
        <p:spPr/>
        <p:txBody>
          <a:bodyPr/>
          <a:lstStyle/>
          <a:p>
            <a:fld id="{554E00DE-5B4F-4D7C-938B-B52EA6F3BD9C}" type="slidenum">
              <a:rPr lang="en-NZ" smtClean="0"/>
              <a:t>‹#›</a:t>
            </a:fld>
            <a:endParaRPr lang="en-NZ"/>
          </a:p>
        </p:txBody>
      </p:sp>
    </p:spTree>
    <p:extLst>
      <p:ext uri="{BB962C8B-B14F-4D97-AF65-F5344CB8AC3E}">
        <p14:creationId xmlns:p14="http://schemas.microsoft.com/office/powerpoint/2010/main" val="5058739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0A97B-A2B4-4ED4-BC73-E9C7499DEE6C}"/>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9EA0E540-CE9A-4DF1-9BB8-9FF8FC5393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1658582A-1F1D-4E03-91D5-6E23B39F6D43}"/>
              </a:ext>
            </a:extLst>
          </p:cNvPr>
          <p:cNvSpPr>
            <a:spLocks noGrp="1"/>
          </p:cNvSpPr>
          <p:nvPr>
            <p:ph type="dt" sz="half" idx="10"/>
          </p:nvPr>
        </p:nvSpPr>
        <p:spPr/>
        <p:txBody>
          <a:bodyPr/>
          <a:lstStyle/>
          <a:p>
            <a:fld id="{060976BB-2844-4411-94E2-076E354D557B}" type="datetimeFigureOut">
              <a:rPr lang="en-NZ" smtClean="0"/>
              <a:t>5/08/2022</a:t>
            </a:fld>
            <a:endParaRPr lang="en-NZ"/>
          </a:p>
        </p:txBody>
      </p:sp>
      <p:sp>
        <p:nvSpPr>
          <p:cNvPr id="5" name="Footer Placeholder 4">
            <a:extLst>
              <a:ext uri="{FF2B5EF4-FFF2-40B4-BE49-F238E27FC236}">
                <a16:creationId xmlns:a16="http://schemas.microsoft.com/office/drawing/2014/main" id="{F5DD4DBF-04EE-4DFD-A897-82F7E189025E}"/>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A3F95A57-E983-4589-8FE7-27EAB848421D}"/>
              </a:ext>
            </a:extLst>
          </p:cNvPr>
          <p:cNvSpPr>
            <a:spLocks noGrp="1"/>
          </p:cNvSpPr>
          <p:nvPr>
            <p:ph type="sldNum" sz="quarter" idx="12"/>
          </p:nvPr>
        </p:nvSpPr>
        <p:spPr/>
        <p:txBody>
          <a:bodyPr/>
          <a:lstStyle/>
          <a:p>
            <a:fld id="{554E00DE-5B4F-4D7C-938B-B52EA6F3BD9C}" type="slidenum">
              <a:rPr lang="en-NZ" smtClean="0"/>
              <a:t>‹#›</a:t>
            </a:fld>
            <a:endParaRPr lang="en-NZ"/>
          </a:p>
        </p:txBody>
      </p:sp>
    </p:spTree>
    <p:extLst>
      <p:ext uri="{BB962C8B-B14F-4D97-AF65-F5344CB8AC3E}">
        <p14:creationId xmlns:p14="http://schemas.microsoft.com/office/powerpoint/2010/main" val="793556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F840C-C3D7-4C49-B32F-4E0A0AC658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id="{8BEB85F0-678C-45B6-BC02-90D750C303A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687DAC3-1F36-44E4-B6FD-D81E7402C15A}"/>
              </a:ext>
            </a:extLst>
          </p:cNvPr>
          <p:cNvSpPr>
            <a:spLocks noGrp="1"/>
          </p:cNvSpPr>
          <p:nvPr>
            <p:ph type="dt" sz="half" idx="10"/>
          </p:nvPr>
        </p:nvSpPr>
        <p:spPr/>
        <p:txBody>
          <a:bodyPr/>
          <a:lstStyle/>
          <a:p>
            <a:fld id="{060976BB-2844-4411-94E2-076E354D557B}" type="datetimeFigureOut">
              <a:rPr lang="en-NZ" smtClean="0"/>
              <a:t>5/08/2022</a:t>
            </a:fld>
            <a:endParaRPr lang="en-NZ"/>
          </a:p>
        </p:txBody>
      </p:sp>
      <p:sp>
        <p:nvSpPr>
          <p:cNvPr id="5" name="Footer Placeholder 4">
            <a:extLst>
              <a:ext uri="{FF2B5EF4-FFF2-40B4-BE49-F238E27FC236}">
                <a16:creationId xmlns:a16="http://schemas.microsoft.com/office/drawing/2014/main" id="{45FD7626-E990-4E2E-B87B-AD833360141F}"/>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8F074680-6D71-4221-B7B9-CFE6C0557896}"/>
              </a:ext>
            </a:extLst>
          </p:cNvPr>
          <p:cNvSpPr>
            <a:spLocks noGrp="1"/>
          </p:cNvSpPr>
          <p:nvPr>
            <p:ph type="sldNum" sz="quarter" idx="12"/>
          </p:nvPr>
        </p:nvSpPr>
        <p:spPr/>
        <p:txBody>
          <a:bodyPr/>
          <a:lstStyle/>
          <a:p>
            <a:fld id="{554E00DE-5B4F-4D7C-938B-B52EA6F3BD9C}" type="slidenum">
              <a:rPr lang="en-NZ" smtClean="0"/>
              <a:t>‹#›</a:t>
            </a:fld>
            <a:endParaRPr lang="en-NZ"/>
          </a:p>
        </p:txBody>
      </p:sp>
    </p:spTree>
    <p:extLst>
      <p:ext uri="{BB962C8B-B14F-4D97-AF65-F5344CB8AC3E}">
        <p14:creationId xmlns:p14="http://schemas.microsoft.com/office/powerpoint/2010/main" val="4626722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BB6B5-9012-4460-B2B2-F8507505002F}"/>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23D53E59-1019-4981-B68E-0F12794C1B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id="{3BCF6C4E-B2D9-4490-A598-D727EDCE8C7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id="{BB38142C-0C16-4D9A-B8DB-E987894C3EC9}"/>
              </a:ext>
            </a:extLst>
          </p:cNvPr>
          <p:cNvSpPr>
            <a:spLocks noGrp="1"/>
          </p:cNvSpPr>
          <p:nvPr>
            <p:ph type="dt" sz="half" idx="10"/>
          </p:nvPr>
        </p:nvSpPr>
        <p:spPr/>
        <p:txBody>
          <a:bodyPr/>
          <a:lstStyle/>
          <a:p>
            <a:fld id="{060976BB-2844-4411-94E2-076E354D557B}" type="datetimeFigureOut">
              <a:rPr lang="en-NZ" smtClean="0"/>
              <a:t>5/08/2022</a:t>
            </a:fld>
            <a:endParaRPr lang="en-NZ"/>
          </a:p>
        </p:txBody>
      </p:sp>
      <p:sp>
        <p:nvSpPr>
          <p:cNvPr id="6" name="Footer Placeholder 5">
            <a:extLst>
              <a:ext uri="{FF2B5EF4-FFF2-40B4-BE49-F238E27FC236}">
                <a16:creationId xmlns:a16="http://schemas.microsoft.com/office/drawing/2014/main" id="{CA50998B-42A8-4C9A-BC8F-42736AA295A9}"/>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179D279E-11F9-411A-B964-00B13DC4A4D8}"/>
              </a:ext>
            </a:extLst>
          </p:cNvPr>
          <p:cNvSpPr>
            <a:spLocks noGrp="1"/>
          </p:cNvSpPr>
          <p:nvPr>
            <p:ph type="sldNum" sz="quarter" idx="12"/>
          </p:nvPr>
        </p:nvSpPr>
        <p:spPr/>
        <p:txBody>
          <a:bodyPr/>
          <a:lstStyle/>
          <a:p>
            <a:fld id="{554E00DE-5B4F-4D7C-938B-B52EA6F3BD9C}" type="slidenum">
              <a:rPr lang="en-NZ" smtClean="0"/>
              <a:t>‹#›</a:t>
            </a:fld>
            <a:endParaRPr lang="en-NZ"/>
          </a:p>
        </p:txBody>
      </p:sp>
    </p:spTree>
    <p:extLst>
      <p:ext uri="{BB962C8B-B14F-4D97-AF65-F5344CB8AC3E}">
        <p14:creationId xmlns:p14="http://schemas.microsoft.com/office/powerpoint/2010/main" val="41986999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6DF18-E955-409A-98EB-EDB62C672912}"/>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id="{D02299F8-A1B8-465C-996A-5675664E11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B07F70-80D9-4E3D-A919-41BE47949E0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id="{6A331BD1-9C5C-4A7F-A882-ED52009C18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1B0ADED-F8C8-4BB4-BD55-E38AB98CD7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id="{79EC5BB8-D8B0-403E-B93C-D94719AAB844}"/>
              </a:ext>
            </a:extLst>
          </p:cNvPr>
          <p:cNvSpPr>
            <a:spLocks noGrp="1"/>
          </p:cNvSpPr>
          <p:nvPr>
            <p:ph type="dt" sz="half" idx="10"/>
          </p:nvPr>
        </p:nvSpPr>
        <p:spPr/>
        <p:txBody>
          <a:bodyPr/>
          <a:lstStyle/>
          <a:p>
            <a:fld id="{060976BB-2844-4411-94E2-076E354D557B}" type="datetimeFigureOut">
              <a:rPr lang="en-NZ" smtClean="0"/>
              <a:t>5/08/2022</a:t>
            </a:fld>
            <a:endParaRPr lang="en-NZ"/>
          </a:p>
        </p:txBody>
      </p:sp>
      <p:sp>
        <p:nvSpPr>
          <p:cNvPr id="8" name="Footer Placeholder 7">
            <a:extLst>
              <a:ext uri="{FF2B5EF4-FFF2-40B4-BE49-F238E27FC236}">
                <a16:creationId xmlns:a16="http://schemas.microsoft.com/office/drawing/2014/main" id="{C69D35C5-77A9-4F20-A442-906BFFC76FFA}"/>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id="{BB5A2D7C-82DB-4774-9DA8-52CB48C4CA07}"/>
              </a:ext>
            </a:extLst>
          </p:cNvPr>
          <p:cNvSpPr>
            <a:spLocks noGrp="1"/>
          </p:cNvSpPr>
          <p:nvPr>
            <p:ph type="sldNum" sz="quarter" idx="12"/>
          </p:nvPr>
        </p:nvSpPr>
        <p:spPr/>
        <p:txBody>
          <a:bodyPr/>
          <a:lstStyle/>
          <a:p>
            <a:fld id="{554E00DE-5B4F-4D7C-938B-B52EA6F3BD9C}" type="slidenum">
              <a:rPr lang="en-NZ" smtClean="0"/>
              <a:t>‹#›</a:t>
            </a:fld>
            <a:endParaRPr lang="en-NZ"/>
          </a:p>
        </p:txBody>
      </p:sp>
    </p:spTree>
    <p:extLst>
      <p:ext uri="{BB962C8B-B14F-4D97-AF65-F5344CB8AC3E}">
        <p14:creationId xmlns:p14="http://schemas.microsoft.com/office/powerpoint/2010/main" val="33505956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1B163-D15F-41F8-B1AE-5F5C93812DA7}"/>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id="{5FF4921A-24AB-4E58-9B6C-52C423EE7519}"/>
              </a:ext>
            </a:extLst>
          </p:cNvPr>
          <p:cNvSpPr>
            <a:spLocks noGrp="1"/>
          </p:cNvSpPr>
          <p:nvPr>
            <p:ph type="dt" sz="half" idx="10"/>
          </p:nvPr>
        </p:nvSpPr>
        <p:spPr/>
        <p:txBody>
          <a:bodyPr/>
          <a:lstStyle/>
          <a:p>
            <a:fld id="{060976BB-2844-4411-94E2-076E354D557B}" type="datetimeFigureOut">
              <a:rPr lang="en-NZ" smtClean="0"/>
              <a:t>5/08/2022</a:t>
            </a:fld>
            <a:endParaRPr lang="en-NZ"/>
          </a:p>
        </p:txBody>
      </p:sp>
      <p:sp>
        <p:nvSpPr>
          <p:cNvPr id="4" name="Footer Placeholder 3">
            <a:extLst>
              <a:ext uri="{FF2B5EF4-FFF2-40B4-BE49-F238E27FC236}">
                <a16:creationId xmlns:a16="http://schemas.microsoft.com/office/drawing/2014/main" id="{B79C7DF4-78BD-47B6-B4DB-603C14B81A77}"/>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id="{8F2F50A7-EA41-485B-81A3-6BF97AD4CDAD}"/>
              </a:ext>
            </a:extLst>
          </p:cNvPr>
          <p:cNvSpPr>
            <a:spLocks noGrp="1"/>
          </p:cNvSpPr>
          <p:nvPr>
            <p:ph type="sldNum" sz="quarter" idx="12"/>
          </p:nvPr>
        </p:nvSpPr>
        <p:spPr/>
        <p:txBody>
          <a:bodyPr/>
          <a:lstStyle/>
          <a:p>
            <a:fld id="{554E00DE-5B4F-4D7C-938B-B52EA6F3BD9C}" type="slidenum">
              <a:rPr lang="en-NZ" smtClean="0"/>
              <a:t>‹#›</a:t>
            </a:fld>
            <a:endParaRPr lang="en-NZ"/>
          </a:p>
        </p:txBody>
      </p:sp>
    </p:spTree>
    <p:extLst>
      <p:ext uri="{BB962C8B-B14F-4D97-AF65-F5344CB8AC3E}">
        <p14:creationId xmlns:p14="http://schemas.microsoft.com/office/powerpoint/2010/main" val="2932223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CE4206-2BEF-44AE-9E7F-E1C3F87A7452}"/>
              </a:ext>
            </a:extLst>
          </p:cNvPr>
          <p:cNvSpPr>
            <a:spLocks noGrp="1"/>
          </p:cNvSpPr>
          <p:nvPr>
            <p:ph type="dt" sz="half" idx="10"/>
          </p:nvPr>
        </p:nvSpPr>
        <p:spPr/>
        <p:txBody>
          <a:bodyPr/>
          <a:lstStyle/>
          <a:p>
            <a:fld id="{060976BB-2844-4411-94E2-076E354D557B}" type="datetimeFigureOut">
              <a:rPr lang="en-NZ" smtClean="0"/>
              <a:t>5/08/2022</a:t>
            </a:fld>
            <a:endParaRPr lang="en-NZ"/>
          </a:p>
        </p:txBody>
      </p:sp>
      <p:sp>
        <p:nvSpPr>
          <p:cNvPr id="3" name="Footer Placeholder 2">
            <a:extLst>
              <a:ext uri="{FF2B5EF4-FFF2-40B4-BE49-F238E27FC236}">
                <a16:creationId xmlns:a16="http://schemas.microsoft.com/office/drawing/2014/main" id="{ECEF7C85-1883-42A7-B0C7-39E637F52106}"/>
              </a:ext>
            </a:extLst>
          </p:cNvPr>
          <p:cNvSpPr>
            <a:spLocks noGrp="1"/>
          </p:cNvSpPr>
          <p:nvPr>
            <p:ph type="ftr" sz="quarter" idx="11"/>
          </p:nvPr>
        </p:nvSpPr>
        <p:spPr/>
        <p:txBody>
          <a:bodyPr/>
          <a:lstStyle/>
          <a:p>
            <a:endParaRPr lang="en-NZ"/>
          </a:p>
        </p:txBody>
      </p:sp>
      <p:sp>
        <p:nvSpPr>
          <p:cNvPr id="4" name="Slide Number Placeholder 3">
            <a:extLst>
              <a:ext uri="{FF2B5EF4-FFF2-40B4-BE49-F238E27FC236}">
                <a16:creationId xmlns:a16="http://schemas.microsoft.com/office/drawing/2014/main" id="{46448B2C-4BB5-4CA8-BC50-5FCBFF304228}"/>
              </a:ext>
            </a:extLst>
          </p:cNvPr>
          <p:cNvSpPr>
            <a:spLocks noGrp="1"/>
          </p:cNvSpPr>
          <p:nvPr>
            <p:ph type="sldNum" sz="quarter" idx="12"/>
          </p:nvPr>
        </p:nvSpPr>
        <p:spPr/>
        <p:txBody>
          <a:bodyPr/>
          <a:lstStyle/>
          <a:p>
            <a:fld id="{554E00DE-5B4F-4D7C-938B-B52EA6F3BD9C}" type="slidenum">
              <a:rPr lang="en-NZ" smtClean="0"/>
              <a:t>‹#›</a:t>
            </a:fld>
            <a:endParaRPr lang="en-NZ"/>
          </a:p>
        </p:txBody>
      </p:sp>
    </p:spTree>
    <p:extLst>
      <p:ext uri="{BB962C8B-B14F-4D97-AF65-F5344CB8AC3E}">
        <p14:creationId xmlns:p14="http://schemas.microsoft.com/office/powerpoint/2010/main" val="21319038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91421-38D1-4F62-B7A8-BDF9C830E5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id="{43B7A49E-19E3-4472-AA6E-C90F767C7D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id="{F0E7F6C2-C89A-48D8-AAD8-0630935FC1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9FC728-87DD-477A-A7F3-4C36C3BE031A}"/>
              </a:ext>
            </a:extLst>
          </p:cNvPr>
          <p:cNvSpPr>
            <a:spLocks noGrp="1"/>
          </p:cNvSpPr>
          <p:nvPr>
            <p:ph type="dt" sz="half" idx="10"/>
          </p:nvPr>
        </p:nvSpPr>
        <p:spPr/>
        <p:txBody>
          <a:bodyPr/>
          <a:lstStyle/>
          <a:p>
            <a:fld id="{060976BB-2844-4411-94E2-076E354D557B}" type="datetimeFigureOut">
              <a:rPr lang="en-NZ" smtClean="0"/>
              <a:t>5/08/2022</a:t>
            </a:fld>
            <a:endParaRPr lang="en-NZ"/>
          </a:p>
        </p:txBody>
      </p:sp>
      <p:sp>
        <p:nvSpPr>
          <p:cNvPr id="6" name="Footer Placeholder 5">
            <a:extLst>
              <a:ext uri="{FF2B5EF4-FFF2-40B4-BE49-F238E27FC236}">
                <a16:creationId xmlns:a16="http://schemas.microsoft.com/office/drawing/2014/main" id="{B6E755CF-D3E9-478E-A48F-4ECA522E5A5B}"/>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63584890-8969-44F5-8134-55E7DD61FEE6}"/>
              </a:ext>
            </a:extLst>
          </p:cNvPr>
          <p:cNvSpPr>
            <a:spLocks noGrp="1"/>
          </p:cNvSpPr>
          <p:nvPr>
            <p:ph type="sldNum" sz="quarter" idx="12"/>
          </p:nvPr>
        </p:nvSpPr>
        <p:spPr/>
        <p:txBody>
          <a:bodyPr/>
          <a:lstStyle/>
          <a:p>
            <a:fld id="{554E00DE-5B4F-4D7C-938B-B52EA6F3BD9C}" type="slidenum">
              <a:rPr lang="en-NZ" smtClean="0"/>
              <a:t>‹#›</a:t>
            </a:fld>
            <a:endParaRPr lang="en-NZ"/>
          </a:p>
        </p:txBody>
      </p:sp>
    </p:spTree>
    <p:extLst>
      <p:ext uri="{BB962C8B-B14F-4D97-AF65-F5344CB8AC3E}">
        <p14:creationId xmlns:p14="http://schemas.microsoft.com/office/powerpoint/2010/main" val="41352163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5138A-7D77-4EC2-9162-4297FD72B2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id="{AC4D2F18-8736-4D3F-8EF5-FE359E7327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id="{74834DE6-24E2-40B5-A1CE-65A9ACB124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02007F-431D-483C-89E3-91A4F9E6F50B}"/>
              </a:ext>
            </a:extLst>
          </p:cNvPr>
          <p:cNvSpPr>
            <a:spLocks noGrp="1"/>
          </p:cNvSpPr>
          <p:nvPr>
            <p:ph type="dt" sz="half" idx="10"/>
          </p:nvPr>
        </p:nvSpPr>
        <p:spPr/>
        <p:txBody>
          <a:bodyPr/>
          <a:lstStyle/>
          <a:p>
            <a:fld id="{060976BB-2844-4411-94E2-076E354D557B}" type="datetimeFigureOut">
              <a:rPr lang="en-NZ" smtClean="0"/>
              <a:t>5/08/2022</a:t>
            </a:fld>
            <a:endParaRPr lang="en-NZ"/>
          </a:p>
        </p:txBody>
      </p:sp>
      <p:sp>
        <p:nvSpPr>
          <p:cNvPr id="6" name="Footer Placeholder 5">
            <a:extLst>
              <a:ext uri="{FF2B5EF4-FFF2-40B4-BE49-F238E27FC236}">
                <a16:creationId xmlns:a16="http://schemas.microsoft.com/office/drawing/2014/main" id="{2F5389A8-3597-4D00-9BB3-9820008E5DA0}"/>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D1DA10B4-CC4D-42F3-BC38-E1803E264CF3}"/>
              </a:ext>
            </a:extLst>
          </p:cNvPr>
          <p:cNvSpPr>
            <a:spLocks noGrp="1"/>
          </p:cNvSpPr>
          <p:nvPr>
            <p:ph type="sldNum" sz="quarter" idx="12"/>
          </p:nvPr>
        </p:nvSpPr>
        <p:spPr/>
        <p:txBody>
          <a:bodyPr/>
          <a:lstStyle/>
          <a:p>
            <a:fld id="{554E00DE-5B4F-4D7C-938B-B52EA6F3BD9C}" type="slidenum">
              <a:rPr lang="en-NZ" smtClean="0"/>
              <a:t>‹#›</a:t>
            </a:fld>
            <a:endParaRPr lang="en-NZ"/>
          </a:p>
        </p:txBody>
      </p:sp>
    </p:spTree>
    <p:extLst>
      <p:ext uri="{BB962C8B-B14F-4D97-AF65-F5344CB8AC3E}">
        <p14:creationId xmlns:p14="http://schemas.microsoft.com/office/powerpoint/2010/main" val="2112897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0D38F-18B9-4E22-90BE-534995E65452}"/>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5BAC7741-DE8A-4AA0-98AA-DCCBE4196C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B76B4186-D9F6-43AB-8410-6B35AA204D46}"/>
              </a:ext>
            </a:extLst>
          </p:cNvPr>
          <p:cNvSpPr>
            <a:spLocks noGrp="1"/>
          </p:cNvSpPr>
          <p:nvPr>
            <p:ph type="dt" sz="half" idx="10"/>
          </p:nvPr>
        </p:nvSpPr>
        <p:spPr/>
        <p:txBody>
          <a:bodyPr/>
          <a:lstStyle/>
          <a:p>
            <a:fld id="{060976BB-2844-4411-94E2-076E354D557B}" type="datetimeFigureOut">
              <a:rPr lang="en-NZ" smtClean="0"/>
              <a:t>5/08/2022</a:t>
            </a:fld>
            <a:endParaRPr lang="en-NZ"/>
          </a:p>
        </p:txBody>
      </p:sp>
      <p:sp>
        <p:nvSpPr>
          <p:cNvPr id="5" name="Footer Placeholder 4">
            <a:extLst>
              <a:ext uri="{FF2B5EF4-FFF2-40B4-BE49-F238E27FC236}">
                <a16:creationId xmlns:a16="http://schemas.microsoft.com/office/drawing/2014/main" id="{25F56C78-A057-4BC4-BBE6-7263A0FC2E66}"/>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03F60082-97C9-4651-9ED6-F6335E1C8A4E}"/>
              </a:ext>
            </a:extLst>
          </p:cNvPr>
          <p:cNvSpPr>
            <a:spLocks noGrp="1"/>
          </p:cNvSpPr>
          <p:nvPr>
            <p:ph type="sldNum" sz="quarter" idx="12"/>
          </p:nvPr>
        </p:nvSpPr>
        <p:spPr/>
        <p:txBody>
          <a:bodyPr/>
          <a:lstStyle/>
          <a:p>
            <a:fld id="{554E00DE-5B4F-4D7C-938B-B52EA6F3BD9C}" type="slidenum">
              <a:rPr lang="en-NZ" smtClean="0"/>
              <a:t>‹#›</a:t>
            </a:fld>
            <a:endParaRPr lang="en-NZ"/>
          </a:p>
        </p:txBody>
      </p:sp>
    </p:spTree>
    <p:extLst>
      <p:ext uri="{BB962C8B-B14F-4D97-AF65-F5344CB8AC3E}">
        <p14:creationId xmlns:p14="http://schemas.microsoft.com/office/powerpoint/2010/main" val="41142988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DF4289-884E-491F-B467-33B2656D350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6CE0C110-AA3E-4370-B514-AD6F6F9BB5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28115887-63F8-4CD4-801E-500BE39637F8}"/>
              </a:ext>
            </a:extLst>
          </p:cNvPr>
          <p:cNvSpPr>
            <a:spLocks noGrp="1"/>
          </p:cNvSpPr>
          <p:nvPr>
            <p:ph type="dt" sz="half" idx="10"/>
          </p:nvPr>
        </p:nvSpPr>
        <p:spPr/>
        <p:txBody>
          <a:bodyPr/>
          <a:lstStyle/>
          <a:p>
            <a:fld id="{060976BB-2844-4411-94E2-076E354D557B}" type="datetimeFigureOut">
              <a:rPr lang="en-NZ" smtClean="0"/>
              <a:t>5/08/2022</a:t>
            </a:fld>
            <a:endParaRPr lang="en-NZ"/>
          </a:p>
        </p:txBody>
      </p:sp>
      <p:sp>
        <p:nvSpPr>
          <p:cNvPr id="5" name="Footer Placeholder 4">
            <a:extLst>
              <a:ext uri="{FF2B5EF4-FFF2-40B4-BE49-F238E27FC236}">
                <a16:creationId xmlns:a16="http://schemas.microsoft.com/office/drawing/2014/main" id="{4FB29E85-F420-4797-975B-E1A769CF37BD}"/>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200FE3DB-7BEE-4E65-87E2-D327D7AF5D6C}"/>
              </a:ext>
            </a:extLst>
          </p:cNvPr>
          <p:cNvSpPr>
            <a:spLocks noGrp="1"/>
          </p:cNvSpPr>
          <p:nvPr>
            <p:ph type="sldNum" sz="quarter" idx="12"/>
          </p:nvPr>
        </p:nvSpPr>
        <p:spPr/>
        <p:txBody>
          <a:bodyPr/>
          <a:lstStyle/>
          <a:p>
            <a:fld id="{554E00DE-5B4F-4D7C-938B-B52EA6F3BD9C}" type="slidenum">
              <a:rPr lang="en-NZ" smtClean="0"/>
              <a:t>‹#›</a:t>
            </a:fld>
            <a:endParaRPr lang="en-NZ"/>
          </a:p>
        </p:txBody>
      </p:sp>
    </p:spTree>
    <p:extLst>
      <p:ext uri="{BB962C8B-B14F-4D97-AF65-F5344CB8AC3E}">
        <p14:creationId xmlns:p14="http://schemas.microsoft.com/office/powerpoint/2010/main" val="36424470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67C4D3-E7CE-494E-ADE4-A33EF14CB9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id="{9897289B-22CA-450E-A833-03EF40C18A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38CACA38-679D-4AC8-B049-B0EFA1709C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0976BB-2844-4411-94E2-076E354D557B}" type="datetimeFigureOut">
              <a:rPr lang="en-NZ" smtClean="0"/>
              <a:t>5/08/2022</a:t>
            </a:fld>
            <a:endParaRPr lang="en-NZ"/>
          </a:p>
        </p:txBody>
      </p:sp>
      <p:sp>
        <p:nvSpPr>
          <p:cNvPr id="5" name="Footer Placeholder 4">
            <a:extLst>
              <a:ext uri="{FF2B5EF4-FFF2-40B4-BE49-F238E27FC236}">
                <a16:creationId xmlns:a16="http://schemas.microsoft.com/office/drawing/2014/main" id="{C3E5ABB5-146E-4693-95A1-654A69E9EC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Z"/>
          </a:p>
        </p:txBody>
      </p:sp>
      <p:sp>
        <p:nvSpPr>
          <p:cNvPr id="6" name="Slide Number Placeholder 5">
            <a:extLst>
              <a:ext uri="{FF2B5EF4-FFF2-40B4-BE49-F238E27FC236}">
                <a16:creationId xmlns:a16="http://schemas.microsoft.com/office/drawing/2014/main" id="{8D5EEB05-DCB5-4D39-8AB9-6DE51D6920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4E00DE-5B4F-4D7C-938B-B52EA6F3BD9C}" type="slidenum">
              <a:rPr lang="en-NZ" smtClean="0"/>
              <a:t>‹#›</a:t>
            </a:fld>
            <a:endParaRPr lang="en-NZ"/>
          </a:p>
        </p:txBody>
      </p:sp>
    </p:spTree>
    <p:extLst>
      <p:ext uri="{BB962C8B-B14F-4D97-AF65-F5344CB8AC3E}">
        <p14:creationId xmlns:p14="http://schemas.microsoft.com/office/powerpoint/2010/main" val="40882743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410.png"/><Relationship Id="rId7" Type="http://schemas.openxmlformats.org/officeDocument/2006/relationships/image" Target="../media/image80.png"/><Relationship Id="rId2"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image" Target="../media/image76.png"/><Relationship Id="rId5" Type="http://schemas.openxmlformats.org/officeDocument/2006/relationships/image" Target="../media/image610.png"/><Relationship Id="rId10" Type="http://schemas.openxmlformats.org/officeDocument/2006/relationships/image" Target="../media/image11.png"/><Relationship Id="rId4" Type="http://schemas.openxmlformats.org/officeDocument/2006/relationships/image" Target="../media/image510.png"/><Relationship Id="rId9" Type="http://schemas.openxmlformats.org/officeDocument/2006/relationships/image" Target="../media/image10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0.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0.png"/><Relationship Id="rId1" Type="http://schemas.openxmlformats.org/officeDocument/2006/relationships/slideLayout" Target="../slideLayouts/slideLayout1.xml"/><Relationship Id="rId4" Type="http://schemas.openxmlformats.org/officeDocument/2006/relationships/image" Target="../media/image160.png"/></Relationships>
</file>

<file path=ppt/slides/_rels/slide21.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0.png"/><Relationship Id="rId7" Type="http://schemas.openxmlformats.org/officeDocument/2006/relationships/image" Target="../media/image22.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0.png"/><Relationship Id="rId10" Type="http://schemas.openxmlformats.org/officeDocument/2006/relationships/image" Target="../media/image25.png"/><Relationship Id="rId4" Type="http://schemas.openxmlformats.org/officeDocument/2006/relationships/image" Target="../media/image190.png"/><Relationship Id="rId9" Type="http://schemas.openxmlformats.org/officeDocument/2006/relationships/image" Target="../media/image24.png"/></Relationships>
</file>

<file path=ppt/slides/_rels/slide22.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8.png"/><Relationship Id="rId7" Type="http://schemas.openxmlformats.org/officeDocument/2006/relationships/image" Target="../media/image31.png"/><Relationship Id="rId2" Type="http://schemas.openxmlformats.org/officeDocument/2006/relationships/image" Target="../media/image27.png"/><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160.png"/><Relationship Id="rId9"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png"/><Relationship Id="rId1" Type="http://schemas.openxmlformats.org/officeDocument/2006/relationships/slideLayout" Target="../slideLayouts/slideLayout1.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s>
</file>

<file path=ppt/slides/_rels/slide2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260.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2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31.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image" Target="../media/image330.png"/><Relationship Id="rId1" Type="http://schemas.openxmlformats.org/officeDocument/2006/relationships/slideLayout" Target="../slideLayouts/slideLayout1.xml"/><Relationship Id="rId6" Type="http://schemas.openxmlformats.org/officeDocument/2006/relationships/image" Target="../media/image370.png"/><Relationship Id="rId5" Type="http://schemas.openxmlformats.org/officeDocument/2006/relationships/image" Target="../media/image360.png"/><Relationship Id="rId4" Type="http://schemas.openxmlformats.org/officeDocument/2006/relationships/image" Target="../media/image350.png"/></Relationships>
</file>

<file path=ppt/slides/_rels/slide32.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image" Target="../media/image380.png"/><Relationship Id="rId1" Type="http://schemas.openxmlformats.org/officeDocument/2006/relationships/slideLayout" Target="../slideLayouts/slideLayout1.xml"/><Relationship Id="rId5" Type="http://schemas.openxmlformats.org/officeDocument/2006/relationships/image" Target="../media/image411.png"/><Relationship Id="rId4" Type="http://schemas.openxmlformats.org/officeDocument/2006/relationships/image" Target="../media/image400.png"/></Relationships>
</file>

<file path=ppt/slides/_rels/slide33.xml.rels><?xml version="1.0" encoding="UTF-8" standalone="yes"?>
<Relationships xmlns="http://schemas.openxmlformats.org/package/2006/relationships"><Relationship Id="rId2" Type="http://schemas.openxmlformats.org/officeDocument/2006/relationships/image" Target="../media/image420.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8" Type="http://schemas.openxmlformats.org/officeDocument/2006/relationships/image" Target="../media/image520.png"/><Relationship Id="rId3" Type="http://schemas.openxmlformats.org/officeDocument/2006/relationships/image" Target="../media/image470.png"/><Relationship Id="rId7" Type="http://schemas.openxmlformats.org/officeDocument/2006/relationships/image" Target="../media/image511.png"/><Relationship Id="rId2" Type="http://schemas.openxmlformats.org/officeDocument/2006/relationships/image" Target="../media/image460.png"/><Relationship Id="rId1" Type="http://schemas.openxmlformats.org/officeDocument/2006/relationships/slideLayout" Target="../slideLayouts/slideLayout1.xml"/><Relationship Id="rId6" Type="http://schemas.openxmlformats.org/officeDocument/2006/relationships/image" Target="../media/image500.png"/><Relationship Id="rId5" Type="http://schemas.openxmlformats.org/officeDocument/2006/relationships/image" Target="../media/image490.png"/><Relationship Id="rId4" Type="http://schemas.openxmlformats.org/officeDocument/2006/relationships/image" Target="../media/image480.png"/></Relationships>
</file>

<file path=ppt/slides/_rels/slide3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xml"/><Relationship Id="rId5" Type="http://schemas.openxmlformats.org/officeDocument/2006/relationships/image" Target="../media/image61.png"/><Relationship Id="rId4" Type="http://schemas.openxmlformats.org/officeDocument/2006/relationships/image" Target="../media/image60.png"/></Relationships>
</file>

<file path=ppt/slides/_rels/slide38.xml.rels><?xml version="1.0" encoding="UTF-8" standalone="yes"?>
<Relationships xmlns="http://schemas.openxmlformats.org/package/2006/relationships"><Relationship Id="rId8" Type="http://schemas.openxmlformats.org/officeDocument/2006/relationships/image" Target="../media/image520.png"/><Relationship Id="rId3" Type="http://schemas.openxmlformats.org/officeDocument/2006/relationships/image" Target="../media/image470.png"/><Relationship Id="rId7" Type="http://schemas.openxmlformats.org/officeDocument/2006/relationships/image" Target="../media/image511.png"/><Relationship Id="rId2" Type="http://schemas.openxmlformats.org/officeDocument/2006/relationships/image" Target="../media/image460.png"/><Relationship Id="rId1" Type="http://schemas.openxmlformats.org/officeDocument/2006/relationships/slideLayout" Target="../slideLayouts/slideLayout1.xml"/><Relationship Id="rId6" Type="http://schemas.openxmlformats.org/officeDocument/2006/relationships/image" Target="../media/image500.png"/><Relationship Id="rId5" Type="http://schemas.openxmlformats.org/officeDocument/2006/relationships/image" Target="../media/image490.png"/><Relationship Id="rId4" Type="http://schemas.openxmlformats.org/officeDocument/2006/relationships/image" Target="../media/image480.png"/></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image" Target="../media/image62.png"/><Relationship Id="rId1" Type="http://schemas.openxmlformats.org/officeDocument/2006/relationships/slideLayout" Target="../slideLayouts/slideLayout1.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4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71.png"/><Relationship Id="rId7" Type="http://schemas.openxmlformats.org/officeDocument/2006/relationships/image" Target="../media/image75.png"/><Relationship Id="rId2" Type="http://schemas.openxmlformats.org/officeDocument/2006/relationships/image" Target="../media/image700.png"/><Relationship Id="rId1" Type="http://schemas.openxmlformats.org/officeDocument/2006/relationships/slideLayout" Target="../slideLayouts/slideLayout1.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43.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78.png"/><Relationship Id="rId7" Type="http://schemas.openxmlformats.org/officeDocument/2006/relationships/image" Target="../media/image83.png"/><Relationship Id="rId2" Type="http://schemas.openxmlformats.org/officeDocument/2006/relationships/image" Target="../media/image77.png"/><Relationship Id="rId1" Type="http://schemas.openxmlformats.org/officeDocument/2006/relationships/slideLayout" Target="../slideLayouts/slideLayout7.xml"/><Relationship Id="rId6" Type="http://schemas.openxmlformats.org/officeDocument/2006/relationships/image" Target="../media/image82.png"/><Relationship Id="rId5" Type="http://schemas.openxmlformats.org/officeDocument/2006/relationships/image" Target="../media/image81.png"/><Relationship Id="rId10" Type="http://schemas.openxmlformats.org/officeDocument/2006/relationships/image" Target="../media/image86.png"/><Relationship Id="rId4" Type="http://schemas.openxmlformats.org/officeDocument/2006/relationships/image" Target="../media/image79.png"/><Relationship Id="rId9" Type="http://schemas.openxmlformats.org/officeDocument/2006/relationships/image" Target="../media/image85.png"/></Relationships>
</file>

<file path=ppt/slides/_rels/slide44.xml.rels><?xml version="1.0" encoding="UTF-8" standalone="yes"?>
<Relationships xmlns="http://schemas.openxmlformats.org/package/2006/relationships"><Relationship Id="rId8" Type="http://schemas.openxmlformats.org/officeDocument/2006/relationships/image" Target="../media/image700.png"/><Relationship Id="rId3" Type="http://schemas.openxmlformats.org/officeDocument/2006/relationships/image" Target="../media/image640.png"/><Relationship Id="rId7" Type="http://schemas.openxmlformats.org/officeDocument/2006/relationships/image" Target="../media/image580.png"/><Relationship Id="rId2" Type="http://schemas.openxmlformats.org/officeDocument/2006/relationships/image" Target="../media/image630.png"/><Relationship Id="rId1" Type="http://schemas.openxmlformats.org/officeDocument/2006/relationships/slideLayout" Target="../slideLayouts/slideLayout1.xml"/><Relationship Id="rId10" Type="http://schemas.openxmlformats.org/officeDocument/2006/relationships/image" Target="../media/image88.png"/><Relationship Id="rId9" Type="http://schemas.openxmlformats.org/officeDocument/2006/relationships/image" Target="../media/image87.png"/></Relationships>
</file>

<file path=ppt/slides/_rels/slide45.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91.png"/><Relationship Id="rId7" Type="http://schemas.openxmlformats.org/officeDocument/2006/relationships/image" Target="../media/image700.png"/><Relationship Id="rId2" Type="http://schemas.openxmlformats.org/officeDocument/2006/relationships/image" Target="../media/image89.png"/><Relationship Id="rId1" Type="http://schemas.openxmlformats.org/officeDocument/2006/relationships/slideLayout" Target="../slideLayouts/slideLayout1.xml"/><Relationship Id="rId6" Type="http://schemas.openxmlformats.org/officeDocument/2006/relationships/image" Target="../media/image71.png"/><Relationship Id="rId5" Type="http://schemas.openxmlformats.org/officeDocument/2006/relationships/image" Target="../media/image93.png"/><Relationship Id="rId4" Type="http://schemas.openxmlformats.org/officeDocument/2006/relationships/image" Target="../media/image92.png"/></Relationships>
</file>

<file path=ppt/slides/_rels/slide46.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1.xml"/><Relationship Id="rId5" Type="http://schemas.openxmlformats.org/officeDocument/2006/relationships/image" Target="../media/image740.png"/><Relationship Id="rId4" Type="http://schemas.openxmlformats.org/officeDocument/2006/relationships/image" Target="../media/image730.png"/></Relationships>
</file>

<file path=ppt/slides/_rels/slide51.xml.rels><?xml version="1.0" encoding="UTF-8" standalone="yes"?>
<Relationships xmlns="http://schemas.openxmlformats.org/package/2006/relationships"><Relationship Id="rId2" Type="http://schemas.openxmlformats.org/officeDocument/2006/relationships/hyperlink" Target="https://newprairiepress.org/cgi/viewcontent.cgi?referer=&amp;httpsredir=1&amp;article=1474&amp;context=agstatconference" TargetMode="Externa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8" Type="http://schemas.openxmlformats.org/officeDocument/2006/relationships/image" Target="../media/image109.png"/><Relationship Id="rId3" Type="http://schemas.openxmlformats.org/officeDocument/2006/relationships/image" Target="../media/image104.png"/><Relationship Id="rId7" Type="http://schemas.openxmlformats.org/officeDocument/2006/relationships/image" Target="../media/image108.png"/><Relationship Id="rId2" Type="http://schemas.openxmlformats.org/officeDocument/2006/relationships/image" Target="../media/image103.png"/><Relationship Id="rId1" Type="http://schemas.openxmlformats.org/officeDocument/2006/relationships/slideLayout" Target="../slideLayouts/slideLayout1.xml"/><Relationship Id="rId6" Type="http://schemas.openxmlformats.org/officeDocument/2006/relationships/image" Target="../media/image107.png"/><Relationship Id="rId5" Type="http://schemas.openxmlformats.org/officeDocument/2006/relationships/image" Target="../media/image106.png"/><Relationship Id="rId10" Type="http://schemas.openxmlformats.org/officeDocument/2006/relationships/image" Target="../media/image111.png"/><Relationship Id="rId4" Type="http://schemas.openxmlformats.org/officeDocument/2006/relationships/image" Target="../media/image105.png"/><Relationship Id="rId9" Type="http://schemas.openxmlformats.org/officeDocument/2006/relationships/image" Target="../media/image11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75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026" name="Picture 2" descr="Programmes and courses | Study at Wellington | Victoria University of  Wellington">
            <a:extLst>
              <a:ext uri="{FF2B5EF4-FFF2-40B4-BE49-F238E27FC236}">
                <a16:creationId xmlns:a16="http://schemas.microsoft.com/office/drawing/2014/main" id="{087F352A-9067-4A20-840B-9F57464891D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85" r="1" b="1"/>
          <a:stretch/>
        </p:blipFill>
        <p:spPr bwMode="auto">
          <a:xfrm>
            <a:off x="457200" y="457200"/>
            <a:ext cx="11277600" cy="59436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F6EF4C4-5CC1-4D9D-A4EE-9A6C2CC6D81C}"/>
              </a:ext>
            </a:extLst>
          </p:cNvPr>
          <p:cNvSpPr txBox="1"/>
          <p:nvPr/>
        </p:nvSpPr>
        <p:spPr>
          <a:xfrm>
            <a:off x="3858329" y="913501"/>
            <a:ext cx="6923403" cy="116955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3500" b="1" i="0" u="sng" strike="noStrike" kern="1200" cap="none" spc="0" normalizeH="0" baseline="0" noProof="0" dirty="0">
                <a:ln>
                  <a:noFill/>
                </a:ln>
                <a:solidFill>
                  <a:prstClr val="white"/>
                </a:solidFill>
                <a:effectLst/>
                <a:uLnTx/>
                <a:uFillTx/>
                <a:latin typeface="Calibri" panose="020F0502020204030204"/>
                <a:ea typeface="+mn-ea"/>
                <a:cs typeface="+mn-cs"/>
              </a:rPr>
              <a:t>STATS 293 </a:t>
            </a:r>
            <a:br>
              <a:rPr kumimoji="0" lang="en-NZ" sz="3500" b="1" i="0" u="none" strike="noStrike" kern="1200" cap="none" spc="0" normalizeH="0" baseline="0" noProof="0">
                <a:ln>
                  <a:noFill/>
                </a:ln>
                <a:solidFill>
                  <a:prstClr val="white"/>
                </a:solidFill>
                <a:effectLst/>
                <a:uLnTx/>
                <a:uFillTx/>
                <a:latin typeface="Calibri" panose="020F0502020204030204"/>
                <a:ea typeface="+mn-ea"/>
                <a:cs typeface="+mn-cs"/>
              </a:rPr>
            </a:br>
            <a:r>
              <a:rPr kumimoji="0" lang="en-NZ" sz="3500" b="0" i="0" u="none" strike="noStrike" kern="1200" cap="none" spc="0" normalizeH="0" baseline="0" noProof="0">
                <a:ln>
                  <a:noFill/>
                </a:ln>
                <a:solidFill>
                  <a:prstClr val="white"/>
                </a:solidFill>
                <a:effectLst/>
                <a:uLnTx/>
                <a:uFillTx/>
                <a:latin typeface="Calibri" panose="020F0502020204030204"/>
                <a:ea typeface="+mn-ea"/>
                <a:cs typeface="+mn-cs"/>
              </a:rPr>
              <a:t>Applied </a:t>
            </a:r>
            <a:r>
              <a:rPr kumimoji="0" lang="en-NZ" sz="3500" b="0" i="0" u="none" strike="noStrike" kern="1200" cap="none" spc="0" normalizeH="0" baseline="0" noProof="0" dirty="0">
                <a:ln>
                  <a:noFill/>
                </a:ln>
                <a:solidFill>
                  <a:prstClr val="white"/>
                </a:solidFill>
                <a:effectLst/>
                <a:uLnTx/>
                <a:uFillTx/>
                <a:latin typeface="Calibri" panose="020F0502020204030204"/>
                <a:ea typeface="+mn-ea"/>
                <a:cs typeface="+mn-cs"/>
              </a:rPr>
              <a:t>Statistics with R</a:t>
            </a:r>
          </a:p>
        </p:txBody>
      </p:sp>
      <p:sp>
        <p:nvSpPr>
          <p:cNvPr id="17" name="TextBox 16">
            <a:extLst>
              <a:ext uri="{FF2B5EF4-FFF2-40B4-BE49-F238E27FC236}">
                <a16:creationId xmlns:a16="http://schemas.microsoft.com/office/drawing/2014/main" id="{15E15834-4C1C-48A4-9F77-1A195C7F3F70}"/>
              </a:ext>
            </a:extLst>
          </p:cNvPr>
          <p:cNvSpPr txBox="1"/>
          <p:nvPr/>
        </p:nvSpPr>
        <p:spPr>
          <a:xfrm>
            <a:off x="4038600" y="4646474"/>
            <a:ext cx="6923403"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2800" b="0" i="0" u="none" strike="noStrike" kern="1200" cap="none" spc="0" normalizeH="0" baseline="0" noProof="0">
                <a:ln>
                  <a:noFill/>
                </a:ln>
                <a:solidFill>
                  <a:prstClr val="white"/>
                </a:solidFill>
                <a:effectLst/>
                <a:uLnTx/>
                <a:uFillTx/>
                <a:latin typeface="Calibri" panose="020F0502020204030204"/>
                <a:ea typeface="+mn-ea"/>
                <a:cs typeface="+mn-cs"/>
              </a:rPr>
              <a:t>Chapter </a:t>
            </a:r>
            <a:r>
              <a:rPr kumimoji="0" lang="en-NZ" sz="2800" b="0" i="0" u="none" strike="noStrike" kern="1200" cap="none" spc="0" normalizeH="0" baseline="0" noProof="0" dirty="0">
                <a:ln>
                  <a:noFill/>
                </a:ln>
                <a:solidFill>
                  <a:prstClr val="white"/>
                </a:solidFill>
                <a:effectLst/>
                <a:uLnTx/>
                <a:uFillTx/>
                <a:latin typeface="Calibri" panose="020F0502020204030204"/>
                <a:ea typeface="+mn-ea"/>
                <a:cs typeface="+mn-cs"/>
              </a:rPr>
              <a:t>4 </a:t>
            </a:r>
            <a:r>
              <a:rPr kumimoji="0" lang="en-NZ" sz="2800" b="0" i="0" u="none" strike="noStrike" kern="1200" cap="none" spc="0" normalizeH="0" baseline="0" noProof="0">
                <a:ln>
                  <a:noFill/>
                </a:ln>
                <a:solidFill>
                  <a:prstClr val="white"/>
                </a:solidFill>
                <a:effectLst/>
                <a:uLnTx/>
                <a:uFillTx/>
                <a:latin typeface="Calibri" panose="020F0502020204030204"/>
                <a:ea typeface="+mn-ea"/>
                <a:cs typeface="+mn-cs"/>
              </a:rPr>
              <a:t>– Randomised Block Designs</a:t>
            </a:r>
            <a:endParaRPr kumimoji="0" lang="en-NZ" sz="2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41805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 Distribution - MATLAB &amp; Simulink">
            <a:extLst>
              <a:ext uri="{FF2B5EF4-FFF2-40B4-BE49-F238E27FC236}">
                <a16:creationId xmlns:a16="http://schemas.microsoft.com/office/drawing/2014/main" id="{24757BB1-DBBA-EAE1-CDF0-F1D61A2A9F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19599" y="4060414"/>
            <a:ext cx="6563733" cy="279758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3" name="Text Placeholder 5">
                <a:extLst>
                  <a:ext uri="{FF2B5EF4-FFF2-40B4-BE49-F238E27FC236}">
                    <a16:creationId xmlns:a16="http://schemas.microsoft.com/office/drawing/2014/main" id="{AE50A56B-56FB-8A3A-01BC-F58E719FAEEE}"/>
                  </a:ext>
                </a:extLst>
              </p:cNvPr>
              <p:cNvSpPr txBox="1">
                <a:spLocks/>
              </p:cNvSpPr>
              <p:nvPr/>
            </p:nvSpPr>
            <p:spPr>
              <a:xfrm>
                <a:off x="6641131" y="5720325"/>
                <a:ext cx="809159" cy="398844"/>
              </a:xfrm>
              <a:prstGeom prst="rect">
                <a:avLst/>
              </a:prstGeom>
              <a:no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𝑭</m:t>
                          </m:r>
                        </m:e>
                        <m: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𝒐𝒃𝒔</m:t>
                          </m:r>
                        </m:sub>
                      </m:sSub>
                    </m:oMath>
                  </m:oMathPara>
                </a14:m>
                <a:endParaRPr kumimoji="1" lang="en-NZ" altLang="ja-JP" sz="16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33" name="Text Placeholder 5">
                <a:extLst>
                  <a:ext uri="{FF2B5EF4-FFF2-40B4-BE49-F238E27FC236}">
                    <a16:creationId xmlns:a16="http://schemas.microsoft.com/office/drawing/2014/main" id="{AE50A56B-56FB-8A3A-01BC-F58E719FAEEE}"/>
                  </a:ext>
                </a:extLst>
              </p:cNvPr>
              <p:cNvSpPr txBox="1">
                <a:spLocks noRot="1" noChangeAspect="1" noMove="1" noResize="1" noEditPoints="1" noAdjustHandles="1" noChangeArrowheads="1" noChangeShapeType="1" noTextEdit="1"/>
              </p:cNvSpPr>
              <p:nvPr/>
            </p:nvSpPr>
            <p:spPr>
              <a:xfrm>
                <a:off x="6641131" y="5720325"/>
                <a:ext cx="809159" cy="398844"/>
              </a:xfrm>
              <a:prstGeom prst="rect">
                <a:avLst/>
              </a:prstGeom>
              <a:blipFill>
                <a:blip r:embed="rId3"/>
                <a:stretch>
                  <a:fillRect/>
                </a:stretch>
              </a:blipFill>
            </p:spPr>
            <p:txBody>
              <a:bodyPr/>
              <a:lstStyle/>
              <a:p>
                <a:r>
                  <a:rPr lang="en-NZ">
                    <a:noFill/>
                  </a:rPr>
                  <a:t> </a:t>
                </a:r>
              </a:p>
            </p:txBody>
          </p:sp>
        </mc:Fallback>
      </mc:AlternateContent>
      <p:sp>
        <p:nvSpPr>
          <p:cNvPr id="22" name="Slide Number Placeholder 3">
            <a:extLst>
              <a:ext uri="{FF2B5EF4-FFF2-40B4-BE49-F238E27FC236}">
                <a16:creationId xmlns:a16="http://schemas.microsoft.com/office/drawing/2014/main" id="{F42142F2-738D-4672-99F6-24FF16CC3E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5" name="Text Placeholder 5">
            <a:extLst>
              <a:ext uri="{FF2B5EF4-FFF2-40B4-BE49-F238E27FC236}">
                <a16:creationId xmlns:a16="http://schemas.microsoft.com/office/drawing/2014/main" id="{ABFB436D-82C6-44DA-929D-276DC8D9D5B6}"/>
              </a:ext>
            </a:extLst>
          </p:cNvPr>
          <p:cNvSpPr txBox="1">
            <a:spLocks/>
          </p:cNvSpPr>
          <p:nvPr/>
        </p:nvSpPr>
        <p:spPr>
          <a:xfrm>
            <a:off x="251223" y="903964"/>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Suppose that we have a total of </a:t>
            </a:r>
            <a:r>
              <a:rPr kumimoji="1" lang="en-NZ" altLang="ja-JP" sz="16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i</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 1, …, k</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population groups that are…</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6" name="Text Placeholder 5">
            <a:extLst>
              <a:ext uri="{FF2B5EF4-FFF2-40B4-BE49-F238E27FC236}">
                <a16:creationId xmlns:a16="http://schemas.microsoft.com/office/drawing/2014/main" id="{C68DBC3A-A498-4137-AE68-899A285A8924}"/>
              </a:ext>
            </a:extLst>
          </p:cNvPr>
          <p:cNvSpPr txBox="1">
            <a:spLocks/>
          </p:cNvSpPr>
          <p:nvPr/>
        </p:nvSpPr>
        <p:spPr>
          <a:xfrm>
            <a:off x="760742" y="1259064"/>
            <a:ext cx="2801324" cy="10888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Independent</a:t>
            </a:r>
          </a:p>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Normally distributed</a:t>
            </a:r>
          </a:p>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Have equal variance </a:t>
            </a:r>
            <a:r>
              <a:rPr kumimoji="1" lang="el-GR"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σ</a:t>
            </a:r>
            <a:r>
              <a:rPr kumimoji="1" lang="en-NZ" altLang="ja-JP" sz="1600" b="1" i="1" u="none" strike="noStrike" kern="1200" cap="none" spc="0" normalizeH="0" baseline="30000" noProof="0" dirty="0">
                <a:ln>
                  <a:noFill/>
                </a:ln>
                <a:solidFill>
                  <a:prstClr val="black"/>
                </a:solidFill>
                <a:effectLst/>
                <a:uLnTx/>
                <a:uFillTx/>
                <a:latin typeface="Calibri" panose="020F0502020204030204"/>
                <a:ea typeface="游ゴシック" panose="020B0400000000000000" pitchFamily="34" charset="-128"/>
                <a:cs typeface="+mn-cs"/>
              </a:rPr>
              <a:t>2</a:t>
            </a:r>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20" name="Right Brace 19">
            <a:extLst>
              <a:ext uri="{FF2B5EF4-FFF2-40B4-BE49-F238E27FC236}">
                <a16:creationId xmlns:a16="http://schemas.microsoft.com/office/drawing/2014/main" id="{3488411A-84EE-4E85-8662-46928347B953}"/>
              </a:ext>
            </a:extLst>
          </p:cNvPr>
          <p:cNvSpPr/>
          <p:nvPr/>
        </p:nvSpPr>
        <p:spPr>
          <a:xfrm>
            <a:off x="3663166" y="1326360"/>
            <a:ext cx="404885" cy="81636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Placeholder 5">
            <a:extLst>
              <a:ext uri="{FF2B5EF4-FFF2-40B4-BE49-F238E27FC236}">
                <a16:creationId xmlns:a16="http://schemas.microsoft.com/office/drawing/2014/main" id="{BEC30F93-6E99-4892-908F-2EF5BEEE396F}"/>
              </a:ext>
            </a:extLst>
          </p:cNvPr>
          <p:cNvSpPr txBox="1">
            <a:spLocks/>
          </p:cNvSpPr>
          <p:nvPr/>
        </p:nvSpPr>
        <p:spPr>
          <a:xfrm>
            <a:off x="4009790" y="1532885"/>
            <a:ext cx="2377492"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ANOVA Conditions:</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4" name="Text Placeholder 5">
                <a:extLst>
                  <a:ext uri="{FF2B5EF4-FFF2-40B4-BE49-F238E27FC236}">
                    <a16:creationId xmlns:a16="http://schemas.microsoft.com/office/drawing/2014/main" id="{C3E82D89-4446-4262-B614-2D50E85B7728}"/>
                  </a:ext>
                </a:extLst>
              </p:cNvPr>
              <p:cNvSpPr txBox="1">
                <a:spLocks/>
              </p:cNvSpPr>
              <p:nvPr/>
            </p:nvSpPr>
            <p:spPr>
              <a:xfrm>
                <a:off x="251222" y="2411715"/>
                <a:ext cx="11472203"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To test between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a:t>
                </a:r>
                <a:r>
                  <a:rPr kumimoji="1" lang="en-NZ" altLang="ja-JP" sz="16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0</a:t>
                </a:r>
                <a:r>
                  <a:rPr kumimoji="1" lang="en-NZ" altLang="ja-JP" sz="16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and </a:t>
                </a:r>
                <a:r>
                  <a:rPr lang="en-NZ" altLang="ja-JP" sz="1600" b="1" i="1" noProof="0" dirty="0">
                    <a:solidFill>
                      <a:prstClr val="black"/>
                    </a:solidFill>
                    <a:latin typeface="Calibri" panose="020F0502020204030204"/>
                    <a:ea typeface="游ゴシック" panose="020B0400000000000000" pitchFamily="34" charset="-128"/>
                  </a:rPr>
                  <a:t>H</a:t>
                </a:r>
                <a:r>
                  <a:rPr lang="en-NZ" altLang="ja-JP" sz="1600" b="1" i="1" baseline="-25000" noProof="0" dirty="0">
                    <a:solidFill>
                      <a:prstClr val="black"/>
                    </a:solidFill>
                    <a:latin typeface="Calibri" panose="020F0502020204030204"/>
                    <a:ea typeface="游ゴシック" panose="020B0400000000000000" pitchFamily="34" charset="-128"/>
                  </a:rPr>
                  <a:t>1</a:t>
                </a:r>
                <a:r>
                  <a:rPr lang="en-NZ" altLang="ja-JP" sz="1600" noProof="0" dirty="0">
                    <a:solidFill>
                      <a:prstClr val="black"/>
                    </a:solidFill>
                    <a:latin typeface="Calibri" panose="020F0502020204030204"/>
                    <a:ea typeface="游ゴシック" panose="020B0400000000000000" pitchFamily="34" charset="-128"/>
                  </a:rPr>
                  <a:t> we calculate the </a:t>
                </a:r>
                <a:r>
                  <a:rPr lang="en-NZ" altLang="ja-JP" sz="1600" b="1" i="1" noProof="0" dirty="0">
                    <a:solidFill>
                      <a:prstClr val="black"/>
                    </a:solidFill>
                    <a:latin typeface="Calibri" panose="020F0502020204030204"/>
                    <a:ea typeface="游ゴシック" panose="020B0400000000000000" pitchFamily="34" charset="-128"/>
                  </a:rPr>
                  <a:t>F</a:t>
                </a:r>
                <a:r>
                  <a:rPr lang="en-NZ" altLang="ja-JP" sz="1600" noProof="0" dirty="0">
                    <a:solidFill>
                      <a:prstClr val="black"/>
                    </a:solidFill>
                    <a:latin typeface="Calibri" panose="020F0502020204030204"/>
                    <a:ea typeface="游ゴシック" panose="020B0400000000000000" pitchFamily="34" charset="-128"/>
                  </a:rPr>
                  <a:t>-statistic for one-way ANOVA</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f>
                        <m:f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𝑴𝑺𝑻</m:t>
                          </m:r>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𝑴𝑺𝑬</m:t>
                          </m:r>
                        </m:den>
                      </m:f>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f>
                        <m:f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f>
                            <m:fPr>
                              <m:type m:val="lin"/>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𝑺𝑺𝑻</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d>
                                <m:d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𝒌</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e>
                              </m:d>
                            </m:den>
                          </m:f>
                        </m:num>
                        <m:den>
                          <m:f>
                            <m:fPr>
                              <m:type m:val="lin"/>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𝑺𝑺𝑬</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𝒌</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d>
                                <m:d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𝒏</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e>
                              </m:d>
                            </m:den>
                          </m:f>
                        </m:den>
                      </m:f>
                    </m:oMath>
                  </m:oMathPara>
                </a14:m>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4" name="Text Placeholder 5">
                <a:extLst>
                  <a:ext uri="{FF2B5EF4-FFF2-40B4-BE49-F238E27FC236}">
                    <a16:creationId xmlns:a16="http://schemas.microsoft.com/office/drawing/2014/main" id="{C3E82D89-4446-4262-B614-2D50E85B7728}"/>
                  </a:ext>
                </a:extLst>
              </p:cNvPr>
              <p:cNvSpPr txBox="1">
                <a:spLocks noRot="1" noChangeAspect="1" noMove="1" noResize="1" noEditPoints="1" noAdjustHandles="1" noChangeArrowheads="1" noChangeShapeType="1" noTextEdit="1"/>
              </p:cNvSpPr>
              <p:nvPr/>
            </p:nvSpPr>
            <p:spPr>
              <a:xfrm>
                <a:off x="251222" y="2411715"/>
                <a:ext cx="11472203" cy="1021587"/>
              </a:xfrm>
              <a:prstGeom prst="rect">
                <a:avLst/>
              </a:prstGeom>
              <a:blipFill>
                <a:blip r:embed="rId4"/>
                <a:stretch>
                  <a:fillRect l="-266" t="-1796"/>
                </a:stretch>
              </a:blipFill>
            </p:spPr>
            <p:txBody>
              <a:bodyPr/>
              <a:lstStyle/>
              <a:p>
                <a:r>
                  <a:rPr lang="en-NZ">
                    <a:noFill/>
                  </a:rPr>
                  <a:t> </a:t>
                </a:r>
              </a:p>
            </p:txBody>
          </p:sp>
        </mc:Fallback>
      </mc:AlternateContent>
      <p:sp>
        <p:nvSpPr>
          <p:cNvPr id="25" name="Text Placeholder 5">
            <a:extLst>
              <a:ext uri="{FF2B5EF4-FFF2-40B4-BE49-F238E27FC236}">
                <a16:creationId xmlns:a16="http://schemas.microsoft.com/office/drawing/2014/main" id="{02DDBF7E-EE07-46AD-BFC8-7B3E224881C6}"/>
              </a:ext>
            </a:extLst>
          </p:cNvPr>
          <p:cNvSpPr txBox="1">
            <a:spLocks/>
          </p:cNvSpPr>
          <p:nvPr/>
        </p:nvSpPr>
        <p:spPr>
          <a:xfrm>
            <a:off x="7004881" y="873877"/>
            <a:ext cx="4495678" cy="12688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want to test the hypothesis that the means of all the groups are equal, i.e.</a:t>
            </a:r>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8" name="Text Placeholder 5">
                <a:extLst>
                  <a:ext uri="{FF2B5EF4-FFF2-40B4-BE49-F238E27FC236}">
                    <a16:creationId xmlns:a16="http://schemas.microsoft.com/office/drawing/2014/main" id="{EA9CB319-6E2B-4F82-BF2F-DD9249BF6E21}"/>
                  </a:ext>
                </a:extLst>
              </p:cNvPr>
              <p:cNvSpPr txBox="1">
                <a:spLocks/>
              </p:cNvSpPr>
              <p:nvPr/>
            </p:nvSpPr>
            <p:spPr>
              <a:xfrm>
                <a:off x="7146636" y="1414191"/>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sub>
                    </m:sSub>
                  </m:oMath>
                </a14:m>
                <a: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for all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𝑗</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 …, </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𝑘</m:t>
                    </m:r>
                  </m:oMath>
                </a14:m>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b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br>
                <a14:m>
                  <m:oMath xmlns:m="http://schemas.openxmlformats.org/officeDocument/2006/math">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Sub>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 </m:t>
                    </m:r>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sub>
                    </m:sSub>
                  </m:oMath>
                </a14:m>
                <a:r>
                  <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for some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𝑗</m:t>
                    </m:r>
                  </m:oMath>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8" name="Text Placeholder 5">
                <a:extLst>
                  <a:ext uri="{FF2B5EF4-FFF2-40B4-BE49-F238E27FC236}">
                    <a16:creationId xmlns:a16="http://schemas.microsoft.com/office/drawing/2014/main" id="{EA9CB319-6E2B-4F82-BF2F-DD9249BF6E21}"/>
                  </a:ext>
                </a:extLst>
              </p:cNvPr>
              <p:cNvSpPr txBox="1">
                <a:spLocks noRot="1" noChangeAspect="1" noMove="1" noResize="1" noEditPoints="1" noAdjustHandles="1" noChangeArrowheads="1" noChangeShapeType="1" noTextEdit="1"/>
              </p:cNvSpPr>
              <p:nvPr/>
            </p:nvSpPr>
            <p:spPr>
              <a:xfrm>
                <a:off x="7146636" y="1414191"/>
                <a:ext cx="3507477" cy="1021587"/>
              </a:xfrm>
              <a:prstGeom prst="rect">
                <a:avLst/>
              </a:prstGeom>
              <a:blipFill>
                <a:blip r:embed="rId5"/>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7" name="Text Placeholder 5">
                <a:extLst>
                  <a:ext uri="{FF2B5EF4-FFF2-40B4-BE49-F238E27FC236}">
                    <a16:creationId xmlns:a16="http://schemas.microsoft.com/office/drawing/2014/main" id="{54942512-63EA-41CC-995A-663D369F8F6F}"/>
                  </a:ext>
                </a:extLst>
              </p:cNvPr>
              <p:cNvSpPr txBox="1">
                <a:spLocks/>
              </p:cNvSpPr>
              <p:nvPr/>
            </p:nvSpPr>
            <p:spPr>
              <a:xfrm>
                <a:off x="251222" y="3438661"/>
                <a:ext cx="11008181" cy="62175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NZ" altLang="ja-JP" sz="1600" b="1" i="0" u="sng"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If</a:t>
                </a:r>
                <a:r>
                  <a:rPr kumimoji="1" lang="en-NZ" altLang="ja-JP" sz="16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ANOVA conditions are satisfied then </a:t>
                </a:r>
                <a14:m>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𝒌</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𝑵</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𝒌</m:t>
                        </m:r>
                      </m:sub>
                    </m:sSub>
                  </m:oMath>
                </a14:m>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look to see where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a:t>
                </a:r>
                <a:r>
                  <a:rPr kumimoji="1" lang="en-NZ" altLang="ja-JP" sz="16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obs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lies in the distribution of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a:t>
                </a:r>
                <a:r>
                  <a:rPr kumimoji="1" lang="en-NZ" altLang="ja-JP" sz="16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 k-1 , N-k</a:t>
                </a:r>
                <a:br>
                  <a:rPr kumimoji="1" lang="en-NZ" altLang="ja-JP" sz="16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br>
                <a:r>
                  <a:rPr kumimoji="1" lang="en-NZ" altLang="ja-JP" sz="16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The p-value</a:t>
                </a:r>
                <a:r>
                  <a:rPr kumimoji="1" lang="en-NZ" altLang="ja-JP" sz="1600" b="1" i="1"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a:t>
                </a:r>
                <a14:m>
                  <m:oMath xmlns:m="http://schemas.openxmlformats.org/officeDocument/2006/math">
                    <m:r>
                      <a:rPr lang="en-NZ" altLang="ja-JP" sz="1600" b="1" i="1">
                        <a:solidFill>
                          <a:prstClr val="black"/>
                        </a:solidFill>
                        <a:latin typeface="Cambria Math" panose="02040503050406030204" pitchFamily="18" charset="0"/>
                      </a:rPr>
                      <m:t>𝑷</m:t>
                    </m:r>
                    <m:d>
                      <m:dPr>
                        <m:ctrlPr>
                          <a:rPr lang="en-NZ" altLang="ja-JP" sz="1600" b="1" i="1">
                            <a:solidFill>
                              <a:prstClr val="black"/>
                            </a:solidFill>
                            <a:latin typeface="Cambria Math" panose="02040503050406030204" pitchFamily="18" charset="0"/>
                          </a:rPr>
                        </m:ctrlPr>
                      </m:dPr>
                      <m:e>
                        <m:r>
                          <a:rPr lang="en-NZ" altLang="ja-JP" sz="1600" b="1" i="1">
                            <a:solidFill>
                              <a:prstClr val="black"/>
                            </a:solidFill>
                            <a:latin typeface="Cambria Math" panose="02040503050406030204" pitchFamily="18" charset="0"/>
                          </a:rPr>
                          <m:t> </m:t>
                        </m:r>
                        <m:r>
                          <a:rPr lang="en-NZ" altLang="ja-JP" sz="1600" b="1" i="1">
                            <a:solidFill>
                              <a:prstClr val="black"/>
                            </a:solidFill>
                            <a:latin typeface="Cambria Math" panose="02040503050406030204" pitchFamily="18" charset="0"/>
                          </a:rPr>
                          <m:t>𝑭</m:t>
                        </m:r>
                        <m:r>
                          <a:rPr lang="en-NZ" altLang="ja-JP" sz="1600" b="1" i="1">
                            <a:solidFill>
                              <a:prstClr val="black"/>
                            </a:solidFill>
                            <a:latin typeface="Cambria Math" panose="02040503050406030204" pitchFamily="18" charset="0"/>
                          </a:rPr>
                          <m:t>≥</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𝑭</m:t>
                            </m:r>
                          </m:e>
                          <m:sub>
                            <m:r>
                              <a:rPr lang="en-NZ" altLang="ja-JP" sz="1600" b="1" i="1">
                                <a:solidFill>
                                  <a:prstClr val="black"/>
                                </a:solidFill>
                                <a:latin typeface="Cambria Math" panose="02040503050406030204" pitchFamily="18" charset="0"/>
                              </a:rPr>
                              <m:t>𝒐𝒃𝒔</m:t>
                            </m:r>
                          </m:sub>
                        </m:sSub>
                        <m:r>
                          <a:rPr lang="en-NZ" altLang="ja-JP" sz="1600" b="1" i="1">
                            <a:solidFill>
                              <a:prstClr val="black"/>
                            </a:solidFill>
                            <a:latin typeface="Cambria Math" panose="02040503050406030204" pitchFamily="18" charset="0"/>
                          </a:rPr>
                          <m:t> </m:t>
                        </m:r>
                      </m:e>
                    </m:d>
                  </m:oMath>
                </a14:m>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gives a measure of evidence against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a:t>
                </a:r>
                <a:r>
                  <a:rPr kumimoji="1" lang="en-NZ" altLang="ja-JP" sz="16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0</a:t>
                </a:r>
                <a:r>
                  <a:rPr kumimoji="1" lang="en-NZ" altLang="ja-JP" sz="1600"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37" name="Text Placeholder 5">
                <a:extLst>
                  <a:ext uri="{FF2B5EF4-FFF2-40B4-BE49-F238E27FC236}">
                    <a16:creationId xmlns:a16="http://schemas.microsoft.com/office/drawing/2014/main" id="{54942512-63EA-41CC-995A-663D369F8F6F}"/>
                  </a:ext>
                </a:extLst>
              </p:cNvPr>
              <p:cNvSpPr txBox="1">
                <a:spLocks noRot="1" noChangeAspect="1" noMove="1" noResize="1" noEditPoints="1" noAdjustHandles="1" noChangeArrowheads="1" noChangeShapeType="1" noTextEdit="1"/>
              </p:cNvSpPr>
              <p:nvPr/>
            </p:nvSpPr>
            <p:spPr>
              <a:xfrm>
                <a:off x="251222" y="3438661"/>
                <a:ext cx="11008181" cy="621754"/>
              </a:xfrm>
              <a:prstGeom prst="rect">
                <a:avLst/>
              </a:prstGeom>
              <a:blipFill>
                <a:blip r:embed="rId6"/>
                <a:stretch>
                  <a:fillRect l="-277" t="-1961" b="-7843"/>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6" name="Text Placeholder 5">
                <a:extLst>
                  <a:ext uri="{FF2B5EF4-FFF2-40B4-BE49-F238E27FC236}">
                    <a16:creationId xmlns:a16="http://schemas.microsoft.com/office/drawing/2014/main" id="{89733653-5326-A3B7-028D-8FB5D3C37F72}"/>
                  </a:ext>
                </a:extLst>
              </p:cNvPr>
              <p:cNvSpPr txBox="1">
                <a:spLocks/>
              </p:cNvSpPr>
              <p:nvPr/>
            </p:nvSpPr>
            <p:spPr>
              <a:xfrm>
                <a:off x="7237618" y="5754614"/>
                <a:ext cx="1344639" cy="398844"/>
              </a:xfrm>
              <a:prstGeom prst="rect">
                <a:avLst/>
              </a:prstGeom>
              <a:solidFill>
                <a:schemeClr val="bg1"/>
              </a:solid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𝑷</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𝒐𝒃𝒔</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m:oMathPara>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6" name="Text Placeholder 5">
                <a:extLst>
                  <a:ext uri="{FF2B5EF4-FFF2-40B4-BE49-F238E27FC236}">
                    <a16:creationId xmlns:a16="http://schemas.microsoft.com/office/drawing/2014/main" id="{89733653-5326-A3B7-028D-8FB5D3C37F72}"/>
                  </a:ext>
                </a:extLst>
              </p:cNvPr>
              <p:cNvSpPr txBox="1">
                <a:spLocks noRot="1" noChangeAspect="1" noMove="1" noResize="1" noEditPoints="1" noAdjustHandles="1" noChangeArrowheads="1" noChangeShapeType="1" noTextEdit="1"/>
              </p:cNvSpPr>
              <p:nvPr/>
            </p:nvSpPr>
            <p:spPr>
              <a:xfrm>
                <a:off x="7237618" y="5754614"/>
                <a:ext cx="1344639" cy="398844"/>
              </a:xfrm>
              <a:prstGeom prst="rect">
                <a:avLst/>
              </a:prstGeom>
              <a:blipFill>
                <a:blip r:embed="rId7"/>
                <a:stretch>
                  <a:fillRect/>
                </a:stretch>
              </a:blipFill>
            </p:spPr>
            <p:txBody>
              <a:bodyPr/>
              <a:lstStyle/>
              <a:p>
                <a:r>
                  <a:rPr lang="en-NZ">
                    <a:noFill/>
                  </a:rPr>
                  <a:t> </a:t>
                </a:r>
              </a:p>
            </p:txBody>
          </p:sp>
        </mc:Fallback>
      </mc:AlternateContent>
      <p:cxnSp>
        <p:nvCxnSpPr>
          <p:cNvPr id="5" name="Straight Connector 4">
            <a:extLst>
              <a:ext uri="{FF2B5EF4-FFF2-40B4-BE49-F238E27FC236}">
                <a16:creationId xmlns:a16="http://schemas.microsoft.com/office/drawing/2014/main" id="{AA0882C0-2E92-BBD9-6A8F-2C3516DCEF0A}"/>
              </a:ext>
            </a:extLst>
          </p:cNvPr>
          <p:cNvCxnSpPr>
            <a:cxnSpLocks/>
          </p:cNvCxnSpPr>
          <p:nvPr/>
        </p:nvCxnSpPr>
        <p:spPr>
          <a:xfrm>
            <a:off x="6857573" y="6057997"/>
            <a:ext cx="0" cy="462331"/>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36" name="Title 6">
            <a:extLst>
              <a:ext uri="{FF2B5EF4-FFF2-40B4-BE49-F238E27FC236}">
                <a16:creationId xmlns:a16="http://schemas.microsoft.com/office/drawing/2014/main" id="{9D93DD8A-385B-F933-EDF4-B34324211271}"/>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Preamble: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40" name="Footer Placeholder 2">
            <a:extLst>
              <a:ext uri="{FF2B5EF4-FFF2-40B4-BE49-F238E27FC236}">
                <a16:creationId xmlns:a16="http://schemas.microsoft.com/office/drawing/2014/main" id="{FA6151B5-DEF1-1C58-94AE-1FB4218F3709}"/>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Preamble</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595608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24" grpId="0"/>
      <p:bldP spid="25" grpId="0"/>
      <p:bldP spid="28" grpId="0"/>
      <p:bldP spid="37" grpId="0"/>
      <p:bldP spid="2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lide Number Placeholder 3">
            <a:extLst>
              <a:ext uri="{FF2B5EF4-FFF2-40B4-BE49-F238E27FC236}">
                <a16:creationId xmlns:a16="http://schemas.microsoft.com/office/drawing/2014/main" id="{F42142F2-738D-4672-99F6-24FF16CC3E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5" name="Text Placeholder 5">
            <a:extLst>
              <a:ext uri="{FF2B5EF4-FFF2-40B4-BE49-F238E27FC236}">
                <a16:creationId xmlns:a16="http://schemas.microsoft.com/office/drawing/2014/main" id="{ABFB436D-82C6-44DA-929D-276DC8D9D5B6}"/>
              </a:ext>
            </a:extLst>
          </p:cNvPr>
          <p:cNvSpPr txBox="1">
            <a:spLocks/>
          </p:cNvSpPr>
          <p:nvPr/>
        </p:nvSpPr>
        <p:spPr>
          <a:xfrm>
            <a:off x="251223" y="903964"/>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Suppose that we have a total of </a:t>
            </a:r>
            <a:r>
              <a:rPr kumimoji="1" lang="en-NZ" altLang="ja-JP" sz="16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i</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 1, …, k</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population groups that are…</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6" name="Text Placeholder 5">
            <a:extLst>
              <a:ext uri="{FF2B5EF4-FFF2-40B4-BE49-F238E27FC236}">
                <a16:creationId xmlns:a16="http://schemas.microsoft.com/office/drawing/2014/main" id="{C68DBC3A-A498-4137-AE68-899A285A8924}"/>
              </a:ext>
            </a:extLst>
          </p:cNvPr>
          <p:cNvSpPr txBox="1">
            <a:spLocks/>
          </p:cNvSpPr>
          <p:nvPr/>
        </p:nvSpPr>
        <p:spPr>
          <a:xfrm>
            <a:off x="760742" y="1259064"/>
            <a:ext cx="2801324" cy="10888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Independent</a:t>
            </a:r>
          </a:p>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Normally distributed</a:t>
            </a:r>
          </a:p>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Have equal variance </a:t>
            </a:r>
            <a:r>
              <a:rPr kumimoji="1" lang="el-GR"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σ</a:t>
            </a:r>
            <a:r>
              <a:rPr kumimoji="1" lang="en-NZ" altLang="ja-JP" sz="1600" b="1" i="1" u="none" strike="noStrike" kern="1200" cap="none" spc="0" normalizeH="0" baseline="30000" noProof="0" dirty="0">
                <a:ln>
                  <a:noFill/>
                </a:ln>
                <a:solidFill>
                  <a:prstClr val="black"/>
                </a:solidFill>
                <a:effectLst/>
                <a:uLnTx/>
                <a:uFillTx/>
                <a:latin typeface="Calibri" panose="020F0502020204030204"/>
                <a:ea typeface="游ゴシック" panose="020B0400000000000000" pitchFamily="34" charset="-128"/>
                <a:cs typeface="+mn-cs"/>
              </a:rPr>
              <a:t>2</a:t>
            </a:r>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20" name="Right Brace 19">
            <a:extLst>
              <a:ext uri="{FF2B5EF4-FFF2-40B4-BE49-F238E27FC236}">
                <a16:creationId xmlns:a16="http://schemas.microsoft.com/office/drawing/2014/main" id="{3488411A-84EE-4E85-8662-46928347B953}"/>
              </a:ext>
            </a:extLst>
          </p:cNvPr>
          <p:cNvSpPr/>
          <p:nvPr/>
        </p:nvSpPr>
        <p:spPr>
          <a:xfrm>
            <a:off x="3663166" y="1326360"/>
            <a:ext cx="404885" cy="81636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Placeholder 5">
            <a:extLst>
              <a:ext uri="{FF2B5EF4-FFF2-40B4-BE49-F238E27FC236}">
                <a16:creationId xmlns:a16="http://schemas.microsoft.com/office/drawing/2014/main" id="{BEC30F93-6E99-4892-908F-2EF5BEEE396F}"/>
              </a:ext>
            </a:extLst>
          </p:cNvPr>
          <p:cNvSpPr txBox="1">
            <a:spLocks/>
          </p:cNvSpPr>
          <p:nvPr/>
        </p:nvSpPr>
        <p:spPr>
          <a:xfrm>
            <a:off x="4009790" y="1532885"/>
            <a:ext cx="2377492"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ANOVA Conditions:</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4" name="Text Placeholder 5">
                <a:extLst>
                  <a:ext uri="{FF2B5EF4-FFF2-40B4-BE49-F238E27FC236}">
                    <a16:creationId xmlns:a16="http://schemas.microsoft.com/office/drawing/2014/main" id="{C3E82D89-4446-4262-B614-2D50E85B7728}"/>
                  </a:ext>
                </a:extLst>
              </p:cNvPr>
              <p:cNvSpPr txBox="1">
                <a:spLocks/>
              </p:cNvSpPr>
              <p:nvPr/>
            </p:nvSpPr>
            <p:spPr>
              <a:xfrm>
                <a:off x="251222" y="2411715"/>
                <a:ext cx="11472203"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To test between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a:t>
                </a:r>
                <a:r>
                  <a:rPr kumimoji="1" lang="en-NZ" altLang="ja-JP" sz="16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0</a:t>
                </a:r>
                <a:r>
                  <a:rPr kumimoji="1" lang="en-NZ" altLang="ja-JP" sz="16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and </a:t>
                </a:r>
                <a:r>
                  <a:rPr lang="en-NZ" altLang="ja-JP" sz="1600" b="1" i="1" noProof="0" dirty="0">
                    <a:solidFill>
                      <a:prstClr val="black"/>
                    </a:solidFill>
                    <a:latin typeface="Calibri" panose="020F0502020204030204"/>
                    <a:ea typeface="游ゴシック" panose="020B0400000000000000" pitchFamily="34" charset="-128"/>
                  </a:rPr>
                  <a:t>H</a:t>
                </a:r>
                <a:r>
                  <a:rPr lang="en-NZ" altLang="ja-JP" sz="1600" b="1" i="1" baseline="-25000" noProof="0" dirty="0">
                    <a:solidFill>
                      <a:prstClr val="black"/>
                    </a:solidFill>
                    <a:latin typeface="Calibri" panose="020F0502020204030204"/>
                    <a:ea typeface="游ゴシック" panose="020B0400000000000000" pitchFamily="34" charset="-128"/>
                  </a:rPr>
                  <a:t>1</a:t>
                </a:r>
                <a:r>
                  <a:rPr lang="en-NZ" altLang="ja-JP" sz="1600" noProof="0" dirty="0">
                    <a:solidFill>
                      <a:prstClr val="black"/>
                    </a:solidFill>
                    <a:latin typeface="Calibri" panose="020F0502020204030204"/>
                    <a:ea typeface="游ゴシック" panose="020B0400000000000000" pitchFamily="34" charset="-128"/>
                  </a:rPr>
                  <a:t> we calculate the </a:t>
                </a:r>
                <a:r>
                  <a:rPr lang="en-NZ" altLang="ja-JP" sz="1600" b="1" i="1" noProof="0" dirty="0">
                    <a:solidFill>
                      <a:prstClr val="black"/>
                    </a:solidFill>
                    <a:latin typeface="Calibri" panose="020F0502020204030204"/>
                    <a:ea typeface="游ゴシック" panose="020B0400000000000000" pitchFamily="34" charset="-128"/>
                  </a:rPr>
                  <a:t>F</a:t>
                </a:r>
                <a:r>
                  <a:rPr lang="en-NZ" altLang="ja-JP" sz="1600" noProof="0" dirty="0">
                    <a:solidFill>
                      <a:prstClr val="black"/>
                    </a:solidFill>
                    <a:latin typeface="Calibri" panose="020F0502020204030204"/>
                    <a:ea typeface="游ゴシック" panose="020B0400000000000000" pitchFamily="34" charset="-128"/>
                  </a:rPr>
                  <a:t>-statistic for one-way ANOVA</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f>
                        <m:f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𝑴𝑺𝑻</m:t>
                          </m:r>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𝑴𝑺𝑬</m:t>
                          </m:r>
                        </m:den>
                      </m:f>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f>
                        <m:f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f>
                            <m:fPr>
                              <m:type m:val="lin"/>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𝑺𝑺𝑻</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d>
                                <m:d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𝒌</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e>
                              </m:d>
                            </m:den>
                          </m:f>
                        </m:num>
                        <m:den>
                          <m:f>
                            <m:fPr>
                              <m:type m:val="lin"/>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𝑺𝑺𝑬</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𝒌</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d>
                                <m:d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𝒏</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e>
                              </m:d>
                            </m:den>
                          </m:f>
                        </m:den>
                      </m:f>
                    </m:oMath>
                  </m:oMathPara>
                </a14:m>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4" name="Text Placeholder 5">
                <a:extLst>
                  <a:ext uri="{FF2B5EF4-FFF2-40B4-BE49-F238E27FC236}">
                    <a16:creationId xmlns:a16="http://schemas.microsoft.com/office/drawing/2014/main" id="{C3E82D89-4446-4262-B614-2D50E85B7728}"/>
                  </a:ext>
                </a:extLst>
              </p:cNvPr>
              <p:cNvSpPr txBox="1">
                <a:spLocks noRot="1" noChangeAspect="1" noMove="1" noResize="1" noEditPoints="1" noAdjustHandles="1" noChangeArrowheads="1" noChangeShapeType="1" noTextEdit="1"/>
              </p:cNvSpPr>
              <p:nvPr/>
            </p:nvSpPr>
            <p:spPr>
              <a:xfrm>
                <a:off x="251222" y="2411715"/>
                <a:ext cx="11472203" cy="1021587"/>
              </a:xfrm>
              <a:prstGeom prst="rect">
                <a:avLst/>
              </a:prstGeom>
              <a:blipFill>
                <a:blip r:embed="rId2"/>
                <a:stretch>
                  <a:fillRect l="-266" t="-1796"/>
                </a:stretch>
              </a:blipFill>
            </p:spPr>
            <p:txBody>
              <a:bodyPr/>
              <a:lstStyle/>
              <a:p>
                <a:r>
                  <a:rPr lang="en-NZ">
                    <a:noFill/>
                  </a:rPr>
                  <a:t> </a:t>
                </a:r>
              </a:p>
            </p:txBody>
          </p:sp>
        </mc:Fallback>
      </mc:AlternateContent>
      <p:sp>
        <p:nvSpPr>
          <p:cNvPr id="25" name="Text Placeholder 5">
            <a:extLst>
              <a:ext uri="{FF2B5EF4-FFF2-40B4-BE49-F238E27FC236}">
                <a16:creationId xmlns:a16="http://schemas.microsoft.com/office/drawing/2014/main" id="{02DDBF7E-EE07-46AD-BFC8-7B3E224881C6}"/>
              </a:ext>
            </a:extLst>
          </p:cNvPr>
          <p:cNvSpPr txBox="1">
            <a:spLocks/>
          </p:cNvSpPr>
          <p:nvPr/>
        </p:nvSpPr>
        <p:spPr>
          <a:xfrm>
            <a:off x="7004881" y="873877"/>
            <a:ext cx="4495678" cy="12688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want to test the hypothesis that the means of all the groups are equal, i.e.</a:t>
            </a:r>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8" name="Text Placeholder 5">
                <a:extLst>
                  <a:ext uri="{FF2B5EF4-FFF2-40B4-BE49-F238E27FC236}">
                    <a16:creationId xmlns:a16="http://schemas.microsoft.com/office/drawing/2014/main" id="{EA9CB319-6E2B-4F82-BF2F-DD9249BF6E21}"/>
                  </a:ext>
                </a:extLst>
              </p:cNvPr>
              <p:cNvSpPr txBox="1">
                <a:spLocks/>
              </p:cNvSpPr>
              <p:nvPr/>
            </p:nvSpPr>
            <p:spPr>
              <a:xfrm>
                <a:off x="7146636" y="1414191"/>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sub>
                    </m:sSub>
                  </m:oMath>
                </a14:m>
                <a: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for all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𝑗</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 …, </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𝑘</m:t>
                    </m:r>
                  </m:oMath>
                </a14:m>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b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br>
                <a14:m>
                  <m:oMath xmlns:m="http://schemas.openxmlformats.org/officeDocument/2006/math">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Sub>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 </m:t>
                    </m:r>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sub>
                    </m:sSub>
                  </m:oMath>
                </a14:m>
                <a:r>
                  <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for some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𝑗</m:t>
                    </m:r>
                  </m:oMath>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8" name="Text Placeholder 5">
                <a:extLst>
                  <a:ext uri="{FF2B5EF4-FFF2-40B4-BE49-F238E27FC236}">
                    <a16:creationId xmlns:a16="http://schemas.microsoft.com/office/drawing/2014/main" id="{EA9CB319-6E2B-4F82-BF2F-DD9249BF6E21}"/>
                  </a:ext>
                </a:extLst>
              </p:cNvPr>
              <p:cNvSpPr txBox="1">
                <a:spLocks noRot="1" noChangeAspect="1" noMove="1" noResize="1" noEditPoints="1" noAdjustHandles="1" noChangeArrowheads="1" noChangeShapeType="1" noTextEdit="1"/>
              </p:cNvSpPr>
              <p:nvPr/>
            </p:nvSpPr>
            <p:spPr>
              <a:xfrm>
                <a:off x="7146636" y="1414191"/>
                <a:ext cx="3507477" cy="1021587"/>
              </a:xfrm>
              <a:prstGeom prst="rect">
                <a:avLst/>
              </a:prstGeom>
              <a:blipFill>
                <a:blip r:embed="rId3"/>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7" name="Text Placeholder 5">
                <a:extLst>
                  <a:ext uri="{FF2B5EF4-FFF2-40B4-BE49-F238E27FC236}">
                    <a16:creationId xmlns:a16="http://schemas.microsoft.com/office/drawing/2014/main" id="{54942512-63EA-41CC-995A-663D369F8F6F}"/>
                  </a:ext>
                </a:extLst>
              </p:cNvPr>
              <p:cNvSpPr txBox="1">
                <a:spLocks/>
              </p:cNvSpPr>
              <p:nvPr/>
            </p:nvSpPr>
            <p:spPr>
              <a:xfrm>
                <a:off x="251222" y="3438661"/>
                <a:ext cx="11008181" cy="62175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NZ" altLang="ja-JP" sz="1600" b="1" i="0" u="sng"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If</a:t>
                </a:r>
                <a:r>
                  <a:rPr kumimoji="1" lang="en-NZ" altLang="ja-JP" sz="16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 the ANOVA conditions are satisfied then </a:t>
                </a:r>
                <a14:m>
                  <m:oMath xmlns:m="http://schemas.openxmlformats.org/officeDocument/2006/math">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𝑭</m:t>
                    </m:r>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t> ~ </m:t>
                    </m:r>
                    <m:sSub>
                      <m:sSubPr>
                        <m:ctrlP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𝑭</m:t>
                        </m:r>
                      </m:e>
                      <m:sub>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𝒌</m:t>
                        </m:r>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𝟏</m:t>
                        </m:r>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𝑵</m:t>
                        </m:r>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𝒌</m:t>
                        </m:r>
                      </m:sub>
                    </m:sSub>
                  </m:oMath>
                </a14:m>
                <a:r>
                  <a:rPr kumimoji="1" lang="en-NZ" altLang="ja-JP" sz="16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noProof="0" dirty="0">
                    <a:ln>
                      <a:noFill/>
                    </a:ln>
                    <a:solidFill>
                      <a:schemeClr val="tx1"/>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We look to see where </a:t>
                </a:r>
                <a:r>
                  <a:rPr kumimoji="1" lang="en-NZ" altLang="ja-JP" sz="16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F</a:t>
                </a:r>
                <a:r>
                  <a:rPr kumimoji="1" lang="en-NZ" altLang="ja-JP" sz="1600" b="1" i="1" u="none" strike="noStrike" kern="1200" cap="none" spc="0" normalizeH="0" baseline="-25000" noProof="0" dirty="0">
                    <a:ln>
                      <a:noFill/>
                    </a:ln>
                    <a:solidFill>
                      <a:schemeClr val="tx1"/>
                    </a:solidFill>
                    <a:effectLst/>
                    <a:uLnTx/>
                    <a:uFillTx/>
                    <a:latin typeface="Calibri" panose="020F0502020204030204"/>
                    <a:ea typeface="游ゴシック" panose="020B0400000000000000" pitchFamily="34" charset="-128"/>
                    <a:cs typeface="+mn-cs"/>
                  </a:rPr>
                  <a:t>obs </a:t>
                </a:r>
                <a:r>
                  <a:rPr kumimoji="1" lang="en-NZ" altLang="ja-JP" sz="16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lies in the distribution of </a:t>
                </a:r>
                <a:r>
                  <a:rPr kumimoji="1" lang="en-NZ" altLang="ja-JP" sz="16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F</a:t>
                </a:r>
                <a:r>
                  <a:rPr kumimoji="1" lang="en-NZ" altLang="ja-JP" sz="1600" b="1" i="1" u="none" strike="noStrike" kern="1200" cap="none" spc="0" normalizeH="0" baseline="-25000" noProof="0" dirty="0">
                    <a:ln>
                      <a:noFill/>
                    </a:ln>
                    <a:solidFill>
                      <a:schemeClr val="tx1"/>
                    </a:solidFill>
                    <a:effectLst/>
                    <a:uLnTx/>
                    <a:uFillTx/>
                    <a:latin typeface="Calibri" panose="020F0502020204030204"/>
                    <a:ea typeface="游ゴシック" panose="020B0400000000000000" pitchFamily="34" charset="-128"/>
                    <a:cs typeface="+mn-cs"/>
                  </a:rPr>
                  <a:t> k-1 , N-k</a:t>
                </a:r>
                <a:br>
                  <a:rPr kumimoji="1" lang="en-NZ" altLang="ja-JP" sz="1600" b="1" i="1" u="none" strike="noStrike" kern="1200" cap="none" spc="0" normalizeH="0" baseline="-25000" noProof="0" dirty="0">
                    <a:ln>
                      <a:noFill/>
                    </a:ln>
                    <a:solidFill>
                      <a:schemeClr val="tx1"/>
                    </a:solidFill>
                    <a:effectLst/>
                    <a:uLnTx/>
                    <a:uFillTx/>
                    <a:latin typeface="Calibri" panose="020F0502020204030204"/>
                    <a:ea typeface="游ゴシック" panose="020B0400000000000000" pitchFamily="34" charset="-128"/>
                    <a:cs typeface="+mn-cs"/>
                  </a:rPr>
                </a:br>
                <a:r>
                  <a:rPr kumimoji="1" lang="en-NZ" altLang="ja-JP" sz="1600" u="none" strike="noStrike" kern="1200" cap="none" spc="0" normalizeH="0" noProof="0" dirty="0">
                    <a:ln>
                      <a:noFill/>
                    </a:ln>
                    <a:solidFill>
                      <a:schemeClr val="tx1"/>
                    </a:solidFill>
                    <a:effectLst/>
                    <a:uLnTx/>
                    <a:uFillTx/>
                    <a:latin typeface="Calibri" panose="020F0502020204030204"/>
                    <a:ea typeface="游ゴシック" panose="020B0400000000000000" pitchFamily="34" charset="-128"/>
                    <a:cs typeface="+mn-cs"/>
                  </a:rPr>
                  <a:t>The p-value</a:t>
                </a:r>
                <a:r>
                  <a:rPr kumimoji="1" lang="en-NZ" altLang="ja-JP" sz="1600" b="1" i="1" u="none" strike="noStrike" kern="1200" cap="none" spc="0" normalizeH="0" noProof="0" dirty="0">
                    <a:ln>
                      <a:noFill/>
                    </a:ln>
                    <a:solidFill>
                      <a:schemeClr val="tx1"/>
                    </a:solidFill>
                    <a:effectLst/>
                    <a:uLnTx/>
                    <a:uFillTx/>
                    <a:latin typeface="Calibri" panose="020F0502020204030204"/>
                    <a:ea typeface="游ゴシック" panose="020B0400000000000000" pitchFamily="34" charset="-128"/>
                    <a:cs typeface="+mn-cs"/>
                  </a:rPr>
                  <a:t> </a:t>
                </a:r>
                <a14:m>
                  <m:oMath xmlns:m="http://schemas.openxmlformats.org/officeDocument/2006/math">
                    <m:r>
                      <a:rPr lang="en-NZ" altLang="ja-JP" sz="1600" b="1" i="1">
                        <a:solidFill>
                          <a:schemeClr val="tx1"/>
                        </a:solidFill>
                        <a:latin typeface="Cambria Math" panose="02040503050406030204" pitchFamily="18" charset="0"/>
                      </a:rPr>
                      <m:t>𝑷</m:t>
                    </m:r>
                    <m:d>
                      <m:dPr>
                        <m:ctrlPr>
                          <a:rPr lang="en-NZ" altLang="ja-JP" sz="1600" b="1" i="1">
                            <a:solidFill>
                              <a:schemeClr val="tx1"/>
                            </a:solidFill>
                            <a:latin typeface="Cambria Math" panose="02040503050406030204" pitchFamily="18" charset="0"/>
                          </a:rPr>
                        </m:ctrlPr>
                      </m:dPr>
                      <m:e>
                        <m:r>
                          <a:rPr lang="en-NZ" altLang="ja-JP" sz="1600" b="1" i="1">
                            <a:solidFill>
                              <a:schemeClr val="tx1"/>
                            </a:solidFill>
                            <a:latin typeface="Cambria Math" panose="02040503050406030204" pitchFamily="18" charset="0"/>
                          </a:rPr>
                          <m:t> </m:t>
                        </m:r>
                        <m:r>
                          <a:rPr lang="en-NZ" altLang="ja-JP" sz="1600" b="1" i="1">
                            <a:solidFill>
                              <a:schemeClr val="tx1"/>
                            </a:solidFill>
                            <a:latin typeface="Cambria Math" panose="02040503050406030204" pitchFamily="18" charset="0"/>
                          </a:rPr>
                          <m:t>𝑭</m:t>
                        </m:r>
                        <m:r>
                          <a:rPr lang="en-NZ" altLang="ja-JP" sz="1600" b="1" i="1">
                            <a:solidFill>
                              <a:schemeClr val="tx1"/>
                            </a:solidFill>
                            <a:latin typeface="Cambria Math" panose="02040503050406030204" pitchFamily="18" charset="0"/>
                          </a:rPr>
                          <m:t>≥</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𝑭</m:t>
                            </m:r>
                          </m:e>
                          <m:sub>
                            <m:r>
                              <a:rPr lang="en-NZ" altLang="ja-JP" sz="1600" b="1" i="1">
                                <a:solidFill>
                                  <a:schemeClr val="tx1"/>
                                </a:solidFill>
                                <a:latin typeface="Cambria Math" panose="02040503050406030204" pitchFamily="18" charset="0"/>
                              </a:rPr>
                              <m:t>𝒐𝒃𝒔</m:t>
                            </m:r>
                          </m:sub>
                        </m:sSub>
                        <m:r>
                          <a:rPr lang="en-NZ" altLang="ja-JP" sz="1600" b="1" i="1">
                            <a:solidFill>
                              <a:schemeClr val="tx1"/>
                            </a:solidFill>
                            <a:latin typeface="Cambria Math" panose="02040503050406030204" pitchFamily="18" charset="0"/>
                          </a:rPr>
                          <m:t> </m:t>
                        </m:r>
                      </m:e>
                    </m:d>
                  </m:oMath>
                </a14:m>
                <a:r>
                  <a:rPr kumimoji="1" lang="en-NZ" altLang="ja-JP" sz="16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 gives a measure of evidence against </a:t>
                </a:r>
                <a:r>
                  <a:rPr kumimoji="1" lang="en-NZ" altLang="ja-JP" sz="16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H</a:t>
                </a:r>
                <a:r>
                  <a:rPr kumimoji="1" lang="en-NZ" altLang="ja-JP" sz="1600" b="1" i="1" u="none" strike="noStrike" kern="1200" cap="none" spc="0" normalizeH="0" baseline="-25000" noProof="0" dirty="0">
                    <a:ln>
                      <a:noFill/>
                    </a:ln>
                    <a:solidFill>
                      <a:schemeClr val="tx1"/>
                    </a:solidFill>
                    <a:effectLst/>
                    <a:uLnTx/>
                    <a:uFillTx/>
                    <a:latin typeface="Calibri" panose="020F0502020204030204"/>
                    <a:ea typeface="游ゴシック" panose="020B0400000000000000" pitchFamily="34" charset="-128"/>
                    <a:cs typeface="+mn-cs"/>
                  </a:rPr>
                  <a:t>0</a:t>
                </a:r>
                <a:r>
                  <a:rPr kumimoji="1" lang="en-NZ" altLang="ja-JP" sz="1600" u="none" strike="noStrike" kern="1200" cap="none" spc="0" normalizeH="0" baseline="-25000" noProof="0" dirty="0">
                    <a:ln>
                      <a:noFill/>
                    </a:ln>
                    <a:solidFill>
                      <a:schemeClr val="tx1"/>
                    </a:solidFill>
                    <a:effectLst/>
                    <a:uLnTx/>
                    <a:uFillTx/>
                    <a:latin typeface="Calibri" panose="020F0502020204030204"/>
                    <a:ea typeface="游ゴシック" panose="020B0400000000000000" pitchFamily="34" charset="-128"/>
                    <a:cs typeface="+mn-cs"/>
                  </a:rPr>
                  <a:t>.</a:t>
                </a:r>
                <a:endParaRPr kumimoji="1" lang="en-NZ" altLang="ja-JP" sz="1600" b="0"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p:txBody>
          </p:sp>
        </mc:Choice>
        <mc:Fallback xmlns="">
          <p:sp>
            <p:nvSpPr>
              <p:cNvPr id="37" name="Text Placeholder 5">
                <a:extLst>
                  <a:ext uri="{FF2B5EF4-FFF2-40B4-BE49-F238E27FC236}">
                    <a16:creationId xmlns:a16="http://schemas.microsoft.com/office/drawing/2014/main" id="{54942512-63EA-41CC-995A-663D369F8F6F}"/>
                  </a:ext>
                </a:extLst>
              </p:cNvPr>
              <p:cNvSpPr txBox="1">
                <a:spLocks noRot="1" noChangeAspect="1" noMove="1" noResize="1" noEditPoints="1" noAdjustHandles="1" noChangeArrowheads="1" noChangeShapeType="1" noTextEdit="1"/>
              </p:cNvSpPr>
              <p:nvPr/>
            </p:nvSpPr>
            <p:spPr>
              <a:xfrm>
                <a:off x="251222" y="3438661"/>
                <a:ext cx="11008181" cy="621754"/>
              </a:xfrm>
              <a:prstGeom prst="rect">
                <a:avLst/>
              </a:prstGeom>
              <a:blipFill>
                <a:blip r:embed="rId4"/>
                <a:stretch>
                  <a:fillRect l="-277" t="-1961" b="-7843"/>
                </a:stretch>
              </a:blipFill>
            </p:spPr>
            <p:txBody>
              <a:bodyPr/>
              <a:lstStyle/>
              <a:p>
                <a:r>
                  <a:rPr lang="en-NZ">
                    <a:noFill/>
                  </a:rPr>
                  <a:t> </a:t>
                </a:r>
              </a:p>
            </p:txBody>
          </p:sp>
        </mc:Fallback>
      </mc:AlternateContent>
      <p:sp>
        <p:nvSpPr>
          <p:cNvPr id="17" name="Text Placeholder 5">
            <a:extLst>
              <a:ext uri="{FF2B5EF4-FFF2-40B4-BE49-F238E27FC236}">
                <a16:creationId xmlns:a16="http://schemas.microsoft.com/office/drawing/2014/main" id="{1A1C213D-52FF-6583-8B1B-83700053D112}"/>
              </a:ext>
            </a:extLst>
          </p:cNvPr>
          <p:cNvSpPr txBox="1">
            <a:spLocks/>
          </p:cNvSpPr>
          <p:nvPr/>
        </p:nvSpPr>
        <p:spPr>
          <a:xfrm>
            <a:off x="251221" y="4378228"/>
            <a:ext cx="4668377" cy="134209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NZ" altLang="ja-JP" sz="1600" i="0" strike="noStrike" kern="1200" cap="none" spc="0" normalizeH="0" baseline="0" noProof="0" dirty="0">
                <a:ln>
                  <a:noFill/>
                </a:ln>
                <a:solidFill>
                  <a:schemeClr val="accent5">
                    <a:lumMod val="50000"/>
                  </a:schemeClr>
                </a:solidFill>
                <a:effectLst/>
                <a:uLnTx/>
                <a:uFillTx/>
                <a:latin typeface="Calibri" panose="020F0502020204030204"/>
                <a:ea typeface="游ゴシック" panose="020B0400000000000000" pitchFamily="34" charset="-128"/>
                <a:cs typeface="+mn-cs"/>
              </a:rPr>
              <a:t>If we can do something that makes the </a:t>
            </a:r>
            <a:r>
              <a:rPr kumimoji="1" lang="en-NZ" altLang="ja-JP" sz="1600" b="1" i="0" strike="noStrike" kern="1200" cap="none" spc="0" normalizeH="0" baseline="0" noProof="0" dirty="0">
                <a:ln>
                  <a:noFill/>
                </a:ln>
                <a:solidFill>
                  <a:schemeClr val="accent5">
                    <a:lumMod val="50000"/>
                  </a:schemeClr>
                </a:solidFill>
                <a:effectLst/>
                <a:uLnTx/>
                <a:uFillTx/>
                <a:latin typeface="Calibri" panose="020F0502020204030204"/>
                <a:ea typeface="游ゴシック" panose="020B0400000000000000" pitchFamily="34" charset="-128"/>
                <a:cs typeface="+mn-cs"/>
              </a:rPr>
              <a:t>MSE</a:t>
            </a:r>
            <a:r>
              <a:rPr kumimoji="1" lang="en-NZ" altLang="ja-JP" sz="1600" b="1" i="0" strike="noStrike" kern="1200" cap="none" spc="0" normalizeH="0" noProof="0" dirty="0">
                <a:ln>
                  <a:noFill/>
                </a:ln>
                <a:solidFill>
                  <a:schemeClr val="accent5">
                    <a:lumMod val="50000"/>
                  </a:schemeClr>
                </a:solidFill>
                <a:effectLst/>
                <a:uLnTx/>
                <a:uFillTx/>
                <a:latin typeface="Calibri" panose="020F0502020204030204"/>
                <a:ea typeface="游ゴシック" panose="020B0400000000000000" pitchFamily="34" charset="-128"/>
                <a:cs typeface="+mn-cs"/>
              </a:rPr>
              <a:t> </a:t>
            </a:r>
            <a:r>
              <a:rPr kumimoji="1" lang="en-NZ" altLang="ja-JP" sz="1600" b="1" i="0" strike="noStrike" kern="1200" cap="none" spc="0" normalizeH="0" baseline="0" noProof="0" dirty="0">
                <a:ln>
                  <a:noFill/>
                </a:ln>
                <a:solidFill>
                  <a:schemeClr val="accent5">
                    <a:lumMod val="50000"/>
                  </a:schemeClr>
                </a:solidFill>
                <a:effectLst/>
                <a:uLnTx/>
                <a:uFillTx/>
                <a:latin typeface="Calibri" panose="020F0502020204030204"/>
                <a:ea typeface="游ゴシック" panose="020B0400000000000000" pitchFamily="34" charset="-128"/>
                <a:cs typeface="+mn-cs"/>
              </a:rPr>
              <a:t>smaller,</a:t>
            </a:r>
            <a:br>
              <a:rPr kumimoji="1" lang="en-NZ" altLang="ja-JP" sz="1600" b="1" i="0" strike="noStrike" kern="1200" cap="none" spc="0" normalizeH="0" baseline="0" noProof="0" dirty="0">
                <a:ln>
                  <a:noFill/>
                </a:ln>
                <a:solidFill>
                  <a:schemeClr val="accent5">
                    <a:lumMod val="50000"/>
                  </a:schemeClr>
                </a:solidFill>
                <a:effectLst/>
                <a:uLnTx/>
                <a:uFillTx/>
                <a:latin typeface="Calibri" panose="020F0502020204030204"/>
                <a:ea typeface="游ゴシック" panose="020B0400000000000000" pitchFamily="34" charset="-128"/>
                <a:cs typeface="+mn-cs"/>
              </a:rPr>
            </a:br>
            <a:r>
              <a:rPr kumimoji="1" lang="en-NZ" altLang="ja-JP" sz="1600" i="0" strike="noStrike" kern="1200" cap="none" spc="0" normalizeH="0" baseline="0" noProof="0" dirty="0">
                <a:ln>
                  <a:noFill/>
                </a:ln>
                <a:solidFill>
                  <a:schemeClr val="accent5">
                    <a:lumMod val="50000"/>
                  </a:schemeClr>
                </a:solidFill>
                <a:effectLst/>
                <a:uLnTx/>
                <a:uFillTx/>
                <a:latin typeface="Calibri" panose="020F0502020204030204"/>
                <a:ea typeface="游ゴシック" panose="020B0400000000000000" pitchFamily="34" charset="-128"/>
                <a:cs typeface="+mn-cs"/>
              </a:rPr>
              <a:t>this</a:t>
            </a:r>
            <a:r>
              <a:rPr kumimoji="1" lang="en-NZ" altLang="ja-JP" sz="1600" i="0" strike="noStrike" kern="1200" cap="none" spc="0" normalizeH="0" noProof="0" dirty="0">
                <a:ln>
                  <a:noFill/>
                </a:ln>
                <a:solidFill>
                  <a:schemeClr val="accent5">
                    <a:lumMod val="50000"/>
                  </a:schemeClr>
                </a:solidFill>
                <a:effectLst/>
                <a:uLnTx/>
                <a:uFillTx/>
                <a:latin typeface="Calibri" panose="020F0502020204030204"/>
                <a:ea typeface="游ゴシック" panose="020B0400000000000000" pitchFamily="34" charset="-128"/>
                <a:cs typeface="+mn-cs"/>
              </a:rPr>
              <a:t> will make the </a:t>
            </a:r>
            <a:r>
              <a:rPr kumimoji="1" lang="en-NZ" altLang="ja-JP" sz="1600" b="1" i="0" strike="noStrike" kern="1200" cap="none" spc="0" normalizeH="0" noProof="0" dirty="0">
                <a:ln>
                  <a:noFill/>
                </a:ln>
                <a:solidFill>
                  <a:schemeClr val="accent5">
                    <a:lumMod val="50000"/>
                  </a:schemeClr>
                </a:solidFill>
                <a:effectLst/>
                <a:uLnTx/>
                <a:uFillTx/>
                <a:latin typeface="Calibri" panose="020F0502020204030204"/>
                <a:ea typeface="游ゴシック" panose="020B0400000000000000" pitchFamily="34" charset="-128"/>
                <a:cs typeface="+mn-cs"/>
              </a:rPr>
              <a:t>F-Statistic bigger.</a:t>
            </a:r>
          </a:p>
          <a:p>
            <a:pPr lvl="0">
              <a:lnSpc>
                <a:spcPct val="100000"/>
              </a:lnSpc>
              <a:defRPr/>
            </a:pPr>
            <a:endParaRPr lang="en-NZ" altLang="ja-JP" sz="1600" b="1" baseline="0" dirty="0">
              <a:solidFill>
                <a:schemeClr val="accent5">
                  <a:lumMod val="50000"/>
                </a:schemeClr>
              </a:solidFill>
              <a:latin typeface="Calibri" panose="020F0502020204030204"/>
              <a:ea typeface="游ゴシック" panose="020B0400000000000000" pitchFamily="34" charset="-128"/>
            </a:endParaRPr>
          </a:p>
          <a:p>
            <a:pPr lvl="0">
              <a:lnSpc>
                <a:spcPct val="100000"/>
              </a:lnSpc>
              <a:defRPr/>
            </a:pPr>
            <a:r>
              <a:rPr lang="en-NZ" altLang="ja-JP" sz="1600" dirty="0">
                <a:solidFill>
                  <a:schemeClr val="accent5">
                    <a:lumMod val="50000"/>
                  </a:schemeClr>
                </a:solidFill>
                <a:latin typeface="Calibri" panose="020F0502020204030204"/>
                <a:ea typeface="游ゴシック" panose="020B0400000000000000" pitchFamily="34" charset="-128"/>
              </a:rPr>
              <a:t>=&gt; The p-value of the test will be </a:t>
            </a:r>
            <a:r>
              <a:rPr lang="en-NZ" altLang="ja-JP" sz="1600" b="1" dirty="0">
                <a:solidFill>
                  <a:schemeClr val="accent5">
                    <a:lumMod val="50000"/>
                  </a:schemeClr>
                </a:solidFill>
                <a:latin typeface="Calibri" panose="020F0502020204030204"/>
                <a:ea typeface="游ゴシック" panose="020B0400000000000000" pitchFamily="34" charset="-128"/>
              </a:rPr>
              <a:t>smaller</a:t>
            </a:r>
            <a:br>
              <a:rPr lang="en-NZ" altLang="ja-JP" sz="1600" b="1" dirty="0">
                <a:solidFill>
                  <a:schemeClr val="accent5">
                    <a:lumMod val="50000"/>
                  </a:schemeClr>
                </a:solidFill>
                <a:latin typeface="Calibri" panose="020F0502020204030204"/>
                <a:ea typeface="游ゴシック" panose="020B0400000000000000" pitchFamily="34" charset="-128"/>
              </a:rPr>
            </a:br>
            <a:r>
              <a:rPr lang="en-NZ" altLang="ja-JP" sz="1600" dirty="0">
                <a:solidFill>
                  <a:schemeClr val="accent5">
                    <a:lumMod val="50000"/>
                  </a:schemeClr>
                </a:solidFill>
                <a:latin typeface="Calibri" panose="020F0502020204030204"/>
                <a:ea typeface="游ゴシック" panose="020B0400000000000000" pitchFamily="34" charset="-128"/>
              </a:rPr>
              <a:t>=&gt; We will have more evidence against the </a:t>
            </a:r>
            <a:r>
              <a:rPr lang="en-NZ" altLang="ja-JP" sz="1600" b="1" i="1" dirty="0">
                <a:solidFill>
                  <a:schemeClr val="accent5">
                    <a:lumMod val="50000"/>
                  </a:schemeClr>
                </a:solidFill>
                <a:latin typeface="Calibri" panose="020F0502020204030204"/>
                <a:ea typeface="游ゴシック" panose="020B0400000000000000" pitchFamily="34" charset="-128"/>
              </a:rPr>
              <a:t>H</a:t>
            </a:r>
            <a:r>
              <a:rPr lang="en-NZ" altLang="ja-JP" sz="1600" b="1" i="1" baseline="-25000" dirty="0">
                <a:solidFill>
                  <a:schemeClr val="accent5">
                    <a:lumMod val="50000"/>
                  </a:schemeClr>
                </a:solidFill>
                <a:latin typeface="Calibri" panose="020F0502020204030204"/>
                <a:ea typeface="游ゴシック" panose="020B0400000000000000" pitchFamily="34" charset="-128"/>
              </a:rPr>
              <a:t>0.</a:t>
            </a:r>
            <a:endParaRPr lang="en-NZ" altLang="ja-JP" sz="1600" b="1" dirty="0">
              <a:solidFill>
                <a:schemeClr val="accent5">
                  <a:lumMod val="50000"/>
                </a:schemeClr>
              </a:solidFill>
              <a:latin typeface="Calibri" panose="020F0502020204030204"/>
              <a:ea typeface="游ゴシック" panose="020B0400000000000000" pitchFamily="34" charset="-128"/>
            </a:endParaRPr>
          </a:p>
        </p:txBody>
      </p:sp>
      <p:pic>
        <p:nvPicPr>
          <p:cNvPr id="18" name="Picture 2" descr="F Distribution - MATLAB &amp; Simulink">
            <a:extLst>
              <a:ext uri="{FF2B5EF4-FFF2-40B4-BE49-F238E27FC236}">
                <a16:creationId xmlns:a16="http://schemas.microsoft.com/office/drawing/2014/main" id="{00A42C7C-B75D-E23C-2302-D2FB81B3D2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19599" y="4060414"/>
            <a:ext cx="6563733" cy="279758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A12442CC-A5E1-217F-D3D5-DFFD365223A2}"/>
                  </a:ext>
                </a:extLst>
              </p:cNvPr>
              <p:cNvSpPr txBox="1">
                <a:spLocks/>
              </p:cNvSpPr>
              <p:nvPr/>
            </p:nvSpPr>
            <p:spPr>
              <a:xfrm>
                <a:off x="6641131" y="5720325"/>
                <a:ext cx="809159" cy="398844"/>
              </a:xfrm>
              <a:prstGeom prst="rect">
                <a:avLst/>
              </a:prstGeom>
              <a:no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𝑭</m:t>
                          </m:r>
                        </m:e>
                        <m: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𝒐𝒃𝒔</m:t>
                          </m:r>
                        </m:sub>
                      </m:sSub>
                    </m:oMath>
                  </m:oMathPara>
                </a14:m>
                <a:endParaRPr kumimoji="1" lang="en-NZ" altLang="ja-JP" sz="16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19" name="Text Placeholder 5">
                <a:extLst>
                  <a:ext uri="{FF2B5EF4-FFF2-40B4-BE49-F238E27FC236}">
                    <a16:creationId xmlns:a16="http://schemas.microsoft.com/office/drawing/2014/main" id="{A12442CC-A5E1-217F-D3D5-DFFD365223A2}"/>
                  </a:ext>
                </a:extLst>
              </p:cNvPr>
              <p:cNvSpPr txBox="1">
                <a:spLocks noRot="1" noChangeAspect="1" noMove="1" noResize="1" noEditPoints="1" noAdjustHandles="1" noChangeArrowheads="1" noChangeShapeType="1" noTextEdit="1"/>
              </p:cNvSpPr>
              <p:nvPr/>
            </p:nvSpPr>
            <p:spPr>
              <a:xfrm>
                <a:off x="6641131" y="5720325"/>
                <a:ext cx="809159" cy="398844"/>
              </a:xfrm>
              <a:prstGeom prst="rect">
                <a:avLst/>
              </a:prstGeom>
              <a:blipFill>
                <a:blip r:embed="rId6"/>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1" name="Text Placeholder 5">
                <a:extLst>
                  <a:ext uri="{FF2B5EF4-FFF2-40B4-BE49-F238E27FC236}">
                    <a16:creationId xmlns:a16="http://schemas.microsoft.com/office/drawing/2014/main" id="{DE8A0E3B-4467-5255-C099-967FAAF5A900}"/>
                  </a:ext>
                </a:extLst>
              </p:cNvPr>
              <p:cNvSpPr txBox="1">
                <a:spLocks/>
              </p:cNvSpPr>
              <p:nvPr/>
            </p:nvSpPr>
            <p:spPr>
              <a:xfrm>
                <a:off x="7237618" y="5754614"/>
                <a:ext cx="1344639" cy="398844"/>
              </a:xfrm>
              <a:prstGeom prst="rect">
                <a:avLst/>
              </a:prstGeom>
              <a:no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𝑷</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𝒐𝒃𝒔</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m:oMathPara>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1" name="Text Placeholder 5">
                <a:extLst>
                  <a:ext uri="{FF2B5EF4-FFF2-40B4-BE49-F238E27FC236}">
                    <a16:creationId xmlns:a16="http://schemas.microsoft.com/office/drawing/2014/main" id="{DE8A0E3B-4467-5255-C099-967FAAF5A900}"/>
                  </a:ext>
                </a:extLst>
              </p:cNvPr>
              <p:cNvSpPr txBox="1">
                <a:spLocks noRot="1" noChangeAspect="1" noMove="1" noResize="1" noEditPoints="1" noAdjustHandles="1" noChangeArrowheads="1" noChangeShapeType="1" noTextEdit="1"/>
              </p:cNvSpPr>
              <p:nvPr/>
            </p:nvSpPr>
            <p:spPr>
              <a:xfrm>
                <a:off x="7237618" y="5754614"/>
                <a:ext cx="1344639" cy="398844"/>
              </a:xfrm>
              <a:prstGeom prst="rect">
                <a:avLst/>
              </a:prstGeom>
              <a:blipFill>
                <a:blip r:embed="rId7"/>
                <a:stretch>
                  <a:fillRect/>
                </a:stretch>
              </a:blipFill>
            </p:spPr>
            <p:txBody>
              <a:bodyPr/>
              <a:lstStyle/>
              <a:p>
                <a:r>
                  <a:rPr lang="en-NZ">
                    <a:noFill/>
                  </a:rPr>
                  <a:t> </a:t>
                </a:r>
              </a:p>
            </p:txBody>
          </p:sp>
        </mc:Fallback>
      </mc:AlternateContent>
      <p:cxnSp>
        <p:nvCxnSpPr>
          <p:cNvPr id="27" name="Straight Connector 26">
            <a:extLst>
              <a:ext uri="{FF2B5EF4-FFF2-40B4-BE49-F238E27FC236}">
                <a16:creationId xmlns:a16="http://schemas.microsoft.com/office/drawing/2014/main" id="{8F73EAE7-5334-878C-74A4-779236114556}"/>
              </a:ext>
            </a:extLst>
          </p:cNvPr>
          <p:cNvCxnSpPr>
            <a:cxnSpLocks/>
          </p:cNvCxnSpPr>
          <p:nvPr/>
        </p:nvCxnSpPr>
        <p:spPr>
          <a:xfrm>
            <a:off x="6857573" y="6057997"/>
            <a:ext cx="0" cy="462331"/>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29" name="Text Placeholder 5">
            <a:extLst>
              <a:ext uri="{FF2B5EF4-FFF2-40B4-BE49-F238E27FC236}">
                <a16:creationId xmlns:a16="http://schemas.microsoft.com/office/drawing/2014/main" id="{09730B39-2730-67DE-90C8-04EED30DBF03}"/>
              </a:ext>
            </a:extLst>
          </p:cNvPr>
          <p:cNvSpPr txBox="1">
            <a:spLocks/>
          </p:cNvSpPr>
          <p:nvPr/>
        </p:nvSpPr>
        <p:spPr>
          <a:xfrm>
            <a:off x="291244" y="5894327"/>
            <a:ext cx="4668377" cy="5766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600" b="1" dirty="0">
                <a:solidFill>
                  <a:srgbClr val="C00000"/>
                </a:solidFill>
                <a:latin typeface="Calibri" panose="020F0502020204030204"/>
                <a:ea typeface="游ゴシック" panose="020B0400000000000000" pitchFamily="34" charset="-128"/>
              </a:rPr>
              <a:t>By making the MSE smaller </a:t>
            </a:r>
            <a:br>
              <a:rPr lang="en-NZ" altLang="ja-JP" sz="1600" b="1" dirty="0">
                <a:solidFill>
                  <a:srgbClr val="C00000"/>
                </a:solidFill>
                <a:latin typeface="Calibri" panose="020F0502020204030204"/>
                <a:ea typeface="游ゴシック" panose="020B0400000000000000" pitchFamily="34" charset="-128"/>
              </a:rPr>
            </a:br>
            <a:r>
              <a:rPr lang="en-NZ" altLang="ja-JP" sz="1600" b="1" dirty="0">
                <a:solidFill>
                  <a:srgbClr val="C00000"/>
                </a:solidFill>
                <a:latin typeface="Calibri" panose="020F0502020204030204"/>
                <a:ea typeface="游ゴシック" panose="020B0400000000000000" pitchFamily="34" charset="-128"/>
              </a:rPr>
              <a:t>we increase the power of our test.</a:t>
            </a:r>
          </a:p>
        </p:txBody>
      </p:sp>
      <p:sp>
        <p:nvSpPr>
          <p:cNvPr id="26" name="Title 6">
            <a:extLst>
              <a:ext uri="{FF2B5EF4-FFF2-40B4-BE49-F238E27FC236}">
                <a16:creationId xmlns:a16="http://schemas.microsoft.com/office/drawing/2014/main" id="{4C254002-93AF-4F08-DB69-9241CAF73684}"/>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Preamble: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30" name="Footer Placeholder 2">
            <a:extLst>
              <a:ext uri="{FF2B5EF4-FFF2-40B4-BE49-F238E27FC236}">
                <a16:creationId xmlns:a16="http://schemas.microsoft.com/office/drawing/2014/main" id="{D57E36AA-33E9-16DA-35B3-35503ECBE3D0}"/>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Preamble</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844856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nodeType="clickEffect">
                                  <p:stCondLst>
                                    <p:cond delay="0"/>
                                  </p:stCondLst>
                                  <p:childTnLst>
                                    <p:animMotion origin="layout" path="M 0 1.85185E-6 L 0.16732 0.00856 " pathEditMode="relative" rAng="0" ptsTypes="AA">
                                      <p:cBhvr>
                                        <p:cTn id="10" dur="2000" fill="hold"/>
                                        <p:tgtEl>
                                          <p:spTgt spid="27"/>
                                        </p:tgtEl>
                                        <p:attrNameLst>
                                          <p:attrName>ppt_x</p:attrName>
                                          <p:attrName>ppt_y</p:attrName>
                                        </p:attrNameLst>
                                      </p:cBhvr>
                                      <p:rCtr x="8359" y="417"/>
                                    </p:animMotion>
                                  </p:childTnLst>
                                </p:cTn>
                              </p:par>
                              <p:par>
                                <p:cTn id="11" presetID="42" presetClass="path" presetSubtype="0" accel="50000" decel="50000" fill="hold" grpId="0" nodeType="withEffect">
                                  <p:stCondLst>
                                    <p:cond delay="0"/>
                                  </p:stCondLst>
                                  <p:childTnLst>
                                    <p:animMotion origin="layout" path="M -4.58333E-6 -4.44444E-6 L 0.17448 0.0051 " pathEditMode="relative" rAng="0" ptsTypes="AA">
                                      <p:cBhvr>
                                        <p:cTn id="12" dur="2000" fill="hold"/>
                                        <p:tgtEl>
                                          <p:spTgt spid="19"/>
                                        </p:tgtEl>
                                        <p:attrNameLst>
                                          <p:attrName>ppt_x</p:attrName>
                                          <p:attrName>ppt_y</p:attrName>
                                        </p:attrNameLst>
                                      </p:cBhvr>
                                      <p:rCtr x="8724" y="255"/>
                                    </p:animMotion>
                                  </p:childTnLst>
                                </p:cTn>
                              </p:par>
                              <p:par>
                                <p:cTn id="13" presetID="42" presetClass="path" presetSubtype="0" accel="50000" decel="50000" fill="hold" grpId="0" nodeType="withEffect">
                                  <p:stCondLst>
                                    <p:cond delay="0"/>
                                  </p:stCondLst>
                                  <p:childTnLst>
                                    <p:animMotion origin="layout" path="M 2.08333E-6 4.44444E-6 L 0.1763 0.00463 " pathEditMode="relative" rAng="0" ptsTypes="AA">
                                      <p:cBhvr>
                                        <p:cTn id="14" dur="2000" fill="hold"/>
                                        <p:tgtEl>
                                          <p:spTgt spid="21"/>
                                        </p:tgtEl>
                                        <p:attrNameLst>
                                          <p:attrName>ppt_x</p:attrName>
                                          <p:attrName>ppt_y</p:attrName>
                                        </p:attrNameLst>
                                      </p:cBhvr>
                                      <p:rCtr x="8815" y="231"/>
                                    </p:animMotion>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P spid="21" grpId="0" animBg="1"/>
      <p:bldP spid="29"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7F14062D-E1C1-4F63-B0FD-D013BDA5782B}"/>
              </a:ext>
            </a:extLst>
          </p:cNvPr>
          <p:cNvSpPr txBox="1"/>
          <p:nvPr/>
        </p:nvSpPr>
        <p:spPr>
          <a:xfrm>
            <a:off x="43707" y="2844225"/>
            <a:ext cx="12104586" cy="7848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4.1 </a:t>
            </a:r>
            <a:r>
              <a:rPr kumimoji="0" lang="en-NZ" sz="4500" b="1" i="0" u="none" strike="noStrike" kern="1200" cap="none" spc="0" normalizeH="0" baseline="0" noProof="0">
                <a:ln>
                  <a:noFill/>
                </a:ln>
                <a:solidFill>
                  <a:srgbClr val="FFC000"/>
                </a:solidFill>
                <a:effectLst/>
                <a:uLnTx/>
                <a:uFillTx/>
                <a:latin typeface="Calibri" panose="020F0502020204030204"/>
                <a:ea typeface="+mn-ea"/>
                <a:cs typeface="+mn-cs"/>
              </a:rPr>
              <a:t>– Nuisance Variables</a:t>
            </a:r>
            <a:endPar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37478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2">
            <a:extLst>
              <a:ext uri="{FF2B5EF4-FFF2-40B4-BE49-F238E27FC236}">
                <a16:creationId xmlns:a16="http://schemas.microsoft.com/office/drawing/2014/main" id="{FCA3135E-12FE-4808-B68B-466D5B0EBCB1}"/>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4.1 – Nuisance Variables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5" name="Title 6">
            <a:extLst>
              <a:ext uri="{FF2B5EF4-FFF2-40B4-BE49-F238E27FC236}">
                <a16:creationId xmlns:a16="http://schemas.microsoft.com/office/drawing/2014/main" id="{2BD5844C-C201-4666-ADB9-681CBA48DCC1}"/>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4.1a </a:t>
            </a:r>
            <a:r>
              <a:rPr lang="en-US" altLang="ja-JP" b="1" u="sng">
                <a:solidFill>
                  <a:prstClr val="black"/>
                </a:solidFill>
                <a:latin typeface="Calibri" panose="020F0502020204030204"/>
                <a:ea typeface="游ゴシック Light" panose="020B0300000000000000" pitchFamily="34" charset="-128"/>
              </a:rPr>
              <a:t>– Nuisance Variables</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6" name="Text Placeholder 5">
            <a:extLst>
              <a:ext uri="{FF2B5EF4-FFF2-40B4-BE49-F238E27FC236}">
                <a16:creationId xmlns:a16="http://schemas.microsoft.com/office/drawing/2014/main" id="{B667B6A6-7EBE-4924-B738-248D29018CE8}"/>
              </a:ext>
            </a:extLst>
          </p:cNvPr>
          <p:cNvSpPr txBox="1">
            <a:spLocks/>
          </p:cNvSpPr>
          <p:nvPr/>
        </p:nvSpPr>
        <p:spPr>
          <a:xfrm>
            <a:off x="251224" y="1075336"/>
            <a:ext cx="11232109" cy="84294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When we test the effect of a factor on a response variable, </a:t>
            </a:r>
            <a:r>
              <a:rPr kumimoji="1" lang="en-NZ" altLang="ja-JP" sz="19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Y</a:t>
            </a:r>
            <a:r>
              <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say, there are often other factors that lead to variability in </a:t>
            </a:r>
            <a:r>
              <a:rPr kumimoji="1" lang="en-NZ" altLang="ja-JP" sz="19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Y</a:t>
            </a:r>
            <a:r>
              <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When these other variables are not of interest to us they are referred to as </a:t>
            </a:r>
            <a:r>
              <a:rPr kumimoji="1" lang="en-NZ" altLang="ja-JP" sz="19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nuisance variables</a:t>
            </a:r>
            <a:r>
              <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9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7" name="Text Placeholder 5">
            <a:extLst>
              <a:ext uri="{FF2B5EF4-FFF2-40B4-BE49-F238E27FC236}">
                <a16:creationId xmlns:a16="http://schemas.microsoft.com/office/drawing/2014/main" id="{F697E5F1-B1AE-4D61-A115-98517262D29B}"/>
              </a:ext>
            </a:extLst>
          </p:cNvPr>
          <p:cNvSpPr txBox="1">
            <a:spLocks/>
          </p:cNvSpPr>
          <p:nvPr/>
        </p:nvSpPr>
        <p:spPr>
          <a:xfrm>
            <a:off x="510530" y="1935651"/>
            <a:ext cx="1454747" cy="52792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900" b="1" i="0" u="sng"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Example </a:t>
            </a:r>
            <a:r>
              <a:rPr lang="en-NZ" altLang="ja-JP" sz="1900" b="1" u="sng" dirty="0">
                <a:solidFill>
                  <a:prstClr val="black"/>
                </a:solidFill>
                <a:latin typeface="Calibri" panose="020F0502020204030204"/>
                <a:ea typeface="游ゴシック" panose="020B0400000000000000" pitchFamily="34" charset="-128"/>
              </a:rPr>
              <a:t>1</a:t>
            </a:r>
            <a:r>
              <a:rPr kumimoji="1" lang="en-NZ" altLang="ja-JP" sz="1900" b="1" i="0" u="sng"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9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8" name="Text Placeholder 5">
            <a:extLst>
              <a:ext uri="{FF2B5EF4-FFF2-40B4-BE49-F238E27FC236}">
                <a16:creationId xmlns:a16="http://schemas.microsoft.com/office/drawing/2014/main" id="{6B472A2E-323D-4BD1-A9C7-9EE2DC71D999}"/>
              </a:ext>
            </a:extLst>
          </p:cNvPr>
          <p:cNvSpPr txBox="1">
            <a:spLocks/>
          </p:cNvSpPr>
          <p:nvPr/>
        </p:nvSpPr>
        <p:spPr>
          <a:xfrm>
            <a:off x="510530" y="2322394"/>
            <a:ext cx="10557804" cy="84294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Ministry of Social Development offers various ‘back-to-work’ programs (CM, ICSX, JSWR) to help get people who have been unemployed for long periods back into the labour market. </a:t>
            </a:r>
            <a:r>
              <a:rPr lang="en-NZ" altLang="ja-JP" sz="1800" dirty="0">
                <a:solidFill>
                  <a:prstClr val="black"/>
                </a:solidFill>
                <a:latin typeface="Calibri" panose="020F0502020204030204"/>
                <a:ea typeface="游ゴシック" panose="020B0400000000000000" pitchFamily="34" charset="-128"/>
              </a:rPr>
              <a:t>Is there a difference in the effectiveness of these programs?</a:t>
            </a:r>
            <a:endPar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9" name="Text Placeholder 5">
            <a:extLst>
              <a:ext uri="{FF2B5EF4-FFF2-40B4-BE49-F238E27FC236}">
                <a16:creationId xmlns:a16="http://schemas.microsoft.com/office/drawing/2014/main" id="{18F712A6-4B0D-43B7-9546-F23E05640959}"/>
              </a:ext>
            </a:extLst>
          </p:cNvPr>
          <p:cNvSpPr txBox="1">
            <a:spLocks/>
          </p:cNvSpPr>
          <p:nvPr/>
        </p:nvSpPr>
        <p:spPr>
          <a:xfrm>
            <a:off x="1419366" y="3429000"/>
            <a:ext cx="8801228" cy="170255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Response Variable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Time from starting the program to finding work</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prstClr val="black"/>
                </a:solidFill>
                <a:latin typeface="Calibri" panose="020F0502020204030204"/>
                <a:ea typeface="游ゴシック" panose="020B0400000000000000" pitchFamily="34" charset="-128"/>
              </a:rPr>
              <a:t>Treatment Factor </a:t>
            </a:r>
            <a:r>
              <a:rPr lang="en-NZ" altLang="ja-JP" sz="1800" dirty="0">
                <a:solidFill>
                  <a:prstClr val="black"/>
                </a:solidFill>
                <a:latin typeface="Calibri" panose="020F0502020204030204"/>
                <a:ea typeface="游ゴシック" panose="020B0400000000000000" pitchFamily="34" charset="-128"/>
              </a:rPr>
              <a:t>	   Work program</a:t>
            </a:r>
          </a:p>
          <a:p>
            <a:pPr lvl="0" algn="just">
              <a:lnSpc>
                <a:spcPct val="100000"/>
              </a:lnSpc>
              <a:defRPr/>
            </a:pPr>
            <a:r>
              <a:rPr lang="en-NZ" altLang="ja-JP" sz="1800" b="1" dirty="0">
                <a:solidFill>
                  <a:prstClr val="black"/>
                </a:solidFill>
              </a:rPr>
              <a:t>Treatment Levels</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lang="en-NZ" altLang="ja-JP" sz="1800" i="0" dirty="0">
                <a:solidFill>
                  <a:prstClr val="black"/>
                </a:solidFill>
                <a:latin typeface="Calibri" panose="020F0502020204030204"/>
                <a:ea typeface="游ゴシック" panose="020B0400000000000000" pitchFamily="34" charset="-128"/>
              </a:rPr>
              <a:t>CM, ICSX, JSWR</a:t>
            </a:r>
            <a:endParaRPr kumimoji="1" lang="en-NZ" altLang="ja-JP" sz="1800" b="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prstClr val="black"/>
                </a:solidFill>
                <a:latin typeface="Calibri" panose="020F0502020204030204"/>
                <a:ea typeface="游ゴシック" panose="020B0400000000000000" pitchFamily="34" charset="-128"/>
              </a:rPr>
              <a:t>Nuisance Variables</a:t>
            </a:r>
            <a:r>
              <a:rPr lang="en-NZ" altLang="ja-JP" sz="1800" dirty="0">
                <a:solidFill>
                  <a:prstClr val="black"/>
                </a:solidFill>
                <a:latin typeface="Calibri" panose="020F0502020204030204"/>
                <a:ea typeface="游ゴシック" panose="020B0400000000000000" pitchFamily="34" charset="-128"/>
              </a:rPr>
              <a:t>	   Age, Education, # Dependent Children,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prstClr val="black"/>
                </a:solidFill>
                <a:latin typeface="Calibri" panose="020F0502020204030204"/>
                <a:ea typeface="游ゴシック" panose="020B0400000000000000" pitchFamily="34" charset="-128"/>
              </a:rPr>
              <a:t>		   Criminal Record History, Employment History</a:t>
            </a:r>
            <a:endParaRPr kumimoji="1" lang="en-NZ" altLang="ja-JP" sz="1800" b="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Tree>
    <p:extLst>
      <p:ext uri="{BB962C8B-B14F-4D97-AF65-F5344CB8AC3E}">
        <p14:creationId xmlns:p14="http://schemas.microsoft.com/office/powerpoint/2010/main" val="3491959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2">
            <a:extLst>
              <a:ext uri="{FF2B5EF4-FFF2-40B4-BE49-F238E27FC236}">
                <a16:creationId xmlns:a16="http://schemas.microsoft.com/office/drawing/2014/main" id="{FCA3135E-12FE-4808-B68B-466D5B0EBCB1}"/>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4.1 – Nuisance Variables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5" name="Title 6">
            <a:extLst>
              <a:ext uri="{FF2B5EF4-FFF2-40B4-BE49-F238E27FC236}">
                <a16:creationId xmlns:a16="http://schemas.microsoft.com/office/drawing/2014/main" id="{2BD5844C-C201-4666-ADB9-681CBA48DCC1}"/>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4.1a </a:t>
            </a:r>
            <a:r>
              <a:rPr lang="en-US" altLang="ja-JP" b="1" u="sng">
                <a:solidFill>
                  <a:prstClr val="black"/>
                </a:solidFill>
                <a:latin typeface="Calibri" panose="020F0502020204030204"/>
                <a:ea typeface="游ゴシック Light" panose="020B0300000000000000" pitchFamily="34" charset="-128"/>
              </a:rPr>
              <a:t>– Nuisance Variables</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6" name="Text Placeholder 5">
            <a:extLst>
              <a:ext uri="{FF2B5EF4-FFF2-40B4-BE49-F238E27FC236}">
                <a16:creationId xmlns:a16="http://schemas.microsoft.com/office/drawing/2014/main" id="{B667B6A6-7EBE-4924-B738-248D29018CE8}"/>
              </a:ext>
            </a:extLst>
          </p:cNvPr>
          <p:cNvSpPr txBox="1">
            <a:spLocks/>
          </p:cNvSpPr>
          <p:nvPr/>
        </p:nvSpPr>
        <p:spPr>
          <a:xfrm>
            <a:off x="251224" y="1075336"/>
            <a:ext cx="11232109" cy="84294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When we test the effect of a factor on a response variable, </a:t>
            </a:r>
            <a:r>
              <a:rPr kumimoji="1" lang="en-NZ" altLang="ja-JP" sz="19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Y</a:t>
            </a:r>
            <a:r>
              <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say, there are often other factors that lead to variability in </a:t>
            </a:r>
            <a:r>
              <a:rPr kumimoji="1" lang="en-NZ" altLang="ja-JP" sz="19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Y</a:t>
            </a:r>
            <a:r>
              <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When these other variables are not of interest to us they are referred to as </a:t>
            </a:r>
            <a:r>
              <a:rPr kumimoji="1" lang="en-NZ" altLang="ja-JP" sz="19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nuisance variables</a:t>
            </a:r>
            <a:r>
              <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9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7" name="Text Placeholder 5">
            <a:extLst>
              <a:ext uri="{FF2B5EF4-FFF2-40B4-BE49-F238E27FC236}">
                <a16:creationId xmlns:a16="http://schemas.microsoft.com/office/drawing/2014/main" id="{F697E5F1-B1AE-4D61-A115-98517262D29B}"/>
              </a:ext>
            </a:extLst>
          </p:cNvPr>
          <p:cNvSpPr txBox="1">
            <a:spLocks/>
          </p:cNvSpPr>
          <p:nvPr/>
        </p:nvSpPr>
        <p:spPr>
          <a:xfrm>
            <a:off x="510530" y="1935651"/>
            <a:ext cx="1454747" cy="52792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900" b="1" i="0" u="sng"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Example </a:t>
            </a:r>
            <a:r>
              <a:rPr lang="en-NZ" altLang="ja-JP" sz="1900" b="1" u="sng" dirty="0">
                <a:solidFill>
                  <a:prstClr val="black"/>
                </a:solidFill>
                <a:latin typeface="Calibri" panose="020F0502020204030204"/>
                <a:ea typeface="游ゴシック" panose="020B0400000000000000" pitchFamily="34" charset="-128"/>
              </a:rPr>
              <a:t>2</a:t>
            </a:r>
            <a:r>
              <a:rPr kumimoji="1" lang="en-NZ" altLang="ja-JP" sz="1900" b="1" i="0" u="sng"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9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8" name="Text Placeholder 5">
            <a:extLst>
              <a:ext uri="{FF2B5EF4-FFF2-40B4-BE49-F238E27FC236}">
                <a16:creationId xmlns:a16="http://schemas.microsoft.com/office/drawing/2014/main" id="{6B472A2E-323D-4BD1-A9C7-9EE2DC71D999}"/>
              </a:ext>
            </a:extLst>
          </p:cNvPr>
          <p:cNvSpPr txBox="1">
            <a:spLocks/>
          </p:cNvSpPr>
          <p:nvPr/>
        </p:nvSpPr>
        <p:spPr>
          <a:xfrm>
            <a:off x="510530" y="2322394"/>
            <a:ext cx="10557804" cy="89847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a:solidFill>
                  <a:prstClr val="black"/>
                </a:solidFill>
                <a:latin typeface="Calibri" panose="020F0502020204030204"/>
                <a:ea typeface="游ゴシック" panose="020B0400000000000000" pitchFamily="34" charset="-128"/>
              </a:rPr>
              <a:t>Heart operations are graded on their degree of success </a:t>
            </a:r>
            <a:r>
              <a:rPr lang="en-NZ" altLang="ja-JP" sz="1800" dirty="0">
                <a:solidFill>
                  <a:prstClr val="black"/>
                </a:solidFill>
                <a:latin typeface="Calibri" panose="020F0502020204030204"/>
                <a:ea typeface="游ゴシック" panose="020B0400000000000000" pitchFamily="34" charset="-128"/>
              </a:rPr>
              <a:t>(1</a:t>
            </a:r>
            <a:r>
              <a:rPr lang="en-NZ" altLang="ja-JP" sz="1800">
                <a:solidFill>
                  <a:prstClr val="black"/>
                </a:solidFill>
                <a:latin typeface="Calibri" panose="020F0502020204030204"/>
                <a:ea typeface="游ゴシック" panose="020B0400000000000000" pitchFamily="34" charset="-128"/>
              </a:rPr>
              <a:t>= patient dies</a:t>
            </a:r>
            <a:r>
              <a:rPr lang="en-NZ" altLang="ja-JP" sz="1800" dirty="0">
                <a:solidFill>
                  <a:prstClr val="black"/>
                </a:solidFill>
                <a:latin typeface="Calibri" panose="020F0502020204030204"/>
                <a:ea typeface="游ゴシック" panose="020B0400000000000000" pitchFamily="34" charset="-128"/>
              </a:rPr>
              <a:t>, 10 </a:t>
            </a:r>
            <a:r>
              <a:rPr lang="en-NZ" altLang="ja-JP" sz="1800">
                <a:solidFill>
                  <a:prstClr val="black"/>
                </a:solidFill>
                <a:latin typeface="Calibri" panose="020F0502020204030204"/>
                <a:ea typeface="游ゴシック" panose="020B0400000000000000" pitchFamily="34" charset="-128"/>
              </a:rPr>
              <a:t>= patient makes full recovery after 1 year). </a:t>
            </a:r>
            <a:r>
              <a:rPr kumimoji="1" lang="en-NZ" altLang="ja-JP"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The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Ministry </a:t>
            </a:r>
            <a:r>
              <a:rPr kumimoji="1" lang="en-NZ" altLang="ja-JP"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of Health is interested whether there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is </a:t>
            </a:r>
            <a:r>
              <a:rPr kumimoji="1" lang="en-NZ" altLang="ja-JP"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any difference in the average grade of operations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t>
            </a:r>
            <a:r>
              <a:rPr kumimoji="1" lang="en-NZ" altLang="ja-JP"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5 different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hospitals </a:t>
            </a:r>
            <a:r>
              <a:rPr kumimoji="1" lang="en-NZ" altLang="ja-JP"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across the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North Island.</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9" name="Text Placeholder 5">
            <a:extLst>
              <a:ext uri="{FF2B5EF4-FFF2-40B4-BE49-F238E27FC236}">
                <a16:creationId xmlns:a16="http://schemas.microsoft.com/office/drawing/2014/main" id="{18F712A6-4B0D-43B7-9546-F23E05640959}"/>
              </a:ext>
            </a:extLst>
          </p:cNvPr>
          <p:cNvSpPr txBox="1">
            <a:spLocks/>
          </p:cNvSpPr>
          <p:nvPr/>
        </p:nvSpPr>
        <p:spPr>
          <a:xfrm>
            <a:off x="1419366" y="3429000"/>
            <a:ext cx="8801228" cy="170255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Response Variable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Surgical grading</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prstClr val="black"/>
                </a:solidFill>
                <a:latin typeface="Calibri" panose="020F0502020204030204"/>
                <a:ea typeface="游ゴシック" panose="020B0400000000000000" pitchFamily="34" charset="-128"/>
              </a:rPr>
              <a:t>Treatment Factor </a:t>
            </a:r>
            <a:r>
              <a:rPr lang="en-NZ" altLang="ja-JP" sz="1800" dirty="0">
                <a:solidFill>
                  <a:prstClr val="black"/>
                </a:solidFill>
                <a:latin typeface="Calibri" panose="020F0502020204030204"/>
                <a:ea typeface="游ゴシック" panose="020B0400000000000000" pitchFamily="34" charset="-128"/>
              </a:rPr>
              <a:t>	   Hospital</a:t>
            </a:r>
          </a:p>
          <a:p>
            <a:pPr lvl="0" algn="just">
              <a:lnSpc>
                <a:spcPct val="100000"/>
              </a:lnSpc>
              <a:defRPr/>
            </a:pPr>
            <a:r>
              <a:rPr lang="en-NZ" altLang="ja-JP" sz="1800" b="1" dirty="0">
                <a:solidFill>
                  <a:prstClr val="black"/>
                </a:solidFill>
              </a:rPr>
              <a:t>Treatment Levels</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lang="en-NZ" altLang="ja-JP" sz="1800" i="0" dirty="0">
                <a:solidFill>
                  <a:prstClr val="black"/>
                </a:solidFill>
                <a:latin typeface="Calibri" panose="020F0502020204030204"/>
                <a:ea typeface="游ゴシック" panose="020B0400000000000000" pitchFamily="34" charset="-128"/>
              </a:rPr>
              <a:t>Hospital 1, Hospital 2, Hospital 3, Hospital 4, Hospital 5</a:t>
            </a:r>
            <a:endParaRPr kumimoji="1" lang="en-NZ" altLang="ja-JP" sz="1800" b="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prstClr val="black"/>
                </a:solidFill>
                <a:latin typeface="Calibri" panose="020F0502020204030204"/>
                <a:ea typeface="游ゴシック" panose="020B0400000000000000" pitchFamily="34" charset="-128"/>
              </a:rPr>
              <a:t>Nuisance Variables</a:t>
            </a:r>
            <a:r>
              <a:rPr lang="en-NZ" altLang="ja-JP" sz="1800" dirty="0">
                <a:solidFill>
                  <a:prstClr val="black"/>
                </a:solidFill>
                <a:latin typeface="Calibri" panose="020F0502020204030204"/>
                <a:ea typeface="游ゴシック" panose="020B0400000000000000" pitchFamily="34" charset="-128"/>
              </a:rPr>
              <a:t>	   Severity of patient condition, other underlying health 			     	    conditions of patient, smoking status, health of local population</a:t>
            </a:r>
            <a:endParaRPr kumimoji="1" lang="en-NZ" altLang="ja-JP" sz="1800" b="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Tree>
    <p:extLst>
      <p:ext uri="{BB962C8B-B14F-4D97-AF65-F5344CB8AC3E}">
        <p14:creationId xmlns:p14="http://schemas.microsoft.com/office/powerpoint/2010/main" val="1237653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2">
            <a:extLst>
              <a:ext uri="{FF2B5EF4-FFF2-40B4-BE49-F238E27FC236}">
                <a16:creationId xmlns:a16="http://schemas.microsoft.com/office/drawing/2014/main" id="{FCA3135E-12FE-4808-B68B-466D5B0EBCB1}"/>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4.1 – Nuisance Variables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5" name="Title 6">
            <a:extLst>
              <a:ext uri="{FF2B5EF4-FFF2-40B4-BE49-F238E27FC236}">
                <a16:creationId xmlns:a16="http://schemas.microsoft.com/office/drawing/2014/main" id="{2BD5844C-C201-4666-ADB9-681CBA48DCC1}"/>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4.1a </a:t>
            </a:r>
            <a:r>
              <a:rPr lang="en-US" altLang="ja-JP" b="1" u="sng">
                <a:solidFill>
                  <a:prstClr val="black"/>
                </a:solidFill>
                <a:latin typeface="Calibri" panose="020F0502020204030204"/>
                <a:ea typeface="游ゴシック Light" panose="020B0300000000000000" pitchFamily="34" charset="-128"/>
              </a:rPr>
              <a:t>– Nuisance Variables</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6" name="Text Placeholder 5">
            <a:extLst>
              <a:ext uri="{FF2B5EF4-FFF2-40B4-BE49-F238E27FC236}">
                <a16:creationId xmlns:a16="http://schemas.microsoft.com/office/drawing/2014/main" id="{B667B6A6-7EBE-4924-B738-248D29018CE8}"/>
              </a:ext>
            </a:extLst>
          </p:cNvPr>
          <p:cNvSpPr txBox="1">
            <a:spLocks/>
          </p:cNvSpPr>
          <p:nvPr/>
        </p:nvSpPr>
        <p:spPr>
          <a:xfrm>
            <a:off x="251224" y="1075336"/>
            <a:ext cx="11232109" cy="84294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When we test the effect of a factor on a response variable, </a:t>
            </a:r>
            <a:r>
              <a:rPr kumimoji="1" lang="en-NZ" altLang="ja-JP" sz="19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Y</a:t>
            </a:r>
            <a:r>
              <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say, there are often other factors that lead to variability in </a:t>
            </a:r>
            <a:r>
              <a:rPr kumimoji="1" lang="en-NZ" altLang="ja-JP" sz="19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Y</a:t>
            </a:r>
            <a:r>
              <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When these other variables are not of interest to us they are referred to as </a:t>
            </a:r>
            <a:r>
              <a:rPr kumimoji="1" lang="en-NZ" altLang="ja-JP" sz="19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nuisance variables</a:t>
            </a:r>
            <a:r>
              <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9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7" name="Text Placeholder 5">
            <a:extLst>
              <a:ext uri="{FF2B5EF4-FFF2-40B4-BE49-F238E27FC236}">
                <a16:creationId xmlns:a16="http://schemas.microsoft.com/office/drawing/2014/main" id="{F697E5F1-B1AE-4D61-A115-98517262D29B}"/>
              </a:ext>
            </a:extLst>
          </p:cNvPr>
          <p:cNvSpPr txBox="1">
            <a:spLocks/>
          </p:cNvSpPr>
          <p:nvPr/>
        </p:nvSpPr>
        <p:spPr>
          <a:xfrm>
            <a:off x="510530" y="1935651"/>
            <a:ext cx="1454747" cy="52792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900" b="1" i="0" u="sng"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Example </a:t>
            </a:r>
            <a:r>
              <a:rPr lang="en-NZ" altLang="ja-JP" sz="1900" b="1" u="sng" dirty="0">
                <a:solidFill>
                  <a:prstClr val="black"/>
                </a:solidFill>
                <a:latin typeface="Calibri" panose="020F0502020204030204"/>
                <a:ea typeface="游ゴシック" panose="020B0400000000000000" pitchFamily="34" charset="-128"/>
              </a:rPr>
              <a:t>3</a:t>
            </a:r>
            <a:r>
              <a:rPr kumimoji="1" lang="en-NZ" altLang="ja-JP" sz="1900" b="1" i="0" u="sng"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9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8" name="Text Placeholder 5">
            <a:extLst>
              <a:ext uri="{FF2B5EF4-FFF2-40B4-BE49-F238E27FC236}">
                <a16:creationId xmlns:a16="http://schemas.microsoft.com/office/drawing/2014/main" id="{6B472A2E-323D-4BD1-A9C7-9EE2DC71D999}"/>
              </a:ext>
            </a:extLst>
          </p:cNvPr>
          <p:cNvSpPr txBox="1">
            <a:spLocks/>
          </p:cNvSpPr>
          <p:nvPr/>
        </p:nvSpPr>
        <p:spPr>
          <a:xfrm>
            <a:off x="510530" y="2322394"/>
            <a:ext cx="10557804" cy="80821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 study is undertaken to determine whether there is any difference in the ability of two prescription drugs (</a:t>
            </a:r>
            <a:r>
              <a:rPr kumimoji="1" lang="en-NZ" altLang="ja-JP" sz="18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Atorvastatin and Pravastatin</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to reduce the level of cholesterol in the blood stream of patients.</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9" name="Text Placeholder 5">
            <a:extLst>
              <a:ext uri="{FF2B5EF4-FFF2-40B4-BE49-F238E27FC236}">
                <a16:creationId xmlns:a16="http://schemas.microsoft.com/office/drawing/2014/main" id="{18F712A6-4B0D-43B7-9546-F23E05640959}"/>
              </a:ext>
            </a:extLst>
          </p:cNvPr>
          <p:cNvSpPr txBox="1">
            <a:spLocks/>
          </p:cNvSpPr>
          <p:nvPr/>
        </p:nvSpPr>
        <p:spPr>
          <a:xfrm>
            <a:off x="1433014" y="3130611"/>
            <a:ext cx="7997589" cy="126381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Response Variable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Cholesterol level</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prstClr val="black"/>
                </a:solidFill>
                <a:latin typeface="Calibri" panose="020F0502020204030204"/>
                <a:ea typeface="游ゴシック" panose="020B0400000000000000" pitchFamily="34" charset="-128"/>
              </a:rPr>
              <a:t>Treatment Factor </a:t>
            </a:r>
            <a:r>
              <a:rPr lang="en-NZ" altLang="ja-JP" sz="1800" dirty="0">
                <a:solidFill>
                  <a:prstClr val="black"/>
                </a:solidFill>
                <a:latin typeface="Calibri" panose="020F0502020204030204"/>
                <a:ea typeface="游ゴシック" panose="020B0400000000000000" pitchFamily="34" charset="-128"/>
              </a:rPr>
              <a:t>	   Prescription drug</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Treatment Levels</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800" b="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Atorvastatin, Pravastatin</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prstClr val="black"/>
                </a:solidFill>
                <a:latin typeface="Calibri" panose="020F0502020204030204"/>
                <a:ea typeface="游ゴシック" panose="020B0400000000000000" pitchFamily="34" charset="-128"/>
              </a:rPr>
              <a:t>Nuisance Variables</a:t>
            </a:r>
            <a:r>
              <a:rPr lang="en-NZ" altLang="ja-JP" sz="1800" dirty="0">
                <a:solidFill>
                  <a:prstClr val="black"/>
                </a:solidFill>
                <a:latin typeface="Calibri" panose="020F0502020204030204"/>
                <a:ea typeface="游ゴシック" panose="020B0400000000000000" pitchFamily="34" charset="-128"/>
              </a:rPr>
              <a:t>	   Age, Gender, Exercise Levels, Diet of participants</a:t>
            </a:r>
            <a:endParaRPr kumimoji="1" lang="en-NZ" altLang="ja-JP" sz="1800" b="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Tree>
    <p:extLst>
      <p:ext uri="{BB962C8B-B14F-4D97-AF65-F5344CB8AC3E}">
        <p14:creationId xmlns:p14="http://schemas.microsoft.com/office/powerpoint/2010/main" val="1809897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6">
            <a:extLst>
              <a:ext uri="{FF2B5EF4-FFF2-40B4-BE49-F238E27FC236}">
                <a16:creationId xmlns:a16="http://schemas.microsoft.com/office/drawing/2014/main" id="{2BD5844C-C201-4666-ADB9-681CBA48DCC1}"/>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4.1b </a:t>
            </a:r>
            <a:r>
              <a:rPr lang="en-US" altLang="ja-JP" b="1" u="sng">
                <a:solidFill>
                  <a:prstClr val="black"/>
                </a:solidFill>
                <a:latin typeface="Calibri" panose="020F0502020204030204"/>
                <a:ea typeface="游ゴシック Light" panose="020B0300000000000000" pitchFamily="34" charset="-128"/>
              </a:rPr>
              <a:t>– Dealing with Nuisance Variables</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6" name="Text Placeholder 5">
            <a:extLst>
              <a:ext uri="{FF2B5EF4-FFF2-40B4-BE49-F238E27FC236}">
                <a16:creationId xmlns:a16="http://schemas.microsoft.com/office/drawing/2014/main" id="{B667B6A6-7EBE-4924-B738-248D29018CE8}"/>
              </a:ext>
            </a:extLst>
          </p:cNvPr>
          <p:cNvSpPr txBox="1">
            <a:spLocks/>
          </p:cNvSpPr>
          <p:nvPr/>
        </p:nvSpPr>
        <p:spPr>
          <a:xfrm>
            <a:off x="251224" y="1433230"/>
            <a:ext cx="11232109" cy="10645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 a CRD participants are assigned to treatment levels completely at random. The idea here is that (with</a:t>
            </a:r>
            <a:r>
              <a:rPr kumimoji="1" lang="en-NZ" altLang="ja-JP" sz="19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a large enough sample size) the nuisance variables will be uniformly distributed across treatments so their effect is somewhat negated.</a:t>
            </a:r>
            <a:endPar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9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1" name="Text Placeholder 5">
            <a:extLst>
              <a:ext uri="{FF2B5EF4-FFF2-40B4-BE49-F238E27FC236}">
                <a16:creationId xmlns:a16="http://schemas.microsoft.com/office/drawing/2014/main" id="{E4F3365B-C76D-420C-B9D8-5241B8E08994}"/>
              </a:ext>
            </a:extLst>
          </p:cNvPr>
          <p:cNvSpPr txBox="1">
            <a:spLocks/>
          </p:cNvSpPr>
          <p:nvPr/>
        </p:nvSpPr>
        <p:spPr>
          <a:xfrm>
            <a:off x="251224" y="1020822"/>
            <a:ext cx="5453540" cy="41240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200" b="1" i="0" u="sng"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Method </a:t>
            </a:r>
            <a:r>
              <a:rPr kumimoji="1" lang="en-NZ" altLang="ja-JP" sz="2200" b="1" i="0" u="sng"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1 </a:t>
            </a:r>
            <a:r>
              <a:rPr kumimoji="1" lang="en-NZ" altLang="ja-JP" sz="2200" b="1" i="0" u="sng"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 Completely Randomised Designs</a:t>
            </a:r>
            <a:endParaRPr kumimoji="1" lang="en-NZ" altLang="ja-JP" sz="2200" b="1" i="0" u="sng"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12" name="Text Placeholder 5">
            <a:extLst>
              <a:ext uri="{FF2B5EF4-FFF2-40B4-BE49-F238E27FC236}">
                <a16:creationId xmlns:a16="http://schemas.microsoft.com/office/drawing/2014/main" id="{A854CEFD-6F0F-4277-A421-C5F35B7195E3}"/>
              </a:ext>
            </a:extLst>
          </p:cNvPr>
          <p:cNvSpPr txBox="1">
            <a:spLocks/>
          </p:cNvSpPr>
          <p:nvPr/>
        </p:nvSpPr>
        <p:spPr>
          <a:xfrm>
            <a:off x="251224" y="2497755"/>
            <a:ext cx="11232109" cy="10645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900" b="0" i="1"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The </a:t>
            </a:r>
            <a:r>
              <a:rPr kumimoji="1" lang="en-NZ" altLang="ja-JP" sz="19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major drawback is that </a:t>
            </a:r>
            <a:r>
              <a:rPr kumimoji="1" lang="en-NZ" altLang="ja-JP" sz="1900" b="0" i="1"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all the </a:t>
            </a:r>
            <a:r>
              <a:rPr kumimoji="1" lang="en-NZ" altLang="ja-JP" sz="19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variation </a:t>
            </a:r>
            <a:r>
              <a:rPr kumimoji="1" lang="en-NZ" altLang="ja-JP" sz="1900" b="0" i="1"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in the response variable caused by the nuisance variable will be accumulated in the MSE. A large MSE, relative to the </a:t>
            </a:r>
            <a:r>
              <a:rPr kumimoji="1" lang="en-NZ" altLang="ja-JP" sz="19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MST </a:t>
            </a:r>
            <a:r>
              <a:rPr kumimoji="1" lang="en-NZ" altLang="ja-JP" sz="1900" b="0" i="1"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for the </a:t>
            </a:r>
            <a:r>
              <a:rPr kumimoji="1" lang="en-NZ" altLang="ja-JP" sz="19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factor </a:t>
            </a:r>
            <a:r>
              <a:rPr kumimoji="1" lang="en-NZ" altLang="ja-JP" sz="1900" b="0" i="1"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of interest, decreases our power to detect factor effects</a:t>
            </a:r>
            <a:r>
              <a:rPr kumimoji="1" lang="en-NZ" altLang="ja-JP" sz="19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9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9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3" name="Text Placeholder 5">
            <a:extLst>
              <a:ext uri="{FF2B5EF4-FFF2-40B4-BE49-F238E27FC236}">
                <a16:creationId xmlns:a16="http://schemas.microsoft.com/office/drawing/2014/main" id="{459FD998-9311-4400-AA2A-FDDCF20BCAB8}"/>
              </a:ext>
            </a:extLst>
          </p:cNvPr>
          <p:cNvSpPr txBox="1">
            <a:spLocks/>
          </p:cNvSpPr>
          <p:nvPr/>
        </p:nvSpPr>
        <p:spPr>
          <a:xfrm>
            <a:off x="251224" y="3696002"/>
            <a:ext cx="5453540" cy="41240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200" b="1" i="0" u="sng"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Method </a:t>
            </a:r>
            <a:r>
              <a:rPr kumimoji="1" lang="en-NZ" altLang="ja-JP" sz="2200" b="1" i="0" u="sng"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2 – </a:t>
            </a:r>
            <a:r>
              <a:rPr kumimoji="1" lang="en-NZ" altLang="ja-JP" sz="2200" b="1" i="0" u="sng"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Hold Nuisance </a:t>
            </a:r>
            <a:r>
              <a:rPr kumimoji="1" lang="en-NZ" altLang="ja-JP" sz="2200" b="1" i="0" u="sng"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Factors Constant</a:t>
            </a:r>
            <a:endParaRPr kumimoji="1" lang="en-NZ" altLang="ja-JP" sz="22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4" name="Text Placeholder 5">
            <a:extLst>
              <a:ext uri="{FF2B5EF4-FFF2-40B4-BE49-F238E27FC236}">
                <a16:creationId xmlns:a16="http://schemas.microsoft.com/office/drawing/2014/main" id="{015030ED-A34C-45DA-985E-97D7FA4627F4}"/>
              </a:ext>
            </a:extLst>
          </p:cNvPr>
          <p:cNvSpPr txBox="1">
            <a:spLocks/>
          </p:cNvSpPr>
          <p:nvPr/>
        </p:nvSpPr>
        <p:spPr>
          <a:xfrm>
            <a:off x="251224" y="4163149"/>
            <a:ext cx="11232109" cy="6753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 the context of Example 3 (Cholesterol Study), we could attempt to negate the effects of the nuisance variables by allowing only </a:t>
            </a:r>
            <a:r>
              <a:rPr kumimoji="1" lang="en-NZ" altLang="ja-JP" sz="1900" b="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females</a:t>
            </a:r>
            <a:r>
              <a:rPr kumimoji="1" lang="en-NZ" altLang="ja-JP" sz="1900" b="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9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aged 18-30 within similar diet and exercise regimes into</a:t>
            </a:r>
            <a:r>
              <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the study.</a:t>
            </a:r>
            <a:endParaRPr kumimoji="1" lang="en-NZ" altLang="ja-JP" sz="19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5" name="Text Placeholder 5">
            <a:extLst>
              <a:ext uri="{FF2B5EF4-FFF2-40B4-BE49-F238E27FC236}">
                <a16:creationId xmlns:a16="http://schemas.microsoft.com/office/drawing/2014/main" id="{6AE05AB9-71BC-408D-AE3B-21F128E174DB}"/>
              </a:ext>
            </a:extLst>
          </p:cNvPr>
          <p:cNvSpPr txBox="1">
            <a:spLocks/>
          </p:cNvSpPr>
          <p:nvPr/>
        </p:nvSpPr>
        <p:spPr>
          <a:xfrm>
            <a:off x="251224" y="4906444"/>
            <a:ext cx="11232109" cy="9794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900" b="0" i="1"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The </a:t>
            </a:r>
            <a:r>
              <a:rPr kumimoji="1" lang="en-NZ" altLang="ja-JP" sz="19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first </a:t>
            </a:r>
            <a:r>
              <a:rPr kumimoji="1" lang="en-NZ" altLang="ja-JP" sz="1900" b="0" i="1"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drawback here </a:t>
            </a:r>
            <a:r>
              <a:rPr kumimoji="1" lang="en-NZ" altLang="ja-JP" sz="19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is that </a:t>
            </a:r>
            <a:r>
              <a:rPr kumimoji="1" lang="en-NZ" altLang="ja-JP" sz="1900" b="0" i="1"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this makes </a:t>
            </a:r>
            <a:r>
              <a:rPr kumimoji="1" lang="en-NZ" altLang="ja-JP" sz="19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it hard </a:t>
            </a:r>
            <a:r>
              <a:rPr kumimoji="1" lang="en-NZ" altLang="ja-JP" sz="1900" b="0" i="1"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to generalise results</a:t>
            </a:r>
            <a:r>
              <a:rPr kumimoji="1" lang="en-NZ" altLang="ja-JP" sz="19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Whilst Atorvastatin </a:t>
            </a:r>
            <a:r>
              <a:rPr kumimoji="1" lang="en-NZ" altLang="ja-JP" sz="1900" b="0" i="1"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may be better </a:t>
            </a:r>
            <a:r>
              <a:rPr kumimoji="1" lang="en-NZ" altLang="ja-JP" sz="19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than Pravastatin </a:t>
            </a:r>
            <a:r>
              <a:rPr kumimoji="1" lang="en-NZ" altLang="ja-JP" sz="1900" b="0" i="1"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at reducing cholesterol for females aged </a:t>
            </a:r>
            <a:r>
              <a:rPr kumimoji="1" lang="en-NZ" altLang="ja-JP" sz="19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18-30 within </a:t>
            </a:r>
            <a:r>
              <a:rPr kumimoji="1" lang="en-NZ" altLang="ja-JP" sz="1900" b="0" i="1"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good diet and exercise levels</a:t>
            </a:r>
            <a:r>
              <a:rPr kumimoji="1" lang="en-NZ" altLang="ja-JP" sz="19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this may </a:t>
            </a:r>
            <a:r>
              <a:rPr kumimoji="1" lang="en-NZ" altLang="ja-JP" sz="1900" b="0" i="1"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not be true for males aged </a:t>
            </a:r>
            <a:r>
              <a:rPr kumimoji="1" lang="en-NZ" altLang="ja-JP" sz="19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65+ with </a:t>
            </a:r>
            <a:r>
              <a:rPr kumimoji="1" lang="en-NZ" altLang="ja-JP" sz="1900" b="0" i="1"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poor diet and exercise levels</a:t>
            </a:r>
            <a:r>
              <a:rPr kumimoji="1" lang="en-NZ" altLang="ja-JP" sz="19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9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9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7" name="Text Placeholder 5">
            <a:extLst>
              <a:ext uri="{FF2B5EF4-FFF2-40B4-BE49-F238E27FC236}">
                <a16:creationId xmlns:a16="http://schemas.microsoft.com/office/drawing/2014/main" id="{8541286C-F825-492E-91FB-FDC818B3E9B7}"/>
              </a:ext>
            </a:extLst>
          </p:cNvPr>
          <p:cNvSpPr txBox="1">
            <a:spLocks/>
          </p:cNvSpPr>
          <p:nvPr/>
        </p:nvSpPr>
        <p:spPr>
          <a:xfrm>
            <a:off x="251224" y="5878558"/>
            <a:ext cx="11232109" cy="74161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900" b="0" i="1"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Secondly, the more nuisance variables </a:t>
            </a:r>
            <a:r>
              <a:rPr kumimoji="1" lang="en-NZ" altLang="ja-JP" sz="19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you try and control for in this way</a:t>
            </a:r>
            <a:r>
              <a:rPr kumimoji="1" lang="en-NZ" altLang="ja-JP" sz="1900" b="0" i="1"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 the smaller the </a:t>
            </a:r>
            <a:r>
              <a:rPr kumimoji="1" lang="en-NZ" altLang="ja-JP" sz="19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pool </a:t>
            </a:r>
            <a:r>
              <a:rPr kumimoji="1" lang="en-NZ" altLang="ja-JP" sz="1900" b="0" i="1"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of eligible </a:t>
            </a:r>
            <a:r>
              <a:rPr kumimoji="1" lang="en-NZ" altLang="ja-JP" sz="19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participants for your study. This </a:t>
            </a:r>
            <a:r>
              <a:rPr kumimoji="1" lang="en-NZ" altLang="ja-JP" sz="1900" b="0" i="1"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may result in insufficient sample sizes</a:t>
            </a:r>
            <a:r>
              <a:rPr kumimoji="1" lang="en-NZ" altLang="ja-JP" sz="19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9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9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6" name="Footer Placeholder 2">
            <a:extLst>
              <a:ext uri="{FF2B5EF4-FFF2-40B4-BE49-F238E27FC236}">
                <a16:creationId xmlns:a16="http://schemas.microsoft.com/office/drawing/2014/main" id="{E0C34AB1-2A64-EB5A-812B-62A8FB4DBDB8}"/>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4.1 – Nuisance Variables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537687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6">
            <a:extLst>
              <a:ext uri="{FF2B5EF4-FFF2-40B4-BE49-F238E27FC236}">
                <a16:creationId xmlns:a16="http://schemas.microsoft.com/office/drawing/2014/main" id="{2BD5844C-C201-4666-ADB9-681CBA48DCC1}"/>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4.1b </a:t>
            </a:r>
            <a:r>
              <a:rPr lang="en-US" altLang="ja-JP" b="1" u="sng">
                <a:solidFill>
                  <a:prstClr val="black"/>
                </a:solidFill>
                <a:latin typeface="Calibri" panose="020F0502020204030204"/>
                <a:ea typeface="游ゴシック Light" panose="020B0300000000000000" pitchFamily="34" charset="-128"/>
              </a:rPr>
              <a:t>– Dealing with Nuisance Variables</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6" name="Text Placeholder 5">
            <a:extLst>
              <a:ext uri="{FF2B5EF4-FFF2-40B4-BE49-F238E27FC236}">
                <a16:creationId xmlns:a16="http://schemas.microsoft.com/office/drawing/2014/main" id="{B667B6A6-7EBE-4924-B738-248D29018CE8}"/>
              </a:ext>
            </a:extLst>
          </p:cNvPr>
          <p:cNvSpPr txBox="1">
            <a:spLocks/>
          </p:cNvSpPr>
          <p:nvPr/>
        </p:nvSpPr>
        <p:spPr>
          <a:xfrm>
            <a:off x="479946" y="2784698"/>
            <a:ext cx="11232109" cy="10645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3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 </a:t>
            </a:r>
            <a:r>
              <a:rPr kumimoji="1" lang="en-NZ" altLang="ja-JP" sz="36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much better </a:t>
            </a:r>
            <a:r>
              <a:rPr kumimoji="1" lang="en-NZ" altLang="ja-JP" sz="3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way </a:t>
            </a:r>
            <a:r>
              <a:rPr kumimoji="1" lang="en-NZ" altLang="ja-JP" sz="36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to deal with nuisance variables </a:t>
            </a:r>
            <a:r>
              <a:rPr kumimoji="1" lang="en-NZ" altLang="ja-JP" sz="3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is to </a:t>
            </a:r>
            <a:r>
              <a:rPr kumimoji="1" lang="en-NZ" altLang="ja-JP" sz="36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apply the concept </a:t>
            </a:r>
            <a:r>
              <a:rPr kumimoji="1" lang="en-NZ" altLang="ja-JP" sz="3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of ‘Blocking’ within </a:t>
            </a:r>
            <a:r>
              <a:rPr kumimoji="1" lang="en-NZ" altLang="ja-JP" sz="36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your experimental design</a:t>
            </a:r>
            <a:r>
              <a:rPr kumimoji="1" lang="en-NZ" altLang="ja-JP" sz="3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r>
              <a:rPr kumimoji="1" lang="en-NZ" altLang="ja-JP" sz="36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1" lang="en-NZ" altLang="ja-JP" sz="3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3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3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7" name="Footer Placeholder 2">
            <a:extLst>
              <a:ext uri="{FF2B5EF4-FFF2-40B4-BE49-F238E27FC236}">
                <a16:creationId xmlns:a16="http://schemas.microsoft.com/office/drawing/2014/main" id="{5E887F6C-DA40-3ED1-B873-A5225A08D267}"/>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4.1 – Nuisance Variables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3872159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7F14062D-E1C1-4F63-B0FD-D013BDA5782B}"/>
              </a:ext>
            </a:extLst>
          </p:cNvPr>
          <p:cNvSpPr txBox="1"/>
          <p:nvPr/>
        </p:nvSpPr>
        <p:spPr>
          <a:xfrm>
            <a:off x="43707" y="2844225"/>
            <a:ext cx="12104586" cy="7848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4.2 – Blocking</a:t>
            </a: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7053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2">
            <a:extLst>
              <a:ext uri="{FF2B5EF4-FFF2-40B4-BE49-F238E27FC236}">
                <a16:creationId xmlns:a16="http://schemas.microsoft.com/office/drawing/2014/main" id="{FCA3135E-12FE-4808-B68B-466D5B0EBCB1}"/>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4.2 – Blocking</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5" name="Title 6">
            <a:extLst>
              <a:ext uri="{FF2B5EF4-FFF2-40B4-BE49-F238E27FC236}">
                <a16:creationId xmlns:a16="http://schemas.microsoft.com/office/drawing/2014/main" id="{2BD5844C-C201-4666-ADB9-681CBA48DCC1}"/>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4.2a – Blocking</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7" name="Text Placeholder 5">
            <a:extLst>
              <a:ext uri="{FF2B5EF4-FFF2-40B4-BE49-F238E27FC236}">
                <a16:creationId xmlns:a16="http://schemas.microsoft.com/office/drawing/2014/main" id="{53954845-0ED7-4F94-8BFB-34FFE3001DD5}"/>
              </a:ext>
            </a:extLst>
          </p:cNvPr>
          <p:cNvSpPr txBox="1">
            <a:spLocks/>
          </p:cNvSpPr>
          <p:nvPr/>
        </p:nvSpPr>
        <p:spPr>
          <a:xfrm>
            <a:off x="251224" y="914708"/>
            <a:ext cx="11273050" cy="94125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9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The general idea </a:t>
            </a:r>
            <a:r>
              <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of blocking is </a:t>
            </a:r>
            <a:r>
              <a:rPr kumimoji="1" lang="en-NZ" altLang="ja-JP" sz="19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to include the nuisance variables </a:t>
            </a:r>
            <a:r>
              <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as factors </a:t>
            </a:r>
            <a:r>
              <a:rPr kumimoji="1" lang="en-NZ" altLang="ja-JP" sz="19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within the </a:t>
            </a:r>
            <a:r>
              <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study. </a:t>
            </a:r>
            <a:r>
              <a:rPr kumimoji="1" lang="en-NZ" altLang="ja-JP" sz="19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Any variable that causes </a:t>
            </a:r>
            <a:r>
              <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variation </a:t>
            </a:r>
            <a:r>
              <a:rPr kumimoji="1" lang="en-NZ" altLang="ja-JP" sz="19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in the response variable, </a:t>
            </a:r>
            <a:r>
              <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but which is not of </a:t>
            </a:r>
            <a:r>
              <a:rPr kumimoji="1" lang="en-NZ" altLang="ja-JP" sz="19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primary interest</a:t>
            </a:r>
            <a:r>
              <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9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can be used </a:t>
            </a:r>
            <a:r>
              <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as a </a:t>
            </a:r>
            <a:r>
              <a:rPr kumimoji="1" lang="en-NZ" altLang="ja-JP" sz="19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blocking variable.</a:t>
            </a:r>
            <a:endPar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900" dirty="0">
                <a:solidFill>
                  <a:prstClr val="black"/>
                </a:solidFill>
                <a:latin typeface="Calibri" panose="020F0502020204030204"/>
                <a:ea typeface="游ゴシック" panose="020B0400000000000000" pitchFamily="34" charset="-128"/>
              </a:rPr>
              <a:t>In Stat </a:t>
            </a:r>
            <a:r>
              <a:rPr lang="en-NZ" altLang="ja-JP" sz="1900">
                <a:solidFill>
                  <a:prstClr val="black"/>
                </a:solidFill>
                <a:latin typeface="Calibri" panose="020F0502020204030204"/>
                <a:ea typeface="游ゴシック" panose="020B0400000000000000" pitchFamily="34" charset="-128"/>
              </a:rPr>
              <a:t>293 we will consider </a:t>
            </a:r>
            <a:r>
              <a:rPr lang="en-NZ" altLang="ja-JP" sz="1900" dirty="0">
                <a:solidFill>
                  <a:prstClr val="black"/>
                </a:solidFill>
                <a:latin typeface="Calibri" panose="020F0502020204030204"/>
                <a:ea typeface="游ゴシック" panose="020B0400000000000000" pitchFamily="34" charset="-128"/>
              </a:rPr>
              <a:t>at </a:t>
            </a:r>
            <a:r>
              <a:rPr lang="en-NZ" altLang="ja-JP" sz="1900">
                <a:solidFill>
                  <a:prstClr val="black"/>
                </a:solidFill>
                <a:latin typeface="Calibri" panose="020F0502020204030204"/>
                <a:ea typeface="游ゴシック" panose="020B0400000000000000" pitchFamily="34" charset="-128"/>
              </a:rPr>
              <a:t>most one blocking variable.</a:t>
            </a:r>
            <a:endPar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9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8" name="Text Placeholder 5">
                <a:extLst>
                  <a:ext uri="{FF2B5EF4-FFF2-40B4-BE49-F238E27FC236}">
                    <a16:creationId xmlns:a16="http://schemas.microsoft.com/office/drawing/2014/main" id="{115B96A4-375E-498A-A292-692BD3C014D8}"/>
                  </a:ext>
                </a:extLst>
              </p:cNvPr>
              <p:cNvSpPr txBox="1">
                <a:spLocks/>
              </p:cNvSpPr>
              <p:nvPr/>
            </p:nvSpPr>
            <p:spPr>
              <a:xfrm>
                <a:off x="241456" y="3612503"/>
                <a:ext cx="5699200" cy="94169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Suppose that we have a response variable </a:t>
                </a:r>
                <a:r>
                  <a:rPr kumimoji="1" lang="en-NZ" altLang="ja-JP" sz="19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Y</a:t>
                </a:r>
                <a:r>
                  <a:rPr kumimoji="1" lang="en-NZ" altLang="ja-JP" sz="19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and</a:t>
                </a:r>
                <a:endPar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1200093" lvl="1" indent="-514350" algn="just">
                  <a:lnSpc>
                    <a:spcPct val="100000"/>
                  </a:lnSpc>
                  <a:spcBef>
                    <a:spcPts val="0"/>
                  </a:spcBef>
                  <a:buFont typeface="+mj-lt"/>
                  <a:buAutoNum type="romanUcPeriod"/>
                  <a:defRPr/>
                </a:pPr>
                <a:r>
                  <a:rPr lang="en-NZ" altLang="ja-JP" sz="1600" dirty="0">
                    <a:solidFill>
                      <a:prstClr val="black"/>
                    </a:solidFill>
                    <a:latin typeface="Calibri" panose="020F0502020204030204"/>
                    <a:ea typeface="游ゴシック" panose="020B0400000000000000" pitchFamily="34" charset="-128"/>
                  </a:rPr>
                  <a:t>A treatment factor </a:t>
                </a:r>
                <a:r>
                  <a:rPr lang="en-NZ" altLang="ja-JP" sz="1600" b="1" i="1" dirty="0">
                    <a:solidFill>
                      <a:prstClr val="black"/>
                    </a:solidFill>
                    <a:latin typeface="Calibri" panose="020F0502020204030204"/>
                    <a:ea typeface="游ゴシック" panose="020B0400000000000000" pitchFamily="34" charset="-128"/>
                  </a:rPr>
                  <a:t>A</a:t>
                </a:r>
                <a:r>
                  <a:rPr lang="en-NZ" altLang="ja-JP" sz="1600" dirty="0">
                    <a:solidFill>
                      <a:prstClr val="black"/>
                    </a:solidFill>
                    <a:latin typeface="Calibri" panose="020F0502020204030204"/>
                    <a:ea typeface="游ゴシック" panose="020B0400000000000000" pitchFamily="34" charset="-128"/>
                  </a:rPr>
                  <a:t> with </a:t>
                </a:r>
                <a14:m>
                  <m:oMath xmlns:m="http://schemas.openxmlformats.org/officeDocument/2006/math">
                    <m:r>
                      <a:rPr lang="en-NZ" altLang="ja-JP" sz="1600" b="1" i="1" smtClean="0">
                        <a:solidFill>
                          <a:prstClr val="black"/>
                        </a:solidFill>
                        <a:latin typeface="Cambria Math" panose="02040503050406030204" pitchFamily="18" charset="0"/>
                        <a:ea typeface="游ゴシック" panose="020B0400000000000000" pitchFamily="34" charset="-128"/>
                      </a:rPr>
                      <m:t>𝒊</m:t>
                    </m:r>
                    <m:r>
                      <a:rPr lang="en-NZ" altLang="ja-JP" sz="1600" b="1" i="1" smtClean="0">
                        <a:solidFill>
                          <a:prstClr val="black"/>
                        </a:solidFill>
                        <a:latin typeface="Cambria Math" panose="02040503050406030204" pitchFamily="18" charset="0"/>
                        <a:ea typeface="游ゴシック" panose="020B0400000000000000" pitchFamily="34" charset="-128"/>
                      </a:rPr>
                      <m:t>=</m:t>
                    </m:r>
                    <m:r>
                      <a:rPr lang="en-NZ" altLang="ja-JP" sz="1600" b="1" i="1" smtClean="0">
                        <a:solidFill>
                          <a:prstClr val="black"/>
                        </a:solidFill>
                        <a:latin typeface="Cambria Math" panose="02040503050406030204" pitchFamily="18" charset="0"/>
                        <a:ea typeface="游ゴシック" panose="020B0400000000000000" pitchFamily="34" charset="-128"/>
                      </a:rPr>
                      <m:t>𝟏</m:t>
                    </m:r>
                    <m:r>
                      <a:rPr lang="en-NZ" altLang="ja-JP" sz="1600" b="1" i="1" smtClean="0">
                        <a:solidFill>
                          <a:prstClr val="black"/>
                        </a:solidFill>
                        <a:latin typeface="Cambria Math" panose="02040503050406030204" pitchFamily="18" charset="0"/>
                        <a:ea typeface="游ゴシック" panose="020B0400000000000000" pitchFamily="34" charset="-128"/>
                      </a:rPr>
                      <m:t>, …, </m:t>
                    </m:r>
                    <m:r>
                      <a:rPr lang="en-NZ" altLang="ja-JP" sz="1600" b="1" i="1" smtClean="0">
                        <a:solidFill>
                          <a:prstClr val="black"/>
                        </a:solidFill>
                        <a:latin typeface="Cambria Math" panose="02040503050406030204" pitchFamily="18" charset="0"/>
                        <a:ea typeface="游ゴシック" panose="020B0400000000000000" pitchFamily="34" charset="-128"/>
                      </a:rPr>
                      <m:t>𝒂</m:t>
                    </m:r>
                  </m:oMath>
                </a14:m>
                <a:r>
                  <a:rPr kumimoji="1" lang="en-NZ" altLang="ja-JP" sz="16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levels</a:t>
                </a:r>
              </a:p>
              <a:p>
                <a:pPr marL="1200093" lvl="1" indent="-514350" algn="just">
                  <a:lnSpc>
                    <a:spcPct val="100000"/>
                  </a:lnSpc>
                  <a:spcBef>
                    <a:spcPts val="0"/>
                  </a:spcBef>
                  <a:buFont typeface="+mj-lt"/>
                  <a:buAutoNum type="romanUcPeriod"/>
                  <a:defRPr/>
                </a:pPr>
                <a:r>
                  <a:rPr lang="en-NZ" altLang="ja-JP" sz="1600" dirty="0">
                    <a:solidFill>
                      <a:prstClr val="black"/>
                    </a:solidFill>
                    <a:latin typeface="Calibri" panose="020F0502020204030204"/>
                    <a:ea typeface="游ゴシック" panose="020B0400000000000000" pitchFamily="34" charset="-128"/>
                  </a:rPr>
                  <a:t>A blocking factor </a:t>
                </a:r>
                <a:r>
                  <a:rPr lang="en-NZ" altLang="ja-JP" sz="1600" b="1" i="1" dirty="0">
                    <a:solidFill>
                      <a:prstClr val="black"/>
                    </a:solidFill>
                    <a:latin typeface="Calibri" panose="020F0502020204030204"/>
                    <a:ea typeface="游ゴシック" panose="020B0400000000000000" pitchFamily="34" charset="-128"/>
                  </a:rPr>
                  <a:t>B</a:t>
                </a:r>
                <a:r>
                  <a:rPr lang="en-NZ" altLang="ja-JP" sz="1600" dirty="0">
                    <a:solidFill>
                      <a:prstClr val="black"/>
                    </a:solidFill>
                    <a:latin typeface="Calibri" panose="020F0502020204030204"/>
                    <a:ea typeface="游ゴシック" panose="020B0400000000000000" pitchFamily="34" charset="-128"/>
                  </a:rPr>
                  <a:t> with </a:t>
                </a:r>
                <a14:m>
                  <m:oMath xmlns:m="http://schemas.openxmlformats.org/officeDocument/2006/math">
                    <m:r>
                      <a:rPr lang="en-NZ" altLang="ja-JP" sz="1600" b="1" i="1" smtClean="0">
                        <a:solidFill>
                          <a:prstClr val="black"/>
                        </a:solidFill>
                        <a:latin typeface="Cambria Math" panose="02040503050406030204" pitchFamily="18" charset="0"/>
                        <a:ea typeface="游ゴシック" panose="020B0400000000000000" pitchFamily="34" charset="-128"/>
                      </a:rPr>
                      <m:t>𝒋</m:t>
                    </m:r>
                    <m:r>
                      <a:rPr lang="en-NZ" altLang="ja-JP" sz="1600" b="1" i="1" smtClean="0">
                        <a:solidFill>
                          <a:prstClr val="black"/>
                        </a:solidFill>
                        <a:latin typeface="Cambria Math" panose="02040503050406030204" pitchFamily="18" charset="0"/>
                        <a:ea typeface="游ゴシック" panose="020B0400000000000000" pitchFamily="34" charset="-128"/>
                      </a:rPr>
                      <m:t>=</m:t>
                    </m:r>
                    <m:r>
                      <a:rPr lang="en-NZ" altLang="ja-JP" sz="1600" b="1" i="1" smtClean="0">
                        <a:solidFill>
                          <a:prstClr val="black"/>
                        </a:solidFill>
                        <a:latin typeface="Cambria Math" panose="02040503050406030204" pitchFamily="18" charset="0"/>
                        <a:ea typeface="游ゴシック" panose="020B0400000000000000" pitchFamily="34" charset="-128"/>
                      </a:rPr>
                      <m:t>𝟏</m:t>
                    </m:r>
                    <m:r>
                      <a:rPr lang="en-NZ" altLang="ja-JP" sz="1600" b="1" i="1" smtClean="0">
                        <a:solidFill>
                          <a:prstClr val="black"/>
                        </a:solidFill>
                        <a:latin typeface="Cambria Math" panose="02040503050406030204" pitchFamily="18" charset="0"/>
                        <a:ea typeface="游ゴシック" panose="020B0400000000000000" pitchFamily="34" charset="-128"/>
                      </a:rPr>
                      <m:t>, …, </m:t>
                    </m:r>
                    <m:r>
                      <a:rPr lang="en-NZ" altLang="ja-JP" sz="1600" b="1" i="1" smtClean="0">
                        <a:solidFill>
                          <a:prstClr val="black"/>
                        </a:solidFill>
                        <a:latin typeface="Cambria Math" panose="02040503050406030204" pitchFamily="18" charset="0"/>
                        <a:ea typeface="游ゴシック" panose="020B0400000000000000" pitchFamily="34" charset="-128"/>
                      </a:rPr>
                      <m:t>𝒃</m:t>
                    </m:r>
                  </m:oMath>
                </a14:m>
                <a:r>
                  <a:rPr kumimoji="1" lang="en-NZ" altLang="ja-JP" sz="16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levels</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9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8" name="Text Placeholder 5">
                <a:extLst>
                  <a:ext uri="{FF2B5EF4-FFF2-40B4-BE49-F238E27FC236}">
                    <a16:creationId xmlns:a16="http://schemas.microsoft.com/office/drawing/2014/main" id="{115B96A4-375E-498A-A292-692BD3C014D8}"/>
                  </a:ext>
                </a:extLst>
              </p:cNvPr>
              <p:cNvSpPr txBox="1">
                <a:spLocks noRot="1" noChangeAspect="1" noMove="1" noResize="1" noEditPoints="1" noAdjustHandles="1" noChangeArrowheads="1" noChangeShapeType="1" noTextEdit="1"/>
              </p:cNvSpPr>
              <p:nvPr/>
            </p:nvSpPr>
            <p:spPr>
              <a:xfrm>
                <a:off x="241456" y="3612503"/>
                <a:ext cx="5699200" cy="941690"/>
              </a:xfrm>
              <a:prstGeom prst="rect">
                <a:avLst/>
              </a:prstGeom>
              <a:blipFill>
                <a:blip r:embed="rId2"/>
                <a:stretch>
                  <a:fillRect l="-1070" t="-3247" b="-1299"/>
                </a:stretch>
              </a:blipFill>
            </p:spPr>
            <p:txBody>
              <a:bodyPr/>
              <a:lstStyle/>
              <a:p>
                <a:r>
                  <a:rPr lang="en-NZ">
                    <a:noFill/>
                  </a:rPr>
                  <a:t> </a:t>
                </a:r>
              </a:p>
            </p:txBody>
          </p:sp>
        </mc:Fallback>
      </mc:AlternateContent>
      <p:sp>
        <p:nvSpPr>
          <p:cNvPr id="9" name="Text Placeholder 5">
            <a:extLst>
              <a:ext uri="{FF2B5EF4-FFF2-40B4-BE49-F238E27FC236}">
                <a16:creationId xmlns:a16="http://schemas.microsoft.com/office/drawing/2014/main" id="{6DF05027-9984-47E8-8412-F2E7D6821B9C}"/>
              </a:ext>
            </a:extLst>
          </p:cNvPr>
          <p:cNvSpPr txBox="1">
            <a:spLocks/>
          </p:cNvSpPr>
          <p:nvPr/>
        </p:nvSpPr>
        <p:spPr>
          <a:xfrm>
            <a:off x="241456" y="4706669"/>
            <a:ext cx="5358006" cy="110205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900" dirty="0">
                <a:solidFill>
                  <a:prstClr val="black"/>
                </a:solidFill>
                <a:latin typeface="Calibri" panose="020F0502020204030204"/>
                <a:ea typeface="游ゴシック" panose="020B0400000000000000" pitchFamily="34" charset="-128"/>
              </a:rPr>
              <a:t>By including the blocking factor in the design we capture the variability it causes in </a:t>
            </a:r>
            <a:r>
              <a:rPr lang="en-NZ" altLang="ja-JP" sz="1900" b="1" i="1" dirty="0">
                <a:solidFill>
                  <a:prstClr val="black"/>
                </a:solidFill>
                <a:latin typeface="Calibri" panose="020F0502020204030204"/>
                <a:ea typeface="游ゴシック" panose="020B0400000000000000" pitchFamily="34" charset="-128"/>
              </a:rPr>
              <a:t>Y</a:t>
            </a:r>
            <a:r>
              <a:rPr lang="en-NZ" altLang="ja-JP" sz="1900" dirty="0">
                <a:solidFill>
                  <a:prstClr val="black"/>
                </a:solidFill>
                <a:latin typeface="Calibri" panose="020F0502020204030204"/>
                <a:ea typeface="游ゴシック" panose="020B0400000000000000" pitchFamily="34" charset="-128"/>
              </a:rPr>
              <a:t> through the </a:t>
            </a:r>
            <a:r>
              <a:rPr lang="en-NZ" altLang="ja-JP" sz="1900" i="1" dirty="0">
                <a:solidFill>
                  <a:srgbClr val="C00000"/>
                </a:solidFill>
                <a:latin typeface="Calibri" panose="020F0502020204030204"/>
                <a:ea typeface="游ゴシック" panose="020B0400000000000000" pitchFamily="34" charset="-128"/>
              </a:rPr>
              <a:t>sums of squares for the blocking factor (SSB).</a:t>
            </a:r>
            <a:r>
              <a:rPr lang="en-NZ" altLang="ja-JP" sz="1900" dirty="0">
                <a:solidFill>
                  <a:srgbClr val="C00000"/>
                </a:solidFill>
                <a:latin typeface="Calibri" panose="020F0502020204030204"/>
                <a:ea typeface="游ゴシック" panose="020B0400000000000000" pitchFamily="34" charset="-128"/>
              </a:rPr>
              <a:t> </a:t>
            </a:r>
            <a:endParaRPr kumimoji="1" lang="en-NZ" altLang="ja-JP" sz="19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p:sp>
        <p:nvSpPr>
          <p:cNvPr id="11" name="Text Placeholder 5">
            <a:extLst>
              <a:ext uri="{FF2B5EF4-FFF2-40B4-BE49-F238E27FC236}">
                <a16:creationId xmlns:a16="http://schemas.microsoft.com/office/drawing/2014/main" id="{366D2159-F1AE-48FA-B2D3-AA13BBE13C38}"/>
              </a:ext>
            </a:extLst>
          </p:cNvPr>
          <p:cNvSpPr txBox="1">
            <a:spLocks/>
          </p:cNvSpPr>
          <p:nvPr/>
        </p:nvSpPr>
        <p:spPr>
          <a:xfrm>
            <a:off x="251224" y="5856185"/>
            <a:ext cx="5358006" cy="85341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900" dirty="0">
                <a:solidFill>
                  <a:prstClr val="black"/>
                </a:solidFill>
                <a:latin typeface="Calibri" panose="020F0502020204030204"/>
                <a:ea typeface="游ゴシック" panose="020B0400000000000000" pitchFamily="34" charset="-128"/>
              </a:rPr>
              <a:t>This reduces the </a:t>
            </a:r>
            <a:r>
              <a:rPr lang="en-NZ" altLang="ja-JP" sz="1900" b="1" i="1" dirty="0">
                <a:solidFill>
                  <a:prstClr val="black"/>
                </a:solidFill>
                <a:latin typeface="Calibri" panose="020F0502020204030204"/>
                <a:ea typeface="游ゴシック" panose="020B0400000000000000" pitchFamily="34" charset="-128"/>
              </a:rPr>
              <a:t>SSE </a:t>
            </a:r>
            <a:r>
              <a:rPr lang="en-NZ" altLang="ja-JP" sz="1900" dirty="0">
                <a:solidFill>
                  <a:prstClr val="black"/>
                </a:solidFill>
                <a:latin typeface="Calibri" panose="020F0502020204030204"/>
                <a:ea typeface="游ゴシック" panose="020B0400000000000000" pitchFamily="34" charset="-128"/>
              </a:rPr>
              <a:t>for the model compared to a non-blocked design and hence increases our power to detect factor effects.</a:t>
            </a:r>
            <a:endParaRPr kumimoji="1" lang="en-NZ"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9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2" name="Text Placeholder 5">
            <a:extLst>
              <a:ext uri="{FF2B5EF4-FFF2-40B4-BE49-F238E27FC236}">
                <a16:creationId xmlns:a16="http://schemas.microsoft.com/office/drawing/2014/main" id="{8659FAF4-B9EE-47CA-915A-1C20B8427607}"/>
              </a:ext>
            </a:extLst>
          </p:cNvPr>
          <p:cNvSpPr txBox="1">
            <a:spLocks/>
          </p:cNvSpPr>
          <p:nvPr/>
        </p:nvSpPr>
        <p:spPr>
          <a:xfrm>
            <a:off x="251224" y="2089676"/>
            <a:ext cx="5358006" cy="110205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900" b="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There are </a:t>
            </a:r>
            <a:r>
              <a:rPr kumimoji="1" lang="en-NZ" altLang="ja-JP" sz="1900" b="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two </a:t>
            </a:r>
            <a:r>
              <a:rPr kumimoji="1" lang="en-NZ" altLang="ja-JP" sz="1900" b="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common types </a:t>
            </a:r>
            <a:r>
              <a:rPr kumimoji="1" lang="en-NZ" altLang="ja-JP" sz="1900" b="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of blocking factor</a:t>
            </a:r>
          </a:p>
          <a:p>
            <a:pPr marL="1200093" lvl="1" indent="-514350" algn="just">
              <a:lnSpc>
                <a:spcPct val="100000"/>
              </a:lnSpc>
              <a:spcBef>
                <a:spcPts val="0"/>
              </a:spcBef>
              <a:buFont typeface="+mj-lt"/>
              <a:buAutoNum type="romanUcPeriod"/>
              <a:defRPr/>
            </a:pPr>
            <a:r>
              <a:rPr lang="en-NZ" altLang="ja-JP" sz="1600">
                <a:solidFill>
                  <a:prstClr val="black"/>
                </a:solidFill>
                <a:latin typeface="Calibri" panose="020F0502020204030204"/>
                <a:ea typeface="游ゴシック" panose="020B0400000000000000" pitchFamily="34" charset="-128"/>
              </a:rPr>
              <a:t>Variables associated with gender, age, income, education levels etc</a:t>
            </a:r>
            <a:r>
              <a:rPr lang="en-NZ" altLang="ja-JP" sz="1600" dirty="0">
                <a:solidFill>
                  <a:prstClr val="black"/>
                </a:solidFill>
                <a:latin typeface="Calibri" panose="020F0502020204030204"/>
                <a:ea typeface="游ゴシック" panose="020B0400000000000000" pitchFamily="34" charset="-128"/>
              </a:rPr>
              <a:t>. of participants.</a:t>
            </a:r>
          </a:p>
          <a:p>
            <a:pPr marL="1200093" lvl="1" indent="-514350" algn="just">
              <a:lnSpc>
                <a:spcPct val="100000"/>
              </a:lnSpc>
              <a:spcBef>
                <a:spcPts val="0"/>
              </a:spcBef>
              <a:buFont typeface="+mj-lt"/>
              <a:buAutoNum type="romanUcPeriod"/>
              <a:defRPr/>
            </a:pPr>
            <a:r>
              <a:rPr kumimoji="1" lang="en-NZ" altLang="ja-JP" sz="1600" b="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Variables asso</a:t>
            </a:r>
            <a:r>
              <a:rPr lang="en-NZ" altLang="ja-JP" sz="1600">
                <a:solidFill>
                  <a:prstClr val="black"/>
                </a:solidFill>
                <a:latin typeface="Calibri" panose="020F0502020204030204"/>
                <a:ea typeface="游ゴシック" panose="020B0400000000000000" pitchFamily="34" charset="-128"/>
              </a:rPr>
              <a:t>ciated to the experimental setting, e.</a:t>
            </a:r>
            <a:r>
              <a:rPr lang="en-NZ" altLang="ja-JP" sz="1600" dirty="0" err="1">
                <a:solidFill>
                  <a:prstClr val="black"/>
                </a:solidFill>
                <a:latin typeface="Calibri" panose="020F0502020204030204"/>
                <a:ea typeface="游ゴシック" panose="020B0400000000000000" pitchFamily="34" charset="-128"/>
              </a:rPr>
              <a:t>g</a:t>
            </a:r>
            <a:r>
              <a:rPr lang="en-NZ" altLang="ja-JP" sz="1600">
                <a:solidFill>
                  <a:prstClr val="black"/>
                </a:solidFill>
                <a:latin typeface="Calibri" panose="020F0502020204030204"/>
                <a:ea typeface="游ゴシック" panose="020B0400000000000000" pitchFamily="34" charset="-128"/>
              </a:rPr>
              <a:t>. time </a:t>
            </a:r>
            <a:r>
              <a:rPr lang="en-NZ" altLang="ja-JP" sz="1600" dirty="0">
                <a:solidFill>
                  <a:prstClr val="black"/>
                </a:solidFill>
                <a:latin typeface="Calibri" panose="020F0502020204030204"/>
                <a:ea typeface="游ゴシック" panose="020B0400000000000000" pitchFamily="34" charset="-128"/>
              </a:rPr>
              <a:t>of day, batch, location, DOW</a:t>
            </a:r>
            <a:endParaRPr kumimoji="1" lang="en-NZ" altLang="ja-JP" sz="1600" b="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3554D4AD-8676-417B-8638-5A1629F397F7}"/>
                  </a:ext>
                </a:extLst>
              </p:cNvPr>
              <p:cNvSpPr/>
              <p:nvPr/>
            </p:nvSpPr>
            <p:spPr>
              <a:xfrm>
                <a:off x="7969293" y="2309745"/>
                <a:ext cx="1978926" cy="832514"/>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b="1" dirty="0">
                    <a:solidFill>
                      <a:schemeClr val="bg1"/>
                    </a:solidFill>
                  </a:rPr>
                  <a:t>TSS</a:t>
                </a:r>
              </a:p>
              <a:p>
                <a:pPr algn="ctr"/>
                <a14:m>
                  <m:oMathPara xmlns:m="http://schemas.openxmlformats.org/officeDocument/2006/math">
                    <m:oMathParaPr>
                      <m:jc m:val="centerGroup"/>
                    </m:oMathParaPr>
                    <m:oMath xmlns:m="http://schemas.openxmlformats.org/officeDocument/2006/math">
                      <m:r>
                        <a:rPr lang="en-NZ" sz="1600" b="0" i="1" smtClean="0">
                          <a:solidFill>
                            <a:schemeClr val="bg1"/>
                          </a:solidFill>
                          <a:latin typeface="Cambria Math" panose="02040503050406030204" pitchFamily="18" charset="0"/>
                        </a:rPr>
                        <m:t>𝑑</m:t>
                      </m:r>
                      <m:sSub>
                        <m:sSubPr>
                          <m:ctrlPr>
                            <a:rPr lang="en-NZ" sz="1600" b="0" i="1" smtClean="0">
                              <a:solidFill>
                                <a:schemeClr val="bg1"/>
                              </a:solidFill>
                              <a:latin typeface="Cambria Math" panose="02040503050406030204" pitchFamily="18" charset="0"/>
                            </a:rPr>
                          </m:ctrlPr>
                        </m:sSubPr>
                        <m:e>
                          <m:r>
                            <a:rPr lang="en-NZ" sz="1600" b="0" i="1" smtClean="0">
                              <a:solidFill>
                                <a:schemeClr val="bg1"/>
                              </a:solidFill>
                              <a:latin typeface="Cambria Math" panose="02040503050406030204" pitchFamily="18" charset="0"/>
                            </a:rPr>
                            <m:t>𝑓</m:t>
                          </m:r>
                        </m:e>
                        <m:sub>
                          <m:r>
                            <a:rPr lang="en-NZ" sz="1600" b="0" i="1" smtClean="0">
                              <a:solidFill>
                                <a:schemeClr val="bg1"/>
                              </a:solidFill>
                              <a:latin typeface="Cambria Math" panose="02040503050406030204" pitchFamily="18" charset="0"/>
                            </a:rPr>
                            <m:t>𝑇𝑆𝑆</m:t>
                          </m:r>
                        </m:sub>
                      </m:sSub>
                      <m:r>
                        <a:rPr lang="en-NZ" sz="1600" b="0" i="1" smtClean="0">
                          <a:solidFill>
                            <a:schemeClr val="bg1"/>
                          </a:solidFill>
                          <a:latin typeface="Cambria Math" panose="02040503050406030204" pitchFamily="18" charset="0"/>
                        </a:rPr>
                        <m:t>=</m:t>
                      </m:r>
                      <m:r>
                        <a:rPr lang="en-NZ" sz="1600" b="0" i="1" smtClean="0">
                          <a:solidFill>
                            <a:schemeClr val="bg1"/>
                          </a:solidFill>
                          <a:latin typeface="Cambria Math" panose="02040503050406030204" pitchFamily="18" charset="0"/>
                        </a:rPr>
                        <m:t>𝑁</m:t>
                      </m:r>
                      <m:r>
                        <a:rPr lang="en-NZ" sz="1600" b="0" i="1" smtClean="0">
                          <a:solidFill>
                            <a:schemeClr val="bg1"/>
                          </a:solidFill>
                          <a:latin typeface="Cambria Math" panose="02040503050406030204" pitchFamily="18" charset="0"/>
                        </a:rPr>
                        <m:t>−1</m:t>
                      </m:r>
                    </m:oMath>
                  </m:oMathPara>
                </a14:m>
                <a:endParaRPr lang="en-NZ" sz="1600" dirty="0">
                  <a:solidFill>
                    <a:schemeClr val="bg1"/>
                  </a:solidFill>
                </a:endParaRPr>
              </a:p>
            </p:txBody>
          </p:sp>
        </mc:Choice>
        <mc:Fallback xmlns="">
          <p:sp>
            <p:nvSpPr>
              <p:cNvPr id="2" name="Rectangle: Rounded Corners 1">
                <a:extLst>
                  <a:ext uri="{FF2B5EF4-FFF2-40B4-BE49-F238E27FC236}">
                    <a16:creationId xmlns:a16="http://schemas.microsoft.com/office/drawing/2014/main" id="{3554D4AD-8676-417B-8638-5A1629F397F7}"/>
                  </a:ext>
                </a:extLst>
              </p:cNvPr>
              <p:cNvSpPr>
                <a:spLocks noRot="1" noChangeAspect="1" noMove="1" noResize="1" noEditPoints="1" noAdjustHandles="1" noChangeArrowheads="1" noChangeShapeType="1" noTextEdit="1"/>
              </p:cNvSpPr>
              <p:nvPr/>
            </p:nvSpPr>
            <p:spPr>
              <a:xfrm>
                <a:off x="7969293" y="2309745"/>
                <a:ext cx="1978926" cy="832514"/>
              </a:xfrm>
              <a:prstGeom prst="roundRect">
                <a:avLst/>
              </a:prstGeom>
              <a:blipFill>
                <a:blip r:embed="rId3"/>
                <a:stretch>
                  <a:fillRect/>
                </a:stretch>
              </a:blipFill>
              <a:ln>
                <a:solidFill>
                  <a:schemeClr val="tx1"/>
                </a:solidFill>
              </a:ln>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3" name="Rectangle: Rounded Corners 12">
                <a:extLst>
                  <a:ext uri="{FF2B5EF4-FFF2-40B4-BE49-F238E27FC236}">
                    <a16:creationId xmlns:a16="http://schemas.microsoft.com/office/drawing/2014/main" id="{4781EE9D-CE89-429F-A573-62A55E1F2295}"/>
                  </a:ext>
                </a:extLst>
              </p:cNvPr>
              <p:cNvSpPr/>
              <p:nvPr/>
            </p:nvSpPr>
            <p:spPr>
              <a:xfrm>
                <a:off x="9102057" y="3846539"/>
                <a:ext cx="1978926" cy="832514"/>
              </a:xfrm>
              <a:prstGeom prst="roundRect">
                <a:avLst/>
              </a:prstGeom>
              <a:solidFill>
                <a:schemeClr val="tx1">
                  <a:lumMod val="75000"/>
                  <a:lumOff val="2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b="1">
                    <a:solidFill>
                      <a:schemeClr val="bg1"/>
                    </a:solidFill>
                  </a:rPr>
                  <a:t>SSE</a:t>
                </a:r>
                <a:r>
                  <a:rPr lang="en-NZ" b="1" baseline="-25000">
                    <a:solidFill>
                      <a:schemeClr val="bg1"/>
                    </a:solidFill>
                  </a:rPr>
                  <a:t>0</a:t>
                </a:r>
                <a:endParaRPr lang="en-NZ" b="1" dirty="0">
                  <a:solidFill>
                    <a:schemeClr val="bg1"/>
                  </a:solidFill>
                </a:endParaRPr>
              </a:p>
              <a:p>
                <a:pPr algn="ctr"/>
                <a14:m>
                  <m:oMathPara xmlns:m="http://schemas.openxmlformats.org/officeDocument/2006/math">
                    <m:oMathParaPr>
                      <m:jc m:val="centerGroup"/>
                    </m:oMathParaPr>
                    <m:oMath xmlns:m="http://schemas.openxmlformats.org/officeDocument/2006/math">
                      <m:r>
                        <a:rPr lang="en-NZ" sz="1600" b="0" i="1" smtClean="0">
                          <a:solidFill>
                            <a:schemeClr val="bg1"/>
                          </a:solidFill>
                          <a:latin typeface="Cambria Math" panose="02040503050406030204" pitchFamily="18" charset="0"/>
                        </a:rPr>
                        <m:t>𝑑</m:t>
                      </m:r>
                      <m:sSub>
                        <m:sSubPr>
                          <m:ctrlPr>
                            <a:rPr lang="en-NZ" sz="1600" b="0" i="1" smtClean="0">
                              <a:solidFill>
                                <a:schemeClr val="bg1"/>
                              </a:solidFill>
                              <a:latin typeface="Cambria Math" panose="02040503050406030204" pitchFamily="18" charset="0"/>
                            </a:rPr>
                          </m:ctrlPr>
                        </m:sSubPr>
                        <m:e>
                          <m:r>
                            <a:rPr lang="en-NZ" sz="1600" b="0" i="1" smtClean="0">
                              <a:solidFill>
                                <a:schemeClr val="bg1"/>
                              </a:solidFill>
                              <a:latin typeface="Cambria Math" panose="02040503050406030204" pitchFamily="18" charset="0"/>
                            </a:rPr>
                            <m:t>𝑓</m:t>
                          </m:r>
                        </m:e>
                        <m:sub>
                          <m:r>
                            <a:rPr lang="en-NZ" sz="1600" b="0" i="1" smtClean="0">
                              <a:solidFill>
                                <a:schemeClr val="bg1"/>
                              </a:solidFill>
                              <a:latin typeface="Cambria Math" panose="02040503050406030204" pitchFamily="18" charset="0"/>
                            </a:rPr>
                            <m:t>𝑆𝑆</m:t>
                          </m:r>
                          <m:sSub>
                            <m:sSubPr>
                              <m:ctrlPr>
                                <a:rPr lang="en-NZ" sz="1600" b="0" i="1" smtClean="0">
                                  <a:solidFill>
                                    <a:schemeClr val="bg1"/>
                                  </a:solidFill>
                                  <a:latin typeface="Cambria Math" panose="02040503050406030204" pitchFamily="18" charset="0"/>
                                </a:rPr>
                              </m:ctrlPr>
                            </m:sSubPr>
                            <m:e>
                              <m:r>
                                <a:rPr lang="en-NZ" sz="1600" b="0" i="1" smtClean="0">
                                  <a:solidFill>
                                    <a:schemeClr val="bg1"/>
                                  </a:solidFill>
                                  <a:latin typeface="Cambria Math" panose="02040503050406030204" pitchFamily="18" charset="0"/>
                                </a:rPr>
                                <m:t>𝐸</m:t>
                              </m:r>
                            </m:e>
                            <m:sub>
                              <m:r>
                                <a:rPr lang="en-NZ" sz="1600" b="0" i="1" smtClean="0">
                                  <a:solidFill>
                                    <a:schemeClr val="bg1"/>
                                  </a:solidFill>
                                  <a:latin typeface="Cambria Math" panose="02040503050406030204" pitchFamily="18" charset="0"/>
                                </a:rPr>
                                <m:t>0</m:t>
                              </m:r>
                            </m:sub>
                          </m:sSub>
                        </m:sub>
                      </m:sSub>
                      <m:r>
                        <a:rPr lang="en-NZ" sz="1600" b="0" i="1" smtClean="0">
                          <a:solidFill>
                            <a:schemeClr val="bg1"/>
                          </a:solidFill>
                          <a:latin typeface="Cambria Math" panose="02040503050406030204" pitchFamily="18" charset="0"/>
                        </a:rPr>
                        <m:t>=</m:t>
                      </m:r>
                      <m:r>
                        <a:rPr lang="en-NZ" sz="1600" b="0" i="1" smtClean="0">
                          <a:solidFill>
                            <a:schemeClr val="bg1"/>
                          </a:solidFill>
                          <a:latin typeface="Cambria Math" panose="02040503050406030204" pitchFamily="18" charset="0"/>
                        </a:rPr>
                        <m:t>𝑁</m:t>
                      </m:r>
                      <m:r>
                        <a:rPr lang="en-NZ" sz="1600" b="0" i="1" smtClean="0">
                          <a:solidFill>
                            <a:schemeClr val="bg1"/>
                          </a:solidFill>
                          <a:latin typeface="Cambria Math" panose="02040503050406030204" pitchFamily="18" charset="0"/>
                        </a:rPr>
                        <m:t>−</m:t>
                      </m:r>
                      <m:r>
                        <a:rPr lang="en-NZ" sz="1600" b="0" i="1" smtClean="0">
                          <a:solidFill>
                            <a:schemeClr val="bg1"/>
                          </a:solidFill>
                          <a:latin typeface="Cambria Math" panose="02040503050406030204" pitchFamily="18" charset="0"/>
                        </a:rPr>
                        <m:t>𝑎</m:t>
                      </m:r>
                    </m:oMath>
                  </m:oMathPara>
                </a14:m>
                <a:endParaRPr lang="en-NZ" sz="1600" dirty="0">
                  <a:solidFill>
                    <a:schemeClr val="bg1"/>
                  </a:solidFill>
                </a:endParaRPr>
              </a:p>
            </p:txBody>
          </p:sp>
        </mc:Choice>
        <mc:Fallback xmlns="">
          <p:sp>
            <p:nvSpPr>
              <p:cNvPr id="13" name="Rectangle: Rounded Corners 12">
                <a:extLst>
                  <a:ext uri="{FF2B5EF4-FFF2-40B4-BE49-F238E27FC236}">
                    <a16:creationId xmlns:a16="http://schemas.microsoft.com/office/drawing/2014/main" id="{4781EE9D-CE89-429F-A573-62A55E1F2295}"/>
                  </a:ext>
                </a:extLst>
              </p:cNvPr>
              <p:cNvSpPr>
                <a:spLocks noRot="1" noChangeAspect="1" noMove="1" noResize="1" noEditPoints="1" noAdjustHandles="1" noChangeArrowheads="1" noChangeShapeType="1" noTextEdit="1"/>
              </p:cNvSpPr>
              <p:nvPr/>
            </p:nvSpPr>
            <p:spPr>
              <a:xfrm>
                <a:off x="9102057" y="3846539"/>
                <a:ext cx="1978926" cy="832514"/>
              </a:xfrm>
              <a:prstGeom prst="roundRect">
                <a:avLst/>
              </a:prstGeom>
              <a:blipFill>
                <a:blip r:embed="rId4"/>
                <a:stretch>
                  <a:fillRect/>
                </a:stretch>
              </a:blipFill>
              <a:ln>
                <a:solidFill>
                  <a:schemeClr val="tx1"/>
                </a:solidFill>
              </a:ln>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4" name="Rectangle: Rounded Corners 13">
                <a:extLst>
                  <a:ext uri="{FF2B5EF4-FFF2-40B4-BE49-F238E27FC236}">
                    <a16:creationId xmlns:a16="http://schemas.microsoft.com/office/drawing/2014/main" id="{CE9D0B96-1256-40AE-AFAA-9C6C4A04C99C}"/>
                  </a:ext>
                </a:extLst>
              </p:cNvPr>
              <p:cNvSpPr/>
              <p:nvPr/>
            </p:nvSpPr>
            <p:spPr>
              <a:xfrm>
                <a:off x="5889286" y="5355744"/>
                <a:ext cx="1978926" cy="832514"/>
              </a:xfrm>
              <a:prstGeom prst="round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b="1" dirty="0">
                    <a:solidFill>
                      <a:schemeClr val="tx1"/>
                    </a:solidFill>
                  </a:rPr>
                  <a:t>SST</a:t>
                </a:r>
              </a:p>
              <a:p>
                <a:pPr algn="ctr"/>
                <a14:m>
                  <m:oMathPara xmlns:m="http://schemas.openxmlformats.org/officeDocument/2006/math">
                    <m:oMathParaPr>
                      <m:jc m:val="centerGroup"/>
                    </m:oMathParaPr>
                    <m:oMath xmlns:m="http://schemas.openxmlformats.org/officeDocument/2006/math">
                      <m:r>
                        <a:rPr lang="en-NZ" sz="1600" b="0" i="1" smtClean="0">
                          <a:solidFill>
                            <a:schemeClr val="tx1"/>
                          </a:solidFill>
                          <a:latin typeface="Cambria Math" panose="02040503050406030204" pitchFamily="18" charset="0"/>
                        </a:rPr>
                        <m:t>𝑑</m:t>
                      </m:r>
                      <m:sSub>
                        <m:sSubPr>
                          <m:ctrlPr>
                            <a:rPr lang="en-NZ" sz="1600" b="0" i="1" smtClean="0">
                              <a:solidFill>
                                <a:schemeClr val="tx1"/>
                              </a:solidFill>
                              <a:latin typeface="Cambria Math" panose="02040503050406030204" pitchFamily="18" charset="0"/>
                            </a:rPr>
                          </m:ctrlPr>
                        </m:sSubPr>
                        <m:e>
                          <m:r>
                            <a:rPr lang="en-NZ" sz="1600" b="0" i="1" smtClean="0">
                              <a:solidFill>
                                <a:schemeClr val="tx1"/>
                              </a:solidFill>
                              <a:latin typeface="Cambria Math" panose="02040503050406030204" pitchFamily="18" charset="0"/>
                            </a:rPr>
                            <m:t>𝑓</m:t>
                          </m:r>
                        </m:e>
                        <m:sub>
                          <m:r>
                            <a:rPr lang="en-NZ" sz="1600" b="0" i="1" smtClean="0">
                              <a:solidFill>
                                <a:schemeClr val="tx1"/>
                              </a:solidFill>
                              <a:latin typeface="Cambria Math" panose="02040503050406030204" pitchFamily="18" charset="0"/>
                            </a:rPr>
                            <m:t>𝑆𝑆𝑇</m:t>
                          </m:r>
                        </m:sub>
                      </m:sSub>
                      <m:r>
                        <a:rPr lang="en-NZ" sz="1600" b="0" i="1" smtClean="0">
                          <a:solidFill>
                            <a:schemeClr val="tx1"/>
                          </a:solidFill>
                          <a:latin typeface="Cambria Math" panose="02040503050406030204" pitchFamily="18" charset="0"/>
                        </a:rPr>
                        <m:t>=</m:t>
                      </m:r>
                      <m:r>
                        <a:rPr lang="en-NZ" sz="1600" b="0" i="1" smtClean="0">
                          <a:solidFill>
                            <a:schemeClr val="tx1"/>
                          </a:solidFill>
                          <a:latin typeface="Cambria Math" panose="02040503050406030204" pitchFamily="18" charset="0"/>
                        </a:rPr>
                        <m:t>𝑎</m:t>
                      </m:r>
                      <m:r>
                        <a:rPr lang="en-NZ" sz="1600" b="0" i="1" smtClean="0">
                          <a:solidFill>
                            <a:schemeClr val="tx1"/>
                          </a:solidFill>
                          <a:latin typeface="Cambria Math" panose="02040503050406030204" pitchFamily="18" charset="0"/>
                        </a:rPr>
                        <m:t>−1</m:t>
                      </m:r>
                    </m:oMath>
                  </m:oMathPara>
                </a14:m>
                <a:endParaRPr lang="en-NZ" sz="1600" dirty="0">
                  <a:solidFill>
                    <a:schemeClr val="tx1"/>
                  </a:solidFill>
                </a:endParaRPr>
              </a:p>
            </p:txBody>
          </p:sp>
        </mc:Choice>
        <mc:Fallback xmlns="">
          <p:sp>
            <p:nvSpPr>
              <p:cNvPr id="14" name="Rectangle: Rounded Corners 13">
                <a:extLst>
                  <a:ext uri="{FF2B5EF4-FFF2-40B4-BE49-F238E27FC236}">
                    <a16:creationId xmlns:a16="http://schemas.microsoft.com/office/drawing/2014/main" id="{CE9D0B96-1256-40AE-AFAA-9C6C4A04C99C}"/>
                  </a:ext>
                </a:extLst>
              </p:cNvPr>
              <p:cNvSpPr>
                <a:spLocks noRot="1" noChangeAspect="1" noMove="1" noResize="1" noEditPoints="1" noAdjustHandles="1" noChangeArrowheads="1" noChangeShapeType="1" noTextEdit="1"/>
              </p:cNvSpPr>
              <p:nvPr/>
            </p:nvSpPr>
            <p:spPr>
              <a:xfrm>
                <a:off x="5889286" y="5355744"/>
                <a:ext cx="1978926" cy="832514"/>
              </a:xfrm>
              <a:prstGeom prst="roundRect">
                <a:avLst/>
              </a:prstGeom>
              <a:blipFill>
                <a:blip r:embed="rId5"/>
                <a:stretch>
                  <a:fillRect/>
                </a:stretch>
              </a:blipFill>
              <a:ln>
                <a:solidFill>
                  <a:schemeClr val="tx1"/>
                </a:solidFill>
              </a:ln>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5" name="Rectangle: Rounded Corners 14">
                <a:extLst>
                  <a:ext uri="{FF2B5EF4-FFF2-40B4-BE49-F238E27FC236}">
                    <a16:creationId xmlns:a16="http://schemas.microsoft.com/office/drawing/2014/main" id="{87F021F0-1390-4D65-89BA-38409F31288C}"/>
                  </a:ext>
                </a:extLst>
              </p:cNvPr>
              <p:cNvSpPr/>
              <p:nvPr/>
            </p:nvSpPr>
            <p:spPr>
              <a:xfrm>
                <a:off x="7969293" y="5355744"/>
                <a:ext cx="1978926" cy="832514"/>
              </a:xfrm>
              <a:prstGeom prst="roundRect">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b="1" dirty="0">
                    <a:solidFill>
                      <a:schemeClr val="bg1"/>
                    </a:solidFill>
                  </a:rPr>
                  <a:t>SSB</a:t>
                </a:r>
              </a:p>
              <a:p>
                <a:pPr algn="ctr"/>
                <a14:m>
                  <m:oMathPara xmlns:m="http://schemas.openxmlformats.org/officeDocument/2006/math">
                    <m:oMathParaPr>
                      <m:jc m:val="centerGroup"/>
                    </m:oMathParaPr>
                    <m:oMath xmlns:m="http://schemas.openxmlformats.org/officeDocument/2006/math">
                      <m:r>
                        <a:rPr lang="en-NZ" sz="1600" b="0" i="1" smtClean="0">
                          <a:solidFill>
                            <a:schemeClr val="bg1"/>
                          </a:solidFill>
                          <a:latin typeface="Cambria Math" panose="02040503050406030204" pitchFamily="18" charset="0"/>
                        </a:rPr>
                        <m:t>𝑑</m:t>
                      </m:r>
                      <m:sSub>
                        <m:sSubPr>
                          <m:ctrlPr>
                            <a:rPr lang="en-NZ" sz="1600" b="0" i="1" smtClean="0">
                              <a:solidFill>
                                <a:schemeClr val="bg1"/>
                              </a:solidFill>
                              <a:latin typeface="Cambria Math" panose="02040503050406030204" pitchFamily="18" charset="0"/>
                            </a:rPr>
                          </m:ctrlPr>
                        </m:sSubPr>
                        <m:e>
                          <m:r>
                            <a:rPr lang="en-NZ" sz="1600" b="0" i="1" smtClean="0">
                              <a:solidFill>
                                <a:schemeClr val="bg1"/>
                              </a:solidFill>
                              <a:latin typeface="Cambria Math" panose="02040503050406030204" pitchFamily="18" charset="0"/>
                            </a:rPr>
                            <m:t>𝑓</m:t>
                          </m:r>
                        </m:e>
                        <m:sub>
                          <m:r>
                            <a:rPr lang="en-NZ" sz="1600" b="0" i="1" smtClean="0">
                              <a:solidFill>
                                <a:schemeClr val="bg1"/>
                              </a:solidFill>
                              <a:latin typeface="Cambria Math" panose="02040503050406030204" pitchFamily="18" charset="0"/>
                            </a:rPr>
                            <m:t>𝑆𝑆𝐵</m:t>
                          </m:r>
                        </m:sub>
                      </m:sSub>
                      <m:r>
                        <a:rPr lang="en-NZ" sz="1600" b="0" i="1" smtClean="0">
                          <a:solidFill>
                            <a:schemeClr val="bg1"/>
                          </a:solidFill>
                          <a:latin typeface="Cambria Math" panose="02040503050406030204" pitchFamily="18" charset="0"/>
                        </a:rPr>
                        <m:t>=</m:t>
                      </m:r>
                      <m:r>
                        <a:rPr lang="en-NZ" sz="1600" b="0" i="1" smtClean="0">
                          <a:solidFill>
                            <a:schemeClr val="bg1"/>
                          </a:solidFill>
                          <a:latin typeface="Cambria Math" panose="02040503050406030204" pitchFamily="18" charset="0"/>
                        </a:rPr>
                        <m:t>𝑏</m:t>
                      </m:r>
                      <m:r>
                        <a:rPr lang="en-NZ" sz="1600" b="0" i="1" smtClean="0">
                          <a:solidFill>
                            <a:schemeClr val="bg1"/>
                          </a:solidFill>
                          <a:latin typeface="Cambria Math" panose="02040503050406030204" pitchFamily="18" charset="0"/>
                        </a:rPr>
                        <m:t>−1</m:t>
                      </m:r>
                    </m:oMath>
                  </m:oMathPara>
                </a14:m>
                <a:endParaRPr lang="en-NZ" sz="1600" dirty="0">
                  <a:solidFill>
                    <a:schemeClr val="bg1"/>
                  </a:solidFill>
                </a:endParaRPr>
              </a:p>
            </p:txBody>
          </p:sp>
        </mc:Choice>
        <mc:Fallback xmlns="">
          <p:sp>
            <p:nvSpPr>
              <p:cNvPr id="15" name="Rectangle: Rounded Corners 14">
                <a:extLst>
                  <a:ext uri="{FF2B5EF4-FFF2-40B4-BE49-F238E27FC236}">
                    <a16:creationId xmlns:a16="http://schemas.microsoft.com/office/drawing/2014/main" id="{87F021F0-1390-4D65-89BA-38409F31288C}"/>
                  </a:ext>
                </a:extLst>
              </p:cNvPr>
              <p:cNvSpPr>
                <a:spLocks noRot="1" noChangeAspect="1" noMove="1" noResize="1" noEditPoints="1" noAdjustHandles="1" noChangeArrowheads="1" noChangeShapeType="1" noTextEdit="1"/>
              </p:cNvSpPr>
              <p:nvPr/>
            </p:nvSpPr>
            <p:spPr>
              <a:xfrm>
                <a:off x="7969293" y="5355744"/>
                <a:ext cx="1978926" cy="832514"/>
              </a:xfrm>
              <a:prstGeom prst="roundRect">
                <a:avLst/>
              </a:prstGeom>
              <a:blipFill>
                <a:blip r:embed="rId6"/>
                <a:stretch>
                  <a:fillRect/>
                </a:stretch>
              </a:blipFill>
              <a:ln>
                <a:solidFill>
                  <a:schemeClr val="tx1"/>
                </a:solidFill>
              </a:ln>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6" name="Rectangle: Rounded Corners 15">
                <a:extLst>
                  <a:ext uri="{FF2B5EF4-FFF2-40B4-BE49-F238E27FC236}">
                    <a16:creationId xmlns:a16="http://schemas.microsoft.com/office/drawing/2014/main" id="{0D89883D-84E0-4AD0-8916-96D115A05469}"/>
                  </a:ext>
                </a:extLst>
              </p:cNvPr>
              <p:cNvSpPr/>
              <p:nvPr/>
            </p:nvSpPr>
            <p:spPr>
              <a:xfrm>
                <a:off x="10049301" y="5355744"/>
                <a:ext cx="1978926" cy="832514"/>
              </a:xfrm>
              <a:prstGeom prst="roundRect">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b="1">
                    <a:solidFill>
                      <a:schemeClr val="bg1"/>
                    </a:solidFill>
                  </a:rPr>
                  <a:t>SSE</a:t>
                </a:r>
                <a:endParaRPr lang="en-NZ" b="1" dirty="0">
                  <a:solidFill>
                    <a:schemeClr val="bg1"/>
                  </a:solidFill>
                </a:endParaRPr>
              </a:p>
              <a:p>
                <a:pPr algn="ctr"/>
                <a14:m>
                  <m:oMathPara xmlns:m="http://schemas.openxmlformats.org/officeDocument/2006/math">
                    <m:oMathParaPr>
                      <m:jc m:val="centerGroup"/>
                    </m:oMathParaPr>
                    <m:oMath xmlns:m="http://schemas.openxmlformats.org/officeDocument/2006/math">
                      <m:r>
                        <a:rPr lang="en-NZ" sz="1200" b="0" i="1" smtClean="0">
                          <a:solidFill>
                            <a:schemeClr val="bg1"/>
                          </a:solidFill>
                          <a:latin typeface="Cambria Math" panose="02040503050406030204" pitchFamily="18" charset="0"/>
                        </a:rPr>
                        <m:t>𝑑</m:t>
                      </m:r>
                      <m:sSub>
                        <m:sSubPr>
                          <m:ctrlPr>
                            <a:rPr lang="en-NZ" sz="1200" b="0" i="1" smtClean="0">
                              <a:solidFill>
                                <a:schemeClr val="bg1"/>
                              </a:solidFill>
                              <a:latin typeface="Cambria Math" panose="02040503050406030204" pitchFamily="18" charset="0"/>
                            </a:rPr>
                          </m:ctrlPr>
                        </m:sSubPr>
                        <m:e>
                          <m:r>
                            <a:rPr lang="en-NZ" sz="1200" b="0" i="1" smtClean="0">
                              <a:solidFill>
                                <a:schemeClr val="bg1"/>
                              </a:solidFill>
                              <a:latin typeface="Cambria Math" panose="02040503050406030204" pitchFamily="18" charset="0"/>
                            </a:rPr>
                            <m:t>𝑓</m:t>
                          </m:r>
                        </m:e>
                        <m:sub>
                          <m:r>
                            <a:rPr lang="en-NZ" sz="1200" b="0" i="1" smtClean="0">
                              <a:solidFill>
                                <a:schemeClr val="bg1"/>
                              </a:solidFill>
                              <a:latin typeface="Cambria Math" panose="02040503050406030204" pitchFamily="18" charset="0"/>
                            </a:rPr>
                            <m:t>𝑆𝑆𝐸</m:t>
                          </m:r>
                        </m:sub>
                      </m:sSub>
                      <m:r>
                        <a:rPr lang="en-NZ" sz="1200" b="0" i="1" smtClean="0">
                          <a:solidFill>
                            <a:schemeClr val="bg1"/>
                          </a:solidFill>
                          <a:latin typeface="Cambria Math" panose="02040503050406030204" pitchFamily="18" charset="0"/>
                        </a:rPr>
                        <m:t>=</m:t>
                      </m:r>
                      <m:r>
                        <a:rPr lang="en-NZ" sz="1200" b="0" i="1" smtClean="0">
                          <a:solidFill>
                            <a:schemeClr val="bg1"/>
                          </a:solidFill>
                          <a:latin typeface="Cambria Math" panose="02040503050406030204" pitchFamily="18" charset="0"/>
                        </a:rPr>
                        <m:t>𝑁</m:t>
                      </m:r>
                      <m:r>
                        <a:rPr lang="en-NZ" sz="1200" b="0" i="1" smtClean="0">
                          <a:solidFill>
                            <a:schemeClr val="bg1"/>
                          </a:solidFill>
                          <a:latin typeface="Cambria Math" panose="02040503050406030204" pitchFamily="18" charset="0"/>
                        </a:rPr>
                        <m:t>−</m:t>
                      </m:r>
                      <m:r>
                        <a:rPr lang="en-NZ" sz="1200" b="0" i="1" smtClean="0">
                          <a:solidFill>
                            <a:schemeClr val="bg1"/>
                          </a:solidFill>
                          <a:latin typeface="Cambria Math" panose="02040503050406030204" pitchFamily="18" charset="0"/>
                        </a:rPr>
                        <m:t>𝑎</m:t>
                      </m:r>
                      <m:r>
                        <a:rPr lang="en-NZ" sz="1200" b="0" i="1" smtClean="0">
                          <a:solidFill>
                            <a:schemeClr val="bg1"/>
                          </a:solidFill>
                          <a:latin typeface="Cambria Math" panose="02040503050406030204" pitchFamily="18" charset="0"/>
                        </a:rPr>
                        <m:t>−</m:t>
                      </m:r>
                      <m:r>
                        <a:rPr lang="en-NZ" sz="1200" b="0" i="1" smtClean="0">
                          <a:solidFill>
                            <a:schemeClr val="bg1"/>
                          </a:solidFill>
                          <a:latin typeface="Cambria Math" panose="02040503050406030204" pitchFamily="18" charset="0"/>
                        </a:rPr>
                        <m:t>𝑏</m:t>
                      </m:r>
                      <m:r>
                        <a:rPr lang="en-NZ" sz="1200" b="0" i="1" smtClean="0">
                          <a:solidFill>
                            <a:schemeClr val="bg1"/>
                          </a:solidFill>
                          <a:latin typeface="Cambria Math" panose="02040503050406030204" pitchFamily="18" charset="0"/>
                        </a:rPr>
                        <m:t>+1</m:t>
                      </m:r>
                    </m:oMath>
                  </m:oMathPara>
                </a14:m>
                <a:endParaRPr lang="en-NZ" sz="1200" dirty="0">
                  <a:solidFill>
                    <a:schemeClr val="bg1"/>
                  </a:solidFill>
                </a:endParaRPr>
              </a:p>
            </p:txBody>
          </p:sp>
        </mc:Choice>
        <mc:Fallback xmlns="">
          <p:sp>
            <p:nvSpPr>
              <p:cNvPr id="16" name="Rectangle: Rounded Corners 15">
                <a:extLst>
                  <a:ext uri="{FF2B5EF4-FFF2-40B4-BE49-F238E27FC236}">
                    <a16:creationId xmlns:a16="http://schemas.microsoft.com/office/drawing/2014/main" id="{0D89883D-84E0-4AD0-8916-96D115A05469}"/>
                  </a:ext>
                </a:extLst>
              </p:cNvPr>
              <p:cNvSpPr>
                <a:spLocks noRot="1" noChangeAspect="1" noMove="1" noResize="1" noEditPoints="1" noAdjustHandles="1" noChangeArrowheads="1" noChangeShapeType="1" noTextEdit="1"/>
              </p:cNvSpPr>
              <p:nvPr/>
            </p:nvSpPr>
            <p:spPr>
              <a:xfrm>
                <a:off x="10049301" y="5355744"/>
                <a:ext cx="1978926" cy="832514"/>
              </a:xfrm>
              <a:prstGeom prst="roundRect">
                <a:avLst/>
              </a:prstGeom>
              <a:blipFill>
                <a:blip r:embed="rId7"/>
                <a:stretch>
                  <a:fillRect/>
                </a:stretch>
              </a:blipFill>
              <a:ln>
                <a:solidFill>
                  <a:schemeClr val="tx1"/>
                </a:solidFill>
              </a:ln>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7" name="Rectangle: Rounded Corners 16">
                <a:extLst>
                  <a:ext uri="{FF2B5EF4-FFF2-40B4-BE49-F238E27FC236}">
                    <a16:creationId xmlns:a16="http://schemas.microsoft.com/office/drawing/2014/main" id="{378866AF-8D70-48E5-A39D-AD1DAB64D55E}"/>
                  </a:ext>
                </a:extLst>
              </p:cNvPr>
              <p:cNvSpPr/>
              <p:nvPr/>
            </p:nvSpPr>
            <p:spPr>
              <a:xfrm>
                <a:off x="5889286" y="3832745"/>
                <a:ext cx="1978926" cy="832514"/>
              </a:xfrm>
              <a:prstGeom prst="round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b="1" dirty="0">
                    <a:solidFill>
                      <a:schemeClr val="tx1"/>
                    </a:solidFill>
                  </a:rPr>
                  <a:t>SST</a:t>
                </a:r>
              </a:p>
              <a:p>
                <a:pPr algn="ctr"/>
                <a14:m>
                  <m:oMathPara xmlns:m="http://schemas.openxmlformats.org/officeDocument/2006/math">
                    <m:oMathParaPr>
                      <m:jc m:val="centerGroup"/>
                    </m:oMathParaPr>
                    <m:oMath xmlns:m="http://schemas.openxmlformats.org/officeDocument/2006/math">
                      <m:r>
                        <a:rPr lang="en-NZ" sz="1600" b="0" i="1" smtClean="0">
                          <a:solidFill>
                            <a:schemeClr val="tx1"/>
                          </a:solidFill>
                          <a:latin typeface="Cambria Math" panose="02040503050406030204" pitchFamily="18" charset="0"/>
                        </a:rPr>
                        <m:t>𝑑</m:t>
                      </m:r>
                      <m:sSub>
                        <m:sSubPr>
                          <m:ctrlPr>
                            <a:rPr lang="en-NZ" sz="1600" b="0" i="1" smtClean="0">
                              <a:solidFill>
                                <a:schemeClr val="tx1"/>
                              </a:solidFill>
                              <a:latin typeface="Cambria Math" panose="02040503050406030204" pitchFamily="18" charset="0"/>
                            </a:rPr>
                          </m:ctrlPr>
                        </m:sSubPr>
                        <m:e>
                          <m:r>
                            <a:rPr lang="en-NZ" sz="1600" b="0" i="1" smtClean="0">
                              <a:solidFill>
                                <a:schemeClr val="tx1"/>
                              </a:solidFill>
                              <a:latin typeface="Cambria Math" panose="02040503050406030204" pitchFamily="18" charset="0"/>
                            </a:rPr>
                            <m:t>𝑓</m:t>
                          </m:r>
                        </m:e>
                        <m:sub>
                          <m:r>
                            <a:rPr lang="en-NZ" sz="1600" b="0" i="1" smtClean="0">
                              <a:solidFill>
                                <a:schemeClr val="tx1"/>
                              </a:solidFill>
                              <a:latin typeface="Cambria Math" panose="02040503050406030204" pitchFamily="18" charset="0"/>
                            </a:rPr>
                            <m:t>𝑆𝑆𝑇</m:t>
                          </m:r>
                        </m:sub>
                      </m:sSub>
                      <m:r>
                        <a:rPr lang="en-NZ" sz="1600" b="0" i="1" smtClean="0">
                          <a:solidFill>
                            <a:schemeClr val="tx1"/>
                          </a:solidFill>
                          <a:latin typeface="Cambria Math" panose="02040503050406030204" pitchFamily="18" charset="0"/>
                        </a:rPr>
                        <m:t>=</m:t>
                      </m:r>
                      <m:r>
                        <a:rPr lang="en-NZ" sz="1600" b="0" i="1" smtClean="0">
                          <a:solidFill>
                            <a:schemeClr val="tx1"/>
                          </a:solidFill>
                          <a:latin typeface="Cambria Math" panose="02040503050406030204" pitchFamily="18" charset="0"/>
                        </a:rPr>
                        <m:t>𝑎</m:t>
                      </m:r>
                      <m:r>
                        <a:rPr lang="en-NZ" sz="1600" b="0" i="1" smtClean="0">
                          <a:solidFill>
                            <a:schemeClr val="tx1"/>
                          </a:solidFill>
                          <a:latin typeface="Cambria Math" panose="02040503050406030204" pitchFamily="18" charset="0"/>
                        </a:rPr>
                        <m:t>−1</m:t>
                      </m:r>
                    </m:oMath>
                  </m:oMathPara>
                </a14:m>
                <a:endParaRPr lang="en-NZ" sz="1600" dirty="0">
                  <a:solidFill>
                    <a:schemeClr val="tx1"/>
                  </a:solidFill>
                </a:endParaRPr>
              </a:p>
            </p:txBody>
          </p:sp>
        </mc:Choice>
        <mc:Fallback xmlns="">
          <p:sp>
            <p:nvSpPr>
              <p:cNvPr id="17" name="Rectangle: Rounded Corners 16">
                <a:extLst>
                  <a:ext uri="{FF2B5EF4-FFF2-40B4-BE49-F238E27FC236}">
                    <a16:creationId xmlns:a16="http://schemas.microsoft.com/office/drawing/2014/main" id="{378866AF-8D70-48E5-A39D-AD1DAB64D55E}"/>
                  </a:ext>
                </a:extLst>
              </p:cNvPr>
              <p:cNvSpPr>
                <a:spLocks noRot="1" noChangeAspect="1" noMove="1" noResize="1" noEditPoints="1" noAdjustHandles="1" noChangeArrowheads="1" noChangeShapeType="1" noTextEdit="1"/>
              </p:cNvSpPr>
              <p:nvPr/>
            </p:nvSpPr>
            <p:spPr>
              <a:xfrm>
                <a:off x="5889286" y="3832745"/>
                <a:ext cx="1978926" cy="832514"/>
              </a:xfrm>
              <a:prstGeom prst="roundRect">
                <a:avLst/>
              </a:prstGeom>
              <a:blipFill>
                <a:blip r:embed="rId8"/>
                <a:stretch>
                  <a:fillRect/>
                </a:stretch>
              </a:blipFill>
              <a:ln>
                <a:solidFill>
                  <a:schemeClr val="tx1"/>
                </a:solidFill>
              </a:ln>
            </p:spPr>
            <p:txBody>
              <a:bodyPr/>
              <a:lstStyle/>
              <a:p>
                <a:r>
                  <a:rPr lang="en-NZ">
                    <a:noFill/>
                  </a:rPr>
                  <a:t> </a:t>
                </a:r>
              </a:p>
            </p:txBody>
          </p:sp>
        </mc:Fallback>
      </mc:AlternateContent>
      <p:cxnSp>
        <p:nvCxnSpPr>
          <p:cNvPr id="18" name="Straight Connector 17">
            <a:extLst>
              <a:ext uri="{FF2B5EF4-FFF2-40B4-BE49-F238E27FC236}">
                <a16:creationId xmlns:a16="http://schemas.microsoft.com/office/drawing/2014/main" id="{FCCB8094-D056-41BC-8159-EA7EDA8E720E}"/>
              </a:ext>
            </a:extLst>
          </p:cNvPr>
          <p:cNvCxnSpPr>
            <a:cxnSpLocks/>
            <a:stCxn id="2" idx="2"/>
          </p:cNvCxnSpPr>
          <p:nvPr/>
        </p:nvCxnSpPr>
        <p:spPr>
          <a:xfrm>
            <a:off x="8958756" y="3142259"/>
            <a:ext cx="0" cy="361803"/>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022A352-E86B-471B-9F7C-8AE09304CFF2}"/>
              </a:ext>
            </a:extLst>
          </p:cNvPr>
          <p:cNvCxnSpPr>
            <a:cxnSpLocks/>
          </p:cNvCxnSpPr>
          <p:nvPr/>
        </p:nvCxnSpPr>
        <p:spPr>
          <a:xfrm flipH="1">
            <a:off x="6860899" y="3504062"/>
            <a:ext cx="3230621"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ECDE946-D46D-4DDD-AFEA-C67E689B09D3}"/>
              </a:ext>
            </a:extLst>
          </p:cNvPr>
          <p:cNvCxnSpPr>
            <a:cxnSpLocks/>
          </p:cNvCxnSpPr>
          <p:nvPr/>
        </p:nvCxnSpPr>
        <p:spPr>
          <a:xfrm>
            <a:off x="6860899" y="3504061"/>
            <a:ext cx="0" cy="361803"/>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0EBBE45F-21F3-428B-94FB-21E790C08D28}"/>
              </a:ext>
            </a:extLst>
          </p:cNvPr>
          <p:cNvCxnSpPr>
            <a:cxnSpLocks/>
          </p:cNvCxnSpPr>
          <p:nvPr/>
        </p:nvCxnSpPr>
        <p:spPr>
          <a:xfrm>
            <a:off x="10078871" y="3504061"/>
            <a:ext cx="0" cy="361803"/>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6C81AED-2E49-4417-B9E3-DC1B00006EC9}"/>
              </a:ext>
            </a:extLst>
          </p:cNvPr>
          <p:cNvCxnSpPr>
            <a:cxnSpLocks/>
          </p:cNvCxnSpPr>
          <p:nvPr/>
        </p:nvCxnSpPr>
        <p:spPr>
          <a:xfrm>
            <a:off x="10093517" y="4679053"/>
            <a:ext cx="0" cy="361803"/>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40CC19C-9037-47AC-B851-6185C2086003}"/>
              </a:ext>
            </a:extLst>
          </p:cNvPr>
          <p:cNvCxnSpPr>
            <a:cxnSpLocks/>
            <a:stCxn id="17" idx="2"/>
          </p:cNvCxnSpPr>
          <p:nvPr/>
        </p:nvCxnSpPr>
        <p:spPr>
          <a:xfrm>
            <a:off x="6878749" y="4665259"/>
            <a:ext cx="0" cy="682456"/>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7FE38C7-D6AA-4E49-8B5E-A2F752F11A72}"/>
              </a:ext>
            </a:extLst>
          </p:cNvPr>
          <p:cNvCxnSpPr>
            <a:cxnSpLocks/>
          </p:cNvCxnSpPr>
          <p:nvPr/>
        </p:nvCxnSpPr>
        <p:spPr>
          <a:xfrm flipH="1">
            <a:off x="8958756" y="5040856"/>
            <a:ext cx="2080008"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742D8DE-39E7-4991-86F6-481C25D852D3}"/>
              </a:ext>
            </a:extLst>
          </p:cNvPr>
          <p:cNvCxnSpPr>
            <a:cxnSpLocks/>
            <a:endCxn id="15" idx="0"/>
          </p:cNvCxnSpPr>
          <p:nvPr/>
        </p:nvCxnSpPr>
        <p:spPr>
          <a:xfrm>
            <a:off x="8958478" y="5040855"/>
            <a:ext cx="278" cy="314889"/>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DF9BD6E-905E-4A6B-994B-D564EFB7D3E9}"/>
              </a:ext>
            </a:extLst>
          </p:cNvPr>
          <p:cNvCxnSpPr>
            <a:cxnSpLocks/>
            <a:endCxn id="16" idx="0"/>
          </p:cNvCxnSpPr>
          <p:nvPr/>
        </p:nvCxnSpPr>
        <p:spPr>
          <a:xfrm>
            <a:off x="11038764" y="5040855"/>
            <a:ext cx="0" cy="314889"/>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9" name="Title 6">
            <a:extLst>
              <a:ext uri="{FF2B5EF4-FFF2-40B4-BE49-F238E27FC236}">
                <a16:creationId xmlns:a16="http://schemas.microsoft.com/office/drawing/2014/main" id="{2C670526-2ADE-4189-9963-B8EC05B12B06}"/>
              </a:ext>
            </a:extLst>
          </p:cNvPr>
          <p:cNvSpPr txBox="1">
            <a:spLocks/>
          </p:cNvSpPr>
          <p:nvPr/>
        </p:nvSpPr>
        <p:spPr>
          <a:xfrm>
            <a:off x="5858443" y="1768738"/>
            <a:ext cx="6200069" cy="374256"/>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ctr" defTabSz="914324" rtl="0" eaLnBrk="1" fontAlgn="auto" latinLnBrk="0" hangingPunct="1">
              <a:lnSpc>
                <a:spcPct val="90000"/>
              </a:lnSpc>
              <a:spcBef>
                <a:spcPct val="0"/>
              </a:spcBef>
              <a:spcAft>
                <a:spcPts val="0"/>
              </a:spcAft>
              <a:buClrTx/>
              <a:buSzTx/>
              <a:buFontTx/>
              <a:buNone/>
              <a:tabLst/>
              <a:defRPr/>
            </a:pPr>
            <a:r>
              <a:rPr kumimoji="1" lang="en-US" altLang="ja-JP" sz="18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Sums of Squares Decomposition</a:t>
            </a:r>
            <a:endParaRPr kumimoji="1" lang="ja-JP" altLang="en-US" sz="18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mc:AlternateContent xmlns:mc="http://schemas.openxmlformats.org/markup-compatibility/2006" xmlns:a14="http://schemas.microsoft.com/office/drawing/2010/main">
        <mc:Choice Requires="a14">
          <p:sp>
            <p:nvSpPr>
              <p:cNvPr id="40" name="Title 6">
                <a:extLst>
                  <a:ext uri="{FF2B5EF4-FFF2-40B4-BE49-F238E27FC236}">
                    <a16:creationId xmlns:a16="http://schemas.microsoft.com/office/drawing/2014/main" id="{E9C74288-F8C5-444B-8EB7-62CA094DEF60}"/>
                  </a:ext>
                </a:extLst>
              </p:cNvPr>
              <p:cNvSpPr txBox="1">
                <a:spLocks/>
              </p:cNvSpPr>
              <p:nvPr/>
            </p:nvSpPr>
            <p:spPr>
              <a:xfrm>
                <a:off x="5889286" y="6382598"/>
                <a:ext cx="6138941" cy="374256"/>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ctr" defTabSz="914324" rtl="0" eaLnBrk="1" fontAlgn="auto" latinLnBrk="0" hangingPunct="1">
                  <a:lnSpc>
                    <a:spcPct val="90000"/>
                  </a:lnSpc>
                  <a:spcBef>
                    <a:spcPct val="0"/>
                  </a:spcBef>
                  <a:spcAft>
                    <a:spcPts val="0"/>
                  </a:spcAft>
                  <a:buClrTx/>
                  <a:buSzTx/>
                  <a:buFontTx/>
                  <a:buNone/>
                  <a:tabLst/>
                  <a:defRPr/>
                </a:pPr>
                <a:r>
                  <a:rPr kumimoji="1" lang="en-NZ" altLang="ja-JP" sz="1200" strike="noStrike" kern="1200" cap="none" spc="0" normalizeH="0" baseline="0" noProof="0">
                    <a:ln>
                      <a:noFill/>
                    </a:ln>
                    <a:solidFill>
                      <a:prstClr val="black"/>
                    </a:solidFill>
                    <a:effectLst/>
                    <a:uLnTx/>
                    <a:uFillTx/>
                    <a:ea typeface="游ゴシック Light" panose="020B0300000000000000" pitchFamily="34" charset="-128"/>
                    <a:cs typeface="+mj-cs"/>
                  </a:rPr>
                  <a:t>Note </a:t>
                </a:r>
                <a:r>
                  <a:rPr kumimoji="1" lang="en-NZ" altLang="ja-JP" sz="1200" strike="noStrike" kern="1200" cap="none" spc="0" normalizeH="0" baseline="0" noProof="0" dirty="0">
                    <a:ln>
                      <a:noFill/>
                    </a:ln>
                    <a:solidFill>
                      <a:prstClr val="black"/>
                    </a:solidFill>
                    <a:effectLst/>
                    <a:uLnTx/>
                    <a:uFillTx/>
                    <a:ea typeface="游ゴシック Light" panose="020B0300000000000000" pitchFamily="34" charset="-128"/>
                    <a:cs typeface="+mj-cs"/>
                  </a:rPr>
                  <a:t>that</a:t>
                </a:r>
                <a:r>
                  <a:rPr kumimoji="1" lang="en-NZ" altLang="ja-JP" sz="1200" b="1" strike="noStrike" kern="1200" cap="none" spc="0" normalizeH="0" baseline="0" noProof="0" dirty="0">
                    <a:ln>
                      <a:noFill/>
                    </a:ln>
                    <a:solidFill>
                      <a:prstClr val="black"/>
                    </a:solidFill>
                    <a:effectLst/>
                    <a:uLnTx/>
                    <a:uFillTx/>
                    <a:ea typeface="游ゴシック Light" panose="020B0300000000000000" pitchFamily="34" charset="-128"/>
                    <a:cs typeface="+mj-cs"/>
                  </a:rPr>
                  <a:t> </a:t>
                </a:r>
                <a14:m>
                  <m:oMath xmlns:m="http://schemas.openxmlformats.org/officeDocument/2006/math">
                    <m:r>
                      <a:rPr kumimoji="1" lang="en-NZ" altLang="ja-JP" sz="1200" b="1" i="1"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t>𝑵</m:t>
                    </m:r>
                    <m:r>
                      <a:rPr kumimoji="1" lang="en-NZ" altLang="ja-JP" sz="1200" b="1" i="1"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t>−</m:t>
                    </m:r>
                    <m:r>
                      <a:rPr kumimoji="1" lang="en-NZ" altLang="ja-JP" sz="1200" b="1" i="1"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t>𝟏</m:t>
                    </m:r>
                    <m:r>
                      <a:rPr kumimoji="1" lang="en-NZ" altLang="ja-JP" sz="1200" b="1" i="1"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t> −</m:t>
                    </m:r>
                    <m:d>
                      <m:dPr>
                        <m:ctrlPr>
                          <a:rPr kumimoji="1" lang="en-NZ" altLang="ja-JP" sz="1200" b="1" i="1"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ctrlPr>
                      </m:dPr>
                      <m:e>
                        <m:r>
                          <a:rPr kumimoji="1" lang="en-NZ" altLang="ja-JP" sz="1200" b="1" i="1"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t>𝒂</m:t>
                        </m:r>
                        <m:r>
                          <a:rPr kumimoji="1" lang="en-NZ" altLang="ja-JP" sz="1200" b="1" i="1"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t>−</m:t>
                        </m:r>
                        <m:r>
                          <a:rPr kumimoji="1" lang="en-NZ" altLang="ja-JP" sz="1200" b="1" i="1"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t>𝟏</m:t>
                        </m:r>
                      </m:e>
                    </m:d>
                    <m:r>
                      <a:rPr kumimoji="1" lang="en-NZ" altLang="ja-JP" sz="1200" b="1" i="1"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t>−</m:t>
                    </m:r>
                    <m:d>
                      <m:dPr>
                        <m:ctrlPr>
                          <a:rPr kumimoji="1" lang="en-NZ" altLang="ja-JP" sz="1200" b="1" i="1"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ctrlPr>
                      </m:dPr>
                      <m:e>
                        <m:r>
                          <a:rPr kumimoji="1" lang="en-NZ" altLang="ja-JP" sz="1200" b="1" i="1"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t>𝒃</m:t>
                        </m:r>
                        <m:r>
                          <a:rPr kumimoji="1" lang="en-NZ" altLang="ja-JP" sz="1200" b="1" i="1"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t>−</m:t>
                        </m:r>
                        <m:r>
                          <a:rPr kumimoji="1" lang="en-NZ" altLang="ja-JP" sz="1200" b="1" i="1"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t>𝟏</m:t>
                        </m:r>
                      </m:e>
                    </m:d>
                    <m:r>
                      <a:rPr kumimoji="1" lang="en-NZ" altLang="ja-JP" sz="1200" b="1" i="1"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t>=</m:t>
                    </m:r>
                    <m:r>
                      <a:rPr kumimoji="1" lang="en-NZ" altLang="ja-JP" sz="1200" b="1" i="1"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t>𝑵</m:t>
                    </m:r>
                    <m:r>
                      <a:rPr kumimoji="1" lang="en-NZ" altLang="ja-JP" sz="1200" b="1" i="1"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t> −</m:t>
                    </m:r>
                    <m:r>
                      <a:rPr kumimoji="1" lang="en-NZ" altLang="ja-JP" sz="1200" b="1" i="1"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t>𝒂</m:t>
                    </m:r>
                    <m:r>
                      <a:rPr kumimoji="1" lang="en-NZ" altLang="ja-JP" sz="1200" b="1" i="1"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t> −</m:t>
                    </m:r>
                    <m:r>
                      <a:rPr kumimoji="1" lang="en-NZ" altLang="ja-JP" sz="1200" b="1" i="1"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t>𝒃</m:t>
                    </m:r>
                    <m:r>
                      <a:rPr kumimoji="1" lang="en-NZ" altLang="ja-JP" sz="1200" b="1" i="1"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t>+</m:t>
                    </m:r>
                    <m:r>
                      <a:rPr kumimoji="1" lang="en-NZ" altLang="ja-JP" sz="1200" b="1" i="1"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t>𝟏</m:t>
                    </m:r>
                  </m:oMath>
                </a14:m>
                <a:endParaRPr kumimoji="1" lang="ja-JP" altLang="en-US" sz="1200" b="1" i="1"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mc:Choice>
        <mc:Fallback xmlns="">
          <p:sp>
            <p:nvSpPr>
              <p:cNvPr id="40" name="Title 6">
                <a:extLst>
                  <a:ext uri="{FF2B5EF4-FFF2-40B4-BE49-F238E27FC236}">
                    <a16:creationId xmlns:a16="http://schemas.microsoft.com/office/drawing/2014/main" id="{E9C74288-F8C5-444B-8EB7-62CA094DEF60}"/>
                  </a:ext>
                </a:extLst>
              </p:cNvPr>
              <p:cNvSpPr txBox="1">
                <a:spLocks noRot="1" noChangeAspect="1" noMove="1" noResize="1" noEditPoints="1" noAdjustHandles="1" noChangeArrowheads="1" noChangeShapeType="1" noTextEdit="1"/>
              </p:cNvSpPr>
              <p:nvPr/>
            </p:nvSpPr>
            <p:spPr>
              <a:xfrm>
                <a:off x="5889286" y="6382598"/>
                <a:ext cx="6138941" cy="374256"/>
              </a:xfrm>
              <a:prstGeom prst="rect">
                <a:avLst/>
              </a:prstGeom>
              <a:blipFill>
                <a:blip r:embed="rId9"/>
                <a:stretch>
                  <a:fillRect t="-4918"/>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0" name="Text Placeholder 5">
                <a:extLst>
                  <a:ext uri="{FF2B5EF4-FFF2-40B4-BE49-F238E27FC236}">
                    <a16:creationId xmlns:a16="http://schemas.microsoft.com/office/drawing/2014/main" id="{9B9C5A2F-2CFF-69C2-1F95-E37B675D887E}"/>
                  </a:ext>
                </a:extLst>
              </p:cNvPr>
              <p:cNvSpPr txBox="1">
                <a:spLocks/>
              </p:cNvSpPr>
              <p:nvPr/>
            </p:nvSpPr>
            <p:spPr>
              <a:xfrm>
                <a:off x="6120233" y="2347571"/>
                <a:ext cx="1338057" cy="83251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Para xmlns:m="http://schemas.openxmlformats.org/officeDocument/2006/math">
                    <m:oMathParaPr>
                      <m:jc m:val="center"/>
                    </m:oMathParaPr>
                    <m:oMath xmlns:m="http://schemas.openxmlformats.org/officeDocument/2006/math">
                      <m:r>
                        <a:rPr lang="en-NZ" altLang="ja-JP" sz="1700" b="1" i="1" smtClean="0">
                          <a:solidFill>
                            <a:srgbClr val="C00000"/>
                          </a:solidFill>
                          <a:latin typeface="Cambria Math" panose="02040503050406030204" pitchFamily="18" charset="0"/>
                        </a:rPr>
                        <m:t>𝑭</m:t>
                      </m:r>
                      <m:r>
                        <a:rPr lang="en-NZ" altLang="ja-JP" sz="1700" b="1" i="1" smtClean="0">
                          <a:solidFill>
                            <a:srgbClr val="C00000"/>
                          </a:solidFill>
                          <a:latin typeface="Cambria Math" panose="02040503050406030204" pitchFamily="18" charset="0"/>
                        </a:rPr>
                        <m:t> =  </m:t>
                      </m:r>
                      <m:f>
                        <m:fPr>
                          <m:ctrlPr>
                            <a:rPr lang="en-NZ" altLang="ja-JP" sz="1700" b="1" i="1" smtClean="0">
                              <a:solidFill>
                                <a:srgbClr val="C00000"/>
                              </a:solidFill>
                              <a:latin typeface="Cambria Math" panose="02040503050406030204" pitchFamily="18" charset="0"/>
                            </a:rPr>
                          </m:ctrlPr>
                        </m:fPr>
                        <m:num>
                          <m:r>
                            <a:rPr lang="en-NZ" altLang="ja-JP" sz="1700" b="1" i="1" smtClean="0">
                              <a:solidFill>
                                <a:srgbClr val="C00000"/>
                              </a:solidFill>
                              <a:latin typeface="Cambria Math" panose="02040503050406030204" pitchFamily="18" charset="0"/>
                            </a:rPr>
                            <m:t>𝑴𝑺𝑻</m:t>
                          </m:r>
                        </m:num>
                        <m:den>
                          <m:r>
                            <a:rPr lang="en-NZ" altLang="ja-JP" sz="1700" b="1" i="1" smtClean="0">
                              <a:solidFill>
                                <a:srgbClr val="C00000"/>
                              </a:solidFill>
                              <a:latin typeface="Cambria Math" panose="02040503050406030204" pitchFamily="18" charset="0"/>
                            </a:rPr>
                            <m:t>𝑴𝑺𝑬</m:t>
                          </m:r>
                        </m:den>
                      </m:f>
                    </m:oMath>
                  </m:oMathPara>
                </a14:m>
                <a:endParaRPr lang="en-NZ" altLang="ja-JP" sz="1700" b="1" dirty="0">
                  <a:solidFill>
                    <a:srgbClr val="C00000"/>
                  </a:solidFill>
                </a:endParaRPr>
              </a:p>
            </p:txBody>
          </p:sp>
        </mc:Choice>
        <mc:Fallback xmlns="">
          <p:sp>
            <p:nvSpPr>
              <p:cNvPr id="30" name="Text Placeholder 5">
                <a:extLst>
                  <a:ext uri="{FF2B5EF4-FFF2-40B4-BE49-F238E27FC236}">
                    <a16:creationId xmlns:a16="http://schemas.microsoft.com/office/drawing/2014/main" id="{9B9C5A2F-2CFF-69C2-1F95-E37B675D887E}"/>
                  </a:ext>
                </a:extLst>
              </p:cNvPr>
              <p:cNvSpPr txBox="1">
                <a:spLocks noRot="1" noChangeAspect="1" noMove="1" noResize="1" noEditPoints="1" noAdjustHandles="1" noChangeArrowheads="1" noChangeShapeType="1" noTextEdit="1"/>
              </p:cNvSpPr>
              <p:nvPr/>
            </p:nvSpPr>
            <p:spPr>
              <a:xfrm>
                <a:off x="6120233" y="2347571"/>
                <a:ext cx="1338057" cy="832514"/>
              </a:xfrm>
              <a:prstGeom prst="rect">
                <a:avLst/>
              </a:prstGeom>
              <a:blipFill>
                <a:blip r:embed="rId10"/>
                <a:stretch>
                  <a:fillRect/>
                </a:stretch>
              </a:blipFill>
            </p:spPr>
            <p:txBody>
              <a:bodyPr/>
              <a:lstStyle/>
              <a:p>
                <a:r>
                  <a:rPr lang="en-NZ">
                    <a:noFill/>
                  </a:rPr>
                  <a:t> </a:t>
                </a:r>
              </a:p>
            </p:txBody>
          </p:sp>
        </mc:Fallback>
      </mc:AlternateContent>
    </p:spTree>
    <p:extLst>
      <p:ext uri="{BB962C8B-B14F-4D97-AF65-F5344CB8AC3E}">
        <p14:creationId xmlns:p14="http://schemas.microsoft.com/office/powerpoint/2010/main" val="2310439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8" name="Title 6">
            <a:extLst>
              <a:ext uri="{FF2B5EF4-FFF2-40B4-BE49-F238E27FC236}">
                <a16:creationId xmlns:a16="http://schemas.microsoft.com/office/drawing/2014/main" id="{9BC30087-098E-422C-AC84-6E3384AEEA9D}"/>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4.2a – Blocking</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9" name="Text Placeholder 5">
            <a:extLst>
              <a:ext uri="{FF2B5EF4-FFF2-40B4-BE49-F238E27FC236}">
                <a16:creationId xmlns:a16="http://schemas.microsoft.com/office/drawing/2014/main" id="{6A19F20A-749C-448B-8284-DA484C0479D8}"/>
              </a:ext>
            </a:extLst>
          </p:cNvPr>
          <p:cNvSpPr txBox="1">
            <a:spLocks/>
          </p:cNvSpPr>
          <p:nvPr/>
        </p:nvSpPr>
        <p:spPr>
          <a:xfrm>
            <a:off x="207498" y="912392"/>
            <a:ext cx="11777003"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Instead of randomly allocating treatments over all experimental units (as in a CRD), more power is obtained by first grouping the units into blocks of relatively homogenous groups and then allocating the treatment randomly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within</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each block.</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1" name="Text Placeholder 5">
            <a:extLst>
              <a:ext uri="{FF2B5EF4-FFF2-40B4-BE49-F238E27FC236}">
                <a16:creationId xmlns:a16="http://schemas.microsoft.com/office/drawing/2014/main" id="{543C0405-3094-4901-B1A4-A7BE63507CC8}"/>
              </a:ext>
            </a:extLst>
          </p:cNvPr>
          <p:cNvSpPr txBox="1">
            <a:spLocks/>
          </p:cNvSpPr>
          <p:nvPr/>
        </p:nvSpPr>
        <p:spPr>
          <a:xfrm>
            <a:off x="207498" y="1734394"/>
            <a:ext cx="11777003" cy="90528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Although there are many sorts of block designs, the most common is to have one and only one instance of each treatment within each block (</a:t>
            </a:r>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non-replicated design</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lang="en-NZ" altLang="ja-JP" sz="1800" dirty="0">
                <a:solidFill>
                  <a:prstClr val="black"/>
                </a:solidFill>
                <a:latin typeface="Calibri" panose="020F0502020204030204"/>
                <a:ea typeface="游ゴシック" panose="020B0400000000000000" pitchFamily="34" charset="-128"/>
              </a:rPr>
              <a:t>F</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or example, a study containing 3 treatments would have blocks of 3 experimental units with each unit being assigned one of the 3 treatments at random.</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2" name="Text Placeholder 5">
            <a:extLst>
              <a:ext uri="{FF2B5EF4-FFF2-40B4-BE49-F238E27FC236}">
                <a16:creationId xmlns:a16="http://schemas.microsoft.com/office/drawing/2014/main" id="{201A442B-B4B2-4B61-81BA-E5ADA4650079}"/>
              </a:ext>
            </a:extLst>
          </p:cNvPr>
          <p:cNvSpPr txBox="1">
            <a:spLocks/>
          </p:cNvSpPr>
          <p:nvPr/>
        </p:nvSpPr>
        <p:spPr>
          <a:xfrm>
            <a:off x="207498" y="2757343"/>
            <a:ext cx="11777003" cy="124497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prstClr val="black"/>
                </a:solidFill>
                <a:latin typeface="Calibri" panose="020F0502020204030204"/>
                <a:ea typeface="游ゴシック" panose="020B0400000000000000" pitchFamily="34" charset="-128"/>
              </a:rPr>
              <a:t>Example: </a:t>
            </a:r>
            <a:r>
              <a:rPr lang="en-NZ" altLang="ja-JP" sz="1800" dirty="0">
                <a:solidFill>
                  <a:prstClr val="black"/>
                </a:solidFill>
                <a:latin typeface="Calibri" panose="020F0502020204030204"/>
                <a:ea typeface="游ゴシック" panose="020B0400000000000000" pitchFamily="34" charset="-128"/>
              </a:rPr>
              <a:t>A study is to be conducted to determine if three prescription drugs (</a:t>
            </a:r>
            <a:r>
              <a:rPr lang="en-NZ" altLang="ja-JP" sz="1800" b="1" dirty="0">
                <a:solidFill>
                  <a:prstClr val="black"/>
                </a:solidFill>
                <a:latin typeface="Calibri" panose="020F0502020204030204"/>
                <a:ea typeface="游ゴシック" panose="020B0400000000000000" pitchFamily="34" charset="-128"/>
              </a:rPr>
              <a:t>A</a:t>
            </a:r>
            <a:r>
              <a:rPr lang="en-NZ" altLang="ja-JP" sz="1800" dirty="0">
                <a:solidFill>
                  <a:prstClr val="black"/>
                </a:solidFill>
                <a:latin typeface="Calibri" panose="020F0502020204030204"/>
                <a:ea typeface="游ゴシック" panose="020B0400000000000000" pitchFamily="34" charset="-128"/>
              </a:rPr>
              <a:t>, </a:t>
            </a:r>
            <a:r>
              <a:rPr lang="en-NZ" altLang="ja-JP" sz="1800" b="1" dirty="0">
                <a:solidFill>
                  <a:prstClr val="black"/>
                </a:solidFill>
                <a:latin typeface="Calibri" panose="020F0502020204030204"/>
                <a:ea typeface="游ゴシック" panose="020B0400000000000000" pitchFamily="34" charset="-128"/>
              </a:rPr>
              <a:t>B</a:t>
            </a:r>
            <a:r>
              <a:rPr lang="en-NZ" altLang="ja-JP" sz="1800" dirty="0">
                <a:solidFill>
                  <a:prstClr val="black"/>
                </a:solidFill>
                <a:latin typeface="Calibri" panose="020F0502020204030204"/>
                <a:ea typeface="游ゴシック" panose="020B0400000000000000" pitchFamily="34" charset="-128"/>
              </a:rPr>
              <a:t> &amp; </a:t>
            </a:r>
            <a:r>
              <a:rPr lang="en-NZ" altLang="ja-JP" sz="1800" b="1" dirty="0">
                <a:solidFill>
                  <a:prstClr val="black"/>
                </a:solidFill>
                <a:latin typeface="Calibri" panose="020F0502020204030204"/>
                <a:ea typeface="游ゴシック" panose="020B0400000000000000" pitchFamily="34" charset="-128"/>
              </a:rPr>
              <a:t>C</a:t>
            </a:r>
            <a:r>
              <a:rPr lang="en-NZ" altLang="ja-JP" sz="1800" dirty="0">
                <a:solidFill>
                  <a:prstClr val="black"/>
                </a:solidFill>
                <a:latin typeface="Calibri" panose="020F0502020204030204"/>
                <a:ea typeface="游ゴシック" panose="020B0400000000000000" pitchFamily="34" charset="-128"/>
              </a:rPr>
              <a:t>) have any effect on the blood-sugar levels of diabetic patients. It is known that blood-sugar levels are affected by a patients diet (i.e. diet is a nuisance variable). A total of </a:t>
            </a:r>
            <a:r>
              <a:rPr lang="en-NZ" altLang="ja-JP" sz="1800" dirty="0">
                <a:solidFill>
                  <a:srgbClr val="FF0000"/>
                </a:solidFill>
                <a:latin typeface="Calibri" panose="020F0502020204030204"/>
                <a:ea typeface="游ゴシック" panose="020B0400000000000000" pitchFamily="34" charset="-128"/>
              </a:rPr>
              <a:t>12</a:t>
            </a:r>
            <a:r>
              <a:rPr lang="en-NZ" altLang="ja-JP" sz="1800" dirty="0">
                <a:solidFill>
                  <a:prstClr val="black"/>
                </a:solidFill>
                <a:latin typeface="Calibri" panose="020F0502020204030204"/>
                <a:ea typeface="游ゴシック" panose="020B0400000000000000" pitchFamily="34" charset="-128"/>
              </a:rPr>
              <a:t> study participants are recruited and are ranked on the basis of the quality of their diets and put into one of four blocks (</a:t>
            </a:r>
            <a:r>
              <a:rPr lang="en-NZ" altLang="ja-JP" sz="1800" b="1" dirty="0">
                <a:solidFill>
                  <a:prstClr val="black"/>
                </a:solidFill>
                <a:latin typeface="Calibri" panose="020F0502020204030204"/>
                <a:ea typeface="游ゴシック" panose="020B0400000000000000" pitchFamily="34" charset="-128"/>
              </a:rPr>
              <a:t>poor diet</a:t>
            </a:r>
            <a:r>
              <a:rPr lang="en-NZ" altLang="ja-JP" sz="1800" dirty="0">
                <a:solidFill>
                  <a:prstClr val="black"/>
                </a:solidFill>
                <a:latin typeface="Calibri" panose="020F0502020204030204"/>
                <a:ea typeface="游ゴシック" panose="020B0400000000000000" pitchFamily="34" charset="-128"/>
              </a:rPr>
              <a:t>, </a:t>
            </a:r>
            <a:r>
              <a:rPr lang="en-NZ" altLang="ja-JP" sz="1800" b="1" dirty="0">
                <a:solidFill>
                  <a:prstClr val="black"/>
                </a:solidFill>
                <a:latin typeface="Calibri" panose="020F0502020204030204"/>
                <a:ea typeface="游ゴシック" panose="020B0400000000000000" pitchFamily="34" charset="-128"/>
              </a:rPr>
              <a:t>below </a:t>
            </a:r>
            <a:r>
              <a:rPr lang="en-NZ" altLang="ja-JP" sz="1800" b="1" dirty="0" err="1">
                <a:solidFill>
                  <a:prstClr val="black"/>
                </a:solidFill>
                <a:latin typeface="Calibri" panose="020F0502020204030204"/>
                <a:ea typeface="游ゴシック" panose="020B0400000000000000" pitchFamily="34" charset="-128"/>
              </a:rPr>
              <a:t>avg</a:t>
            </a:r>
            <a:r>
              <a:rPr lang="en-NZ" altLang="ja-JP" sz="1800" b="1" dirty="0">
                <a:solidFill>
                  <a:prstClr val="black"/>
                </a:solidFill>
                <a:latin typeface="Calibri" panose="020F0502020204030204"/>
                <a:ea typeface="游ゴシック" panose="020B0400000000000000" pitchFamily="34" charset="-128"/>
              </a:rPr>
              <a:t> diet</a:t>
            </a:r>
            <a:r>
              <a:rPr lang="en-NZ" altLang="ja-JP" sz="1800" dirty="0">
                <a:solidFill>
                  <a:prstClr val="black"/>
                </a:solidFill>
                <a:latin typeface="Calibri" panose="020F0502020204030204"/>
                <a:ea typeface="游ゴシック" panose="020B0400000000000000" pitchFamily="34" charset="-128"/>
              </a:rPr>
              <a:t>, </a:t>
            </a:r>
            <a:r>
              <a:rPr lang="en-NZ" altLang="ja-JP" sz="1800" b="1" dirty="0">
                <a:solidFill>
                  <a:prstClr val="black"/>
                </a:solidFill>
                <a:latin typeface="Calibri" panose="020F0502020204030204"/>
                <a:ea typeface="游ゴシック" panose="020B0400000000000000" pitchFamily="34" charset="-128"/>
              </a:rPr>
              <a:t>above </a:t>
            </a:r>
            <a:r>
              <a:rPr lang="en-NZ" altLang="ja-JP" sz="1800" b="1" dirty="0" err="1">
                <a:solidFill>
                  <a:prstClr val="black"/>
                </a:solidFill>
                <a:latin typeface="Calibri" panose="020F0502020204030204"/>
                <a:ea typeface="游ゴシック" panose="020B0400000000000000" pitchFamily="34" charset="-128"/>
              </a:rPr>
              <a:t>avg</a:t>
            </a:r>
            <a:r>
              <a:rPr lang="en-NZ" altLang="ja-JP" sz="1800" b="1" dirty="0">
                <a:solidFill>
                  <a:prstClr val="black"/>
                </a:solidFill>
                <a:latin typeface="Calibri" panose="020F0502020204030204"/>
                <a:ea typeface="游ゴシック" panose="020B0400000000000000" pitchFamily="34" charset="-128"/>
              </a:rPr>
              <a:t> diet</a:t>
            </a:r>
            <a:r>
              <a:rPr lang="en-NZ" altLang="ja-JP" sz="1800" dirty="0">
                <a:solidFill>
                  <a:prstClr val="black"/>
                </a:solidFill>
                <a:latin typeface="Calibri" panose="020F0502020204030204"/>
                <a:ea typeface="游ゴシック" panose="020B0400000000000000" pitchFamily="34" charset="-128"/>
              </a:rPr>
              <a:t>, </a:t>
            </a:r>
            <a:r>
              <a:rPr lang="en-NZ" altLang="ja-JP" sz="1800" b="1" dirty="0">
                <a:solidFill>
                  <a:prstClr val="black"/>
                </a:solidFill>
                <a:latin typeface="Calibri" panose="020F0502020204030204"/>
                <a:ea typeface="游ゴシック" panose="020B0400000000000000" pitchFamily="34" charset="-128"/>
              </a:rPr>
              <a:t>excellent diet</a:t>
            </a:r>
            <a:r>
              <a:rPr lang="en-NZ" altLang="ja-JP" sz="1800" dirty="0">
                <a:solidFill>
                  <a:prstClr val="black"/>
                </a:solidFill>
                <a:latin typeface="Calibri" panose="020F0502020204030204"/>
                <a:ea typeface="游ゴシック" panose="020B0400000000000000" pitchFamily="34" charset="-128"/>
              </a:rPr>
              <a:t>).</a:t>
            </a: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2" name="Rectangle 1">
            <a:extLst>
              <a:ext uri="{FF2B5EF4-FFF2-40B4-BE49-F238E27FC236}">
                <a16:creationId xmlns:a16="http://schemas.microsoft.com/office/drawing/2014/main" id="{B240CD46-846A-4AAB-ADEC-F0D3681A275B}"/>
              </a:ext>
            </a:extLst>
          </p:cNvPr>
          <p:cNvSpPr/>
          <p:nvPr/>
        </p:nvSpPr>
        <p:spPr>
          <a:xfrm>
            <a:off x="3165261" y="4554996"/>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13" name="Rectangle 12">
            <a:extLst>
              <a:ext uri="{FF2B5EF4-FFF2-40B4-BE49-F238E27FC236}">
                <a16:creationId xmlns:a16="http://schemas.microsoft.com/office/drawing/2014/main" id="{ED317EBE-42CE-47BD-A4CC-0DB6333DBE0B}"/>
              </a:ext>
            </a:extLst>
          </p:cNvPr>
          <p:cNvSpPr/>
          <p:nvPr/>
        </p:nvSpPr>
        <p:spPr>
          <a:xfrm>
            <a:off x="3617911" y="4554996"/>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14" name="Rectangle 13">
            <a:extLst>
              <a:ext uri="{FF2B5EF4-FFF2-40B4-BE49-F238E27FC236}">
                <a16:creationId xmlns:a16="http://schemas.microsoft.com/office/drawing/2014/main" id="{D7916F06-6F0A-44D9-B551-3DB244B5A2FF}"/>
              </a:ext>
            </a:extLst>
          </p:cNvPr>
          <p:cNvSpPr/>
          <p:nvPr/>
        </p:nvSpPr>
        <p:spPr>
          <a:xfrm>
            <a:off x="4070561" y="4554996"/>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18" name="Rectangle 17">
            <a:extLst>
              <a:ext uri="{FF2B5EF4-FFF2-40B4-BE49-F238E27FC236}">
                <a16:creationId xmlns:a16="http://schemas.microsoft.com/office/drawing/2014/main" id="{ED66511A-20A9-468A-B15D-FF1FB84B31CE}"/>
              </a:ext>
            </a:extLst>
          </p:cNvPr>
          <p:cNvSpPr/>
          <p:nvPr/>
        </p:nvSpPr>
        <p:spPr>
          <a:xfrm>
            <a:off x="5282938" y="4554996"/>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19" name="Rectangle 18">
            <a:extLst>
              <a:ext uri="{FF2B5EF4-FFF2-40B4-BE49-F238E27FC236}">
                <a16:creationId xmlns:a16="http://schemas.microsoft.com/office/drawing/2014/main" id="{02128C86-1AA3-4BF1-AFB6-1A35077E4E59}"/>
              </a:ext>
            </a:extLst>
          </p:cNvPr>
          <p:cNvSpPr/>
          <p:nvPr/>
        </p:nvSpPr>
        <p:spPr>
          <a:xfrm>
            <a:off x="5735588" y="4554996"/>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20" name="Rectangle 19">
            <a:extLst>
              <a:ext uri="{FF2B5EF4-FFF2-40B4-BE49-F238E27FC236}">
                <a16:creationId xmlns:a16="http://schemas.microsoft.com/office/drawing/2014/main" id="{D88F790D-A41C-493E-8021-65BB2F165C13}"/>
              </a:ext>
            </a:extLst>
          </p:cNvPr>
          <p:cNvSpPr/>
          <p:nvPr/>
        </p:nvSpPr>
        <p:spPr>
          <a:xfrm>
            <a:off x="6188238" y="4554996"/>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21" name="Rectangle 20">
            <a:extLst>
              <a:ext uri="{FF2B5EF4-FFF2-40B4-BE49-F238E27FC236}">
                <a16:creationId xmlns:a16="http://schemas.microsoft.com/office/drawing/2014/main" id="{9E4133E1-DF36-4A09-B1AC-91F60992E9CD}"/>
              </a:ext>
            </a:extLst>
          </p:cNvPr>
          <p:cNvSpPr/>
          <p:nvPr/>
        </p:nvSpPr>
        <p:spPr>
          <a:xfrm>
            <a:off x="7384694" y="4554996"/>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22" name="Rectangle 21">
            <a:extLst>
              <a:ext uri="{FF2B5EF4-FFF2-40B4-BE49-F238E27FC236}">
                <a16:creationId xmlns:a16="http://schemas.microsoft.com/office/drawing/2014/main" id="{77EAAE05-B712-4DBB-A996-CB3D7B6A94BF}"/>
              </a:ext>
            </a:extLst>
          </p:cNvPr>
          <p:cNvSpPr/>
          <p:nvPr/>
        </p:nvSpPr>
        <p:spPr>
          <a:xfrm>
            <a:off x="7837344" y="4554996"/>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23" name="Rectangle 22">
            <a:extLst>
              <a:ext uri="{FF2B5EF4-FFF2-40B4-BE49-F238E27FC236}">
                <a16:creationId xmlns:a16="http://schemas.microsoft.com/office/drawing/2014/main" id="{321E6647-5498-4D24-A871-C62AE45DBCEF}"/>
              </a:ext>
            </a:extLst>
          </p:cNvPr>
          <p:cNvSpPr/>
          <p:nvPr/>
        </p:nvSpPr>
        <p:spPr>
          <a:xfrm>
            <a:off x="8289994" y="4554996"/>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30" name="Rectangle 29">
            <a:extLst>
              <a:ext uri="{FF2B5EF4-FFF2-40B4-BE49-F238E27FC236}">
                <a16:creationId xmlns:a16="http://schemas.microsoft.com/office/drawing/2014/main" id="{45EAE732-8CCC-4E3D-B60C-2FBD69B1CC3D}"/>
              </a:ext>
            </a:extLst>
          </p:cNvPr>
          <p:cNvSpPr/>
          <p:nvPr/>
        </p:nvSpPr>
        <p:spPr>
          <a:xfrm>
            <a:off x="9495552" y="4554996"/>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31" name="Rectangle 30">
            <a:extLst>
              <a:ext uri="{FF2B5EF4-FFF2-40B4-BE49-F238E27FC236}">
                <a16:creationId xmlns:a16="http://schemas.microsoft.com/office/drawing/2014/main" id="{31CD5426-4277-424E-ABC9-75127006C2C7}"/>
              </a:ext>
            </a:extLst>
          </p:cNvPr>
          <p:cNvSpPr/>
          <p:nvPr/>
        </p:nvSpPr>
        <p:spPr>
          <a:xfrm>
            <a:off x="9948202" y="4554996"/>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32" name="Rectangle 31">
            <a:extLst>
              <a:ext uri="{FF2B5EF4-FFF2-40B4-BE49-F238E27FC236}">
                <a16:creationId xmlns:a16="http://schemas.microsoft.com/office/drawing/2014/main" id="{C3F19C08-B33A-4B00-A0D2-1FF08E91139B}"/>
              </a:ext>
            </a:extLst>
          </p:cNvPr>
          <p:cNvSpPr/>
          <p:nvPr/>
        </p:nvSpPr>
        <p:spPr>
          <a:xfrm>
            <a:off x="10400852" y="4554996"/>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48" name="Rectangle 47">
            <a:extLst>
              <a:ext uri="{FF2B5EF4-FFF2-40B4-BE49-F238E27FC236}">
                <a16:creationId xmlns:a16="http://schemas.microsoft.com/office/drawing/2014/main" id="{378CD1E5-FB19-42E0-A890-275F07D17BAD}"/>
              </a:ext>
            </a:extLst>
          </p:cNvPr>
          <p:cNvSpPr/>
          <p:nvPr/>
        </p:nvSpPr>
        <p:spPr>
          <a:xfrm>
            <a:off x="3165261" y="5558215"/>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49" name="Rectangle 48">
            <a:extLst>
              <a:ext uri="{FF2B5EF4-FFF2-40B4-BE49-F238E27FC236}">
                <a16:creationId xmlns:a16="http://schemas.microsoft.com/office/drawing/2014/main" id="{C900CCF3-879B-44AC-A827-DBA4369BCFDE}"/>
              </a:ext>
            </a:extLst>
          </p:cNvPr>
          <p:cNvSpPr/>
          <p:nvPr/>
        </p:nvSpPr>
        <p:spPr>
          <a:xfrm>
            <a:off x="3617911" y="5558215"/>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50" name="Rectangle 49">
            <a:extLst>
              <a:ext uri="{FF2B5EF4-FFF2-40B4-BE49-F238E27FC236}">
                <a16:creationId xmlns:a16="http://schemas.microsoft.com/office/drawing/2014/main" id="{D62F9244-82EF-433B-A55F-AA2DC4E41C1D}"/>
              </a:ext>
            </a:extLst>
          </p:cNvPr>
          <p:cNvSpPr/>
          <p:nvPr/>
        </p:nvSpPr>
        <p:spPr>
          <a:xfrm>
            <a:off x="4070561" y="5558215"/>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51" name="Rectangle 50">
            <a:extLst>
              <a:ext uri="{FF2B5EF4-FFF2-40B4-BE49-F238E27FC236}">
                <a16:creationId xmlns:a16="http://schemas.microsoft.com/office/drawing/2014/main" id="{087A0354-11F0-48CE-A6C4-6146C2332E2E}"/>
              </a:ext>
            </a:extLst>
          </p:cNvPr>
          <p:cNvSpPr/>
          <p:nvPr/>
        </p:nvSpPr>
        <p:spPr>
          <a:xfrm>
            <a:off x="5282938" y="5558215"/>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52" name="Rectangle 51">
            <a:extLst>
              <a:ext uri="{FF2B5EF4-FFF2-40B4-BE49-F238E27FC236}">
                <a16:creationId xmlns:a16="http://schemas.microsoft.com/office/drawing/2014/main" id="{B960D53D-FCF4-4253-9F38-9F2445B59B43}"/>
              </a:ext>
            </a:extLst>
          </p:cNvPr>
          <p:cNvSpPr/>
          <p:nvPr/>
        </p:nvSpPr>
        <p:spPr>
          <a:xfrm>
            <a:off x="5735588" y="5558215"/>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53" name="Rectangle 52">
            <a:extLst>
              <a:ext uri="{FF2B5EF4-FFF2-40B4-BE49-F238E27FC236}">
                <a16:creationId xmlns:a16="http://schemas.microsoft.com/office/drawing/2014/main" id="{47086D22-AFE9-465C-9BAA-27428F0463EA}"/>
              </a:ext>
            </a:extLst>
          </p:cNvPr>
          <p:cNvSpPr/>
          <p:nvPr/>
        </p:nvSpPr>
        <p:spPr>
          <a:xfrm>
            <a:off x="6188238" y="5558215"/>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54" name="Rectangle 53">
            <a:extLst>
              <a:ext uri="{FF2B5EF4-FFF2-40B4-BE49-F238E27FC236}">
                <a16:creationId xmlns:a16="http://schemas.microsoft.com/office/drawing/2014/main" id="{FA183E65-DE97-48EE-B969-6F2705BBB91A}"/>
              </a:ext>
            </a:extLst>
          </p:cNvPr>
          <p:cNvSpPr/>
          <p:nvPr/>
        </p:nvSpPr>
        <p:spPr>
          <a:xfrm>
            <a:off x="7384694" y="5558215"/>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55" name="Rectangle 54">
            <a:extLst>
              <a:ext uri="{FF2B5EF4-FFF2-40B4-BE49-F238E27FC236}">
                <a16:creationId xmlns:a16="http://schemas.microsoft.com/office/drawing/2014/main" id="{553D833F-3357-4327-BB76-8E294ED676A5}"/>
              </a:ext>
            </a:extLst>
          </p:cNvPr>
          <p:cNvSpPr/>
          <p:nvPr/>
        </p:nvSpPr>
        <p:spPr>
          <a:xfrm>
            <a:off x="7837344" y="5558215"/>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56" name="Rectangle 55">
            <a:extLst>
              <a:ext uri="{FF2B5EF4-FFF2-40B4-BE49-F238E27FC236}">
                <a16:creationId xmlns:a16="http://schemas.microsoft.com/office/drawing/2014/main" id="{B8B84A6C-ECBB-4782-B18C-BE44D450FD65}"/>
              </a:ext>
            </a:extLst>
          </p:cNvPr>
          <p:cNvSpPr/>
          <p:nvPr/>
        </p:nvSpPr>
        <p:spPr>
          <a:xfrm>
            <a:off x="8289994" y="5558215"/>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57" name="Rectangle 56">
            <a:extLst>
              <a:ext uri="{FF2B5EF4-FFF2-40B4-BE49-F238E27FC236}">
                <a16:creationId xmlns:a16="http://schemas.microsoft.com/office/drawing/2014/main" id="{387A466E-66B6-40EB-8292-C67AEECA7736}"/>
              </a:ext>
            </a:extLst>
          </p:cNvPr>
          <p:cNvSpPr/>
          <p:nvPr/>
        </p:nvSpPr>
        <p:spPr>
          <a:xfrm>
            <a:off x="9495552" y="5558215"/>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58" name="Rectangle 57">
            <a:extLst>
              <a:ext uri="{FF2B5EF4-FFF2-40B4-BE49-F238E27FC236}">
                <a16:creationId xmlns:a16="http://schemas.microsoft.com/office/drawing/2014/main" id="{5736E835-0BB4-45D6-B572-16EB9551D5DE}"/>
              </a:ext>
            </a:extLst>
          </p:cNvPr>
          <p:cNvSpPr/>
          <p:nvPr/>
        </p:nvSpPr>
        <p:spPr>
          <a:xfrm>
            <a:off x="9948202" y="5558215"/>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59" name="Rectangle 58">
            <a:extLst>
              <a:ext uri="{FF2B5EF4-FFF2-40B4-BE49-F238E27FC236}">
                <a16:creationId xmlns:a16="http://schemas.microsoft.com/office/drawing/2014/main" id="{092ECF34-81EC-40BC-97E6-B4D8B81C3925}"/>
              </a:ext>
            </a:extLst>
          </p:cNvPr>
          <p:cNvSpPr/>
          <p:nvPr/>
        </p:nvSpPr>
        <p:spPr>
          <a:xfrm>
            <a:off x="10400852" y="5558215"/>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60" name="Text Placeholder 5">
            <a:extLst>
              <a:ext uri="{FF2B5EF4-FFF2-40B4-BE49-F238E27FC236}">
                <a16:creationId xmlns:a16="http://schemas.microsoft.com/office/drawing/2014/main" id="{F8A45756-B620-4521-9572-6A2628C59792}"/>
              </a:ext>
            </a:extLst>
          </p:cNvPr>
          <p:cNvSpPr txBox="1">
            <a:spLocks/>
          </p:cNvSpPr>
          <p:nvPr/>
        </p:nvSpPr>
        <p:spPr>
          <a:xfrm>
            <a:off x="428136" y="4213326"/>
            <a:ext cx="1977397" cy="100011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0" i="0"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rPr>
              <a:t>In a CRD participants are allocated at random to one of the three treatments (A, B or C)</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0" i="0"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0" i="1"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endParaRPr>
          </a:p>
        </p:txBody>
      </p:sp>
      <p:sp>
        <p:nvSpPr>
          <p:cNvPr id="61" name="Text Placeholder 5">
            <a:extLst>
              <a:ext uri="{FF2B5EF4-FFF2-40B4-BE49-F238E27FC236}">
                <a16:creationId xmlns:a16="http://schemas.microsoft.com/office/drawing/2014/main" id="{A2BF5D04-7954-4769-91C3-03A1885BDBF3}"/>
              </a:ext>
            </a:extLst>
          </p:cNvPr>
          <p:cNvSpPr txBox="1">
            <a:spLocks/>
          </p:cNvSpPr>
          <p:nvPr/>
        </p:nvSpPr>
        <p:spPr>
          <a:xfrm>
            <a:off x="3165261" y="4045393"/>
            <a:ext cx="1342028" cy="50960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400" b="1">
                <a:solidFill>
                  <a:prstClr val="black"/>
                </a:solidFill>
                <a:latin typeface="Calibri" panose="020F0502020204030204"/>
                <a:ea typeface="游ゴシック" panose="020B0400000000000000" pitchFamily="34" charset="-128"/>
              </a:rPr>
              <a:t>Poor Diet</a:t>
            </a:r>
            <a:endParaRPr kumimoji="1" lang="en-NZ" altLang="ja-JP" sz="14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62" name="Text Placeholder 5">
            <a:extLst>
              <a:ext uri="{FF2B5EF4-FFF2-40B4-BE49-F238E27FC236}">
                <a16:creationId xmlns:a16="http://schemas.microsoft.com/office/drawing/2014/main" id="{14594CDF-7813-4A16-B28F-8FAD8505A231}"/>
              </a:ext>
            </a:extLst>
          </p:cNvPr>
          <p:cNvSpPr txBox="1">
            <a:spLocks/>
          </p:cNvSpPr>
          <p:nvPr/>
        </p:nvSpPr>
        <p:spPr>
          <a:xfrm>
            <a:off x="5267016" y="4045394"/>
            <a:ext cx="1342028" cy="50960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400" b="1">
                <a:solidFill>
                  <a:prstClr val="black"/>
                </a:solidFill>
                <a:latin typeface="Calibri" panose="020F0502020204030204"/>
                <a:ea typeface="游ゴシック" panose="020B0400000000000000" pitchFamily="34" charset="-128"/>
              </a:rPr>
              <a:t>Below </a:t>
            </a:r>
            <a:r>
              <a:rPr lang="en-NZ" altLang="ja-JP" sz="1400" b="1" err="1">
                <a:solidFill>
                  <a:prstClr val="black"/>
                </a:solidFill>
                <a:latin typeface="Calibri" panose="020F0502020204030204"/>
                <a:ea typeface="游ゴシック" panose="020B0400000000000000" pitchFamily="34" charset="-128"/>
              </a:rPr>
              <a:t>Avg</a:t>
            </a:r>
            <a:r>
              <a:rPr lang="en-NZ" altLang="ja-JP" sz="1400" b="1">
                <a:solidFill>
                  <a:prstClr val="black"/>
                </a:solidFill>
                <a:latin typeface="Calibri" panose="020F0502020204030204"/>
                <a:ea typeface="游ゴシック" panose="020B0400000000000000" pitchFamily="34" charset="-128"/>
              </a:rPr>
              <a:t> Diet</a:t>
            </a:r>
            <a:endParaRPr kumimoji="1" lang="en-NZ" altLang="ja-JP" sz="14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63" name="Text Placeholder 5">
            <a:extLst>
              <a:ext uri="{FF2B5EF4-FFF2-40B4-BE49-F238E27FC236}">
                <a16:creationId xmlns:a16="http://schemas.microsoft.com/office/drawing/2014/main" id="{BDBE3280-E2F0-4A0C-91E1-ED2266C7AE8B}"/>
              </a:ext>
            </a:extLst>
          </p:cNvPr>
          <p:cNvSpPr txBox="1">
            <a:spLocks/>
          </p:cNvSpPr>
          <p:nvPr/>
        </p:nvSpPr>
        <p:spPr>
          <a:xfrm>
            <a:off x="7381284" y="4045393"/>
            <a:ext cx="1342028" cy="50960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400" b="1">
                <a:solidFill>
                  <a:prstClr val="black"/>
                </a:solidFill>
                <a:latin typeface="Calibri" panose="020F0502020204030204"/>
                <a:ea typeface="游ゴシック" panose="020B0400000000000000" pitchFamily="34" charset="-128"/>
              </a:rPr>
              <a:t>Above </a:t>
            </a:r>
            <a:r>
              <a:rPr lang="en-NZ" altLang="ja-JP" sz="1400" b="1" err="1">
                <a:solidFill>
                  <a:prstClr val="black"/>
                </a:solidFill>
                <a:latin typeface="Calibri" panose="020F0502020204030204"/>
                <a:ea typeface="游ゴシック" panose="020B0400000000000000" pitchFamily="34" charset="-128"/>
              </a:rPr>
              <a:t>Avg</a:t>
            </a:r>
            <a:r>
              <a:rPr lang="en-NZ" altLang="ja-JP" sz="1400" b="1">
                <a:solidFill>
                  <a:prstClr val="black"/>
                </a:solidFill>
                <a:latin typeface="Calibri" panose="020F0502020204030204"/>
                <a:ea typeface="游ゴシック" panose="020B0400000000000000" pitchFamily="34" charset="-128"/>
              </a:rPr>
              <a:t> Diet</a:t>
            </a:r>
            <a:endParaRPr kumimoji="1" lang="en-NZ" altLang="ja-JP" sz="14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64" name="Text Placeholder 5">
            <a:extLst>
              <a:ext uri="{FF2B5EF4-FFF2-40B4-BE49-F238E27FC236}">
                <a16:creationId xmlns:a16="http://schemas.microsoft.com/office/drawing/2014/main" id="{8CBFBF3A-4CA0-49AD-8E13-8CEB2EECD8A0}"/>
              </a:ext>
            </a:extLst>
          </p:cNvPr>
          <p:cNvSpPr txBox="1">
            <a:spLocks/>
          </p:cNvSpPr>
          <p:nvPr/>
        </p:nvSpPr>
        <p:spPr>
          <a:xfrm>
            <a:off x="9495552" y="4041396"/>
            <a:ext cx="1342028" cy="50960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400" b="1">
                <a:solidFill>
                  <a:prstClr val="black"/>
                </a:solidFill>
                <a:latin typeface="Calibri" panose="020F0502020204030204"/>
                <a:ea typeface="游ゴシック" panose="020B0400000000000000" pitchFamily="34" charset="-128"/>
              </a:rPr>
              <a:t>Excellent Diet</a:t>
            </a:r>
            <a:endParaRPr kumimoji="1" lang="en-NZ" altLang="ja-JP" sz="14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65" name="Text Placeholder 5">
            <a:extLst>
              <a:ext uri="{FF2B5EF4-FFF2-40B4-BE49-F238E27FC236}">
                <a16:creationId xmlns:a16="http://schemas.microsoft.com/office/drawing/2014/main" id="{1CAA95DA-7361-4E65-AE18-E46C02F75A16}"/>
              </a:ext>
            </a:extLst>
          </p:cNvPr>
          <p:cNvSpPr txBox="1">
            <a:spLocks/>
          </p:cNvSpPr>
          <p:nvPr/>
        </p:nvSpPr>
        <p:spPr>
          <a:xfrm>
            <a:off x="428136" y="5331110"/>
            <a:ext cx="1977397" cy="100011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0" i="0"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rPr>
              <a:t>In a </a:t>
            </a:r>
            <a:r>
              <a:rPr kumimoji="1" lang="en-NZ" altLang="ja-JP" sz="1400" b="0" i="0" u="none" strike="noStrike" kern="1200" cap="none" spc="0" normalizeH="0" baseline="0" noProof="0">
                <a:ln>
                  <a:noFill/>
                </a:ln>
                <a:solidFill>
                  <a:schemeClr val="tx1">
                    <a:lumMod val="75000"/>
                    <a:lumOff val="25000"/>
                  </a:schemeClr>
                </a:solidFill>
                <a:effectLst/>
                <a:uLnTx/>
                <a:uFillTx/>
                <a:latin typeface="Calibri" panose="020F0502020204030204"/>
                <a:ea typeface="游ゴシック" panose="020B0400000000000000" pitchFamily="34" charset="-128"/>
                <a:cs typeface="+mn-cs"/>
              </a:rPr>
              <a:t>RBD treatments are allocated </a:t>
            </a:r>
            <a:r>
              <a:rPr kumimoji="1" lang="en-NZ" altLang="ja-JP" sz="1400" b="0" i="0"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rPr>
              <a:t>at random </a:t>
            </a:r>
            <a:r>
              <a:rPr kumimoji="1" lang="en-NZ" altLang="ja-JP" sz="1400" b="0" i="1" u="none" strike="noStrike" kern="1200" cap="none" spc="0" normalizeH="0" baseline="0" noProof="0">
                <a:ln>
                  <a:noFill/>
                </a:ln>
                <a:solidFill>
                  <a:schemeClr val="tx1">
                    <a:lumMod val="75000"/>
                    <a:lumOff val="25000"/>
                  </a:schemeClr>
                </a:solidFill>
                <a:effectLst/>
                <a:uLnTx/>
                <a:uFillTx/>
                <a:latin typeface="Calibri" panose="020F0502020204030204"/>
                <a:ea typeface="游ゴシック" panose="020B0400000000000000" pitchFamily="34" charset="-128"/>
                <a:cs typeface="+mn-cs"/>
              </a:rPr>
              <a:t>within each </a:t>
            </a:r>
            <a:r>
              <a:rPr kumimoji="1" lang="en-NZ" altLang="ja-JP" sz="1400" b="0" i="1"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rPr>
              <a:t>block</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0" i="1"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endParaRPr>
          </a:p>
        </p:txBody>
      </p:sp>
      <p:sp>
        <p:nvSpPr>
          <p:cNvPr id="38" name="Footer Placeholder 2">
            <a:extLst>
              <a:ext uri="{FF2B5EF4-FFF2-40B4-BE49-F238E27FC236}">
                <a16:creationId xmlns:a16="http://schemas.microsoft.com/office/drawing/2014/main" id="{340DEA56-CBCD-42D7-34F1-5ED90D7CBE05}"/>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4.2 – Blocking</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2360621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5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2" grpId="0" animBg="1"/>
      <p:bldP spid="13" grpId="0" animBg="1"/>
      <p:bldP spid="14" grpId="0" animBg="1"/>
      <p:bldP spid="18" grpId="0" animBg="1"/>
      <p:bldP spid="19" grpId="0" animBg="1"/>
      <p:bldP spid="20" grpId="0" animBg="1"/>
      <p:bldP spid="21" grpId="0" animBg="1"/>
      <p:bldP spid="22" grpId="0" animBg="1"/>
      <p:bldP spid="23" grpId="0" animBg="1"/>
      <p:bldP spid="30" grpId="0" animBg="1"/>
      <p:bldP spid="31" grpId="0" animBg="1"/>
      <p:bldP spid="32"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p:bldP spid="61" grpId="0"/>
      <p:bldP spid="62" grpId="0"/>
      <p:bldP spid="63" grpId="0"/>
      <p:bldP spid="64" grpId="0"/>
      <p:bldP spid="6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8" name="Title 6">
            <a:extLst>
              <a:ext uri="{FF2B5EF4-FFF2-40B4-BE49-F238E27FC236}">
                <a16:creationId xmlns:a16="http://schemas.microsoft.com/office/drawing/2014/main" id="{9BC30087-098E-422C-AC84-6E3384AEEA9D}"/>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4.2a – Blocking</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1" name="Text Placeholder 5">
            <a:extLst>
              <a:ext uri="{FF2B5EF4-FFF2-40B4-BE49-F238E27FC236}">
                <a16:creationId xmlns:a16="http://schemas.microsoft.com/office/drawing/2014/main" id="{543C0405-3094-4901-B1A4-A7BE63507CC8}"/>
              </a:ext>
            </a:extLst>
          </p:cNvPr>
          <p:cNvSpPr txBox="1">
            <a:spLocks/>
          </p:cNvSpPr>
          <p:nvPr/>
        </p:nvSpPr>
        <p:spPr>
          <a:xfrm>
            <a:off x="207498" y="1151537"/>
            <a:ext cx="11777003" cy="46534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When there are multiple instances of each treatment in the same block this is known as a </a:t>
            </a:r>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replicated design.</a:t>
            </a:r>
            <a:endPar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2" name="Text Placeholder 5">
            <a:extLst>
              <a:ext uri="{FF2B5EF4-FFF2-40B4-BE49-F238E27FC236}">
                <a16:creationId xmlns:a16="http://schemas.microsoft.com/office/drawing/2014/main" id="{201A442B-B4B2-4B61-81BA-E5ADA4650079}"/>
              </a:ext>
            </a:extLst>
          </p:cNvPr>
          <p:cNvSpPr txBox="1">
            <a:spLocks/>
          </p:cNvSpPr>
          <p:nvPr/>
        </p:nvSpPr>
        <p:spPr>
          <a:xfrm>
            <a:off x="207498" y="1801063"/>
            <a:ext cx="11777003" cy="124497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prstClr val="black"/>
                </a:solidFill>
                <a:latin typeface="Calibri" panose="020F0502020204030204"/>
                <a:ea typeface="游ゴシック" panose="020B0400000000000000" pitchFamily="34" charset="-128"/>
              </a:rPr>
              <a:t>Example: </a:t>
            </a:r>
            <a:r>
              <a:rPr lang="en-NZ" altLang="ja-JP" sz="1800" dirty="0">
                <a:solidFill>
                  <a:prstClr val="black"/>
                </a:solidFill>
                <a:latin typeface="Calibri" panose="020F0502020204030204"/>
                <a:ea typeface="游ゴシック" panose="020B0400000000000000" pitchFamily="34" charset="-128"/>
              </a:rPr>
              <a:t>A study is to be conducted to determine if three prescription drugs (</a:t>
            </a:r>
            <a:r>
              <a:rPr lang="en-NZ" altLang="ja-JP" sz="1800" b="1" dirty="0">
                <a:solidFill>
                  <a:prstClr val="black"/>
                </a:solidFill>
                <a:latin typeface="Calibri" panose="020F0502020204030204"/>
                <a:ea typeface="游ゴシック" panose="020B0400000000000000" pitchFamily="34" charset="-128"/>
              </a:rPr>
              <a:t>A</a:t>
            </a:r>
            <a:r>
              <a:rPr lang="en-NZ" altLang="ja-JP" sz="1800" dirty="0">
                <a:solidFill>
                  <a:prstClr val="black"/>
                </a:solidFill>
                <a:latin typeface="Calibri" panose="020F0502020204030204"/>
                <a:ea typeface="游ゴシック" panose="020B0400000000000000" pitchFamily="34" charset="-128"/>
              </a:rPr>
              <a:t>, </a:t>
            </a:r>
            <a:r>
              <a:rPr lang="en-NZ" altLang="ja-JP" sz="1800" b="1" dirty="0">
                <a:solidFill>
                  <a:prstClr val="black"/>
                </a:solidFill>
                <a:latin typeface="Calibri" panose="020F0502020204030204"/>
                <a:ea typeface="游ゴシック" panose="020B0400000000000000" pitchFamily="34" charset="-128"/>
              </a:rPr>
              <a:t>B</a:t>
            </a:r>
            <a:r>
              <a:rPr lang="en-NZ" altLang="ja-JP" sz="1800" dirty="0">
                <a:solidFill>
                  <a:prstClr val="black"/>
                </a:solidFill>
                <a:latin typeface="Calibri" panose="020F0502020204030204"/>
                <a:ea typeface="游ゴシック" panose="020B0400000000000000" pitchFamily="34" charset="-128"/>
              </a:rPr>
              <a:t> &amp; </a:t>
            </a:r>
            <a:r>
              <a:rPr lang="en-NZ" altLang="ja-JP" sz="1800" b="1" dirty="0">
                <a:solidFill>
                  <a:prstClr val="black"/>
                </a:solidFill>
                <a:latin typeface="Calibri" panose="020F0502020204030204"/>
                <a:ea typeface="游ゴシック" panose="020B0400000000000000" pitchFamily="34" charset="-128"/>
              </a:rPr>
              <a:t>C</a:t>
            </a:r>
            <a:r>
              <a:rPr lang="en-NZ" altLang="ja-JP" sz="1800" dirty="0">
                <a:solidFill>
                  <a:prstClr val="black"/>
                </a:solidFill>
                <a:latin typeface="Calibri" panose="020F0502020204030204"/>
                <a:ea typeface="游ゴシック" panose="020B0400000000000000" pitchFamily="34" charset="-128"/>
              </a:rPr>
              <a:t>) have any effect on the blood-sugar levels of diabetic patients. It is known that blood-sugar levels are affected by a patients diet (i.e. diet is a nuisance variable). A total of </a:t>
            </a:r>
            <a:r>
              <a:rPr lang="en-NZ" altLang="ja-JP" sz="1800" dirty="0">
                <a:solidFill>
                  <a:srgbClr val="FF0000"/>
                </a:solidFill>
                <a:latin typeface="Calibri" panose="020F0502020204030204"/>
                <a:ea typeface="游ゴシック" panose="020B0400000000000000" pitchFamily="34" charset="-128"/>
              </a:rPr>
              <a:t>36</a:t>
            </a:r>
            <a:r>
              <a:rPr lang="en-NZ" altLang="ja-JP" sz="1800" dirty="0">
                <a:solidFill>
                  <a:prstClr val="black"/>
                </a:solidFill>
                <a:latin typeface="Calibri" panose="020F0502020204030204"/>
                <a:ea typeface="游ゴシック" panose="020B0400000000000000" pitchFamily="34" charset="-128"/>
              </a:rPr>
              <a:t> study participants are recruited and are ranked on the basis of the quality of their diets and put into one of four blocks (</a:t>
            </a:r>
            <a:r>
              <a:rPr lang="en-NZ" altLang="ja-JP" sz="1800" b="1" dirty="0">
                <a:solidFill>
                  <a:prstClr val="black"/>
                </a:solidFill>
                <a:latin typeface="Calibri" panose="020F0502020204030204"/>
                <a:ea typeface="游ゴシック" panose="020B0400000000000000" pitchFamily="34" charset="-128"/>
              </a:rPr>
              <a:t>poor diet</a:t>
            </a:r>
            <a:r>
              <a:rPr lang="en-NZ" altLang="ja-JP" sz="1800" dirty="0">
                <a:solidFill>
                  <a:prstClr val="black"/>
                </a:solidFill>
                <a:latin typeface="Calibri" panose="020F0502020204030204"/>
                <a:ea typeface="游ゴシック" panose="020B0400000000000000" pitchFamily="34" charset="-128"/>
              </a:rPr>
              <a:t>, </a:t>
            </a:r>
            <a:r>
              <a:rPr lang="en-NZ" altLang="ja-JP" sz="1800" b="1" dirty="0">
                <a:solidFill>
                  <a:prstClr val="black"/>
                </a:solidFill>
                <a:latin typeface="Calibri" panose="020F0502020204030204"/>
                <a:ea typeface="游ゴシック" panose="020B0400000000000000" pitchFamily="34" charset="-128"/>
              </a:rPr>
              <a:t>below </a:t>
            </a:r>
            <a:r>
              <a:rPr lang="en-NZ" altLang="ja-JP" sz="1800" b="1" dirty="0" err="1">
                <a:solidFill>
                  <a:prstClr val="black"/>
                </a:solidFill>
                <a:latin typeface="Calibri" panose="020F0502020204030204"/>
                <a:ea typeface="游ゴシック" panose="020B0400000000000000" pitchFamily="34" charset="-128"/>
              </a:rPr>
              <a:t>avg</a:t>
            </a:r>
            <a:r>
              <a:rPr lang="en-NZ" altLang="ja-JP" sz="1800" b="1" dirty="0">
                <a:solidFill>
                  <a:prstClr val="black"/>
                </a:solidFill>
                <a:latin typeface="Calibri" panose="020F0502020204030204"/>
                <a:ea typeface="游ゴシック" panose="020B0400000000000000" pitchFamily="34" charset="-128"/>
              </a:rPr>
              <a:t> diet</a:t>
            </a:r>
            <a:r>
              <a:rPr lang="en-NZ" altLang="ja-JP" sz="1800" dirty="0">
                <a:solidFill>
                  <a:prstClr val="black"/>
                </a:solidFill>
                <a:latin typeface="Calibri" panose="020F0502020204030204"/>
                <a:ea typeface="游ゴシック" panose="020B0400000000000000" pitchFamily="34" charset="-128"/>
              </a:rPr>
              <a:t>, </a:t>
            </a:r>
            <a:r>
              <a:rPr lang="en-NZ" altLang="ja-JP" sz="1800" b="1" dirty="0">
                <a:solidFill>
                  <a:prstClr val="black"/>
                </a:solidFill>
                <a:latin typeface="Calibri" panose="020F0502020204030204"/>
                <a:ea typeface="游ゴシック" panose="020B0400000000000000" pitchFamily="34" charset="-128"/>
              </a:rPr>
              <a:t>above </a:t>
            </a:r>
            <a:r>
              <a:rPr lang="en-NZ" altLang="ja-JP" sz="1800" b="1" dirty="0" err="1">
                <a:solidFill>
                  <a:prstClr val="black"/>
                </a:solidFill>
                <a:latin typeface="Calibri" panose="020F0502020204030204"/>
                <a:ea typeface="游ゴシック" panose="020B0400000000000000" pitchFamily="34" charset="-128"/>
              </a:rPr>
              <a:t>avg</a:t>
            </a:r>
            <a:r>
              <a:rPr lang="en-NZ" altLang="ja-JP" sz="1800" b="1" dirty="0">
                <a:solidFill>
                  <a:prstClr val="black"/>
                </a:solidFill>
                <a:latin typeface="Calibri" panose="020F0502020204030204"/>
                <a:ea typeface="游ゴシック" panose="020B0400000000000000" pitchFamily="34" charset="-128"/>
              </a:rPr>
              <a:t> diet</a:t>
            </a:r>
            <a:r>
              <a:rPr lang="en-NZ" altLang="ja-JP" sz="1800" dirty="0">
                <a:solidFill>
                  <a:prstClr val="black"/>
                </a:solidFill>
                <a:latin typeface="Calibri" panose="020F0502020204030204"/>
                <a:ea typeface="游ゴシック" panose="020B0400000000000000" pitchFamily="34" charset="-128"/>
              </a:rPr>
              <a:t>, </a:t>
            </a:r>
            <a:r>
              <a:rPr lang="en-NZ" altLang="ja-JP" sz="1800" b="1" dirty="0">
                <a:solidFill>
                  <a:prstClr val="black"/>
                </a:solidFill>
                <a:latin typeface="Calibri" panose="020F0502020204030204"/>
                <a:ea typeface="游ゴシック" panose="020B0400000000000000" pitchFamily="34" charset="-128"/>
              </a:rPr>
              <a:t>excellent diet</a:t>
            </a:r>
            <a:r>
              <a:rPr lang="en-NZ" altLang="ja-JP" sz="1800" dirty="0">
                <a:solidFill>
                  <a:prstClr val="black"/>
                </a:solidFill>
                <a:latin typeface="Calibri" panose="020F0502020204030204"/>
                <a:ea typeface="游ゴシック" panose="020B0400000000000000" pitchFamily="34" charset="-128"/>
              </a:rPr>
              <a:t>).</a:t>
            </a: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2" name="Rectangle 1">
            <a:extLst>
              <a:ext uri="{FF2B5EF4-FFF2-40B4-BE49-F238E27FC236}">
                <a16:creationId xmlns:a16="http://schemas.microsoft.com/office/drawing/2014/main" id="{B240CD46-846A-4AAB-ADEC-F0D3681A275B}"/>
              </a:ext>
            </a:extLst>
          </p:cNvPr>
          <p:cNvSpPr/>
          <p:nvPr/>
        </p:nvSpPr>
        <p:spPr>
          <a:xfrm>
            <a:off x="3168671" y="3985655"/>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13" name="Rectangle 12">
            <a:extLst>
              <a:ext uri="{FF2B5EF4-FFF2-40B4-BE49-F238E27FC236}">
                <a16:creationId xmlns:a16="http://schemas.microsoft.com/office/drawing/2014/main" id="{ED317EBE-42CE-47BD-A4CC-0DB6333DBE0B}"/>
              </a:ext>
            </a:extLst>
          </p:cNvPr>
          <p:cNvSpPr/>
          <p:nvPr/>
        </p:nvSpPr>
        <p:spPr>
          <a:xfrm>
            <a:off x="3621321" y="3985655"/>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14" name="Rectangle 13">
            <a:extLst>
              <a:ext uri="{FF2B5EF4-FFF2-40B4-BE49-F238E27FC236}">
                <a16:creationId xmlns:a16="http://schemas.microsoft.com/office/drawing/2014/main" id="{D7916F06-6F0A-44D9-B551-3DB244B5A2FF}"/>
              </a:ext>
            </a:extLst>
          </p:cNvPr>
          <p:cNvSpPr/>
          <p:nvPr/>
        </p:nvSpPr>
        <p:spPr>
          <a:xfrm>
            <a:off x="4073971" y="3985655"/>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18" name="Rectangle 17">
            <a:extLst>
              <a:ext uri="{FF2B5EF4-FFF2-40B4-BE49-F238E27FC236}">
                <a16:creationId xmlns:a16="http://schemas.microsoft.com/office/drawing/2014/main" id="{ED66511A-20A9-468A-B15D-FF1FB84B31CE}"/>
              </a:ext>
            </a:extLst>
          </p:cNvPr>
          <p:cNvSpPr/>
          <p:nvPr/>
        </p:nvSpPr>
        <p:spPr>
          <a:xfrm>
            <a:off x="5286348" y="3985655"/>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19" name="Rectangle 18">
            <a:extLst>
              <a:ext uri="{FF2B5EF4-FFF2-40B4-BE49-F238E27FC236}">
                <a16:creationId xmlns:a16="http://schemas.microsoft.com/office/drawing/2014/main" id="{02128C86-1AA3-4BF1-AFB6-1A35077E4E59}"/>
              </a:ext>
            </a:extLst>
          </p:cNvPr>
          <p:cNvSpPr/>
          <p:nvPr/>
        </p:nvSpPr>
        <p:spPr>
          <a:xfrm>
            <a:off x="5738998" y="3985655"/>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20" name="Rectangle 19">
            <a:extLst>
              <a:ext uri="{FF2B5EF4-FFF2-40B4-BE49-F238E27FC236}">
                <a16:creationId xmlns:a16="http://schemas.microsoft.com/office/drawing/2014/main" id="{D88F790D-A41C-493E-8021-65BB2F165C13}"/>
              </a:ext>
            </a:extLst>
          </p:cNvPr>
          <p:cNvSpPr/>
          <p:nvPr/>
        </p:nvSpPr>
        <p:spPr>
          <a:xfrm>
            <a:off x="6191648" y="3985655"/>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21" name="Rectangle 20">
            <a:extLst>
              <a:ext uri="{FF2B5EF4-FFF2-40B4-BE49-F238E27FC236}">
                <a16:creationId xmlns:a16="http://schemas.microsoft.com/office/drawing/2014/main" id="{9E4133E1-DF36-4A09-B1AC-91F60992E9CD}"/>
              </a:ext>
            </a:extLst>
          </p:cNvPr>
          <p:cNvSpPr/>
          <p:nvPr/>
        </p:nvSpPr>
        <p:spPr>
          <a:xfrm>
            <a:off x="7388104" y="3985655"/>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22" name="Rectangle 21">
            <a:extLst>
              <a:ext uri="{FF2B5EF4-FFF2-40B4-BE49-F238E27FC236}">
                <a16:creationId xmlns:a16="http://schemas.microsoft.com/office/drawing/2014/main" id="{77EAAE05-B712-4DBB-A996-CB3D7B6A94BF}"/>
              </a:ext>
            </a:extLst>
          </p:cNvPr>
          <p:cNvSpPr/>
          <p:nvPr/>
        </p:nvSpPr>
        <p:spPr>
          <a:xfrm>
            <a:off x="7840754" y="3985655"/>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23" name="Rectangle 22">
            <a:extLst>
              <a:ext uri="{FF2B5EF4-FFF2-40B4-BE49-F238E27FC236}">
                <a16:creationId xmlns:a16="http://schemas.microsoft.com/office/drawing/2014/main" id="{321E6647-5498-4D24-A871-C62AE45DBCEF}"/>
              </a:ext>
            </a:extLst>
          </p:cNvPr>
          <p:cNvSpPr/>
          <p:nvPr/>
        </p:nvSpPr>
        <p:spPr>
          <a:xfrm>
            <a:off x="8293404" y="3985655"/>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30" name="Rectangle 29">
            <a:extLst>
              <a:ext uri="{FF2B5EF4-FFF2-40B4-BE49-F238E27FC236}">
                <a16:creationId xmlns:a16="http://schemas.microsoft.com/office/drawing/2014/main" id="{45EAE732-8CCC-4E3D-B60C-2FBD69B1CC3D}"/>
              </a:ext>
            </a:extLst>
          </p:cNvPr>
          <p:cNvSpPr/>
          <p:nvPr/>
        </p:nvSpPr>
        <p:spPr>
          <a:xfrm>
            <a:off x="9498962" y="3985655"/>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31" name="Rectangle 30">
            <a:extLst>
              <a:ext uri="{FF2B5EF4-FFF2-40B4-BE49-F238E27FC236}">
                <a16:creationId xmlns:a16="http://schemas.microsoft.com/office/drawing/2014/main" id="{31CD5426-4277-424E-ABC9-75127006C2C7}"/>
              </a:ext>
            </a:extLst>
          </p:cNvPr>
          <p:cNvSpPr/>
          <p:nvPr/>
        </p:nvSpPr>
        <p:spPr>
          <a:xfrm>
            <a:off x="9951612" y="3985655"/>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32" name="Rectangle 31">
            <a:extLst>
              <a:ext uri="{FF2B5EF4-FFF2-40B4-BE49-F238E27FC236}">
                <a16:creationId xmlns:a16="http://schemas.microsoft.com/office/drawing/2014/main" id="{C3F19C08-B33A-4B00-A0D2-1FF08E91139B}"/>
              </a:ext>
            </a:extLst>
          </p:cNvPr>
          <p:cNvSpPr/>
          <p:nvPr/>
        </p:nvSpPr>
        <p:spPr>
          <a:xfrm>
            <a:off x="10404262" y="3985655"/>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48" name="Rectangle 47">
            <a:extLst>
              <a:ext uri="{FF2B5EF4-FFF2-40B4-BE49-F238E27FC236}">
                <a16:creationId xmlns:a16="http://schemas.microsoft.com/office/drawing/2014/main" id="{378CD1E5-FB19-42E0-A890-275F07D17BAD}"/>
              </a:ext>
            </a:extLst>
          </p:cNvPr>
          <p:cNvSpPr/>
          <p:nvPr/>
        </p:nvSpPr>
        <p:spPr>
          <a:xfrm>
            <a:off x="3149339" y="5408930"/>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49" name="Rectangle 48">
            <a:extLst>
              <a:ext uri="{FF2B5EF4-FFF2-40B4-BE49-F238E27FC236}">
                <a16:creationId xmlns:a16="http://schemas.microsoft.com/office/drawing/2014/main" id="{C900CCF3-879B-44AC-A827-DBA4369BCFDE}"/>
              </a:ext>
            </a:extLst>
          </p:cNvPr>
          <p:cNvSpPr/>
          <p:nvPr/>
        </p:nvSpPr>
        <p:spPr>
          <a:xfrm>
            <a:off x="3601989" y="5408930"/>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50" name="Rectangle 49">
            <a:extLst>
              <a:ext uri="{FF2B5EF4-FFF2-40B4-BE49-F238E27FC236}">
                <a16:creationId xmlns:a16="http://schemas.microsoft.com/office/drawing/2014/main" id="{D62F9244-82EF-433B-A55F-AA2DC4E41C1D}"/>
              </a:ext>
            </a:extLst>
          </p:cNvPr>
          <p:cNvSpPr/>
          <p:nvPr/>
        </p:nvSpPr>
        <p:spPr>
          <a:xfrm>
            <a:off x="4054639" y="5408930"/>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51" name="Rectangle 50">
            <a:extLst>
              <a:ext uri="{FF2B5EF4-FFF2-40B4-BE49-F238E27FC236}">
                <a16:creationId xmlns:a16="http://schemas.microsoft.com/office/drawing/2014/main" id="{087A0354-11F0-48CE-A6C4-6146C2332E2E}"/>
              </a:ext>
            </a:extLst>
          </p:cNvPr>
          <p:cNvSpPr/>
          <p:nvPr/>
        </p:nvSpPr>
        <p:spPr>
          <a:xfrm>
            <a:off x="5267016" y="5408930"/>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52" name="Rectangle 51">
            <a:extLst>
              <a:ext uri="{FF2B5EF4-FFF2-40B4-BE49-F238E27FC236}">
                <a16:creationId xmlns:a16="http://schemas.microsoft.com/office/drawing/2014/main" id="{B960D53D-FCF4-4253-9F38-9F2445B59B43}"/>
              </a:ext>
            </a:extLst>
          </p:cNvPr>
          <p:cNvSpPr/>
          <p:nvPr/>
        </p:nvSpPr>
        <p:spPr>
          <a:xfrm>
            <a:off x="5719666" y="5408930"/>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53" name="Rectangle 52">
            <a:extLst>
              <a:ext uri="{FF2B5EF4-FFF2-40B4-BE49-F238E27FC236}">
                <a16:creationId xmlns:a16="http://schemas.microsoft.com/office/drawing/2014/main" id="{47086D22-AFE9-465C-9BAA-27428F0463EA}"/>
              </a:ext>
            </a:extLst>
          </p:cNvPr>
          <p:cNvSpPr/>
          <p:nvPr/>
        </p:nvSpPr>
        <p:spPr>
          <a:xfrm>
            <a:off x="6172316" y="5408930"/>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54" name="Rectangle 53">
            <a:extLst>
              <a:ext uri="{FF2B5EF4-FFF2-40B4-BE49-F238E27FC236}">
                <a16:creationId xmlns:a16="http://schemas.microsoft.com/office/drawing/2014/main" id="{FA183E65-DE97-48EE-B969-6F2705BBB91A}"/>
              </a:ext>
            </a:extLst>
          </p:cNvPr>
          <p:cNvSpPr/>
          <p:nvPr/>
        </p:nvSpPr>
        <p:spPr>
          <a:xfrm>
            <a:off x="7368772" y="5408930"/>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55" name="Rectangle 54">
            <a:extLst>
              <a:ext uri="{FF2B5EF4-FFF2-40B4-BE49-F238E27FC236}">
                <a16:creationId xmlns:a16="http://schemas.microsoft.com/office/drawing/2014/main" id="{553D833F-3357-4327-BB76-8E294ED676A5}"/>
              </a:ext>
            </a:extLst>
          </p:cNvPr>
          <p:cNvSpPr/>
          <p:nvPr/>
        </p:nvSpPr>
        <p:spPr>
          <a:xfrm>
            <a:off x="7821422" y="5408930"/>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56" name="Rectangle 55">
            <a:extLst>
              <a:ext uri="{FF2B5EF4-FFF2-40B4-BE49-F238E27FC236}">
                <a16:creationId xmlns:a16="http://schemas.microsoft.com/office/drawing/2014/main" id="{B8B84A6C-ECBB-4782-B18C-BE44D450FD65}"/>
              </a:ext>
            </a:extLst>
          </p:cNvPr>
          <p:cNvSpPr/>
          <p:nvPr/>
        </p:nvSpPr>
        <p:spPr>
          <a:xfrm>
            <a:off x="8274072" y="5408930"/>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57" name="Rectangle 56">
            <a:extLst>
              <a:ext uri="{FF2B5EF4-FFF2-40B4-BE49-F238E27FC236}">
                <a16:creationId xmlns:a16="http://schemas.microsoft.com/office/drawing/2014/main" id="{387A466E-66B6-40EB-8292-C67AEECA7736}"/>
              </a:ext>
            </a:extLst>
          </p:cNvPr>
          <p:cNvSpPr/>
          <p:nvPr/>
        </p:nvSpPr>
        <p:spPr>
          <a:xfrm>
            <a:off x="9479630" y="5408930"/>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58" name="Rectangle 57">
            <a:extLst>
              <a:ext uri="{FF2B5EF4-FFF2-40B4-BE49-F238E27FC236}">
                <a16:creationId xmlns:a16="http://schemas.microsoft.com/office/drawing/2014/main" id="{5736E835-0BB4-45D6-B572-16EB9551D5DE}"/>
              </a:ext>
            </a:extLst>
          </p:cNvPr>
          <p:cNvSpPr/>
          <p:nvPr/>
        </p:nvSpPr>
        <p:spPr>
          <a:xfrm>
            <a:off x="9932280" y="5408930"/>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59" name="Rectangle 58">
            <a:extLst>
              <a:ext uri="{FF2B5EF4-FFF2-40B4-BE49-F238E27FC236}">
                <a16:creationId xmlns:a16="http://schemas.microsoft.com/office/drawing/2014/main" id="{092ECF34-81EC-40BC-97E6-B4D8B81C3925}"/>
              </a:ext>
            </a:extLst>
          </p:cNvPr>
          <p:cNvSpPr/>
          <p:nvPr/>
        </p:nvSpPr>
        <p:spPr>
          <a:xfrm>
            <a:off x="10384930" y="5408930"/>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60" name="Text Placeholder 5">
            <a:extLst>
              <a:ext uri="{FF2B5EF4-FFF2-40B4-BE49-F238E27FC236}">
                <a16:creationId xmlns:a16="http://schemas.microsoft.com/office/drawing/2014/main" id="{F8A45756-B620-4521-9572-6A2628C59792}"/>
              </a:ext>
            </a:extLst>
          </p:cNvPr>
          <p:cNvSpPr txBox="1">
            <a:spLocks/>
          </p:cNvSpPr>
          <p:nvPr/>
        </p:nvSpPr>
        <p:spPr>
          <a:xfrm>
            <a:off x="472599" y="3919675"/>
            <a:ext cx="1977397" cy="100011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0" i="0"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rPr>
              <a:t>In a CRD </a:t>
            </a:r>
            <a:r>
              <a:rPr kumimoji="1" lang="en-NZ" altLang="ja-JP" sz="1400" b="0" i="0" u="none" strike="noStrike" kern="1200" cap="none" spc="0" normalizeH="0" baseline="0" noProof="0">
                <a:ln>
                  <a:noFill/>
                </a:ln>
                <a:solidFill>
                  <a:schemeClr val="tx1">
                    <a:lumMod val="75000"/>
                    <a:lumOff val="25000"/>
                  </a:schemeClr>
                </a:solidFill>
                <a:effectLst/>
                <a:uLnTx/>
                <a:uFillTx/>
                <a:latin typeface="Calibri" panose="020F0502020204030204"/>
                <a:ea typeface="游ゴシック" panose="020B0400000000000000" pitchFamily="34" charset="-128"/>
                <a:cs typeface="+mn-cs"/>
              </a:rPr>
              <a:t>participants are allocated </a:t>
            </a:r>
            <a:r>
              <a:rPr kumimoji="1" lang="en-NZ" altLang="ja-JP" sz="1400" b="0" i="0"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rPr>
              <a:t>at random </a:t>
            </a:r>
            <a:r>
              <a:rPr kumimoji="1" lang="en-NZ" altLang="ja-JP" sz="1400" b="0" i="0" u="none" strike="noStrike" kern="1200" cap="none" spc="0" normalizeH="0" baseline="0" noProof="0">
                <a:ln>
                  <a:noFill/>
                </a:ln>
                <a:solidFill>
                  <a:schemeClr val="tx1">
                    <a:lumMod val="75000"/>
                    <a:lumOff val="25000"/>
                  </a:schemeClr>
                </a:solidFill>
                <a:effectLst/>
                <a:uLnTx/>
                <a:uFillTx/>
                <a:latin typeface="Calibri" panose="020F0502020204030204"/>
                <a:ea typeface="游ゴシック" panose="020B0400000000000000" pitchFamily="34" charset="-128"/>
                <a:cs typeface="+mn-cs"/>
              </a:rPr>
              <a:t>to one of the three treatments </a:t>
            </a:r>
            <a:r>
              <a:rPr kumimoji="1" lang="en-NZ" altLang="ja-JP" sz="1400" b="0" i="0"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rPr>
              <a:t>(A, B or C)</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0" i="0"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0" i="1"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endParaRPr>
          </a:p>
        </p:txBody>
      </p:sp>
      <p:sp>
        <p:nvSpPr>
          <p:cNvPr id="61" name="Text Placeholder 5">
            <a:extLst>
              <a:ext uri="{FF2B5EF4-FFF2-40B4-BE49-F238E27FC236}">
                <a16:creationId xmlns:a16="http://schemas.microsoft.com/office/drawing/2014/main" id="{A2BF5D04-7954-4769-91C3-03A1885BDBF3}"/>
              </a:ext>
            </a:extLst>
          </p:cNvPr>
          <p:cNvSpPr txBox="1">
            <a:spLocks/>
          </p:cNvSpPr>
          <p:nvPr/>
        </p:nvSpPr>
        <p:spPr>
          <a:xfrm>
            <a:off x="3168671" y="3476052"/>
            <a:ext cx="1342028" cy="50960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400" b="1">
                <a:solidFill>
                  <a:prstClr val="black"/>
                </a:solidFill>
                <a:latin typeface="Calibri" panose="020F0502020204030204"/>
                <a:ea typeface="游ゴシック" panose="020B0400000000000000" pitchFamily="34" charset="-128"/>
              </a:rPr>
              <a:t>Poor Diet</a:t>
            </a:r>
            <a:endParaRPr kumimoji="1" lang="en-NZ" altLang="ja-JP" sz="14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62" name="Text Placeholder 5">
            <a:extLst>
              <a:ext uri="{FF2B5EF4-FFF2-40B4-BE49-F238E27FC236}">
                <a16:creationId xmlns:a16="http://schemas.microsoft.com/office/drawing/2014/main" id="{14594CDF-7813-4A16-B28F-8FAD8505A231}"/>
              </a:ext>
            </a:extLst>
          </p:cNvPr>
          <p:cNvSpPr txBox="1">
            <a:spLocks/>
          </p:cNvSpPr>
          <p:nvPr/>
        </p:nvSpPr>
        <p:spPr>
          <a:xfrm>
            <a:off x="5270426" y="3476053"/>
            <a:ext cx="1342028" cy="50960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400" b="1">
                <a:solidFill>
                  <a:prstClr val="black"/>
                </a:solidFill>
                <a:latin typeface="Calibri" panose="020F0502020204030204"/>
                <a:ea typeface="游ゴシック" panose="020B0400000000000000" pitchFamily="34" charset="-128"/>
              </a:rPr>
              <a:t>Below </a:t>
            </a:r>
            <a:r>
              <a:rPr lang="en-NZ" altLang="ja-JP" sz="1400" b="1" err="1">
                <a:solidFill>
                  <a:prstClr val="black"/>
                </a:solidFill>
                <a:latin typeface="Calibri" panose="020F0502020204030204"/>
                <a:ea typeface="游ゴシック" panose="020B0400000000000000" pitchFamily="34" charset="-128"/>
              </a:rPr>
              <a:t>Avg</a:t>
            </a:r>
            <a:r>
              <a:rPr lang="en-NZ" altLang="ja-JP" sz="1400" b="1">
                <a:solidFill>
                  <a:prstClr val="black"/>
                </a:solidFill>
                <a:latin typeface="Calibri" panose="020F0502020204030204"/>
                <a:ea typeface="游ゴシック" panose="020B0400000000000000" pitchFamily="34" charset="-128"/>
              </a:rPr>
              <a:t> Diet</a:t>
            </a:r>
            <a:endParaRPr kumimoji="1" lang="en-NZ" altLang="ja-JP" sz="14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63" name="Text Placeholder 5">
            <a:extLst>
              <a:ext uri="{FF2B5EF4-FFF2-40B4-BE49-F238E27FC236}">
                <a16:creationId xmlns:a16="http://schemas.microsoft.com/office/drawing/2014/main" id="{BDBE3280-E2F0-4A0C-91E1-ED2266C7AE8B}"/>
              </a:ext>
            </a:extLst>
          </p:cNvPr>
          <p:cNvSpPr txBox="1">
            <a:spLocks/>
          </p:cNvSpPr>
          <p:nvPr/>
        </p:nvSpPr>
        <p:spPr>
          <a:xfrm>
            <a:off x="7384694" y="3476052"/>
            <a:ext cx="1342028" cy="50960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400" b="1">
                <a:solidFill>
                  <a:prstClr val="black"/>
                </a:solidFill>
                <a:latin typeface="Calibri" panose="020F0502020204030204"/>
                <a:ea typeface="游ゴシック" panose="020B0400000000000000" pitchFamily="34" charset="-128"/>
              </a:rPr>
              <a:t>Above </a:t>
            </a:r>
            <a:r>
              <a:rPr lang="en-NZ" altLang="ja-JP" sz="1400" b="1" err="1">
                <a:solidFill>
                  <a:prstClr val="black"/>
                </a:solidFill>
                <a:latin typeface="Calibri" panose="020F0502020204030204"/>
                <a:ea typeface="游ゴシック" panose="020B0400000000000000" pitchFamily="34" charset="-128"/>
              </a:rPr>
              <a:t>Avg</a:t>
            </a:r>
            <a:r>
              <a:rPr lang="en-NZ" altLang="ja-JP" sz="1400" b="1">
                <a:solidFill>
                  <a:prstClr val="black"/>
                </a:solidFill>
                <a:latin typeface="Calibri" panose="020F0502020204030204"/>
                <a:ea typeface="游ゴシック" panose="020B0400000000000000" pitchFamily="34" charset="-128"/>
              </a:rPr>
              <a:t> Diet</a:t>
            </a:r>
            <a:endParaRPr kumimoji="1" lang="en-NZ" altLang="ja-JP" sz="14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64" name="Text Placeholder 5">
            <a:extLst>
              <a:ext uri="{FF2B5EF4-FFF2-40B4-BE49-F238E27FC236}">
                <a16:creationId xmlns:a16="http://schemas.microsoft.com/office/drawing/2014/main" id="{8CBFBF3A-4CA0-49AD-8E13-8CEB2EECD8A0}"/>
              </a:ext>
            </a:extLst>
          </p:cNvPr>
          <p:cNvSpPr txBox="1">
            <a:spLocks/>
          </p:cNvSpPr>
          <p:nvPr/>
        </p:nvSpPr>
        <p:spPr>
          <a:xfrm>
            <a:off x="9498962" y="3472055"/>
            <a:ext cx="1342028" cy="50960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400" b="1">
                <a:solidFill>
                  <a:prstClr val="black"/>
                </a:solidFill>
                <a:latin typeface="Calibri" panose="020F0502020204030204"/>
                <a:ea typeface="游ゴシック" panose="020B0400000000000000" pitchFamily="34" charset="-128"/>
              </a:rPr>
              <a:t>Excellent Diet</a:t>
            </a:r>
            <a:endParaRPr kumimoji="1" lang="en-NZ" altLang="ja-JP" sz="14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65" name="Text Placeholder 5">
            <a:extLst>
              <a:ext uri="{FF2B5EF4-FFF2-40B4-BE49-F238E27FC236}">
                <a16:creationId xmlns:a16="http://schemas.microsoft.com/office/drawing/2014/main" id="{1CAA95DA-7361-4E65-AE18-E46C02F75A16}"/>
              </a:ext>
            </a:extLst>
          </p:cNvPr>
          <p:cNvSpPr txBox="1">
            <a:spLocks/>
          </p:cNvSpPr>
          <p:nvPr/>
        </p:nvSpPr>
        <p:spPr>
          <a:xfrm>
            <a:off x="426254" y="5479428"/>
            <a:ext cx="1977397" cy="100011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0" i="0"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rPr>
              <a:t>In a </a:t>
            </a:r>
            <a:r>
              <a:rPr kumimoji="1" lang="en-NZ" altLang="ja-JP" sz="1400" b="0" i="0" u="none" strike="noStrike" kern="1200" cap="none" spc="0" normalizeH="0" baseline="0" noProof="0">
                <a:ln>
                  <a:noFill/>
                </a:ln>
                <a:solidFill>
                  <a:schemeClr val="tx1">
                    <a:lumMod val="75000"/>
                    <a:lumOff val="25000"/>
                  </a:schemeClr>
                </a:solidFill>
                <a:effectLst/>
                <a:uLnTx/>
                <a:uFillTx/>
                <a:latin typeface="Calibri" panose="020F0502020204030204"/>
                <a:ea typeface="游ゴシック" panose="020B0400000000000000" pitchFamily="34" charset="-128"/>
                <a:cs typeface="+mn-cs"/>
              </a:rPr>
              <a:t>RBD treatments are allocated </a:t>
            </a:r>
            <a:r>
              <a:rPr kumimoji="1" lang="en-NZ" altLang="ja-JP" sz="1400" b="0" i="0"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rPr>
              <a:t>at random </a:t>
            </a:r>
            <a:r>
              <a:rPr kumimoji="1" lang="en-NZ" altLang="ja-JP" sz="1400" b="0" i="1" u="none" strike="noStrike" kern="1200" cap="none" spc="0" normalizeH="0" baseline="0" noProof="0">
                <a:ln>
                  <a:noFill/>
                </a:ln>
                <a:solidFill>
                  <a:schemeClr val="tx1">
                    <a:lumMod val="75000"/>
                    <a:lumOff val="25000"/>
                  </a:schemeClr>
                </a:solidFill>
                <a:effectLst/>
                <a:uLnTx/>
                <a:uFillTx/>
                <a:latin typeface="Calibri" panose="020F0502020204030204"/>
                <a:ea typeface="游ゴシック" panose="020B0400000000000000" pitchFamily="34" charset="-128"/>
                <a:cs typeface="+mn-cs"/>
              </a:rPr>
              <a:t>within each </a:t>
            </a:r>
            <a:r>
              <a:rPr kumimoji="1" lang="en-NZ" altLang="ja-JP" sz="1400" b="0" i="1"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rPr>
              <a:t>block</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0" i="1"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endParaRPr>
          </a:p>
        </p:txBody>
      </p:sp>
      <p:sp>
        <p:nvSpPr>
          <p:cNvPr id="38" name="Rectangle 37">
            <a:extLst>
              <a:ext uri="{FF2B5EF4-FFF2-40B4-BE49-F238E27FC236}">
                <a16:creationId xmlns:a16="http://schemas.microsoft.com/office/drawing/2014/main" id="{910D8F1D-BDD6-4C00-B57D-ECBB2453FD49}"/>
              </a:ext>
            </a:extLst>
          </p:cNvPr>
          <p:cNvSpPr/>
          <p:nvPr/>
        </p:nvSpPr>
        <p:spPr>
          <a:xfrm>
            <a:off x="3172194" y="4304453"/>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39" name="Rectangle 38">
            <a:extLst>
              <a:ext uri="{FF2B5EF4-FFF2-40B4-BE49-F238E27FC236}">
                <a16:creationId xmlns:a16="http://schemas.microsoft.com/office/drawing/2014/main" id="{53171F1E-F4D2-48A6-9AB7-4DD10FB4D1B2}"/>
              </a:ext>
            </a:extLst>
          </p:cNvPr>
          <p:cNvSpPr/>
          <p:nvPr/>
        </p:nvSpPr>
        <p:spPr>
          <a:xfrm>
            <a:off x="3624844" y="4304453"/>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40" name="Rectangle 39">
            <a:extLst>
              <a:ext uri="{FF2B5EF4-FFF2-40B4-BE49-F238E27FC236}">
                <a16:creationId xmlns:a16="http://schemas.microsoft.com/office/drawing/2014/main" id="{35BB96FB-E760-49DE-87B5-0F83F8D72C7C}"/>
              </a:ext>
            </a:extLst>
          </p:cNvPr>
          <p:cNvSpPr/>
          <p:nvPr/>
        </p:nvSpPr>
        <p:spPr>
          <a:xfrm>
            <a:off x="4077494" y="4304453"/>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41" name="Rectangle 40">
            <a:extLst>
              <a:ext uri="{FF2B5EF4-FFF2-40B4-BE49-F238E27FC236}">
                <a16:creationId xmlns:a16="http://schemas.microsoft.com/office/drawing/2014/main" id="{1679FDDB-C7C5-452A-8AF0-8141474A2CF5}"/>
              </a:ext>
            </a:extLst>
          </p:cNvPr>
          <p:cNvSpPr/>
          <p:nvPr/>
        </p:nvSpPr>
        <p:spPr>
          <a:xfrm>
            <a:off x="3172194" y="4602056"/>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42" name="Rectangle 41">
            <a:extLst>
              <a:ext uri="{FF2B5EF4-FFF2-40B4-BE49-F238E27FC236}">
                <a16:creationId xmlns:a16="http://schemas.microsoft.com/office/drawing/2014/main" id="{5091FE76-262C-4E13-B9D7-3A522F880FD9}"/>
              </a:ext>
            </a:extLst>
          </p:cNvPr>
          <p:cNvSpPr/>
          <p:nvPr/>
        </p:nvSpPr>
        <p:spPr>
          <a:xfrm>
            <a:off x="3624844" y="4602056"/>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43" name="Rectangle 42">
            <a:extLst>
              <a:ext uri="{FF2B5EF4-FFF2-40B4-BE49-F238E27FC236}">
                <a16:creationId xmlns:a16="http://schemas.microsoft.com/office/drawing/2014/main" id="{F5C39A67-3BAB-4B66-A9A5-A0D455CF2057}"/>
              </a:ext>
            </a:extLst>
          </p:cNvPr>
          <p:cNvSpPr/>
          <p:nvPr/>
        </p:nvSpPr>
        <p:spPr>
          <a:xfrm>
            <a:off x="4077494" y="4602056"/>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44" name="Rectangle 43">
            <a:extLst>
              <a:ext uri="{FF2B5EF4-FFF2-40B4-BE49-F238E27FC236}">
                <a16:creationId xmlns:a16="http://schemas.microsoft.com/office/drawing/2014/main" id="{C6DE7556-3CD7-45AF-A4C2-83D378F18EA0}"/>
              </a:ext>
            </a:extLst>
          </p:cNvPr>
          <p:cNvSpPr/>
          <p:nvPr/>
        </p:nvSpPr>
        <p:spPr>
          <a:xfrm>
            <a:off x="5282938" y="4283258"/>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45" name="Rectangle 44">
            <a:extLst>
              <a:ext uri="{FF2B5EF4-FFF2-40B4-BE49-F238E27FC236}">
                <a16:creationId xmlns:a16="http://schemas.microsoft.com/office/drawing/2014/main" id="{BB1B087B-102D-4C94-94F7-3AFB4DB7877D}"/>
              </a:ext>
            </a:extLst>
          </p:cNvPr>
          <p:cNvSpPr/>
          <p:nvPr/>
        </p:nvSpPr>
        <p:spPr>
          <a:xfrm>
            <a:off x="5735588" y="4283258"/>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46" name="Rectangle 45">
            <a:extLst>
              <a:ext uri="{FF2B5EF4-FFF2-40B4-BE49-F238E27FC236}">
                <a16:creationId xmlns:a16="http://schemas.microsoft.com/office/drawing/2014/main" id="{686A2D63-7E7D-4BB1-B566-BDA94EB15DAC}"/>
              </a:ext>
            </a:extLst>
          </p:cNvPr>
          <p:cNvSpPr/>
          <p:nvPr/>
        </p:nvSpPr>
        <p:spPr>
          <a:xfrm>
            <a:off x="6188238" y="4283258"/>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47" name="Rectangle 46">
            <a:extLst>
              <a:ext uri="{FF2B5EF4-FFF2-40B4-BE49-F238E27FC236}">
                <a16:creationId xmlns:a16="http://schemas.microsoft.com/office/drawing/2014/main" id="{E1CD4DF3-29C3-494C-8D1C-10E4E85F7721}"/>
              </a:ext>
            </a:extLst>
          </p:cNvPr>
          <p:cNvSpPr/>
          <p:nvPr/>
        </p:nvSpPr>
        <p:spPr>
          <a:xfrm>
            <a:off x="5282938" y="4589733"/>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66" name="Rectangle 65">
            <a:extLst>
              <a:ext uri="{FF2B5EF4-FFF2-40B4-BE49-F238E27FC236}">
                <a16:creationId xmlns:a16="http://schemas.microsoft.com/office/drawing/2014/main" id="{5D7ED747-73D0-40B9-9CBB-7D6E04E3D473}"/>
              </a:ext>
            </a:extLst>
          </p:cNvPr>
          <p:cNvSpPr/>
          <p:nvPr/>
        </p:nvSpPr>
        <p:spPr>
          <a:xfrm>
            <a:off x="5735588" y="4589733"/>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67" name="Rectangle 66">
            <a:extLst>
              <a:ext uri="{FF2B5EF4-FFF2-40B4-BE49-F238E27FC236}">
                <a16:creationId xmlns:a16="http://schemas.microsoft.com/office/drawing/2014/main" id="{72B98A1D-6598-47E6-B60F-D2524F43FF26}"/>
              </a:ext>
            </a:extLst>
          </p:cNvPr>
          <p:cNvSpPr/>
          <p:nvPr/>
        </p:nvSpPr>
        <p:spPr>
          <a:xfrm>
            <a:off x="6188238" y="4589733"/>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68" name="Rectangle 67">
            <a:extLst>
              <a:ext uri="{FF2B5EF4-FFF2-40B4-BE49-F238E27FC236}">
                <a16:creationId xmlns:a16="http://schemas.microsoft.com/office/drawing/2014/main" id="{368CDDB7-2B2A-4CCD-9D70-9C182EE934E5}"/>
              </a:ext>
            </a:extLst>
          </p:cNvPr>
          <p:cNvSpPr/>
          <p:nvPr/>
        </p:nvSpPr>
        <p:spPr>
          <a:xfrm>
            <a:off x="7384694" y="4303130"/>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69" name="Rectangle 68">
            <a:extLst>
              <a:ext uri="{FF2B5EF4-FFF2-40B4-BE49-F238E27FC236}">
                <a16:creationId xmlns:a16="http://schemas.microsoft.com/office/drawing/2014/main" id="{244D18E1-5CAE-4EDA-9A27-F922B6EF87C5}"/>
              </a:ext>
            </a:extLst>
          </p:cNvPr>
          <p:cNvSpPr/>
          <p:nvPr/>
        </p:nvSpPr>
        <p:spPr>
          <a:xfrm>
            <a:off x="7837344" y="4303130"/>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70" name="Rectangle 69">
            <a:extLst>
              <a:ext uri="{FF2B5EF4-FFF2-40B4-BE49-F238E27FC236}">
                <a16:creationId xmlns:a16="http://schemas.microsoft.com/office/drawing/2014/main" id="{4224A25A-4F30-4707-9596-2E40F0628058}"/>
              </a:ext>
            </a:extLst>
          </p:cNvPr>
          <p:cNvSpPr/>
          <p:nvPr/>
        </p:nvSpPr>
        <p:spPr>
          <a:xfrm>
            <a:off x="8289994" y="4303130"/>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71" name="Rectangle 70">
            <a:extLst>
              <a:ext uri="{FF2B5EF4-FFF2-40B4-BE49-F238E27FC236}">
                <a16:creationId xmlns:a16="http://schemas.microsoft.com/office/drawing/2014/main" id="{FA6BEB7C-4D0C-45B2-9157-8237E6D3CF2A}"/>
              </a:ext>
            </a:extLst>
          </p:cNvPr>
          <p:cNvSpPr/>
          <p:nvPr/>
        </p:nvSpPr>
        <p:spPr>
          <a:xfrm>
            <a:off x="7383332" y="4613197"/>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72" name="Rectangle 71">
            <a:extLst>
              <a:ext uri="{FF2B5EF4-FFF2-40B4-BE49-F238E27FC236}">
                <a16:creationId xmlns:a16="http://schemas.microsoft.com/office/drawing/2014/main" id="{1E5B4157-3065-485A-886B-22CD633425FC}"/>
              </a:ext>
            </a:extLst>
          </p:cNvPr>
          <p:cNvSpPr/>
          <p:nvPr/>
        </p:nvSpPr>
        <p:spPr>
          <a:xfrm>
            <a:off x="7835982" y="4613197"/>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73" name="Rectangle 72">
            <a:extLst>
              <a:ext uri="{FF2B5EF4-FFF2-40B4-BE49-F238E27FC236}">
                <a16:creationId xmlns:a16="http://schemas.microsoft.com/office/drawing/2014/main" id="{50E68563-FEC3-4799-B93D-C97955783812}"/>
              </a:ext>
            </a:extLst>
          </p:cNvPr>
          <p:cNvSpPr/>
          <p:nvPr/>
        </p:nvSpPr>
        <p:spPr>
          <a:xfrm>
            <a:off x="8288632" y="4613197"/>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74" name="Rectangle 73">
            <a:extLst>
              <a:ext uri="{FF2B5EF4-FFF2-40B4-BE49-F238E27FC236}">
                <a16:creationId xmlns:a16="http://schemas.microsoft.com/office/drawing/2014/main" id="{2C62DA63-4354-484A-9AC2-419CAF40D25A}"/>
              </a:ext>
            </a:extLst>
          </p:cNvPr>
          <p:cNvSpPr/>
          <p:nvPr/>
        </p:nvSpPr>
        <p:spPr>
          <a:xfrm>
            <a:off x="9495552" y="4300991"/>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75" name="Rectangle 74">
            <a:extLst>
              <a:ext uri="{FF2B5EF4-FFF2-40B4-BE49-F238E27FC236}">
                <a16:creationId xmlns:a16="http://schemas.microsoft.com/office/drawing/2014/main" id="{8D9A11CF-B2CF-4BFD-9462-B3C0B7775C82}"/>
              </a:ext>
            </a:extLst>
          </p:cNvPr>
          <p:cNvSpPr/>
          <p:nvPr/>
        </p:nvSpPr>
        <p:spPr>
          <a:xfrm>
            <a:off x="9948202" y="4300991"/>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76" name="Rectangle 75">
            <a:extLst>
              <a:ext uri="{FF2B5EF4-FFF2-40B4-BE49-F238E27FC236}">
                <a16:creationId xmlns:a16="http://schemas.microsoft.com/office/drawing/2014/main" id="{2329B3FB-27F2-43C8-A893-F75BE063D46E}"/>
              </a:ext>
            </a:extLst>
          </p:cNvPr>
          <p:cNvSpPr/>
          <p:nvPr/>
        </p:nvSpPr>
        <p:spPr>
          <a:xfrm>
            <a:off x="10400852" y="4300991"/>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77" name="Rectangle 76">
            <a:extLst>
              <a:ext uri="{FF2B5EF4-FFF2-40B4-BE49-F238E27FC236}">
                <a16:creationId xmlns:a16="http://schemas.microsoft.com/office/drawing/2014/main" id="{F71BFD76-3FE3-4E8D-A6CB-A4CBC3CEDC07}"/>
              </a:ext>
            </a:extLst>
          </p:cNvPr>
          <p:cNvSpPr/>
          <p:nvPr/>
        </p:nvSpPr>
        <p:spPr>
          <a:xfrm>
            <a:off x="9495552" y="4616067"/>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78" name="Rectangle 77">
            <a:extLst>
              <a:ext uri="{FF2B5EF4-FFF2-40B4-BE49-F238E27FC236}">
                <a16:creationId xmlns:a16="http://schemas.microsoft.com/office/drawing/2014/main" id="{D279750F-0F89-4EED-9363-AD6F513FAB7F}"/>
              </a:ext>
            </a:extLst>
          </p:cNvPr>
          <p:cNvSpPr/>
          <p:nvPr/>
        </p:nvSpPr>
        <p:spPr>
          <a:xfrm>
            <a:off x="9948202" y="4616067"/>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79" name="Rectangle 78">
            <a:extLst>
              <a:ext uri="{FF2B5EF4-FFF2-40B4-BE49-F238E27FC236}">
                <a16:creationId xmlns:a16="http://schemas.microsoft.com/office/drawing/2014/main" id="{A7199271-8362-499E-8F54-20AE78F17771}"/>
              </a:ext>
            </a:extLst>
          </p:cNvPr>
          <p:cNvSpPr/>
          <p:nvPr/>
        </p:nvSpPr>
        <p:spPr>
          <a:xfrm>
            <a:off x="10400852" y="4616067"/>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80" name="Rectangle 79">
            <a:extLst>
              <a:ext uri="{FF2B5EF4-FFF2-40B4-BE49-F238E27FC236}">
                <a16:creationId xmlns:a16="http://schemas.microsoft.com/office/drawing/2014/main" id="{DC81B521-A187-4938-981F-F528EAE0A118}"/>
              </a:ext>
            </a:extLst>
          </p:cNvPr>
          <p:cNvSpPr/>
          <p:nvPr/>
        </p:nvSpPr>
        <p:spPr>
          <a:xfrm>
            <a:off x="3149339" y="5706533"/>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81" name="Rectangle 80">
            <a:extLst>
              <a:ext uri="{FF2B5EF4-FFF2-40B4-BE49-F238E27FC236}">
                <a16:creationId xmlns:a16="http://schemas.microsoft.com/office/drawing/2014/main" id="{348658FA-9DF7-434C-BCAE-0A6AA45E1105}"/>
              </a:ext>
            </a:extLst>
          </p:cNvPr>
          <p:cNvSpPr/>
          <p:nvPr/>
        </p:nvSpPr>
        <p:spPr>
          <a:xfrm>
            <a:off x="3601989" y="5706533"/>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82" name="Rectangle 81">
            <a:extLst>
              <a:ext uri="{FF2B5EF4-FFF2-40B4-BE49-F238E27FC236}">
                <a16:creationId xmlns:a16="http://schemas.microsoft.com/office/drawing/2014/main" id="{E324D1FF-D616-4268-B3F5-DEA94FEA3171}"/>
              </a:ext>
            </a:extLst>
          </p:cNvPr>
          <p:cNvSpPr/>
          <p:nvPr/>
        </p:nvSpPr>
        <p:spPr>
          <a:xfrm>
            <a:off x="4054639" y="5706533"/>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83" name="Rectangle 82">
            <a:extLst>
              <a:ext uri="{FF2B5EF4-FFF2-40B4-BE49-F238E27FC236}">
                <a16:creationId xmlns:a16="http://schemas.microsoft.com/office/drawing/2014/main" id="{72C1AD88-AF6C-48ED-BABD-132651FCCBA6}"/>
              </a:ext>
            </a:extLst>
          </p:cNvPr>
          <p:cNvSpPr/>
          <p:nvPr/>
        </p:nvSpPr>
        <p:spPr>
          <a:xfrm>
            <a:off x="3151836" y="6000683"/>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84" name="Rectangle 83">
            <a:extLst>
              <a:ext uri="{FF2B5EF4-FFF2-40B4-BE49-F238E27FC236}">
                <a16:creationId xmlns:a16="http://schemas.microsoft.com/office/drawing/2014/main" id="{73B9BD06-4DBE-4487-A9C8-77E5648C31BB}"/>
              </a:ext>
            </a:extLst>
          </p:cNvPr>
          <p:cNvSpPr/>
          <p:nvPr/>
        </p:nvSpPr>
        <p:spPr>
          <a:xfrm>
            <a:off x="3604486" y="6000683"/>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85" name="Rectangle 84">
            <a:extLst>
              <a:ext uri="{FF2B5EF4-FFF2-40B4-BE49-F238E27FC236}">
                <a16:creationId xmlns:a16="http://schemas.microsoft.com/office/drawing/2014/main" id="{F5C890BE-2277-404D-AEE3-C16F19D8C632}"/>
              </a:ext>
            </a:extLst>
          </p:cNvPr>
          <p:cNvSpPr/>
          <p:nvPr/>
        </p:nvSpPr>
        <p:spPr>
          <a:xfrm>
            <a:off x="4057136" y="6000683"/>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86" name="Rectangle 85">
            <a:extLst>
              <a:ext uri="{FF2B5EF4-FFF2-40B4-BE49-F238E27FC236}">
                <a16:creationId xmlns:a16="http://schemas.microsoft.com/office/drawing/2014/main" id="{B079A391-59DE-46D1-AF29-0DF639E6E23F}"/>
              </a:ext>
            </a:extLst>
          </p:cNvPr>
          <p:cNvSpPr/>
          <p:nvPr/>
        </p:nvSpPr>
        <p:spPr>
          <a:xfrm>
            <a:off x="5270544" y="5706533"/>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87" name="Rectangle 86">
            <a:extLst>
              <a:ext uri="{FF2B5EF4-FFF2-40B4-BE49-F238E27FC236}">
                <a16:creationId xmlns:a16="http://schemas.microsoft.com/office/drawing/2014/main" id="{AE9742C8-0681-4541-96DF-66F712FFBDA8}"/>
              </a:ext>
            </a:extLst>
          </p:cNvPr>
          <p:cNvSpPr/>
          <p:nvPr/>
        </p:nvSpPr>
        <p:spPr>
          <a:xfrm>
            <a:off x="5723194" y="5706533"/>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88" name="Rectangle 87">
            <a:extLst>
              <a:ext uri="{FF2B5EF4-FFF2-40B4-BE49-F238E27FC236}">
                <a16:creationId xmlns:a16="http://schemas.microsoft.com/office/drawing/2014/main" id="{211051B2-25E2-4145-B9C6-318C7AB8F519}"/>
              </a:ext>
            </a:extLst>
          </p:cNvPr>
          <p:cNvSpPr/>
          <p:nvPr/>
        </p:nvSpPr>
        <p:spPr>
          <a:xfrm>
            <a:off x="6175844" y="5706533"/>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89" name="Rectangle 88">
            <a:extLst>
              <a:ext uri="{FF2B5EF4-FFF2-40B4-BE49-F238E27FC236}">
                <a16:creationId xmlns:a16="http://schemas.microsoft.com/office/drawing/2014/main" id="{035DA291-BB0B-4E94-8E9A-424177376E00}"/>
              </a:ext>
            </a:extLst>
          </p:cNvPr>
          <p:cNvSpPr/>
          <p:nvPr/>
        </p:nvSpPr>
        <p:spPr>
          <a:xfrm>
            <a:off x="5267016" y="6000683"/>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90" name="Rectangle 89">
            <a:extLst>
              <a:ext uri="{FF2B5EF4-FFF2-40B4-BE49-F238E27FC236}">
                <a16:creationId xmlns:a16="http://schemas.microsoft.com/office/drawing/2014/main" id="{4B05050E-9504-49DF-840A-BB80689CD368}"/>
              </a:ext>
            </a:extLst>
          </p:cNvPr>
          <p:cNvSpPr/>
          <p:nvPr/>
        </p:nvSpPr>
        <p:spPr>
          <a:xfrm>
            <a:off x="5719666" y="6000683"/>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91" name="Rectangle 90">
            <a:extLst>
              <a:ext uri="{FF2B5EF4-FFF2-40B4-BE49-F238E27FC236}">
                <a16:creationId xmlns:a16="http://schemas.microsoft.com/office/drawing/2014/main" id="{AA0C31A5-2059-49CA-B5C4-42D63A4E4F9C}"/>
              </a:ext>
            </a:extLst>
          </p:cNvPr>
          <p:cNvSpPr/>
          <p:nvPr/>
        </p:nvSpPr>
        <p:spPr>
          <a:xfrm>
            <a:off x="6172316" y="6000683"/>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92" name="Rectangle 91">
            <a:extLst>
              <a:ext uri="{FF2B5EF4-FFF2-40B4-BE49-F238E27FC236}">
                <a16:creationId xmlns:a16="http://schemas.microsoft.com/office/drawing/2014/main" id="{B2D98615-EA8E-40A4-A9F0-3516F142DA73}"/>
              </a:ext>
            </a:extLst>
          </p:cNvPr>
          <p:cNvSpPr/>
          <p:nvPr/>
        </p:nvSpPr>
        <p:spPr>
          <a:xfrm>
            <a:off x="7368772" y="5707715"/>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93" name="Rectangle 92">
            <a:extLst>
              <a:ext uri="{FF2B5EF4-FFF2-40B4-BE49-F238E27FC236}">
                <a16:creationId xmlns:a16="http://schemas.microsoft.com/office/drawing/2014/main" id="{88EE69D8-35BA-41BF-BD43-07AC360AAB7F}"/>
              </a:ext>
            </a:extLst>
          </p:cNvPr>
          <p:cNvSpPr/>
          <p:nvPr/>
        </p:nvSpPr>
        <p:spPr>
          <a:xfrm>
            <a:off x="7821422" y="5707715"/>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94" name="Rectangle 93">
            <a:extLst>
              <a:ext uri="{FF2B5EF4-FFF2-40B4-BE49-F238E27FC236}">
                <a16:creationId xmlns:a16="http://schemas.microsoft.com/office/drawing/2014/main" id="{6DA93248-6A45-4443-8887-10253ADFC966}"/>
              </a:ext>
            </a:extLst>
          </p:cNvPr>
          <p:cNvSpPr/>
          <p:nvPr/>
        </p:nvSpPr>
        <p:spPr>
          <a:xfrm>
            <a:off x="8274072" y="5707715"/>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95" name="Rectangle 94">
            <a:extLst>
              <a:ext uri="{FF2B5EF4-FFF2-40B4-BE49-F238E27FC236}">
                <a16:creationId xmlns:a16="http://schemas.microsoft.com/office/drawing/2014/main" id="{52F37910-5304-409C-9B0E-FFC849423A0B}"/>
              </a:ext>
            </a:extLst>
          </p:cNvPr>
          <p:cNvSpPr/>
          <p:nvPr/>
        </p:nvSpPr>
        <p:spPr>
          <a:xfrm>
            <a:off x="7373213" y="5999361"/>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96" name="Rectangle 95">
            <a:extLst>
              <a:ext uri="{FF2B5EF4-FFF2-40B4-BE49-F238E27FC236}">
                <a16:creationId xmlns:a16="http://schemas.microsoft.com/office/drawing/2014/main" id="{30DE11AD-AB8C-4189-8A8F-F3021491641D}"/>
              </a:ext>
            </a:extLst>
          </p:cNvPr>
          <p:cNvSpPr/>
          <p:nvPr/>
        </p:nvSpPr>
        <p:spPr>
          <a:xfrm>
            <a:off x="7825863" y="5999361"/>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97" name="Rectangle 96">
            <a:extLst>
              <a:ext uri="{FF2B5EF4-FFF2-40B4-BE49-F238E27FC236}">
                <a16:creationId xmlns:a16="http://schemas.microsoft.com/office/drawing/2014/main" id="{BAE05A72-E0C2-410C-B038-53CB761F84D4}"/>
              </a:ext>
            </a:extLst>
          </p:cNvPr>
          <p:cNvSpPr/>
          <p:nvPr/>
        </p:nvSpPr>
        <p:spPr>
          <a:xfrm>
            <a:off x="8278513" y="5999361"/>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98" name="Rectangle 97">
            <a:extLst>
              <a:ext uri="{FF2B5EF4-FFF2-40B4-BE49-F238E27FC236}">
                <a16:creationId xmlns:a16="http://schemas.microsoft.com/office/drawing/2014/main" id="{4AF8C4EE-0555-4F1F-8B9A-CFCA924DC333}"/>
              </a:ext>
            </a:extLst>
          </p:cNvPr>
          <p:cNvSpPr/>
          <p:nvPr/>
        </p:nvSpPr>
        <p:spPr>
          <a:xfrm>
            <a:off x="9479630" y="5707964"/>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99" name="Rectangle 98">
            <a:extLst>
              <a:ext uri="{FF2B5EF4-FFF2-40B4-BE49-F238E27FC236}">
                <a16:creationId xmlns:a16="http://schemas.microsoft.com/office/drawing/2014/main" id="{CC98DA28-C118-4D9A-AF05-F213C4663CCD}"/>
              </a:ext>
            </a:extLst>
          </p:cNvPr>
          <p:cNvSpPr/>
          <p:nvPr/>
        </p:nvSpPr>
        <p:spPr>
          <a:xfrm>
            <a:off x="9932280" y="5707964"/>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100" name="Rectangle 99">
            <a:extLst>
              <a:ext uri="{FF2B5EF4-FFF2-40B4-BE49-F238E27FC236}">
                <a16:creationId xmlns:a16="http://schemas.microsoft.com/office/drawing/2014/main" id="{B8044865-F065-41F0-BC79-B681F60F8D7D}"/>
              </a:ext>
            </a:extLst>
          </p:cNvPr>
          <p:cNvSpPr/>
          <p:nvPr/>
        </p:nvSpPr>
        <p:spPr>
          <a:xfrm>
            <a:off x="10384930" y="5707964"/>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101" name="Rectangle 100">
            <a:extLst>
              <a:ext uri="{FF2B5EF4-FFF2-40B4-BE49-F238E27FC236}">
                <a16:creationId xmlns:a16="http://schemas.microsoft.com/office/drawing/2014/main" id="{8A11CF37-5AC0-49A8-9999-5493D978052A}"/>
              </a:ext>
            </a:extLst>
          </p:cNvPr>
          <p:cNvSpPr/>
          <p:nvPr/>
        </p:nvSpPr>
        <p:spPr>
          <a:xfrm>
            <a:off x="9479630" y="6006998"/>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102" name="Rectangle 101">
            <a:extLst>
              <a:ext uri="{FF2B5EF4-FFF2-40B4-BE49-F238E27FC236}">
                <a16:creationId xmlns:a16="http://schemas.microsoft.com/office/drawing/2014/main" id="{E9422FB3-A3B1-4A59-B88D-AA0C8F90D1E4}"/>
              </a:ext>
            </a:extLst>
          </p:cNvPr>
          <p:cNvSpPr/>
          <p:nvPr/>
        </p:nvSpPr>
        <p:spPr>
          <a:xfrm>
            <a:off x="9932280" y="6006998"/>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103" name="Rectangle 102">
            <a:extLst>
              <a:ext uri="{FF2B5EF4-FFF2-40B4-BE49-F238E27FC236}">
                <a16:creationId xmlns:a16="http://schemas.microsoft.com/office/drawing/2014/main" id="{030305DA-B035-426F-8A43-FD81AC505830}"/>
              </a:ext>
            </a:extLst>
          </p:cNvPr>
          <p:cNvSpPr/>
          <p:nvPr/>
        </p:nvSpPr>
        <p:spPr>
          <a:xfrm>
            <a:off x="10384930" y="6006998"/>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104" name="Footer Placeholder 2">
            <a:extLst>
              <a:ext uri="{FF2B5EF4-FFF2-40B4-BE49-F238E27FC236}">
                <a16:creationId xmlns:a16="http://schemas.microsoft.com/office/drawing/2014/main" id="{BECC0B41-F8BE-AFEE-F0F2-07EF0E0D3174}"/>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4.2 – Blocking</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2919224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0"/>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7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7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73"/>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74"/>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75"/>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76"/>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77"/>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78"/>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79"/>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48"/>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49"/>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50"/>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51"/>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52"/>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53"/>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54"/>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55"/>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56"/>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57"/>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58"/>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59"/>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65"/>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80"/>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81"/>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82"/>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83"/>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84"/>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85"/>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86"/>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87"/>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88"/>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89"/>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90"/>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91"/>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92"/>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93"/>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94"/>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95"/>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96"/>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97"/>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98"/>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99"/>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100"/>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101"/>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102"/>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1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 grpId="0" animBg="1"/>
      <p:bldP spid="13" grpId="0" animBg="1"/>
      <p:bldP spid="14" grpId="0" animBg="1"/>
      <p:bldP spid="18" grpId="0" animBg="1"/>
      <p:bldP spid="19" grpId="0" animBg="1"/>
      <p:bldP spid="20" grpId="0" animBg="1"/>
      <p:bldP spid="21" grpId="0" animBg="1"/>
      <p:bldP spid="22" grpId="0" animBg="1"/>
      <p:bldP spid="23" grpId="0" animBg="1"/>
      <p:bldP spid="30" grpId="0" animBg="1"/>
      <p:bldP spid="31" grpId="0" animBg="1"/>
      <p:bldP spid="32"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p:bldP spid="61" grpId="0"/>
      <p:bldP spid="62" grpId="0"/>
      <p:bldP spid="63" grpId="0"/>
      <p:bldP spid="64" grpId="0"/>
      <p:bldP spid="65" grpId="0"/>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B667B6A6-7EBE-4924-B738-248D29018CE8}"/>
              </a:ext>
            </a:extLst>
          </p:cNvPr>
          <p:cNvSpPr txBox="1">
            <a:spLocks/>
          </p:cNvSpPr>
          <p:nvPr/>
        </p:nvSpPr>
        <p:spPr>
          <a:xfrm>
            <a:off x="479945" y="1635939"/>
            <a:ext cx="11232109" cy="465388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 study is undertaken to determine whether there is any difference in the ability of two prescription drugs (</a:t>
            </a:r>
            <a:r>
              <a:rPr kumimoji="1" lang="en-NZ" altLang="ja-JP" sz="22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Atorvastatin</a:t>
            </a:r>
            <a:r>
              <a:rPr kumimoji="1" lang="en-NZ"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and </a:t>
            </a:r>
            <a:r>
              <a:rPr kumimoji="1" lang="en-NZ" altLang="ja-JP" sz="22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Pravastatin</a:t>
            </a:r>
            <a:r>
              <a:rPr kumimoji="1" lang="en-NZ"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to reduce the level of cholesterol in the blood stream of patients.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NZ" altLang="ja-JP" sz="2200" dirty="0">
              <a:solidFill>
                <a:prstClr val="black"/>
              </a:solidFill>
              <a:latin typeface="Calibri" panose="020F0502020204030204"/>
              <a:ea typeface="游ゴシック" panose="020B0400000000000000" pitchFamily="34" charset="-128"/>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Since cholesterol levels are known to increase with age, the age of study participants is a nuisance variable.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NZ" altLang="ja-JP" sz="2200" dirty="0">
              <a:solidFill>
                <a:prstClr val="black"/>
              </a:solidFill>
              <a:latin typeface="Calibri" panose="020F0502020204030204"/>
              <a:ea typeface="游ゴシック" panose="020B0400000000000000" pitchFamily="34" charset="-128"/>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To control for this a randomised block design (RBD) is to be employed. 20 study participants </a:t>
            </a:r>
            <a:r>
              <a:rPr lang="en-NZ" altLang="ja-JP" sz="2200" dirty="0">
                <a:solidFill>
                  <a:prstClr val="black"/>
                </a:solidFill>
                <a:latin typeface="Calibri" panose="020F0502020204030204"/>
                <a:ea typeface="游ゴシック" panose="020B0400000000000000" pitchFamily="34" charset="-128"/>
              </a:rPr>
              <a:t>have been obtained from each of the following 5 age groups:</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NZ" altLang="ja-JP" sz="2200" dirty="0">
              <a:solidFill>
                <a:prstClr val="black"/>
              </a:solidFill>
              <a:latin typeface="Calibri" panose="020F0502020204030204"/>
              <a:ea typeface="游ゴシック" panose="020B0400000000000000" pitchFamily="34" charset="-128"/>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2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18-30     31-40     41-50     51-65     65+</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Randomly assign participants one of the two treatments within each of the groups.</a:t>
            </a:r>
          </a:p>
        </p:txBody>
      </p:sp>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7" name="Title 6">
            <a:extLst>
              <a:ext uri="{FF2B5EF4-FFF2-40B4-BE49-F238E27FC236}">
                <a16:creationId xmlns:a16="http://schemas.microsoft.com/office/drawing/2014/main" id="{4ACB7FAA-E9E1-4274-A8D0-489528A3C0F6}"/>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4.2a – Blocking</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9" name="Text Placeholder 5">
            <a:extLst>
              <a:ext uri="{FF2B5EF4-FFF2-40B4-BE49-F238E27FC236}">
                <a16:creationId xmlns:a16="http://schemas.microsoft.com/office/drawing/2014/main" id="{53BA3AC8-864D-4A3B-AC22-B035A4381319}"/>
              </a:ext>
            </a:extLst>
          </p:cNvPr>
          <p:cNvSpPr txBox="1">
            <a:spLocks/>
          </p:cNvSpPr>
          <p:nvPr/>
        </p:nvSpPr>
        <p:spPr>
          <a:xfrm>
            <a:off x="479946" y="1121693"/>
            <a:ext cx="1594514" cy="46534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200" b="1" i="1" u="sng"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Example:</a:t>
            </a:r>
          </a:p>
        </p:txBody>
      </p:sp>
      <p:sp>
        <p:nvSpPr>
          <p:cNvPr id="11" name="Footer Placeholder 2">
            <a:extLst>
              <a:ext uri="{FF2B5EF4-FFF2-40B4-BE49-F238E27FC236}">
                <a16:creationId xmlns:a16="http://schemas.microsoft.com/office/drawing/2014/main" id="{E8EEC7D2-5372-3C5E-1AA8-1F4A7096B945}"/>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4.2 – Blocking</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37327688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7F14062D-E1C1-4F63-B0FD-D013BDA5782B}"/>
              </a:ext>
            </a:extLst>
          </p:cNvPr>
          <p:cNvSpPr txBox="1"/>
          <p:nvPr/>
        </p:nvSpPr>
        <p:spPr>
          <a:xfrm>
            <a:off x="43707" y="2844225"/>
            <a:ext cx="12104586" cy="7848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4.3 </a:t>
            </a:r>
            <a:r>
              <a:rPr kumimoji="0" lang="en-NZ" sz="4500" b="1" i="0" u="none" strike="noStrike" kern="1200" cap="none" spc="0" normalizeH="0" baseline="0" noProof="0">
                <a:ln>
                  <a:noFill/>
                </a:ln>
                <a:solidFill>
                  <a:srgbClr val="FFC000"/>
                </a:solidFill>
                <a:effectLst/>
                <a:uLnTx/>
                <a:uFillTx/>
                <a:latin typeface="Calibri" panose="020F0502020204030204"/>
                <a:ea typeface="+mn-ea"/>
                <a:cs typeface="+mn-cs"/>
              </a:rPr>
              <a:t>– </a:t>
            </a:r>
            <a:r>
              <a:rPr lang="en-NZ" sz="4500" b="1">
                <a:solidFill>
                  <a:srgbClr val="FFC000"/>
                </a:solidFill>
                <a:latin typeface="Calibri" panose="020F0502020204030204"/>
              </a:rPr>
              <a:t>Fixed Effects Model</a:t>
            </a:r>
            <a:endPar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13317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lide Number Placeholder 3">
            <a:extLst>
              <a:ext uri="{FF2B5EF4-FFF2-40B4-BE49-F238E27FC236}">
                <a16:creationId xmlns:a16="http://schemas.microsoft.com/office/drawing/2014/main" id="{F42142F2-738D-4672-99F6-24FF16CC3E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5" name="Text Placeholder 5">
            <a:extLst>
              <a:ext uri="{FF2B5EF4-FFF2-40B4-BE49-F238E27FC236}">
                <a16:creationId xmlns:a16="http://schemas.microsoft.com/office/drawing/2014/main" id="{ABFB436D-82C6-44DA-929D-276DC8D9D5B6}"/>
              </a:ext>
            </a:extLst>
          </p:cNvPr>
          <p:cNvSpPr txBox="1">
            <a:spLocks/>
          </p:cNvSpPr>
          <p:nvPr/>
        </p:nvSpPr>
        <p:spPr>
          <a:xfrm>
            <a:off x="251223" y="903964"/>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Suppose that we have a total of </a:t>
            </a:r>
            <a:r>
              <a:rPr kumimoji="1" lang="en-NZ" altLang="ja-JP" sz="16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i</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 1, …, k</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population groups that are…</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6" name="Text Placeholder 5">
            <a:extLst>
              <a:ext uri="{FF2B5EF4-FFF2-40B4-BE49-F238E27FC236}">
                <a16:creationId xmlns:a16="http://schemas.microsoft.com/office/drawing/2014/main" id="{C68DBC3A-A498-4137-AE68-899A285A8924}"/>
              </a:ext>
            </a:extLst>
          </p:cNvPr>
          <p:cNvSpPr txBox="1">
            <a:spLocks/>
          </p:cNvSpPr>
          <p:nvPr/>
        </p:nvSpPr>
        <p:spPr>
          <a:xfrm>
            <a:off x="760742" y="1259064"/>
            <a:ext cx="2801324" cy="10888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Independent</a:t>
            </a:r>
          </a:p>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Normally distributed</a:t>
            </a:r>
          </a:p>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Have equal variance </a:t>
            </a:r>
            <a:r>
              <a:rPr kumimoji="1" lang="el-GR"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σ</a:t>
            </a:r>
            <a:r>
              <a:rPr kumimoji="1" lang="en-NZ" altLang="ja-JP" sz="1600" b="1" i="1" u="none" strike="noStrike" kern="1200" cap="none" spc="0" normalizeH="0" baseline="30000" noProof="0" dirty="0">
                <a:ln>
                  <a:noFill/>
                </a:ln>
                <a:solidFill>
                  <a:prstClr val="black"/>
                </a:solidFill>
                <a:effectLst/>
                <a:uLnTx/>
                <a:uFillTx/>
                <a:latin typeface="Calibri" panose="020F0502020204030204"/>
                <a:ea typeface="游ゴシック" panose="020B0400000000000000" pitchFamily="34" charset="-128"/>
                <a:cs typeface="+mn-cs"/>
              </a:rPr>
              <a:t>2</a:t>
            </a:r>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20" name="Right Brace 19">
            <a:extLst>
              <a:ext uri="{FF2B5EF4-FFF2-40B4-BE49-F238E27FC236}">
                <a16:creationId xmlns:a16="http://schemas.microsoft.com/office/drawing/2014/main" id="{3488411A-84EE-4E85-8662-46928347B953}"/>
              </a:ext>
            </a:extLst>
          </p:cNvPr>
          <p:cNvSpPr/>
          <p:nvPr/>
        </p:nvSpPr>
        <p:spPr>
          <a:xfrm>
            <a:off x="3663166" y="1326360"/>
            <a:ext cx="404885" cy="81636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Placeholder 5">
            <a:extLst>
              <a:ext uri="{FF2B5EF4-FFF2-40B4-BE49-F238E27FC236}">
                <a16:creationId xmlns:a16="http://schemas.microsoft.com/office/drawing/2014/main" id="{BEC30F93-6E99-4892-908F-2EF5BEEE396F}"/>
              </a:ext>
            </a:extLst>
          </p:cNvPr>
          <p:cNvSpPr txBox="1">
            <a:spLocks/>
          </p:cNvSpPr>
          <p:nvPr/>
        </p:nvSpPr>
        <p:spPr>
          <a:xfrm>
            <a:off x="4009790" y="1532885"/>
            <a:ext cx="2377492"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ANOVA Conditions:</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4" name="Text Placeholder 5">
                <a:extLst>
                  <a:ext uri="{FF2B5EF4-FFF2-40B4-BE49-F238E27FC236}">
                    <a16:creationId xmlns:a16="http://schemas.microsoft.com/office/drawing/2014/main" id="{C3E82D89-4446-4262-B614-2D50E85B7728}"/>
                  </a:ext>
                </a:extLst>
              </p:cNvPr>
              <p:cNvSpPr txBox="1">
                <a:spLocks/>
              </p:cNvSpPr>
              <p:nvPr/>
            </p:nvSpPr>
            <p:spPr>
              <a:xfrm>
                <a:off x="251222" y="2411715"/>
                <a:ext cx="11472203"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To test between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a:t>
                </a:r>
                <a:r>
                  <a:rPr kumimoji="1" lang="en-NZ" altLang="ja-JP" sz="16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0</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and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a:t>
                </a:r>
                <a:r>
                  <a:rPr kumimoji="1" lang="en-NZ" altLang="ja-JP" sz="16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1</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we calculate the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-statistic for one-way ANOVA:</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f>
                        <m:f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𝑴𝑺𝑻</m:t>
                          </m:r>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𝑴𝑺𝑬</m:t>
                          </m:r>
                        </m:den>
                      </m:f>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f>
                        <m:f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f>
                            <m:fPr>
                              <m:type m:val="lin"/>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𝑺𝑺𝑻</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d>
                                <m:d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𝒌</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e>
                              </m:d>
                            </m:den>
                          </m:f>
                        </m:num>
                        <m:den>
                          <m:f>
                            <m:fPr>
                              <m:type m:val="lin"/>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𝑺𝑺𝑬</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𝒌</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d>
                                <m:d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𝒏</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e>
                              </m:d>
                            </m:den>
                          </m:f>
                        </m:den>
                      </m:f>
                    </m:oMath>
                  </m:oMathPara>
                </a14:m>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4" name="Text Placeholder 5">
                <a:extLst>
                  <a:ext uri="{FF2B5EF4-FFF2-40B4-BE49-F238E27FC236}">
                    <a16:creationId xmlns:a16="http://schemas.microsoft.com/office/drawing/2014/main" id="{C3E82D89-4446-4262-B614-2D50E85B7728}"/>
                  </a:ext>
                </a:extLst>
              </p:cNvPr>
              <p:cNvSpPr txBox="1">
                <a:spLocks noRot="1" noChangeAspect="1" noMove="1" noResize="1" noEditPoints="1" noAdjustHandles="1" noChangeArrowheads="1" noChangeShapeType="1" noTextEdit="1"/>
              </p:cNvSpPr>
              <p:nvPr/>
            </p:nvSpPr>
            <p:spPr>
              <a:xfrm>
                <a:off x="251222" y="2411715"/>
                <a:ext cx="11472203" cy="1021587"/>
              </a:xfrm>
              <a:prstGeom prst="rect">
                <a:avLst/>
              </a:prstGeom>
              <a:blipFill>
                <a:blip r:embed="rId2"/>
                <a:stretch>
                  <a:fillRect l="-266" t="-1796"/>
                </a:stretch>
              </a:blipFill>
            </p:spPr>
            <p:txBody>
              <a:bodyPr/>
              <a:lstStyle/>
              <a:p>
                <a:r>
                  <a:rPr lang="en-NZ">
                    <a:noFill/>
                  </a:rPr>
                  <a:t> </a:t>
                </a:r>
              </a:p>
            </p:txBody>
          </p:sp>
        </mc:Fallback>
      </mc:AlternateContent>
      <p:sp>
        <p:nvSpPr>
          <p:cNvPr id="25" name="Text Placeholder 5">
            <a:extLst>
              <a:ext uri="{FF2B5EF4-FFF2-40B4-BE49-F238E27FC236}">
                <a16:creationId xmlns:a16="http://schemas.microsoft.com/office/drawing/2014/main" id="{02DDBF7E-EE07-46AD-BFC8-7B3E224881C6}"/>
              </a:ext>
            </a:extLst>
          </p:cNvPr>
          <p:cNvSpPr txBox="1">
            <a:spLocks/>
          </p:cNvSpPr>
          <p:nvPr/>
        </p:nvSpPr>
        <p:spPr>
          <a:xfrm>
            <a:off x="7004881" y="873877"/>
            <a:ext cx="4495678" cy="12688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want to test the hypothesis that the means of all the groups are equal, i.e.</a:t>
            </a:r>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8" name="Text Placeholder 5">
                <a:extLst>
                  <a:ext uri="{FF2B5EF4-FFF2-40B4-BE49-F238E27FC236}">
                    <a16:creationId xmlns:a16="http://schemas.microsoft.com/office/drawing/2014/main" id="{EA9CB319-6E2B-4F82-BF2F-DD9249BF6E21}"/>
                  </a:ext>
                </a:extLst>
              </p:cNvPr>
              <p:cNvSpPr txBox="1">
                <a:spLocks/>
              </p:cNvSpPr>
              <p:nvPr/>
            </p:nvSpPr>
            <p:spPr>
              <a:xfrm>
                <a:off x="7146636" y="1414191"/>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sub>
                    </m:sSub>
                  </m:oMath>
                </a14:m>
                <a: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for all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𝑗</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 …, </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𝑘</m:t>
                    </m:r>
                  </m:oMath>
                </a14:m>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br>
                  <a:rPr kumimoji="1" lang="en-NZ" altLang="ja-JP" sz="20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br>
                <a14:m>
                  <m:oMath xmlns:m="http://schemas.openxmlformats.org/officeDocument/2006/math">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𝑯</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Sub>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 </m:t>
                    </m:r>
                    <m:sSub>
                      <m:sSubPr>
                        <m:ctrlP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sub>
                    </m:sSub>
                  </m:oMath>
                </a14:m>
                <a:r>
                  <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for some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𝑗</m:t>
                    </m:r>
                  </m:oMath>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8" name="Text Placeholder 5">
                <a:extLst>
                  <a:ext uri="{FF2B5EF4-FFF2-40B4-BE49-F238E27FC236}">
                    <a16:creationId xmlns:a16="http://schemas.microsoft.com/office/drawing/2014/main" id="{EA9CB319-6E2B-4F82-BF2F-DD9249BF6E21}"/>
                  </a:ext>
                </a:extLst>
              </p:cNvPr>
              <p:cNvSpPr txBox="1">
                <a:spLocks noRot="1" noChangeAspect="1" noMove="1" noResize="1" noEditPoints="1" noAdjustHandles="1" noChangeArrowheads="1" noChangeShapeType="1" noTextEdit="1"/>
              </p:cNvSpPr>
              <p:nvPr/>
            </p:nvSpPr>
            <p:spPr>
              <a:xfrm>
                <a:off x="7146636" y="1414191"/>
                <a:ext cx="3507477" cy="1021587"/>
              </a:xfrm>
              <a:prstGeom prst="rect">
                <a:avLst/>
              </a:prstGeom>
              <a:blipFill>
                <a:blip r:embed="rId3"/>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7" name="Text Placeholder 5">
                <a:extLst>
                  <a:ext uri="{FF2B5EF4-FFF2-40B4-BE49-F238E27FC236}">
                    <a16:creationId xmlns:a16="http://schemas.microsoft.com/office/drawing/2014/main" id="{54942512-63EA-41CC-995A-663D369F8F6F}"/>
                  </a:ext>
                </a:extLst>
              </p:cNvPr>
              <p:cNvSpPr txBox="1">
                <a:spLocks/>
              </p:cNvSpPr>
              <p:nvPr/>
            </p:nvSpPr>
            <p:spPr>
              <a:xfrm>
                <a:off x="251222" y="3438661"/>
                <a:ext cx="11008181" cy="62175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1" i="0" u="sng"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If</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the ANOVA conditions are satisfied then </a:t>
                </a:r>
                <a14:m>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𝒌</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𝑵</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𝒌</m:t>
                        </m:r>
                      </m:sub>
                    </m:sSub>
                  </m:oMath>
                </a14:m>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We look to see where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a:t>
                </a:r>
                <a:r>
                  <a:rPr kumimoji="1" lang="en-NZ" altLang="ja-JP" sz="16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obs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lies in the distribution of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a:t>
                </a:r>
                <a:r>
                  <a:rPr kumimoji="1" lang="en-NZ" altLang="ja-JP" sz="16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 k-1 , N-k</a:t>
                </a:r>
                <a:br>
                  <a:rPr kumimoji="1" lang="en-NZ" altLang="ja-JP" sz="16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b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p-value</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14:m>
                  <m:oMath xmlns:m="http://schemas.openxmlformats.org/officeDocument/2006/math">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𝑷</m:t>
                    </m:r>
                    <m:d>
                      <m:d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𝑭</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𝑭</m:t>
                            </m:r>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𝒐𝒃𝒔</m:t>
                            </m:r>
                          </m:sub>
                        </m:s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e>
                    </m:d>
                  </m:oMath>
                </a14:m>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gives a measure of evidence against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a:t>
                </a:r>
                <a:r>
                  <a:rPr kumimoji="1" lang="en-NZ" altLang="ja-JP" sz="16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0</a:t>
                </a:r>
                <a:r>
                  <a:rPr kumimoji="1" lang="en-NZ" altLang="ja-JP" sz="1600" b="0" i="0"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1" lang="en-NZ" altLang="ja-JP" sz="16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37" name="Text Placeholder 5">
                <a:extLst>
                  <a:ext uri="{FF2B5EF4-FFF2-40B4-BE49-F238E27FC236}">
                    <a16:creationId xmlns:a16="http://schemas.microsoft.com/office/drawing/2014/main" id="{54942512-63EA-41CC-995A-663D369F8F6F}"/>
                  </a:ext>
                </a:extLst>
              </p:cNvPr>
              <p:cNvSpPr txBox="1">
                <a:spLocks noRot="1" noChangeAspect="1" noMove="1" noResize="1" noEditPoints="1" noAdjustHandles="1" noChangeArrowheads="1" noChangeShapeType="1" noTextEdit="1"/>
              </p:cNvSpPr>
              <p:nvPr/>
            </p:nvSpPr>
            <p:spPr>
              <a:xfrm>
                <a:off x="251222" y="3438661"/>
                <a:ext cx="11008181" cy="621754"/>
              </a:xfrm>
              <a:prstGeom prst="rect">
                <a:avLst/>
              </a:prstGeom>
              <a:blipFill>
                <a:blip r:embed="rId4"/>
                <a:stretch>
                  <a:fillRect l="-277" t="-1961" b="-7843"/>
                </a:stretch>
              </a:blipFill>
            </p:spPr>
            <p:txBody>
              <a:bodyPr/>
              <a:lstStyle/>
              <a:p>
                <a:r>
                  <a:rPr lang="en-NZ">
                    <a:noFill/>
                  </a:rPr>
                  <a:t> </a:t>
                </a:r>
              </a:p>
            </p:txBody>
          </p:sp>
        </mc:Fallback>
      </mc:AlternateContent>
      <p:sp>
        <p:nvSpPr>
          <p:cNvPr id="17" name="Text Placeholder 5">
            <a:extLst>
              <a:ext uri="{FF2B5EF4-FFF2-40B4-BE49-F238E27FC236}">
                <a16:creationId xmlns:a16="http://schemas.microsoft.com/office/drawing/2014/main" id="{1A1C213D-52FF-6583-8B1B-83700053D112}"/>
              </a:ext>
            </a:extLst>
          </p:cNvPr>
          <p:cNvSpPr txBox="1">
            <a:spLocks/>
          </p:cNvSpPr>
          <p:nvPr/>
        </p:nvSpPr>
        <p:spPr>
          <a:xfrm>
            <a:off x="251221" y="4378228"/>
            <a:ext cx="4668377" cy="134209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srgbClr val="5B9BD5">
                    <a:lumMod val="50000"/>
                  </a:srgbClr>
                </a:solidFill>
                <a:effectLst/>
                <a:uLnTx/>
                <a:uFillTx/>
                <a:latin typeface="Calibri" panose="020F0502020204030204"/>
                <a:ea typeface="游ゴシック" panose="020B0400000000000000" pitchFamily="34" charset="-128"/>
                <a:cs typeface="+mn-cs"/>
              </a:rPr>
              <a:t>If we can do something that makes the </a:t>
            </a:r>
            <a:r>
              <a:rPr kumimoji="1" lang="en-NZ" altLang="ja-JP" sz="1600" b="1" i="0" u="none" strike="noStrike" kern="1200" cap="none" spc="0" normalizeH="0" baseline="0" noProof="0" dirty="0">
                <a:ln>
                  <a:noFill/>
                </a:ln>
                <a:solidFill>
                  <a:srgbClr val="5B9BD5">
                    <a:lumMod val="50000"/>
                  </a:srgbClr>
                </a:solidFill>
                <a:effectLst/>
                <a:uLnTx/>
                <a:uFillTx/>
                <a:latin typeface="Calibri" panose="020F0502020204030204"/>
                <a:ea typeface="游ゴシック" panose="020B0400000000000000" pitchFamily="34" charset="-128"/>
                <a:cs typeface="+mn-cs"/>
              </a:rPr>
              <a:t>MSE smaller,</a:t>
            </a:r>
            <a:br>
              <a:rPr kumimoji="1" lang="en-NZ" altLang="ja-JP" sz="1600" b="1" i="0" u="none" strike="noStrike" kern="1200" cap="none" spc="0" normalizeH="0" baseline="0" noProof="0" dirty="0">
                <a:ln>
                  <a:noFill/>
                </a:ln>
                <a:solidFill>
                  <a:srgbClr val="5B9BD5">
                    <a:lumMod val="50000"/>
                  </a:srgbClr>
                </a:solidFill>
                <a:effectLst/>
                <a:uLnTx/>
                <a:uFillTx/>
                <a:latin typeface="Calibri" panose="020F0502020204030204"/>
                <a:ea typeface="游ゴシック" panose="020B0400000000000000" pitchFamily="34" charset="-128"/>
                <a:cs typeface="+mn-cs"/>
              </a:rPr>
            </a:br>
            <a:r>
              <a:rPr kumimoji="1" lang="en-NZ" altLang="ja-JP" sz="1600" b="0" i="0" u="none" strike="noStrike" kern="1200" cap="none" spc="0" normalizeH="0" baseline="0" noProof="0" dirty="0">
                <a:ln>
                  <a:noFill/>
                </a:ln>
                <a:solidFill>
                  <a:srgbClr val="5B9BD5">
                    <a:lumMod val="50000"/>
                  </a:srgbClr>
                </a:solidFill>
                <a:effectLst/>
                <a:uLnTx/>
                <a:uFillTx/>
                <a:latin typeface="Calibri" panose="020F0502020204030204"/>
                <a:ea typeface="游ゴシック" panose="020B0400000000000000" pitchFamily="34" charset="-128"/>
                <a:cs typeface="+mn-cs"/>
              </a:rPr>
              <a:t>this will make the </a:t>
            </a:r>
            <a:r>
              <a:rPr kumimoji="1" lang="en-NZ" altLang="ja-JP" sz="1600" b="1" i="0" u="none" strike="noStrike" kern="1200" cap="none" spc="0" normalizeH="0" baseline="0" noProof="0" dirty="0">
                <a:ln>
                  <a:noFill/>
                </a:ln>
                <a:solidFill>
                  <a:srgbClr val="5B9BD5">
                    <a:lumMod val="50000"/>
                  </a:srgbClr>
                </a:solidFill>
                <a:effectLst/>
                <a:uLnTx/>
                <a:uFillTx/>
                <a:latin typeface="Calibri" panose="020F0502020204030204"/>
                <a:ea typeface="游ゴシック" panose="020B0400000000000000" pitchFamily="34" charset="-128"/>
                <a:cs typeface="+mn-cs"/>
              </a:rPr>
              <a:t>F-Statistic bigger.</a:t>
            </a: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1" i="0" u="none" strike="noStrike" kern="1200" cap="none" spc="0" normalizeH="0" baseline="0" noProof="0" dirty="0">
              <a:ln>
                <a:noFill/>
              </a:ln>
              <a:solidFill>
                <a:srgbClr val="5B9BD5">
                  <a:lumMod val="50000"/>
                </a:srgbClr>
              </a:solidFill>
              <a:effectLst/>
              <a:uLnTx/>
              <a:uFillTx/>
              <a:latin typeface="Calibri" panose="020F0502020204030204"/>
              <a:ea typeface="游ゴシック" panose="020B0400000000000000" pitchFamily="34" charset="-128"/>
              <a:cs typeface="+mn-cs"/>
            </a:endParaRP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srgbClr val="5B9BD5">
                    <a:lumMod val="50000"/>
                  </a:srgbClr>
                </a:solidFill>
                <a:effectLst/>
                <a:uLnTx/>
                <a:uFillTx/>
                <a:latin typeface="Calibri" panose="020F0502020204030204"/>
                <a:ea typeface="游ゴシック" panose="020B0400000000000000" pitchFamily="34" charset="-128"/>
                <a:cs typeface="+mn-cs"/>
              </a:rPr>
              <a:t>=&gt; The p-value of the test will be </a:t>
            </a:r>
            <a:r>
              <a:rPr kumimoji="1" lang="en-NZ" altLang="ja-JP" sz="1600" b="1" i="0" u="none" strike="noStrike" kern="1200" cap="none" spc="0" normalizeH="0" baseline="0" noProof="0" dirty="0">
                <a:ln>
                  <a:noFill/>
                </a:ln>
                <a:solidFill>
                  <a:srgbClr val="5B9BD5">
                    <a:lumMod val="50000"/>
                  </a:srgbClr>
                </a:solidFill>
                <a:effectLst/>
                <a:uLnTx/>
                <a:uFillTx/>
                <a:latin typeface="Calibri" panose="020F0502020204030204"/>
                <a:ea typeface="游ゴシック" panose="020B0400000000000000" pitchFamily="34" charset="-128"/>
                <a:cs typeface="+mn-cs"/>
              </a:rPr>
              <a:t>smaller</a:t>
            </a:r>
            <a:br>
              <a:rPr kumimoji="1" lang="en-NZ" altLang="ja-JP" sz="1600" b="1" i="0" u="none" strike="noStrike" kern="1200" cap="none" spc="0" normalizeH="0" baseline="0" noProof="0" dirty="0">
                <a:ln>
                  <a:noFill/>
                </a:ln>
                <a:solidFill>
                  <a:srgbClr val="5B9BD5">
                    <a:lumMod val="50000"/>
                  </a:srgbClr>
                </a:solidFill>
                <a:effectLst/>
                <a:uLnTx/>
                <a:uFillTx/>
                <a:latin typeface="Calibri" panose="020F0502020204030204"/>
                <a:ea typeface="游ゴシック" panose="020B0400000000000000" pitchFamily="34" charset="-128"/>
                <a:cs typeface="+mn-cs"/>
              </a:rPr>
            </a:br>
            <a:r>
              <a:rPr kumimoji="1" lang="en-NZ" altLang="ja-JP" sz="1600" b="0" i="0" u="none" strike="noStrike" kern="1200" cap="none" spc="0" normalizeH="0" baseline="0" noProof="0" dirty="0">
                <a:ln>
                  <a:noFill/>
                </a:ln>
                <a:solidFill>
                  <a:srgbClr val="5B9BD5">
                    <a:lumMod val="50000"/>
                  </a:srgbClr>
                </a:solidFill>
                <a:effectLst/>
                <a:uLnTx/>
                <a:uFillTx/>
                <a:latin typeface="Calibri" panose="020F0502020204030204"/>
                <a:ea typeface="游ゴシック" panose="020B0400000000000000" pitchFamily="34" charset="-128"/>
                <a:cs typeface="+mn-cs"/>
              </a:rPr>
              <a:t>=&gt; We will have more evidence against the </a:t>
            </a:r>
            <a:r>
              <a:rPr kumimoji="1" lang="en-NZ" altLang="ja-JP" sz="1600" b="1" i="1" u="none" strike="noStrike" kern="1200" cap="none" spc="0" normalizeH="0" baseline="0" noProof="0" dirty="0">
                <a:ln>
                  <a:noFill/>
                </a:ln>
                <a:solidFill>
                  <a:srgbClr val="5B9BD5">
                    <a:lumMod val="50000"/>
                  </a:srgbClr>
                </a:solidFill>
                <a:effectLst/>
                <a:uLnTx/>
                <a:uFillTx/>
                <a:latin typeface="Calibri" panose="020F0502020204030204"/>
                <a:ea typeface="游ゴシック" panose="020B0400000000000000" pitchFamily="34" charset="-128"/>
                <a:cs typeface="+mn-cs"/>
              </a:rPr>
              <a:t>H</a:t>
            </a:r>
            <a:r>
              <a:rPr kumimoji="1" lang="en-NZ" altLang="ja-JP" sz="1600" b="1" i="1" u="none" strike="noStrike" kern="1200" cap="none" spc="0" normalizeH="0" baseline="-25000" noProof="0" dirty="0">
                <a:ln>
                  <a:noFill/>
                </a:ln>
                <a:solidFill>
                  <a:srgbClr val="5B9BD5">
                    <a:lumMod val="50000"/>
                  </a:srgbClr>
                </a:solidFill>
                <a:effectLst/>
                <a:uLnTx/>
                <a:uFillTx/>
                <a:latin typeface="Calibri" panose="020F0502020204030204"/>
                <a:ea typeface="游ゴシック" panose="020B0400000000000000" pitchFamily="34" charset="-128"/>
                <a:cs typeface="+mn-cs"/>
              </a:rPr>
              <a:t>0.</a:t>
            </a:r>
            <a:endParaRPr kumimoji="1" lang="en-NZ" altLang="ja-JP" sz="1600" b="1" i="0" u="none" strike="noStrike" kern="1200" cap="none" spc="0" normalizeH="0" baseline="0" noProof="0" dirty="0">
              <a:ln>
                <a:noFill/>
              </a:ln>
              <a:solidFill>
                <a:srgbClr val="5B9BD5">
                  <a:lumMod val="50000"/>
                </a:srgbClr>
              </a:solidFill>
              <a:effectLst/>
              <a:uLnTx/>
              <a:uFillTx/>
              <a:latin typeface="Calibri" panose="020F0502020204030204"/>
              <a:ea typeface="游ゴシック" panose="020B0400000000000000" pitchFamily="34" charset="-128"/>
              <a:cs typeface="+mn-cs"/>
            </a:endParaRPr>
          </a:p>
        </p:txBody>
      </p:sp>
      <p:pic>
        <p:nvPicPr>
          <p:cNvPr id="18" name="Picture 2" descr="F Distribution - MATLAB &amp; Simulink">
            <a:extLst>
              <a:ext uri="{FF2B5EF4-FFF2-40B4-BE49-F238E27FC236}">
                <a16:creationId xmlns:a16="http://schemas.microsoft.com/office/drawing/2014/main" id="{00A42C7C-B75D-E23C-2302-D2FB81B3D2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19599" y="4060414"/>
            <a:ext cx="6563733" cy="279758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A12442CC-A5E1-217F-D3D5-DFFD365223A2}"/>
                  </a:ext>
                </a:extLst>
              </p:cNvPr>
              <p:cNvSpPr txBox="1">
                <a:spLocks/>
              </p:cNvSpPr>
              <p:nvPr/>
            </p:nvSpPr>
            <p:spPr>
              <a:xfrm>
                <a:off x="6641131" y="5720325"/>
                <a:ext cx="809159" cy="398844"/>
              </a:xfrm>
              <a:prstGeom prst="rect">
                <a:avLst/>
              </a:prstGeom>
              <a:no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𝑭</m:t>
                          </m:r>
                        </m:e>
                        <m: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𝒐𝒃𝒔</m:t>
                          </m:r>
                        </m:sub>
                      </m:sSub>
                    </m:oMath>
                  </m:oMathPara>
                </a14:m>
                <a:endParaRPr kumimoji="1" lang="en-NZ" altLang="ja-JP" sz="16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19" name="Text Placeholder 5">
                <a:extLst>
                  <a:ext uri="{FF2B5EF4-FFF2-40B4-BE49-F238E27FC236}">
                    <a16:creationId xmlns:a16="http://schemas.microsoft.com/office/drawing/2014/main" id="{A12442CC-A5E1-217F-D3D5-DFFD365223A2}"/>
                  </a:ext>
                </a:extLst>
              </p:cNvPr>
              <p:cNvSpPr txBox="1">
                <a:spLocks noRot="1" noChangeAspect="1" noMove="1" noResize="1" noEditPoints="1" noAdjustHandles="1" noChangeArrowheads="1" noChangeShapeType="1" noTextEdit="1"/>
              </p:cNvSpPr>
              <p:nvPr/>
            </p:nvSpPr>
            <p:spPr>
              <a:xfrm>
                <a:off x="6641131" y="5720325"/>
                <a:ext cx="809159" cy="398844"/>
              </a:xfrm>
              <a:prstGeom prst="rect">
                <a:avLst/>
              </a:prstGeom>
              <a:blipFill>
                <a:blip r:embed="rId6"/>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1" name="Text Placeholder 5">
                <a:extLst>
                  <a:ext uri="{FF2B5EF4-FFF2-40B4-BE49-F238E27FC236}">
                    <a16:creationId xmlns:a16="http://schemas.microsoft.com/office/drawing/2014/main" id="{DE8A0E3B-4467-5255-C099-967FAAF5A900}"/>
                  </a:ext>
                </a:extLst>
              </p:cNvPr>
              <p:cNvSpPr txBox="1">
                <a:spLocks/>
              </p:cNvSpPr>
              <p:nvPr/>
            </p:nvSpPr>
            <p:spPr>
              <a:xfrm>
                <a:off x="7237618" y="5754614"/>
                <a:ext cx="1344639" cy="398844"/>
              </a:xfrm>
              <a:prstGeom prst="rect">
                <a:avLst/>
              </a:prstGeom>
              <a:no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𝑷</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𝒐𝒃𝒔</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m:oMathPara>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1" name="Text Placeholder 5">
                <a:extLst>
                  <a:ext uri="{FF2B5EF4-FFF2-40B4-BE49-F238E27FC236}">
                    <a16:creationId xmlns:a16="http://schemas.microsoft.com/office/drawing/2014/main" id="{DE8A0E3B-4467-5255-C099-967FAAF5A900}"/>
                  </a:ext>
                </a:extLst>
              </p:cNvPr>
              <p:cNvSpPr txBox="1">
                <a:spLocks noRot="1" noChangeAspect="1" noMove="1" noResize="1" noEditPoints="1" noAdjustHandles="1" noChangeArrowheads="1" noChangeShapeType="1" noTextEdit="1"/>
              </p:cNvSpPr>
              <p:nvPr/>
            </p:nvSpPr>
            <p:spPr>
              <a:xfrm>
                <a:off x="7237618" y="5754614"/>
                <a:ext cx="1344639" cy="398844"/>
              </a:xfrm>
              <a:prstGeom prst="rect">
                <a:avLst/>
              </a:prstGeom>
              <a:blipFill>
                <a:blip r:embed="rId7"/>
                <a:stretch>
                  <a:fillRect/>
                </a:stretch>
              </a:blipFill>
            </p:spPr>
            <p:txBody>
              <a:bodyPr/>
              <a:lstStyle/>
              <a:p>
                <a:r>
                  <a:rPr lang="en-NZ">
                    <a:noFill/>
                  </a:rPr>
                  <a:t> </a:t>
                </a:r>
              </a:p>
            </p:txBody>
          </p:sp>
        </mc:Fallback>
      </mc:AlternateContent>
      <p:cxnSp>
        <p:nvCxnSpPr>
          <p:cNvPr id="27" name="Straight Connector 26">
            <a:extLst>
              <a:ext uri="{FF2B5EF4-FFF2-40B4-BE49-F238E27FC236}">
                <a16:creationId xmlns:a16="http://schemas.microsoft.com/office/drawing/2014/main" id="{8F73EAE7-5334-878C-74A4-779236114556}"/>
              </a:ext>
            </a:extLst>
          </p:cNvPr>
          <p:cNvCxnSpPr>
            <a:cxnSpLocks/>
          </p:cNvCxnSpPr>
          <p:nvPr/>
        </p:nvCxnSpPr>
        <p:spPr>
          <a:xfrm>
            <a:off x="6857573" y="6057997"/>
            <a:ext cx="0" cy="462331"/>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29" name="Text Placeholder 5">
            <a:extLst>
              <a:ext uri="{FF2B5EF4-FFF2-40B4-BE49-F238E27FC236}">
                <a16:creationId xmlns:a16="http://schemas.microsoft.com/office/drawing/2014/main" id="{09730B39-2730-67DE-90C8-04EED30DBF03}"/>
              </a:ext>
            </a:extLst>
          </p:cNvPr>
          <p:cNvSpPr txBox="1">
            <a:spLocks/>
          </p:cNvSpPr>
          <p:nvPr/>
        </p:nvSpPr>
        <p:spPr>
          <a:xfrm>
            <a:off x="291244" y="5894327"/>
            <a:ext cx="4668377" cy="5766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By making the MSE smaller </a:t>
            </a:r>
            <a:br>
              <a:rPr kumimoji="1" lang="en-NZ" altLang="ja-JP" sz="16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br>
            <a:r>
              <a:rPr kumimoji="1" lang="en-NZ" altLang="ja-JP" sz="16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we increase the power of our test.</a:t>
            </a:r>
          </a:p>
        </p:txBody>
      </p:sp>
      <p:sp>
        <p:nvSpPr>
          <p:cNvPr id="26" name="Title 6">
            <a:extLst>
              <a:ext uri="{FF2B5EF4-FFF2-40B4-BE49-F238E27FC236}">
                <a16:creationId xmlns:a16="http://schemas.microsoft.com/office/drawing/2014/main" id="{4C254002-93AF-4F08-DB69-9241CAF73684}"/>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Recap of Last Lecture</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30" name="Footer Placeholder 2">
            <a:extLst>
              <a:ext uri="{FF2B5EF4-FFF2-40B4-BE49-F238E27FC236}">
                <a16:creationId xmlns:a16="http://schemas.microsoft.com/office/drawing/2014/main" id="{D57E36AA-33E9-16DA-35B3-35503ECBE3D0}"/>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Recap of Last Lecture</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3359739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nodeType="clickEffect">
                                  <p:stCondLst>
                                    <p:cond delay="0"/>
                                  </p:stCondLst>
                                  <p:childTnLst>
                                    <p:animMotion origin="layout" path="M 0 1.85185E-6 L 0.16732 0.00856 " pathEditMode="relative" rAng="0" ptsTypes="AA">
                                      <p:cBhvr>
                                        <p:cTn id="10" dur="2000" fill="hold"/>
                                        <p:tgtEl>
                                          <p:spTgt spid="27"/>
                                        </p:tgtEl>
                                        <p:attrNameLst>
                                          <p:attrName>ppt_x</p:attrName>
                                          <p:attrName>ppt_y</p:attrName>
                                        </p:attrNameLst>
                                      </p:cBhvr>
                                      <p:rCtr x="8359" y="417"/>
                                    </p:animMotion>
                                  </p:childTnLst>
                                </p:cTn>
                              </p:par>
                              <p:par>
                                <p:cTn id="11" presetID="42" presetClass="path" presetSubtype="0" accel="50000" decel="50000" fill="hold" grpId="0" nodeType="withEffect">
                                  <p:stCondLst>
                                    <p:cond delay="0"/>
                                  </p:stCondLst>
                                  <p:childTnLst>
                                    <p:animMotion origin="layout" path="M -4.58333E-6 -4.44444E-6 L 0.17448 0.0051 " pathEditMode="relative" rAng="0" ptsTypes="AA">
                                      <p:cBhvr>
                                        <p:cTn id="12" dur="2000" fill="hold"/>
                                        <p:tgtEl>
                                          <p:spTgt spid="19"/>
                                        </p:tgtEl>
                                        <p:attrNameLst>
                                          <p:attrName>ppt_x</p:attrName>
                                          <p:attrName>ppt_y</p:attrName>
                                        </p:attrNameLst>
                                      </p:cBhvr>
                                      <p:rCtr x="8724" y="255"/>
                                    </p:animMotion>
                                  </p:childTnLst>
                                </p:cTn>
                              </p:par>
                              <p:par>
                                <p:cTn id="13" presetID="42" presetClass="path" presetSubtype="0" accel="50000" decel="50000" fill="hold" grpId="0" nodeType="withEffect">
                                  <p:stCondLst>
                                    <p:cond delay="0"/>
                                  </p:stCondLst>
                                  <p:childTnLst>
                                    <p:animMotion origin="layout" path="M 2.08333E-6 4.44444E-6 L 0.1763 0.00463 " pathEditMode="relative" rAng="0" ptsTypes="AA">
                                      <p:cBhvr>
                                        <p:cTn id="14" dur="2000" fill="hold"/>
                                        <p:tgtEl>
                                          <p:spTgt spid="21"/>
                                        </p:tgtEl>
                                        <p:attrNameLst>
                                          <p:attrName>ppt_x</p:attrName>
                                          <p:attrName>ppt_y</p:attrName>
                                        </p:attrNameLst>
                                      </p:cBhvr>
                                      <p:rCtr x="8815" y="231"/>
                                    </p:animMotion>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P spid="21" grpId="0" animBg="1"/>
      <p:bldP spid="2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9" name="Text Placeholder 5">
            <a:extLst>
              <a:ext uri="{FF2B5EF4-FFF2-40B4-BE49-F238E27FC236}">
                <a16:creationId xmlns:a16="http://schemas.microsoft.com/office/drawing/2014/main" id="{6A19F20A-749C-448B-8284-DA484C0479D8}"/>
              </a:ext>
            </a:extLst>
          </p:cNvPr>
          <p:cNvSpPr txBox="1">
            <a:spLocks/>
          </p:cNvSpPr>
          <p:nvPr/>
        </p:nvSpPr>
        <p:spPr>
          <a:xfrm>
            <a:off x="207498" y="912392"/>
            <a:ext cx="11777003"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Instead of randomly allocating treatments over all experimental units (as in a CRD), more power is obtained by first grouping the units into blocks of relatively homogenous groups and then allocating the treatment randomly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within</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each block.</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1" name="Text Placeholder 5">
            <a:extLst>
              <a:ext uri="{FF2B5EF4-FFF2-40B4-BE49-F238E27FC236}">
                <a16:creationId xmlns:a16="http://schemas.microsoft.com/office/drawing/2014/main" id="{543C0405-3094-4901-B1A4-A7BE63507CC8}"/>
              </a:ext>
            </a:extLst>
          </p:cNvPr>
          <p:cNvSpPr txBox="1">
            <a:spLocks/>
          </p:cNvSpPr>
          <p:nvPr/>
        </p:nvSpPr>
        <p:spPr>
          <a:xfrm>
            <a:off x="207498" y="1734394"/>
            <a:ext cx="11777003" cy="90528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Although there are many sorts of block designs, the most common is to have one and only one instance of each treatment within each block (</a:t>
            </a:r>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non-replicated design</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2" name="Text Placeholder 5">
            <a:extLst>
              <a:ext uri="{FF2B5EF4-FFF2-40B4-BE49-F238E27FC236}">
                <a16:creationId xmlns:a16="http://schemas.microsoft.com/office/drawing/2014/main" id="{201A442B-B4B2-4B61-81BA-E5ADA4650079}"/>
              </a:ext>
            </a:extLst>
          </p:cNvPr>
          <p:cNvSpPr txBox="1">
            <a:spLocks/>
          </p:cNvSpPr>
          <p:nvPr/>
        </p:nvSpPr>
        <p:spPr>
          <a:xfrm>
            <a:off x="207498" y="2678760"/>
            <a:ext cx="11777003" cy="124497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Example: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 study is to be conducted to determine if three prescription drugs (</a:t>
            </a:r>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B</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&amp; </a:t>
            </a:r>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C</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have any effect on the blood-sugar levels of diabetic patients. It is known that blood-sugar levels are affected by a patients diet (i.e. diet is a nuisance variable). A total of </a:t>
            </a:r>
            <a:r>
              <a:rPr kumimoji="1" lang="en-NZ" altLang="ja-JP" sz="1800" b="0" i="0" u="none" strike="noStrike" kern="1200" cap="none" spc="0" normalizeH="0" baseline="0" noProof="0" dirty="0">
                <a:ln>
                  <a:noFill/>
                </a:ln>
                <a:solidFill>
                  <a:srgbClr val="FF0000"/>
                </a:solidFill>
                <a:effectLst/>
                <a:uLnTx/>
                <a:uFillTx/>
                <a:latin typeface="Calibri" panose="020F0502020204030204"/>
                <a:ea typeface="游ゴシック" panose="020B0400000000000000" pitchFamily="34" charset="-128"/>
                <a:cs typeface="+mn-cs"/>
              </a:rPr>
              <a:t>12</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study participants are recruited and are ranked on the basis of the quality of their diets and put into one of four blocks (</a:t>
            </a:r>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poor diet</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below </a:t>
            </a:r>
            <a:r>
              <a:rPr kumimoji="1" lang="en-NZ" altLang="ja-JP" sz="1800" b="1" i="0"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avg</a:t>
            </a:r>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diet</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above </a:t>
            </a:r>
            <a:r>
              <a:rPr kumimoji="1" lang="en-NZ" altLang="ja-JP" sz="1800" b="1" i="0"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avg</a:t>
            </a:r>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diet</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excellent diet</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2" name="Rectangle 1">
            <a:extLst>
              <a:ext uri="{FF2B5EF4-FFF2-40B4-BE49-F238E27FC236}">
                <a16:creationId xmlns:a16="http://schemas.microsoft.com/office/drawing/2014/main" id="{B240CD46-846A-4AAB-ADEC-F0D3681A275B}"/>
              </a:ext>
            </a:extLst>
          </p:cNvPr>
          <p:cNvSpPr/>
          <p:nvPr/>
        </p:nvSpPr>
        <p:spPr>
          <a:xfrm>
            <a:off x="3165261" y="4554996"/>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A</a:t>
            </a:r>
          </a:p>
        </p:txBody>
      </p:sp>
      <p:sp>
        <p:nvSpPr>
          <p:cNvPr id="13" name="Rectangle 12">
            <a:extLst>
              <a:ext uri="{FF2B5EF4-FFF2-40B4-BE49-F238E27FC236}">
                <a16:creationId xmlns:a16="http://schemas.microsoft.com/office/drawing/2014/main" id="{ED317EBE-42CE-47BD-A4CC-0DB6333DBE0B}"/>
              </a:ext>
            </a:extLst>
          </p:cNvPr>
          <p:cNvSpPr/>
          <p:nvPr/>
        </p:nvSpPr>
        <p:spPr>
          <a:xfrm>
            <a:off x="3617911" y="4554996"/>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A</a:t>
            </a:r>
          </a:p>
        </p:txBody>
      </p:sp>
      <p:sp>
        <p:nvSpPr>
          <p:cNvPr id="14" name="Rectangle 13">
            <a:extLst>
              <a:ext uri="{FF2B5EF4-FFF2-40B4-BE49-F238E27FC236}">
                <a16:creationId xmlns:a16="http://schemas.microsoft.com/office/drawing/2014/main" id="{D7916F06-6F0A-44D9-B551-3DB244B5A2FF}"/>
              </a:ext>
            </a:extLst>
          </p:cNvPr>
          <p:cNvSpPr/>
          <p:nvPr/>
        </p:nvSpPr>
        <p:spPr>
          <a:xfrm>
            <a:off x="4070561" y="4554996"/>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C</a:t>
            </a:r>
          </a:p>
        </p:txBody>
      </p:sp>
      <p:sp>
        <p:nvSpPr>
          <p:cNvPr id="18" name="Rectangle 17">
            <a:extLst>
              <a:ext uri="{FF2B5EF4-FFF2-40B4-BE49-F238E27FC236}">
                <a16:creationId xmlns:a16="http://schemas.microsoft.com/office/drawing/2014/main" id="{ED66511A-20A9-468A-B15D-FF1FB84B31CE}"/>
              </a:ext>
            </a:extLst>
          </p:cNvPr>
          <p:cNvSpPr/>
          <p:nvPr/>
        </p:nvSpPr>
        <p:spPr>
          <a:xfrm>
            <a:off x="5282938" y="4554996"/>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A</a:t>
            </a:r>
          </a:p>
        </p:txBody>
      </p:sp>
      <p:sp>
        <p:nvSpPr>
          <p:cNvPr id="19" name="Rectangle 18">
            <a:extLst>
              <a:ext uri="{FF2B5EF4-FFF2-40B4-BE49-F238E27FC236}">
                <a16:creationId xmlns:a16="http://schemas.microsoft.com/office/drawing/2014/main" id="{02128C86-1AA3-4BF1-AFB6-1A35077E4E59}"/>
              </a:ext>
            </a:extLst>
          </p:cNvPr>
          <p:cNvSpPr/>
          <p:nvPr/>
        </p:nvSpPr>
        <p:spPr>
          <a:xfrm>
            <a:off x="5735588" y="4554996"/>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A</a:t>
            </a:r>
          </a:p>
        </p:txBody>
      </p:sp>
      <p:sp>
        <p:nvSpPr>
          <p:cNvPr id="20" name="Rectangle 19">
            <a:extLst>
              <a:ext uri="{FF2B5EF4-FFF2-40B4-BE49-F238E27FC236}">
                <a16:creationId xmlns:a16="http://schemas.microsoft.com/office/drawing/2014/main" id="{D88F790D-A41C-493E-8021-65BB2F165C13}"/>
              </a:ext>
            </a:extLst>
          </p:cNvPr>
          <p:cNvSpPr/>
          <p:nvPr/>
        </p:nvSpPr>
        <p:spPr>
          <a:xfrm>
            <a:off x="6188238" y="4554996"/>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B</a:t>
            </a:r>
          </a:p>
        </p:txBody>
      </p:sp>
      <p:sp>
        <p:nvSpPr>
          <p:cNvPr id="21" name="Rectangle 20">
            <a:extLst>
              <a:ext uri="{FF2B5EF4-FFF2-40B4-BE49-F238E27FC236}">
                <a16:creationId xmlns:a16="http://schemas.microsoft.com/office/drawing/2014/main" id="{9E4133E1-DF36-4A09-B1AC-91F60992E9CD}"/>
              </a:ext>
            </a:extLst>
          </p:cNvPr>
          <p:cNvSpPr/>
          <p:nvPr/>
        </p:nvSpPr>
        <p:spPr>
          <a:xfrm>
            <a:off x="7384694" y="4554996"/>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C</a:t>
            </a:r>
          </a:p>
        </p:txBody>
      </p:sp>
      <p:sp>
        <p:nvSpPr>
          <p:cNvPr id="22" name="Rectangle 21">
            <a:extLst>
              <a:ext uri="{FF2B5EF4-FFF2-40B4-BE49-F238E27FC236}">
                <a16:creationId xmlns:a16="http://schemas.microsoft.com/office/drawing/2014/main" id="{77EAAE05-B712-4DBB-A996-CB3D7B6A94BF}"/>
              </a:ext>
            </a:extLst>
          </p:cNvPr>
          <p:cNvSpPr/>
          <p:nvPr/>
        </p:nvSpPr>
        <p:spPr>
          <a:xfrm>
            <a:off x="7837344" y="4554996"/>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B</a:t>
            </a:r>
          </a:p>
        </p:txBody>
      </p:sp>
      <p:sp>
        <p:nvSpPr>
          <p:cNvPr id="23" name="Rectangle 22">
            <a:extLst>
              <a:ext uri="{FF2B5EF4-FFF2-40B4-BE49-F238E27FC236}">
                <a16:creationId xmlns:a16="http://schemas.microsoft.com/office/drawing/2014/main" id="{321E6647-5498-4D24-A871-C62AE45DBCEF}"/>
              </a:ext>
            </a:extLst>
          </p:cNvPr>
          <p:cNvSpPr/>
          <p:nvPr/>
        </p:nvSpPr>
        <p:spPr>
          <a:xfrm>
            <a:off x="8289994" y="4554996"/>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B</a:t>
            </a:r>
          </a:p>
        </p:txBody>
      </p:sp>
      <p:sp>
        <p:nvSpPr>
          <p:cNvPr id="30" name="Rectangle 29">
            <a:extLst>
              <a:ext uri="{FF2B5EF4-FFF2-40B4-BE49-F238E27FC236}">
                <a16:creationId xmlns:a16="http://schemas.microsoft.com/office/drawing/2014/main" id="{45EAE732-8CCC-4E3D-B60C-2FBD69B1CC3D}"/>
              </a:ext>
            </a:extLst>
          </p:cNvPr>
          <p:cNvSpPr/>
          <p:nvPr/>
        </p:nvSpPr>
        <p:spPr>
          <a:xfrm>
            <a:off x="9495552" y="4554996"/>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B</a:t>
            </a:r>
          </a:p>
        </p:txBody>
      </p:sp>
      <p:sp>
        <p:nvSpPr>
          <p:cNvPr id="31" name="Rectangle 30">
            <a:extLst>
              <a:ext uri="{FF2B5EF4-FFF2-40B4-BE49-F238E27FC236}">
                <a16:creationId xmlns:a16="http://schemas.microsoft.com/office/drawing/2014/main" id="{31CD5426-4277-424E-ABC9-75127006C2C7}"/>
              </a:ext>
            </a:extLst>
          </p:cNvPr>
          <p:cNvSpPr/>
          <p:nvPr/>
        </p:nvSpPr>
        <p:spPr>
          <a:xfrm>
            <a:off x="9948202" y="4554996"/>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C</a:t>
            </a:r>
          </a:p>
        </p:txBody>
      </p:sp>
      <p:sp>
        <p:nvSpPr>
          <p:cNvPr id="32" name="Rectangle 31">
            <a:extLst>
              <a:ext uri="{FF2B5EF4-FFF2-40B4-BE49-F238E27FC236}">
                <a16:creationId xmlns:a16="http://schemas.microsoft.com/office/drawing/2014/main" id="{C3F19C08-B33A-4B00-A0D2-1FF08E91139B}"/>
              </a:ext>
            </a:extLst>
          </p:cNvPr>
          <p:cNvSpPr/>
          <p:nvPr/>
        </p:nvSpPr>
        <p:spPr>
          <a:xfrm>
            <a:off x="10400852" y="4554996"/>
            <a:ext cx="436728" cy="272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C</a:t>
            </a:r>
          </a:p>
        </p:txBody>
      </p:sp>
      <p:sp>
        <p:nvSpPr>
          <p:cNvPr id="48" name="Rectangle 47">
            <a:extLst>
              <a:ext uri="{FF2B5EF4-FFF2-40B4-BE49-F238E27FC236}">
                <a16:creationId xmlns:a16="http://schemas.microsoft.com/office/drawing/2014/main" id="{378CD1E5-FB19-42E0-A890-275F07D17BAD}"/>
              </a:ext>
            </a:extLst>
          </p:cNvPr>
          <p:cNvSpPr/>
          <p:nvPr/>
        </p:nvSpPr>
        <p:spPr>
          <a:xfrm>
            <a:off x="3165261" y="5558215"/>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A</a:t>
            </a:r>
          </a:p>
        </p:txBody>
      </p:sp>
      <p:sp>
        <p:nvSpPr>
          <p:cNvPr id="49" name="Rectangle 48">
            <a:extLst>
              <a:ext uri="{FF2B5EF4-FFF2-40B4-BE49-F238E27FC236}">
                <a16:creationId xmlns:a16="http://schemas.microsoft.com/office/drawing/2014/main" id="{C900CCF3-879B-44AC-A827-DBA4369BCFDE}"/>
              </a:ext>
            </a:extLst>
          </p:cNvPr>
          <p:cNvSpPr/>
          <p:nvPr/>
        </p:nvSpPr>
        <p:spPr>
          <a:xfrm>
            <a:off x="3617911" y="5558215"/>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C</a:t>
            </a:r>
          </a:p>
        </p:txBody>
      </p:sp>
      <p:sp>
        <p:nvSpPr>
          <p:cNvPr id="50" name="Rectangle 49">
            <a:extLst>
              <a:ext uri="{FF2B5EF4-FFF2-40B4-BE49-F238E27FC236}">
                <a16:creationId xmlns:a16="http://schemas.microsoft.com/office/drawing/2014/main" id="{D62F9244-82EF-433B-A55F-AA2DC4E41C1D}"/>
              </a:ext>
            </a:extLst>
          </p:cNvPr>
          <p:cNvSpPr/>
          <p:nvPr/>
        </p:nvSpPr>
        <p:spPr>
          <a:xfrm>
            <a:off x="4070561" y="5558215"/>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B</a:t>
            </a:r>
          </a:p>
        </p:txBody>
      </p:sp>
      <p:sp>
        <p:nvSpPr>
          <p:cNvPr id="51" name="Rectangle 50">
            <a:extLst>
              <a:ext uri="{FF2B5EF4-FFF2-40B4-BE49-F238E27FC236}">
                <a16:creationId xmlns:a16="http://schemas.microsoft.com/office/drawing/2014/main" id="{087A0354-11F0-48CE-A6C4-6146C2332E2E}"/>
              </a:ext>
            </a:extLst>
          </p:cNvPr>
          <p:cNvSpPr/>
          <p:nvPr/>
        </p:nvSpPr>
        <p:spPr>
          <a:xfrm>
            <a:off x="5282938" y="5558215"/>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C</a:t>
            </a:r>
          </a:p>
        </p:txBody>
      </p:sp>
      <p:sp>
        <p:nvSpPr>
          <p:cNvPr id="52" name="Rectangle 51">
            <a:extLst>
              <a:ext uri="{FF2B5EF4-FFF2-40B4-BE49-F238E27FC236}">
                <a16:creationId xmlns:a16="http://schemas.microsoft.com/office/drawing/2014/main" id="{B960D53D-FCF4-4253-9F38-9F2445B59B43}"/>
              </a:ext>
            </a:extLst>
          </p:cNvPr>
          <p:cNvSpPr/>
          <p:nvPr/>
        </p:nvSpPr>
        <p:spPr>
          <a:xfrm>
            <a:off x="5735588" y="5558215"/>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B</a:t>
            </a:r>
          </a:p>
        </p:txBody>
      </p:sp>
      <p:sp>
        <p:nvSpPr>
          <p:cNvPr id="53" name="Rectangle 52">
            <a:extLst>
              <a:ext uri="{FF2B5EF4-FFF2-40B4-BE49-F238E27FC236}">
                <a16:creationId xmlns:a16="http://schemas.microsoft.com/office/drawing/2014/main" id="{47086D22-AFE9-465C-9BAA-27428F0463EA}"/>
              </a:ext>
            </a:extLst>
          </p:cNvPr>
          <p:cNvSpPr/>
          <p:nvPr/>
        </p:nvSpPr>
        <p:spPr>
          <a:xfrm>
            <a:off x="6188238" y="5558215"/>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A</a:t>
            </a:r>
          </a:p>
        </p:txBody>
      </p:sp>
      <p:sp>
        <p:nvSpPr>
          <p:cNvPr id="54" name="Rectangle 53">
            <a:extLst>
              <a:ext uri="{FF2B5EF4-FFF2-40B4-BE49-F238E27FC236}">
                <a16:creationId xmlns:a16="http://schemas.microsoft.com/office/drawing/2014/main" id="{FA183E65-DE97-48EE-B969-6F2705BBB91A}"/>
              </a:ext>
            </a:extLst>
          </p:cNvPr>
          <p:cNvSpPr/>
          <p:nvPr/>
        </p:nvSpPr>
        <p:spPr>
          <a:xfrm>
            <a:off x="7384694" y="5558215"/>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A</a:t>
            </a:r>
          </a:p>
        </p:txBody>
      </p:sp>
      <p:sp>
        <p:nvSpPr>
          <p:cNvPr id="55" name="Rectangle 54">
            <a:extLst>
              <a:ext uri="{FF2B5EF4-FFF2-40B4-BE49-F238E27FC236}">
                <a16:creationId xmlns:a16="http://schemas.microsoft.com/office/drawing/2014/main" id="{553D833F-3357-4327-BB76-8E294ED676A5}"/>
              </a:ext>
            </a:extLst>
          </p:cNvPr>
          <p:cNvSpPr/>
          <p:nvPr/>
        </p:nvSpPr>
        <p:spPr>
          <a:xfrm>
            <a:off x="7837344" y="5558215"/>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B</a:t>
            </a:r>
          </a:p>
        </p:txBody>
      </p:sp>
      <p:sp>
        <p:nvSpPr>
          <p:cNvPr id="56" name="Rectangle 55">
            <a:extLst>
              <a:ext uri="{FF2B5EF4-FFF2-40B4-BE49-F238E27FC236}">
                <a16:creationId xmlns:a16="http://schemas.microsoft.com/office/drawing/2014/main" id="{B8B84A6C-ECBB-4782-B18C-BE44D450FD65}"/>
              </a:ext>
            </a:extLst>
          </p:cNvPr>
          <p:cNvSpPr/>
          <p:nvPr/>
        </p:nvSpPr>
        <p:spPr>
          <a:xfrm>
            <a:off x="8289994" y="5558215"/>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C</a:t>
            </a:r>
          </a:p>
        </p:txBody>
      </p:sp>
      <p:sp>
        <p:nvSpPr>
          <p:cNvPr id="57" name="Rectangle 56">
            <a:extLst>
              <a:ext uri="{FF2B5EF4-FFF2-40B4-BE49-F238E27FC236}">
                <a16:creationId xmlns:a16="http://schemas.microsoft.com/office/drawing/2014/main" id="{387A466E-66B6-40EB-8292-C67AEECA7736}"/>
              </a:ext>
            </a:extLst>
          </p:cNvPr>
          <p:cNvSpPr/>
          <p:nvPr/>
        </p:nvSpPr>
        <p:spPr>
          <a:xfrm>
            <a:off x="9495552" y="5558215"/>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B</a:t>
            </a:r>
          </a:p>
        </p:txBody>
      </p:sp>
      <p:sp>
        <p:nvSpPr>
          <p:cNvPr id="58" name="Rectangle 57">
            <a:extLst>
              <a:ext uri="{FF2B5EF4-FFF2-40B4-BE49-F238E27FC236}">
                <a16:creationId xmlns:a16="http://schemas.microsoft.com/office/drawing/2014/main" id="{5736E835-0BB4-45D6-B572-16EB9551D5DE}"/>
              </a:ext>
            </a:extLst>
          </p:cNvPr>
          <p:cNvSpPr/>
          <p:nvPr/>
        </p:nvSpPr>
        <p:spPr>
          <a:xfrm>
            <a:off x="9948202" y="5558215"/>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A</a:t>
            </a:r>
          </a:p>
        </p:txBody>
      </p:sp>
      <p:sp>
        <p:nvSpPr>
          <p:cNvPr id="59" name="Rectangle 58">
            <a:extLst>
              <a:ext uri="{FF2B5EF4-FFF2-40B4-BE49-F238E27FC236}">
                <a16:creationId xmlns:a16="http://schemas.microsoft.com/office/drawing/2014/main" id="{092ECF34-81EC-40BC-97E6-B4D8B81C3925}"/>
              </a:ext>
            </a:extLst>
          </p:cNvPr>
          <p:cNvSpPr/>
          <p:nvPr/>
        </p:nvSpPr>
        <p:spPr>
          <a:xfrm>
            <a:off x="10400852" y="5558215"/>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C</a:t>
            </a:r>
          </a:p>
        </p:txBody>
      </p:sp>
      <p:sp>
        <p:nvSpPr>
          <p:cNvPr id="60" name="Text Placeholder 5">
            <a:extLst>
              <a:ext uri="{FF2B5EF4-FFF2-40B4-BE49-F238E27FC236}">
                <a16:creationId xmlns:a16="http://schemas.microsoft.com/office/drawing/2014/main" id="{F8A45756-B620-4521-9572-6A2628C59792}"/>
              </a:ext>
            </a:extLst>
          </p:cNvPr>
          <p:cNvSpPr txBox="1">
            <a:spLocks/>
          </p:cNvSpPr>
          <p:nvPr/>
        </p:nvSpPr>
        <p:spPr>
          <a:xfrm>
            <a:off x="428136" y="4213326"/>
            <a:ext cx="1977397" cy="100011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0" i="0" u="none" strike="noStrike" kern="1200" cap="none" spc="0" normalizeH="0" baseline="0" noProof="0" dirty="0">
                <a:ln>
                  <a:noFill/>
                </a:ln>
                <a:solidFill>
                  <a:prstClr val="black">
                    <a:lumMod val="75000"/>
                    <a:lumOff val="25000"/>
                  </a:prstClr>
                </a:solidFill>
                <a:effectLst/>
                <a:uLnTx/>
                <a:uFillTx/>
                <a:latin typeface="Calibri" panose="020F0502020204030204"/>
                <a:ea typeface="游ゴシック" panose="020B0400000000000000" pitchFamily="34" charset="-128"/>
                <a:cs typeface="+mn-cs"/>
              </a:rPr>
              <a:t>In a CRD participants are allocated at random to one of the three treatments (A, B or C)</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0" i="0" u="none" strike="noStrike" kern="1200" cap="none" spc="0" normalizeH="0" baseline="0" noProof="0" dirty="0">
              <a:ln>
                <a:noFill/>
              </a:ln>
              <a:solidFill>
                <a:prstClr val="black">
                  <a:lumMod val="75000"/>
                  <a:lumOff val="25000"/>
                </a:prstClr>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0" i="1" u="none" strike="noStrike" kern="1200" cap="none" spc="0" normalizeH="0" baseline="0" noProof="0" dirty="0">
              <a:ln>
                <a:noFill/>
              </a:ln>
              <a:solidFill>
                <a:prstClr val="black">
                  <a:lumMod val="75000"/>
                  <a:lumOff val="25000"/>
                </a:prstClr>
              </a:solidFill>
              <a:effectLst/>
              <a:uLnTx/>
              <a:uFillTx/>
              <a:latin typeface="Calibri" panose="020F0502020204030204"/>
              <a:ea typeface="游ゴシック" panose="020B0400000000000000" pitchFamily="34" charset="-128"/>
              <a:cs typeface="+mn-cs"/>
            </a:endParaRPr>
          </a:p>
        </p:txBody>
      </p:sp>
      <p:sp>
        <p:nvSpPr>
          <p:cNvPr id="61" name="Text Placeholder 5">
            <a:extLst>
              <a:ext uri="{FF2B5EF4-FFF2-40B4-BE49-F238E27FC236}">
                <a16:creationId xmlns:a16="http://schemas.microsoft.com/office/drawing/2014/main" id="{A2BF5D04-7954-4769-91C3-03A1885BDBF3}"/>
              </a:ext>
            </a:extLst>
          </p:cNvPr>
          <p:cNvSpPr txBox="1">
            <a:spLocks/>
          </p:cNvSpPr>
          <p:nvPr/>
        </p:nvSpPr>
        <p:spPr>
          <a:xfrm>
            <a:off x="3165261" y="4045393"/>
            <a:ext cx="1342028" cy="50960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1"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Poor Diet</a:t>
            </a:r>
            <a:endParaRPr kumimoji="1" lang="en-NZ" altLang="ja-JP" sz="14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62" name="Text Placeholder 5">
            <a:extLst>
              <a:ext uri="{FF2B5EF4-FFF2-40B4-BE49-F238E27FC236}">
                <a16:creationId xmlns:a16="http://schemas.microsoft.com/office/drawing/2014/main" id="{14594CDF-7813-4A16-B28F-8FAD8505A231}"/>
              </a:ext>
            </a:extLst>
          </p:cNvPr>
          <p:cNvSpPr txBox="1">
            <a:spLocks/>
          </p:cNvSpPr>
          <p:nvPr/>
        </p:nvSpPr>
        <p:spPr>
          <a:xfrm>
            <a:off x="5267016" y="4045394"/>
            <a:ext cx="1342028" cy="50960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1"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Below </a:t>
            </a:r>
            <a:r>
              <a:rPr kumimoji="1" lang="en-NZ" altLang="ja-JP" sz="1400" b="1" i="0" u="none" strike="noStrike" kern="1200" cap="none" spc="0" normalizeH="0" baseline="0" noProof="0" err="1">
                <a:ln>
                  <a:noFill/>
                </a:ln>
                <a:solidFill>
                  <a:prstClr val="black"/>
                </a:solidFill>
                <a:effectLst/>
                <a:uLnTx/>
                <a:uFillTx/>
                <a:latin typeface="Calibri" panose="020F0502020204030204"/>
                <a:ea typeface="游ゴシック" panose="020B0400000000000000" pitchFamily="34" charset="-128"/>
                <a:cs typeface="+mn-cs"/>
              </a:rPr>
              <a:t>Avg</a:t>
            </a:r>
            <a:r>
              <a:rPr kumimoji="1" lang="en-NZ" altLang="ja-JP" sz="1400" b="1"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 Diet</a:t>
            </a:r>
            <a:endParaRPr kumimoji="1" lang="en-NZ" altLang="ja-JP" sz="14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63" name="Text Placeholder 5">
            <a:extLst>
              <a:ext uri="{FF2B5EF4-FFF2-40B4-BE49-F238E27FC236}">
                <a16:creationId xmlns:a16="http://schemas.microsoft.com/office/drawing/2014/main" id="{BDBE3280-E2F0-4A0C-91E1-ED2266C7AE8B}"/>
              </a:ext>
            </a:extLst>
          </p:cNvPr>
          <p:cNvSpPr txBox="1">
            <a:spLocks/>
          </p:cNvSpPr>
          <p:nvPr/>
        </p:nvSpPr>
        <p:spPr>
          <a:xfrm>
            <a:off x="7381284" y="4045393"/>
            <a:ext cx="1342028" cy="50960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1"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Above </a:t>
            </a:r>
            <a:r>
              <a:rPr kumimoji="1" lang="en-NZ" altLang="ja-JP" sz="1400" b="1" i="0" u="none" strike="noStrike" kern="1200" cap="none" spc="0" normalizeH="0" baseline="0" noProof="0" err="1">
                <a:ln>
                  <a:noFill/>
                </a:ln>
                <a:solidFill>
                  <a:prstClr val="black"/>
                </a:solidFill>
                <a:effectLst/>
                <a:uLnTx/>
                <a:uFillTx/>
                <a:latin typeface="Calibri" panose="020F0502020204030204"/>
                <a:ea typeface="游ゴシック" panose="020B0400000000000000" pitchFamily="34" charset="-128"/>
                <a:cs typeface="+mn-cs"/>
              </a:rPr>
              <a:t>Avg</a:t>
            </a:r>
            <a:r>
              <a:rPr kumimoji="1" lang="en-NZ" altLang="ja-JP" sz="1400" b="1"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 Diet</a:t>
            </a:r>
            <a:endParaRPr kumimoji="1" lang="en-NZ" altLang="ja-JP" sz="14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64" name="Text Placeholder 5">
            <a:extLst>
              <a:ext uri="{FF2B5EF4-FFF2-40B4-BE49-F238E27FC236}">
                <a16:creationId xmlns:a16="http://schemas.microsoft.com/office/drawing/2014/main" id="{8CBFBF3A-4CA0-49AD-8E13-8CEB2EECD8A0}"/>
              </a:ext>
            </a:extLst>
          </p:cNvPr>
          <p:cNvSpPr txBox="1">
            <a:spLocks/>
          </p:cNvSpPr>
          <p:nvPr/>
        </p:nvSpPr>
        <p:spPr>
          <a:xfrm>
            <a:off x="9495552" y="4041396"/>
            <a:ext cx="1342028" cy="50960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1"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Excellent Diet</a:t>
            </a:r>
            <a:endParaRPr kumimoji="1" lang="en-NZ" altLang="ja-JP" sz="14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65" name="Text Placeholder 5">
            <a:extLst>
              <a:ext uri="{FF2B5EF4-FFF2-40B4-BE49-F238E27FC236}">
                <a16:creationId xmlns:a16="http://schemas.microsoft.com/office/drawing/2014/main" id="{1CAA95DA-7361-4E65-AE18-E46C02F75A16}"/>
              </a:ext>
            </a:extLst>
          </p:cNvPr>
          <p:cNvSpPr txBox="1">
            <a:spLocks/>
          </p:cNvSpPr>
          <p:nvPr/>
        </p:nvSpPr>
        <p:spPr>
          <a:xfrm>
            <a:off x="428136" y="5331110"/>
            <a:ext cx="1977397" cy="100011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0" i="0" u="none" strike="noStrike" kern="1200" cap="none" spc="0" normalizeH="0" baseline="0" noProof="0" dirty="0">
                <a:ln>
                  <a:noFill/>
                </a:ln>
                <a:solidFill>
                  <a:prstClr val="black">
                    <a:lumMod val="75000"/>
                    <a:lumOff val="25000"/>
                  </a:prstClr>
                </a:solidFill>
                <a:effectLst/>
                <a:uLnTx/>
                <a:uFillTx/>
                <a:latin typeface="Calibri" panose="020F0502020204030204"/>
                <a:ea typeface="游ゴシック" panose="020B0400000000000000" pitchFamily="34" charset="-128"/>
                <a:cs typeface="+mn-cs"/>
              </a:rPr>
              <a:t>In a </a:t>
            </a:r>
            <a:r>
              <a:rPr kumimoji="1" lang="en-NZ" altLang="ja-JP" sz="1400" b="0" i="0" u="none" strike="noStrike" kern="1200" cap="none" spc="0" normalizeH="0" baseline="0" noProof="0">
                <a:ln>
                  <a:noFill/>
                </a:ln>
                <a:solidFill>
                  <a:prstClr val="black">
                    <a:lumMod val="75000"/>
                    <a:lumOff val="25000"/>
                  </a:prstClr>
                </a:solidFill>
                <a:effectLst/>
                <a:uLnTx/>
                <a:uFillTx/>
                <a:latin typeface="Calibri" panose="020F0502020204030204"/>
                <a:ea typeface="游ゴシック" panose="020B0400000000000000" pitchFamily="34" charset="-128"/>
                <a:cs typeface="+mn-cs"/>
              </a:rPr>
              <a:t>RBD treatments are allocated </a:t>
            </a:r>
            <a:r>
              <a:rPr kumimoji="1" lang="en-NZ" altLang="ja-JP" sz="1400" b="0" i="0" u="none" strike="noStrike" kern="1200" cap="none" spc="0" normalizeH="0" baseline="0" noProof="0" dirty="0">
                <a:ln>
                  <a:noFill/>
                </a:ln>
                <a:solidFill>
                  <a:prstClr val="black">
                    <a:lumMod val="75000"/>
                    <a:lumOff val="25000"/>
                  </a:prstClr>
                </a:solidFill>
                <a:effectLst/>
                <a:uLnTx/>
                <a:uFillTx/>
                <a:latin typeface="Calibri" panose="020F0502020204030204"/>
                <a:ea typeface="游ゴシック" panose="020B0400000000000000" pitchFamily="34" charset="-128"/>
                <a:cs typeface="+mn-cs"/>
              </a:rPr>
              <a:t>at random </a:t>
            </a:r>
            <a:r>
              <a:rPr kumimoji="1" lang="en-NZ" altLang="ja-JP" sz="1400" b="0" i="1" u="none" strike="noStrike" kern="1200" cap="none" spc="0" normalizeH="0" baseline="0" noProof="0">
                <a:ln>
                  <a:noFill/>
                </a:ln>
                <a:solidFill>
                  <a:prstClr val="black">
                    <a:lumMod val="75000"/>
                    <a:lumOff val="25000"/>
                  </a:prstClr>
                </a:solidFill>
                <a:effectLst/>
                <a:uLnTx/>
                <a:uFillTx/>
                <a:latin typeface="Calibri" panose="020F0502020204030204"/>
                <a:ea typeface="游ゴシック" panose="020B0400000000000000" pitchFamily="34" charset="-128"/>
                <a:cs typeface="+mn-cs"/>
              </a:rPr>
              <a:t>within each </a:t>
            </a:r>
            <a:r>
              <a:rPr kumimoji="1" lang="en-NZ" altLang="ja-JP" sz="1400" b="0" i="1" u="none" strike="noStrike" kern="1200" cap="none" spc="0" normalizeH="0" baseline="0" noProof="0" dirty="0">
                <a:ln>
                  <a:noFill/>
                </a:ln>
                <a:solidFill>
                  <a:prstClr val="black">
                    <a:lumMod val="75000"/>
                    <a:lumOff val="25000"/>
                  </a:prstClr>
                </a:solidFill>
                <a:effectLst/>
                <a:uLnTx/>
                <a:uFillTx/>
                <a:latin typeface="Calibri" panose="020F0502020204030204"/>
                <a:ea typeface="游ゴシック" panose="020B0400000000000000" pitchFamily="34" charset="-128"/>
                <a:cs typeface="+mn-cs"/>
              </a:rPr>
              <a:t>block</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0" i="1" u="none" strike="noStrike" kern="1200" cap="none" spc="0" normalizeH="0" baseline="0" noProof="0" dirty="0">
              <a:ln>
                <a:noFill/>
              </a:ln>
              <a:solidFill>
                <a:prstClr val="black">
                  <a:lumMod val="75000"/>
                  <a:lumOff val="25000"/>
                </a:prstClr>
              </a:solidFill>
              <a:effectLst/>
              <a:uLnTx/>
              <a:uFillTx/>
              <a:latin typeface="Calibri" panose="020F0502020204030204"/>
              <a:ea typeface="游ゴシック" panose="020B0400000000000000" pitchFamily="34" charset="-128"/>
              <a:cs typeface="+mn-cs"/>
            </a:endParaRPr>
          </a:p>
        </p:txBody>
      </p:sp>
      <p:sp>
        <p:nvSpPr>
          <p:cNvPr id="39" name="Title 6">
            <a:extLst>
              <a:ext uri="{FF2B5EF4-FFF2-40B4-BE49-F238E27FC236}">
                <a16:creationId xmlns:a16="http://schemas.microsoft.com/office/drawing/2014/main" id="{FB694CBC-80B2-9EE5-F240-1B9C3F4203C9}"/>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Recap of Last Lecture</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40" name="Footer Placeholder 2">
            <a:extLst>
              <a:ext uri="{FF2B5EF4-FFF2-40B4-BE49-F238E27FC236}">
                <a16:creationId xmlns:a16="http://schemas.microsoft.com/office/drawing/2014/main" id="{34237B35-8F47-B553-CA84-63FBC26933CE}"/>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Recap of Last Lecture</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312833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2" grpId="0" animBg="1"/>
      <p:bldP spid="13" grpId="0" animBg="1"/>
      <p:bldP spid="14" grpId="0" animBg="1"/>
      <p:bldP spid="18" grpId="0" animBg="1"/>
      <p:bldP spid="19" grpId="0" animBg="1"/>
      <p:bldP spid="20" grpId="0" animBg="1"/>
      <p:bldP spid="21" grpId="0" animBg="1"/>
      <p:bldP spid="22" grpId="0" animBg="1"/>
      <p:bldP spid="23" grpId="0" animBg="1"/>
      <p:bldP spid="30" grpId="0" animBg="1"/>
      <p:bldP spid="31" grpId="0" animBg="1"/>
      <p:bldP spid="32"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p:bldP spid="61" grpId="0"/>
      <p:bldP spid="62" grpId="0"/>
      <p:bldP spid="63" grpId="0"/>
      <p:bldP spid="64" grpId="0"/>
      <p:bldP spid="6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037347" y="5677690"/>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9" name="Text Placeholder 5">
            <a:extLst>
              <a:ext uri="{FF2B5EF4-FFF2-40B4-BE49-F238E27FC236}">
                <a16:creationId xmlns:a16="http://schemas.microsoft.com/office/drawing/2014/main" id="{6DF05027-9984-47E8-8412-F2E7D6821B9C}"/>
              </a:ext>
            </a:extLst>
          </p:cNvPr>
          <p:cNvSpPr txBox="1">
            <a:spLocks/>
          </p:cNvSpPr>
          <p:nvPr/>
        </p:nvSpPr>
        <p:spPr>
          <a:xfrm>
            <a:off x="251224" y="2686197"/>
            <a:ext cx="5139640" cy="110205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By including the blocking factor in the design we capture the variability it causes in </a:t>
            </a:r>
            <a:r>
              <a:rPr kumimoji="1" lang="en-NZ" altLang="ja-JP" sz="19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Y</a:t>
            </a:r>
            <a:r>
              <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through the </a:t>
            </a:r>
            <a:r>
              <a:rPr kumimoji="1" lang="en-NZ" altLang="ja-JP" sz="19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sums of squares for the blocking factor (SSB).</a:t>
            </a:r>
            <a:r>
              <a:rPr kumimoji="1" lang="en-NZ" altLang="ja-JP" sz="19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 </a:t>
            </a:r>
            <a:endParaRPr kumimoji="1" lang="en-NZ" altLang="ja-JP" sz="19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1" name="Text Placeholder 5">
            <a:extLst>
              <a:ext uri="{FF2B5EF4-FFF2-40B4-BE49-F238E27FC236}">
                <a16:creationId xmlns:a16="http://schemas.microsoft.com/office/drawing/2014/main" id="{366D2159-F1AE-48FA-B2D3-AA13BBE13C38}"/>
              </a:ext>
            </a:extLst>
          </p:cNvPr>
          <p:cNvSpPr txBox="1">
            <a:spLocks/>
          </p:cNvSpPr>
          <p:nvPr/>
        </p:nvSpPr>
        <p:spPr>
          <a:xfrm>
            <a:off x="251224" y="4002910"/>
            <a:ext cx="5139362" cy="85341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This reduces the </a:t>
            </a:r>
            <a:r>
              <a:rPr kumimoji="1" lang="en-NZ" altLang="ja-JP" sz="19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SSE </a:t>
            </a:r>
            <a:r>
              <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for the model compared to a non-blocked design and hence increases our power to detect factor effects.</a:t>
            </a:r>
            <a:endPar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9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9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3554D4AD-8676-417B-8638-5A1629F397F7}"/>
                  </a:ext>
                </a:extLst>
              </p:cNvPr>
              <p:cNvSpPr/>
              <p:nvPr/>
            </p:nvSpPr>
            <p:spPr>
              <a:xfrm>
                <a:off x="7786046" y="1804778"/>
                <a:ext cx="1978926" cy="832514"/>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1" i="0" u="none" strike="noStrike" kern="1200" cap="none" spc="0" normalizeH="0" baseline="0" noProof="0" dirty="0">
                    <a:ln>
                      <a:noFill/>
                    </a:ln>
                    <a:solidFill>
                      <a:prstClr val="white"/>
                    </a:solidFill>
                    <a:effectLst/>
                    <a:uLnTx/>
                    <a:uFillTx/>
                    <a:latin typeface="Calibri" panose="020F0502020204030204"/>
                    <a:ea typeface="+mn-ea"/>
                    <a:cs typeface="+mn-cs"/>
                  </a:rPr>
                  <a:t>TSS</a:t>
                </a: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NZ" sz="16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𝑑</m:t>
                      </m:r>
                      <m:sSub>
                        <m:sSubPr>
                          <m:ctrlPr>
                            <a:rPr kumimoji="0" lang="en-NZ" sz="16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ctrlPr>
                        </m:sSubPr>
                        <m:e>
                          <m:r>
                            <a:rPr kumimoji="0" lang="en-NZ" sz="16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𝑓</m:t>
                          </m:r>
                        </m:e>
                        <m:sub>
                          <m:r>
                            <a:rPr kumimoji="0" lang="en-NZ" sz="16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𝑇𝑆𝑆</m:t>
                          </m:r>
                        </m:sub>
                      </m:sSub>
                      <m:r>
                        <a:rPr kumimoji="0" lang="en-NZ" sz="16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m:t>
                      </m:r>
                      <m:r>
                        <a:rPr kumimoji="0" lang="en-NZ" sz="16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𝑁</m:t>
                      </m:r>
                      <m:r>
                        <a:rPr kumimoji="0" lang="en-NZ" sz="16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−1</m:t>
                      </m:r>
                    </m:oMath>
                  </m:oMathPara>
                </a14:m>
                <a:endParaRPr kumimoji="0" lang="en-NZ"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Choice>
        <mc:Fallback xmlns="">
          <p:sp>
            <p:nvSpPr>
              <p:cNvPr id="2" name="Rectangle: Rounded Corners 1">
                <a:extLst>
                  <a:ext uri="{FF2B5EF4-FFF2-40B4-BE49-F238E27FC236}">
                    <a16:creationId xmlns:a16="http://schemas.microsoft.com/office/drawing/2014/main" id="{3554D4AD-8676-417B-8638-5A1629F397F7}"/>
                  </a:ext>
                </a:extLst>
              </p:cNvPr>
              <p:cNvSpPr>
                <a:spLocks noRot="1" noChangeAspect="1" noMove="1" noResize="1" noEditPoints="1" noAdjustHandles="1" noChangeArrowheads="1" noChangeShapeType="1" noTextEdit="1"/>
              </p:cNvSpPr>
              <p:nvPr/>
            </p:nvSpPr>
            <p:spPr>
              <a:xfrm>
                <a:off x="7786046" y="1804778"/>
                <a:ext cx="1978926" cy="832514"/>
              </a:xfrm>
              <a:prstGeom prst="roundRect">
                <a:avLst/>
              </a:prstGeom>
              <a:blipFill>
                <a:blip r:embed="rId2"/>
                <a:stretch>
                  <a:fillRect/>
                </a:stretch>
              </a:blipFill>
              <a:ln>
                <a:solidFill>
                  <a:schemeClr val="tx1"/>
                </a:solidFill>
              </a:ln>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3" name="Rectangle: Rounded Corners 12">
                <a:extLst>
                  <a:ext uri="{FF2B5EF4-FFF2-40B4-BE49-F238E27FC236}">
                    <a16:creationId xmlns:a16="http://schemas.microsoft.com/office/drawing/2014/main" id="{4781EE9D-CE89-429F-A573-62A55E1F2295}"/>
                  </a:ext>
                </a:extLst>
              </p:cNvPr>
              <p:cNvSpPr/>
              <p:nvPr/>
            </p:nvSpPr>
            <p:spPr>
              <a:xfrm>
                <a:off x="8918810" y="3341572"/>
                <a:ext cx="1978926" cy="832514"/>
              </a:xfrm>
              <a:prstGeom prst="roundRect">
                <a:avLst/>
              </a:prstGeom>
              <a:solidFill>
                <a:schemeClr val="tx1">
                  <a:lumMod val="75000"/>
                  <a:lumOff val="2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1" i="0" u="none" strike="noStrike" kern="1200" cap="none" spc="0" normalizeH="0" baseline="0" noProof="0">
                    <a:ln>
                      <a:noFill/>
                    </a:ln>
                    <a:solidFill>
                      <a:prstClr val="white"/>
                    </a:solidFill>
                    <a:effectLst/>
                    <a:uLnTx/>
                    <a:uFillTx/>
                    <a:latin typeface="Calibri" panose="020F0502020204030204"/>
                    <a:ea typeface="+mn-ea"/>
                    <a:cs typeface="+mn-cs"/>
                  </a:rPr>
                  <a:t>SSE</a:t>
                </a:r>
                <a:r>
                  <a:rPr kumimoji="0" lang="en-NZ" sz="1800" b="1" i="0" u="none" strike="noStrike" kern="1200" cap="none" spc="0" normalizeH="0" baseline="-25000" noProof="0">
                    <a:ln>
                      <a:noFill/>
                    </a:ln>
                    <a:solidFill>
                      <a:prstClr val="white"/>
                    </a:solidFill>
                    <a:effectLst/>
                    <a:uLnTx/>
                    <a:uFillTx/>
                    <a:latin typeface="Calibri" panose="020F0502020204030204"/>
                    <a:ea typeface="+mn-ea"/>
                    <a:cs typeface="+mn-cs"/>
                  </a:rPr>
                  <a:t>0</a:t>
                </a:r>
                <a:endParaRPr kumimoji="0" lang="en-NZ" sz="1800" b="1"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NZ" sz="16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𝑑</m:t>
                      </m:r>
                      <m:sSub>
                        <m:sSubPr>
                          <m:ctrlPr>
                            <a:rPr kumimoji="0" lang="en-NZ" sz="16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ctrlPr>
                        </m:sSubPr>
                        <m:e>
                          <m:r>
                            <a:rPr kumimoji="0" lang="en-NZ" sz="16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𝑓</m:t>
                          </m:r>
                        </m:e>
                        <m:sub>
                          <m:r>
                            <a:rPr kumimoji="0" lang="en-NZ" sz="16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𝑆𝑆</m:t>
                          </m:r>
                          <m:sSub>
                            <m:sSubPr>
                              <m:ctrlPr>
                                <a:rPr kumimoji="0" lang="en-NZ" sz="16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ctrlPr>
                            </m:sSubPr>
                            <m:e>
                              <m:r>
                                <a:rPr kumimoji="0" lang="en-NZ" sz="16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𝐸</m:t>
                              </m:r>
                            </m:e>
                            <m:sub>
                              <m:r>
                                <a:rPr kumimoji="0" lang="en-NZ" sz="16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0</m:t>
                              </m:r>
                            </m:sub>
                          </m:sSub>
                        </m:sub>
                      </m:sSub>
                      <m:r>
                        <a:rPr kumimoji="0" lang="en-NZ" sz="16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m:t>
                      </m:r>
                      <m:r>
                        <a:rPr kumimoji="0" lang="en-NZ" sz="16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𝑁</m:t>
                      </m:r>
                      <m:r>
                        <a:rPr kumimoji="0" lang="en-NZ" sz="16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m:t>
                      </m:r>
                      <m:r>
                        <a:rPr kumimoji="0" lang="en-NZ" sz="16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𝑎</m:t>
                      </m:r>
                    </m:oMath>
                  </m:oMathPara>
                </a14:m>
                <a:endParaRPr kumimoji="0" lang="en-NZ"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Choice>
        <mc:Fallback xmlns="">
          <p:sp>
            <p:nvSpPr>
              <p:cNvPr id="13" name="Rectangle: Rounded Corners 12">
                <a:extLst>
                  <a:ext uri="{FF2B5EF4-FFF2-40B4-BE49-F238E27FC236}">
                    <a16:creationId xmlns:a16="http://schemas.microsoft.com/office/drawing/2014/main" id="{4781EE9D-CE89-429F-A573-62A55E1F2295}"/>
                  </a:ext>
                </a:extLst>
              </p:cNvPr>
              <p:cNvSpPr>
                <a:spLocks noRot="1" noChangeAspect="1" noMove="1" noResize="1" noEditPoints="1" noAdjustHandles="1" noChangeArrowheads="1" noChangeShapeType="1" noTextEdit="1"/>
              </p:cNvSpPr>
              <p:nvPr/>
            </p:nvSpPr>
            <p:spPr>
              <a:xfrm>
                <a:off x="8918810" y="3341572"/>
                <a:ext cx="1978926" cy="832514"/>
              </a:xfrm>
              <a:prstGeom prst="roundRect">
                <a:avLst/>
              </a:prstGeom>
              <a:blipFill>
                <a:blip r:embed="rId3"/>
                <a:stretch>
                  <a:fillRect/>
                </a:stretch>
              </a:blipFill>
              <a:ln>
                <a:solidFill>
                  <a:schemeClr val="tx1"/>
                </a:solidFill>
              </a:ln>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4" name="Rectangle: Rounded Corners 13">
                <a:extLst>
                  <a:ext uri="{FF2B5EF4-FFF2-40B4-BE49-F238E27FC236}">
                    <a16:creationId xmlns:a16="http://schemas.microsoft.com/office/drawing/2014/main" id="{CE9D0B96-1256-40AE-AFAA-9C6C4A04C99C}"/>
                  </a:ext>
                </a:extLst>
              </p:cNvPr>
              <p:cNvSpPr/>
              <p:nvPr/>
            </p:nvSpPr>
            <p:spPr>
              <a:xfrm>
                <a:off x="5706039" y="4850777"/>
                <a:ext cx="1978926" cy="832514"/>
              </a:xfrm>
              <a:prstGeom prst="round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1" i="0" u="none" strike="noStrike" kern="1200" cap="none" spc="0" normalizeH="0" baseline="0" noProof="0" dirty="0">
                    <a:ln>
                      <a:noFill/>
                    </a:ln>
                    <a:solidFill>
                      <a:prstClr val="black"/>
                    </a:solidFill>
                    <a:effectLst/>
                    <a:uLnTx/>
                    <a:uFillTx/>
                    <a:latin typeface="Calibri" panose="020F0502020204030204"/>
                    <a:ea typeface="+mn-ea"/>
                    <a:cs typeface="+mn-cs"/>
                  </a:rPr>
                  <a:t>SST</a:t>
                </a: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NZ"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𝑑</m:t>
                      </m:r>
                      <m:sSub>
                        <m:sSubPr>
                          <m:ctrlPr>
                            <a:rPr kumimoji="0" lang="en-NZ"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NZ"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𝑓</m:t>
                          </m:r>
                        </m:e>
                        <m:sub>
                          <m:r>
                            <a:rPr kumimoji="0" lang="en-NZ"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𝑆𝑆𝑇</m:t>
                          </m:r>
                        </m:sub>
                      </m:sSub>
                      <m:r>
                        <a:rPr kumimoji="0" lang="en-NZ"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NZ"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m:t>
                      </m:r>
                      <m:r>
                        <a:rPr kumimoji="0" lang="en-NZ"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oMath>
                  </m:oMathPara>
                </a14:m>
                <a:endParaRPr kumimoji="0" lang="en-NZ"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14" name="Rectangle: Rounded Corners 13">
                <a:extLst>
                  <a:ext uri="{FF2B5EF4-FFF2-40B4-BE49-F238E27FC236}">
                    <a16:creationId xmlns:a16="http://schemas.microsoft.com/office/drawing/2014/main" id="{CE9D0B96-1256-40AE-AFAA-9C6C4A04C99C}"/>
                  </a:ext>
                </a:extLst>
              </p:cNvPr>
              <p:cNvSpPr>
                <a:spLocks noRot="1" noChangeAspect="1" noMove="1" noResize="1" noEditPoints="1" noAdjustHandles="1" noChangeArrowheads="1" noChangeShapeType="1" noTextEdit="1"/>
              </p:cNvSpPr>
              <p:nvPr/>
            </p:nvSpPr>
            <p:spPr>
              <a:xfrm>
                <a:off x="5706039" y="4850777"/>
                <a:ext cx="1978926" cy="832514"/>
              </a:xfrm>
              <a:prstGeom prst="roundRect">
                <a:avLst/>
              </a:prstGeom>
              <a:blipFill>
                <a:blip r:embed="rId4"/>
                <a:stretch>
                  <a:fillRect/>
                </a:stretch>
              </a:blipFill>
              <a:ln>
                <a:solidFill>
                  <a:schemeClr val="tx1"/>
                </a:solidFill>
              </a:ln>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5" name="Rectangle: Rounded Corners 14">
                <a:extLst>
                  <a:ext uri="{FF2B5EF4-FFF2-40B4-BE49-F238E27FC236}">
                    <a16:creationId xmlns:a16="http://schemas.microsoft.com/office/drawing/2014/main" id="{87F021F0-1390-4D65-89BA-38409F31288C}"/>
                  </a:ext>
                </a:extLst>
              </p:cNvPr>
              <p:cNvSpPr/>
              <p:nvPr/>
            </p:nvSpPr>
            <p:spPr>
              <a:xfrm>
                <a:off x="7786046" y="4850777"/>
                <a:ext cx="1978926" cy="832514"/>
              </a:xfrm>
              <a:prstGeom prst="roundRect">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1" i="0" u="none" strike="noStrike" kern="1200" cap="none" spc="0" normalizeH="0" baseline="0" noProof="0" dirty="0">
                    <a:ln>
                      <a:noFill/>
                    </a:ln>
                    <a:solidFill>
                      <a:prstClr val="white"/>
                    </a:solidFill>
                    <a:effectLst/>
                    <a:uLnTx/>
                    <a:uFillTx/>
                    <a:latin typeface="Calibri" panose="020F0502020204030204"/>
                    <a:ea typeface="+mn-ea"/>
                    <a:cs typeface="+mn-cs"/>
                  </a:rPr>
                  <a:t>SSB</a:t>
                </a: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NZ" sz="16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𝑑</m:t>
                      </m:r>
                      <m:sSub>
                        <m:sSubPr>
                          <m:ctrlPr>
                            <a:rPr kumimoji="0" lang="en-NZ" sz="16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ctrlPr>
                        </m:sSubPr>
                        <m:e>
                          <m:r>
                            <a:rPr kumimoji="0" lang="en-NZ" sz="16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𝑓</m:t>
                          </m:r>
                        </m:e>
                        <m:sub>
                          <m:r>
                            <a:rPr kumimoji="0" lang="en-NZ" sz="16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𝑆𝑆𝐵</m:t>
                          </m:r>
                        </m:sub>
                      </m:sSub>
                      <m:r>
                        <a:rPr kumimoji="0" lang="en-NZ" sz="16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m:t>
                      </m:r>
                      <m:r>
                        <a:rPr kumimoji="0" lang="en-NZ" sz="16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𝑏</m:t>
                      </m:r>
                      <m:r>
                        <a:rPr kumimoji="0" lang="en-NZ" sz="16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−1</m:t>
                      </m:r>
                    </m:oMath>
                  </m:oMathPara>
                </a14:m>
                <a:endParaRPr kumimoji="0" lang="en-NZ"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Choice>
        <mc:Fallback xmlns="">
          <p:sp>
            <p:nvSpPr>
              <p:cNvPr id="15" name="Rectangle: Rounded Corners 14">
                <a:extLst>
                  <a:ext uri="{FF2B5EF4-FFF2-40B4-BE49-F238E27FC236}">
                    <a16:creationId xmlns:a16="http://schemas.microsoft.com/office/drawing/2014/main" id="{87F021F0-1390-4D65-89BA-38409F31288C}"/>
                  </a:ext>
                </a:extLst>
              </p:cNvPr>
              <p:cNvSpPr>
                <a:spLocks noRot="1" noChangeAspect="1" noMove="1" noResize="1" noEditPoints="1" noAdjustHandles="1" noChangeArrowheads="1" noChangeShapeType="1" noTextEdit="1"/>
              </p:cNvSpPr>
              <p:nvPr/>
            </p:nvSpPr>
            <p:spPr>
              <a:xfrm>
                <a:off x="7786046" y="4850777"/>
                <a:ext cx="1978926" cy="832514"/>
              </a:xfrm>
              <a:prstGeom prst="roundRect">
                <a:avLst/>
              </a:prstGeom>
              <a:blipFill>
                <a:blip r:embed="rId5"/>
                <a:stretch>
                  <a:fillRect/>
                </a:stretch>
              </a:blipFill>
              <a:ln>
                <a:solidFill>
                  <a:schemeClr val="tx1"/>
                </a:solidFill>
              </a:ln>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6" name="Rectangle: Rounded Corners 15">
                <a:extLst>
                  <a:ext uri="{FF2B5EF4-FFF2-40B4-BE49-F238E27FC236}">
                    <a16:creationId xmlns:a16="http://schemas.microsoft.com/office/drawing/2014/main" id="{0D89883D-84E0-4AD0-8916-96D115A05469}"/>
                  </a:ext>
                </a:extLst>
              </p:cNvPr>
              <p:cNvSpPr/>
              <p:nvPr/>
            </p:nvSpPr>
            <p:spPr>
              <a:xfrm>
                <a:off x="9866054" y="4850777"/>
                <a:ext cx="1978926" cy="832514"/>
              </a:xfrm>
              <a:prstGeom prst="roundRect">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1" i="0" u="none" strike="noStrike" kern="1200" cap="none" spc="0" normalizeH="0" baseline="0" noProof="0">
                    <a:ln>
                      <a:noFill/>
                    </a:ln>
                    <a:solidFill>
                      <a:prstClr val="white"/>
                    </a:solidFill>
                    <a:effectLst/>
                    <a:uLnTx/>
                    <a:uFillTx/>
                    <a:latin typeface="Calibri" panose="020F0502020204030204"/>
                    <a:ea typeface="+mn-ea"/>
                    <a:cs typeface="+mn-cs"/>
                  </a:rPr>
                  <a:t>SSE</a:t>
                </a:r>
                <a:endParaRPr kumimoji="0" lang="en-NZ" sz="1800" b="1"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NZ" sz="12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𝑑</m:t>
                      </m:r>
                      <m:sSub>
                        <m:sSubPr>
                          <m:ctrlPr>
                            <a:rPr kumimoji="0" lang="en-NZ" sz="12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ctrlPr>
                        </m:sSubPr>
                        <m:e>
                          <m:r>
                            <a:rPr kumimoji="0" lang="en-NZ" sz="12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𝑓</m:t>
                          </m:r>
                        </m:e>
                        <m:sub>
                          <m:r>
                            <a:rPr kumimoji="0" lang="en-NZ" sz="12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𝑆𝑆𝐸</m:t>
                          </m:r>
                        </m:sub>
                      </m:sSub>
                      <m:r>
                        <a:rPr kumimoji="0" lang="en-NZ" sz="12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m:t>
                      </m:r>
                      <m:r>
                        <a:rPr kumimoji="0" lang="en-NZ" sz="12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𝑁</m:t>
                      </m:r>
                      <m:r>
                        <a:rPr kumimoji="0" lang="en-NZ" sz="12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m:t>
                      </m:r>
                      <m:r>
                        <a:rPr kumimoji="0" lang="en-NZ" sz="12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𝑎</m:t>
                      </m:r>
                      <m:r>
                        <a:rPr kumimoji="0" lang="en-NZ" sz="12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m:t>
                      </m:r>
                      <m:r>
                        <a:rPr kumimoji="0" lang="en-NZ" sz="12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𝑏</m:t>
                      </m:r>
                      <m:r>
                        <a:rPr kumimoji="0" lang="en-NZ" sz="12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+1</m:t>
                      </m:r>
                    </m:oMath>
                  </m:oMathPara>
                </a14:m>
                <a:endParaRPr kumimoji="0" lang="en-NZ" sz="12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Choice>
        <mc:Fallback xmlns="">
          <p:sp>
            <p:nvSpPr>
              <p:cNvPr id="16" name="Rectangle: Rounded Corners 15">
                <a:extLst>
                  <a:ext uri="{FF2B5EF4-FFF2-40B4-BE49-F238E27FC236}">
                    <a16:creationId xmlns:a16="http://schemas.microsoft.com/office/drawing/2014/main" id="{0D89883D-84E0-4AD0-8916-96D115A05469}"/>
                  </a:ext>
                </a:extLst>
              </p:cNvPr>
              <p:cNvSpPr>
                <a:spLocks noRot="1" noChangeAspect="1" noMove="1" noResize="1" noEditPoints="1" noAdjustHandles="1" noChangeArrowheads="1" noChangeShapeType="1" noTextEdit="1"/>
              </p:cNvSpPr>
              <p:nvPr/>
            </p:nvSpPr>
            <p:spPr>
              <a:xfrm>
                <a:off x="9866054" y="4850777"/>
                <a:ext cx="1978926" cy="832514"/>
              </a:xfrm>
              <a:prstGeom prst="roundRect">
                <a:avLst/>
              </a:prstGeom>
              <a:blipFill>
                <a:blip r:embed="rId6"/>
                <a:stretch>
                  <a:fillRect/>
                </a:stretch>
              </a:blipFill>
              <a:ln>
                <a:solidFill>
                  <a:schemeClr val="tx1"/>
                </a:solidFill>
              </a:ln>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7" name="Rectangle: Rounded Corners 16">
                <a:extLst>
                  <a:ext uri="{FF2B5EF4-FFF2-40B4-BE49-F238E27FC236}">
                    <a16:creationId xmlns:a16="http://schemas.microsoft.com/office/drawing/2014/main" id="{378866AF-8D70-48E5-A39D-AD1DAB64D55E}"/>
                  </a:ext>
                </a:extLst>
              </p:cNvPr>
              <p:cNvSpPr/>
              <p:nvPr/>
            </p:nvSpPr>
            <p:spPr>
              <a:xfrm>
                <a:off x="5706039" y="3327778"/>
                <a:ext cx="1978926" cy="832514"/>
              </a:xfrm>
              <a:prstGeom prst="round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1" i="0" u="none" strike="noStrike" kern="1200" cap="none" spc="0" normalizeH="0" baseline="0" noProof="0" dirty="0">
                    <a:ln>
                      <a:noFill/>
                    </a:ln>
                    <a:solidFill>
                      <a:prstClr val="black"/>
                    </a:solidFill>
                    <a:effectLst/>
                    <a:uLnTx/>
                    <a:uFillTx/>
                    <a:latin typeface="Calibri" panose="020F0502020204030204"/>
                    <a:ea typeface="+mn-ea"/>
                    <a:cs typeface="+mn-cs"/>
                  </a:rPr>
                  <a:t>SST</a:t>
                </a: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NZ"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𝑑</m:t>
                      </m:r>
                      <m:sSub>
                        <m:sSubPr>
                          <m:ctrlPr>
                            <a:rPr kumimoji="0" lang="en-NZ"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NZ"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𝑓</m:t>
                          </m:r>
                        </m:e>
                        <m:sub>
                          <m:r>
                            <a:rPr kumimoji="0" lang="en-NZ"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𝑆𝑆𝑇</m:t>
                          </m:r>
                        </m:sub>
                      </m:sSub>
                      <m:r>
                        <a:rPr kumimoji="0" lang="en-NZ"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NZ"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m:t>
                      </m:r>
                      <m:r>
                        <a:rPr kumimoji="0" lang="en-NZ"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oMath>
                  </m:oMathPara>
                </a14:m>
                <a:endParaRPr kumimoji="0" lang="en-NZ"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17" name="Rectangle: Rounded Corners 16">
                <a:extLst>
                  <a:ext uri="{FF2B5EF4-FFF2-40B4-BE49-F238E27FC236}">
                    <a16:creationId xmlns:a16="http://schemas.microsoft.com/office/drawing/2014/main" id="{378866AF-8D70-48E5-A39D-AD1DAB64D55E}"/>
                  </a:ext>
                </a:extLst>
              </p:cNvPr>
              <p:cNvSpPr>
                <a:spLocks noRot="1" noChangeAspect="1" noMove="1" noResize="1" noEditPoints="1" noAdjustHandles="1" noChangeArrowheads="1" noChangeShapeType="1" noTextEdit="1"/>
              </p:cNvSpPr>
              <p:nvPr/>
            </p:nvSpPr>
            <p:spPr>
              <a:xfrm>
                <a:off x="5706039" y="3327778"/>
                <a:ext cx="1978926" cy="832514"/>
              </a:xfrm>
              <a:prstGeom prst="roundRect">
                <a:avLst/>
              </a:prstGeom>
              <a:blipFill>
                <a:blip r:embed="rId7"/>
                <a:stretch>
                  <a:fillRect/>
                </a:stretch>
              </a:blipFill>
              <a:ln>
                <a:solidFill>
                  <a:schemeClr val="tx1"/>
                </a:solidFill>
              </a:ln>
            </p:spPr>
            <p:txBody>
              <a:bodyPr/>
              <a:lstStyle/>
              <a:p>
                <a:r>
                  <a:rPr lang="en-NZ">
                    <a:noFill/>
                  </a:rPr>
                  <a:t> </a:t>
                </a:r>
              </a:p>
            </p:txBody>
          </p:sp>
        </mc:Fallback>
      </mc:AlternateContent>
      <p:cxnSp>
        <p:nvCxnSpPr>
          <p:cNvPr id="18" name="Straight Connector 17">
            <a:extLst>
              <a:ext uri="{FF2B5EF4-FFF2-40B4-BE49-F238E27FC236}">
                <a16:creationId xmlns:a16="http://schemas.microsoft.com/office/drawing/2014/main" id="{FCCB8094-D056-41BC-8159-EA7EDA8E720E}"/>
              </a:ext>
            </a:extLst>
          </p:cNvPr>
          <p:cNvCxnSpPr>
            <a:cxnSpLocks/>
            <a:stCxn id="2" idx="2"/>
          </p:cNvCxnSpPr>
          <p:nvPr/>
        </p:nvCxnSpPr>
        <p:spPr>
          <a:xfrm>
            <a:off x="8775509" y="2637292"/>
            <a:ext cx="0" cy="361803"/>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022A352-E86B-471B-9F7C-8AE09304CFF2}"/>
              </a:ext>
            </a:extLst>
          </p:cNvPr>
          <p:cNvCxnSpPr>
            <a:cxnSpLocks/>
          </p:cNvCxnSpPr>
          <p:nvPr/>
        </p:nvCxnSpPr>
        <p:spPr>
          <a:xfrm flipH="1">
            <a:off x="6677652" y="2999095"/>
            <a:ext cx="3230621"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ECDE946-D46D-4DDD-AFEA-C67E689B09D3}"/>
              </a:ext>
            </a:extLst>
          </p:cNvPr>
          <p:cNvCxnSpPr>
            <a:cxnSpLocks/>
          </p:cNvCxnSpPr>
          <p:nvPr/>
        </p:nvCxnSpPr>
        <p:spPr>
          <a:xfrm>
            <a:off x="6677652" y="2999094"/>
            <a:ext cx="0" cy="361803"/>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0EBBE45F-21F3-428B-94FB-21E790C08D28}"/>
              </a:ext>
            </a:extLst>
          </p:cNvPr>
          <p:cNvCxnSpPr>
            <a:cxnSpLocks/>
          </p:cNvCxnSpPr>
          <p:nvPr/>
        </p:nvCxnSpPr>
        <p:spPr>
          <a:xfrm>
            <a:off x="9895624" y="2999094"/>
            <a:ext cx="0" cy="361803"/>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6C81AED-2E49-4417-B9E3-DC1B00006EC9}"/>
              </a:ext>
            </a:extLst>
          </p:cNvPr>
          <p:cNvCxnSpPr>
            <a:cxnSpLocks/>
          </p:cNvCxnSpPr>
          <p:nvPr/>
        </p:nvCxnSpPr>
        <p:spPr>
          <a:xfrm>
            <a:off x="9910270" y="4174086"/>
            <a:ext cx="0" cy="361803"/>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40CC19C-9037-47AC-B851-6185C2086003}"/>
              </a:ext>
            </a:extLst>
          </p:cNvPr>
          <p:cNvCxnSpPr>
            <a:cxnSpLocks/>
            <a:stCxn id="17" idx="2"/>
          </p:cNvCxnSpPr>
          <p:nvPr/>
        </p:nvCxnSpPr>
        <p:spPr>
          <a:xfrm>
            <a:off x="6695502" y="4160292"/>
            <a:ext cx="0" cy="682456"/>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7FE38C7-D6AA-4E49-8B5E-A2F752F11A72}"/>
              </a:ext>
            </a:extLst>
          </p:cNvPr>
          <p:cNvCxnSpPr>
            <a:cxnSpLocks/>
          </p:cNvCxnSpPr>
          <p:nvPr/>
        </p:nvCxnSpPr>
        <p:spPr>
          <a:xfrm flipH="1">
            <a:off x="8775509" y="4535889"/>
            <a:ext cx="2080008"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742D8DE-39E7-4991-86F6-481C25D852D3}"/>
              </a:ext>
            </a:extLst>
          </p:cNvPr>
          <p:cNvCxnSpPr>
            <a:cxnSpLocks/>
            <a:endCxn id="15" idx="0"/>
          </p:cNvCxnSpPr>
          <p:nvPr/>
        </p:nvCxnSpPr>
        <p:spPr>
          <a:xfrm>
            <a:off x="8775231" y="4535888"/>
            <a:ext cx="278" cy="314889"/>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DF9BD6E-905E-4A6B-994B-D564EFB7D3E9}"/>
              </a:ext>
            </a:extLst>
          </p:cNvPr>
          <p:cNvCxnSpPr>
            <a:cxnSpLocks/>
            <a:endCxn id="16" idx="0"/>
          </p:cNvCxnSpPr>
          <p:nvPr/>
        </p:nvCxnSpPr>
        <p:spPr>
          <a:xfrm>
            <a:off x="10855517" y="4535888"/>
            <a:ext cx="0" cy="314889"/>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9" name="Title 6">
            <a:extLst>
              <a:ext uri="{FF2B5EF4-FFF2-40B4-BE49-F238E27FC236}">
                <a16:creationId xmlns:a16="http://schemas.microsoft.com/office/drawing/2014/main" id="{2C670526-2ADE-4189-9963-B8EC05B12B06}"/>
              </a:ext>
            </a:extLst>
          </p:cNvPr>
          <p:cNvSpPr txBox="1">
            <a:spLocks/>
          </p:cNvSpPr>
          <p:nvPr/>
        </p:nvSpPr>
        <p:spPr>
          <a:xfrm>
            <a:off x="5675196" y="1263771"/>
            <a:ext cx="6200069" cy="374256"/>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ctr" defTabSz="914324" rtl="0" eaLnBrk="1" fontAlgn="auto" latinLnBrk="0" hangingPunct="1">
              <a:lnSpc>
                <a:spcPct val="90000"/>
              </a:lnSpc>
              <a:spcBef>
                <a:spcPct val="0"/>
              </a:spcBef>
              <a:spcAft>
                <a:spcPts val="0"/>
              </a:spcAft>
              <a:buClrTx/>
              <a:buSzTx/>
              <a:buFontTx/>
              <a:buNone/>
              <a:tabLst/>
              <a:defRPr/>
            </a:pPr>
            <a:r>
              <a:rPr kumimoji="1" lang="en-US" altLang="ja-JP" sz="18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Sums of Squares Decomposition</a:t>
            </a:r>
            <a:endParaRPr kumimoji="1" lang="ja-JP" altLang="en-US" sz="18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mc:AlternateContent xmlns:mc="http://schemas.openxmlformats.org/markup-compatibility/2006" xmlns:a14="http://schemas.microsoft.com/office/drawing/2010/main">
        <mc:Choice Requires="a14">
          <p:sp>
            <p:nvSpPr>
              <p:cNvPr id="40" name="Title 6">
                <a:extLst>
                  <a:ext uri="{FF2B5EF4-FFF2-40B4-BE49-F238E27FC236}">
                    <a16:creationId xmlns:a16="http://schemas.microsoft.com/office/drawing/2014/main" id="{E9C74288-F8C5-444B-8EB7-62CA094DEF60}"/>
                  </a:ext>
                </a:extLst>
              </p:cNvPr>
              <p:cNvSpPr txBox="1">
                <a:spLocks/>
              </p:cNvSpPr>
              <p:nvPr/>
            </p:nvSpPr>
            <p:spPr>
              <a:xfrm>
                <a:off x="5706039" y="5877631"/>
                <a:ext cx="6138941" cy="374256"/>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ctr" defTabSz="914324" rtl="0" eaLnBrk="1" fontAlgn="auto" latinLnBrk="0" hangingPunct="1">
                  <a:lnSpc>
                    <a:spcPct val="90000"/>
                  </a:lnSpc>
                  <a:spcBef>
                    <a:spcPct val="0"/>
                  </a:spcBef>
                  <a:spcAft>
                    <a:spcPts val="0"/>
                  </a:spcAft>
                  <a:buClrTx/>
                  <a:buSzTx/>
                  <a:buFontTx/>
                  <a:buNone/>
                  <a:tabLst/>
                  <a:defRPr/>
                </a:pPr>
                <a:r>
                  <a:rPr kumimoji="1" lang="en-NZ" altLang="ja-JP" sz="1200" b="0" i="0" u="none" strike="noStrike" kern="1200" cap="none" spc="0" normalizeH="0" baseline="0" noProof="0">
                    <a:ln>
                      <a:noFill/>
                    </a:ln>
                    <a:solidFill>
                      <a:prstClr val="black"/>
                    </a:solidFill>
                    <a:effectLst/>
                    <a:uLnTx/>
                    <a:uFillTx/>
                    <a:latin typeface="Calibri Light" panose="020F0302020204030204"/>
                    <a:ea typeface="游ゴシック Light" panose="020B0300000000000000" pitchFamily="34" charset="-128"/>
                    <a:cs typeface="+mj-cs"/>
                  </a:rPr>
                  <a:t>Note </a:t>
                </a:r>
                <a:r>
                  <a:rPr kumimoji="1" lang="en-NZ" altLang="ja-JP" sz="1200" b="0" i="0" u="none" strike="noStrike" kern="1200" cap="none" spc="0" normalizeH="0" baseline="0" noProof="0" dirty="0">
                    <a:ln>
                      <a:noFill/>
                    </a:ln>
                    <a:solidFill>
                      <a:prstClr val="black"/>
                    </a:solidFill>
                    <a:effectLst/>
                    <a:uLnTx/>
                    <a:uFillTx/>
                    <a:latin typeface="Calibri Light" panose="020F0302020204030204"/>
                    <a:ea typeface="游ゴシック Light" panose="020B0300000000000000" pitchFamily="34" charset="-128"/>
                    <a:cs typeface="+mj-cs"/>
                  </a:rPr>
                  <a:t>that</a:t>
                </a:r>
                <a:r>
                  <a:rPr kumimoji="1" lang="en-NZ" altLang="ja-JP" sz="1200" b="1" i="0" u="none" strike="noStrike" kern="1200" cap="none" spc="0" normalizeH="0" baseline="0" noProof="0" dirty="0">
                    <a:ln>
                      <a:noFill/>
                    </a:ln>
                    <a:solidFill>
                      <a:prstClr val="black"/>
                    </a:solidFill>
                    <a:effectLst/>
                    <a:uLnTx/>
                    <a:uFillTx/>
                    <a:latin typeface="Calibri Light" panose="020F0302020204030204"/>
                    <a:ea typeface="游ゴシック Light" panose="020B0300000000000000" pitchFamily="34" charset="-128"/>
                    <a:cs typeface="+mj-cs"/>
                  </a:rPr>
                  <a:t> </a:t>
                </a:r>
                <a14:m>
                  <m:oMath xmlns:m="http://schemas.openxmlformats.org/officeDocument/2006/math">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t>𝑵</m:t>
                    </m:r>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t>−</m:t>
                    </m:r>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t>𝟏</m:t>
                    </m:r>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t> −</m:t>
                    </m:r>
                    <m:d>
                      <m:dPr>
                        <m:ctrlP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ctrlPr>
                      </m:dPr>
                      <m:e>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t>𝒂</m:t>
                        </m:r>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t>−</m:t>
                        </m:r>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t>𝟏</m:t>
                        </m:r>
                      </m:e>
                    </m:d>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t>−</m:t>
                    </m:r>
                    <m:d>
                      <m:dPr>
                        <m:ctrlP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ctrlPr>
                      </m:dPr>
                      <m:e>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t>𝒃</m:t>
                        </m:r>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t>−</m:t>
                        </m:r>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t>𝟏</m:t>
                        </m:r>
                      </m:e>
                    </m:d>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t>=</m:t>
                    </m:r>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t>𝑵</m:t>
                    </m:r>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t> −</m:t>
                    </m:r>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t>𝒂</m:t>
                    </m:r>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t> −</m:t>
                    </m:r>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t>𝒃</m:t>
                    </m:r>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t>+</m:t>
                    </m:r>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Light" panose="020B0300000000000000" pitchFamily="34" charset="-128"/>
                        <a:cs typeface="+mj-cs"/>
                      </a:rPr>
                      <m:t>𝟏</m:t>
                    </m:r>
                  </m:oMath>
                </a14:m>
                <a:endParaRPr kumimoji="1" lang="ja-JP" altLang="en-US" sz="1200" b="1" i="1" u="none"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mc:Choice>
        <mc:Fallback xmlns="">
          <p:sp>
            <p:nvSpPr>
              <p:cNvPr id="40" name="Title 6">
                <a:extLst>
                  <a:ext uri="{FF2B5EF4-FFF2-40B4-BE49-F238E27FC236}">
                    <a16:creationId xmlns:a16="http://schemas.microsoft.com/office/drawing/2014/main" id="{E9C74288-F8C5-444B-8EB7-62CA094DEF60}"/>
                  </a:ext>
                </a:extLst>
              </p:cNvPr>
              <p:cNvSpPr txBox="1">
                <a:spLocks noRot="1" noChangeAspect="1" noMove="1" noResize="1" noEditPoints="1" noAdjustHandles="1" noChangeArrowheads="1" noChangeShapeType="1" noTextEdit="1"/>
              </p:cNvSpPr>
              <p:nvPr/>
            </p:nvSpPr>
            <p:spPr>
              <a:xfrm>
                <a:off x="5706039" y="5877631"/>
                <a:ext cx="6138941" cy="374256"/>
              </a:xfrm>
              <a:prstGeom prst="rect">
                <a:avLst/>
              </a:prstGeom>
              <a:blipFill>
                <a:blip r:embed="rId8"/>
                <a:stretch>
                  <a:fillRect t="-4839"/>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0" name="Text Placeholder 5">
                <a:extLst>
                  <a:ext uri="{FF2B5EF4-FFF2-40B4-BE49-F238E27FC236}">
                    <a16:creationId xmlns:a16="http://schemas.microsoft.com/office/drawing/2014/main" id="{9B9C5A2F-2CFF-69C2-1F95-E37B675D887E}"/>
                  </a:ext>
                </a:extLst>
              </p:cNvPr>
              <p:cNvSpPr txBox="1">
                <a:spLocks/>
              </p:cNvSpPr>
              <p:nvPr/>
            </p:nvSpPr>
            <p:spPr>
              <a:xfrm>
                <a:off x="5936986" y="1842604"/>
                <a:ext cx="1338057" cy="83251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
                    </m:oMathParaPr>
                    <m:oMath xmlns:m="http://schemas.openxmlformats.org/officeDocument/2006/math">
                      <m:r>
                        <a:rPr kumimoji="1" lang="en-NZ" altLang="ja-JP" sz="17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𝑭</m:t>
                      </m:r>
                      <m:r>
                        <a:rPr kumimoji="1" lang="en-NZ" altLang="ja-JP" sz="17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f>
                        <m:fPr>
                          <m:ctrlPr>
                            <a:rPr kumimoji="1" lang="en-NZ" altLang="ja-JP" sz="17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fPr>
                        <m:num>
                          <m:r>
                            <a:rPr kumimoji="1" lang="en-NZ" altLang="ja-JP" sz="17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𝑴𝑺𝑻</m:t>
                          </m:r>
                        </m:num>
                        <m:den>
                          <m:r>
                            <a:rPr kumimoji="1" lang="en-NZ" altLang="ja-JP" sz="17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𝑴𝑺𝑬</m:t>
                          </m:r>
                        </m:den>
                      </m:f>
                    </m:oMath>
                  </m:oMathPara>
                </a14:m>
                <a:endParaRPr kumimoji="1" lang="en-NZ" altLang="ja-JP" sz="17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30" name="Text Placeholder 5">
                <a:extLst>
                  <a:ext uri="{FF2B5EF4-FFF2-40B4-BE49-F238E27FC236}">
                    <a16:creationId xmlns:a16="http://schemas.microsoft.com/office/drawing/2014/main" id="{9B9C5A2F-2CFF-69C2-1F95-E37B675D887E}"/>
                  </a:ext>
                </a:extLst>
              </p:cNvPr>
              <p:cNvSpPr txBox="1">
                <a:spLocks noRot="1" noChangeAspect="1" noMove="1" noResize="1" noEditPoints="1" noAdjustHandles="1" noChangeArrowheads="1" noChangeShapeType="1" noTextEdit="1"/>
              </p:cNvSpPr>
              <p:nvPr/>
            </p:nvSpPr>
            <p:spPr>
              <a:xfrm>
                <a:off x="5936986" y="1842604"/>
                <a:ext cx="1338057" cy="832514"/>
              </a:xfrm>
              <a:prstGeom prst="rect">
                <a:avLst/>
              </a:prstGeom>
              <a:blipFill>
                <a:blip r:embed="rId9"/>
                <a:stretch>
                  <a:fillRect/>
                </a:stretch>
              </a:blipFill>
            </p:spPr>
            <p:txBody>
              <a:bodyPr/>
              <a:lstStyle/>
              <a:p>
                <a:r>
                  <a:rPr lang="en-NZ">
                    <a:noFill/>
                  </a:rPr>
                  <a:t> </a:t>
                </a:r>
              </a:p>
            </p:txBody>
          </p:sp>
        </mc:Fallback>
      </mc:AlternateContent>
      <p:sp>
        <p:nvSpPr>
          <p:cNvPr id="31" name="Title 6">
            <a:extLst>
              <a:ext uri="{FF2B5EF4-FFF2-40B4-BE49-F238E27FC236}">
                <a16:creationId xmlns:a16="http://schemas.microsoft.com/office/drawing/2014/main" id="{786976C1-DEF7-AA23-CD35-5FAD4B5F47F9}"/>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Recap of Last Lecture</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33" name="Footer Placeholder 2">
            <a:extLst>
              <a:ext uri="{FF2B5EF4-FFF2-40B4-BE49-F238E27FC236}">
                <a16:creationId xmlns:a16="http://schemas.microsoft.com/office/drawing/2014/main" id="{C0C2DCB0-3293-04EA-39D0-97012595403B}"/>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Recap of Last Lecture</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20415203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3" name="Table 22">
                <a:extLst>
                  <a:ext uri="{FF2B5EF4-FFF2-40B4-BE49-F238E27FC236}">
                    <a16:creationId xmlns:a16="http://schemas.microsoft.com/office/drawing/2014/main" id="{F0EF8870-7120-4979-7C8A-2367540D11D5}"/>
                  </a:ext>
                </a:extLst>
              </p:cNvPr>
              <p:cNvGraphicFramePr>
                <a:graphicFrameLocks noGrp="1"/>
              </p:cNvGraphicFramePr>
              <p:nvPr>
                <p:extLst>
                  <p:ext uri="{D42A27DB-BD31-4B8C-83A1-F6EECF244321}">
                    <p14:modId xmlns:p14="http://schemas.microsoft.com/office/powerpoint/2010/main" val="76767546"/>
                  </p:ext>
                </p:extLst>
              </p:nvPr>
            </p:nvGraphicFramePr>
            <p:xfrm>
              <a:off x="846206" y="3945509"/>
              <a:ext cx="5547304" cy="2212383"/>
            </p:xfrm>
            <a:graphic>
              <a:graphicData uri="http://schemas.openxmlformats.org/drawingml/2006/table">
                <a:tbl>
                  <a:tblPr firstRow="1" firstCol="1" bandRow="1">
                    <a:tableStyleId>{5C22544A-7EE6-4342-B048-85BDC9FD1C3A}</a:tableStyleId>
                  </a:tblPr>
                  <a:tblGrid>
                    <a:gridCol w="828851">
                      <a:extLst>
                        <a:ext uri="{9D8B030D-6E8A-4147-A177-3AD203B41FA5}">
                          <a16:colId xmlns:a16="http://schemas.microsoft.com/office/drawing/2014/main" val="3074826136"/>
                        </a:ext>
                      </a:extLst>
                    </a:gridCol>
                    <a:gridCol w="1071614">
                      <a:extLst>
                        <a:ext uri="{9D8B030D-6E8A-4147-A177-3AD203B41FA5}">
                          <a16:colId xmlns:a16="http://schemas.microsoft.com/office/drawing/2014/main" val="387258914"/>
                        </a:ext>
                      </a:extLst>
                    </a:gridCol>
                    <a:gridCol w="1215613">
                      <a:extLst>
                        <a:ext uri="{9D8B030D-6E8A-4147-A177-3AD203B41FA5}">
                          <a16:colId xmlns:a16="http://schemas.microsoft.com/office/drawing/2014/main" val="2306200820"/>
                        </a:ext>
                      </a:extLst>
                    </a:gridCol>
                    <a:gridCol w="1215613">
                      <a:extLst>
                        <a:ext uri="{9D8B030D-6E8A-4147-A177-3AD203B41FA5}">
                          <a16:colId xmlns:a16="http://schemas.microsoft.com/office/drawing/2014/main" val="650978296"/>
                        </a:ext>
                      </a:extLst>
                    </a:gridCol>
                    <a:gridCol w="1215613">
                      <a:extLst>
                        <a:ext uri="{9D8B030D-6E8A-4147-A177-3AD203B41FA5}">
                          <a16:colId xmlns:a16="http://schemas.microsoft.com/office/drawing/2014/main" val="1102281017"/>
                        </a:ext>
                      </a:extLst>
                    </a:gridCol>
                  </a:tblGrid>
                  <a:tr h="508143">
                    <a:tc>
                      <a:txBody>
                        <a:bodyPr/>
                        <a:lstStyle/>
                        <a:p>
                          <a:pPr>
                            <a:lnSpc>
                              <a:spcPct val="107000"/>
                            </a:lnSpc>
                          </a:pPr>
                          <a:endParaRPr lang="en-NZ" sz="1200" dirty="0">
                            <a:effectLst/>
                            <a:latin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2000" dirty="0">
                              <a:effectLst/>
                            </a:rPr>
                            <a:t>1</a:t>
                          </a:r>
                          <a:endParaRPr lang="en-NZ"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2000" dirty="0">
                              <a:effectLst/>
                            </a:rPr>
                            <a:t>2</a:t>
                          </a:r>
                          <a:endParaRPr lang="en-NZ"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2000" dirty="0">
                              <a:effectLst/>
                            </a:rPr>
                            <a:t>…</a:t>
                          </a:r>
                          <a:endParaRPr lang="en-NZ"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2000" dirty="0">
                              <a:effectLst/>
                              <a:latin typeface="Calibri" panose="020F0502020204030204" pitchFamily="34" charset="0"/>
                              <a:ea typeface="Calibri" panose="020F0502020204030204" pitchFamily="34" charset="0"/>
                              <a:cs typeface="Times New Roman" panose="02020603050405020304" pitchFamily="18" charset="0"/>
                            </a:rPr>
                            <a:t>b</a:t>
                          </a:r>
                        </a:p>
                      </a:txBody>
                      <a:tcPr marL="68580" marR="68580" marT="0" marB="0" anchor="ctr"/>
                    </a:tc>
                    <a:extLst>
                      <a:ext uri="{0D108BD9-81ED-4DB2-BD59-A6C34878D82A}">
                        <a16:rowId xmlns:a16="http://schemas.microsoft.com/office/drawing/2014/main" val="1838439194"/>
                      </a:ext>
                    </a:extLst>
                  </a:tr>
                  <a:tr h="380755">
                    <a:tc>
                      <a:txBody>
                        <a:bodyPr/>
                        <a:lstStyle/>
                        <a:p>
                          <a:pPr algn="ctr">
                            <a:lnSpc>
                              <a:spcPct val="107000"/>
                            </a:lnSpc>
                            <a:spcAft>
                              <a:spcPts val="800"/>
                            </a:spcAft>
                          </a:pPr>
                          <a:r>
                            <a:rPr lang="en-NZ" sz="2000" baseline="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nchor="ct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111</m:t>
                                  </m:r>
                                </m:sub>
                              </m:sSub>
                            </m:oMath>
                          </a14:m>
                          <a:r>
                            <a:rPr lang="en-NZ" sz="1400" dirty="0">
                              <a:effectLst/>
                              <a:latin typeface="Calibri" panose="020F0502020204030204" pitchFamily="34" charset="0"/>
                              <a:ea typeface="Calibri" panose="020F0502020204030204" pitchFamily="34" charset="0"/>
                              <a:cs typeface="Times New Roman" panose="02020603050405020304" pitchFamily="18" charset="0"/>
                            </a:rPr>
                            <a:t> … </a:t>
                          </a: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11</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𝑛</m:t>
                                  </m:r>
                                </m:sub>
                              </m:sSub>
                            </m:oMath>
                          </a14:m>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121</m:t>
                                  </m:r>
                                </m:sub>
                              </m:sSub>
                            </m:oMath>
                          </a14:m>
                          <a:r>
                            <a:rPr lang="en-NZ" sz="1400" dirty="0">
                              <a:effectLst/>
                              <a:latin typeface="Calibri" panose="020F0502020204030204" pitchFamily="34" charset="0"/>
                              <a:ea typeface="Calibri" panose="020F0502020204030204" pitchFamily="34" charset="0"/>
                              <a:cs typeface="Times New Roman" panose="02020603050405020304" pitchFamily="18" charset="0"/>
                            </a:rPr>
                            <a:t> … </a:t>
                          </a: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12</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𝑛</m:t>
                                  </m:r>
                                </m:sub>
                              </m:sSub>
                            </m:oMath>
                          </a14:m>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1400" dirty="0">
                              <a:effectLst/>
                            </a:rPr>
                            <a:t>…</a:t>
                          </a:r>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1</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𝑏</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1</m:t>
                                  </m:r>
                                </m:sub>
                              </m:sSub>
                            </m:oMath>
                          </a14:m>
                          <a:r>
                            <a:rPr lang="en-NZ" sz="1400" dirty="0">
                              <a:effectLst/>
                              <a:latin typeface="Calibri" panose="020F0502020204030204" pitchFamily="34" charset="0"/>
                              <a:ea typeface="Calibri" panose="020F0502020204030204" pitchFamily="34" charset="0"/>
                              <a:cs typeface="Times New Roman" panose="02020603050405020304" pitchFamily="18" charset="0"/>
                            </a:rPr>
                            <a:t> … </a:t>
                          </a: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1</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𝑏𝑛</m:t>
                                  </m:r>
                                </m:sub>
                              </m:sSub>
                            </m:oMath>
                          </a14:m>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572944342"/>
                      </a:ext>
                    </a:extLst>
                  </a:tr>
                  <a:tr h="380755">
                    <a:tc>
                      <a:txBody>
                        <a:bodyPr/>
                        <a:lstStyle/>
                        <a:p>
                          <a:pPr algn="ctr">
                            <a:lnSpc>
                              <a:spcPct val="107000"/>
                            </a:lnSpc>
                            <a:spcAft>
                              <a:spcPts val="800"/>
                            </a:spcAft>
                          </a:pPr>
                          <a:r>
                            <a:rPr lang="en-NZ" sz="2000" baseline="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nchor="ct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211</m:t>
                                  </m:r>
                                </m:sub>
                              </m:sSub>
                            </m:oMath>
                          </a14:m>
                          <a:r>
                            <a:rPr lang="en-NZ" sz="1400" dirty="0">
                              <a:effectLst/>
                              <a:latin typeface="Calibri" panose="020F0502020204030204" pitchFamily="34" charset="0"/>
                              <a:ea typeface="Calibri" panose="020F0502020204030204" pitchFamily="34" charset="0"/>
                              <a:cs typeface="Times New Roman" panose="02020603050405020304" pitchFamily="18" charset="0"/>
                            </a:rPr>
                            <a:t> … </a:t>
                          </a: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21</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𝑛</m:t>
                                  </m:r>
                                </m:sub>
                              </m:sSub>
                            </m:oMath>
                          </a14:m>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221</m:t>
                                  </m:r>
                                </m:sub>
                              </m:sSub>
                            </m:oMath>
                          </a14:m>
                          <a:r>
                            <a:rPr lang="en-NZ" sz="1400" dirty="0">
                              <a:effectLst/>
                              <a:latin typeface="Calibri" panose="020F0502020204030204" pitchFamily="34" charset="0"/>
                              <a:ea typeface="Calibri" panose="020F0502020204030204" pitchFamily="34" charset="0"/>
                              <a:cs typeface="Times New Roman" panose="02020603050405020304" pitchFamily="18" charset="0"/>
                            </a:rPr>
                            <a:t> … </a:t>
                          </a: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22</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𝑛</m:t>
                                  </m:r>
                                </m:sub>
                              </m:sSub>
                            </m:oMath>
                          </a14:m>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1400" dirty="0">
                              <a:effectLst/>
                            </a:rPr>
                            <a:t>…</a:t>
                          </a:r>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2</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𝑏</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1</m:t>
                                  </m:r>
                                </m:sub>
                              </m:sSub>
                            </m:oMath>
                          </a14:m>
                          <a:r>
                            <a:rPr lang="en-NZ" sz="1400" dirty="0">
                              <a:effectLst/>
                              <a:latin typeface="Calibri" panose="020F0502020204030204" pitchFamily="34" charset="0"/>
                              <a:ea typeface="Calibri" panose="020F0502020204030204" pitchFamily="34" charset="0"/>
                              <a:cs typeface="Times New Roman" panose="02020603050405020304" pitchFamily="18" charset="0"/>
                            </a:rPr>
                            <a:t> … </a:t>
                          </a: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2</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𝑏𝑛</m:t>
                                  </m:r>
                                </m:sub>
                              </m:sSub>
                            </m:oMath>
                          </a14:m>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200320227"/>
                      </a:ext>
                    </a:extLst>
                  </a:tr>
                  <a:tr h="380755">
                    <a:tc>
                      <a:txBody>
                        <a:bodyPr/>
                        <a:lstStyle/>
                        <a:p>
                          <a:pPr algn="ctr">
                            <a:lnSpc>
                              <a:spcPct val="107000"/>
                            </a:lnSpc>
                            <a:spcAft>
                              <a:spcPts val="800"/>
                            </a:spcAft>
                          </a:pPr>
                          <a:endParaRPr lang="en-NZ" sz="200" i="1" dirty="0">
                            <a:effectLst/>
                            <a:latin typeface="Cambria Math" panose="02040503050406030204" pitchFamily="18" charset="0"/>
                            <a:ea typeface="Cambria Math" panose="02040503050406030204" pitchFamily="18" charset="0"/>
                            <a:cs typeface="Times New Roman" panose="02020603050405020304" pitchFamily="18" charset="0"/>
                          </a:endParaRPr>
                        </a:p>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NZ" sz="2000" i="1" smtClean="0">
                                    <a:effectLst/>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NZ"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endParaRPr lang="en-NZ" sz="200" i="1" dirty="0">
                            <a:effectLst/>
                            <a:latin typeface="Cambria Math" panose="02040503050406030204" pitchFamily="18" charset="0"/>
                            <a:ea typeface="Cambria Math" panose="02040503050406030204" pitchFamily="18" charset="0"/>
                            <a:cs typeface="Times New Roman" panose="02020603050405020304" pitchFamily="18" charset="0"/>
                          </a:endParaRPr>
                        </a:p>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NZ" sz="1400" i="1" smtClean="0">
                                    <a:effectLst/>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endParaRPr lang="en-NZ" sz="200" i="1" dirty="0">
                            <a:effectLst/>
                            <a:latin typeface="Cambria Math" panose="02040503050406030204" pitchFamily="18" charset="0"/>
                            <a:ea typeface="Cambria Math" panose="02040503050406030204" pitchFamily="18" charset="0"/>
                            <a:cs typeface="Times New Roman" panose="02020603050405020304" pitchFamily="18" charset="0"/>
                          </a:endParaRPr>
                        </a:p>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NZ" sz="1400" i="1" smtClean="0">
                                    <a:effectLst/>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endParaRPr lang="en-NZ" sz="200" i="1" dirty="0">
                            <a:effectLst/>
                            <a:latin typeface="Cambria Math" panose="02040503050406030204" pitchFamily="18" charset="0"/>
                            <a:ea typeface="Cambria Math" panose="02040503050406030204" pitchFamily="18" charset="0"/>
                            <a:cs typeface="Times New Roman" panose="02020603050405020304" pitchFamily="18" charset="0"/>
                          </a:endParaRPr>
                        </a:p>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NZ" sz="1400" i="1" smtClean="0">
                                    <a:effectLst/>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endParaRPr lang="en-NZ" sz="200" i="1" dirty="0">
                            <a:effectLst/>
                            <a:latin typeface="Cambria Math" panose="02040503050406030204" pitchFamily="18" charset="0"/>
                            <a:ea typeface="Cambria Math" panose="02040503050406030204" pitchFamily="18" charset="0"/>
                            <a:cs typeface="Times New Roman" panose="02020603050405020304" pitchFamily="18" charset="0"/>
                          </a:endParaRPr>
                        </a:p>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NZ" sz="1400" i="1" smtClean="0">
                                    <a:effectLst/>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389106156"/>
                      </a:ext>
                    </a:extLst>
                  </a:tr>
                  <a:tr h="380755">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NZ" sz="2000" baseline="0" dirty="0">
                              <a:effectLst/>
                              <a:latin typeface="Calibri" panose="020F0502020204030204" pitchFamily="34" charset="0"/>
                              <a:ea typeface="Calibri" panose="020F0502020204030204" pitchFamily="34" charset="0"/>
                              <a:cs typeface="Times New Roman" panose="02020603050405020304" pitchFamily="18" charset="0"/>
                            </a:rPr>
                            <a:t>a</a:t>
                          </a:r>
                        </a:p>
                      </a:txBody>
                      <a:tcPr marL="68580" marR="68580" marT="0" marB="0" anchor="ct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𝑎</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11</m:t>
                                  </m:r>
                                </m:sub>
                              </m:sSub>
                            </m:oMath>
                          </a14:m>
                          <a:r>
                            <a:rPr lang="en-NZ" sz="1400" dirty="0">
                              <a:effectLst/>
                              <a:latin typeface="Calibri" panose="020F0502020204030204" pitchFamily="34" charset="0"/>
                              <a:ea typeface="Calibri" panose="020F0502020204030204" pitchFamily="34" charset="0"/>
                              <a:cs typeface="Times New Roman" panose="02020603050405020304" pitchFamily="18" charset="0"/>
                            </a:rPr>
                            <a:t> … </a:t>
                          </a: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𝑎</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1</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𝑛</m:t>
                                  </m:r>
                                </m:sub>
                              </m:sSub>
                            </m:oMath>
                          </a14:m>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𝑎</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21</m:t>
                                  </m:r>
                                </m:sub>
                              </m:sSub>
                            </m:oMath>
                          </a14:m>
                          <a:r>
                            <a:rPr lang="en-NZ" sz="1400" dirty="0">
                              <a:effectLst/>
                              <a:latin typeface="Calibri" panose="020F0502020204030204" pitchFamily="34" charset="0"/>
                              <a:ea typeface="Calibri" panose="020F0502020204030204" pitchFamily="34" charset="0"/>
                              <a:cs typeface="Times New Roman" panose="02020603050405020304" pitchFamily="18" charset="0"/>
                            </a:rPr>
                            <a:t> … </a:t>
                          </a: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𝑎</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2</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𝑛</m:t>
                                  </m:r>
                                </m:sub>
                              </m:sSub>
                            </m:oMath>
                          </a14:m>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1400" dirty="0">
                              <a:effectLst/>
                            </a:rPr>
                            <a:t>…</a:t>
                          </a:r>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𝑎𝑏</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1</m:t>
                                  </m:r>
                                </m:sub>
                              </m:sSub>
                            </m:oMath>
                          </a14:m>
                          <a:r>
                            <a:rPr lang="en-NZ" sz="1400" dirty="0">
                              <a:effectLst/>
                              <a:latin typeface="Calibri" panose="020F0502020204030204" pitchFamily="34" charset="0"/>
                              <a:ea typeface="Calibri" panose="020F0502020204030204" pitchFamily="34" charset="0"/>
                              <a:cs typeface="Times New Roman" panose="02020603050405020304" pitchFamily="18" charset="0"/>
                            </a:rPr>
                            <a:t> … </a:t>
                          </a: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𝑎𝑏𝑛</m:t>
                                  </m:r>
                                </m:sub>
                              </m:sSub>
                            </m:oMath>
                          </a14:m>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746888167"/>
                      </a:ext>
                    </a:extLst>
                  </a:tr>
                </a:tbl>
              </a:graphicData>
            </a:graphic>
          </p:graphicFrame>
        </mc:Choice>
        <mc:Fallback xmlns="">
          <p:graphicFrame>
            <p:nvGraphicFramePr>
              <p:cNvPr id="23" name="Table 22">
                <a:extLst>
                  <a:ext uri="{FF2B5EF4-FFF2-40B4-BE49-F238E27FC236}">
                    <a16:creationId xmlns:a16="http://schemas.microsoft.com/office/drawing/2014/main" id="{F0EF8870-7120-4979-7C8A-2367540D11D5}"/>
                  </a:ext>
                </a:extLst>
              </p:cNvPr>
              <p:cNvGraphicFramePr>
                <a:graphicFrameLocks noGrp="1"/>
              </p:cNvGraphicFramePr>
              <p:nvPr>
                <p:extLst>
                  <p:ext uri="{D42A27DB-BD31-4B8C-83A1-F6EECF244321}">
                    <p14:modId xmlns:p14="http://schemas.microsoft.com/office/powerpoint/2010/main" val="76767546"/>
                  </p:ext>
                </p:extLst>
              </p:nvPr>
            </p:nvGraphicFramePr>
            <p:xfrm>
              <a:off x="846206" y="3945509"/>
              <a:ext cx="5547304" cy="2212383"/>
            </p:xfrm>
            <a:graphic>
              <a:graphicData uri="http://schemas.openxmlformats.org/drawingml/2006/table">
                <a:tbl>
                  <a:tblPr firstRow="1" firstCol="1" bandRow="1">
                    <a:tableStyleId>{5C22544A-7EE6-4342-B048-85BDC9FD1C3A}</a:tableStyleId>
                  </a:tblPr>
                  <a:tblGrid>
                    <a:gridCol w="828851">
                      <a:extLst>
                        <a:ext uri="{9D8B030D-6E8A-4147-A177-3AD203B41FA5}">
                          <a16:colId xmlns:a16="http://schemas.microsoft.com/office/drawing/2014/main" val="3074826136"/>
                        </a:ext>
                      </a:extLst>
                    </a:gridCol>
                    <a:gridCol w="1071614">
                      <a:extLst>
                        <a:ext uri="{9D8B030D-6E8A-4147-A177-3AD203B41FA5}">
                          <a16:colId xmlns:a16="http://schemas.microsoft.com/office/drawing/2014/main" val="387258914"/>
                        </a:ext>
                      </a:extLst>
                    </a:gridCol>
                    <a:gridCol w="1215613">
                      <a:extLst>
                        <a:ext uri="{9D8B030D-6E8A-4147-A177-3AD203B41FA5}">
                          <a16:colId xmlns:a16="http://schemas.microsoft.com/office/drawing/2014/main" val="2306200820"/>
                        </a:ext>
                      </a:extLst>
                    </a:gridCol>
                    <a:gridCol w="1215613">
                      <a:extLst>
                        <a:ext uri="{9D8B030D-6E8A-4147-A177-3AD203B41FA5}">
                          <a16:colId xmlns:a16="http://schemas.microsoft.com/office/drawing/2014/main" val="650978296"/>
                        </a:ext>
                      </a:extLst>
                    </a:gridCol>
                    <a:gridCol w="1215613">
                      <a:extLst>
                        <a:ext uri="{9D8B030D-6E8A-4147-A177-3AD203B41FA5}">
                          <a16:colId xmlns:a16="http://schemas.microsoft.com/office/drawing/2014/main" val="1102281017"/>
                        </a:ext>
                      </a:extLst>
                    </a:gridCol>
                  </a:tblGrid>
                  <a:tr h="508143">
                    <a:tc>
                      <a:txBody>
                        <a:bodyPr/>
                        <a:lstStyle/>
                        <a:p>
                          <a:pPr>
                            <a:lnSpc>
                              <a:spcPct val="107000"/>
                            </a:lnSpc>
                          </a:pPr>
                          <a:endParaRPr lang="en-NZ" sz="1200" dirty="0">
                            <a:effectLst/>
                            <a:latin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2000" dirty="0">
                              <a:effectLst/>
                            </a:rPr>
                            <a:t>1</a:t>
                          </a:r>
                          <a:endParaRPr lang="en-NZ"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2000" dirty="0">
                              <a:effectLst/>
                            </a:rPr>
                            <a:t>2</a:t>
                          </a:r>
                          <a:endParaRPr lang="en-NZ"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2000" dirty="0">
                              <a:effectLst/>
                            </a:rPr>
                            <a:t>…</a:t>
                          </a:r>
                          <a:endParaRPr lang="en-NZ"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2000" dirty="0">
                              <a:effectLst/>
                              <a:latin typeface="Calibri" panose="020F0502020204030204" pitchFamily="34" charset="0"/>
                              <a:ea typeface="Calibri" panose="020F0502020204030204" pitchFamily="34" charset="0"/>
                              <a:cs typeface="Times New Roman" panose="02020603050405020304" pitchFamily="18" charset="0"/>
                            </a:rPr>
                            <a:t>b</a:t>
                          </a:r>
                        </a:p>
                      </a:txBody>
                      <a:tcPr marL="68580" marR="68580" marT="0" marB="0" anchor="ctr"/>
                    </a:tc>
                    <a:extLst>
                      <a:ext uri="{0D108BD9-81ED-4DB2-BD59-A6C34878D82A}">
                        <a16:rowId xmlns:a16="http://schemas.microsoft.com/office/drawing/2014/main" val="1838439194"/>
                      </a:ext>
                    </a:extLst>
                  </a:tr>
                  <a:tr h="380755">
                    <a:tc>
                      <a:txBody>
                        <a:bodyPr/>
                        <a:lstStyle/>
                        <a:p>
                          <a:pPr algn="ctr">
                            <a:lnSpc>
                              <a:spcPct val="107000"/>
                            </a:lnSpc>
                            <a:spcAft>
                              <a:spcPts val="800"/>
                            </a:spcAft>
                          </a:pPr>
                          <a:r>
                            <a:rPr lang="en-NZ" sz="2000" baseline="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nchor="ctr"/>
                    </a:tc>
                    <a:tc>
                      <a:txBody>
                        <a:bodyPr/>
                        <a:lstStyle/>
                        <a:p>
                          <a:endParaRPr lang="en-US"/>
                        </a:p>
                      </a:txBody>
                      <a:tcPr marL="68580" marR="68580" marT="0" marB="0" anchor="ctr">
                        <a:blipFill>
                          <a:blip r:embed="rId2"/>
                          <a:stretch>
                            <a:fillRect l="-77841" t="-137097" r="-342614" b="-382258"/>
                          </a:stretch>
                        </a:blipFill>
                      </a:tcPr>
                    </a:tc>
                    <a:tc>
                      <a:txBody>
                        <a:bodyPr/>
                        <a:lstStyle/>
                        <a:p>
                          <a:endParaRPr lang="en-US"/>
                        </a:p>
                      </a:txBody>
                      <a:tcPr marL="68580" marR="68580" marT="0" marB="0" anchor="ctr">
                        <a:blipFill>
                          <a:blip r:embed="rId2"/>
                          <a:stretch>
                            <a:fillRect l="-156500" t="-137097" r="-201500" b="-382258"/>
                          </a:stretch>
                        </a:blipFill>
                      </a:tcPr>
                    </a:tc>
                    <a:tc>
                      <a:txBody>
                        <a:bodyPr/>
                        <a:lstStyle/>
                        <a:p>
                          <a:pPr algn="ctr">
                            <a:lnSpc>
                              <a:spcPct val="107000"/>
                            </a:lnSpc>
                            <a:spcAft>
                              <a:spcPts val="800"/>
                            </a:spcAft>
                          </a:pPr>
                          <a:r>
                            <a:rPr lang="en-NZ" sz="1400" dirty="0">
                              <a:effectLst/>
                            </a:rPr>
                            <a:t>…</a:t>
                          </a:r>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endParaRPr lang="en-US"/>
                        </a:p>
                      </a:txBody>
                      <a:tcPr marL="68580" marR="68580" marT="0" marB="0" anchor="ctr">
                        <a:blipFill>
                          <a:blip r:embed="rId2"/>
                          <a:stretch>
                            <a:fillRect l="-356000" t="-137097" r="-2000" b="-382258"/>
                          </a:stretch>
                        </a:blipFill>
                      </a:tcPr>
                    </a:tc>
                    <a:extLst>
                      <a:ext uri="{0D108BD9-81ED-4DB2-BD59-A6C34878D82A}">
                        <a16:rowId xmlns:a16="http://schemas.microsoft.com/office/drawing/2014/main" val="3572944342"/>
                      </a:ext>
                    </a:extLst>
                  </a:tr>
                  <a:tr h="380755">
                    <a:tc>
                      <a:txBody>
                        <a:bodyPr/>
                        <a:lstStyle/>
                        <a:p>
                          <a:pPr algn="ctr">
                            <a:lnSpc>
                              <a:spcPct val="107000"/>
                            </a:lnSpc>
                            <a:spcAft>
                              <a:spcPts val="800"/>
                            </a:spcAft>
                          </a:pPr>
                          <a:r>
                            <a:rPr lang="en-NZ" sz="2000" baseline="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nchor="ctr"/>
                    </a:tc>
                    <a:tc>
                      <a:txBody>
                        <a:bodyPr/>
                        <a:lstStyle/>
                        <a:p>
                          <a:endParaRPr lang="en-US"/>
                        </a:p>
                      </a:txBody>
                      <a:tcPr marL="68580" marR="68580" marT="0" marB="0" anchor="ctr">
                        <a:blipFill>
                          <a:blip r:embed="rId2"/>
                          <a:stretch>
                            <a:fillRect l="-77841" t="-233333" r="-342614" b="-276190"/>
                          </a:stretch>
                        </a:blipFill>
                      </a:tcPr>
                    </a:tc>
                    <a:tc>
                      <a:txBody>
                        <a:bodyPr/>
                        <a:lstStyle/>
                        <a:p>
                          <a:endParaRPr lang="en-US"/>
                        </a:p>
                      </a:txBody>
                      <a:tcPr marL="68580" marR="68580" marT="0" marB="0" anchor="ctr">
                        <a:blipFill>
                          <a:blip r:embed="rId2"/>
                          <a:stretch>
                            <a:fillRect l="-156500" t="-233333" r="-201500" b="-276190"/>
                          </a:stretch>
                        </a:blipFill>
                      </a:tcPr>
                    </a:tc>
                    <a:tc>
                      <a:txBody>
                        <a:bodyPr/>
                        <a:lstStyle/>
                        <a:p>
                          <a:pPr algn="ctr">
                            <a:lnSpc>
                              <a:spcPct val="107000"/>
                            </a:lnSpc>
                            <a:spcAft>
                              <a:spcPts val="800"/>
                            </a:spcAft>
                          </a:pPr>
                          <a:r>
                            <a:rPr lang="en-NZ" sz="1400" dirty="0">
                              <a:effectLst/>
                            </a:rPr>
                            <a:t>…</a:t>
                          </a:r>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endParaRPr lang="en-US"/>
                        </a:p>
                      </a:txBody>
                      <a:tcPr marL="68580" marR="68580" marT="0" marB="0" anchor="ctr">
                        <a:blipFill>
                          <a:blip r:embed="rId2"/>
                          <a:stretch>
                            <a:fillRect l="-356000" t="-233333" r="-2000" b="-276190"/>
                          </a:stretch>
                        </a:blipFill>
                      </a:tcPr>
                    </a:tc>
                    <a:extLst>
                      <a:ext uri="{0D108BD9-81ED-4DB2-BD59-A6C34878D82A}">
                        <a16:rowId xmlns:a16="http://schemas.microsoft.com/office/drawing/2014/main" val="2200320227"/>
                      </a:ext>
                    </a:extLst>
                  </a:tr>
                  <a:tr h="561975">
                    <a:tc>
                      <a:txBody>
                        <a:bodyPr/>
                        <a:lstStyle/>
                        <a:p>
                          <a:endParaRPr lang="en-US"/>
                        </a:p>
                      </a:txBody>
                      <a:tcPr marL="68580" marR="68580" marT="0" marB="0" anchor="ctr">
                        <a:blipFill>
                          <a:blip r:embed="rId2"/>
                          <a:stretch>
                            <a:fillRect l="-735" t="-228261" r="-572794" b="-89130"/>
                          </a:stretch>
                        </a:blipFill>
                      </a:tcPr>
                    </a:tc>
                    <a:tc>
                      <a:txBody>
                        <a:bodyPr/>
                        <a:lstStyle/>
                        <a:p>
                          <a:endParaRPr lang="en-US"/>
                        </a:p>
                      </a:txBody>
                      <a:tcPr marL="68580" marR="68580" marT="0" marB="0" anchor="ctr">
                        <a:blipFill>
                          <a:blip r:embed="rId2"/>
                          <a:stretch>
                            <a:fillRect l="-77841" t="-228261" r="-342614" b="-89130"/>
                          </a:stretch>
                        </a:blipFill>
                      </a:tcPr>
                    </a:tc>
                    <a:tc>
                      <a:txBody>
                        <a:bodyPr/>
                        <a:lstStyle/>
                        <a:p>
                          <a:endParaRPr lang="en-US"/>
                        </a:p>
                      </a:txBody>
                      <a:tcPr marL="68580" marR="68580" marT="0" marB="0" anchor="ctr">
                        <a:blipFill>
                          <a:blip r:embed="rId2"/>
                          <a:stretch>
                            <a:fillRect l="-156500" t="-228261" r="-201500" b="-89130"/>
                          </a:stretch>
                        </a:blipFill>
                      </a:tcPr>
                    </a:tc>
                    <a:tc>
                      <a:txBody>
                        <a:bodyPr/>
                        <a:lstStyle/>
                        <a:p>
                          <a:endParaRPr lang="en-US"/>
                        </a:p>
                      </a:txBody>
                      <a:tcPr marL="68580" marR="68580" marT="0" marB="0" anchor="ctr">
                        <a:blipFill>
                          <a:blip r:embed="rId2"/>
                          <a:stretch>
                            <a:fillRect l="-257789" t="-228261" r="-102513" b="-89130"/>
                          </a:stretch>
                        </a:blipFill>
                      </a:tcPr>
                    </a:tc>
                    <a:tc>
                      <a:txBody>
                        <a:bodyPr/>
                        <a:lstStyle/>
                        <a:p>
                          <a:endParaRPr lang="en-US"/>
                        </a:p>
                      </a:txBody>
                      <a:tcPr marL="68580" marR="68580" marT="0" marB="0" anchor="ctr">
                        <a:blipFill>
                          <a:blip r:embed="rId2"/>
                          <a:stretch>
                            <a:fillRect l="-356000" t="-228261" r="-2000" b="-89130"/>
                          </a:stretch>
                        </a:blipFill>
                      </a:tcPr>
                    </a:tc>
                    <a:extLst>
                      <a:ext uri="{0D108BD9-81ED-4DB2-BD59-A6C34878D82A}">
                        <a16:rowId xmlns:a16="http://schemas.microsoft.com/office/drawing/2014/main" val="3389106156"/>
                      </a:ext>
                    </a:extLst>
                  </a:tr>
                  <a:tr h="380755">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NZ" sz="2000" baseline="0" dirty="0">
                              <a:effectLst/>
                              <a:latin typeface="Calibri" panose="020F0502020204030204" pitchFamily="34" charset="0"/>
                              <a:ea typeface="Calibri" panose="020F0502020204030204" pitchFamily="34" charset="0"/>
                              <a:cs typeface="Times New Roman" panose="02020603050405020304" pitchFamily="18" charset="0"/>
                            </a:rPr>
                            <a:t>a</a:t>
                          </a:r>
                        </a:p>
                      </a:txBody>
                      <a:tcPr marL="68580" marR="68580" marT="0" marB="0" anchor="ctr"/>
                    </a:tc>
                    <a:tc>
                      <a:txBody>
                        <a:bodyPr/>
                        <a:lstStyle/>
                        <a:p>
                          <a:endParaRPr lang="en-US"/>
                        </a:p>
                      </a:txBody>
                      <a:tcPr marL="68580" marR="68580" marT="0" marB="0" anchor="ctr">
                        <a:blipFill>
                          <a:blip r:embed="rId2"/>
                          <a:stretch>
                            <a:fillRect l="-77841" t="-479365" r="-342614" b="-30159"/>
                          </a:stretch>
                        </a:blipFill>
                      </a:tcPr>
                    </a:tc>
                    <a:tc>
                      <a:txBody>
                        <a:bodyPr/>
                        <a:lstStyle/>
                        <a:p>
                          <a:endParaRPr lang="en-US"/>
                        </a:p>
                      </a:txBody>
                      <a:tcPr marL="68580" marR="68580" marT="0" marB="0" anchor="ctr">
                        <a:blipFill>
                          <a:blip r:embed="rId2"/>
                          <a:stretch>
                            <a:fillRect l="-156500" t="-479365" r="-201500" b="-30159"/>
                          </a:stretch>
                        </a:blipFill>
                      </a:tcPr>
                    </a:tc>
                    <a:tc>
                      <a:txBody>
                        <a:bodyPr/>
                        <a:lstStyle/>
                        <a:p>
                          <a:pPr algn="ctr">
                            <a:lnSpc>
                              <a:spcPct val="107000"/>
                            </a:lnSpc>
                            <a:spcAft>
                              <a:spcPts val="800"/>
                            </a:spcAft>
                          </a:pPr>
                          <a:r>
                            <a:rPr lang="en-NZ" sz="1400" dirty="0">
                              <a:effectLst/>
                            </a:rPr>
                            <a:t>…</a:t>
                          </a:r>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endParaRPr lang="en-US"/>
                        </a:p>
                      </a:txBody>
                      <a:tcPr marL="68580" marR="68580" marT="0" marB="0" anchor="ctr">
                        <a:blipFill>
                          <a:blip r:embed="rId2"/>
                          <a:stretch>
                            <a:fillRect l="-356000" t="-479365" r="-2000" b="-30159"/>
                          </a:stretch>
                        </a:blipFill>
                      </a:tcPr>
                    </a:tc>
                    <a:extLst>
                      <a:ext uri="{0D108BD9-81ED-4DB2-BD59-A6C34878D82A}">
                        <a16:rowId xmlns:a16="http://schemas.microsoft.com/office/drawing/2014/main" val="746888167"/>
                      </a:ext>
                    </a:extLst>
                  </a:tr>
                </a:tbl>
              </a:graphicData>
            </a:graphic>
          </p:graphicFrame>
        </mc:Fallback>
      </mc:AlternateContent>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7" name="Title 6">
            <a:extLst>
              <a:ext uri="{FF2B5EF4-FFF2-40B4-BE49-F238E27FC236}">
                <a16:creationId xmlns:a16="http://schemas.microsoft.com/office/drawing/2014/main" id="{4ACB7FAA-E9E1-4274-A8D0-489528A3C0F6}"/>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4.3a </a:t>
            </a:r>
            <a:r>
              <a:rPr lang="en-US" altLang="ja-JP" b="1" u="sng">
                <a:solidFill>
                  <a:prstClr val="black"/>
                </a:solidFill>
                <a:latin typeface="Calibri" panose="020F0502020204030204"/>
                <a:ea typeface="游ゴシック Light" panose="020B0300000000000000" pitchFamily="34" charset="-128"/>
              </a:rPr>
              <a:t>– The Fixed Effects Model</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8" name="Footer Placeholder 2">
            <a:extLst>
              <a:ext uri="{FF2B5EF4-FFF2-40B4-BE49-F238E27FC236}">
                <a16:creationId xmlns:a16="http://schemas.microsoft.com/office/drawing/2014/main" id="{6C441BC2-97B1-40FC-901B-6774EA8C8C25}"/>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4.3 – </a:t>
            </a:r>
            <a:r>
              <a:rPr kumimoji="1" lang="en-US" altLang="ja-JP" sz="1600" dirty="0">
                <a:solidFill>
                  <a:srgbClr val="DEDDDD"/>
                </a:solidFill>
                <a:latin typeface="Gidole"/>
                <a:ea typeface="游ゴシック" panose="020B0400000000000000" pitchFamily="34" charset="-128"/>
              </a:rPr>
              <a:t>Fixed Effects Model</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11" name="Text Placeholder 5">
            <a:extLst>
              <a:ext uri="{FF2B5EF4-FFF2-40B4-BE49-F238E27FC236}">
                <a16:creationId xmlns:a16="http://schemas.microsoft.com/office/drawing/2014/main" id="{679607A7-05BF-41B9-B50A-7352824E974B}"/>
              </a:ext>
            </a:extLst>
          </p:cNvPr>
          <p:cNvSpPr txBox="1">
            <a:spLocks/>
          </p:cNvSpPr>
          <p:nvPr/>
        </p:nvSpPr>
        <p:spPr>
          <a:xfrm>
            <a:off x="312362" y="996728"/>
            <a:ext cx="11777003" cy="125515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prstClr val="black"/>
                </a:solidFill>
                <a:latin typeface="Calibri" panose="020F0502020204030204"/>
                <a:ea typeface="游ゴシック" panose="020B0400000000000000" pitchFamily="34" charset="-128"/>
              </a:rPr>
              <a:t>In an RBD with fixed effects, the response variable </a:t>
            </a:r>
            <a:r>
              <a:rPr lang="en-NZ" altLang="ja-JP" sz="1800" b="1" i="1" dirty="0">
                <a:solidFill>
                  <a:prstClr val="black"/>
                </a:solidFill>
                <a:latin typeface="Calibri" panose="020F0502020204030204"/>
                <a:ea typeface="游ゴシック" panose="020B0400000000000000" pitchFamily="34" charset="-128"/>
              </a:rPr>
              <a:t>Y</a:t>
            </a:r>
            <a:r>
              <a:rPr lang="en-NZ" altLang="ja-JP" sz="1800" dirty="0">
                <a:solidFill>
                  <a:prstClr val="black"/>
                </a:solidFill>
                <a:latin typeface="Calibri" panose="020F0502020204030204"/>
                <a:ea typeface="游ゴシック" panose="020B0400000000000000" pitchFamily="34" charset="-128"/>
              </a:rPr>
              <a:t> is modelled as a function of…</a:t>
            </a:r>
          </a:p>
          <a:p>
            <a:pPr marL="971493" lvl="1" indent="-285750" algn="just">
              <a:lnSpc>
                <a:spcPct val="100000"/>
              </a:lnSpc>
              <a:spcBef>
                <a:spcPts val="0"/>
              </a:spcBef>
              <a:buFontTx/>
              <a:buChar char="-"/>
              <a:defRPr/>
            </a:pPr>
            <a:r>
              <a:rPr lang="en-NZ" altLang="ja-JP" sz="1800" dirty="0">
                <a:solidFill>
                  <a:prstClr val="black"/>
                </a:solidFill>
                <a:latin typeface="Calibri" panose="020F0502020204030204"/>
                <a:ea typeface="游ゴシック" panose="020B0400000000000000" pitchFamily="34" charset="-128"/>
              </a:rPr>
              <a:t>A treatment factor </a:t>
            </a:r>
            <a:r>
              <a:rPr lang="en-NZ" altLang="ja-JP" sz="1800" b="1" i="1" dirty="0">
                <a:solidFill>
                  <a:prstClr val="black"/>
                </a:solidFill>
                <a:latin typeface="Calibri" panose="020F0502020204030204"/>
                <a:ea typeface="游ゴシック" panose="020B0400000000000000" pitchFamily="34" charset="-128"/>
              </a:rPr>
              <a:t>A</a:t>
            </a:r>
            <a:r>
              <a:rPr lang="en-NZ" altLang="ja-JP" sz="1800" dirty="0">
                <a:solidFill>
                  <a:prstClr val="black"/>
                </a:solidFill>
                <a:latin typeface="Calibri" panose="020F0502020204030204"/>
                <a:ea typeface="游ゴシック" panose="020B0400000000000000" pitchFamily="34" charset="-128"/>
              </a:rPr>
              <a:t> with </a:t>
            </a:r>
            <a:r>
              <a:rPr lang="en-NZ" altLang="ja-JP" sz="1800" b="1" i="1" dirty="0">
                <a:solidFill>
                  <a:prstClr val="black"/>
                </a:solidFill>
                <a:latin typeface="Calibri" panose="020F0502020204030204"/>
                <a:ea typeface="游ゴシック" panose="020B0400000000000000" pitchFamily="34" charset="-128"/>
              </a:rPr>
              <a:t>a</a:t>
            </a:r>
            <a:r>
              <a:rPr lang="en-NZ" altLang="ja-JP" sz="1800" dirty="0">
                <a:solidFill>
                  <a:prstClr val="black"/>
                </a:solidFill>
                <a:latin typeface="Calibri" panose="020F0502020204030204"/>
                <a:ea typeface="游ゴシック" panose="020B0400000000000000" pitchFamily="34" charset="-128"/>
              </a:rPr>
              <a:t> levels </a:t>
            </a:r>
          </a:p>
          <a:p>
            <a:pPr marL="971493" lvl="1" indent="-285750" algn="just">
              <a:lnSpc>
                <a:spcPct val="100000"/>
              </a:lnSpc>
              <a:spcBef>
                <a:spcPts val="0"/>
              </a:spcBef>
              <a:buFontTx/>
              <a:buChar char="-"/>
              <a:defRPr/>
            </a:pPr>
            <a:r>
              <a:rPr lang="en-NZ" altLang="ja-JP" sz="1800" dirty="0">
                <a:solidFill>
                  <a:prstClr val="black"/>
                </a:solidFill>
                <a:latin typeface="Calibri" panose="020F0502020204030204"/>
                <a:ea typeface="游ゴシック" panose="020B0400000000000000" pitchFamily="34" charset="-128"/>
              </a:rPr>
              <a:t>A blocking factor </a:t>
            </a:r>
            <a:r>
              <a:rPr lang="en-NZ" altLang="ja-JP" sz="1800" b="1" i="1" dirty="0">
                <a:solidFill>
                  <a:prstClr val="black"/>
                </a:solidFill>
                <a:latin typeface="Calibri" panose="020F0502020204030204"/>
                <a:ea typeface="游ゴシック" panose="020B0400000000000000" pitchFamily="34" charset="-128"/>
              </a:rPr>
              <a:t>B</a:t>
            </a:r>
            <a:r>
              <a:rPr lang="en-NZ" altLang="ja-JP" sz="1800" dirty="0">
                <a:solidFill>
                  <a:prstClr val="black"/>
                </a:solidFill>
                <a:latin typeface="Calibri" panose="020F0502020204030204"/>
                <a:ea typeface="游ゴシック" panose="020B0400000000000000" pitchFamily="34" charset="-128"/>
              </a:rPr>
              <a:t> with </a:t>
            </a:r>
            <a:r>
              <a:rPr lang="en-NZ" altLang="ja-JP" sz="1800" b="1" i="1" dirty="0">
                <a:solidFill>
                  <a:prstClr val="black"/>
                </a:solidFill>
                <a:latin typeface="Calibri" panose="020F0502020204030204"/>
                <a:ea typeface="游ゴシック" panose="020B0400000000000000" pitchFamily="34" charset="-128"/>
              </a:rPr>
              <a:t>b</a:t>
            </a:r>
            <a:r>
              <a:rPr lang="en-NZ" altLang="ja-JP" sz="1800" dirty="0">
                <a:solidFill>
                  <a:prstClr val="black"/>
                </a:solidFill>
                <a:latin typeface="Calibri" panose="020F0502020204030204"/>
                <a:ea typeface="游ゴシック" panose="020B0400000000000000" pitchFamily="34" charset="-128"/>
              </a:rPr>
              <a:t> levels</a:t>
            </a:r>
          </a:p>
          <a:p>
            <a:pPr marR="0" lvl="0" algn="just" defTabSz="914324" rtl="0" eaLnBrk="1" fontAlgn="auto" latinLnBrk="0" hangingPunct="1">
              <a:lnSpc>
                <a:spcPct val="100000"/>
              </a:lnSpc>
              <a:spcBef>
                <a:spcPts val="0"/>
              </a:spcBef>
              <a:spcAft>
                <a:spcPts val="0"/>
              </a:spcAft>
              <a:buClrTx/>
              <a:buSzTx/>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factor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represents the effect of interest. The blocking factor represents the nuisance variable we wish to control for.</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3" name="Text Placeholder 5">
            <a:extLst>
              <a:ext uri="{FF2B5EF4-FFF2-40B4-BE49-F238E27FC236}">
                <a16:creationId xmlns:a16="http://schemas.microsoft.com/office/drawing/2014/main" id="{4C5F072C-098B-460C-A3CF-CA7FB89BBB8E}"/>
              </a:ext>
            </a:extLst>
          </p:cNvPr>
          <p:cNvSpPr txBox="1">
            <a:spLocks/>
          </p:cNvSpPr>
          <p:nvPr/>
        </p:nvSpPr>
        <p:spPr>
          <a:xfrm>
            <a:off x="312362" y="2403577"/>
            <a:ext cx="11232109" cy="39377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Each combination of factor and blocking levels is known as a </a:t>
            </a:r>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cell</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such that there are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ab</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cells in total.</a:t>
            </a: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4" name="Text Placeholder 5">
            <a:extLst>
              <a:ext uri="{FF2B5EF4-FFF2-40B4-BE49-F238E27FC236}">
                <a16:creationId xmlns:a16="http://schemas.microsoft.com/office/drawing/2014/main" id="{8561DA3E-1B7A-428D-BB9D-5258435072DA}"/>
              </a:ext>
            </a:extLst>
          </p:cNvPr>
          <p:cNvSpPr txBox="1">
            <a:spLocks/>
          </p:cNvSpPr>
          <p:nvPr/>
        </p:nvSpPr>
        <p:spPr>
          <a:xfrm>
            <a:off x="6722580" y="4117153"/>
            <a:ext cx="4557089" cy="66090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It is assumed that the data in each of the cells arise from distribution that are:</a:t>
            </a: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15" name="Text Placeholder 5">
                <a:extLst>
                  <a:ext uri="{FF2B5EF4-FFF2-40B4-BE49-F238E27FC236}">
                    <a16:creationId xmlns:a16="http://schemas.microsoft.com/office/drawing/2014/main" id="{34CEC456-CB2D-4BF6-BA35-A73D0F5FA37E}"/>
                  </a:ext>
                </a:extLst>
              </p:cNvPr>
              <p:cNvSpPr txBox="1">
                <a:spLocks/>
              </p:cNvSpPr>
              <p:nvPr/>
            </p:nvSpPr>
            <p:spPr>
              <a:xfrm>
                <a:off x="7110484" y="4778058"/>
                <a:ext cx="3624723" cy="10888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Independent</a:t>
                </a:r>
              </a:p>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Normally distributed</a:t>
                </a:r>
              </a:p>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Have homogenous variance </a:t>
                </a:r>
                <a14:m>
                  <m:oMath xmlns:m="http://schemas.openxmlformats.org/officeDocument/2006/math">
                    <m:sSup>
                      <m:sSup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p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𝝈</m:t>
                        </m:r>
                      </m:e>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p>
                    </m:sSup>
                  </m:oMath>
                </a14:m>
                <a:endPar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15" name="Text Placeholder 5">
                <a:extLst>
                  <a:ext uri="{FF2B5EF4-FFF2-40B4-BE49-F238E27FC236}">
                    <a16:creationId xmlns:a16="http://schemas.microsoft.com/office/drawing/2014/main" id="{34CEC456-CB2D-4BF6-BA35-A73D0F5FA37E}"/>
                  </a:ext>
                </a:extLst>
              </p:cNvPr>
              <p:cNvSpPr txBox="1">
                <a:spLocks noRot="1" noChangeAspect="1" noMove="1" noResize="1" noEditPoints="1" noAdjustHandles="1" noChangeArrowheads="1" noChangeShapeType="1" noTextEdit="1"/>
              </p:cNvSpPr>
              <p:nvPr/>
            </p:nvSpPr>
            <p:spPr>
              <a:xfrm>
                <a:off x="7110484" y="4778058"/>
                <a:ext cx="3624723" cy="1088844"/>
              </a:xfrm>
              <a:prstGeom prst="rect">
                <a:avLst/>
              </a:prstGeom>
              <a:blipFill>
                <a:blip r:embed="rId3"/>
                <a:stretch>
                  <a:fillRect l="-1345" t="-3371"/>
                </a:stretch>
              </a:blipFill>
            </p:spPr>
            <p:txBody>
              <a:bodyPr/>
              <a:lstStyle/>
              <a:p>
                <a:r>
                  <a:rPr lang="en-NZ">
                    <a:noFill/>
                  </a:rPr>
                  <a:t> </a:t>
                </a:r>
              </a:p>
            </p:txBody>
          </p:sp>
        </mc:Fallback>
      </mc:AlternateContent>
      <p:sp>
        <p:nvSpPr>
          <p:cNvPr id="16" name="Left Brace 15">
            <a:extLst>
              <a:ext uri="{FF2B5EF4-FFF2-40B4-BE49-F238E27FC236}">
                <a16:creationId xmlns:a16="http://schemas.microsoft.com/office/drawing/2014/main" id="{790BD7D6-CFD8-4E71-A047-EEE05540D1C6}"/>
              </a:ext>
            </a:extLst>
          </p:cNvPr>
          <p:cNvSpPr/>
          <p:nvPr/>
        </p:nvSpPr>
        <p:spPr>
          <a:xfrm rot="10800000">
            <a:off x="10610110" y="4864293"/>
            <a:ext cx="125097" cy="72333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Placeholder 5">
            <a:extLst>
              <a:ext uri="{FF2B5EF4-FFF2-40B4-BE49-F238E27FC236}">
                <a16:creationId xmlns:a16="http://schemas.microsoft.com/office/drawing/2014/main" id="{714783D9-29FD-4EE2-A920-00C56C7CF749}"/>
              </a:ext>
            </a:extLst>
          </p:cNvPr>
          <p:cNvSpPr txBox="1">
            <a:spLocks/>
          </p:cNvSpPr>
          <p:nvPr/>
        </p:nvSpPr>
        <p:spPr>
          <a:xfrm>
            <a:off x="10735207" y="4864292"/>
            <a:ext cx="1293020" cy="72333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ANOVA Conditions</a:t>
            </a:r>
            <a:endParaRPr kumimoji="1" lang="en-NZ" altLang="ja-JP" sz="1800" b="1"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p:txBody>
      </p:sp>
      <p:sp>
        <p:nvSpPr>
          <p:cNvPr id="22" name="Text Placeholder 5">
            <a:extLst>
              <a:ext uri="{FF2B5EF4-FFF2-40B4-BE49-F238E27FC236}">
                <a16:creationId xmlns:a16="http://schemas.microsoft.com/office/drawing/2014/main" id="{784E1AA6-7C15-4CCE-1BD2-1D05721EB331}"/>
              </a:ext>
            </a:extLst>
          </p:cNvPr>
          <p:cNvSpPr txBox="1">
            <a:spLocks/>
          </p:cNvSpPr>
          <p:nvPr/>
        </p:nvSpPr>
        <p:spPr>
          <a:xfrm>
            <a:off x="320758" y="2918578"/>
            <a:ext cx="11777003"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prstClr val="black"/>
                </a:solidFill>
                <a:latin typeface="Calibri" panose="020F0502020204030204"/>
                <a:ea typeface="游ゴシック" panose="020B0400000000000000" pitchFamily="34" charset="-128"/>
              </a:rPr>
              <a:t>We take a balanced sample of </a:t>
            </a:r>
            <a:r>
              <a:rPr lang="en-NZ" altLang="ja-JP" sz="1800" b="1" i="1" dirty="0">
                <a:solidFill>
                  <a:prstClr val="black"/>
                </a:solidFill>
                <a:latin typeface="Calibri" panose="020F0502020204030204"/>
                <a:ea typeface="游ゴシック" panose="020B0400000000000000" pitchFamily="34" charset="-128"/>
              </a:rPr>
              <a:t>N</a:t>
            </a:r>
            <a:r>
              <a:rPr lang="en-NZ" altLang="ja-JP" sz="1800" dirty="0">
                <a:solidFill>
                  <a:prstClr val="black"/>
                </a:solidFill>
                <a:latin typeface="Calibri" panose="020F0502020204030204"/>
                <a:ea typeface="游ゴシック" panose="020B0400000000000000" pitchFamily="34" charset="-128"/>
              </a:rPr>
              <a:t> observations (</a:t>
            </a:r>
            <a:r>
              <a:rPr lang="en-NZ" altLang="ja-JP" sz="1800" b="1" i="1" dirty="0">
                <a:solidFill>
                  <a:prstClr val="black"/>
                </a:solidFill>
                <a:latin typeface="Calibri" panose="020F0502020204030204"/>
                <a:ea typeface="游ゴシック" panose="020B0400000000000000" pitchFamily="34" charset="-128"/>
              </a:rPr>
              <a:t>n</a:t>
            </a:r>
            <a:r>
              <a:rPr lang="en-NZ" altLang="ja-JP" sz="1800" dirty="0">
                <a:solidFill>
                  <a:prstClr val="black"/>
                </a:solidFill>
                <a:latin typeface="Calibri" panose="020F0502020204030204"/>
                <a:ea typeface="游ゴシック" panose="020B0400000000000000" pitchFamily="34" charset="-128"/>
              </a:rPr>
              <a:t> in each cell) and express this in a two-way table</a:t>
            </a: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24" name="Text Placeholder 5">
            <a:extLst>
              <a:ext uri="{FF2B5EF4-FFF2-40B4-BE49-F238E27FC236}">
                <a16:creationId xmlns:a16="http://schemas.microsoft.com/office/drawing/2014/main" id="{BB1DF251-0C85-61FA-54DA-D5AAA2671E42}"/>
              </a:ext>
            </a:extLst>
          </p:cNvPr>
          <p:cNvSpPr txBox="1">
            <a:spLocks/>
          </p:cNvSpPr>
          <p:nvPr/>
        </p:nvSpPr>
        <p:spPr>
          <a:xfrm>
            <a:off x="2223375" y="3551739"/>
            <a:ext cx="2792965"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srgbClr val="0070C0"/>
                </a:solidFill>
                <a:latin typeface="Calibri" panose="020F0502020204030204"/>
                <a:ea typeface="游ゴシック" panose="020B0400000000000000" pitchFamily="34" charset="-128"/>
              </a:rPr>
              <a:t>Blocking Factor (</a:t>
            </a:r>
            <a:r>
              <a:rPr lang="en-NZ" altLang="ja-JP" sz="1800" b="1" i="1" dirty="0">
                <a:solidFill>
                  <a:srgbClr val="0070C0"/>
                </a:solidFill>
                <a:latin typeface="Calibri" panose="020F0502020204030204"/>
                <a:ea typeface="游ゴシック" panose="020B0400000000000000" pitchFamily="34" charset="-128"/>
              </a:rPr>
              <a:t>B</a:t>
            </a:r>
            <a:r>
              <a:rPr lang="en-NZ" altLang="ja-JP" sz="1800" b="1" dirty="0">
                <a:solidFill>
                  <a:srgbClr val="0070C0"/>
                </a:solidFill>
                <a:latin typeface="Calibri" panose="020F0502020204030204"/>
                <a:ea typeface="游ゴシック" panose="020B0400000000000000" pitchFamily="34" charset="-128"/>
              </a:rPr>
              <a:t>) Levels</a:t>
            </a:r>
            <a:endParaRPr kumimoji="1" lang="en-NZ" altLang="ja-JP" sz="1800" b="1"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endParaRPr>
          </a:p>
        </p:txBody>
      </p:sp>
      <p:sp>
        <p:nvSpPr>
          <p:cNvPr id="25" name="Text Placeholder 5">
            <a:extLst>
              <a:ext uri="{FF2B5EF4-FFF2-40B4-BE49-F238E27FC236}">
                <a16:creationId xmlns:a16="http://schemas.microsoft.com/office/drawing/2014/main" id="{F72002CE-E837-2A58-F414-4CA135F8AD6A}"/>
              </a:ext>
            </a:extLst>
          </p:cNvPr>
          <p:cNvSpPr txBox="1">
            <a:spLocks/>
          </p:cNvSpPr>
          <p:nvPr/>
        </p:nvSpPr>
        <p:spPr>
          <a:xfrm rot="16200000">
            <a:off x="-554451" y="5082099"/>
            <a:ext cx="2143176"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srgbClr val="0070C0"/>
                </a:solidFill>
                <a:latin typeface="Calibri" panose="020F0502020204030204"/>
                <a:ea typeface="游ゴシック" panose="020B0400000000000000" pitchFamily="34" charset="-128"/>
              </a:rPr>
              <a:t>Factor </a:t>
            </a:r>
            <a:r>
              <a:rPr lang="en-NZ" altLang="ja-JP" sz="1800" b="1" i="1" dirty="0">
                <a:solidFill>
                  <a:srgbClr val="0070C0"/>
                </a:solidFill>
                <a:latin typeface="Calibri" panose="020F0502020204030204"/>
                <a:ea typeface="游ゴシック" panose="020B0400000000000000" pitchFamily="34" charset="-128"/>
              </a:rPr>
              <a:t>(A)</a:t>
            </a:r>
            <a:r>
              <a:rPr lang="en-NZ" altLang="ja-JP" sz="1800" b="1" dirty="0">
                <a:solidFill>
                  <a:srgbClr val="0070C0"/>
                </a:solidFill>
                <a:latin typeface="Calibri" panose="020F0502020204030204"/>
                <a:ea typeface="游ゴシック" panose="020B0400000000000000" pitchFamily="34" charset="-128"/>
              </a:rPr>
              <a:t> Levels</a:t>
            </a:r>
            <a:endParaRPr kumimoji="1" lang="en-NZ" altLang="ja-JP" sz="1800" b="1"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endParaRPr>
          </a:p>
        </p:txBody>
      </p:sp>
    </p:spTree>
    <p:extLst>
      <p:ext uri="{BB962C8B-B14F-4D97-AF65-F5344CB8AC3E}">
        <p14:creationId xmlns:p14="http://schemas.microsoft.com/office/powerpoint/2010/main" val="749766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animBg="1"/>
      <p:bldP spid="17" grpId="0"/>
      <p:bldP spid="22" grpId="0"/>
      <p:bldP spid="24" grpId="0"/>
      <p:bldP spid="2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7" name="Title 6">
            <a:extLst>
              <a:ext uri="{FF2B5EF4-FFF2-40B4-BE49-F238E27FC236}">
                <a16:creationId xmlns:a16="http://schemas.microsoft.com/office/drawing/2014/main" id="{4ACB7FAA-E9E1-4274-A8D0-489528A3C0F6}"/>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4.3a – The Fixed Effects Model</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1" name="Text Placeholder 5">
            <a:extLst>
              <a:ext uri="{FF2B5EF4-FFF2-40B4-BE49-F238E27FC236}">
                <a16:creationId xmlns:a16="http://schemas.microsoft.com/office/drawing/2014/main" id="{679607A7-05BF-41B9-B50A-7352824E974B}"/>
              </a:ext>
            </a:extLst>
          </p:cNvPr>
          <p:cNvSpPr txBox="1">
            <a:spLocks/>
          </p:cNvSpPr>
          <p:nvPr/>
        </p:nvSpPr>
        <p:spPr>
          <a:xfrm>
            <a:off x="312362" y="933016"/>
            <a:ext cx="11777003"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prstClr val="black"/>
                </a:solidFill>
                <a:latin typeface="Calibri" panose="020F0502020204030204"/>
                <a:ea typeface="游ゴシック" panose="020B0400000000000000" pitchFamily="34" charset="-128"/>
              </a:rPr>
              <a:t>We take a balanced sample of </a:t>
            </a:r>
            <a:r>
              <a:rPr lang="en-NZ" altLang="ja-JP" sz="1800" b="1" i="1" dirty="0">
                <a:solidFill>
                  <a:prstClr val="black"/>
                </a:solidFill>
                <a:latin typeface="Calibri" panose="020F0502020204030204"/>
                <a:ea typeface="游ゴシック" panose="020B0400000000000000" pitchFamily="34" charset="-128"/>
              </a:rPr>
              <a:t>N</a:t>
            </a:r>
            <a:r>
              <a:rPr lang="en-NZ" altLang="ja-JP" sz="1800" dirty="0">
                <a:solidFill>
                  <a:prstClr val="black"/>
                </a:solidFill>
                <a:latin typeface="Calibri" panose="020F0502020204030204"/>
                <a:ea typeface="游ゴシック" panose="020B0400000000000000" pitchFamily="34" charset="-128"/>
              </a:rPr>
              <a:t> observations (</a:t>
            </a:r>
            <a:r>
              <a:rPr lang="en-NZ" altLang="ja-JP" sz="1800" b="1" i="1" dirty="0">
                <a:solidFill>
                  <a:prstClr val="black"/>
                </a:solidFill>
                <a:latin typeface="Calibri" panose="020F0502020204030204"/>
                <a:ea typeface="游ゴシック" panose="020B0400000000000000" pitchFamily="34" charset="-128"/>
              </a:rPr>
              <a:t>n</a:t>
            </a:r>
            <a:r>
              <a:rPr lang="en-NZ" altLang="ja-JP" sz="1800" dirty="0">
                <a:solidFill>
                  <a:prstClr val="black"/>
                </a:solidFill>
                <a:latin typeface="Calibri" panose="020F0502020204030204"/>
                <a:ea typeface="游ゴシック" panose="020B0400000000000000" pitchFamily="34" charset="-128"/>
              </a:rPr>
              <a:t> in each cell) and express this in a two-way table</a:t>
            </a: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graphicFrame>
            <p:nvGraphicFramePr>
              <p:cNvPr id="21" name="Table 20">
                <a:extLst>
                  <a:ext uri="{FF2B5EF4-FFF2-40B4-BE49-F238E27FC236}">
                    <a16:creationId xmlns:a16="http://schemas.microsoft.com/office/drawing/2014/main" id="{CA822DCA-7FEB-4272-9F26-BFC4DD0306EE}"/>
                  </a:ext>
                </a:extLst>
              </p:cNvPr>
              <p:cNvGraphicFramePr>
                <a:graphicFrameLocks noGrp="1"/>
              </p:cNvGraphicFramePr>
              <p:nvPr>
                <p:extLst>
                  <p:ext uri="{D42A27DB-BD31-4B8C-83A1-F6EECF244321}">
                    <p14:modId xmlns:p14="http://schemas.microsoft.com/office/powerpoint/2010/main" val="3733107892"/>
                  </p:ext>
                </p:extLst>
              </p:nvPr>
            </p:nvGraphicFramePr>
            <p:xfrm>
              <a:off x="870872" y="1691911"/>
              <a:ext cx="5547304" cy="2212383"/>
            </p:xfrm>
            <a:graphic>
              <a:graphicData uri="http://schemas.openxmlformats.org/drawingml/2006/table">
                <a:tbl>
                  <a:tblPr firstRow="1" firstCol="1" bandRow="1">
                    <a:tableStyleId>{5C22544A-7EE6-4342-B048-85BDC9FD1C3A}</a:tableStyleId>
                  </a:tblPr>
                  <a:tblGrid>
                    <a:gridCol w="828851">
                      <a:extLst>
                        <a:ext uri="{9D8B030D-6E8A-4147-A177-3AD203B41FA5}">
                          <a16:colId xmlns:a16="http://schemas.microsoft.com/office/drawing/2014/main" val="3074826136"/>
                        </a:ext>
                      </a:extLst>
                    </a:gridCol>
                    <a:gridCol w="1071614">
                      <a:extLst>
                        <a:ext uri="{9D8B030D-6E8A-4147-A177-3AD203B41FA5}">
                          <a16:colId xmlns:a16="http://schemas.microsoft.com/office/drawing/2014/main" val="387258914"/>
                        </a:ext>
                      </a:extLst>
                    </a:gridCol>
                    <a:gridCol w="1215613">
                      <a:extLst>
                        <a:ext uri="{9D8B030D-6E8A-4147-A177-3AD203B41FA5}">
                          <a16:colId xmlns:a16="http://schemas.microsoft.com/office/drawing/2014/main" val="2306200820"/>
                        </a:ext>
                      </a:extLst>
                    </a:gridCol>
                    <a:gridCol w="1215613">
                      <a:extLst>
                        <a:ext uri="{9D8B030D-6E8A-4147-A177-3AD203B41FA5}">
                          <a16:colId xmlns:a16="http://schemas.microsoft.com/office/drawing/2014/main" val="650978296"/>
                        </a:ext>
                      </a:extLst>
                    </a:gridCol>
                    <a:gridCol w="1215613">
                      <a:extLst>
                        <a:ext uri="{9D8B030D-6E8A-4147-A177-3AD203B41FA5}">
                          <a16:colId xmlns:a16="http://schemas.microsoft.com/office/drawing/2014/main" val="1102281017"/>
                        </a:ext>
                      </a:extLst>
                    </a:gridCol>
                  </a:tblGrid>
                  <a:tr h="508143">
                    <a:tc>
                      <a:txBody>
                        <a:bodyPr/>
                        <a:lstStyle/>
                        <a:p>
                          <a:pPr>
                            <a:lnSpc>
                              <a:spcPct val="107000"/>
                            </a:lnSpc>
                          </a:pPr>
                          <a:endParaRPr lang="en-NZ" sz="1200" dirty="0">
                            <a:effectLst/>
                            <a:latin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2000" dirty="0">
                              <a:effectLst/>
                            </a:rPr>
                            <a:t>1</a:t>
                          </a:r>
                          <a:endParaRPr lang="en-NZ"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2000" dirty="0">
                              <a:effectLst/>
                            </a:rPr>
                            <a:t>2</a:t>
                          </a:r>
                          <a:endParaRPr lang="en-NZ"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2000" dirty="0">
                              <a:effectLst/>
                            </a:rPr>
                            <a:t>…</a:t>
                          </a:r>
                          <a:endParaRPr lang="en-NZ"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2000" dirty="0">
                              <a:effectLst/>
                              <a:latin typeface="Calibri" panose="020F0502020204030204" pitchFamily="34" charset="0"/>
                              <a:ea typeface="Calibri" panose="020F0502020204030204" pitchFamily="34" charset="0"/>
                              <a:cs typeface="Times New Roman" panose="02020603050405020304" pitchFamily="18" charset="0"/>
                            </a:rPr>
                            <a:t>b</a:t>
                          </a:r>
                        </a:p>
                      </a:txBody>
                      <a:tcPr marL="68580" marR="68580" marT="0" marB="0" anchor="ctr"/>
                    </a:tc>
                    <a:extLst>
                      <a:ext uri="{0D108BD9-81ED-4DB2-BD59-A6C34878D82A}">
                        <a16:rowId xmlns:a16="http://schemas.microsoft.com/office/drawing/2014/main" val="1838439194"/>
                      </a:ext>
                    </a:extLst>
                  </a:tr>
                  <a:tr h="380755">
                    <a:tc>
                      <a:txBody>
                        <a:bodyPr/>
                        <a:lstStyle/>
                        <a:p>
                          <a:pPr algn="ctr">
                            <a:lnSpc>
                              <a:spcPct val="107000"/>
                            </a:lnSpc>
                            <a:spcAft>
                              <a:spcPts val="800"/>
                            </a:spcAft>
                          </a:pPr>
                          <a:r>
                            <a:rPr lang="en-NZ" sz="2000" baseline="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nchor="ct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111</m:t>
                                  </m:r>
                                </m:sub>
                              </m:sSub>
                            </m:oMath>
                          </a14:m>
                          <a:r>
                            <a:rPr lang="en-NZ" sz="1400" dirty="0">
                              <a:effectLst/>
                              <a:latin typeface="Calibri" panose="020F0502020204030204" pitchFamily="34" charset="0"/>
                              <a:ea typeface="Calibri" panose="020F0502020204030204" pitchFamily="34" charset="0"/>
                              <a:cs typeface="Times New Roman" panose="02020603050405020304" pitchFamily="18" charset="0"/>
                            </a:rPr>
                            <a:t> … </a:t>
                          </a: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11</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𝑛</m:t>
                                  </m:r>
                                </m:sub>
                              </m:sSub>
                            </m:oMath>
                          </a14:m>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121</m:t>
                                  </m:r>
                                </m:sub>
                              </m:sSub>
                            </m:oMath>
                          </a14:m>
                          <a:r>
                            <a:rPr lang="en-NZ" sz="1400" dirty="0">
                              <a:effectLst/>
                              <a:latin typeface="Calibri" panose="020F0502020204030204" pitchFamily="34" charset="0"/>
                              <a:ea typeface="Calibri" panose="020F0502020204030204" pitchFamily="34" charset="0"/>
                              <a:cs typeface="Times New Roman" panose="02020603050405020304" pitchFamily="18" charset="0"/>
                            </a:rPr>
                            <a:t> … </a:t>
                          </a: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12</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𝑛</m:t>
                                  </m:r>
                                </m:sub>
                              </m:sSub>
                            </m:oMath>
                          </a14:m>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1400" dirty="0">
                              <a:effectLst/>
                            </a:rPr>
                            <a:t>…</a:t>
                          </a:r>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1</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𝑏</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1</m:t>
                                  </m:r>
                                </m:sub>
                              </m:sSub>
                            </m:oMath>
                          </a14:m>
                          <a:r>
                            <a:rPr lang="en-NZ" sz="1400" dirty="0">
                              <a:effectLst/>
                              <a:latin typeface="Calibri" panose="020F0502020204030204" pitchFamily="34" charset="0"/>
                              <a:ea typeface="Calibri" panose="020F0502020204030204" pitchFamily="34" charset="0"/>
                              <a:cs typeface="Times New Roman" panose="02020603050405020304" pitchFamily="18" charset="0"/>
                            </a:rPr>
                            <a:t> … </a:t>
                          </a: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1</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𝑏𝑛</m:t>
                                  </m:r>
                                </m:sub>
                              </m:sSub>
                            </m:oMath>
                          </a14:m>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572944342"/>
                      </a:ext>
                    </a:extLst>
                  </a:tr>
                  <a:tr h="380755">
                    <a:tc>
                      <a:txBody>
                        <a:bodyPr/>
                        <a:lstStyle/>
                        <a:p>
                          <a:pPr algn="ctr">
                            <a:lnSpc>
                              <a:spcPct val="107000"/>
                            </a:lnSpc>
                            <a:spcAft>
                              <a:spcPts val="800"/>
                            </a:spcAft>
                          </a:pPr>
                          <a:r>
                            <a:rPr lang="en-NZ" sz="2000" baseline="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nchor="ct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211</m:t>
                                  </m:r>
                                </m:sub>
                              </m:sSub>
                            </m:oMath>
                          </a14:m>
                          <a:r>
                            <a:rPr lang="en-NZ" sz="1400" dirty="0">
                              <a:effectLst/>
                              <a:latin typeface="Calibri" panose="020F0502020204030204" pitchFamily="34" charset="0"/>
                              <a:ea typeface="Calibri" panose="020F0502020204030204" pitchFamily="34" charset="0"/>
                              <a:cs typeface="Times New Roman" panose="02020603050405020304" pitchFamily="18" charset="0"/>
                            </a:rPr>
                            <a:t> … </a:t>
                          </a: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21</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𝑛</m:t>
                                  </m:r>
                                </m:sub>
                              </m:sSub>
                            </m:oMath>
                          </a14:m>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221</m:t>
                                  </m:r>
                                </m:sub>
                              </m:sSub>
                            </m:oMath>
                          </a14:m>
                          <a:r>
                            <a:rPr lang="en-NZ" sz="1400" dirty="0">
                              <a:effectLst/>
                              <a:latin typeface="Calibri" panose="020F0502020204030204" pitchFamily="34" charset="0"/>
                              <a:ea typeface="Calibri" panose="020F0502020204030204" pitchFamily="34" charset="0"/>
                              <a:cs typeface="Times New Roman" panose="02020603050405020304" pitchFamily="18" charset="0"/>
                            </a:rPr>
                            <a:t> … </a:t>
                          </a: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22</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𝑛</m:t>
                                  </m:r>
                                </m:sub>
                              </m:sSub>
                            </m:oMath>
                          </a14:m>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1400" dirty="0">
                              <a:effectLst/>
                            </a:rPr>
                            <a:t>…</a:t>
                          </a:r>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2</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𝑏</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1</m:t>
                                  </m:r>
                                </m:sub>
                              </m:sSub>
                            </m:oMath>
                          </a14:m>
                          <a:r>
                            <a:rPr lang="en-NZ" sz="1400" dirty="0">
                              <a:effectLst/>
                              <a:latin typeface="Calibri" panose="020F0502020204030204" pitchFamily="34" charset="0"/>
                              <a:ea typeface="Calibri" panose="020F0502020204030204" pitchFamily="34" charset="0"/>
                              <a:cs typeface="Times New Roman" panose="02020603050405020304" pitchFamily="18" charset="0"/>
                            </a:rPr>
                            <a:t> … </a:t>
                          </a: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2</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𝑏𝑛</m:t>
                                  </m:r>
                                </m:sub>
                              </m:sSub>
                            </m:oMath>
                          </a14:m>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200320227"/>
                      </a:ext>
                    </a:extLst>
                  </a:tr>
                  <a:tr h="380755">
                    <a:tc>
                      <a:txBody>
                        <a:bodyPr/>
                        <a:lstStyle/>
                        <a:p>
                          <a:pPr algn="ctr">
                            <a:lnSpc>
                              <a:spcPct val="107000"/>
                            </a:lnSpc>
                            <a:spcAft>
                              <a:spcPts val="800"/>
                            </a:spcAft>
                          </a:pPr>
                          <a:endParaRPr lang="en-NZ" sz="200" i="1" dirty="0">
                            <a:effectLst/>
                            <a:latin typeface="Cambria Math" panose="02040503050406030204" pitchFamily="18" charset="0"/>
                            <a:ea typeface="Cambria Math" panose="02040503050406030204" pitchFamily="18" charset="0"/>
                            <a:cs typeface="Times New Roman" panose="02020603050405020304" pitchFamily="18" charset="0"/>
                          </a:endParaRPr>
                        </a:p>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NZ" sz="2000" i="1" smtClean="0">
                                    <a:effectLst/>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NZ"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endParaRPr lang="en-NZ" sz="200" i="1" dirty="0">
                            <a:effectLst/>
                            <a:latin typeface="Cambria Math" panose="02040503050406030204" pitchFamily="18" charset="0"/>
                            <a:ea typeface="Cambria Math" panose="02040503050406030204" pitchFamily="18" charset="0"/>
                            <a:cs typeface="Times New Roman" panose="02020603050405020304" pitchFamily="18" charset="0"/>
                          </a:endParaRPr>
                        </a:p>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NZ" sz="1400" i="1" smtClean="0">
                                    <a:effectLst/>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endParaRPr lang="en-NZ" sz="200" i="1" dirty="0">
                            <a:effectLst/>
                            <a:latin typeface="Cambria Math" panose="02040503050406030204" pitchFamily="18" charset="0"/>
                            <a:ea typeface="Cambria Math" panose="02040503050406030204" pitchFamily="18" charset="0"/>
                            <a:cs typeface="Times New Roman" panose="02020603050405020304" pitchFamily="18" charset="0"/>
                          </a:endParaRPr>
                        </a:p>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NZ" sz="1400" i="1" smtClean="0">
                                    <a:effectLst/>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endParaRPr lang="en-NZ" sz="200" i="1" dirty="0">
                            <a:effectLst/>
                            <a:latin typeface="Cambria Math" panose="02040503050406030204" pitchFamily="18" charset="0"/>
                            <a:ea typeface="Cambria Math" panose="02040503050406030204" pitchFamily="18" charset="0"/>
                            <a:cs typeface="Times New Roman" panose="02020603050405020304" pitchFamily="18" charset="0"/>
                          </a:endParaRPr>
                        </a:p>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NZ" sz="1400" i="1" smtClean="0">
                                    <a:effectLst/>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endParaRPr lang="en-NZ" sz="200" i="1" dirty="0">
                            <a:effectLst/>
                            <a:latin typeface="Cambria Math" panose="02040503050406030204" pitchFamily="18" charset="0"/>
                            <a:ea typeface="Cambria Math" panose="02040503050406030204" pitchFamily="18" charset="0"/>
                            <a:cs typeface="Times New Roman" panose="02020603050405020304" pitchFamily="18" charset="0"/>
                          </a:endParaRPr>
                        </a:p>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NZ" sz="1400" i="1" smtClean="0">
                                    <a:effectLst/>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389106156"/>
                      </a:ext>
                    </a:extLst>
                  </a:tr>
                  <a:tr h="380755">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NZ" sz="2000" baseline="0" dirty="0">
                              <a:effectLst/>
                              <a:latin typeface="Calibri" panose="020F0502020204030204" pitchFamily="34" charset="0"/>
                              <a:ea typeface="Calibri" panose="020F0502020204030204" pitchFamily="34" charset="0"/>
                              <a:cs typeface="Times New Roman" panose="02020603050405020304" pitchFamily="18" charset="0"/>
                            </a:rPr>
                            <a:t>a</a:t>
                          </a:r>
                        </a:p>
                      </a:txBody>
                      <a:tcPr marL="68580" marR="68580" marT="0" marB="0" anchor="ct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𝑎</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11</m:t>
                                  </m:r>
                                </m:sub>
                              </m:sSub>
                            </m:oMath>
                          </a14:m>
                          <a:r>
                            <a:rPr lang="en-NZ" sz="1400" dirty="0">
                              <a:effectLst/>
                              <a:latin typeface="Calibri" panose="020F0502020204030204" pitchFamily="34" charset="0"/>
                              <a:ea typeface="Calibri" panose="020F0502020204030204" pitchFamily="34" charset="0"/>
                              <a:cs typeface="Times New Roman" panose="02020603050405020304" pitchFamily="18" charset="0"/>
                            </a:rPr>
                            <a:t> … </a:t>
                          </a: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𝑎</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1</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𝑛</m:t>
                                  </m:r>
                                </m:sub>
                              </m:sSub>
                            </m:oMath>
                          </a14:m>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𝑎</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21</m:t>
                                  </m:r>
                                </m:sub>
                              </m:sSub>
                            </m:oMath>
                          </a14:m>
                          <a:r>
                            <a:rPr lang="en-NZ" sz="1400" dirty="0">
                              <a:effectLst/>
                              <a:latin typeface="Calibri" panose="020F0502020204030204" pitchFamily="34" charset="0"/>
                              <a:ea typeface="Calibri" panose="020F0502020204030204" pitchFamily="34" charset="0"/>
                              <a:cs typeface="Times New Roman" panose="02020603050405020304" pitchFamily="18" charset="0"/>
                            </a:rPr>
                            <a:t> … </a:t>
                          </a: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𝑎</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2</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𝑛</m:t>
                                  </m:r>
                                </m:sub>
                              </m:sSub>
                            </m:oMath>
                          </a14:m>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1400" dirty="0">
                              <a:effectLst/>
                            </a:rPr>
                            <a:t>…</a:t>
                          </a:r>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𝑎𝑏</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1</m:t>
                                  </m:r>
                                </m:sub>
                              </m:sSub>
                            </m:oMath>
                          </a14:m>
                          <a:r>
                            <a:rPr lang="en-NZ" sz="1400" dirty="0">
                              <a:effectLst/>
                              <a:latin typeface="Calibri" panose="020F0502020204030204" pitchFamily="34" charset="0"/>
                              <a:ea typeface="Calibri" panose="020F0502020204030204" pitchFamily="34" charset="0"/>
                              <a:cs typeface="Times New Roman" panose="02020603050405020304" pitchFamily="18" charset="0"/>
                            </a:rPr>
                            <a:t> … </a:t>
                          </a: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𝑎𝑏𝑛</m:t>
                                  </m:r>
                                </m:sub>
                              </m:sSub>
                            </m:oMath>
                          </a14:m>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746888167"/>
                      </a:ext>
                    </a:extLst>
                  </a:tr>
                </a:tbl>
              </a:graphicData>
            </a:graphic>
          </p:graphicFrame>
        </mc:Choice>
        <mc:Fallback xmlns="">
          <p:graphicFrame>
            <p:nvGraphicFramePr>
              <p:cNvPr id="21" name="Table 20">
                <a:extLst>
                  <a:ext uri="{FF2B5EF4-FFF2-40B4-BE49-F238E27FC236}">
                    <a16:creationId xmlns:a16="http://schemas.microsoft.com/office/drawing/2014/main" id="{CA822DCA-7FEB-4272-9F26-BFC4DD0306EE}"/>
                  </a:ext>
                </a:extLst>
              </p:cNvPr>
              <p:cNvGraphicFramePr>
                <a:graphicFrameLocks noGrp="1"/>
              </p:cNvGraphicFramePr>
              <p:nvPr>
                <p:extLst>
                  <p:ext uri="{D42A27DB-BD31-4B8C-83A1-F6EECF244321}">
                    <p14:modId xmlns:p14="http://schemas.microsoft.com/office/powerpoint/2010/main" val="3733107892"/>
                  </p:ext>
                </p:extLst>
              </p:nvPr>
            </p:nvGraphicFramePr>
            <p:xfrm>
              <a:off x="870872" y="1691911"/>
              <a:ext cx="5547304" cy="2212383"/>
            </p:xfrm>
            <a:graphic>
              <a:graphicData uri="http://schemas.openxmlformats.org/drawingml/2006/table">
                <a:tbl>
                  <a:tblPr firstRow="1" firstCol="1" bandRow="1">
                    <a:tableStyleId>{5C22544A-7EE6-4342-B048-85BDC9FD1C3A}</a:tableStyleId>
                  </a:tblPr>
                  <a:tblGrid>
                    <a:gridCol w="828851">
                      <a:extLst>
                        <a:ext uri="{9D8B030D-6E8A-4147-A177-3AD203B41FA5}">
                          <a16:colId xmlns:a16="http://schemas.microsoft.com/office/drawing/2014/main" val="3074826136"/>
                        </a:ext>
                      </a:extLst>
                    </a:gridCol>
                    <a:gridCol w="1071614">
                      <a:extLst>
                        <a:ext uri="{9D8B030D-6E8A-4147-A177-3AD203B41FA5}">
                          <a16:colId xmlns:a16="http://schemas.microsoft.com/office/drawing/2014/main" val="387258914"/>
                        </a:ext>
                      </a:extLst>
                    </a:gridCol>
                    <a:gridCol w="1215613">
                      <a:extLst>
                        <a:ext uri="{9D8B030D-6E8A-4147-A177-3AD203B41FA5}">
                          <a16:colId xmlns:a16="http://schemas.microsoft.com/office/drawing/2014/main" val="2306200820"/>
                        </a:ext>
                      </a:extLst>
                    </a:gridCol>
                    <a:gridCol w="1215613">
                      <a:extLst>
                        <a:ext uri="{9D8B030D-6E8A-4147-A177-3AD203B41FA5}">
                          <a16:colId xmlns:a16="http://schemas.microsoft.com/office/drawing/2014/main" val="650978296"/>
                        </a:ext>
                      </a:extLst>
                    </a:gridCol>
                    <a:gridCol w="1215613">
                      <a:extLst>
                        <a:ext uri="{9D8B030D-6E8A-4147-A177-3AD203B41FA5}">
                          <a16:colId xmlns:a16="http://schemas.microsoft.com/office/drawing/2014/main" val="1102281017"/>
                        </a:ext>
                      </a:extLst>
                    </a:gridCol>
                  </a:tblGrid>
                  <a:tr h="508143">
                    <a:tc>
                      <a:txBody>
                        <a:bodyPr/>
                        <a:lstStyle/>
                        <a:p>
                          <a:pPr>
                            <a:lnSpc>
                              <a:spcPct val="107000"/>
                            </a:lnSpc>
                          </a:pPr>
                          <a:endParaRPr lang="en-NZ" sz="1200" dirty="0">
                            <a:effectLst/>
                            <a:latin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2000" dirty="0">
                              <a:effectLst/>
                            </a:rPr>
                            <a:t>1</a:t>
                          </a:r>
                          <a:endParaRPr lang="en-NZ"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2000" dirty="0">
                              <a:effectLst/>
                            </a:rPr>
                            <a:t>2</a:t>
                          </a:r>
                          <a:endParaRPr lang="en-NZ"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2000" dirty="0">
                              <a:effectLst/>
                            </a:rPr>
                            <a:t>…</a:t>
                          </a:r>
                          <a:endParaRPr lang="en-NZ"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2000" dirty="0">
                              <a:effectLst/>
                              <a:latin typeface="Calibri" panose="020F0502020204030204" pitchFamily="34" charset="0"/>
                              <a:ea typeface="Calibri" panose="020F0502020204030204" pitchFamily="34" charset="0"/>
                              <a:cs typeface="Times New Roman" panose="02020603050405020304" pitchFamily="18" charset="0"/>
                            </a:rPr>
                            <a:t>b</a:t>
                          </a:r>
                        </a:p>
                      </a:txBody>
                      <a:tcPr marL="68580" marR="68580" marT="0" marB="0" anchor="ctr"/>
                    </a:tc>
                    <a:extLst>
                      <a:ext uri="{0D108BD9-81ED-4DB2-BD59-A6C34878D82A}">
                        <a16:rowId xmlns:a16="http://schemas.microsoft.com/office/drawing/2014/main" val="1838439194"/>
                      </a:ext>
                    </a:extLst>
                  </a:tr>
                  <a:tr h="380755">
                    <a:tc>
                      <a:txBody>
                        <a:bodyPr/>
                        <a:lstStyle/>
                        <a:p>
                          <a:pPr algn="ctr">
                            <a:lnSpc>
                              <a:spcPct val="107000"/>
                            </a:lnSpc>
                            <a:spcAft>
                              <a:spcPts val="800"/>
                            </a:spcAft>
                          </a:pPr>
                          <a:r>
                            <a:rPr lang="en-NZ" sz="2000" baseline="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nchor="ctr"/>
                    </a:tc>
                    <a:tc>
                      <a:txBody>
                        <a:bodyPr/>
                        <a:lstStyle/>
                        <a:p>
                          <a:endParaRPr lang="en-US"/>
                        </a:p>
                      </a:txBody>
                      <a:tcPr marL="68580" marR="68580" marT="0" marB="0" anchor="ctr">
                        <a:blipFill>
                          <a:blip r:embed="rId2"/>
                          <a:stretch>
                            <a:fillRect l="-77841" t="-137097" r="-343182" b="-382258"/>
                          </a:stretch>
                        </a:blipFill>
                      </a:tcPr>
                    </a:tc>
                    <a:tc>
                      <a:txBody>
                        <a:bodyPr/>
                        <a:lstStyle/>
                        <a:p>
                          <a:endParaRPr lang="en-US"/>
                        </a:p>
                      </a:txBody>
                      <a:tcPr marL="68580" marR="68580" marT="0" marB="0" anchor="ctr">
                        <a:blipFill>
                          <a:blip r:embed="rId2"/>
                          <a:stretch>
                            <a:fillRect l="-156500" t="-137097" r="-202000" b="-382258"/>
                          </a:stretch>
                        </a:blipFill>
                      </a:tcPr>
                    </a:tc>
                    <a:tc>
                      <a:txBody>
                        <a:bodyPr/>
                        <a:lstStyle/>
                        <a:p>
                          <a:pPr algn="ctr">
                            <a:lnSpc>
                              <a:spcPct val="107000"/>
                            </a:lnSpc>
                            <a:spcAft>
                              <a:spcPts val="800"/>
                            </a:spcAft>
                          </a:pPr>
                          <a:r>
                            <a:rPr lang="en-NZ" sz="1400" dirty="0">
                              <a:effectLst/>
                            </a:rPr>
                            <a:t>…</a:t>
                          </a:r>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endParaRPr lang="en-US"/>
                        </a:p>
                      </a:txBody>
                      <a:tcPr marL="68580" marR="68580" marT="0" marB="0" anchor="ctr">
                        <a:blipFill>
                          <a:blip r:embed="rId2"/>
                          <a:stretch>
                            <a:fillRect l="-356000" t="-137097" r="-2500" b="-382258"/>
                          </a:stretch>
                        </a:blipFill>
                      </a:tcPr>
                    </a:tc>
                    <a:extLst>
                      <a:ext uri="{0D108BD9-81ED-4DB2-BD59-A6C34878D82A}">
                        <a16:rowId xmlns:a16="http://schemas.microsoft.com/office/drawing/2014/main" val="3572944342"/>
                      </a:ext>
                    </a:extLst>
                  </a:tr>
                  <a:tr h="380755">
                    <a:tc>
                      <a:txBody>
                        <a:bodyPr/>
                        <a:lstStyle/>
                        <a:p>
                          <a:pPr algn="ctr">
                            <a:lnSpc>
                              <a:spcPct val="107000"/>
                            </a:lnSpc>
                            <a:spcAft>
                              <a:spcPts val="800"/>
                            </a:spcAft>
                          </a:pPr>
                          <a:r>
                            <a:rPr lang="en-NZ" sz="2000" baseline="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nchor="ctr"/>
                    </a:tc>
                    <a:tc>
                      <a:txBody>
                        <a:bodyPr/>
                        <a:lstStyle/>
                        <a:p>
                          <a:endParaRPr lang="en-US"/>
                        </a:p>
                      </a:txBody>
                      <a:tcPr marL="68580" marR="68580" marT="0" marB="0" anchor="ctr">
                        <a:blipFill>
                          <a:blip r:embed="rId2"/>
                          <a:stretch>
                            <a:fillRect l="-77841" t="-233333" r="-343182" b="-276190"/>
                          </a:stretch>
                        </a:blipFill>
                      </a:tcPr>
                    </a:tc>
                    <a:tc>
                      <a:txBody>
                        <a:bodyPr/>
                        <a:lstStyle/>
                        <a:p>
                          <a:endParaRPr lang="en-US"/>
                        </a:p>
                      </a:txBody>
                      <a:tcPr marL="68580" marR="68580" marT="0" marB="0" anchor="ctr">
                        <a:blipFill>
                          <a:blip r:embed="rId2"/>
                          <a:stretch>
                            <a:fillRect l="-156500" t="-233333" r="-202000" b="-276190"/>
                          </a:stretch>
                        </a:blipFill>
                      </a:tcPr>
                    </a:tc>
                    <a:tc>
                      <a:txBody>
                        <a:bodyPr/>
                        <a:lstStyle/>
                        <a:p>
                          <a:pPr algn="ctr">
                            <a:lnSpc>
                              <a:spcPct val="107000"/>
                            </a:lnSpc>
                            <a:spcAft>
                              <a:spcPts val="800"/>
                            </a:spcAft>
                          </a:pPr>
                          <a:r>
                            <a:rPr lang="en-NZ" sz="1400" dirty="0">
                              <a:effectLst/>
                            </a:rPr>
                            <a:t>…</a:t>
                          </a:r>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endParaRPr lang="en-US"/>
                        </a:p>
                      </a:txBody>
                      <a:tcPr marL="68580" marR="68580" marT="0" marB="0" anchor="ctr">
                        <a:blipFill>
                          <a:blip r:embed="rId2"/>
                          <a:stretch>
                            <a:fillRect l="-356000" t="-233333" r="-2500" b="-276190"/>
                          </a:stretch>
                        </a:blipFill>
                      </a:tcPr>
                    </a:tc>
                    <a:extLst>
                      <a:ext uri="{0D108BD9-81ED-4DB2-BD59-A6C34878D82A}">
                        <a16:rowId xmlns:a16="http://schemas.microsoft.com/office/drawing/2014/main" val="2200320227"/>
                      </a:ext>
                    </a:extLst>
                  </a:tr>
                  <a:tr h="561975">
                    <a:tc>
                      <a:txBody>
                        <a:bodyPr/>
                        <a:lstStyle/>
                        <a:p>
                          <a:endParaRPr lang="en-US"/>
                        </a:p>
                      </a:txBody>
                      <a:tcPr marL="68580" marR="68580" marT="0" marB="0" anchor="ctr">
                        <a:blipFill>
                          <a:blip r:embed="rId2"/>
                          <a:stretch>
                            <a:fillRect l="-735" t="-228261" r="-573529" b="-89130"/>
                          </a:stretch>
                        </a:blipFill>
                      </a:tcPr>
                    </a:tc>
                    <a:tc>
                      <a:txBody>
                        <a:bodyPr/>
                        <a:lstStyle/>
                        <a:p>
                          <a:endParaRPr lang="en-US"/>
                        </a:p>
                      </a:txBody>
                      <a:tcPr marL="68580" marR="68580" marT="0" marB="0" anchor="ctr">
                        <a:blipFill>
                          <a:blip r:embed="rId2"/>
                          <a:stretch>
                            <a:fillRect l="-77841" t="-228261" r="-343182" b="-89130"/>
                          </a:stretch>
                        </a:blipFill>
                      </a:tcPr>
                    </a:tc>
                    <a:tc>
                      <a:txBody>
                        <a:bodyPr/>
                        <a:lstStyle/>
                        <a:p>
                          <a:endParaRPr lang="en-US"/>
                        </a:p>
                      </a:txBody>
                      <a:tcPr marL="68580" marR="68580" marT="0" marB="0" anchor="ctr">
                        <a:blipFill>
                          <a:blip r:embed="rId2"/>
                          <a:stretch>
                            <a:fillRect l="-156500" t="-228261" r="-202000" b="-89130"/>
                          </a:stretch>
                        </a:blipFill>
                      </a:tcPr>
                    </a:tc>
                    <a:tc>
                      <a:txBody>
                        <a:bodyPr/>
                        <a:lstStyle/>
                        <a:p>
                          <a:endParaRPr lang="en-US"/>
                        </a:p>
                      </a:txBody>
                      <a:tcPr marL="68580" marR="68580" marT="0" marB="0" anchor="ctr">
                        <a:blipFill>
                          <a:blip r:embed="rId2"/>
                          <a:stretch>
                            <a:fillRect l="-257789" t="-228261" r="-103015" b="-89130"/>
                          </a:stretch>
                        </a:blipFill>
                      </a:tcPr>
                    </a:tc>
                    <a:tc>
                      <a:txBody>
                        <a:bodyPr/>
                        <a:lstStyle/>
                        <a:p>
                          <a:endParaRPr lang="en-US"/>
                        </a:p>
                      </a:txBody>
                      <a:tcPr marL="68580" marR="68580" marT="0" marB="0" anchor="ctr">
                        <a:blipFill>
                          <a:blip r:embed="rId2"/>
                          <a:stretch>
                            <a:fillRect l="-356000" t="-228261" r="-2500" b="-89130"/>
                          </a:stretch>
                        </a:blipFill>
                      </a:tcPr>
                    </a:tc>
                    <a:extLst>
                      <a:ext uri="{0D108BD9-81ED-4DB2-BD59-A6C34878D82A}">
                        <a16:rowId xmlns:a16="http://schemas.microsoft.com/office/drawing/2014/main" val="3389106156"/>
                      </a:ext>
                    </a:extLst>
                  </a:tr>
                  <a:tr h="380755">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NZ" sz="2000" baseline="0" dirty="0">
                              <a:effectLst/>
                              <a:latin typeface="Calibri" panose="020F0502020204030204" pitchFamily="34" charset="0"/>
                              <a:ea typeface="Calibri" panose="020F0502020204030204" pitchFamily="34" charset="0"/>
                              <a:cs typeface="Times New Roman" panose="02020603050405020304" pitchFamily="18" charset="0"/>
                            </a:rPr>
                            <a:t>a</a:t>
                          </a:r>
                        </a:p>
                      </a:txBody>
                      <a:tcPr marL="68580" marR="68580" marT="0" marB="0" anchor="ctr"/>
                    </a:tc>
                    <a:tc>
                      <a:txBody>
                        <a:bodyPr/>
                        <a:lstStyle/>
                        <a:p>
                          <a:endParaRPr lang="en-US"/>
                        </a:p>
                      </a:txBody>
                      <a:tcPr marL="68580" marR="68580" marT="0" marB="0" anchor="ctr">
                        <a:blipFill>
                          <a:blip r:embed="rId2"/>
                          <a:stretch>
                            <a:fillRect l="-77841" t="-479365" r="-343182" b="-30159"/>
                          </a:stretch>
                        </a:blipFill>
                      </a:tcPr>
                    </a:tc>
                    <a:tc>
                      <a:txBody>
                        <a:bodyPr/>
                        <a:lstStyle/>
                        <a:p>
                          <a:endParaRPr lang="en-US"/>
                        </a:p>
                      </a:txBody>
                      <a:tcPr marL="68580" marR="68580" marT="0" marB="0" anchor="ctr">
                        <a:blipFill>
                          <a:blip r:embed="rId2"/>
                          <a:stretch>
                            <a:fillRect l="-156500" t="-479365" r="-202000" b="-30159"/>
                          </a:stretch>
                        </a:blipFill>
                      </a:tcPr>
                    </a:tc>
                    <a:tc>
                      <a:txBody>
                        <a:bodyPr/>
                        <a:lstStyle/>
                        <a:p>
                          <a:pPr algn="ctr">
                            <a:lnSpc>
                              <a:spcPct val="107000"/>
                            </a:lnSpc>
                            <a:spcAft>
                              <a:spcPts val="800"/>
                            </a:spcAft>
                          </a:pPr>
                          <a:r>
                            <a:rPr lang="en-NZ" sz="1400" dirty="0">
                              <a:effectLst/>
                            </a:rPr>
                            <a:t>…</a:t>
                          </a:r>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endParaRPr lang="en-US"/>
                        </a:p>
                      </a:txBody>
                      <a:tcPr marL="68580" marR="68580" marT="0" marB="0" anchor="ctr">
                        <a:blipFill>
                          <a:blip r:embed="rId2"/>
                          <a:stretch>
                            <a:fillRect l="-356000" t="-479365" r="-2500" b="-30159"/>
                          </a:stretch>
                        </a:blipFill>
                      </a:tcPr>
                    </a:tc>
                    <a:extLst>
                      <a:ext uri="{0D108BD9-81ED-4DB2-BD59-A6C34878D82A}">
                        <a16:rowId xmlns:a16="http://schemas.microsoft.com/office/drawing/2014/main" val="746888167"/>
                      </a:ext>
                    </a:extLst>
                  </a:tr>
                </a:tbl>
              </a:graphicData>
            </a:graphic>
          </p:graphicFrame>
        </mc:Fallback>
      </mc:AlternateContent>
      <p:sp>
        <p:nvSpPr>
          <p:cNvPr id="22" name="Text Placeholder 5">
            <a:extLst>
              <a:ext uri="{FF2B5EF4-FFF2-40B4-BE49-F238E27FC236}">
                <a16:creationId xmlns:a16="http://schemas.microsoft.com/office/drawing/2014/main" id="{28C989C0-100F-4992-B9D7-9D1014BA7874}"/>
              </a:ext>
            </a:extLst>
          </p:cNvPr>
          <p:cNvSpPr txBox="1">
            <a:spLocks/>
          </p:cNvSpPr>
          <p:nvPr/>
        </p:nvSpPr>
        <p:spPr>
          <a:xfrm>
            <a:off x="2248041" y="1298141"/>
            <a:ext cx="2792965"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srgbClr val="0070C0"/>
                </a:solidFill>
                <a:latin typeface="Calibri" panose="020F0502020204030204"/>
                <a:ea typeface="游ゴシック" panose="020B0400000000000000" pitchFamily="34" charset="-128"/>
              </a:rPr>
              <a:t>Blocking Factor (</a:t>
            </a:r>
            <a:r>
              <a:rPr lang="en-NZ" altLang="ja-JP" sz="1800" b="1" i="1" dirty="0">
                <a:solidFill>
                  <a:srgbClr val="0070C0"/>
                </a:solidFill>
                <a:latin typeface="Calibri" panose="020F0502020204030204"/>
                <a:ea typeface="游ゴシック" panose="020B0400000000000000" pitchFamily="34" charset="-128"/>
              </a:rPr>
              <a:t>B</a:t>
            </a:r>
            <a:r>
              <a:rPr lang="en-NZ" altLang="ja-JP" sz="1800" b="1">
                <a:solidFill>
                  <a:srgbClr val="0070C0"/>
                </a:solidFill>
                <a:latin typeface="Calibri" panose="020F0502020204030204"/>
                <a:ea typeface="游ゴシック" panose="020B0400000000000000" pitchFamily="34" charset="-128"/>
              </a:rPr>
              <a:t>) Levels</a:t>
            </a:r>
            <a:endParaRPr kumimoji="1" lang="en-NZ" altLang="ja-JP" sz="1800" b="1"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endParaRPr>
          </a:p>
        </p:txBody>
      </p:sp>
      <p:sp>
        <p:nvSpPr>
          <p:cNvPr id="23" name="Text Placeholder 5">
            <a:extLst>
              <a:ext uri="{FF2B5EF4-FFF2-40B4-BE49-F238E27FC236}">
                <a16:creationId xmlns:a16="http://schemas.microsoft.com/office/drawing/2014/main" id="{BDFC17B6-0CFD-4535-AE92-6E800C2209E9}"/>
              </a:ext>
            </a:extLst>
          </p:cNvPr>
          <p:cNvSpPr txBox="1">
            <a:spLocks/>
          </p:cNvSpPr>
          <p:nvPr/>
        </p:nvSpPr>
        <p:spPr>
          <a:xfrm rot="16200000">
            <a:off x="-576663" y="2552290"/>
            <a:ext cx="2143176"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srgbClr val="0070C0"/>
                </a:solidFill>
                <a:latin typeface="Calibri" panose="020F0502020204030204"/>
                <a:ea typeface="游ゴシック" panose="020B0400000000000000" pitchFamily="34" charset="-128"/>
              </a:rPr>
              <a:t>Factor </a:t>
            </a:r>
            <a:r>
              <a:rPr lang="en-NZ" altLang="ja-JP" sz="1800" b="1" i="1" dirty="0">
                <a:solidFill>
                  <a:srgbClr val="0070C0"/>
                </a:solidFill>
                <a:latin typeface="Calibri" panose="020F0502020204030204"/>
                <a:ea typeface="游ゴシック" panose="020B0400000000000000" pitchFamily="34" charset="-128"/>
              </a:rPr>
              <a:t>(A</a:t>
            </a:r>
            <a:r>
              <a:rPr lang="en-NZ" altLang="ja-JP" sz="1800" b="1" i="1">
                <a:solidFill>
                  <a:srgbClr val="0070C0"/>
                </a:solidFill>
                <a:latin typeface="Calibri" panose="020F0502020204030204"/>
                <a:ea typeface="游ゴシック" panose="020B0400000000000000" pitchFamily="34" charset="-128"/>
              </a:rPr>
              <a:t>)</a:t>
            </a:r>
            <a:r>
              <a:rPr lang="en-NZ" altLang="ja-JP" sz="1800" b="1">
                <a:solidFill>
                  <a:srgbClr val="0070C0"/>
                </a:solidFill>
                <a:latin typeface="Calibri" panose="020F0502020204030204"/>
                <a:ea typeface="游ゴシック" panose="020B0400000000000000" pitchFamily="34" charset="-128"/>
              </a:rPr>
              <a:t> Levels</a:t>
            </a:r>
            <a:endParaRPr kumimoji="1" lang="en-NZ" altLang="ja-JP" sz="1800" b="1"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endParaRPr>
          </a:p>
        </p:txBody>
      </p:sp>
      <p:sp>
        <p:nvSpPr>
          <p:cNvPr id="24" name="Text Placeholder 5">
            <a:extLst>
              <a:ext uri="{FF2B5EF4-FFF2-40B4-BE49-F238E27FC236}">
                <a16:creationId xmlns:a16="http://schemas.microsoft.com/office/drawing/2014/main" id="{662F6CCA-B6AA-45D0-A391-37AD97D9659A}"/>
              </a:ext>
            </a:extLst>
          </p:cNvPr>
          <p:cNvSpPr txBox="1">
            <a:spLocks/>
          </p:cNvSpPr>
          <p:nvPr/>
        </p:nvSpPr>
        <p:spPr>
          <a:xfrm>
            <a:off x="7038861" y="1617137"/>
            <a:ext cx="4579200"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The </a:t>
            </a:r>
            <a:r>
              <a:rPr kumimoji="1" lang="en-NZ" altLang="ja-JP" sz="1800" b="1" i="1"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k</a:t>
            </a:r>
            <a:r>
              <a:rPr kumimoji="1" lang="en-NZ" altLang="ja-JP" sz="1800" b="1" i="1" u="none" strike="noStrike" kern="1200" cap="none" spc="0" normalizeH="0" baseline="30000" noProof="0">
                <a:ln>
                  <a:noFill/>
                </a:ln>
                <a:solidFill>
                  <a:prstClr val="black"/>
                </a:solidFill>
                <a:effectLst/>
                <a:uLnTx/>
                <a:uFillTx/>
                <a:latin typeface="Calibri" panose="020F0502020204030204"/>
                <a:ea typeface="游ゴシック" panose="020B0400000000000000" pitchFamily="34" charset="-128"/>
                <a:cs typeface="+mn-cs"/>
              </a:rPr>
              <a:t>th</a:t>
            </a:r>
            <a:r>
              <a:rPr kumimoji="1" lang="en-NZ" altLang="ja-JP" sz="1800" b="0" i="1"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observation in cell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r>
              <a:rPr kumimoji="1" lang="en-NZ" altLang="ja-JP" sz="18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i,j</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r>
              <a:rPr kumimoji="1" lang="en-NZ" altLang="ja-JP" sz="18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is modelled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as:</a:t>
            </a:r>
            <a:endPar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5" name="Text Placeholder 5">
                <a:extLst>
                  <a:ext uri="{FF2B5EF4-FFF2-40B4-BE49-F238E27FC236}">
                    <a16:creationId xmlns:a16="http://schemas.microsoft.com/office/drawing/2014/main" id="{1B346F14-31A1-4706-95BE-B97F970C0758}"/>
                  </a:ext>
                </a:extLst>
              </p:cNvPr>
              <p:cNvSpPr txBox="1">
                <a:spLocks/>
              </p:cNvSpPr>
              <p:nvPr/>
            </p:nvSpPr>
            <p:spPr>
              <a:xfrm>
                <a:off x="6530101" y="1982260"/>
                <a:ext cx="5462638"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𝒀</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𝒊𝒋𝒌</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𝝁</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𝜶</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𝜷</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𝒋</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𝝐</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𝒊𝒋𝒌</m:t>
                          </m:r>
                        </m:sub>
                      </m:sSub>
                    </m:oMath>
                  </m:oMathPara>
                </a14:m>
                <a:endParaRPr kumimoji="1" lang="en-NZ" altLang="ja-JP" sz="18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5" name="Text Placeholder 5">
                <a:extLst>
                  <a:ext uri="{FF2B5EF4-FFF2-40B4-BE49-F238E27FC236}">
                    <a16:creationId xmlns:a16="http://schemas.microsoft.com/office/drawing/2014/main" id="{1B346F14-31A1-4706-95BE-B97F970C0758}"/>
                  </a:ext>
                </a:extLst>
              </p:cNvPr>
              <p:cNvSpPr txBox="1">
                <a:spLocks noRot="1" noChangeAspect="1" noMove="1" noResize="1" noEditPoints="1" noAdjustHandles="1" noChangeArrowheads="1" noChangeShapeType="1" noTextEdit="1"/>
              </p:cNvSpPr>
              <p:nvPr/>
            </p:nvSpPr>
            <p:spPr>
              <a:xfrm>
                <a:off x="6530101" y="1982260"/>
                <a:ext cx="5462638" cy="474953"/>
              </a:xfrm>
              <a:prstGeom prst="rect">
                <a:avLst/>
              </a:prstGeom>
              <a:blipFill>
                <a:blip r:embed="rId3"/>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6" name="Text Placeholder 5">
                <a:extLst>
                  <a:ext uri="{FF2B5EF4-FFF2-40B4-BE49-F238E27FC236}">
                    <a16:creationId xmlns:a16="http://schemas.microsoft.com/office/drawing/2014/main" id="{F3814146-C81B-4A37-9709-280518413AE1}"/>
                  </a:ext>
                </a:extLst>
              </p:cNvPr>
              <p:cNvSpPr txBox="1">
                <a:spLocks/>
              </p:cNvSpPr>
              <p:nvPr/>
            </p:nvSpPr>
            <p:spPr>
              <a:xfrm>
                <a:off x="6976417" y="2432335"/>
                <a:ext cx="4867734" cy="19684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l-GR" altLang="ja-JP" sz="16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μ</a:t>
                </a:r>
                <a:r>
                  <a:rPr kumimoji="1" lang="en-NZ" altLang="ja-JP" sz="16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  is the population mean</a:t>
                </a:r>
              </a:p>
              <a:p>
                <a:pPr>
                  <a:lnSpc>
                    <a:spcPct val="100000"/>
                  </a:lnSpc>
                  <a:defRPr/>
                </a:pPr>
                <a14:m>
                  <m:oMath xmlns:m="http://schemas.openxmlformats.org/officeDocument/2006/math">
                    <m:sSub>
                      <m:sSubPr>
                        <m:ctrlP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𝝁</m:t>
                        </m:r>
                      </m:e>
                      <m:sub>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𝒊</m:t>
                        </m:r>
                      </m:sub>
                    </m:sSub>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m:t>
                    </m:r>
                  </m:oMath>
                </a14:m>
                <a:r>
                  <a:rPr kumimoji="1" lang="en-NZ" altLang="ja-JP" sz="16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 </a:t>
                </a:r>
                <a:r>
                  <a:rPr lang="en-NZ" altLang="ja-JP" sz="1600" noProof="0" dirty="0">
                    <a:solidFill>
                      <a:schemeClr val="tx1"/>
                    </a:solidFill>
                    <a:latin typeface="Calibri" panose="020F0502020204030204"/>
                    <a:ea typeface="游ゴシック" panose="020B0400000000000000" pitchFamily="34" charset="-128"/>
                  </a:rPr>
                  <a:t>i</a:t>
                </a:r>
                <a:r>
                  <a:rPr lang="en-NZ" altLang="ja-JP" sz="1600" dirty="0">
                    <a:solidFill>
                      <a:schemeClr val="tx1"/>
                    </a:solidFill>
                    <a:latin typeface="Calibri" panose="020F0502020204030204"/>
                    <a:ea typeface="游ゴシック" panose="020B0400000000000000" pitchFamily="34" charset="-128"/>
                  </a:rPr>
                  <a:t>s the mean of the </a:t>
                </a:r>
                <a:r>
                  <a:rPr lang="en-NZ" altLang="ja-JP" sz="1600" b="1" i="1" dirty="0" err="1">
                    <a:solidFill>
                      <a:schemeClr val="tx1"/>
                    </a:solidFill>
                  </a:rPr>
                  <a:t>i</a:t>
                </a:r>
                <a:r>
                  <a:rPr lang="en-NZ" altLang="ja-JP" sz="1600" b="1" i="1" baseline="30000" dirty="0" err="1">
                    <a:solidFill>
                      <a:schemeClr val="tx1"/>
                    </a:solidFill>
                  </a:rPr>
                  <a:t>th</a:t>
                </a:r>
                <a:r>
                  <a:rPr lang="en-NZ" altLang="ja-JP" sz="1600" i="1" baseline="-25000" dirty="0">
                    <a:solidFill>
                      <a:schemeClr val="tx1"/>
                    </a:solidFill>
                  </a:rPr>
                  <a:t> </a:t>
                </a:r>
                <a:r>
                  <a:rPr lang="en-NZ" altLang="ja-JP" sz="1600" i="1" dirty="0">
                    <a:solidFill>
                      <a:schemeClr val="tx1"/>
                    </a:solidFill>
                  </a:rPr>
                  <a:t> </a:t>
                </a:r>
                <a:r>
                  <a:rPr lang="en-NZ" altLang="ja-JP" sz="1600" dirty="0">
                    <a:solidFill>
                      <a:schemeClr val="tx1"/>
                    </a:solidFill>
                  </a:rPr>
                  <a:t>level of factor </a:t>
                </a:r>
                <a:r>
                  <a:rPr lang="en-NZ" altLang="ja-JP" sz="1600" b="1" i="1" dirty="0">
                    <a:solidFill>
                      <a:schemeClr val="tx1"/>
                    </a:solidFill>
                  </a:rPr>
                  <a:t>A</a:t>
                </a:r>
                <a:br>
                  <a:rPr lang="en-NZ" altLang="ja-JP" sz="1600" b="1" i="1" dirty="0">
                    <a:solidFill>
                      <a:schemeClr val="tx1"/>
                    </a:solidFill>
                  </a:rPr>
                </a:br>
                <a14:m>
                  <m:oMath xmlns:m="http://schemas.openxmlformats.org/officeDocument/2006/math">
                    <m:r>
                      <a:rPr lang="en-NZ" altLang="ja-JP" sz="1600" b="1" i="1" smtClean="0">
                        <a:solidFill>
                          <a:schemeClr val="tx1"/>
                        </a:solidFill>
                        <a:latin typeface="Cambria Math" panose="02040503050406030204" pitchFamily="18" charset="0"/>
                      </a:rPr>
                      <m:t>𝝁</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m:t>
                        </m:r>
                      </m:e>
                      <m:sub>
                        <m:r>
                          <a:rPr lang="en-NZ" altLang="ja-JP" sz="1600" b="1" i="1" smtClean="0">
                            <a:solidFill>
                              <a:schemeClr val="tx1"/>
                            </a:solidFill>
                            <a:latin typeface="Cambria Math" panose="02040503050406030204" pitchFamily="18" charset="0"/>
                          </a:rPr>
                          <m:t>𝒋</m:t>
                        </m:r>
                      </m:sub>
                    </m:sSub>
                  </m:oMath>
                </a14:m>
                <a:r>
                  <a:rPr lang="en-NZ" altLang="ja-JP" sz="1600" b="1" i="1" dirty="0">
                    <a:solidFill>
                      <a:schemeClr val="tx1"/>
                    </a:solidFill>
                  </a:rPr>
                  <a:t> </a:t>
                </a:r>
                <a:r>
                  <a:rPr lang="en-NZ" altLang="ja-JP" sz="1600" dirty="0">
                    <a:solidFill>
                      <a:schemeClr val="tx1"/>
                    </a:solidFill>
                  </a:rPr>
                  <a:t>is the mean of the </a:t>
                </a:r>
                <a:r>
                  <a:rPr lang="en-NZ" altLang="ja-JP" sz="1600" b="1" i="1" dirty="0" err="1">
                    <a:solidFill>
                      <a:schemeClr val="tx1"/>
                    </a:solidFill>
                  </a:rPr>
                  <a:t>j</a:t>
                </a:r>
                <a:r>
                  <a:rPr lang="en-NZ" altLang="ja-JP" sz="1600" b="1" i="1" baseline="30000" dirty="0" err="1">
                    <a:solidFill>
                      <a:schemeClr val="tx1"/>
                    </a:solidFill>
                  </a:rPr>
                  <a:t>th</a:t>
                </a:r>
                <a:r>
                  <a:rPr lang="en-NZ" altLang="ja-JP" sz="1600" i="1" baseline="-25000" dirty="0">
                    <a:solidFill>
                      <a:schemeClr val="tx1"/>
                    </a:solidFill>
                  </a:rPr>
                  <a:t> </a:t>
                </a:r>
                <a:r>
                  <a:rPr lang="en-NZ" altLang="ja-JP" sz="1600" i="1" dirty="0">
                    <a:solidFill>
                      <a:schemeClr val="tx1"/>
                    </a:solidFill>
                  </a:rPr>
                  <a:t> </a:t>
                </a:r>
                <a:r>
                  <a:rPr lang="en-NZ" altLang="ja-JP" sz="1600" dirty="0">
                    <a:solidFill>
                      <a:schemeClr val="tx1"/>
                    </a:solidFill>
                  </a:rPr>
                  <a:t>level of factor </a:t>
                </a:r>
                <a:r>
                  <a:rPr lang="en-NZ" altLang="ja-JP" sz="1600" b="1" i="1" dirty="0">
                    <a:solidFill>
                      <a:schemeClr val="tx1"/>
                    </a:solidFill>
                  </a:rPr>
                  <a:t>B</a:t>
                </a:r>
              </a:p>
              <a:p>
                <a:pPr>
                  <a:lnSpc>
                    <a:spcPct val="100000"/>
                  </a:lnSpc>
                  <a:defRPr/>
                </a:pPr>
                <a14:m>
                  <m:oMath xmlns:m="http://schemas.openxmlformats.org/officeDocument/2006/math">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𝝁</m:t>
                        </m:r>
                      </m:e>
                      <m:sub>
                        <m:r>
                          <a:rPr lang="en-NZ" altLang="ja-JP" sz="1600" b="1" i="1">
                            <a:solidFill>
                              <a:schemeClr val="tx1"/>
                            </a:solidFill>
                            <a:latin typeface="Cambria Math" panose="02040503050406030204" pitchFamily="18" charset="0"/>
                          </a:rPr>
                          <m:t>𝒊</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𝒋</m:t>
                        </m:r>
                      </m:sub>
                    </m:sSub>
                    <m:r>
                      <a:rPr lang="en-NZ" altLang="ja-JP" sz="1600" b="1" i="1">
                        <a:solidFill>
                          <a:schemeClr val="tx1"/>
                        </a:solidFill>
                        <a:latin typeface="Cambria Math" panose="02040503050406030204" pitchFamily="18" charset="0"/>
                      </a:rPr>
                      <m:t>  =     </m:t>
                    </m:r>
                    <m:r>
                      <a:rPr lang="en-NZ" altLang="ja-JP" sz="1600" b="1" i="1">
                        <a:solidFill>
                          <a:schemeClr val="tx1"/>
                        </a:solidFill>
                        <a:latin typeface="Cambria Math" panose="02040503050406030204" pitchFamily="18" charset="0"/>
                      </a:rPr>
                      <m:t>𝝁</m:t>
                    </m:r>
                    <m:r>
                      <a:rPr lang="en-NZ" altLang="ja-JP" sz="1600" b="1" i="1">
                        <a:solidFill>
                          <a:schemeClr val="tx1"/>
                        </a:solidFill>
                        <a:latin typeface="Cambria Math" panose="02040503050406030204" pitchFamily="18" charset="0"/>
                      </a:rPr>
                      <m:t>  +   </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𝜶</m:t>
                        </m:r>
                      </m:e>
                      <m:sub>
                        <m:r>
                          <a:rPr lang="en-NZ" altLang="ja-JP" sz="1600" b="1" i="1">
                            <a:solidFill>
                              <a:schemeClr val="tx1"/>
                            </a:solidFill>
                            <a:latin typeface="Cambria Math" panose="02040503050406030204" pitchFamily="18" charset="0"/>
                          </a:rPr>
                          <m:t>𝒊</m:t>
                        </m:r>
                      </m:sub>
                    </m:sSub>
                    <m:r>
                      <a:rPr lang="en-NZ" altLang="ja-JP" sz="1600" b="1" i="1">
                        <a:solidFill>
                          <a:schemeClr val="tx1"/>
                        </a:solidFill>
                        <a:latin typeface="Cambria Math" panose="02040503050406030204" pitchFamily="18" charset="0"/>
                      </a:rPr>
                      <m:t>  +   </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𝜷</m:t>
                        </m:r>
                      </m:e>
                      <m:sub>
                        <m:r>
                          <a:rPr lang="en-NZ" altLang="ja-JP" sz="1600" b="1" i="1">
                            <a:solidFill>
                              <a:schemeClr val="tx1"/>
                            </a:solidFill>
                            <a:latin typeface="Cambria Math" panose="02040503050406030204" pitchFamily="18" charset="0"/>
                          </a:rPr>
                          <m:t>𝒋</m:t>
                        </m:r>
                      </m:sub>
                    </m:sSub>
                  </m:oMath>
                </a14:m>
                <a:r>
                  <a:rPr kumimoji="1" lang="en-NZ" altLang="ja-JP" sz="16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  </a:t>
                </a:r>
                <a:r>
                  <a:rPr kumimoji="1" lang="en-NZ" altLang="ja-JP" sz="160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is the mean of cell </a:t>
                </a:r>
                <a:r>
                  <a:rPr kumimoji="1" lang="en-NZ" altLang="ja-JP" sz="16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a:t>
                </a:r>
                <a:r>
                  <a:rPr lang="en-NZ" altLang="ja-JP" sz="1600" b="1" i="1" dirty="0">
                    <a:solidFill>
                      <a:schemeClr val="tx1"/>
                    </a:solidFill>
                    <a:latin typeface="Calibri" panose="020F0502020204030204"/>
                    <a:ea typeface="游ゴシック" panose="020B0400000000000000" pitchFamily="34" charset="-128"/>
                  </a:rPr>
                  <a:t>i</a:t>
                </a:r>
                <a:r>
                  <a:rPr kumimoji="1" lang="en-NZ" altLang="ja-JP" sz="16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,j)</a:t>
                </a:r>
              </a:p>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𝜶</m:t>
                        </m:r>
                      </m:e>
                      <m:sub>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𝒊</m:t>
                        </m:r>
                      </m:sub>
                    </m:sSub>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t>≡</m:t>
                    </m:r>
                    <m:sSub>
                      <m:sSubPr>
                        <m:ctrlP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𝝁</m:t>
                        </m:r>
                      </m:e>
                      <m:sub>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𝒊</m:t>
                        </m:r>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t>⋅</m:t>
                        </m:r>
                      </m:sub>
                    </m:sSub>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𝝁</m:t>
                    </m:r>
                  </m:oMath>
                </a14:m>
                <a:r>
                  <a:rPr kumimoji="1" lang="en-NZ" altLang="ja-JP" sz="16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is the effect of the </a:t>
                </a:r>
                <a:r>
                  <a:rPr kumimoji="1" lang="en-NZ" altLang="ja-JP" sz="1600" b="1" i="1" u="none" strike="noStrike" kern="1200" cap="none" spc="0" normalizeH="0" baseline="0" noProof="0" dirty="0" err="1">
                    <a:ln>
                      <a:noFill/>
                    </a:ln>
                    <a:solidFill>
                      <a:schemeClr val="tx1"/>
                    </a:solidFill>
                    <a:effectLst/>
                    <a:uLnTx/>
                    <a:uFillTx/>
                    <a:latin typeface="Calibri" panose="020F0502020204030204"/>
                    <a:ea typeface="游ゴシック" panose="020B0400000000000000" pitchFamily="34" charset="-128"/>
                    <a:cs typeface="+mn-cs"/>
                  </a:rPr>
                  <a:t>i</a:t>
                </a:r>
                <a:r>
                  <a:rPr kumimoji="1" lang="en-NZ" altLang="ja-JP" sz="1600" b="1" i="1" u="none" strike="noStrike" kern="1200" cap="none" spc="0" normalizeH="0" baseline="30000" noProof="0" dirty="0" err="1">
                    <a:ln>
                      <a:noFill/>
                    </a:ln>
                    <a:solidFill>
                      <a:schemeClr val="tx1"/>
                    </a:solidFill>
                    <a:effectLst/>
                    <a:uLnTx/>
                    <a:uFillTx/>
                    <a:latin typeface="Calibri" panose="020F0502020204030204"/>
                    <a:ea typeface="游ゴシック" panose="020B0400000000000000" pitchFamily="34" charset="-128"/>
                    <a:cs typeface="+mn-cs"/>
                  </a:rPr>
                  <a:t>th</a:t>
                </a:r>
                <a:r>
                  <a:rPr kumimoji="1" lang="en-NZ" altLang="ja-JP" sz="1600" b="0" i="1" u="none" strike="noStrike" kern="1200" cap="none" spc="0" normalizeH="0" baseline="-25000" noProof="0" dirty="0">
                    <a:ln>
                      <a:noFill/>
                    </a:ln>
                    <a:solidFill>
                      <a:schemeClr val="tx1"/>
                    </a:solidFill>
                    <a:effectLst/>
                    <a:uLnTx/>
                    <a:uFillTx/>
                    <a:latin typeface="Calibri" panose="020F0502020204030204"/>
                    <a:ea typeface="游ゴシック" panose="020B0400000000000000" pitchFamily="34" charset="-128"/>
                    <a:cs typeface="+mn-cs"/>
                  </a:rPr>
                  <a:t> </a:t>
                </a:r>
                <a:r>
                  <a:rPr kumimoji="1" lang="en-NZ" altLang="ja-JP" sz="1600" b="0"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level of factor </a:t>
                </a:r>
                <a:r>
                  <a:rPr kumimoji="1" lang="en-NZ" altLang="ja-JP" sz="16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A</a:t>
                </a:r>
              </a:p>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𝜷</m:t>
                        </m:r>
                      </m:e>
                      <m:sub>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𝒋</m:t>
                        </m:r>
                      </m:sub>
                    </m:sSub>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t>≡</m:t>
                    </m:r>
                    <m:sSub>
                      <m:sSubPr>
                        <m:ctrlPr>
                          <a:rPr kumimoji="1" lang="en-NZ" altLang="ja-JP" sz="1600" b="1" i="1" u="none" strike="noStrike" kern="1200" cap="none" spc="0" normalizeH="0" baseline="0" noProof="0">
                            <a:ln>
                              <a:noFill/>
                            </a:ln>
                            <a:solidFill>
                              <a:schemeClr val="tx1"/>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schemeClr val="tx1"/>
                            </a:solidFill>
                            <a:effectLst/>
                            <a:uLnTx/>
                            <a:uFillTx/>
                            <a:latin typeface="Cambria Math" panose="02040503050406030204" pitchFamily="18" charset="0"/>
                            <a:cs typeface="+mn-cs"/>
                          </a:rPr>
                          <m:t>𝝁</m:t>
                        </m:r>
                      </m:e>
                      <m:sub>
                        <m:r>
                          <a:rPr kumimoji="1" lang="en-NZ" altLang="ja-JP" sz="1600" b="1" i="1" u="none" strike="noStrike" kern="1200" cap="none" spc="0" normalizeH="0" baseline="0" noProof="0">
                            <a:ln>
                              <a:noFill/>
                            </a:ln>
                            <a:solidFill>
                              <a:schemeClr val="tx1"/>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𝒋</m:t>
                        </m:r>
                      </m:sub>
                    </m:sSub>
                    <m:r>
                      <a:rPr kumimoji="1" lang="en-NZ" altLang="ja-JP" sz="1600" b="1" i="1" u="none" strike="noStrike" kern="1200" cap="none" spc="0" normalizeH="0" baseline="0" noProof="0">
                        <a:ln>
                          <a:noFill/>
                        </a:ln>
                        <a:solidFill>
                          <a:schemeClr val="tx1"/>
                        </a:solidFill>
                        <a:effectLst/>
                        <a:uLnTx/>
                        <a:uFillTx/>
                        <a:latin typeface="Cambria Math" panose="02040503050406030204" pitchFamily="18" charset="0"/>
                        <a:cs typeface="+mn-cs"/>
                      </a:rPr>
                      <m:t> −</m:t>
                    </m:r>
                    <m:r>
                      <a:rPr kumimoji="1" lang="en-NZ" altLang="ja-JP" sz="1600" b="1" i="1" u="none" strike="noStrike" kern="1200" cap="none" spc="0" normalizeH="0" baseline="0" noProof="0">
                        <a:ln>
                          <a:noFill/>
                        </a:ln>
                        <a:solidFill>
                          <a:schemeClr val="tx1"/>
                        </a:solidFill>
                        <a:effectLst/>
                        <a:uLnTx/>
                        <a:uFillTx/>
                        <a:latin typeface="Cambria Math" panose="02040503050406030204" pitchFamily="18" charset="0"/>
                        <a:cs typeface="+mn-cs"/>
                      </a:rPr>
                      <m:t>𝝁</m:t>
                    </m:r>
                  </m:oMath>
                </a14:m>
                <a:r>
                  <a:rPr kumimoji="1" lang="en-NZ" altLang="ja-JP" sz="16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is the effect of the </a:t>
                </a:r>
                <a:r>
                  <a:rPr kumimoji="1" lang="en-NZ" altLang="ja-JP" sz="1600" b="1" i="1" u="none" strike="noStrike" kern="1200" cap="none" spc="0" normalizeH="0" baseline="0" noProof="0" dirty="0" err="1">
                    <a:ln>
                      <a:noFill/>
                    </a:ln>
                    <a:solidFill>
                      <a:schemeClr val="tx1"/>
                    </a:solidFill>
                    <a:effectLst/>
                    <a:uLnTx/>
                    <a:uFillTx/>
                    <a:latin typeface="Calibri" panose="020F0502020204030204"/>
                    <a:ea typeface="游ゴシック" panose="020B0400000000000000" pitchFamily="34" charset="-128"/>
                    <a:cs typeface="+mn-cs"/>
                  </a:rPr>
                  <a:t>j</a:t>
                </a:r>
                <a:r>
                  <a:rPr kumimoji="1" lang="en-NZ" altLang="ja-JP" sz="1600" b="1" i="1" u="none" strike="noStrike" kern="1200" cap="none" spc="0" normalizeH="0" baseline="30000" noProof="0" dirty="0" err="1">
                    <a:ln>
                      <a:noFill/>
                    </a:ln>
                    <a:solidFill>
                      <a:schemeClr val="tx1"/>
                    </a:solidFill>
                    <a:effectLst/>
                    <a:uLnTx/>
                    <a:uFillTx/>
                    <a:latin typeface="Calibri" panose="020F0502020204030204"/>
                    <a:ea typeface="游ゴシック" panose="020B0400000000000000" pitchFamily="34" charset="-128"/>
                    <a:cs typeface="+mn-cs"/>
                  </a:rPr>
                  <a:t>th</a:t>
                </a:r>
                <a:r>
                  <a:rPr kumimoji="1" lang="en-NZ" altLang="ja-JP" sz="1600" b="0" i="1" u="none" strike="noStrike" kern="1200" cap="none" spc="0" normalizeH="0" baseline="-25000" noProof="0" dirty="0">
                    <a:ln>
                      <a:noFill/>
                    </a:ln>
                    <a:solidFill>
                      <a:schemeClr val="tx1"/>
                    </a:solidFill>
                    <a:effectLst/>
                    <a:uLnTx/>
                    <a:uFillTx/>
                    <a:latin typeface="Calibri" panose="020F0502020204030204"/>
                    <a:ea typeface="游ゴシック" panose="020B0400000000000000" pitchFamily="34" charset="-128"/>
                    <a:cs typeface="+mn-cs"/>
                  </a:rPr>
                  <a:t> </a:t>
                </a:r>
                <a:r>
                  <a:rPr kumimoji="1" lang="en-NZ" altLang="ja-JP" sz="1600" b="0"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level of factor </a:t>
                </a:r>
                <a:r>
                  <a:rPr kumimoji="1" lang="en-NZ" altLang="ja-JP" sz="16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B</a:t>
                </a:r>
              </a:p>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left"/>
                    </m:oMathParaPr>
                    <m:oMath xmlns:m="http://schemas.openxmlformats.org/officeDocument/2006/math">
                      <m:sSub>
                        <m:sSubPr>
                          <m:ctrlPr>
                            <a:rPr kumimoji="1" lang="en-NZ" altLang="ja-JP" sz="1600" b="1" i="1" u="none" strike="noStrike" kern="1200" cap="none" spc="0" normalizeH="0" baseline="0" noProof="0">
                              <a:ln>
                                <a:noFill/>
                              </a:ln>
                              <a:solidFill>
                                <a:schemeClr val="tx1"/>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schemeClr val="tx1"/>
                              </a:solidFill>
                              <a:effectLst/>
                              <a:uLnTx/>
                              <a:uFillTx/>
                              <a:latin typeface="Cambria Math" panose="02040503050406030204" pitchFamily="18" charset="0"/>
                              <a:cs typeface="+mn-cs"/>
                            </a:rPr>
                            <m:t>𝝐</m:t>
                          </m:r>
                        </m:e>
                        <m:sub>
                          <m:r>
                            <a:rPr kumimoji="1" lang="en-NZ" altLang="ja-JP" sz="1600" b="1" i="1" u="none" strike="noStrike" kern="1200" cap="none" spc="0" normalizeH="0" baseline="0" noProof="0">
                              <a:ln>
                                <a:noFill/>
                              </a:ln>
                              <a:solidFill>
                                <a:schemeClr val="tx1"/>
                              </a:solidFill>
                              <a:effectLst/>
                              <a:uLnTx/>
                              <a:uFillTx/>
                              <a:latin typeface="Cambria Math" panose="02040503050406030204" pitchFamily="18" charset="0"/>
                              <a:cs typeface="+mn-cs"/>
                            </a:rPr>
                            <m:t>𝒊𝒋𝒌</m:t>
                          </m:r>
                        </m:sub>
                      </m:sSub>
                      <m:r>
                        <a:rPr kumimoji="1" lang="en-NZ" altLang="ja-JP" sz="1600" b="1" i="1" u="none" strike="noStrike" kern="1200" cap="none" spc="0" normalizeH="0" baseline="0" noProof="0">
                          <a:ln>
                            <a:noFill/>
                          </a:ln>
                          <a:solidFill>
                            <a:schemeClr val="tx1"/>
                          </a:solidFill>
                          <a:effectLst/>
                          <a:uLnTx/>
                          <a:uFillTx/>
                          <a:latin typeface="Cambria Math" panose="02040503050406030204" pitchFamily="18" charset="0"/>
                          <a:cs typeface="+mn-cs"/>
                        </a:rPr>
                        <m:t> ~ </m:t>
                      </m:r>
                      <m:r>
                        <a:rPr kumimoji="1" lang="en-NZ" altLang="ja-JP" sz="1600" b="1" i="1" u="none" strike="noStrike" kern="1200" cap="none" spc="0" normalizeH="0" baseline="0" noProof="0">
                          <a:ln>
                            <a:noFill/>
                          </a:ln>
                          <a:solidFill>
                            <a:schemeClr val="tx1"/>
                          </a:solidFill>
                          <a:effectLst/>
                          <a:uLnTx/>
                          <a:uFillTx/>
                          <a:latin typeface="Cambria Math" panose="02040503050406030204" pitchFamily="18" charset="0"/>
                          <a:cs typeface="+mn-cs"/>
                        </a:rPr>
                        <m:t>𝑵</m:t>
                      </m:r>
                      <m:d>
                        <m:dPr>
                          <m:ctrlPr>
                            <a:rPr kumimoji="1" lang="en-NZ" altLang="ja-JP" sz="1600" b="1" i="1" u="none" strike="noStrike" kern="1200" cap="none" spc="0" normalizeH="0" baseline="0" noProof="0">
                              <a:ln>
                                <a:noFill/>
                              </a:ln>
                              <a:solidFill>
                                <a:schemeClr val="tx1"/>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a:ln>
                                <a:noFill/>
                              </a:ln>
                              <a:solidFill>
                                <a:schemeClr val="tx1"/>
                              </a:solidFill>
                              <a:effectLst/>
                              <a:uLnTx/>
                              <a:uFillTx/>
                              <a:latin typeface="Cambria Math" panose="02040503050406030204" pitchFamily="18" charset="0"/>
                              <a:cs typeface="+mn-cs"/>
                            </a:rPr>
                            <m:t>𝟎</m:t>
                          </m:r>
                          <m:r>
                            <a:rPr kumimoji="1" lang="en-NZ" altLang="ja-JP" sz="1600" b="1" i="1" u="none" strike="noStrike" kern="1200" cap="none" spc="0" normalizeH="0" baseline="0" noProof="0">
                              <a:ln>
                                <a:noFill/>
                              </a:ln>
                              <a:solidFill>
                                <a:schemeClr val="tx1"/>
                              </a:solidFill>
                              <a:effectLst/>
                              <a:uLnTx/>
                              <a:uFillTx/>
                              <a:latin typeface="Cambria Math" panose="02040503050406030204" pitchFamily="18" charset="0"/>
                              <a:cs typeface="+mn-cs"/>
                            </a:rPr>
                            <m:t>, </m:t>
                          </m:r>
                          <m:sSup>
                            <m:sSupPr>
                              <m:ctrlPr>
                                <a:rPr kumimoji="1" lang="en-NZ" altLang="ja-JP" sz="1600" b="1" i="1" u="none" strike="noStrike" kern="1200" cap="none" spc="0" normalizeH="0" baseline="0" noProof="0">
                                  <a:ln>
                                    <a:noFill/>
                                  </a:ln>
                                  <a:solidFill>
                                    <a:schemeClr val="tx1"/>
                                  </a:solidFill>
                                  <a:effectLst/>
                                  <a:uLnTx/>
                                  <a:uFillTx/>
                                  <a:latin typeface="Cambria Math" panose="02040503050406030204" pitchFamily="18" charset="0"/>
                                  <a:cs typeface="+mn-cs"/>
                                </a:rPr>
                              </m:ctrlPr>
                            </m:sSupPr>
                            <m:e>
                              <m:r>
                                <a:rPr kumimoji="1" lang="en-NZ" altLang="ja-JP" sz="1600" b="1" i="1" u="none" strike="noStrike" kern="1200" cap="none" spc="0" normalizeH="0" baseline="0" noProof="0">
                                  <a:ln>
                                    <a:noFill/>
                                  </a:ln>
                                  <a:solidFill>
                                    <a:schemeClr val="tx1"/>
                                  </a:solidFill>
                                  <a:effectLst/>
                                  <a:uLnTx/>
                                  <a:uFillTx/>
                                  <a:latin typeface="Cambria Math" panose="02040503050406030204" pitchFamily="18" charset="0"/>
                                  <a:cs typeface="+mn-cs"/>
                                </a:rPr>
                                <m:t>𝝈</m:t>
                              </m:r>
                            </m:e>
                            <m:sup>
                              <m:r>
                                <a:rPr kumimoji="1" lang="en-NZ" altLang="ja-JP" sz="1600" b="1" i="1" u="none" strike="noStrike" kern="1200" cap="none" spc="0" normalizeH="0" baseline="0" noProof="0">
                                  <a:ln>
                                    <a:noFill/>
                                  </a:ln>
                                  <a:solidFill>
                                    <a:schemeClr val="tx1"/>
                                  </a:solidFill>
                                  <a:effectLst/>
                                  <a:uLnTx/>
                                  <a:uFillTx/>
                                  <a:latin typeface="Cambria Math" panose="02040503050406030204" pitchFamily="18" charset="0"/>
                                  <a:cs typeface="+mn-cs"/>
                                </a:rPr>
                                <m:t>𝟐</m:t>
                              </m:r>
                            </m:sup>
                          </m:sSup>
                        </m:e>
                      </m:d>
                    </m:oMath>
                  </m:oMathPara>
                </a14:m>
                <a:endParaRPr kumimoji="1" lang="en-NZ" altLang="ja-JP" sz="16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  </a:t>
                </a:r>
              </a:p>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p:txBody>
          </p:sp>
        </mc:Choice>
        <mc:Fallback xmlns="">
          <p:sp>
            <p:nvSpPr>
              <p:cNvPr id="26" name="Text Placeholder 5">
                <a:extLst>
                  <a:ext uri="{FF2B5EF4-FFF2-40B4-BE49-F238E27FC236}">
                    <a16:creationId xmlns:a16="http://schemas.microsoft.com/office/drawing/2014/main" id="{F3814146-C81B-4A37-9709-280518413AE1}"/>
                  </a:ext>
                </a:extLst>
              </p:cNvPr>
              <p:cNvSpPr txBox="1">
                <a:spLocks noRot="1" noChangeAspect="1" noMove="1" noResize="1" noEditPoints="1" noAdjustHandles="1" noChangeArrowheads="1" noChangeShapeType="1" noTextEdit="1"/>
              </p:cNvSpPr>
              <p:nvPr/>
            </p:nvSpPr>
            <p:spPr>
              <a:xfrm>
                <a:off x="6976417" y="2432335"/>
                <a:ext cx="4867734" cy="1968453"/>
              </a:xfrm>
              <a:prstGeom prst="rect">
                <a:avLst/>
              </a:prstGeom>
              <a:blipFill>
                <a:blip r:embed="rId4"/>
                <a:stretch>
                  <a:fillRect l="-626" t="-929"/>
                </a:stretch>
              </a:blipFill>
            </p:spPr>
            <p:txBody>
              <a:bodyPr/>
              <a:lstStyle/>
              <a:p>
                <a:r>
                  <a:rPr lang="en-NZ">
                    <a:noFill/>
                  </a:rPr>
                  <a:t> </a:t>
                </a:r>
              </a:p>
            </p:txBody>
          </p:sp>
        </mc:Fallback>
      </mc:AlternateContent>
      <p:sp>
        <p:nvSpPr>
          <p:cNvPr id="30" name="Footer Placeholder 2">
            <a:extLst>
              <a:ext uri="{FF2B5EF4-FFF2-40B4-BE49-F238E27FC236}">
                <a16:creationId xmlns:a16="http://schemas.microsoft.com/office/drawing/2014/main" id="{516F29EF-BECB-C27C-8F81-C4B9ABC9CFE6}"/>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4.3 – </a:t>
            </a:r>
            <a:r>
              <a:rPr kumimoji="1" lang="en-US" altLang="ja-JP" sz="1600" dirty="0">
                <a:solidFill>
                  <a:srgbClr val="DEDDDD"/>
                </a:solidFill>
                <a:latin typeface="Gidole"/>
                <a:ea typeface="游ゴシック" panose="020B0400000000000000" pitchFamily="34" charset="-128"/>
              </a:rPr>
              <a:t>Fixed Effects Model</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4122052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3DC64634-84B9-979E-6326-3C2D980A8A88}"/>
              </a:ext>
            </a:extLst>
          </p:cNvPr>
          <p:cNvPicPr>
            <a:picLocks noChangeAspect="1"/>
          </p:cNvPicPr>
          <p:nvPr/>
        </p:nvPicPr>
        <p:blipFill>
          <a:blip r:embed="rId2"/>
          <a:stretch>
            <a:fillRect/>
          </a:stretch>
        </p:blipFill>
        <p:spPr>
          <a:xfrm>
            <a:off x="6508575" y="2757246"/>
            <a:ext cx="2664025" cy="1330657"/>
          </a:xfrm>
          <a:prstGeom prst="rect">
            <a:avLst/>
          </a:prstGeom>
        </p:spPr>
      </p:pic>
      <mc:AlternateContent xmlns:mc="http://schemas.openxmlformats.org/markup-compatibility/2006" xmlns:a14="http://schemas.microsoft.com/office/drawing/2010/main">
        <mc:Choice Requires="a14">
          <p:sp>
            <p:nvSpPr>
              <p:cNvPr id="17" name="Text Placeholder 5">
                <a:extLst>
                  <a:ext uri="{FF2B5EF4-FFF2-40B4-BE49-F238E27FC236}">
                    <a16:creationId xmlns:a16="http://schemas.microsoft.com/office/drawing/2014/main" id="{0147D05C-3746-46B2-96A4-6929D39D5E9E}"/>
                  </a:ext>
                </a:extLst>
              </p:cNvPr>
              <p:cNvSpPr txBox="1">
                <a:spLocks/>
              </p:cNvSpPr>
              <p:nvPr/>
            </p:nvSpPr>
            <p:spPr>
              <a:xfrm>
                <a:off x="2097204" y="1087900"/>
                <a:ext cx="7997592"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pPr>
                <a14:m>
                  <m:oMathPara xmlns:m="http://schemas.openxmlformats.org/officeDocument/2006/math">
                    <m:oMathParaPr>
                      <m:jc m:val="centerGroup"/>
                    </m:oMathParaPr>
                    <m:oMath xmlns:m="http://schemas.openxmlformats.org/officeDocument/2006/math">
                      <m:sSub>
                        <m:sSubPr>
                          <m:ctrlPr>
                            <a:rPr lang="en-NZ" altLang="ja-JP" sz="2000" b="1" i="1">
                              <a:solidFill>
                                <a:srgbClr val="C00000"/>
                              </a:solidFill>
                              <a:latin typeface="Cambria Math" panose="02040503050406030204" pitchFamily="18" charset="0"/>
                            </a:rPr>
                          </m:ctrlPr>
                        </m:sSubPr>
                        <m:e>
                          <m:r>
                            <a:rPr lang="en-NZ" altLang="ja-JP" sz="2000" b="1" i="1">
                              <a:solidFill>
                                <a:srgbClr val="C00000"/>
                              </a:solidFill>
                              <a:latin typeface="Cambria Math" panose="02040503050406030204" pitchFamily="18" charset="0"/>
                            </a:rPr>
                            <m:t>𝒀</m:t>
                          </m:r>
                        </m:e>
                        <m:sub>
                          <m:r>
                            <a:rPr lang="en-NZ" altLang="ja-JP" sz="2000" b="1" i="1">
                              <a:solidFill>
                                <a:srgbClr val="C00000"/>
                              </a:solidFill>
                              <a:latin typeface="Cambria Math" panose="02040503050406030204" pitchFamily="18" charset="0"/>
                            </a:rPr>
                            <m:t>𝒊𝒋𝒌</m:t>
                          </m:r>
                        </m:sub>
                      </m:sSub>
                      <m:r>
                        <a:rPr lang="en-NZ" altLang="ja-JP" sz="2000" b="1" i="1">
                          <a:solidFill>
                            <a:srgbClr val="C00000"/>
                          </a:solidFill>
                          <a:latin typeface="Cambria Math" panose="02040503050406030204" pitchFamily="18" charset="0"/>
                        </a:rPr>
                        <m:t>   =     </m:t>
                      </m:r>
                      <m:r>
                        <a:rPr lang="en-NZ" altLang="ja-JP" sz="2000" b="1" i="1">
                          <a:solidFill>
                            <a:srgbClr val="C00000"/>
                          </a:solidFill>
                          <a:latin typeface="Cambria Math" panose="02040503050406030204" pitchFamily="18" charset="0"/>
                        </a:rPr>
                        <m:t>𝝁</m:t>
                      </m:r>
                      <m:r>
                        <a:rPr lang="en-NZ" altLang="ja-JP" sz="2000" b="1" i="1">
                          <a:solidFill>
                            <a:srgbClr val="C00000"/>
                          </a:solidFill>
                          <a:latin typeface="Cambria Math" panose="02040503050406030204" pitchFamily="18" charset="0"/>
                        </a:rPr>
                        <m:t>  +   </m:t>
                      </m:r>
                      <m:sSub>
                        <m:sSubPr>
                          <m:ctrlPr>
                            <a:rPr lang="en-NZ" altLang="ja-JP" sz="2000" b="1" i="1">
                              <a:solidFill>
                                <a:srgbClr val="C00000"/>
                              </a:solidFill>
                              <a:latin typeface="Cambria Math" panose="02040503050406030204" pitchFamily="18" charset="0"/>
                            </a:rPr>
                          </m:ctrlPr>
                        </m:sSubPr>
                        <m:e>
                          <m:r>
                            <a:rPr lang="en-NZ" altLang="ja-JP" sz="2000" b="1" i="1">
                              <a:solidFill>
                                <a:srgbClr val="C00000"/>
                              </a:solidFill>
                              <a:latin typeface="Cambria Math" panose="02040503050406030204" pitchFamily="18" charset="0"/>
                            </a:rPr>
                            <m:t>𝜶</m:t>
                          </m:r>
                        </m:e>
                        <m:sub>
                          <m:r>
                            <a:rPr lang="en-NZ" altLang="ja-JP" sz="2000" b="1" i="1">
                              <a:solidFill>
                                <a:srgbClr val="C00000"/>
                              </a:solidFill>
                              <a:latin typeface="Cambria Math" panose="02040503050406030204" pitchFamily="18" charset="0"/>
                            </a:rPr>
                            <m:t>𝒊</m:t>
                          </m:r>
                        </m:sub>
                      </m:sSub>
                      <m:r>
                        <a:rPr lang="en-NZ" altLang="ja-JP" sz="2000" b="1" i="1">
                          <a:solidFill>
                            <a:srgbClr val="C00000"/>
                          </a:solidFill>
                          <a:latin typeface="Cambria Math" panose="02040503050406030204" pitchFamily="18" charset="0"/>
                        </a:rPr>
                        <m:t>  +   </m:t>
                      </m:r>
                      <m:sSub>
                        <m:sSubPr>
                          <m:ctrlPr>
                            <a:rPr lang="en-NZ" altLang="ja-JP" sz="2000" b="1" i="1">
                              <a:solidFill>
                                <a:srgbClr val="C00000"/>
                              </a:solidFill>
                              <a:latin typeface="Cambria Math" panose="02040503050406030204" pitchFamily="18" charset="0"/>
                            </a:rPr>
                          </m:ctrlPr>
                        </m:sSubPr>
                        <m:e>
                          <m:r>
                            <a:rPr lang="en-NZ" altLang="ja-JP" sz="2000" b="1" i="1">
                              <a:solidFill>
                                <a:srgbClr val="C00000"/>
                              </a:solidFill>
                              <a:latin typeface="Cambria Math" panose="02040503050406030204" pitchFamily="18" charset="0"/>
                            </a:rPr>
                            <m:t>𝜷</m:t>
                          </m:r>
                        </m:e>
                        <m:sub>
                          <m:r>
                            <a:rPr lang="en-NZ" altLang="ja-JP" sz="2000" b="1" i="1">
                              <a:solidFill>
                                <a:srgbClr val="C00000"/>
                              </a:solidFill>
                              <a:latin typeface="Cambria Math" panose="02040503050406030204" pitchFamily="18" charset="0"/>
                            </a:rPr>
                            <m:t>𝒋</m:t>
                          </m:r>
                        </m:sub>
                      </m:sSub>
                      <m:r>
                        <a:rPr lang="en-NZ" altLang="ja-JP" sz="2000" b="1" i="1">
                          <a:solidFill>
                            <a:srgbClr val="C00000"/>
                          </a:solidFill>
                          <a:latin typeface="Cambria Math" panose="02040503050406030204" pitchFamily="18" charset="0"/>
                        </a:rPr>
                        <m:t>  +   </m:t>
                      </m:r>
                      <m:sSub>
                        <m:sSubPr>
                          <m:ctrlPr>
                            <a:rPr lang="en-NZ" altLang="ja-JP" sz="2000" b="1" i="1">
                              <a:solidFill>
                                <a:srgbClr val="C00000"/>
                              </a:solidFill>
                              <a:latin typeface="Cambria Math" panose="02040503050406030204" pitchFamily="18" charset="0"/>
                            </a:rPr>
                          </m:ctrlPr>
                        </m:sSubPr>
                        <m:e>
                          <m:r>
                            <a:rPr lang="en-NZ" altLang="ja-JP" sz="2000" b="1" i="1">
                              <a:solidFill>
                                <a:srgbClr val="C00000"/>
                              </a:solidFill>
                              <a:latin typeface="Cambria Math" panose="02040503050406030204" pitchFamily="18" charset="0"/>
                            </a:rPr>
                            <m:t>𝝐</m:t>
                          </m:r>
                        </m:e>
                        <m:sub>
                          <m:r>
                            <a:rPr lang="en-NZ" altLang="ja-JP" sz="2000" b="1" i="1">
                              <a:solidFill>
                                <a:srgbClr val="C00000"/>
                              </a:solidFill>
                              <a:latin typeface="Cambria Math" panose="02040503050406030204" pitchFamily="18" charset="0"/>
                            </a:rPr>
                            <m:t>𝒊𝒋𝒌</m:t>
                          </m:r>
                        </m:sub>
                      </m:sSub>
                    </m:oMath>
                  </m:oMathPara>
                </a14:m>
                <a:endPar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7" name="Text Placeholder 5">
                <a:extLst>
                  <a:ext uri="{FF2B5EF4-FFF2-40B4-BE49-F238E27FC236}">
                    <a16:creationId xmlns:a16="http://schemas.microsoft.com/office/drawing/2014/main" id="{0147D05C-3746-46B2-96A4-6929D39D5E9E}"/>
                  </a:ext>
                </a:extLst>
              </p:cNvPr>
              <p:cNvSpPr txBox="1">
                <a:spLocks noRot="1" noChangeAspect="1" noMove="1" noResize="1" noEditPoints="1" noAdjustHandles="1" noChangeArrowheads="1" noChangeShapeType="1" noTextEdit="1"/>
              </p:cNvSpPr>
              <p:nvPr/>
            </p:nvSpPr>
            <p:spPr>
              <a:xfrm>
                <a:off x="2097204" y="1087900"/>
                <a:ext cx="7997592" cy="474953"/>
              </a:xfrm>
              <a:prstGeom prst="rect">
                <a:avLst/>
              </a:prstGeom>
              <a:blipFill>
                <a:blip r:embed="rId3"/>
                <a:stretch>
                  <a:fillRect b="-1282"/>
                </a:stretch>
              </a:blipFill>
            </p:spPr>
            <p:txBody>
              <a:bodyPr/>
              <a:lstStyle/>
              <a:p>
                <a:r>
                  <a:rPr lang="en-NZ">
                    <a:noFill/>
                  </a:rPr>
                  <a:t> </a:t>
                </a:r>
              </a:p>
            </p:txBody>
          </p:sp>
        </mc:Fallback>
      </mc:AlternateContent>
      <p:sp>
        <p:nvSpPr>
          <p:cNvPr id="22" name="Slide Number Placeholder 3">
            <a:extLst>
              <a:ext uri="{FF2B5EF4-FFF2-40B4-BE49-F238E27FC236}">
                <a16:creationId xmlns:a16="http://schemas.microsoft.com/office/drawing/2014/main" id="{2A4E77AE-A8F4-4CFE-A7E4-1FE18F612B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cxnSp>
        <p:nvCxnSpPr>
          <p:cNvPr id="3" name="Straight Connector 2">
            <a:extLst>
              <a:ext uri="{FF2B5EF4-FFF2-40B4-BE49-F238E27FC236}">
                <a16:creationId xmlns:a16="http://schemas.microsoft.com/office/drawing/2014/main" id="{3C6821EE-A317-E049-8E5E-F4D8A0FCFDA0}"/>
              </a:ext>
            </a:extLst>
          </p:cNvPr>
          <p:cNvCxnSpPr>
            <a:cxnSpLocks/>
          </p:cNvCxnSpPr>
          <p:nvPr/>
        </p:nvCxnSpPr>
        <p:spPr>
          <a:xfrm>
            <a:off x="1114568" y="4094329"/>
            <a:ext cx="99628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D433551E-78AB-B4D3-763A-BC455D1D8B1A}"/>
              </a:ext>
            </a:extLst>
          </p:cNvPr>
          <p:cNvSpPr/>
          <p:nvPr/>
        </p:nvSpPr>
        <p:spPr>
          <a:xfrm>
            <a:off x="1448938" y="3928602"/>
            <a:ext cx="286603" cy="2866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Oval 19">
            <a:extLst>
              <a:ext uri="{FF2B5EF4-FFF2-40B4-BE49-F238E27FC236}">
                <a16:creationId xmlns:a16="http://schemas.microsoft.com/office/drawing/2014/main" id="{76C023CB-14E6-4370-A9FD-6461C4CDB7E5}"/>
              </a:ext>
            </a:extLst>
          </p:cNvPr>
          <p:cNvSpPr/>
          <p:nvPr/>
        </p:nvSpPr>
        <p:spPr>
          <a:xfrm>
            <a:off x="5329449" y="3928601"/>
            <a:ext cx="286603" cy="2866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6" name="Straight Arrow Connector 5">
            <a:extLst>
              <a:ext uri="{FF2B5EF4-FFF2-40B4-BE49-F238E27FC236}">
                <a16:creationId xmlns:a16="http://schemas.microsoft.com/office/drawing/2014/main" id="{BD7B6A4F-569D-955C-161B-7196F86CE059}"/>
              </a:ext>
            </a:extLst>
          </p:cNvPr>
          <p:cNvCxnSpPr>
            <a:cxnSpLocks/>
          </p:cNvCxnSpPr>
          <p:nvPr/>
        </p:nvCxnSpPr>
        <p:spPr>
          <a:xfrm>
            <a:off x="1855313" y="4442242"/>
            <a:ext cx="3617438" cy="49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 Placeholder 5">
                <a:extLst>
                  <a:ext uri="{FF2B5EF4-FFF2-40B4-BE49-F238E27FC236}">
                    <a16:creationId xmlns:a16="http://schemas.microsoft.com/office/drawing/2014/main" id="{0DEF057B-7393-208D-3722-9C1B2D677044}"/>
                  </a:ext>
                </a:extLst>
              </p:cNvPr>
              <p:cNvSpPr txBox="1">
                <a:spLocks/>
              </p:cNvSpPr>
              <p:nvPr/>
            </p:nvSpPr>
            <p:spPr>
              <a:xfrm>
                <a:off x="1349775" y="4226778"/>
                <a:ext cx="543636"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oMath>
                  </m:oMathPara>
                </a14:m>
                <a:endPar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5" name="Text Placeholder 5">
                <a:extLst>
                  <a:ext uri="{FF2B5EF4-FFF2-40B4-BE49-F238E27FC236}">
                    <a16:creationId xmlns:a16="http://schemas.microsoft.com/office/drawing/2014/main" id="{0DEF057B-7393-208D-3722-9C1B2D677044}"/>
                  </a:ext>
                </a:extLst>
              </p:cNvPr>
              <p:cNvSpPr txBox="1">
                <a:spLocks noRot="1" noChangeAspect="1" noMove="1" noResize="1" noEditPoints="1" noAdjustHandles="1" noChangeArrowheads="1" noChangeShapeType="1" noTextEdit="1"/>
              </p:cNvSpPr>
              <p:nvPr/>
            </p:nvSpPr>
            <p:spPr>
              <a:xfrm>
                <a:off x="1349775" y="4226778"/>
                <a:ext cx="543636" cy="474953"/>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6" name="Text Placeholder 5">
                <a:extLst>
                  <a:ext uri="{FF2B5EF4-FFF2-40B4-BE49-F238E27FC236}">
                    <a16:creationId xmlns:a16="http://schemas.microsoft.com/office/drawing/2014/main" id="{75F3BB90-89BC-5219-0CD7-2C7B4D97A5F2}"/>
                  </a:ext>
                </a:extLst>
              </p:cNvPr>
              <p:cNvSpPr txBox="1">
                <a:spLocks/>
              </p:cNvSpPr>
              <p:nvPr/>
            </p:nvSpPr>
            <p:spPr>
              <a:xfrm>
                <a:off x="4981430" y="4548917"/>
                <a:ext cx="982639" cy="45378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
                    </m:oMathParaPr>
                    <m:oMath xmlns:m="http://schemas.openxmlformats.org/officeDocument/2006/math">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r>
                        <a:rPr kumimoji="1" lang="en-NZ" altLang="ja-JP" sz="2000" b="1" i="0"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oMath>
                  </m:oMathPara>
                </a14:m>
                <a:br>
                  <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br>
                <a:endPar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6" name="Text Placeholder 5">
                <a:extLst>
                  <a:ext uri="{FF2B5EF4-FFF2-40B4-BE49-F238E27FC236}">
                    <a16:creationId xmlns:a16="http://schemas.microsoft.com/office/drawing/2014/main" id="{75F3BB90-89BC-5219-0CD7-2C7B4D97A5F2}"/>
                  </a:ext>
                </a:extLst>
              </p:cNvPr>
              <p:cNvSpPr txBox="1">
                <a:spLocks noRot="1" noChangeAspect="1" noMove="1" noResize="1" noEditPoints="1" noAdjustHandles="1" noChangeArrowheads="1" noChangeShapeType="1" noTextEdit="1"/>
              </p:cNvSpPr>
              <p:nvPr/>
            </p:nvSpPr>
            <p:spPr>
              <a:xfrm>
                <a:off x="4981430" y="4548917"/>
                <a:ext cx="982639" cy="453788"/>
              </a:xfrm>
              <a:prstGeom prst="rect">
                <a:avLst/>
              </a:prstGeom>
              <a:blipFill>
                <a:blip r:embed="rId5"/>
                <a:stretch>
                  <a:fillRect/>
                </a:stretch>
              </a:blipFill>
            </p:spPr>
            <p:txBody>
              <a:bodyPr/>
              <a:lstStyle/>
              <a:p>
                <a:r>
                  <a:rPr lang="en-NZ">
                    <a:noFill/>
                  </a:rPr>
                  <a:t> </a:t>
                </a:r>
              </a:p>
            </p:txBody>
          </p:sp>
        </mc:Fallback>
      </mc:AlternateContent>
      <p:cxnSp>
        <p:nvCxnSpPr>
          <p:cNvPr id="30" name="Straight Connector 29">
            <a:extLst>
              <a:ext uri="{FF2B5EF4-FFF2-40B4-BE49-F238E27FC236}">
                <a16:creationId xmlns:a16="http://schemas.microsoft.com/office/drawing/2014/main" id="{C936937E-8A93-790E-5B50-ECA6F9CB0A9B}"/>
              </a:ext>
            </a:extLst>
          </p:cNvPr>
          <p:cNvCxnSpPr/>
          <p:nvPr/>
        </p:nvCxnSpPr>
        <p:spPr>
          <a:xfrm>
            <a:off x="8611737" y="3698542"/>
            <a:ext cx="0" cy="395786"/>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Text Placeholder 5">
                <a:extLst>
                  <a:ext uri="{FF2B5EF4-FFF2-40B4-BE49-F238E27FC236}">
                    <a16:creationId xmlns:a16="http://schemas.microsoft.com/office/drawing/2014/main" id="{92C82E0C-54B1-0B11-6DBB-35C60C58F3D2}"/>
                  </a:ext>
                </a:extLst>
              </p:cNvPr>
              <p:cNvSpPr txBox="1">
                <a:spLocks/>
              </p:cNvSpPr>
              <p:nvPr/>
            </p:nvSpPr>
            <p:spPr>
              <a:xfrm>
                <a:off x="8442399" y="3277060"/>
                <a:ext cx="982639" cy="45378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
                    </m:oMathParaPr>
                    <m:oMath xmlns:m="http://schemas.openxmlformats.org/officeDocument/2006/math">
                      <m:sSub>
                        <m:sSubPr>
                          <m:ctrlPr>
                            <a:rPr kumimoji="1" lang="en-NZ" altLang="ja-JP" sz="2000" b="1" i="1" u="none" strike="noStrike" kern="1200" cap="none" spc="0" normalizeH="0" baseline="0" noProof="0" smtClean="0">
                              <a:ln>
                                <a:noFill/>
                              </a:ln>
                              <a:solidFill>
                                <a:srgbClr val="0070C0"/>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𝒀</m:t>
                          </m:r>
                        </m:e>
                        <m:sub>
                          <m:r>
                            <a:rPr kumimoji="1" lang="en-NZ" altLang="ja-JP" sz="20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𝒊𝒋𝒌</m:t>
                          </m:r>
                        </m:sub>
                      </m:sSub>
                    </m:oMath>
                  </m:oMathPara>
                </a14:m>
                <a:endPar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31" name="Text Placeholder 5">
                <a:extLst>
                  <a:ext uri="{FF2B5EF4-FFF2-40B4-BE49-F238E27FC236}">
                    <a16:creationId xmlns:a16="http://schemas.microsoft.com/office/drawing/2014/main" id="{92C82E0C-54B1-0B11-6DBB-35C60C58F3D2}"/>
                  </a:ext>
                </a:extLst>
              </p:cNvPr>
              <p:cNvSpPr txBox="1">
                <a:spLocks noRot="1" noChangeAspect="1" noMove="1" noResize="1" noEditPoints="1" noAdjustHandles="1" noChangeArrowheads="1" noChangeShapeType="1" noTextEdit="1"/>
              </p:cNvSpPr>
              <p:nvPr/>
            </p:nvSpPr>
            <p:spPr>
              <a:xfrm>
                <a:off x="8442399" y="3277060"/>
                <a:ext cx="982639" cy="453789"/>
              </a:xfrm>
              <a:prstGeom prst="rect">
                <a:avLst/>
              </a:prstGeom>
              <a:blipFill>
                <a:blip r:embed="rId6"/>
                <a:stretch>
                  <a:fillRect b="-6757"/>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2" name="Text Placeholder 5">
                <a:extLst>
                  <a:ext uri="{FF2B5EF4-FFF2-40B4-BE49-F238E27FC236}">
                    <a16:creationId xmlns:a16="http://schemas.microsoft.com/office/drawing/2014/main" id="{F2858A14-69D9-BAE8-A179-A6351391BD07}"/>
                  </a:ext>
                </a:extLst>
              </p:cNvPr>
              <p:cNvSpPr txBox="1">
                <a:spLocks/>
              </p:cNvSpPr>
              <p:nvPr/>
            </p:nvSpPr>
            <p:spPr>
              <a:xfrm>
                <a:off x="570010" y="1779107"/>
                <a:ext cx="3305954" cy="45378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0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Consider modelling </a:t>
                </a:r>
                <a14:m>
                  <m:oMath xmlns:m="http://schemas.openxmlformats.org/officeDocument/2006/math">
                    <m:sSub>
                      <m:sSubPr>
                        <m:ctrlPr>
                          <a:rPr kumimoji="1" lang="en-NZ" altLang="ja-JP" sz="2000" b="1" i="1" u="none" strike="noStrike" kern="1200" cap="none" spc="0" normalizeH="0" baseline="0" noProof="0" smtClean="0">
                            <a:ln>
                              <a:noFill/>
                            </a:ln>
                            <a:solidFill>
                              <a:srgbClr val="0070C0"/>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𝒀</m:t>
                        </m:r>
                      </m:e>
                      <m:sub>
                        <m:r>
                          <a:rPr kumimoji="1" lang="en-NZ" altLang="ja-JP" sz="20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𝒊𝒋𝒌</m:t>
                        </m:r>
                      </m:sub>
                    </m:sSub>
                  </m:oMath>
                </a14:m>
                <a:endPar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32" name="Text Placeholder 5">
                <a:extLst>
                  <a:ext uri="{FF2B5EF4-FFF2-40B4-BE49-F238E27FC236}">
                    <a16:creationId xmlns:a16="http://schemas.microsoft.com/office/drawing/2014/main" id="{F2858A14-69D9-BAE8-A179-A6351391BD07}"/>
                  </a:ext>
                </a:extLst>
              </p:cNvPr>
              <p:cNvSpPr txBox="1">
                <a:spLocks noRot="1" noChangeAspect="1" noMove="1" noResize="1" noEditPoints="1" noAdjustHandles="1" noChangeArrowheads="1" noChangeShapeType="1" noTextEdit="1"/>
              </p:cNvSpPr>
              <p:nvPr/>
            </p:nvSpPr>
            <p:spPr>
              <a:xfrm>
                <a:off x="570010" y="1779107"/>
                <a:ext cx="3305954" cy="453789"/>
              </a:xfrm>
              <a:prstGeom prst="rect">
                <a:avLst/>
              </a:prstGeom>
              <a:blipFill>
                <a:blip r:embed="rId7"/>
                <a:stretch>
                  <a:fillRect t="-6757" b="-13514"/>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3" name="Text Placeholder 5">
                <a:extLst>
                  <a:ext uri="{FF2B5EF4-FFF2-40B4-BE49-F238E27FC236}">
                    <a16:creationId xmlns:a16="http://schemas.microsoft.com/office/drawing/2014/main" id="{9C6DFD2C-B76D-C299-2F43-2D11D0E8B0B7}"/>
                  </a:ext>
                </a:extLst>
              </p:cNvPr>
              <p:cNvSpPr txBox="1">
                <a:spLocks/>
              </p:cNvSpPr>
              <p:nvPr/>
            </p:nvSpPr>
            <p:spPr>
              <a:xfrm>
                <a:off x="2966005" y="4051726"/>
                <a:ext cx="1132980" cy="53864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
                    </m:oMathParaPr>
                    <m:oMath xmlns:m="http://schemas.openxmlformats.org/officeDocument/2006/math">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&gt;</m:t>
                      </m:r>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oMath>
                  </m:oMathPara>
                </a14:m>
                <a:br>
                  <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br>
                <a:endParaRPr kumimoji="1" lang="en-NZ" altLang="ja-JP" sz="20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33" name="Text Placeholder 5">
                <a:extLst>
                  <a:ext uri="{FF2B5EF4-FFF2-40B4-BE49-F238E27FC236}">
                    <a16:creationId xmlns:a16="http://schemas.microsoft.com/office/drawing/2014/main" id="{9C6DFD2C-B76D-C299-2F43-2D11D0E8B0B7}"/>
                  </a:ext>
                </a:extLst>
              </p:cNvPr>
              <p:cNvSpPr txBox="1">
                <a:spLocks noRot="1" noChangeAspect="1" noMove="1" noResize="1" noEditPoints="1" noAdjustHandles="1" noChangeArrowheads="1" noChangeShapeType="1" noTextEdit="1"/>
              </p:cNvSpPr>
              <p:nvPr/>
            </p:nvSpPr>
            <p:spPr>
              <a:xfrm>
                <a:off x="2966005" y="4051726"/>
                <a:ext cx="1132980" cy="538640"/>
              </a:xfrm>
              <a:prstGeom prst="rect">
                <a:avLst/>
              </a:prstGeom>
              <a:blipFill>
                <a:blip r:embed="rId8"/>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4" name="Text Placeholder 5">
                <a:extLst>
                  <a:ext uri="{FF2B5EF4-FFF2-40B4-BE49-F238E27FC236}">
                    <a16:creationId xmlns:a16="http://schemas.microsoft.com/office/drawing/2014/main" id="{155E40BF-1FA8-F397-5D66-F3A695A87018}"/>
                  </a:ext>
                </a:extLst>
              </p:cNvPr>
              <p:cNvSpPr txBox="1">
                <a:spLocks/>
              </p:cNvSpPr>
              <p:nvPr/>
            </p:nvSpPr>
            <p:spPr>
              <a:xfrm>
                <a:off x="7484488" y="4862060"/>
                <a:ext cx="982639" cy="108477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
                    </m:oMathParaPr>
                    <m:oMath xmlns:m="http://schemas.openxmlformats.org/officeDocument/2006/math">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m:oMathPara>
                </a14:m>
                <a:endPar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𝒊𝒋</m:t>
                          </m:r>
                        </m:sub>
                      </m:sSub>
                    </m:oMath>
                  </m:oMathPara>
                </a14:m>
                <a:endPar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34" name="Text Placeholder 5">
                <a:extLst>
                  <a:ext uri="{FF2B5EF4-FFF2-40B4-BE49-F238E27FC236}">
                    <a16:creationId xmlns:a16="http://schemas.microsoft.com/office/drawing/2014/main" id="{155E40BF-1FA8-F397-5D66-F3A695A87018}"/>
                  </a:ext>
                </a:extLst>
              </p:cNvPr>
              <p:cNvSpPr txBox="1">
                <a:spLocks noRot="1" noChangeAspect="1" noMove="1" noResize="1" noEditPoints="1" noAdjustHandles="1" noChangeArrowheads="1" noChangeShapeType="1" noTextEdit="1"/>
              </p:cNvSpPr>
              <p:nvPr/>
            </p:nvSpPr>
            <p:spPr>
              <a:xfrm>
                <a:off x="7484488" y="4862060"/>
                <a:ext cx="982639" cy="1084773"/>
              </a:xfrm>
              <a:prstGeom prst="rect">
                <a:avLst/>
              </a:prstGeom>
              <a:blipFill>
                <a:blip r:embed="rId9"/>
                <a:stretch>
                  <a:fillRect/>
                </a:stretch>
              </a:blipFill>
            </p:spPr>
            <p:txBody>
              <a:bodyPr/>
              <a:lstStyle/>
              <a:p>
                <a:r>
                  <a:rPr lang="en-NZ">
                    <a:noFill/>
                  </a:rPr>
                  <a:t> </a:t>
                </a:r>
              </a:p>
            </p:txBody>
          </p:sp>
        </mc:Fallback>
      </mc:AlternateContent>
      <p:sp>
        <p:nvSpPr>
          <p:cNvPr id="40" name="Oval 39">
            <a:extLst>
              <a:ext uri="{FF2B5EF4-FFF2-40B4-BE49-F238E27FC236}">
                <a16:creationId xmlns:a16="http://schemas.microsoft.com/office/drawing/2014/main" id="{ADCC2713-9204-9B91-B72C-C6D54FDE039E}"/>
              </a:ext>
            </a:extLst>
          </p:cNvPr>
          <p:cNvSpPr/>
          <p:nvPr/>
        </p:nvSpPr>
        <p:spPr>
          <a:xfrm>
            <a:off x="7679920" y="3951027"/>
            <a:ext cx="286603" cy="2866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1" name="Straight Arrow Connector 40">
            <a:extLst>
              <a:ext uri="{FF2B5EF4-FFF2-40B4-BE49-F238E27FC236}">
                <a16:creationId xmlns:a16="http://schemas.microsoft.com/office/drawing/2014/main" id="{4B722334-A6D1-4852-0FDA-98A86449C6C7}"/>
              </a:ext>
            </a:extLst>
          </p:cNvPr>
          <p:cNvCxnSpPr>
            <a:cxnSpLocks/>
          </p:cNvCxnSpPr>
          <p:nvPr/>
        </p:nvCxnSpPr>
        <p:spPr>
          <a:xfrm flipV="1">
            <a:off x="5748462" y="4442242"/>
            <a:ext cx="2074759" cy="22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Text Placeholder 5">
                <a:extLst>
                  <a:ext uri="{FF2B5EF4-FFF2-40B4-BE49-F238E27FC236}">
                    <a16:creationId xmlns:a16="http://schemas.microsoft.com/office/drawing/2014/main" id="{E07A7642-ECE1-D373-441E-D8B9510C36BC}"/>
                  </a:ext>
                </a:extLst>
              </p:cNvPr>
              <p:cNvSpPr txBox="1">
                <a:spLocks/>
              </p:cNvSpPr>
              <p:nvPr/>
            </p:nvSpPr>
            <p:spPr>
              <a:xfrm>
                <a:off x="6146042" y="4051726"/>
                <a:ext cx="1132980" cy="53864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
                    </m:oMathParaPr>
                    <m:oMath xmlns:m="http://schemas.openxmlformats.org/officeDocument/2006/math">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𝜷</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&gt;</m:t>
                      </m:r>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oMath>
                  </m:oMathPara>
                </a14:m>
                <a:br>
                  <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br>
                <a:endParaRPr kumimoji="1" lang="en-NZ" altLang="ja-JP" sz="20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42" name="Text Placeholder 5">
                <a:extLst>
                  <a:ext uri="{FF2B5EF4-FFF2-40B4-BE49-F238E27FC236}">
                    <a16:creationId xmlns:a16="http://schemas.microsoft.com/office/drawing/2014/main" id="{E07A7642-ECE1-D373-441E-D8B9510C36BC}"/>
                  </a:ext>
                </a:extLst>
              </p:cNvPr>
              <p:cNvSpPr txBox="1">
                <a:spLocks noRot="1" noChangeAspect="1" noMove="1" noResize="1" noEditPoints="1" noAdjustHandles="1" noChangeArrowheads="1" noChangeShapeType="1" noTextEdit="1"/>
              </p:cNvSpPr>
              <p:nvPr/>
            </p:nvSpPr>
            <p:spPr>
              <a:xfrm>
                <a:off x="6146042" y="4051726"/>
                <a:ext cx="1132980" cy="538640"/>
              </a:xfrm>
              <a:prstGeom prst="rect">
                <a:avLst/>
              </a:prstGeom>
              <a:blipFill>
                <a:blip r:embed="rId10"/>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47" name="Text Placeholder 5">
                <a:extLst>
                  <a:ext uri="{FF2B5EF4-FFF2-40B4-BE49-F238E27FC236}">
                    <a16:creationId xmlns:a16="http://schemas.microsoft.com/office/drawing/2014/main" id="{B17BB661-69C0-600C-BF7B-39620CA75921}"/>
                  </a:ext>
                </a:extLst>
              </p:cNvPr>
              <p:cNvSpPr txBox="1">
                <a:spLocks/>
              </p:cNvSpPr>
              <p:nvPr/>
            </p:nvSpPr>
            <p:spPr>
              <a:xfrm>
                <a:off x="7176107" y="4457810"/>
                <a:ext cx="1599402" cy="45378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
                    </m:oMathParaPr>
                    <m:oMath xmlns:m="http://schemas.openxmlformats.org/officeDocument/2006/math">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r>
                        <a:rPr kumimoji="1" lang="en-NZ" altLang="ja-JP" sz="2000" b="1" i="0"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𝜷</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sub>
                      </m:sSub>
                    </m:oMath>
                  </m:oMathPara>
                </a14:m>
                <a:endPar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47" name="Text Placeholder 5">
                <a:extLst>
                  <a:ext uri="{FF2B5EF4-FFF2-40B4-BE49-F238E27FC236}">
                    <a16:creationId xmlns:a16="http://schemas.microsoft.com/office/drawing/2014/main" id="{B17BB661-69C0-600C-BF7B-39620CA75921}"/>
                  </a:ext>
                </a:extLst>
              </p:cNvPr>
              <p:cNvSpPr txBox="1">
                <a:spLocks noRot="1" noChangeAspect="1" noMove="1" noResize="1" noEditPoints="1" noAdjustHandles="1" noChangeArrowheads="1" noChangeShapeType="1" noTextEdit="1"/>
              </p:cNvSpPr>
              <p:nvPr/>
            </p:nvSpPr>
            <p:spPr>
              <a:xfrm>
                <a:off x="7176107" y="4457810"/>
                <a:ext cx="1599402" cy="453788"/>
              </a:xfrm>
              <a:prstGeom prst="rect">
                <a:avLst/>
              </a:prstGeom>
              <a:blipFill>
                <a:blip r:embed="rId11"/>
                <a:stretch>
                  <a:fillRect b="-4000"/>
                </a:stretch>
              </a:blipFill>
            </p:spPr>
            <p:txBody>
              <a:bodyPr/>
              <a:lstStyle/>
              <a:p>
                <a:r>
                  <a:rPr lang="en-NZ">
                    <a:noFill/>
                  </a:rPr>
                  <a:t> </a:t>
                </a:r>
              </a:p>
            </p:txBody>
          </p:sp>
        </mc:Fallback>
      </mc:AlternateContent>
      <p:sp>
        <p:nvSpPr>
          <p:cNvPr id="27" name="Title 6">
            <a:extLst>
              <a:ext uri="{FF2B5EF4-FFF2-40B4-BE49-F238E27FC236}">
                <a16:creationId xmlns:a16="http://schemas.microsoft.com/office/drawing/2014/main" id="{C7904528-79C6-93C1-E877-A076554A74A9}"/>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4.3a – The Fixed Effects Model</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28" name="Footer Placeholder 2">
            <a:extLst>
              <a:ext uri="{FF2B5EF4-FFF2-40B4-BE49-F238E27FC236}">
                <a16:creationId xmlns:a16="http://schemas.microsoft.com/office/drawing/2014/main" id="{B382604D-CAAA-E2E0-FA1A-6BE94E5F3BC8}"/>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4.3 – </a:t>
            </a:r>
            <a:r>
              <a:rPr kumimoji="1" lang="en-US" altLang="ja-JP" sz="1600" dirty="0">
                <a:solidFill>
                  <a:srgbClr val="DEDDDD"/>
                </a:solidFill>
                <a:latin typeface="Gidole"/>
                <a:ea typeface="游ゴシック" panose="020B0400000000000000" pitchFamily="34" charset="-128"/>
              </a:rPr>
              <a:t>Fixed Effects Model</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1821858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6" grpId="0"/>
      <p:bldP spid="31" grpId="0"/>
      <p:bldP spid="33" grpId="0"/>
      <p:bldP spid="34" grpId="0"/>
      <p:bldP spid="40" grpId="0" animBg="1"/>
      <p:bldP spid="42" grpId="0"/>
      <p:bldP spid="4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7" name="Title 6">
            <a:extLst>
              <a:ext uri="{FF2B5EF4-FFF2-40B4-BE49-F238E27FC236}">
                <a16:creationId xmlns:a16="http://schemas.microsoft.com/office/drawing/2014/main" id="{4ACB7FAA-E9E1-4274-A8D0-489528A3C0F6}"/>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4.3a </a:t>
            </a:r>
            <a:r>
              <a:rPr lang="en-US" altLang="ja-JP" b="1" u="sng">
                <a:solidFill>
                  <a:prstClr val="black"/>
                </a:solidFill>
                <a:latin typeface="Calibri" panose="020F0502020204030204"/>
                <a:ea typeface="游ゴシック Light" panose="020B0300000000000000" pitchFamily="34" charset="-128"/>
              </a:rPr>
              <a:t>– The Fixed Effects Model</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1" name="Text Placeholder 5">
            <a:extLst>
              <a:ext uri="{FF2B5EF4-FFF2-40B4-BE49-F238E27FC236}">
                <a16:creationId xmlns:a16="http://schemas.microsoft.com/office/drawing/2014/main" id="{679607A7-05BF-41B9-B50A-7352824E974B}"/>
              </a:ext>
            </a:extLst>
          </p:cNvPr>
          <p:cNvSpPr txBox="1">
            <a:spLocks/>
          </p:cNvSpPr>
          <p:nvPr/>
        </p:nvSpPr>
        <p:spPr>
          <a:xfrm>
            <a:off x="312362" y="933016"/>
            <a:ext cx="11777003"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prstClr val="black"/>
                </a:solidFill>
                <a:latin typeface="Calibri" panose="020F0502020204030204"/>
                <a:ea typeface="游ゴシック" panose="020B0400000000000000" pitchFamily="34" charset="-128"/>
              </a:rPr>
              <a:t>We take a balanced sample of </a:t>
            </a:r>
            <a:r>
              <a:rPr lang="en-NZ" altLang="ja-JP" sz="1800" b="1" i="1" dirty="0">
                <a:solidFill>
                  <a:prstClr val="black"/>
                </a:solidFill>
                <a:latin typeface="Calibri" panose="020F0502020204030204"/>
                <a:ea typeface="游ゴシック" panose="020B0400000000000000" pitchFamily="34" charset="-128"/>
              </a:rPr>
              <a:t>N</a:t>
            </a:r>
            <a:r>
              <a:rPr lang="en-NZ" altLang="ja-JP" sz="1800" dirty="0">
                <a:solidFill>
                  <a:prstClr val="black"/>
                </a:solidFill>
                <a:latin typeface="Calibri" panose="020F0502020204030204"/>
                <a:ea typeface="游ゴシック" panose="020B0400000000000000" pitchFamily="34" charset="-128"/>
              </a:rPr>
              <a:t> observations (</a:t>
            </a:r>
            <a:r>
              <a:rPr lang="en-NZ" altLang="ja-JP" sz="1800" b="1" i="1" dirty="0">
                <a:solidFill>
                  <a:prstClr val="black"/>
                </a:solidFill>
                <a:latin typeface="Calibri" panose="020F0502020204030204"/>
                <a:ea typeface="游ゴシック" panose="020B0400000000000000" pitchFamily="34" charset="-128"/>
              </a:rPr>
              <a:t>n</a:t>
            </a:r>
            <a:r>
              <a:rPr lang="en-NZ" altLang="ja-JP" sz="1800" dirty="0">
                <a:solidFill>
                  <a:prstClr val="black"/>
                </a:solidFill>
                <a:latin typeface="Calibri" panose="020F0502020204030204"/>
                <a:ea typeface="游ゴシック" panose="020B0400000000000000" pitchFamily="34" charset="-128"/>
              </a:rPr>
              <a:t> in each cell) and express this in a two-way table</a:t>
            </a: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graphicFrame>
            <p:nvGraphicFramePr>
              <p:cNvPr id="21" name="Table 20">
                <a:extLst>
                  <a:ext uri="{FF2B5EF4-FFF2-40B4-BE49-F238E27FC236}">
                    <a16:creationId xmlns:a16="http://schemas.microsoft.com/office/drawing/2014/main" id="{CA822DCA-7FEB-4272-9F26-BFC4DD0306EE}"/>
                  </a:ext>
                </a:extLst>
              </p:cNvPr>
              <p:cNvGraphicFramePr>
                <a:graphicFrameLocks noGrp="1"/>
              </p:cNvGraphicFramePr>
              <p:nvPr/>
            </p:nvGraphicFramePr>
            <p:xfrm>
              <a:off x="870872" y="1691911"/>
              <a:ext cx="5547304" cy="2212383"/>
            </p:xfrm>
            <a:graphic>
              <a:graphicData uri="http://schemas.openxmlformats.org/drawingml/2006/table">
                <a:tbl>
                  <a:tblPr firstRow="1" firstCol="1" bandRow="1">
                    <a:tableStyleId>{5C22544A-7EE6-4342-B048-85BDC9FD1C3A}</a:tableStyleId>
                  </a:tblPr>
                  <a:tblGrid>
                    <a:gridCol w="828851">
                      <a:extLst>
                        <a:ext uri="{9D8B030D-6E8A-4147-A177-3AD203B41FA5}">
                          <a16:colId xmlns:a16="http://schemas.microsoft.com/office/drawing/2014/main" val="3074826136"/>
                        </a:ext>
                      </a:extLst>
                    </a:gridCol>
                    <a:gridCol w="1071614">
                      <a:extLst>
                        <a:ext uri="{9D8B030D-6E8A-4147-A177-3AD203B41FA5}">
                          <a16:colId xmlns:a16="http://schemas.microsoft.com/office/drawing/2014/main" val="387258914"/>
                        </a:ext>
                      </a:extLst>
                    </a:gridCol>
                    <a:gridCol w="1215613">
                      <a:extLst>
                        <a:ext uri="{9D8B030D-6E8A-4147-A177-3AD203B41FA5}">
                          <a16:colId xmlns:a16="http://schemas.microsoft.com/office/drawing/2014/main" val="2306200820"/>
                        </a:ext>
                      </a:extLst>
                    </a:gridCol>
                    <a:gridCol w="1215613">
                      <a:extLst>
                        <a:ext uri="{9D8B030D-6E8A-4147-A177-3AD203B41FA5}">
                          <a16:colId xmlns:a16="http://schemas.microsoft.com/office/drawing/2014/main" val="650978296"/>
                        </a:ext>
                      </a:extLst>
                    </a:gridCol>
                    <a:gridCol w="1215613">
                      <a:extLst>
                        <a:ext uri="{9D8B030D-6E8A-4147-A177-3AD203B41FA5}">
                          <a16:colId xmlns:a16="http://schemas.microsoft.com/office/drawing/2014/main" val="1102281017"/>
                        </a:ext>
                      </a:extLst>
                    </a:gridCol>
                  </a:tblGrid>
                  <a:tr h="508143">
                    <a:tc>
                      <a:txBody>
                        <a:bodyPr/>
                        <a:lstStyle/>
                        <a:p>
                          <a:pPr>
                            <a:lnSpc>
                              <a:spcPct val="107000"/>
                            </a:lnSpc>
                          </a:pPr>
                          <a:endParaRPr lang="en-NZ" sz="1200" dirty="0">
                            <a:effectLst/>
                            <a:latin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2000" dirty="0">
                              <a:effectLst/>
                            </a:rPr>
                            <a:t>1</a:t>
                          </a:r>
                          <a:endParaRPr lang="en-NZ"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2000" dirty="0">
                              <a:effectLst/>
                            </a:rPr>
                            <a:t>2</a:t>
                          </a:r>
                          <a:endParaRPr lang="en-NZ"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2000" dirty="0">
                              <a:effectLst/>
                            </a:rPr>
                            <a:t>…</a:t>
                          </a:r>
                          <a:endParaRPr lang="en-NZ"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2000" dirty="0">
                              <a:effectLst/>
                              <a:latin typeface="Calibri" panose="020F0502020204030204" pitchFamily="34" charset="0"/>
                              <a:ea typeface="Calibri" panose="020F0502020204030204" pitchFamily="34" charset="0"/>
                              <a:cs typeface="Times New Roman" panose="02020603050405020304" pitchFamily="18" charset="0"/>
                            </a:rPr>
                            <a:t>b</a:t>
                          </a:r>
                        </a:p>
                      </a:txBody>
                      <a:tcPr marL="68580" marR="68580" marT="0" marB="0" anchor="ctr"/>
                    </a:tc>
                    <a:extLst>
                      <a:ext uri="{0D108BD9-81ED-4DB2-BD59-A6C34878D82A}">
                        <a16:rowId xmlns:a16="http://schemas.microsoft.com/office/drawing/2014/main" val="1838439194"/>
                      </a:ext>
                    </a:extLst>
                  </a:tr>
                  <a:tr h="380755">
                    <a:tc>
                      <a:txBody>
                        <a:bodyPr/>
                        <a:lstStyle/>
                        <a:p>
                          <a:pPr algn="ctr">
                            <a:lnSpc>
                              <a:spcPct val="107000"/>
                            </a:lnSpc>
                            <a:spcAft>
                              <a:spcPts val="800"/>
                            </a:spcAft>
                          </a:pPr>
                          <a:r>
                            <a:rPr lang="en-NZ" sz="2000" baseline="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nchor="ct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111</m:t>
                                  </m:r>
                                </m:sub>
                              </m:sSub>
                            </m:oMath>
                          </a14:m>
                          <a:r>
                            <a:rPr lang="en-NZ" sz="1400" dirty="0">
                              <a:effectLst/>
                              <a:latin typeface="Calibri" panose="020F0502020204030204" pitchFamily="34" charset="0"/>
                              <a:ea typeface="Calibri" panose="020F0502020204030204" pitchFamily="34" charset="0"/>
                              <a:cs typeface="Times New Roman" panose="02020603050405020304" pitchFamily="18" charset="0"/>
                            </a:rPr>
                            <a:t> … </a:t>
                          </a: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11</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𝑛</m:t>
                                  </m:r>
                                </m:sub>
                              </m:sSub>
                            </m:oMath>
                          </a14:m>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121</m:t>
                                  </m:r>
                                </m:sub>
                              </m:sSub>
                            </m:oMath>
                          </a14:m>
                          <a:r>
                            <a:rPr lang="en-NZ" sz="1400" dirty="0">
                              <a:effectLst/>
                              <a:latin typeface="Calibri" panose="020F0502020204030204" pitchFamily="34" charset="0"/>
                              <a:ea typeface="Calibri" panose="020F0502020204030204" pitchFamily="34" charset="0"/>
                              <a:cs typeface="Times New Roman" panose="02020603050405020304" pitchFamily="18" charset="0"/>
                            </a:rPr>
                            <a:t> … </a:t>
                          </a: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12</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𝑛</m:t>
                                  </m:r>
                                </m:sub>
                              </m:sSub>
                            </m:oMath>
                          </a14:m>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1400" dirty="0">
                              <a:effectLst/>
                            </a:rPr>
                            <a:t>…</a:t>
                          </a:r>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1</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𝑏</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1</m:t>
                                  </m:r>
                                </m:sub>
                              </m:sSub>
                            </m:oMath>
                          </a14:m>
                          <a:r>
                            <a:rPr lang="en-NZ" sz="1400" dirty="0">
                              <a:effectLst/>
                              <a:latin typeface="Calibri" panose="020F0502020204030204" pitchFamily="34" charset="0"/>
                              <a:ea typeface="Calibri" panose="020F0502020204030204" pitchFamily="34" charset="0"/>
                              <a:cs typeface="Times New Roman" panose="02020603050405020304" pitchFamily="18" charset="0"/>
                            </a:rPr>
                            <a:t> … </a:t>
                          </a: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1</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𝑏𝑛</m:t>
                                  </m:r>
                                </m:sub>
                              </m:sSub>
                            </m:oMath>
                          </a14:m>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572944342"/>
                      </a:ext>
                    </a:extLst>
                  </a:tr>
                  <a:tr h="380755">
                    <a:tc>
                      <a:txBody>
                        <a:bodyPr/>
                        <a:lstStyle/>
                        <a:p>
                          <a:pPr algn="ctr">
                            <a:lnSpc>
                              <a:spcPct val="107000"/>
                            </a:lnSpc>
                            <a:spcAft>
                              <a:spcPts val="800"/>
                            </a:spcAft>
                          </a:pPr>
                          <a:r>
                            <a:rPr lang="en-NZ" sz="2000" baseline="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nchor="ct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211</m:t>
                                  </m:r>
                                </m:sub>
                              </m:sSub>
                            </m:oMath>
                          </a14:m>
                          <a:r>
                            <a:rPr lang="en-NZ" sz="1400" dirty="0">
                              <a:effectLst/>
                              <a:latin typeface="Calibri" panose="020F0502020204030204" pitchFamily="34" charset="0"/>
                              <a:ea typeface="Calibri" panose="020F0502020204030204" pitchFamily="34" charset="0"/>
                              <a:cs typeface="Times New Roman" panose="02020603050405020304" pitchFamily="18" charset="0"/>
                            </a:rPr>
                            <a:t> … </a:t>
                          </a: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21</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𝑛</m:t>
                                  </m:r>
                                </m:sub>
                              </m:sSub>
                            </m:oMath>
                          </a14:m>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221</m:t>
                                  </m:r>
                                </m:sub>
                              </m:sSub>
                            </m:oMath>
                          </a14:m>
                          <a:r>
                            <a:rPr lang="en-NZ" sz="1400" dirty="0">
                              <a:effectLst/>
                              <a:latin typeface="Calibri" panose="020F0502020204030204" pitchFamily="34" charset="0"/>
                              <a:ea typeface="Calibri" panose="020F0502020204030204" pitchFamily="34" charset="0"/>
                              <a:cs typeface="Times New Roman" panose="02020603050405020304" pitchFamily="18" charset="0"/>
                            </a:rPr>
                            <a:t> … </a:t>
                          </a: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22</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𝑛</m:t>
                                  </m:r>
                                </m:sub>
                              </m:sSub>
                            </m:oMath>
                          </a14:m>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1400" dirty="0">
                              <a:effectLst/>
                            </a:rPr>
                            <a:t>…</a:t>
                          </a:r>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2</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𝑏</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1</m:t>
                                  </m:r>
                                </m:sub>
                              </m:sSub>
                            </m:oMath>
                          </a14:m>
                          <a:r>
                            <a:rPr lang="en-NZ" sz="1400" dirty="0">
                              <a:effectLst/>
                              <a:latin typeface="Calibri" panose="020F0502020204030204" pitchFamily="34" charset="0"/>
                              <a:ea typeface="Calibri" panose="020F0502020204030204" pitchFamily="34" charset="0"/>
                              <a:cs typeface="Times New Roman" panose="02020603050405020304" pitchFamily="18" charset="0"/>
                            </a:rPr>
                            <a:t> … </a:t>
                          </a: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2</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𝑏𝑛</m:t>
                                  </m:r>
                                </m:sub>
                              </m:sSub>
                            </m:oMath>
                          </a14:m>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200320227"/>
                      </a:ext>
                    </a:extLst>
                  </a:tr>
                  <a:tr h="380755">
                    <a:tc>
                      <a:txBody>
                        <a:bodyPr/>
                        <a:lstStyle/>
                        <a:p>
                          <a:pPr algn="ctr">
                            <a:lnSpc>
                              <a:spcPct val="107000"/>
                            </a:lnSpc>
                            <a:spcAft>
                              <a:spcPts val="800"/>
                            </a:spcAft>
                          </a:pPr>
                          <a:endParaRPr lang="en-NZ" sz="200" i="1" dirty="0">
                            <a:effectLst/>
                            <a:latin typeface="Cambria Math" panose="02040503050406030204" pitchFamily="18" charset="0"/>
                            <a:ea typeface="Cambria Math" panose="02040503050406030204" pitchFamily="18" charset="0"/>
                            <a:cs typeface="Times New Roman" panose="02020603050405020304" pitchFamily="18" charset="0"/>
                          </a:endParaRPr>
                        </a:p>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NZ" sz="2000" i="1" smtClean="0">
                                    <a:effectLst/>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NZ"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endParaRPr lang="en-NZ" sz="200" i="1" dirty="0">
                            <a:effectLst/>
                            <a:latin typeface="Cambria Math" panose="02040503050406030204" pitchFamily="18" charset="0"/>
                            <a:ea typeface="Cambria Math" panose="02040503050406030204" pitchFamily="18" charset="0"/>
                            <a:cs typeface="Times New Roman" panose="02020603050405020304" pitchFamily="18" charset="0"/>
                          </a:endParaRPr>
                        </a:p>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NZ" sz="1400" i="1" smtClean="0">
                                    <a:effectLst/>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endParaRPr lang="en-NZ" sz="200" i="1" dirty="0">
                            <a:effectLst/>
                            <a:latin typeface="Cambria Math" panose="02040503050406030204" pitchFamily="18" charset="0"/>
                            <a:ea typeface="Cambria Math" panose="02040503050406030204" pitchFamily="18" charset="0"/>
                            <a:cs typeface="Times New Roman" panose="02020603050405020304" pitchFamily="18" charset="0"/>
                          </a:endParaRPr>
                        </a:p>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NZ" sz="1400" i="1" smtClean="0">
                                    <a:effectLst/>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endParaRPr lang="en-NZ" sz="200" i="1" dirty="0">
                            <a:effectLst/>
                            <a:latin typeface="Cambria Math" panose="02040503050406030204" pitchFamily="18" charset="0"/>
                            <a:ea typeface="Cambria Math" panose="02040503050406030204" pitchFamily="18" charset="0"/>
                            <a:cs typeface="Times New Roman" panose="02020603050405020304" pitchFamily="18" charset="0"/>
                          </a:endParaRPr>
                        </a:p>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NZ" sz="1400" i="1" smtClean="0">
                                    <a:effectLst/>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endParaRPr lang="en-NZ" sz="200" i="1" dirty="0">
                            <a:effectLst/>
                            <a:latin typeface="Cambria Math" panose="02040503050406030204" pitchFamily="18" charset="0"/>
                            <a:ea typeface="Cambria Math" panose="02040503050406030204" pitchFamily="18" charset="0"/>
                            <a:cs typeface="Times New Roman" panose="02020603050405020304" pitchFamily="18" charset="0"/>
                          </a:endParaRPr>
                        </a:p>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NZ" sz="1400" i="1" smtClean="0">
                                    <a:effectLst/>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389106156"/>
                      </a:ext>
                    </a:extLst>
                  </a:tr>
                  <a:tr h="380755">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NZ" sz="2000" baseline="0" dirty="0">
                              <a:effectLst/>
                              <a:latin typeface="Calibri" panose="020F0502020204030204" pitchFamily="34" charset="0"/>
                              <a:ea typeface="Calibri" panose="020F0502020204030204" pitchFamily="34" charset="0"/>
                              <a:cs typeface="Times New Roman" panose="02020603050405020304" pitchFamily="18" charset="0"/>
                            </a:rPr>
                            <a:t>a</a:t>
                          </a:r>
                        </a:p>
                      </a:txBody>
                      <a:tcPr marL="68580" marR="68580" marT="0" marB="0" anchor="ct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𝑎</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11</m:t>
                                  </m:r>
                                </m:sub>
                              </m:sSub>
                            </m:oMath>
                          </a14:m>
                          <a:r>
                            <a:rPr lang="en-NZ" sz="1400" dirty="0">
                              <a:effectLst/>
                              <a:latin typeface="Calibri" panose="020F0502020204030204" pitchFamily="34" charset="0"/>
                              <a:ea typeface="Calibri" panose="020F0502020204030204" pitchFamily="34" charset="0"/>
                              <a:cs typeface="Times New Roman" panose="02020603050405020304" pitchFamily="18" charset="0"/>
                            </a:rPr>
                            <a:t> … </a:t>
                          </a: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𝑎</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1</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𝑛</m:t>
                                  </m:r>
                                </m:sub>
                              </m:sSub>
                            </m:oMath>
                          </a14:m>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𝑎</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21</m:t>
                                  </m:r>
                                </m:sub>
                              </m:sSub>
                            </m:oMath>
                          </a14:m>
                          <a:r>
                            <a:rPr lang="en-NZ" sz="1400" dirty="0">
                              <a:effectLst/>
                              <a:latin typeface="Calibri" panose="020F0502020204030204" pitchFamily="34" charset="0"/>
                              <a:ea typeface="Calibri" panose="020F0502020204030204" pitchFamily="34" charset="0"/>
                              <a:cs typeface="Times New Roman" panose="02020603050405020304" pitchFamily="18" charset="0"/>
                            </a:rPr>
                            <a:t> … </a:t>
                          </a: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𝑎</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2</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𝑛</m:t>
                                  </m:r>
                                </m:sub>
                              </m:sSub>
                            </m:oMath>
                          </a14:m>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1400" dirty="0">
                              <a:effectLst/>
                            </a:rPr>
                            <a:t>…</a:t>
                          </a:r>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𝑎𝑏</m:t>
                                  </m:r>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1</m:t>
                                  </m:r>
                                </m:sub>
                              </m:sSub>
                            </m:oMath>
                          </a14:m>
                          <a:r>
                            <a:rPr lang="en-NZ" sz="1400" dirty="0">
                              <a:effectLst/>
                              <a:latin typeface="Calibri" panose="020F0502020204030204" pitchFamily="34" charset="0"/>
                              <a:ea typeface="Calibri" panose="020F0502020204030204" pitchFamily="34" charset="0"/>
                              <a:cs typeface="Times New Roman" panose="02020603050405020304" pitchFamily="18" charset="0"/>
                            </a:rPr>
                            <a:t> … </a:t>
                          </a:r>
                          <a14:m>
                            <m:oMath xmlns:m="http://schemas.openxmlformats.org/officeDocument/2006/math">
                              <m:sSub>
                                <m:sSubPr>
                                  <m:ctrlP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𝑌</m:t>
                                  </m:r>
                                </m:e>
                                <m:sub>
                                  <m:r>
                                    <a:rPr lang="en-NZ" sz="1400" b="0" i="1" smtClean="0">
                                      <a:effectLst/>
                                      <a:latin typeface="Cambria Math" panose="02040503050406030204" pitchFamily="18" charset="0"/>
                                      <a:ea typeface="Calibri" panose="020F0502020204030204" pitchFamily="34" charset="0"/>
                                      <a:cs typeface="Times New Roman" panose="02020603050405020304" pitchFamily="18" charset="0"/>
                                    </a:rPr>
                                    <m:t>𝑎𝑏𝑛</m:t>
                                  </m:r>
                                </m:sub>
                              </m:sSub>
                            </m:oMath>
                          </a14:m>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746888167"/>
                      </a:ext>
                    </a:extLst>
                  </a:tr>
                </a:tbl>
              </a:graphicData>
            </a:graphic>
          </p:graphicFrame>
        </mc:Choice>
        <mc:Fallback xmlns="">
          <p:graphicFrame>
            <p:nvGraphicFramePr>
              <p:cNvPr id="21" name="Table 20">
                <a:extLst>
                  <a:ext uri="{FF2B5EF4-FFF2-40B4-BE49-F238E27FC236}">
                    <a16:creationId xmlns:a16="http://schemas.microsoft.com/office/drawing/2014/main" id="{CA822DCA-7FEB-4272-9F26-BFC4DD0306EE}"/>
                  </a:ext>
                </a:extLst>
              </p:cNvPr>
              <p:cNvGraphicFramePr>
                <a:graphicFrameLocks noGrp="1"/>
              </p:cNvGraphicFramePr>
              <p:nvPr/>
            </p:nvGraphicFramePr>
            <p:xfrm>
              <a:off x="870872" y="1691911"/>
              <a:ext cx="5547304" cy="2212383"/>
            </p:xfrm>
            <a:graphic>
              <a:graphicData uri="http://schemas.openxmlformats.org/drawingml/2006/table">
                <a:tbl>
                  <a:tblPr firstRow="1" firstCol="1" bandRow="1">
                    <a:tableStyleId>{5C22544A-7EE6-4342-B048-85BDC9FD1C3A}</a:tableStyleId>
                  </a:tblPr>
                  <a:tblGrid>
                    <a:gridCol w="828851">
                      <a:extLst>
                        <a:ext uri="{9D8B030D-6E8A-4147-A177-3AD203B41FA5}">
                          <a16:colId xmlns:a16="http://schemas.microsoft.com/office/drawing/2014/main" val="3074826136"/>
                        </a:ext>
                      </a:extLst>
                    </a:gridCol>
                    <a:gridCol w="1071614">
                      <a:extLst>
                        <a:ext uri="{9D8B030D-6E8A-4147-A177-3AD203B41FA5}">
                          <a16:colId xmlns:a16="http://schemas.microsoft.com/office/drawing/2014/main" val="387258914"/>
                        </a:ext>
                      </a:extLst>
                    </a:gridCol>
                    <a:gridCol w="1215613">
                      <a:extLst>
                        <a:ext uri="{9D8B030D-6E8A-4147-A177-3AD203B41FA5}">
                          <a16:colId xmlns:a16="http://schemas.microsoft.com/office/drawing/2014/main" val="2306200820"/>
                        </a:ext>
                      </a:extLst>
                    </a:gridCol>
                    <a:gridCol w="1215613">
                      <a:extLst>
                        <a:ext uri="{9D8B030D-6E8A-4147-A177-3AD203B41FA5}">
                          <a16:colId xmlns:a16="http://schemas.microsoft.com/office/drawing/2014/main" val="650978296"/>
                        </a:ext>
                      </a:extLst>
                    </a:gridCol>
                    <a:gridCol w="1215613">
                      <a:extLst>
                        <a:ext uri="{9D8B030D-6E8A-4147-A177-3AD203B41FA5}">
                          <a16:colId xmlns:a16="http://schemas.microsoft.com/office/drawing/2014/main" val="1102281017"/>
                        </a:ext>
                      </a:extLst>
                    </a:gridCol>
                  </a:tblGrid>
                  <a:tr h="508143">
                    <a:tc>
                      <a:txBody>
                        <a:bodyPr/>
                        <a:lstStyle/>
                        <a:p>
                          <a:pPr>
                            <a:lnSpc>
                              <a:spcPct val="107000"/>
                            </a:lnSpc>
                          </a:pPr>
                          <a:endParaRPr lang="en-NZ" sz="1200" dirty="0">
                            <a:effectLst/>
                            <a:latin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2000" dirty="0">
                              <a:effectLst/>
                            </a:rPr>
                            <a:t>1</a:t>
                          </a:r>
                          <a:endParaRPr lang="en-NZ"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2000" dirty="0">
                              <a:effectLst/>
                            </a:rPr>
                            <a:t>2</a:t>
                          </a:r>
                          <a:endParaRPr lang="en-NZ"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2000" dirty="0">
                              <a:effectLst/>
                            </a:rPr>
                            <a:t>…</a:t>
                          </a:r>
                          <a:endParaRPr lang="en-NZ"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2000" dirty="0">
                              <a:effectLst/>
                              <a:latin typeface="Calibri" panose="020F0502020204030204" pitchFamily="34" charset="0"/>
                              <a:ea typeface="Calibri" panose="020F0502020204030204" pitchFamily="34" charset="0"/>
                              <a:cs typeface="Times New Roman" panose="02020603050405020304" pitchFamily="18" charset="0"/>
                            </a:rPr>
                            <a:t>b</a:t>
                          </a:r>
                        </a:p>
                      </a:txBody>
                      <a:tcPr marL="68580" marR="68580" marT="0" marB="0" anchor="ctr"/>
                    </a:tc>
                    <a:extLst>
                      <a:ext uri="{0D108BD9-81ED-4DB2-BD59-A6C34878D82A}">
                        <a16:rowId xmlns:a16="http://schemas.microsoft.com/office/drawing/2014/main" val="1838439194"/>
                      </a:ext>
                    </a:extLst>
                  </a:tr>
                  <a:tr h="380755">
                    <a:tc>
                      <a:txBody>
                        <a:bodyPr/>
                        <a:lstStyle/>
                        <a:p>
                          <a:pPr algn="ctr">
                            <a:lnSpc>
                              <a:spcPct val="107000"/>
                            </a:lnSpc>
                            <a:spcAft>
                              <a:spcPts val="800"/>
                            </a:spcAft>
                          </a:pPr>
                          <a:r>
                            <a:rPr lang="en-NZ" sz="2000" baseline="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nchor="ctr"/>
                    </a:tc>
                    <a:tc>
                      <a:txBody>
                        <a:bodyPr/>
                        <a:lstStyle/>
                        <a:p>
                          <a:endParaRPr lang="en-US"/>
                        </a:p>
                      </a:txBody>
                      <a:tcPr marL="68580" marR="68580" marT="0" marB="0" anchor="ctr">
                        <a:blipFill>
                          <a:blip r:embed="rId2"/>
                          <a:stretch>
                            <a:fillRect l="-77841" t="-137097" r="-343182" b="-382258"/>
                          </a:stretch>
                        </a:blipFill>
                      </a:tcPr>
                    </a:tc>
                    <a:tc>
                      <a:txBody>
                        <a:bodyPr/>
                        <a:lstStyle/>
                        <a:p>
                          <a:endParaRPr lang="en-US"/>
                        </a:p>
                      </a:txBody>
                      <a:tcPr marL="68580" marR="68580" marT="0" marB="0" anchor="ctr">
                        <a:blipFill>
                          <a:blip r:embed="rId2"/>
                          <a:stretch>
                            <a:fillRect l="-156500" t="-137097" r="-202000" b="-382258"/>
                          </a:stretch>
                        </a:blipFill>
                      </a:tcPr>
                    </a:tc>
                    <a:tc>
                      <a:txBody>
                        <a:bodyPr/>
                        <a:lstStyle/>
                        <a:p>
                          <a:pPr algn="ctr">
                            <a:lnSpc>
                              <a:spcPct val="107000"/>
                            </a:lnSpc>
                            <a:spcAft>
                              <a:spcPts val="800"/>
                            </a:spcAft>
                          </a:pPr>
                          <a:r>
                            <a:rPr lang="en-NZ" sz="1400" dirty="0">
                              <a:effectLst/>
                            </a:rPr>
                            <a:t>…</a:t>
                          </a:r>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endParaRPr lang="en-US"/>
                        </a:p>
                      </a:txBody>
                      <a:tcPr marL="68580" marR="68580" marT="0" marB="0" anchor="ctr">
                        <a:blipFill>
                          <a:blip r:embed="rId2"/>
                          <a:stretch>
                            <a:fillRect l="-356000" t="-137097" r="-2500" b="-382258"/>
                          </a:stretch>
                        </a:blipFill>
                      </a:tcPr>
                    </a:tc>
                    <a:extLst>
                      <a:ext uri="{0D108BD9-81ED-4DB2-BD59-A6C34878D82A}">
                        <a16:rowId xmlns:a16="http://schemas.microsoft.com/office/drawing/2014/main" val="3572944342"/>
                      </a:ext>
                    </a:extLst>
                  </a:tr>
                  <a:tr h="380755">
                    <a:tc>
                      <a:txBody>
                        <a:bodyPr/>
                        <a:lstStyle/>
                        <a:p>
                          <a:pPr algn="ctr">
                            <a:lnSpc>
                              <a:spcPct val="107000"/>
                            </a:lnSpc>
                            <a:spcAft>
                              <a:spcPts val="800"/>
                            </a:spcAft>
                          </a:pPr>
                          <a:r>
                            <a:rPr lang="en-NZ" sz="2000" baseline="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nchor="ctr"/>
                    </a:tc>
                    <a:tc>
                      <a:txBody>
                        <a:bodyPr/>
                        <a:lstStyle/>
                        <a:p>
                          <a:endParaRPr lang="en-US"/>
                        </a:p>
                      </a:txBody>
                      <a:tcPr marL="68580" marR="68580" marT="0" marB="0" anchor="ctr">
                        <a:blipFill>
                          <a:blip r:embed="rId2"/>
                          <a:stretch>
                            <a:fillRect l="-77841" t="-233333" r="-343182" b="-276190"/>
                          </a:stretch>
                        </a:blipFill>
                      </a:tcPr>
                    </a:tc>
                    <a:tc>
                      <a:txBody>
                        <a:bodyPr/>
                        <a:lstStyle/>
                        <a:p>
                          <a:endParaRPr lang="en-US"/>
                        </a:p>
                      </a:txBody>
                      <a:tcPr marL="68580" marR="68580" marT="0" marB="0" anchor="ctr">
                        <a:blipFill>
                          <a:blip r:embed="rId2"/>
                          <a:stretch>
                            <a:fillRect l="-156500" t="-233333" r="-202000" b="-276190"/>
                          </a:stretch>
                        </a:blipFill>
                      </a:tcPr>
                    </a:tc>
                    <a:tc>
                      <a:txBody>
                        <a:bodyPr/>
                        <a:lstStyle/>
                        <a:p>
                          <a:pPr algn="ctr">
                            <a:lnSpc>
                              <a:spcPct val="107000"/>
                            </a:lnSpc>
                            <a:spcAft>
                              <a:spcPts val="800"/>
                            </a:spcAft>
                          </a:pPr>
                          <a:r>
                            <a:rPr lang="en-NZ" sz="1400" dirty="0">
                              <a:effectLst/>
                            </a:rPr>
                            <a:t>…</a:t>
                          </a:r>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endParaRPr lang="en-US"/>
                        </a:p>
                      </a:txBody>
                      <a:tcPr marL="68580" marR="68580" marT="0" marB="0" anchor="ctr">
                        <a:blipFill>
                          <a:blip r:embed="rId2"/>
                          <a:stretch>
                            <a:fillRect l="-356000" t="-233333" r="-2500" b="-276190"/>
                          </a:stretch>
                        </a:blipFill>
                      </a:tcPr>
                    </a:tc>
                    <a:extLst>
                      <a:ext uri="{0D108BD9-81ED-4DB2-BD59-A6C34878D82A}">
                        <a16:rowId xmlns:a16="http://schemas.microsoft.com/office/drawing/2014/main" val="2200320227"/>
                      </a:ext>
                    </a:extLst>
                  </a:tr>
                  <a:tr h="561975">
                    <a:tc>
                      <a:txBody>
                        <a:bodyPr/>
                        <a:lstStyle/>
                        <a:p>
                          <a:endParaRPr lang="en-US"/>
                        </a:p>
                      </a:txBody>
                      <a:tcPr marL="68580" marR="68580" marT="0" marB="0" anchor="ctr">
                        <a:blipFill>
                          <a:blip r:embed="rId2"/>
                          <a:stretch>
                            <a:fillRect l="-735" t="-228261" r="-573529" b="-89130"/>
                          </a:stretch>
                        </a:blipFill>
                      </a:tcPr>
                    </a:tc>
                    <a:tc>
                      <a:txBody>
                        <a:bodyPr/>
                        <a:lstStyle/>
                        <a:p>
                          <a:endParaRPr lang="en-US"/>
                        </a:p>
                      </a:txBody>
                      <a:tcPr marL="68580" marR="68580" marT="0" marB="0" anchor="ctr">
                        <a:blipFill>
                          <a:blip r:embed="rId2"/>
                          <a:stretch>
                            <a:fillRect l="-77841" t="-228261" r="-343182" b="-89130"/>
                          </a:stretch>
                        </a:blipFill>
                      </a:tcPr>
                    </a:tc>
                    <a:tc>
                      <a:txBody>
                        <a:bodyPr/>
                        <a:lstStyle/>
                        <a:p>
                          <a:endParaRPr lang="en-US"/>
                        </a:p>
                      </a:txBody>
                      <a:tcPr marL="68580" marR="68580" marT="0" marB="0" anchor="ctr">
                        <a:blipFill>
                          <a:blip r:embed="rId2"/>
                          <a:stretch>
                            <a:fillRect l="-156500" t="-228261" r="-202000" b="-89130"/>
                          </a:stretch>
                        </a:blipFill>
                      </a:tcPr>
                    </a:tc>
                    <a:tc>
                      <a:txBody>
                        <a:bodyPr/>
                        <a:lstStyle/>
                        <a:p>
                          <a:endParaRPr lang="en-US"/>
                        </a:p>
                      </a:txBody>
                      <a:tcPr marL="68580" marR="68580" marT="0" marB="0" anchor="ctr">
                        <a:blipFill>
                          <a:blip r:embed="rId2"/>
                          <a:stretch>
                            <a:fillRect l="-257789" t="-228261" r="-103015" b="-89130"/>
                          </a:stretch>
                        </a:blipFill>
                      </a:tcPr>
                    </a:tc>
                    <a:tc>
                      <a:txBody>
                        <a:bodyPr/>
                        <a:lstStyle/>
                        <a:p>
                          <a:endParaRPr lang="en-US"/>
                        </a:p>
                      </a:txBody>
                      <a:tcPr marL="68580" marR="68580" marT="0" marB="0" anchor="ctr">
                        <a:blipFill>
                          <a:blip r:embed="rId2"/>
                          <a:stretch>
                            <a:fillRect l="-356000" t="-228261" r="-2500" b="-89130"/>
                          </a:stretch>
                        </a:blipFill>
                      </a:tcPr>
                    </a:tc>
                    <a:extLst>
                      <a:ext uri="{0D108BD9-81ED-4DB2-BD59-A6C34878D82A}">
                        <a16:rowId xmlns:a16="http://schemas.microsoft.com/office/drawing/2014/main" val="3389106156"/>
                      </a:ext>
                    </a:extLst>
                  </a:tr>
                  <a:tr h="380755">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NZ" sz="2000" baseline="0" dirty="0">
                              <a:effectLst/>
                              <a:latin typeface="Calibri" panose="020F0502020204030204" pitchFamily="34" charset="0"/>
                              <a:ea typeface="Calibri" panose="020F0502020204030204" pitchFamily="34" charset="0"/>
                              <a:cs typeface="Times New Roman" panose="02020603050405020304" pitchFamily="18" charset="0"/>
                            </a:rPr>
                            <a:t>a</a:t>
                          </a:r>
                        </a:p>
                      </a:txBody>
                      <a:tcPr marL="68580" marR="68580" marT="0" marB="0" anchor="ctr"/>
                    </a:tc>
                    <a:tc>
                      <a:txBody>
                        <a:bodyPr/>
                        <a:lstStyle/>
                        <a:p>
                          <a:endParaRPr lang="en-US"/>
                        </a:p>
                      </a:txBody>
                      <a:tcPr marL="68580" marR="68580" marT="0" marB="0" anchor="ctr">
                        <a:blipFill>
                          <a:blip r:embed="rId2"/>
                          <a:stretch>
                            <a:fillRect l="-77841" t="-479365" r="-343182" b="-30159"/>
                          </a:stretch>
                        </a:blipFill>
                      </a:tcPr>
                    </a:tc>
                    <a:tc>
                      <a:txBody>
                        <a:bodyPr/>
                        <a:lstStyle/>
                        <a:p>
                          <a:endParaRPr lang="en-US"/>
                        </a:p>
                      </a:txBody>
                      <a:tcPr marL="68580" marR="68580" marT="0" marB="0" anchor="ctr">
                        <a:blipFill>
                          <a:blip r:embed="rId2"/>
                          <a:stretch>
                            <a:fillRect l="-156500" t="-479365" r="-202000" b="-30159"/>
                          </a:stretch>
                        </a:blipFill>
                      </a:tcPr>
                    </a:tc>
                    <a:tc>
                      <a:txBody>
                        <a:bodyPr/>
                        <a:lstStyle/>
                        <a:p>
                          <a:pPr algn="ctr">
                            <a:lnSpc>
                              <a:spcPct val="107000"/>
                            </a:lnSpc>
                            <a:spcAft>
                              <a:spcPts val="800"/>
                            </a:spcAft>
                          </a:pPr>
                          <a:r>
                            <a:rPr lang="en-NZ" sz="1400" dirty="0">
                              <a:effectLst/>
                            </a:rPr>
                            <a:t>…</a:t>
                          </a:r>
                          <a:endParaRPr lang="en-NZ"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endParaRPr lang="en-US"/>
                        </a:p>
                      </a:txBody>
                      <a:tcPr marL="68580" marR="68580" marT="0" marB="0" anchor="ctr">
                        <a:blipFill>
                          <a:blip r:embed="rId2"/>
                          <a:stretch>
                            <a:fillRect l="-356000" t="-479365" r="-2500" b="-30159"/>
                          </a:stretch>
                        </a:blipFill>
                      </a:tcPr>
                    </a:tc>
                    <a:extLst>
                      <a:ext uri="{0D108BD9-81ED-4DB2-BD59-A6C34878D82A}">
                        <a16:rowId xmlns:a16="http://schemas.microsoft.com/office/drawing/2014/main" val="746888167"/>
                      </a:ext>
                    </a:extLst>
                  </a:tr>
                </a:tbl>
              </a:graphicData>
            </a:graphic>
          </p:graphicFrame>
        </mc:Fallback>
      </mc:AlternateContent>
      <p:sp>
        <p:nvSpPr>
          <p:cNvPr id="22" name="Text Placeholder 5">
            <a:extLst>
              <a:ext uri="{FF2B5EF4-FFF2-40B4-BE49-F238E27FC236}">
                <a16:creationId xmlns:a16="http://schemas.microsoft.com/office/drawing/2014/main" id="{28C989C0-100F-4992-B9D7-9D1014BA7874}"/>
              </a:ext>
            </a:extLst>
          </p:cNvPr>
          <p:cNvSpPr txBox="1">
            <a:spLocks/>
          </p:cNvSpPr>
          <p:nvPr/>
        </p:nvSpPr>
        <p:spPr>
          <a:xfrm>
            <a:off x="2248041" y="1298141"/>
            <a:ext cx="2792965"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srgbClr val="0070C0"/>
                </a:solidFill>
                <a:latin typeface="Calibri" panose="020F0502020204030204"/>
                <a:ea typeface="游ゴシック" panose="020B0400000000000000" pitchFamily="34" charset="-128"/>
              </a:rPr>
              <a:t>Blocking Factor (</a:t>
            </a:r>
            <a:r>
              <a:rPr lang="en-NZ" altLang="ja-JP" sz="1800" b="1" i="1" dirty="0">
                <a:solidFill>
                  <a:srgbClr val="0070C0"/>
                </a:solidFill>
                <a:latin typeface="Calibri" panose="020F0502020204030204"/>
                <a:ea typeface="游ゴシック" panose="020B0400000000000000" pitchFamily="34" charset="-128"/>
              </a:rPr>
              <a:t>B</a:t>
            </a:r>
            <a:r>
              <a:rPr lang="en-NZ" altLang="ja-JP" sz="1800" b="1">
                <a:solidFill>
                  <a:srgbClr val="0070C0"/>
                </a:solidFill>
                <a:latin typeface="Calibri" panose="020F0502020204030204"/>
                <a:ea typeface="游ゴシック" panose="020B0400000000000000" pitchFamily="34" charset="-128"/>
              </a:rPr>
              <a:t>) Levels</a:t>
            </a:r>
            <a:endParaRPr kumimoji="1" lang="en-NZ" altLang="ja-JP" sz="1800" b="1"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endParaRPr>
          </a:p>
        </p:txBody>
      </p:sp>
      <p:sp>
        <p:nvSpPr>
          <p:cNvPr id="23" name="Text Placeholder 5">
            <a:extLst>
              <a:ext uri="{FF2B5EF4-FFF2-40B4-BE49-F238E27FC236}">
                <a16:creationId xmlns:a16="http://schemas.microsoft.com/office/drawing/2014/main" id="{BDFC17B6-0CFD-4535-AE92-6E800C2209E9}"/>
              </a:ext>
            </a:extLst>
          </p:cNvPr>
          <p:cNvSpPr txBox="1">
            <a:spLocks/>
          </p:cNvSpPr>
          <p:nvPr/>
        </p:nvSpPr>
        <p:spPr>
          <a:xfrm rot="16200000">
            <a:off x="-576663" y="2552290"/>
            <a:ext cx="2143176"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srgbClr val="0070C0"/>
                </a:solidFill>
                <a:latin typeface="Calibri" panose="020F0502020204030204"/>
                <a:ea typeface="游ゴシック" panose="020B0400000000000000" pitchFamily="34" charset="-128"/>
              </a:rPr>
              <a:t>Factor </a:t>
            </a:r>
            <a:r>
              <a:rPr lang="en-NZ" altLang="ja-JP" sz="1800" b="1" i="1" dirty="0">
                <a:solidFill>
                  <a:srgbClr val="0070C0"/>
                </a:solidFill>
                <a:latin typeface="Calibri" panose="020F0502020204030204"/>
                <a:ea typeface="游ゴシック" panose="020B0400000000000000" pitchFamily="34" charset="-128"/>
              </a:rPr>
              <a:t>(A</a:t>
            </a:r>
            <a:r>
              <a:rPr lang="en-NZ" altLang="ja-JP" sz="1800" b="1" i="1">
                <a:solidFill>
                  <a:srgbClr val="0070C0"/>
                </a:solidFill>
                <a:latin typeface="Calibri" panose="020F0502020204030204"/>
                <a:ea typeface="游ゴシック" panose="020B0400000000000000" pitchFamily="34" charset="-128"/>
              </a:rPr>
              <a:t>)</a:t>
            </a:r>
            <a:r>
              <a:rPr lang="en-NZ" altLang="ja-JP" sz="1800" b="1">
                <a:solidFill>
                  <a:srgbClr val="0070C0"/>
                </a:solidFill>
                <a:latin typeface="Calibri" panose="020F0502020204030204"/>
                <a:ea typeface="游ゴシック" panose="020B0400000000000000" pitchFamily="34" charset="-128"/>
              </a:rPr>
              <a:t> Levels</a:t>
            </a:r>
            <a:endParaRPr kumimoji="1" lang="en-NZ" altLang="ja-JP" sz="1800" b="1"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endParaRPr>
          </a:p>
        </p:txBody>
      </p:sp>
      <p:sp>
        <p:nvSpPr>
          <p:cNvPr id="24" name="Text Placeholder 5">
            <a:extLst>
              <a:ext uri="{FF2B5EF4-FFF2-40B4-BE49-F238E27FC236}">
                <a16:creationId xmlns:a16="http://schemas.microsoft.com/office/drawing/2014/main" id="{662F6CCA-B6AA-45D0-A391-37AD97D9659A}"/>
              </a:ext>
            </a:extLst>
          </p:cNvPr>
          <p:cNvSpPr txBox="1">
            <a:spLocks/>
          </p:cNvSpPr>
          <p:nvPr/>
        </p:nvSpPr>
        <p:spPr>
          <a:xfrm>
            <a:off x="7038861" y="1617137"/>
            <a:ext cx="4579200"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The </a:t>
            </a:r>
            <a:r>
              <a:rPr kumimoji="1" lang="en-NZ" altLang="ja-JP" sz="1800" b="1" i="1"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k</a:t>
            </a:r>
            <a:r>
              <a:rPr kumimoji="1" lang="en-NZ" altLang="ja-JP" sz="1800" b="1" i="1" u="none" strike="noStrike" kern="1200" cap="none" spc="0" normalizeH="0" baseline="30000" noProof="0">
                <a:ln>
                  <a:noFill/>
                </a:ln>
                <a:solidFill>
                  <a:prstClr val="black"/>
                </a:solidFill>
                <a:effectLst/>
                <a:uLnTx/>
                <a:uFillTx/>
                <a:latin typeface="Calibri" panose="020F0502020204030204"/>
                <a:ea typeface="游ゴシック" panose="020B0400000000000000" pitchFamily="34" charset="-128"/>
                <a:cs typeface="+mn-cs"/>
              </a:rPr>
              <a:t>th</a:t>
            </a:r>
            <a:r>
              <a:rPr kumimoji="1" lang="en-NZ" altLang="ja-JP" sz="1800" b="0" i="1"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observation in cell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r>
              <a:rPr kumimoji="1" lang="en-NZ" altLang="ja-JP" sz="18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i,j</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r>
              <a:rPr kumimoji="1" lang="en-NZ" altLang="ja-JP" sz="18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is modelled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as:</a:t>
            </a:r>
            <a:endPar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5" name="Text Placeholder 5">
                <a:extLst>
                  <a:ext uri="{FF2B5EF4-FFF2-40B4-BE49-F238E27FC236}">
                    <a16:creationId xmlns:a16="http://schemas.microsoft.com/office/drawing/2014/main" id="{1B346F14-31A1-4706-95BE-B97F970C0758}"/>
                  </a:ext>
                </a:extLst>
              </p:cNvPr>
              <p:cNvSpPr txBox="1">
                <a:spLocks/>
              </p:cNvSpPr>
              <p:nvPr/>
            </p:nvSpPr>
            <p:spPr>
              <a:xfrm>
                <a:off x="6530101" y="1982260"/>
                <a:ext cx="5462638"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𝒀</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𝒊𝒋𝒌</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𝝁</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𝜶</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𝜷</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𝒋</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𝝐</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𝒊𝒋𝒌</m:t>
                          </m:r>
                        </m:sub>
                      </m:sSub>
                    </m:oMath>
                  </m:oMathPara>
                </a14:m>
                <a:endParaRPr kumimoji="1" lang="en-NZ" altLang="ja-JP" sz="18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5" name="Text Placeholder 5">
                <a:extLst>
                  <a:ext uri="{FF2B5EF4-FFF2-40B4-BE49-F238E27FC236}">
                    <a16:creationId xmlns:a16="http://schemas.microsoft.com/office/drawing/2014/main" id="{1B346F14-31A1-4706-95BE-B97F970C0758}"/>
                  </a:ext>
                </a:extLst>
              </p:cNvPr>
              <p:cNvSpPr txBox="1">
                <a:spLocks noRot="1" noChangeAspect="1" noMove="1" noResize="1" noEditPoints="1" noAdjustHandles="1" noChangeArrowheads="1" noChangeShapeType="1" noTextEdit="1"/>
              </p:cNvSpPr>
              <p:nvPr/>
            </p:nvSpPr>
            <p:spPr>
              <a:xfrm>
                <a:off x="6530101" y="1982260"/>
                <a:ext cx="5462638" cy="474953"/>
              </a:xfrm>
              <a:prstGeom prst="rect">
                <a:avLst/>
              </a:prstGeom>
              <a:blipFill>
                <a:blip r:embed="rId3"/>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6" name="Text Placeholder 5">
                <a:extLst>
                  <a:ext uri="{FF2B5EF4-FFF2-40B4-BE49-F238E27FC236}">
                    <a16:creationId xmlns:a16="http://schemas.microsoft.com/office/drawing/2014/main" id="{F3814146-C81B-4A37-9709-280518413AE1}"/>
                  </a:ext>
                </a:extLst>
              </p:cNvPr>
              <p:cNvSpPr txBox="1">
                <a:spLocks/>
              </p:cNvSpPr>
              <p:nvPr/>
            </p:nvSpPr>
            <p:spPr>
              <a:xfrm>
                <a:off x="6976417" y="2432335"/>
                <a:ext cx="4867734" cy="19684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l-GR" altLang="ja-JP" sz="16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μ</a:t>
                </a:r>
                <a:r>
                  <a:rPr kumimoji="1" lang="en-NZ" altLang="ja-JP" sz="16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  is the population mean</a:t>
                </a:r>
              </a:p>
              <a:p>
                <a:pPr>
                  <a:lnSpc>
                    <a:spcPct val="100000"/>
                  </a:lnSpc>
                  <a:defRPr/>
                </a:pPr>
                <a14:m>
                  <m:oMath xmlns:m="http://schemas.openxmlformats.org/officeDocument/2006/math">
                    <m:sSub>
                      <m:sSubPr>
                        <m:ctrlP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𝝁</m:t>
                        </m:r>
                      </m:e>
                      <m:sub>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𝒊</m:t>
                        </m:r>
                      </m:sub>
                    </m:sSub>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m:t>
                    </m:r>
                  </m:oMath>
                </a14:m>
                <a:r>
                  <a:rPr kumimoji="1" lang="en-NZ" altLang="ja-JP" sz="16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 </a:t>
                </a:r>
                <a:r>
                  <a:rPr lang="en-NZ" altLang="ja-JP" sz="1600" noProof="0" dirty="0">
                    <a:solidFill>
                      <a:schemeClr val="tx1"/>
                    </a:solidFill>
                    <a:latin typeface="Calibri" panose="020F0502020204030204"/>
                    <a:ea typeface="游ゴシック" panose="020B0400000000000000" pitchFamily="34" charset="-128"/>
                  </a:rPr>
                  <a:t>i</a:t>
                </a:r>
                <a:r>
                  <a:rPr lang="en-NZ" altLang="ja-JP" sz="1600" dirty="0">
                    <a:solidFill>
                      <a:schemeClr val="tx1"/>
                    </a:solidFill>
                    <a:latin typeface="Calibri" panose="020F0502020204030204"/>
                    <a:ea typeface="游ゴシック" panose="020B0400000000000000" pitchFamily="34" charset="-128"/>
                  </a:rPr>
                  <a:t>s the mean of the </a:t>
                </a:r>
                <a:r>
                  <a:rPr lang="en-NZ" altLang="ja-JP" sz="1600" b="1" i="1" dirty="0" err="1">
                    <a:solidFill>
                      <a:schemeClr val="tx1"/>
                    </a:solidFill>
                  </a:rPr>
                  <a:t>i</a:t>
                </a:r>
                <a:r>
                  <a:rPr lang="en-NZ" altLang="ja-JP" sz="1600" b="1" i="1" baseline="30000" dirty="0" err="1">
                    <a:solidFill>
                      <a:schemeClr val="tx1"/>
                    </a:solidFill>
                  </a:rPr>
                  <a:t>th</a:t>
                </a:r>
                <a:r>
                  <a:rPr lang="en-NZ" altLang="ja-JP" sz="1600" i="1" baseline="-25000" dirty="0">
                    <a:solidFill>
                      <a:schemeClr val="tx1"/>
                    </a:solidFill>
                  </a:rPr>
                  <a:t> </a:t>
                </a:r>
                <a:r>
                  <a:rPr lang="en-NZ" altLang="ja-JP" sz="1600" i="1" dirty="0">
                    <a:solidFill>
                      <a:schemeClr val="tx1"/>
                    </a:solidFill>
                  </a:rPr>
                  <a:t> </a:t>
                </a:r>
                <a:r>
                  <a:rPr lang="en-NZ" altLang="ja-JP" sz="1600" dirty="0">
                    <a:solidFill>
                      <a:schemeClr val="tx1"/>
                    </a:solidFill>
                  </a:rPr>
                  <a:t>level of factor </a:t>
                </a:r>
                <a:r>
                  <a:rPr lang="en-NZ" altLang="ja-JP" sz="1600" b="1" i="1" dirty="0">
                    <a:solidFill>
                      <a:schemeClr val="tx1"/>
                    </a:solidFill>
                  </a:rPr>
                  <a:t>A</a:t>
                </a:r>
                <a:br>
                  <a:rPr lang="en-NZ" altLang="ja-JP" sz="1600" b="1" i="1" dirty="0">
                    <a:solidFill>
                      <a:schemeClr val="tx1"/>
                    </a:solidFill>
                  </a:rPr>
                </a:br>
                <a14:m>
                  <m:oMath xmlns:m="http://schemas.openxmlformats.org/officeDocument/2006/math">
                    <m:r>
                      <a:rPr lang="en-NZ" altLang="ja-JP" sz="1600" b="1" i="1" smtClean="0">
                        <a:solidFill>
                          <a:schemeClr val="tx1"/>
                        </a:solidFill>
                        <a:latin typeface="Cambria Math" panose="02040503050406030204" pitchFamily="18" charset="0"/>
                      </a:rPr>
                      <m:t>𝝁</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m:t>
                        </m:r>
                      </m:e>
                      <m:sub>
                        <m:r>
                          <a:rPr lang="en-NZ" altLang="ja-JP" sz="1600" b="1" i="1" smtClean="0">
                            <a:solidFill>
                              <a:schemeClr val="tx1"/>
                            </a:solidFill>
                            <a:latin typeface="Cambria Math" panose="02040503050406030204" pitchFamily="18" charset="0"/>
                          </a:rPr>
                          <m:t>𝒋</m:t>
                        </m:r>
                      </m:sub>
                    </m:sSub>
                  </m:oMath>
                </a14:m>
                <a:r>
                  <a:rPr lang="en-NZ" altLang="ja-JP" sz="1600" b="1" i="1" dirty="0">
                    <a:solidFill>
                      <a:schemeClr val="tx1"/>
                    </a:solidFill>
                  </a:rPr>
                  <a:t> </a:t>
                </a:r>
                <a:r>
                  <a:rPr lang="en-NZ" altLang="ja-JP" sz="1600" dirty="0">
                    <a:solidFill>
                      <a:schemeClr val="tx1"/>
                    </a:solidFill>
                  </a:rPr>
                  <a:t>is the mean of the </a:t>
                </a:r>
                <a:r>
                  <a:rPr lang="en-NZ" altLang="ja-JP" sz="1600" b="1" i="1" dirty="0" err="1">
                    <a:solidFill>
                      <a:schemeClr val="tx1"/>
                    </a:solidFill>
                  </a:rPr>
                  <a:t>j</a:t>
                </a:r>
                <a:r>
                  <a:rPr lang="en-NZ" altLang="ja-JP" sz="1600" b="1" i="1" baseline="30000" dirty="0" err="1">
                    <a:solidFill>
                      <a:schemeClr val="tx1"/>
                    </a:solidFill>
                  </a:rPr>
                  <a:t>th</a:t>
                </a:r>
                <a:r>
                  <a:rPr lang="en-NZ" altLang="ja-JP" sz="1600" i="1" baseline="-25000" dirty="0">
                    <a:solidFill>
                      <a:schemeClr val="tx1"/>
                    </a:solidFill>
                  </a:rPr>
                  <a:t> </a:t>
                </a:r>
                <a:r>
                  <a:rPr lang="en-NZ" altLang="ja-JP" sz="1600" i="1" dirty="0">
                    <a:solidFill>
                      <a:schemeClr val="tx1"/>
                    </a:solidFill>
                  </a:rPr>
                  <a:t> </a:t>
                </a:r>
                <a:r>
                  <a:rPr lang="en-NZ" altLang="ja-JP" sz="1600" dirty="0">
                    <a:solidFill>
                      <a:schemeClr val="tx1"/>
                    </a:solidFill>
                  </a:rPr>
                  <a:t>level of factor </a:t>
                </a:r>
                <a:r>
                  <a:rPr lang="en-NZ" altLang="ja-JP" sz="1600" b="1" i="1" dirty="0">
                    <a:solidFill>
                      <a:schemeClr val="tx1"/>
                    </a:solidFill>
                  </a:rPr>
                  <a:t>B</a:t>
                </a:r>
              </a:p>
              <a:p>
                <a:pPr>
                  <a:lnSpc>
                    <a:spcPct val="100000"/>
                  </a:lnSpc>
                  <a:defRPr/>
                </a:pPr>
                <a14:m>
                  <m:oMath xmlns:m="http://schemas.openxmlformats.org/officeDocument/2006/math">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𝝁</m:t>
                        </m:r>
                      </m:e>
                      <m:sub>
                        <m:r>
                          <a:rPr lang="en-NZ" altLang="ja-JP" sz="1600" b="1" i="1">
                            <a:solidFill>
                              <a:schemeClr val="tx1"/>
                            </a:solidFill>
                            <a:latin typeface="Cambria Math" panose="02040503050406030204" pitchFamily="18" charset="0"/>
                          </a:rPr>
                          <m:t>𝒊</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𝒋</m:t>
                        </m:r>
                      </m:sub>
                    </m:sSub>
                    <m:r>
                      <a:rPr lang="en-NZ" altLang="ja-JP" sz="1600" b="1" i="1">
                        <a:solidFill>
                          <a:schemeClr val="tx1"/>
                        </a:solidFill>
                        <a:latin typeface="Cambria Math" panose="02040503050406030204" pitchFamily="18" charset="0"/>
                      </a:rPr>
                      <m:t>  =     </m:t>
                    </m:r>
                    <m:r>
                      <a:rPr lang="en-NZ" altLang="ja-JP" sz="1600" b="1" i="1">
                        <a:solidFill>
                          <a:schemeClr val="tx1"/>
                        </a:solidFill>
                        <a:latin typeface="Cambria Math" panose="02040503050406030204" pitchFamily="18" charset="0"/>
                      </a:rPr>
                      <m:t>𝝁</m:t>
                    </m:r>
                    <m:r>
                      <a:rPr lang="en-NZ" altLang="ja-JP" sz="1600" b="1" i="1">
                        <a:solidFill>
                          <a:schemeClr val="tx1"/>
                        </a:solidFill>
                        <a:latin typeface="Cambria Math" panose="02040503050406030204" pitchFamily="18" charset="0"/>
                      </a:rPr>
                      <m:t>  +   </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𝜶</m:t>
                        </m:r>
                      </m:e>
                      <m:sub>
                        <m:r>
                          <a:rPr lang="en-NZ" altLang="ja-JP" sz="1600" b="1" i="1">
                            <a:solidFill>
                              <a:schemeClr val="tx1"/>
                            </a:solidFill>
                            <a:latin typeface="Cambria Math" panose="02040503050406030204" pitchFamily="18" charset="0"/>
                          </a:rPr>
                          <m:t>𝒊</m:t>
                        </m:r>
                      </m:sub>
                    </m:sSub>
                    <m:r>
                      <a:rPr lang="en-NZ" altLang="ja-JP" sz="1600" b="1" i="1">
                        <a:solidFill>
                          <a:schemeClr val="tx1"/>
                        </a:solidFill>
                        <a:latin typeface="Cambria Math" panose="02040503050406030204" pitchFamily="18" charset="0"/>
                      </a:rPr>
                      <m:t>  +   </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𝜷</m:t>
                        </m:r>
                      </m:e>
                      <m:sub>
                        <m:r>
                          <a:rPr lang="en-NZ" altLang="ja-JP" sz="1600" b="1" i="1">
                            <a:solidFill>
                              <a:schemeClr val="tx1"/>
                            </a:solidFill>
                            <a:latin typeface="Cambria Math" panose="02040503050406030204" pitchFamily="18" charset="0"/>
                          </a:rPr>
                          <m:t>𝒋</m:t>
                        </m:r>
                      </m:sub>
                    </m:sSub>
                  </m:oMath>
                </a14:m>
                <a:r>
                  <a:rPr kumimoji="1" lang="en-NZ" altLang="ja-JP" sz="16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  </a:t>
                </a:r>
                <a:r>
                  <a:rPr kumimoji="1" lang="en-NZ" altLang="ja-JP" sz="160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is the mean of cell </a:t>
                </a:r>
                <a:r>
                  <a:rPr kumimoji="1" lang="en-NZ" altLang="ja-JP" sz="16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a:t>
                </a:r>
                <a:r>
                  <a:rPr lang="en-NZ" altLang="ja-JP" sz="1600" b="1" i="1" dirty="0">
                    <a:solidFill>
                      <a:schemeClr val="tx1"/>
                    </a:solidFill>
                    <a:latin typeface="Calibri" panose="020F0502020204030204"/>
                    <a:ea typeface="游ゴシック" panose="020B0400000000000000" pitchFamily="34" charset="-128"/>
                  </a:rPr>
                  <a:t>i</a:t>
                </a:r>
                <a:r>
                  <a:rPr kumimoji="1" lang="en-NZ" altLang="ja-JP" sz="16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,j)</a:t>
                </a:r>
              </a:p>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𝜶</m:t>
                        </m:r>
                      </m:e>
                      <m:sub>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𝒊</m:t>
                        </m:r>
                      </m:sub>
                    </m:sSub>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t>≡</m:t>
                    </m:r>
                    <m:sSub>
                      <m:sSubPr>
                        <m:ctrlP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𝝁</m:t>
                        </m:r>
                      </m:e>
                      <m:sub>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𝒊</m:t>
                        </m:r>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t>⋅</m:t>
                        </m:r>
                      </m:sub>
                    </m:sSub>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𝝁</m:t>
                    </m:r>
                  </m:oMath>
                </a14:m>
                <a:r>
                  <a:rPr kumimoji="1" lang="en-NZ" altLang="ja-JP" sz="16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is the effect of the </a:t>
                </a:r>
                <a:r>
                  <a:rPr kumimoji="1" lang="en-NZ" altLang="ja-JP" sz="1600" b="1" i="1" u="none" strike="noStrike" kern="1200" cap="none" spc="0" normalizeH="0" baseline="0" noProof="0" dirty="0" err="1">
                    <a:ln>
                      <a:noFill/>
                    </a:ln>
                    <a:solidFill>
                      <a:schemeClr val="tx1"/>
                    </a:solidFill>
                    <a:effectLst/>
                    <a:uLnTx/>
                    <a:uFillTx/>
                    <a:latin typeface="Calibri" panose="020F0502020204030204"/>
                    <a:ea typeface="游ゴシック" panose="020B0400000000000000" pitchFamily="34" charset="-128"/>
                    <a:cs typeface="+mn-cs"/>
                  </a:rPr>
                  <a:t>i</a:t>
                </a:r>
                <a:r>
                  <a:rPr kumimoji="1" lang="en-NZ" altLang="ja-JP" sz="1600" b="1" i="1" u="none" strike="noStrike" kern="1200" cap="none" spc="0" normalizeH="0" baseline="30000" noProof="0" dirty="0" err="1">
                    <a:ln>
                      <a:noFill/>
                    </a:ln>
                    <a:solidFill>
                      <a:schemeClr val="tx1"/>
                    </a:solidFill>
                    <a:effectLst/>
                    <a:uLnTx/>
                    <a:uFillTx/>
                    <a:latin typeface="Calibri" panose="020F0502020204030204"/>
                    <a:ea typeface="游ゴシック" panose="020B0400000000000000" pitchFamily="34" charset="-128"/>
                    <a:cs typeface="+mn-cs"/>
                  </a:rPr>
                  <a:t>th</a:t>
                </a:r>
                <a:r>
                  <a:rPr kumimoji="1" lang="en-NZ" altLang="ja-JP" sz="1600" b="0" i="1" u="none" strike="noStrike" kern="1200" cap="none" spc="0" normalizeH="0" baseline="-25000" noProof="0" dirty="0">
                    <a:ln>
                      <a:noFill/>
                    </a:ln>
                    <a:solidFill>
                      <a:schemeClr val="tx1"/>
                    </a:solidFill>
                    <a:effectLst/>
                    <a:uLnTx/>
                    <a:uFillTx/>
                    <a:latin typeface="Calibri" panose="020F0502020204030204"/>
                    <a:ea typeface="游ゴシック" panose="020B0400000000000000" pitchFamily="34" charset="-128"/>
                    <a:cs typeface="+mn-cs"/>
                  </a:rPr>
                  <a:t> </a:t>
                </a:r>
                <a:r>
                  <a:rPr kumimoji="1" lang="en-NZ" altLang="ja-JP" sz="1600" b="0"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level of factor </a:t>
                </a:r>
                <a:r>
                  <a:rPr kumimoji="1" lang="en-NZ" altLang="ja-JP" sz="16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A</a:t>
                </a:r>
              </a:p>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𝜷</m:t>
                        </m:r>
                      </m:e>
                      <m:sub>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𝒋</m:t>
                        </m:r>
                      </m:sub>
                    </m:sSub>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t>≡</m:t>
                    </m:r>
                    <m:sSub>
                      <m:sSubPr>
                        <m:ctrlPr>
                          <a:rPr kumimoji="1" lang="en-NZ" altLang="ja-JP" sz="1600" b="1" i="1" u="none" strike="noStrike" kern="1200" cap="none" spc="0" normalizeH="0" baseline="0" noProof="0">
                            <a:ln>
                              <a:noFill/>
                            </a:ln>
                            <a:solidFill>
                              <a:schemeClr val="tx1"/>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schemeClr val="tx1"/>
                            </a:solidFill>
                            <a:effectLst/>
                            <a:uLnTx/>
                            <a:uFillTx/>
                            <a:latin typeface="Cambria Math" panose="02040503050406030204" pitchFamily="18" charset="0"/>
                            <a:cs typeface="+mn-cs"/>
                          </a:rPr>
                          <m:t>𝝁</m:t>
                        </m:r>
                      </m:e>
                      <m:sub>
                        <m:r>
                          <a:rPr kumimoji="1" lang="en-NZ" altLang="ja-JP" sz="1600" b="1" i="1" u="none" strike="noStrike" kern="1200" cap="none" spc="0" normalizeH="0" baseline="0" noProof="0">
                            <a:ln>
                              <a:noFill/>
                            </a:ln>
                            <a:solidFill>
                              <a:schemeClr val="tx1"/>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𝒋</m:t>
                        </m:r>
                      </m:sub>
                    </m:sSub>
                    <m:r>
                      <a:rPr kumimoji="1" lang="en-NZ" altLang="ja-JP" sz="1600" b="1" i="1" u="none" strike="noStrike" kern="1200" cap="none" spc="0" normalizeH="0" baseline="0" noProof="0">
                        <a:ln>
                          <a:noFill/>
                        </a:ln>
                        <a:solidFill>
                          <a:schemeClr val="tx1"/>
                        </a:solidFill>
                        <a:effectLst/>
                        <a:uLnTx/>
                        <a:uFillTx/>
                        <a:latin typeface="Cambria Math" panose="02040503050406030204" pitchFamily="18" charset="0"/>
                        <a:cs typeface="+mn-cs"/>
                      </a:rPr>
                      <m:t> −</m:t>
                    </m:r>
                    <m:r>
                      <a:rPr kumimoji="1" lang="en-NZ" altLang="ja-JP" sz="1600" b="1" i="1" u="none" strike="noStrike" kern="1200" cap="none" spc="0" normalizeH="0" baseline="0" noProof="0">
                        <a:ln>
                          <a:noFill/>
                        </a:ln>
                        <a:solidFill>
                          <a:schemeClr val="tx1"/>
                        </a:solidFill>
                        <a:effectLst/>
                        <a:uLnTx/>
                        <a:uFillTx/>
                        <a:latin typeface="Cambria Math" panose="02040503050406030204" pitchFamily="18" charset="0"/>
                        <a:cs typeface="+mn-cs"/>
                      </a:rPr>
                      <m:t>𝝁</m:t>
                    </m:r>
                  </m:oMath>
                </a14:m>
                <a:r>
                  <a:rPr kumimoji="1" lang="en-NZ" altLang="ja-JP" sz="16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is the effect of the </a:t>
                </a:r>
                <a:r>
                  <a:rPr kumimoji="1" lang="en-NZ" altLang="ja-JP" sz="1600" b="1" i="1" u="none" strike="noStrike" kern="1200" cap="none" spc="0" normalizeH="0" baseline="0" noProof="0" dirty="0" err="1">
                    <a:ln>
                      <a:noFill/>
                    </a:ln>
                    <a:solidFill>
                      <a:schemeClr val="tx1"/>
                    </a:solidFill>
                    <a:effectLst/>
                    <a:uLnTx/>
                    <a:uFillTx/>
                    <a:latin typeface="Calibri" panose="020F0502020204030204"/>
                    <a:ea typeface="游ゴシック" panose="020B0400000000000000" pitchFamily="34" charset="-128"/>
                    <a:cs typeface="+mn-cs"/>
                  </a:rPr>
                  <a:t>j</a:t>
                </a:r>
                <a:r>
                  <a:rPr kumimoji="1" lang="en-NZ" altLang="ja-JP" sz="1600" b="1" i="1" u="none" strike="noStrike" kern="1200" cap="none" spc="0" normalizeH="0" baseline="30000" noProof="0" dirty="0" err="1">
                    <a:ln>
                      <a:noFill/>
                    </a:ln>
                    <a:solidFill>
                      <a:schemeClr val="tx1"/>
                    </a:solidFill>
                    <a:effectLst/>
                    <a:uLnTx/>
                    <a:uFillTx/>
                    <a:latin typeface="Calibri" panose="020F0502020204030204"/>
                    <a:ea typeface="游ゴシック" panose="020B0400000000000000" pitchFamily="34" charset="-128"/>
                    <a:cs typeface="+mn-cs"/>
                  </a:rPr>
                  <a:t>th</a:t>
                </a:r>
                <a:r>
                  <a:rPr kumimoji="1" lang="en-NZ" altLang="ja-JP" sz="1600" b="0" i="1" u="none" strike="noStrike" kern="1200" cap="none" spc="0" normalizeH="0" baseline="-25000" noProof="0" dirty="0">
                    <a:ln>
                      <a:noFill/>
                    </a:ln>
                    <a:solidFill>
                      <a:schemeClr val="tx1"/>
                    </a:solidFill>
                    <a:effectLst/>
                    <a:uLnTx/>
                    <a:uFillTx/>
                    <a:latin typeface="Calibri" panose="020F0502020204030204"/>
                    <a:ea typeface="游ゴシック" panose="020B0400000000000000" pitchFamily="34" charset="-128"/>
                    <a:cs typeface="+mn-cs"/>
                  </a:rPr>
                  <a:t> </a:t>
                </a:r>
                <a:r>
                  <a:rPr kumimoji="1" lang="en-NZ" altLang="ja-JP" sz="1600" b="0"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level of factor </a:t>
                </a:r>
                <a:r>
                  <a:rPr kumimoji="1" lang="en-NZ" altLang="ja-JP" sz="16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B</a:t>
                </a:r>
              </a:p>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left"/>
                    </m:oMathParaPr>
                    <m:oMath xmlns:m="http://schemas.openxmlformats.org/officeDocument/2006/math">
                      <m:sSub>
                        <m:sSubPr>
                          <m:ctrlPr>
                            <a:rPr kumimoji="1" lang="en-NZ" altLang="ja-JP" sz="1600" b="1" i="1" u="none" strike="noStrike" kern="1200" cap="none" spc="0" normalizeH="0" baseline="0" noProof="0">
                              <a:ln>
                                <a:noFill/>
                              </a:ln>
                              <a:solidFill>
                                <a:schemeClr val="tx1"/>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schemeClr val="tx1"/>
                              </a:solidFill>
                              <a:effectLst/>
                              <a:uLnTx/>
                              <a:uFillTx/>
                              <a:latin typeface="Cambria Math" panose="02040503050406030204" pitchFamily="18" charset="0"/>
                              <a:cs typeface="+mn-cs"/>
                            </a:rPr>
                            <m:t>𝝐</m:t>
                          </m:r>
                        </m:e>
                        <m:sub>
                          <m:r>
                            <a:rPr kumimoji="1" lang="en-NZ" altLang="ja-JP" sz="1600" b="1" i="1" u="none" strike="noStrike" kern="1200" cap="none" spc="0" normalizeH="0" baseline="0" noProof="0">
                              <a:ln>
                                <a:noFill/>
                              </a:ln>
                              <a:solidFill>
                                <a:schemeClr val="tx1"/>
                              </a:solidFill>
                              <a:effectLst/>
                              <a:uLnTx/>
                              <a:uFillTx/>
                              <a:latin typeface="Cambria Math" panose="02040503050406030204" pitchFamily="18" charset="0"/>
                              <a:cs typeface="+mn-cs"/>
                            </a:rPr>
                            <m:t>𝒊𝒋𝒌</m:t>
                          </m:r>
                        </m:sub>
                      </m:sSub>
                      <m:r>
                        <a:rPr kumimoji="1" lang="en-NZ" altLang="ja-JP" sz="1600" b="1" i="1" u="none" strike="noStrike" kern="1200" cap="none" spc="0" normalizeH="0" baseline="0" noProof="0">
                          <a:ln>
                            <a:noFill/>
                          </a:ln>
                          <a:solidFill>
                            <a:schemeClr val="tx1"/>
                          </a:solidFill>
                          <a:effectLst/>
                          <a:uLnTx/>
                          <a:uFillTx/>
                          <a:latin typeface="Cambria Math" panose="02040503050406030204" pitchFamily="18" charset="0"/>
                          <a:cs typeface="+mn-cs"/>
                        </a:rPr>
                        <m:t> ~ </m:t>
                      </m:r>
                      <m:r>
                        <a:rPr kumimoji="1" lang="en-NZ" altLang="ja-JP" sz="1600" b="1" i="1" u="none" strike="noStrike" kern="1200" cap="none" spc="0" normalizeH="0" baseline="0" noProof="0">
                          <a:ln>
                            <a:noFill/>
                          </a:ln>
                          <a:solidFill>
                            <a:schemeClr val="tx1"/>
                          </a:solidFill>
                          <a:effectLst/>
                          <a:uLnTx/>
                          <a:uFillTx/>
                          <a:latin typeface="Cambria Math" panose="02040503050406030204" pitchFamily="18" charset="0"/>
                          <a:cs typeface="+mn-cs"/>
                        </a:rPr>
                        <m:t>𝑵</m:t>
                      </m:r>
                      <m:d>
                        <m:dPr>
                          <m:ctrlPr>
                            <a:rPr kumimoji="1" lang="en-NZ" altLang="ja-JP" sz="1600" b="1" i="1" u="none" strike="noStrike" kern="1200" cap="none" spc="0" normalizeH="0" baseline="0" noProof="0">
                              <a:ln>
                                <a:noFill/>
                              </a:ln>
                              <a:solidFill>
                                <a:schemeClr val="tx1"/>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a:ln>
                                <a:noFill/>
                              </a:ln>
                              <a:solidFill>
                                <a:schemeClr val="tx1"/>
                              </a:solidFill>
                              <a:effectLst/>
                              <a:uLnTx/>
                              <a:uFillTx/>
                              <a:latin typeface="Cambria Math" panose="02040503050406030204" pitchFamily="18" charset="0"/>
                              <a:cs typeface="+mn-cs"/>
                            </a:rPr>
                            <m:t>𝟎</m:t>
                          </m:r>
                          <m:r>
                            <a:rPr kumimoji="1" lang="en-NZ" altLang="ja-JP" sz="1600" b="1" i="1" u="none" strike="noStrike" kern="1200" cap="none" spc="0" normalizeH="0" baseline="0" noProof="0">
                              <a:ln>
                                <a:noFill/>
                              </a:ln>
                              <a:solidFill>
                                <a:schemeClr val="tx1"/>
                              </a:solidFill>
                              <a:effectLst/>
                              <a:uLnTx/>
                              <a:uFillTx/>
                              <a:latin typeface="Cambria Math" panose="02040503050406030204" pitchFamily="18" charset="0"/>
                              <a:cs typeface="+mn-cs"/>
                            </a:rPr>
                            <m:t>, </m:t>
                          </m:r>
                          <m:sSup>
                            <m:sSupPr>
                              <m:ctrlPr>
                                <a:rPr kumimoji="1" lang="en-NZ" altLang="ja-JP" sz="1600" b="1" i="1" u="none" strike="noStrike" kern="1200" cap="none" spc="0" normalizeH="0" baseline="0" noProof="0">
                                  <a:ln>
                                    <a:noFill/>
                                  </a:ln>
                                  <a:solidFill>
                                    <a:schemeClr val="tx1"/>
                                  </a:solidFill>
                                  <a:effectLst/>
                                  <a:uLnTx/>
                                  <a:uFillTx/>
                                  <a:latin typeface="Cambria Math" panose="02040503050406030204" pitchFamily="18" charset="0"/>
                                  <a:cs typeface="+mn-cs"/>
                                </a:rPr>
                              </m:ctrlPr>
                            </m:sSupPr>
                            <m:e>
                              <m:r>
                                <a:rPr kumimoji="1" lang="en-NZ" altLang="ja-JP" sz="1600" b="1" i="1" u="none" strike="noStrike" kern="1200" cap="none" spc="0" normalizeH="0" baseline="0" noProof="0">
                                  <a:ln>
                                    <a:noFill/>
                                  </a:ln>
                                  <a:solidFill>
                                    <a:schemeClr val="tx1"/>
                                  </a:solidFill>
                                  <a:effectLst/>
                                  <a:uLnTx/>
                                  <a:uFillTx/>
                                  <a:latin typeface="Cambria Math" panose="02040503050406030204" pitchFamily="18" charset="0"/>
                                  <a:cs typeface="+mn-cs"/>
                                </a:rPr>
                                <m:t>𝝈</m:t>
                              </m:r>
                            </m:e>
                            <m:sup>
                              <m:r>
                                <a:rPr kumimoji="1" lang="en-NZ" altLang="ja-JP" sz="1600" b="1" i="1" u="none" strike="noStrike" kern="1200" cap="none" spc="0" normalizeH="0" baseline="0" noProof="0">
                                  <a:ln>
                                    <a:noFill/>
                                  </a:ln>
                                  <a:solidFill>
                                    <a:schemeClr val="tx1"/>
                                  </a:solidFill>
                                  <a:effectLst/>
                                  <a:uLnTx/>
                                  <a:uFillTx/>
                                  <a:latin typeface="Cambria Math" panose="02040503050406030204" pitchFamily="18" charset="0"/>
                                  <a:cs typeface="+mn-cs"/>
                                </a:rPr>
                                <m:t>𝟐</m:t>
                              </m:r>
                            </m:sup>
                          </m:sSup>
                        </m:e>
                      </m:d>
                    </m:oMath>
                  </m:oMathPara>
                </a14:m>
                <a:endParaRPr kumimoji="1" lang="en-NZ" altLang="ja-JP" sz="16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  </a:t>
                </a:r>
              </a:p>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p:txBody>
          </p:sp>
        </mc:Choice>
        <mc:Fallback xmlns="">
          <p:sp>
            <p:nvSpPr>
              <p:cNvPr id="26" name="Text Placeholder 5">
                <a:extLst>
                  <a:ext uri="{FF2B5EF4-FFF2-40B4-BE49-F238E27FC236}">
                    <a16:creationId xmlns:a16="http://schemas.microsoft.com/office/drawing/2014/main" id="{F3814146-C81B-4A37-9709-280518413AE1}"/>
                  </a:ext>
                </a:extLst>
              </p:cNvPr>
              <p:cNvSpPr txBox="1">
                <a:spLocks noRot="1" noChangeAspect="1" noMove="1" noResize="1" noEditPoints="1" noAdjustHandles="1" noChangeArrowheads="1" noChangeShapeType="1" noTextEdit="1"/>
              </p:cNvSpPr>
              <p:nvPr/>
            </p:nvSpPr>
            <p:spPr>
              <a:xfrm>
                <a:off x="6976417" y="2432335"/>
                <a:ext cx="4867734" cy="1968453"/>
              </a:xfrm>
              <a:prstGeom prst="rect">
                <a:avLst/>
              </a:prstGeom>
              <a:blipFill>
                <a:blip r:embed="rId4"/>
                <a:stretch>
                  <a:fillRect l="-626" t="-929"/>
                </a:stretch>
              </a:blipFill>
            </p:spPr>
            <p:txBody>
              <a:bodyPr/>
              <a:lstStyle/>
              <a:p>
                <a:r>
                  <a:rPr lang="en-NZ">
                    <a:noFill/>
                  </a:rPr>
                  <a:t> </a:t>
                </a:r>
              </a:p>
            </p:txBody>
          </p:sp>
        </mc:Fallback>
      </mc:AlternateContent>
      <p:sp>
        <p:nvSpPr>
          <p:cNvPr id="27" name="Text Placeholder 5">
            <a:extLst>
              <a:ext uri="{FF2B5EF4-FFF2-40B4-BE49-F238E27FC236}">
                <a16:creationId xmlns:a16="http://schemas.microsoft.com/office/drawing/2014/main" id="{7EFEC6AC-B6F8-4C53-B23E-DCDE6249908E}"/>
              </a:ext>
            </a:extLst>
          </p:cNvPr>
          <p:cNvSpPr txBox="1">
            <a:spLocks/>
          </p:cNvSpPr>
          <p:nvPr/>
        </p:nvSpPr>
        <p:spPr>
          <a:xfrm>
            <a:off x="461806" y="4330265"/>
            <a:ext cx="4579200" cy="4449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also have the constraints:</a:t>
            </a:r>
            <a:endPar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8" name="Text Placeholder 5">
                <a:extLst>
                  <a:ext uri="{FF2B5EF4-FFF2-40B4-BE49-F238E27FC236}">
                    <a16:creationId xmlns:a16="http://schemas.microsoft.com/office/drawing/2014/main" id="{8A81AE0C-FBF0-42C6-815E-AB07E0A9DF02}"/>
                  </a:ext>
                </a:extLst>
              </p:cNvPr>
              <p:cNvSpPr txBox="1">
                <a:spLocks/>
              </p:cNvSpPr>
              <p:nvPr/>
            </p:nvSpPr>
            <p:spPr>
              <a:xfrm>
                <a:off x="677488" y="4854089"/>
                <a:ext cx="1405094" cy="4449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nary>
                      <m:naryPr>
                        <m:chr m:val="∑"/>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naryPr>
                      <m:sub>
                        <m:r>
                          <m:rPr>
                            <m:brk m:alnAt="23"/>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𝒂</m:t>
                        </m:r>
                      </m:sup>
                      <m:e>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𝜶</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𝟎</m:t>
                        </m:r>
                      </m:e>
                    </m:nary>
                  </m:oMath>
                </a14:m>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8" name="Text Placeholder 5">
                <a:extLst>
                  <a:ext uri="{FF2B5EF4-FFF2-40B4-BE49-F238E27FC236}">
                    <a16:creationId xmlns:a16="http://schemas.microsoft.com/office/drawing/2014/main" id="{8A81AE0C-FBF0-42C6-815E-AB07E0A9DF02}"/>
                  </a:ext>
                </a:extLst>
              </p:cNvPr>
              <p:cNvSpPr txBox="1">
                <a:spLocks noRot="1" noChangeAspect="1" noMove="1" noResize="1" noEditPoints="1" noAdjustHandles="1" noChangeArrowheads="1" noChangeShapeType="1" noTextEdit="1"/>
              </p:cNvSpPr>
              <p:nvPr/>
            </p:nvSpPr>
            <p:spPr>
              <a:xfrm>
                <a:off x="677488" y="4854089"/>
                <a:ext cx="1405094" cy="444936"/>
              </a:xfrm>
              <a:prstGeom prst="rect">
                <a:avLst/>
              </a:prstGeom>
              <a:blipFill>
                <a:blip r:embed="rId5"/>
                <a:stretch>
                  <a:fillRect l="-23810" t="-100000" b="-136986"/>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9" name="Text Placeholder 5">
                <a:extLst>
                  <a:ext uri="{FF2B5EF4-FFF2-40B4-BE49-F238E27FC236}">
                    <a16:creationId xmlns:a16="http://schemas.microsoft.com/office/drawing/2014/main" id="{ACAA663F-A6B2-4E80-A0DF-AFB466212773}"/>
                  </a:ext>
                </a:extLst>
              </p:cNvPr>
              <p:cNvSpPr txBox="1">
                <a:spLocks/>
              </p:cNvSpPr>
              <p:nvPr/>
            </p:nvSpPr>
            <p:spPr>
              <a:xfrm>
                <a:off x="3306388" y="4854089"/>
                <a:ext cx="2230812" cy="4449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nary>
                      <m:naryPr>
                        <m:chr m:val="∑"/>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naryPr>
                      <m:sub>
                        <m:r>
                          <m:rPr>
                            <m:brk m:alnAt="23"/>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𝒂</m:t>
                        </m:r>
                      </m:sup>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𝝁</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𝝁</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𝟎</m:t>
                        </m:r>
                      </m:e>
                    </m:nary>
                  </m:oMath>
                </a14:m>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9" name="Text Placeholder 5">
                <a:extLst>
                  <a:ext uri="{FF2B5EF4-FFF2-40B4-BE49-F238E27FC236}">
                    <a16:creationId xmlns:a16="http://schemas.microsoft.com/office/drawing/2014/main" id="{ACAA663F-A6B2-4E80-A0DF-AFB466212773}"/>
                  </a:ext>
                </a:extLst>
              </p:cNvPr>
              <p:cNvSpPr txBox="1">
                <a:spLocks noRot="1" noChangeAspect="1" noMove="1" noResize="1" noEditPoints="1" noAdjustHandles="1" noChangeArrowheads="1" noChangeShapeType="1" noTextEdit="1"/>
              </p:cNvSpPr>
              <p:nvPr/>
            </p:nvSpPr>
            <p:spPr>
              <a:xfrm>
                <a:off x="3306388" y="4854089"/>
                <a:ext cx="2230812" cy="444936"/>
              </a:xfrm>
              <a:prstGeom prst="rect">
                <a:avLst/>
              </a:prstGeom>
              <a:blipFill>
                <a:blip r:embed="rId6"/>
                <a:stretch>
                  <a:fillRect l="-15027" t="-100000" b="-136986"/>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1" name="Text Placeholder 5">
                <a:extLst>
                  <a:ext uri="{FF2B5EF4-FFF2-40B4-BE49-F238E27FC236}">
                    <a16:creationId xmlns:a16="http://schemas.microsoft.com/office/drawing/2014/main" id="{39D2369F-E6CD-4293-BC15-B8DAF16F1413}"/>
                  </a:ext>
                </a:extLst>
              </p:cNvPr>
              <p:cNvSpPr txBox="1">
                <a:spLocks/>
              </p:cNvSpPr>
              <p:nvPr/>
            </p:nvSpPr>
            <p:spPr>
              <a:xfrm>
                <a:off x="6264812" y="4754990"/>
                <a:ext cx="2230812" cy="4449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f>
                      <m:f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fPr>
                      <m:num>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num>
                      <m:den>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𝒂</m:t>
                        </m:r>
                      </m:den>
                    </m:f>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nary>
                      <m:naryPr>
                        <m:chr m:val="∑"/>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naryPr>
                      <m:sub>
                        <m:r>
                          <m:rPr>
                            <m:brk m:alnAt="23"/>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𝒂</m:t>
                        </m:r>
                      </m:sup>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𝝁</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𝝁</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e>
                    </m:nary>
                  </m:oMath>
                </a14:m>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31" name="Text Placeholder 5">
                <a:extLst>
                  <a:ext uri="{FF2B5EF4-FFF2-40B4-BE49-F238E27FC236}">
                    <a16:creationId xmlns:a16="http://schemas.microsoft.com/office/drawing/2014/main" id="{39D2369F-E6CD-4293-BC15-B8DAF16F1413}"/>
                  </a:ext>
                </a:extLst>
              </p:cNvPr>
              <p:cNvSpPr txBox="1">
                <a:spLocks noRot="1" noChangeAspect="1" noMove="1" noResize="1" noEditPoints="1" noAdjustHandles="1" noChangeArrowheads="1" noChangeShapeType="1" noTextEdit="1"/>
              </p:cNvSpPr>
              <p:nvPr/>
            </p:nvSpPr>
            <p:spPr>
              <a:xfrm>
                <a:off x="6264812" y="4754990"/>
                <a:ext cx="2230812" cy="444936"/>
              </a:xfrm>
              <a:prstGeom prst="rect">
                <a:avLst/>
              </a:prstGeom>
              <a:blipFill>
                <a:blip r:embed="rId7"/>
                <a:stretch>
                  <a:fillRect l="-6557" t="-84932" b="-152055"/>
                </a:stretch>
              </a:blipFill>
            </p:spPr>
            <p:txBody>
              <a:bodyPr/>
              <a:lstStyle/>
              <a:p>
                <a:r>
                  <a:rPr lang="en-NZ">
                    <a:noFill/>
                  </a:rPr>
                  <a:t> </a:t>
                </a:r>
              </a:p>
            </p:txBody>
          </p:sp>
        </mc:Fallback>
      </mc:AlternateContent>
      <p:sp>
        <p:nvSpPr>
          <p:cNvPr id="32" name="Text Placeholder 5">
            <a:extLst>
              <a:ext uri="{FF2B5EF4-FFF2-40B4-BE49-F238E27FC236}">
                <a16:creationId xmlns:a16="http://schemas.microsoft.com/office/drawing/2014/main" id="{AA01C186-366E-4117-A881-6D8B4B260211}"/>
              </a:ext>
            </a:extLst>
          </p:cNvPr>
          <p:cNvSpPr txBox="1">
            <a:spLocks/>
          </p:cNvSpPr>
          <p:nvPr/>
        </p:nvSpPr>
        <p:spPr>
          <a:xfrm>
            <a:off x="8748643" y="4624771"/>
            <a:ext cx="2808027"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600" dirty="0">
                <a:solidFill>
                  <a:schemeClr val="bg2">
                    <a:lumMod val="50000"/>
                  </a:schemeClr>
                </a:solidFill>
                <a:latin typeface="Calibri" panose="020F0502020204030204"/>
                <a:ea typeface="游ゴシック" panose="020B0400000000000000" pitchFamily="34" charset="-128"/>
              </a:rPr>
              <a:t>The </a:t>
            </a:r>
            <a:r>
              <a:rPr lang="en-NZ" altLang="ja-JP" sz="1600" dirty="0" err="1">
                <a:solidFill>
                  <a:schemeClr val="bg2">
                    <a:lumMod val="50000"/>
                  </a:schemeClr>
                </a:solidFill>
                <a:latin typeface="Calibri" panose="020F0502020204030204"/>
                <a:ea typeface="游ゴシック" panose="020B0400000000000000" pitchFamily="34" charset="-128"/>
              </a:rPr>
              <a:t>avg</a:t>
            </a:r>
            <a:r>
              <a:rPr lang="en-NZ" altLang="ja-JP" sz="1600" dirty="0">
                <a:solidFill>
                  <a:schemeClr val="bg2">
                    <a:lumMod val="50000"/>
                  </a:schemeClr>
                </a:solidFill>
                <a:latin typeface="Calibri" panose="020F0502020204030204"/>
                <a:ea typeface="游ゴシック" panose="020B0400000000000000" pitchFamily="34" charset="-128"/>
              </a:rPr>
              <a:t> of the treatment level means is equal to the population mean</a:t>
            </a:r>
            <a:endParaRPr kumimoji="1" lang="en-NZ" altLang="ja-JP" sz="1600" b="0" i="1"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33" name="Text Placeholder 5">
                <a:extLst>
                  <a:ext uri="{FF2B5EF4-FFF2-40B4-BE49-F238E27FC236}">
                    <a16:creationId xmlns:a16="http://schemas.microsoft.com/office/drawing/2014/main" id="{95CF2BED-A0AA-4941-BBED-7188BF2BE188}"/>
                  </a:ext>
                </a:extLst>
              </p:cNvPr>
              <p:cNvSpPr txBox="1">
                <a:spLocks/>
              </p:cNvSpPr>
              <p:nvPr/>
            </p:nvSpPr>
            <p:spPr>
              <a:xfrm>
                <a:off x="677488" y="5778368"/>
                <a:ext cx="1405094" cy="4449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nary>
                      <m:naryPr>
                        <m:chr m:val="∑"/>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naryPr>
                      <m:sub>
                        <m:r>
                          <m:rPr>
                            <m:brk m:alnAt="23"/>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𝒋</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𝒃</m:t>
                        </m:r>
                      </m:sup>
                      <m:e>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𝜷</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𝒋</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𝟎</m:t>
                        </m:r>
                      </m:e>
                    </m:nary>
                  </m:oMath>
                </a14:m>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33" name="Text Placeholder 5">
                <a:extLst>
                  <a:ext uri="{FF2B5EF4-FFF2-40B4-BE49-F238E27FC236}">
                    <a16:creationId xmlns:a16="http://schemas.microsoft.com/office/drawing/2014/main" id="{95CF2BED-A0AA-4941-BBED-7188BF2BE188}"/>
                  </a:ext>
                </a:extLst>
              </p:cNvPr>
              <p:cNvSpPr txBox="1">
                <a:spLocks noRot="1" noChangeAspect="1" noMove="1" noResize="1" noEditPoints="1" noAdjustHandles="1" noChangeArrowheads="1" noChangeShapeType="1" noTextEdit="1"/>
              </p:cNvSpPr>
              <p:nvPr/>
            </p:nvSpPr>
            <p:spPr>
              <a:xfrm>
                <a:off x="677488" y="5778368"/>
                <a:ext cx="1405094" cy="444936"/>
              </a:xfrm>
              <a:prstGeom prst="rect">
                <a:avLst/>
              </a:prstGeom>
              <a:blipFill>
                <a:blip r:embed="rId8"/>
                <a:stretch>
                  <a:fillRect l="-23810" t="-93151" b="-143836"/>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4" name="Text Placeholder 5">
                <a:extLst>
                  <a:ext uri="{FF2B5EF4-FFF2-40B4-BE49-F238E27FC236}">
                    <a16:creationId xmlns:a16="http://schemas.microsoft.com/office/drawing/2014/main" id="{AFE5E193-928E-47B3-972D-5BACD60744EC}"/>
                  </a:ext>
                </a:extLst>
              </p:cNvPr>
              <p:cNvSpPr txBox="1">
                <a:spLocks/>
              </p:cNvSpPr>
              <p:nvPr/>
            </p:nvSpPr>
            <p:spPr>
              <a:xfrm>
                <a:off x="3306388" y="5778368"/>
                <a:ext cx="2230812" cy="4449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nary>
                      <m:naryPr>
                        <m:chr m:val="∑"/>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naryPr>
                      <m:sub>
                        <m:r>
                          <m:rPr>
                            <m:brk m:alnAt="23"/>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𝒋</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𝒃</m:t>
                        </m:r>
                      </m:sup>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𝝁</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𝒋</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𝝁</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𝟎</m:t>
                        </m:r>
                      </m:e>
                    </m:nary>
                  </m:oMath>
                </a14:m>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34" name="Text Placeholder 5">
                <a:extLst>
                  <a:ext uri="{FF2B5EF4-FFF2-40B4-BE49-F238E27FC236}">
                    <a16:creationId xmlns:a16="http://schemas.microsoft.com/office/drawing/2014/main" id="{AFE5E193-928E-47B3-972D-5BACD60744EC}"/>
                  </a:ext>
                </a:extLst>
              </p:cNvPr>
              <p:cNvSpPr txBox="1">
                <a:spLocks noRot="1" noChangeAspect="1" noMove="1" noResize="1" noEditPoints="1" noAdjustHandles="1" noChangeArrowheads="1" noChangeShapeType="1" noTextEdit="1"/>
              </p:cNvSpPr>
              <p:nvPr/>
            </p:nvSpPr>
            <p:spPr>
              <a:xfrm>
                <a:off x="3306388" y="5778368"/>
                <a:ext cx="2230812" cy="444936"/>
              </a:xfrm>
              <a:prstGeom prst="rect">
                <a:avLst/>
              </a:prstGeom>
              <a:blipFill>
                <a:blip r:embed="rId9"/>
                <a:stretch>
                  <a:fillRect l="-15027" t="-93151" b="-143836"/>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5" name="Text Placeholder 5">
                <a:extLst>
                  <a:ext uri="{FF2B5EF4-FFF2-40B4-BE49-F238E27FC236}">
                    <a16:creationId xmlns:a16="http://schemas.microsoft.com/office/drawing/2014/main" id="{2ED83F85-3CCA-4099-9E11-2A0407D24F84}"/>
                  </a:ext>
                </a:extLst>
              </p:cNvPr>
              <p:cNvSpPr txBox="1">
                <a:spLocks/>
              </p:cNvSpPr>
              <p:nvPr/>
            </p:nvSpPr>
            <p:spPr>
              <a:xfrm>
                <a:off x="6264812" y="5679269"/>
                <a:ext cx="2230812" cy="4449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f>
                      <m:f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fPr>
                      <m:num>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num>
                      <m:den>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𝒃</m:t>
                        </m:r>
                      </m:den>
                    </m:f>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nary>
                      <m:naryPr>
                        <m:chr m:val="∑"/>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naryPr>
                      <m:sub>
                        <m:r>
                          <m:rPr>
                            <m:brk m:alnAt="23"/>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𝒋</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𝒃</m:t>
                        </m:r>
                      </m:sup>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𝝁</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𝒋</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𝝁</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e>
                    </m:nary>
                  </m:oMath>
                </a14:m>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35" name="Text Placeholder 5">
                <a:extLst>
                  <a:ext uri="{FF2B5EF4-FFF2-40B4-BE49-F238E27FC236}">
                    <a16:creationId xmlns:a16="http://schemas.microsoft.com/office/drawing/2014/main" id="{2ED83F85-3CCA-4099-9E11-2A0407D24F84}"/>
                  </a:ext>
                </a:extLst>
              </p:cNvPr>
              <p:cNvSpPr txBox="1">
                <a:spLocks noRot="1" noChangeAspect="1" noMove="1" noResize="1" noEditPoints="1" noAdjustHandles="1" noChangeArrowheads="1" noChangeShapeType="1" noTextEdit="1"/>
              </p:cNvSpPr>
              <p:nvPr/>
            </p:nvSpPr>
            <p:spPr>
              <a:xfrm>
                <a:off x="6264812" y="5679269"/>
                <a:ext cx="2230812" cy="444936"/>
              </a:xfrm>
              <a:prstGeom prst="rect">
                <a:avLst/>
              </a:prstGeom>
              <a:blipFill>
                <a:blip r:embed="rId10"/>
                <a:stretch>
                  <a:fillRect l="-6831" t="-84932" b="-152055"/>
                </a:stretch>
              </a:blipFill>
            </p:spPr>
            <p:txBody>
              <a:bodyPr/>
              <a:lstStyle/>
              <a:p>
                <a:r>
                  <a:rPr lang="en-NZ">
                    <a:noFill/>
                  </a:rPr>
                  <a:t> </a:t>
                </a:r>
              </a:p>
            </p:txBody>
          </p:sp>
        </mc:Fallback>
      </mc:AlternateContent>
      <p:sp>
        <p:nvSpPr>
          <p:cNvPr id="36" name="Text Placeholder 5">
            <a:extLst>
              <a:ext uri="{FF2B5EF4-FFF2-40B4-BE49-F238E27FC236}">
                <a16:creationId xmlns:a16="http://schemas.microsoft.com/office/drawing/2014/main" id="{14D53787-A319-4D68-9E3A-0C5437484A7A}"/>
              </a:ext>
            </a:extLst>
          </p:cNvPr>
          <p:cNvSpPr txBox="1">
            <a:spLocks/>
          </p:cNvSpPr>
          <p:nvPr/>
        </p:nvSpPr>
        <p:spPr>
          <a:xfrm>
            <a:off x="8748643" y="5635711"/>
            <a:ext cx="2808027"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600">
                <a:solidFill>
                  <a:schemeClr val="bg2">
                    <a:lumMod val="50000"/>
                  </a:schemeClr>
                </a:solidFill>
                <a:latin typeface="Calibri" panose="020F0502020204030204"/>
                <a:ea typeface="游ゴシック" panose="020B0400000000000000" pitchFamily="34" charset="-128"/>
              </a:rPr>
              <a:t>The </a:t>
            </a:r>
            <a:r>
              <a:rPr lang="en-NZ" altLang="ja-JP" sz="1600" dirty="0" err="1">
                <a:solidFill>
                  <a:schemeClr val="bg2">
                    <a:lumMod val="50000"/>
                  </a:schemeClr>
                </a:solidFill>
                <a:latin typeface="Calibri" panose="020F0502020204030204"/>
                <a:ea typeface="游ゴシック" panose="020B0400000000000000" pitchFamily="34" charset="-128"/>
              </a:rPr>
              <a:t>avg</a:t>
            </a:r>
            <a:r>
              <a:rPr lang="en-NZ" altLang="ja-JP" sz="1600" dirty="0">
                <a:solidFill>
                  <a:schemeClr val="bg2">
                    <a:lumMod val="50000"/>
                  </a:schemeClr>
                </a:solidFill>
                <a:latin typeface="Calibri" panose="020F0502020204030204"/>
                <a:ea typeface="游ゴシック" panose="020B0400000000000000" pitchFamily="34" charset="-128"/>
              </a:rPr>
              <a:t> </a:t>
            </a:r>
            <a:r>
              <a:rPr lang="en-NZ" altLang="ja-JP" sz="1600">
                <a:solidFill>
                  <a:schemeClr val="bg2">
                    <a:lumMod val="50000"/>
                  </a:schemeClr>
                </a:solidFill>
                <a:latin typeface="Calibri" panose="020F0502020204030204"/>
                <a:ea typeface="游ゴシック" panose="020B0400000000000000" pitchFamily="34" charset="-128"/>
              </a:rPr>
              <a:t>of the blocking level means is equal to the population mean</a:t>
            </a:r>
            <a:endParaRPr kumimoji="1" lang="en-NZ" altLang="ja-JP" sz="1600" b="0" i="1"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endParaRPr>
          </a:p>
        </p:txBody>
      </p:sp>
      <p:sp>
        <p:nvSpPr>
          <p:cNvPr id="37" name="Text Placeholder 5">
            <a:extLst>
              <a:ext uri="{FF2B5EF4-FFF2-40B4-BE49-F238E27FC236}">
                <a16:creationId xmlns:a16="http://schemas.microsoft.com/office/drawing/2014/main" id="{0D368C9A-2AEC-4D82-B5D9-1D1A6FCC7522}"/>
              </a:ext>
            </a:extLst>
          </p:cNvPr>
          <p:cNvSpPr txBox="1">
            <a:spLocks/>
          </p:cNvSpPr>
          <p:nvPr/>
        </p:nvSpPr>
        <p:spPr>
          <a:xfrm>
            <a:off x="2452523" y="4876026"/>
            <a:ext cx="465511"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prstClr val="black"/>
                </a:solidFill>
                <a:latin typeface="Calibri" panose="020F0502020204030204"/>
                <a:ea typeface="游ゴシック" panose="020B0400000000000000" pitchFamily="34" charset="-128"/>
                <a:sym typeface="Wingdings" panose="05000000000000000000" pitchFamily="2" charset="2"/>
              </a:rPr>
              <a:t></a:t>
            </a: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39" name="Text Placeholder 5">
            <a:extLst>
              <a:ext uri="{FF2B5EF4-FFF2-40B4-BE49-F238E27FC236}">
                <a16:creationId xmlns:a16="http://schemas.microsoft.com/office/drawing/2014/main" id="{530DDB6E-60DF-45B6-88C6-D1737BB3F03A}"/>
              </a:ext>
            </a:extLst>
          </p:cNvPr>
          <p:cNvSpPr txBox="1">
            <a:spLocks/>
          </p:cNvSpPr>
          <p:nvPr/>
        </p:nvSpPr>
        <p:spPr>
          <a:xfrm>
            <a:off x="5668250" y="4876026"/>
            <a:ext cx="465511"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prstClr val="black"/>
                </a:solidFill>
                <a:latin typeface="Calibri" panose="020F0502020204030204"/>
                <a:ea typeface="游ゴシック" panose="020B0400000000000000" pitchFamily="34" charset="-128"/>
                <a:sym typeface="Wingdings" panose="05000000000000000000" pitchFamily="2" charset="2"/>
              </a:rPr>
              <a:t></a:t>
            </a: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40" name="Text Placeholder 5">
            <a:extLst>
              <a:ext uri="{FF2B5EF4-FFF2-40B4-BE49-F238E27FC236}">
                <a16:creationId xmlns:a16="http://schemas.microsoft.com/office/drawing/2014/main" id="{93A9099D-B019-4F1D-94EE-9FE2403F6059}"/>
              </a:ext>
            </a:extLst>
          </p:cNvPr>
          <p:cNvSpPr txBox="1">
            <a:spLocks/>
          </p:cNvSpPr>
          <p:nvPr/>
        </p:nvSpPr>
        <p:spPr>
          <a:xfrm>
            <a:off x="8149187" y="4854089"/>
            <a:ext cx="465511"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prstClr val="black"/>
                </a:solidFill>
                <a:latin typeface="Calibri" panose="020F0502020204030204"/>
                <a:ea typeface="游ゴシック" panose="020B0400000000000000" pitchFamily="34" charset="-128"/>
                <a:sym typeface="Wingdings" panose="05000000000000000000" pitchFamily="2" charset="2"/>
              </a:rPr>
              <a:t></a:t>
            </a: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41" name="Text Placeholder 5">
            <a:extLst>
              <a:ext uri="{FF2B5EF4-FFF2-40B4-BE49-F238E27FC236}">
                <a16:creationId xmlns:a16="http://schemas.microsoft.com/office/drawing/2014/main" id="{9A999371-252F-4839-903C-1F9C3CFA3613}"/>
              </a:ext>
            </a:extLst>
          </p:cNvPr>
          <p:cNvSpPr txBox="1">
            <a:spLocks/>
          </p:cNvSpPr>
          <p:nvPr/>
        </p:nvSpPr>
        <p:spPr>
          <a:xfrm>
            <a:off x="2452523" y="5807005"/>
            <a:ext cx="465511"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prstClr val="black"/>
                </a:solidFill>
                <a:latin typeface="Calibri" panose="020F0502020204030204"/>
                <a:ea typeface="游ゴシック" panose="020B0400000000000000" pitchFamily="34" charset="-128"/>
                <a:sym typeface="Wingdings" panose="05000000000000000000" pitchFamily="2" charset="2"/>
              </a:rPr>
              <a:t></a:t>
            </a: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42" name="Text Placeholder 5">
            <a:extLst>
              <a:ext uri="{FF2B5EF4-FFF2-40B4-BE49-F238E27FC236}">
                <a16:creationId xmlns:a16="http://schemas.microsoft.com/office/drawing/2014/main" id="{95D4EAF7-68DC-4523-BAFD-CEFA5FC64C6B}"/>
              </a:ext>
            </a:extLst>
          </p:cNvPr>
          <p:cNvSpPr txBox="1">
            <a:spLocks/>
          </p:cNvSpPr>
          <p:nvPr/>
        </p:nvSpPr>
        <p:spPr>
          <a:xfrm>
            <a:off x="5668250" y="5807005"/>
            <a:ext cx="465511"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prstClr val="black"/>
                </a:solidFill>
                <a:latin typeface="Calibri" panose="020F0502020204030204"/>
                <a:ea typeface="游ゴシック" panose="020B0400000000000000" pitchFamily="34" charset="-128"/>
                <a:sym typeface="Wingdings" panose="05000000000000000000" pitchFamily="2" charset="2"/>
              </a:rPr>
              <a:t></a:t>
            </a: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43" name="Text Placeholder 5">
            <a:extLst>
              <a:ext uri="{FF2B5EF4-FFF2-40B4-BE49-F238E27FC236}">
                <a16:creationId xmlns:a16="http://schemas.microsoft.com/office/drawing/2014/main" id="{48A6E32E-E7AE-4732-98BC-347289E27629}"/>
              </a:ext>
            </a:extLst>
          </p:cNvPr>
          <p:cNvSpPr txBox="1">
            <a:spLocks/>
          </p:cNvSpPr>
          <p:nvPr/>
        </p:nvSpPr>
        <p:spPr>
          <a:xfrm>
            <a:off x="8149187" y="5785068"/>
            <a:ext cx="465511"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prstClr val="black"/>
                </a:solidFill>
                <a:latin typeface="Calibri" panose="020F0502020204030204"/>
                <a:ea typeface="游ゴシック" panose="020B0400000000000000" pitchFamily="34" charset="-128"/>
                <a:sym typeface="Wingdings" panose="05000000000000000000" pitchFamily="2" charset="2"/>
              </a:rPr>
              <a:t></a:t>
            </a: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30" name="Footer Placeholder 2">
            <a:extLst>
              <a:ext uri="{FF2B5EF4-FFF2-40B4-BE49-F238E27FC236}">
                <a16:creationId xmlns:a16="http://schemas.microsoft.com/office/drawing/2014/main" id="{516F29EF-BECB-C27C-8F81-C4B9ABC9CFE6}"/>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4.3 – </a:t>
            </a:r>
            <a:r>
              <a:rPr kumimoji="1" lang="en-US" altLang="ja-JP" sz="1600" dirty="0">
                <a:solidFill>
                  <a:srgbClr val="DEDDDD"/>
                </a:solidFill>
                <a:latin typeface="Gidole"/>
                <a:ea typeface="游ゴシック" panose="020B0400000000000000" pitchFamily="34" charset="-128"/>
              </a:rPr>
              <a:t>Fixed Effects Model</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228421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9" grpId="0"/>
      <p:bldP spid="31" grpId="0"/>
      <p:bldP spid="32" grpId="0"/>
      <p:bldP spid="33" grpId="0"/>
      <p:bldP spid="34" grpId="0"/>
      <p:bldP spid="35" grpId="0"/>
      <p:bldP spid="36" grpId="0"/>
      <p:bldP spid="37" grpId="0"/>
      <p:bldP spid="39" grpId="0"/>
      <p:bldP spid="40" grpId="0"/>
      <p:bldP spid="41" grpId="0"/>
      <p:bldP spid="42" grpId="0"/>
      <p:bldP spid="4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7" name="Title 6">
            <a:extLst>
              <a:ext uri="{FF2B5EF4-FFF2-40B4-BE49-F238E27FC236}">
                <a16:creationId xmlns:a16="http://schemas.microsoft.com/office/drawing/2014/main" id="{4ACB7FAA-E9E1-4274-A8D0-489528A3C0F6}"/>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4.3a – The Fixed Effects Model</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21" name="Text Placeholder 5">
            <a:extLst>
              <a:ext uri="{FF2B5EF4-FFF2-40B4-BE49-F238E27FC236}">
                <a16:creationId xmlns:a16="http://schemas.microsoft.com/office/drawing/2014/main" id="{DBA0427A-F068-434B-84BF-17437B3BF697}"/>
              </a:ext>
            </a:extLst>
          </p:cNvPr>
          <p:cNvSpPr txBox="1">
            <a:spLocks/>
          </p:cNvSpPr>
          <p:nvPr/>
        </p:nvSpPr>
        <p:spPr>
          <a:xfrm>
            <a:off x="251224" y="926071"/>
            <a:ext cx="11232109"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a:solidFill>
                  <a:schemeClr val="tx1"/>
                </a:solidFill>
              </a:rPr>
              <a:t>Of course, we </a:t>
            </a:r>
            <a:r>
              <a:rPr lang="en-NZ" altLang="ja-JP" sz="1800" dirty="0">
                <a:solidFill>
                  <a:schemeClr val="tx1"/>
                </a:solidFill>
              </a:rPr>
              <a:t>don’t know </a:t>
            </a:r>
            <a:r>
              <a:rPr lang="en-NZ" altLang="ja-JP" sz="1800">
                <a:solidFill>
                  <a:schemeClr val="tx1"/>
                </a:solidFill>
              </a:rPr>
              <a:t>what the true values of the parameters in the model are. </a:t>
            </a:r>
            <a:endParaRPr lang="en-NZ" altLang="ja-JP" sz="1800" dirty="0">
              <a:solidFill>
                <a:schemeClr val="tx1"/>
              </a:solidFill>
            </a:endParaRPr>
          </a:p>
          <a:p>
            <a:pPr algn="just">
              <a:lnSpc>
                <a:spcPct val="100000"/>
              </a:lnSpc>
            </a:pPr>
            <a:r>
              <a:rPr lang="en-NZ" altLang="ja-JP" sz="1800" dirty="0">
                <a:solidFill>
                  <a:schemeClr val="tx1"/>
                </a:solidFill>
              </a:rPr>
              <a:t>As such</a:t>
            </a:r>
            <a:r>
              <a:rPr lang="en-NZ" altLang="ja-JP" sz="1800">
                <a:solidFill>
                  <a:schemeClr val="tx1"/>
                </a:solidFill>
              </a:rPr>
              <a:t>, we must estimate these parameters from the </a:t>
            </a:r>
            <a:r>
              <a:rPr lang="en-NZ" altLang="ja-JP" sz="1800" dirty="0">
                <a:solidFill>
                  <a:schemeClr val="tx1"/>
                </a:solidFill>
              </a:rPr>
              <a:t>data</a:t>
            </a:r>
          </a:p>
          <a:p>
            <a:pPr algn="just">
              <a:lnSpc>
                <a:spcPct val="100000"/>
              </a:lnSpc>
            </a:pPr>
            <a:r>
              <a:rPr lang="en-NZ" altLang="ja-JP" sz="1800" dirty="0">
                <a:solidFill>
                  <a:schemeClr val="tx1"/>
                </a:solidFill>
              </a:rPr>
              <a:t>  </a:t>
            </a:r>
          </a:p>
          <a:p>
            <a:pPr algn="just">
              <a:lnSpc>
                <a:spcPct val="100000"/>
              </a:lnSpc>
            </a:pPr>
            <a:endParaRPr lang="en-NZ" altLang="ja-JP" sz="1800" dirty="0">
              <a:solidFill>
                <a:schemeClr val="tx1"/>
              </a:solidFill>
            </a:endParaRPr>
          </a:p>
        </p:txBody>
      </p:sp>
      <mc:AlternateContent xmlns:mc="http://schemas.openxmlformats.org/markup-compatibility/2006" xmlns:a14="http://schemas.microsoft.com/office/drawing/2010/main">
        <mc:Choice Requires="a14">
          <p:graphicFrame>
            <p:nvGraphicFramePr>
              <p:cNvPr id="22" name="Table 2">
                <a:extLst>
                  <a:ext uri="{FF2B5EF4-FFF2-40B4-BE49-F238E27FC236}">
                    <a16:creationId xmlns:a16="http://schemas.microsoft.com/office/drawing/2014/main" id="{68C4A14C-F897-4C2E-8A89-87A356FB86B1}"/>
                  </a:ext>
                </a:extLst>
              </p:cNvPr>
              <p:cNvGraphicFramePr>
                <a:graphicFrameLocks noGrp="1"/>
              </p:cNvGraphicFramePr>
              <p:nvPr>
                <p:extLst>
                  <p:ext uri="{D42A27DB-BD31-4B8C-83A1-F6EECF244321}">
                    <p14:modId xmlns:p14="http://schemas.microsoft.com/office/powerpoint/2010/main" val="1882791089"/>
                  </p:ext>
                </p:extLst>
              </p:nvPr>
            </p:nvGraphicFramePr>
            <p:xfrm>
              <a:off x="1009427" y="1682451"/>
              <a:ext cx="10173145" cy="4817502"/>
            </p:xfrm>
            <a:graphic>
              <a:graphicData uri="http://schemas.openxmlformats.org/drawingml/2006/table">
                <a:tbl>
                  <a:tblPr firstRow="1" bandRow="1">
                    <a:tableStyleId>{5C22544A-7EE6-4342-B048-85BDC9FD1C3A}</a:tableStyleId>
                  </a:tblPr>
                  <a:tblGrid>
                    <a:gridCol w="1799874">
                      <a:extLst>
                        <a:ext uri="{9D8B030D-6E8A-4147-A177-3AD203B41FA5}">
                          <a16:colId xmlns:a16="http://schemas.microsoft.com/office/drawing/2014/main" val="4198110682"/>
                        </a:ext>
                      </a:extLst>
                    </a:gridCol>
                    <a:gridCol w="4483865">
                      <a:extLst>
                        <a:ext uri="{9D8B030D-6E8A-4147-A177-3AD203B41FA5}">
                          <a16:colId xmlns:a16="http://schemas.microsoft.com/office/drawing/2014/main" val="292302729"/>
                        </a:ext>
                      </a:extLst>
                    </a:gridCol>
                    <a:gridCol w="3889406">
                      <a:extLst>
                        <a:ext uri="{9D8B030D-6E8A-4147-A177-3AD203B41FA5}">
                          <a16:colId xmlns:a16="http://schemas.microsoft.com/office/drawing/2014/main" val="126256495"/>
                        </a:ext>
                      </a:extLst>
                    </a:gridCol>
                  </a:tblGrid>
                  <a:tr h="415412">
                    <a:tc>
                      <a:txBody>
                        <a:bodyPr/>
                        <a:lstStyle/>
                        <a:p>
                          <a:pPr algn="ctr"/>
                          <a:r>
                            <a:rPr lang="en-NZ"/>
                            <a:t>Parameter</a:t>
                          </a:r>
                          <a:endParaRPr lang="en-NZ" dirty="0"/>
                        </a:p>
                      </a:txBody>
                      <a:tcPr anchor="ctr"/>
                    </a:tc>
                    <a:tc>
                      <a:txBody>
                        <a:bodyPr/>
                        <a:lstStyle/>
                        <a:p>
                          <a:pPr algn="ctr"/>
                          <a:r>
                            <a:rPr lang="en-NZ" dirty="0"/>
                            <a:t>Unbiassed Estimator</a:t>
                          </a:r>
                        </a:p>
                      </a:txBody>
                      <a:tcPr anchor="ctr"/>
                    </a:tc>
                    <a:tc>
                      <a:txBody>
                        <a:bodyPr/>
                        <a:lstStyle/>
                        <a:p>
                          <a:pPr algn="ctr"/>
                          <a:r>
                            <a:rPr lang="en-NZ"/>
                            <a:t>Meaning</a:t>
                          </a:r>
                          <a:endParaRPr lang="en-NZ" dirty="0"/>
                        </a:p>
                      </a:txBody>
                      <a:tcPr anchor="ctr"/>
                    </a:tc>
                    <a:extLst>
                      <a:ext uri="{0D108BD9-81ED-4DB2-BD59-A6C34878D82A}">
                        <a16:rowId xmlns:a16="http://schemas.microsoft.com/office/drawing/2014/main" val="3666350365"/>
                      </a:ext>
                    </a:extLst>
                  </a:tr>
                  <a:tr h="716159">
                    <a:tc>
                      <a:txBody>
                        <a:bodyPr/>
                        <a:lstStyle/>
                        <a:p>
                          <a:pPr algn="ctr"/>
                          <a14:m>
                            <m:oMathPara xmlns:m="http://schemas.openxmlformats.org/officeDocument/2006/math">
                              <m:oMathParaPr>
                                <m:jc m:val="centerGroup"/>
                              </m:oMathParaPr>
                              <m:oMath xmlns:m="http://schemas.openxmlformats.org/officeDocument/2006/math">
                                <m:r>
                                  <a:rPr lang="en-NZ" sz="1600" b="0" i="1" smtClean="0">
                                    <a:latin typeface="Cambria Math" panose="02040503050406030204" pitchFamily="18" charset="0"/>
                                  </a:rPr>
                                  <m:t>𝜇</m:t>
                                </m:r>
                              </m:oMath>
                            </m:oMathPara>
                          </a14:m>
                          <a:endParaRPr lang="en-NZ" sz="1600" dirty="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NZ" sz="1600" b="0" i="1" smtClean="0">
                                        <a:latin typeface="Cambria Math" panose="02040503050406030204" pitchFamily="18" charset="0"/>
                                      </a:rPr>
                                    </m:ctrlPr>
                                  </m:sSubPr>
                                  <m:e>
                                    <m:acc>
                                      <m:accPr>
                                        <m:chr m:val="̂"/>
                                        <m:ctrlPr>
                                          <a:rPr lang="en-NZ" sz="1600" b="0" i="1" smtClean="0">
                                            <a:latin typeface="Cambria Math" panose="02040503050406030204" pitchFamily="18" charset="0"/>
                                          </a:rPr>
                                        </m:ctrlPr>
                                      </m:accPr>
                                      <m:e>
                                        <m:r>
                                          <a:rPr lang="en-NZ" sz="1600" b="0" i="1" smtClean="0">
                                            <a:latin typeface="Cambria Math" panose="02040503050406030204" pitchFamily="18" charset="0"/>
                                          </a:rPr>
                                          <m:t>𝜇</m:t>
                                        </m:r>
                                      </m:e>
                                    </m:acc>
                                    <m:r>
                                      <a:rPr lang="en-NZ" sz="1600" b="0" i="1" smtClean="0">
                                        <a:latin typeface="Cambria Math" panose="02040503050406030204" pitchFamily="18" charset="0"/>
                                      </a:rPr>
                                      <m:t>= </m:t>
                                    </m:r>
                                    <m:acc>
                                      <m:accPr>
                                        <m:chr m:val="̅"/>
                                        <m:ctrlPr>
                                          <a:rPr lang="en-NZ" sz="1600" i="1" smtClean="0">
                                            <a:latin typeface="Cambria Math" panose="02040503050406030204" pitchFamily="18" charset="0"/>
                                          </a:rPr>
                                        </m:ctrlPr>
                                      </m:accPr>
                                      <m:e>
                                        <m:r>
                                          <a:rPr lang="en-NZ" sz="1600" b="0" i="1" smtClean="0">
                                            <a:latin typeface="Cambria Math" panose="02040503050406030204" pitchFamily="18" charset="0"/>
                                          </a:rPr>
                                          <m:t>𝑌</m:t>
                                        </m:r>
                                      </m:e>
                                    </m:acc>
                                  </m:e>
                                  <m:sub>
                                    <m:r>
                                      <a:rPr lang="en-NZ" sz="1600" i="1" smtClean="0">
                                        <a:latin typeface="Cambria Math" panose="02040503050406030204" pitchFamily="18" charset="0"/>
                                        <a:ea typeface="Cambria Math" panose="02040503050406030204" pitchFamily="18" charset="0"/>
                                      </a:rPr>
                                      <m:t>∙∙∙</m:t>
                                    </m:r>
                                  </m:sub>
                                </m:sSub>
                                <m:r>
                                  <a:rPr lang="en-NZ" sz="1600" b="0" i="1" smtClean="0">
                                    <a:latin typeface="Cambria Math" panose="02040503050406030204" pitchFamily="18" charset="0"/>
                                    <a:ea typeface="Cambria Math" panose="02040503050406030204" pitchFamily="18" charset="0"/>
                                  </a:rPr>
                                  <m:t>= </m:t>
                                </m:r>
                                <m:f>
                                  <m:fPr>
                                    <m:type m:val="lin"/>
                                    <m:ctrlPr>
                                      <a:rPr lang="en-NZ" sz="1600" b="0" i="1" smtClean="0">
                                        <a:latin typeface="Cambria Math" panose="02040503050406030204" pitchFamily="18" charset="0"/>
                                        <a:ea typeface="Cambria Math" panose="02040503050406030204" pitchFamily="18" charset="0"/>
                                      </a:rPr>
                                    </m:ctrlPr>
                                  </m:fPr>
                                  <m:num>
                                    <m:r>
                                      <a:rPr lang="en-NZ" sz="1600" b="0" i="1" smtClean="0">
                                        <a:latin typeface="Cambria Math" panose="02040503050406030204" pitchFamily="18" charset="0"/>
                                        <a:ea typeface="Cambria Math" panose="02040503050406030204" pitchFamily="18" charset="0"/>
                                      </a:rPr>
                                      <m:t>1</m:t>
                                    </m:r>
                                  </m:num>
                                  <m:den>
                                    <m:r>
                                      <a:rPr lang="en-NZ" sz="1600" b="0" i="1" smtClean="0">
                                        <a:latin typeface="Cambria Math" panose="02040503050406030204" pitchFamily="18" charset="0"/>
                                        <a:ea typeface="Cambria Math" panose="02040503050406030204" pitchFamily="18" charset="0"/>
                                      </a:rPr>
                                      <m:t>(</m:t>
                                    </m:r>
                                    <m:r>
                                      <a:rPr lang="en-NZ" sz="1600" b="0" i="1" smtClean="0">
                                        <a:latin typeface="Cambria Math" panose="02040503050406030204" pitchFamily="18" charset="0"/>
                                        <a:ea typeface="Cambria Math" panose="02040503050406030204" pitchFamily="18" charset="0"/>
                                      </a:rPr>
                                      <m:t>𝑎𝑏𝑛</m:t>
                                    </m:r>
                                    <m:r>
                                      <a:rPr lang="en-NZ" sz="1600" b="0" i="1" smtClean="0">
                                        <a:latin typeface="Cambria Math" panose="02040503050406030204" pitchFamily="18" charset="0"/>
                                        <a:ea typeface="Cambria Math" panose="02040503050406030204" pitchFamily="18" charset="0"/>
                                      </a:rPr>
                                      <m:t>)</m:t>
                                    </m:r>
                                  </m:den>
                                </m:f>
                                <m:r>
                                  <a:rPr lang="en-NZ" sz="1600" b="0" i="1" smtClean="0">
                                    <a:latin typeface="Cambria Math" panose="02040503050406030204" pitchFamily="18" charset="0"/>
                                    <a:ea typeface="Cambria Math" panose="02040503050406030204" pitchFamily="18" charset="0"/>
                                  </a:rPr>
                                  <m:t> ∗</m:t>
                                </m:r>
                                <m:d>
                                  <m:dPr>
                                    <m:ctrlPr>
                                      <a:rPr lang="en-NZ" sz="1600" b="0" i="1" smtClean="0">
                                        <a:latin typeface="Cambria Math" panose="02040503050406030204" pitchFamily="18" charset="0"/>
                                        <a:ea typeface="Cambria Math" panose="02040503050406030204" pitchFamily="18" charset="0"/>
                                      </a:rPr>
                                    </m:ctrlPr>
                                  </m:dPr>
                                  <m:e>
                                    <m:nary>
                                      <m:naryPr>
                                        <m:chr m:val="∑"/>
                                        <m:limLoc m:val="subSup"/>
                                        <m:ctrlPr>
                                          <a:rPr lang="en-NZ" sz="1600" b="0" i="1" smtClean="0">
                                            <a:latin typeface="Cambria Math" panose="02040503050406030204" pitchFamily="18" charset="0"/>
                                            <a:ea typeface="Cambria Math" panose="02040503050406030204" pitchFamily="18" charset="0"/>
                                          </a:rPr>
                                        </m:ctrlPr>
                                      </m:naryPr>
                                      <m:sub>
                                        <m:r>
                                          <m:rPr>
                                            <m:brk m:alnAt="25"/>
                                          </m:rPr>
                                          <a:rPr lang="en-NZ" sz="1600" b="0" i="1" smtClean="0">
                                            <a:latin typeface="Cambria Math" panose="02040503050406030204" pitchFamily="18" charset="0"/>
                                            <a:ea typeface="Cambria Math" panose="02040503050406030204" pitchFamily="18" charset="0"/>
                                          </a:rPr>
                                          <m:t>𝑖</m:t>
                                        </m:r>
                                        <m:r>
                                          <a:rPr lang="en-NZ" sz="1600" b="0" i="1" smtClean="0">
                                            <a:latin typeface="Cambria Math" panose="02040503050406030204" pitchFamily="18" charset="0"/>
                                            <a:ea typeface="Cambria Math" panose="02040503050406030204" pitchFamily="18" charset="0"/>
                                          </a:rPr>
                                          <m:t>=1</m:t>
                                        </m:r>
                                      </m:sub>
                                      <m:sup>
                                        <m:r>
                                          <a:rPr lang="en-NZ" sz="1600" b="0" i="1" smtClean="0">
                                            <a:latin typeface="Cambria Math" panose="02040503050406030204" pitchFamily="18" charset="0"/>
                                            <a:ea typeface="Cambria Math" panose="02040503050406030204" pitchFamily="18" charset="0"/>
                                          </a:rPr>
                                          <m:t>𝑎</m:t>
                                        </m:r>
                                      </m:sup>
                                      <m:e>
                                        <m:nary>
                                          <m:naryPr>
                                            <m:chr m:val="∑"/>
                                            <m:limLoc m:val="subSup"/>
                                            <m:ctrlPr>
                                              <a:rPr lang="en-NZ" sz="1600" b="0" i="1" smtClean="0">
                                                <a:latin typeface="Cambria Math" panose="02040503050406030204" pitchFamily="18" charset="0"/>
                                                <a:ea typeface="Cambria Math" panose="02040503050406030204" pitchFamily="18" charset="0"/>
                                              </a:rPr>
                                            </m:ctrlPr>
                                          </m:naryPr>
                                          <m:sub>
                                            <m:r>
                                              <m:rPr>
                                                <m:brk m:alnAt="1"/>
                                              </m:rPr>
                                              <a:rPr lang="en-NZ" sz="1600" b="0" i="1" smtClean="0">
                                                <a:latin typeface="Cambria Math" panose="02040503050406030204" pitchFamily="18" charset="0"/>
                                                <a:ea typeface="Cambria Math" panose="02040503050406030204" pitchFamily="18" charset="0"/>
                                              </a:rPr>
                                              <m:t>𝑗</m:t>
                                            </m:r>
                                            <m:r>
                                              <a:rPr lang="en-NZ" sz="1600" b="0" i="1" smtClean="0">
                                                <a:latin typeface="Cambria Math" panose="02040503050406030204" pitchFamily="18" charset="0"/>
                                                <a:ea typeface="Cambria Math" panose="02040503050406030204" pitchFamily="18" charset="0"/>
                                              </a:rPr>
                                              <m:t>=1</m:t>
                                            </m:r>
                                          </m:sub>
                                          <m:sup>
                                            <m:r>
                                              <a:rPr lang="en-NZ" sz="1600" b="0" i="1" smtClean="0">
                                                <a:latin typeface="Cambria Math" panose="02040503050406030204" pitchFamily="18" charset="0"/>
                                                <a:ea typeface="Cambria Math" panose="02040503050406030204" pitchFamily="18" charset="0"/>
                                              </a:rPr>
                                              <m:t>𝑏</m:t>
                                            </m:r>
                                          </m:sup>
                                          <m:e>
                                            <m:nary>
                                              <m:naryPr>
                                                <m:chr m:val="∑"/>
                                                <m:limLoc m:val="subSup"/>
                                                <m:ctrlPr>
                                                  <a:rPr lang="en-NZ" sz="1600" b="0" i="1" smtClean="0">
                                                    <a:latin typeface="Cambria Math" panose="02040503050406030204" pitchFamily="18" charset="0"/>
                                                    <a:ea typeface="Cambria Math" panose="02040503050406030204" pitchFamily="18" charset="0"/>
                                                  </a:rPr>
                                                </m:ctrlPr>
                                              </m:naryPr>
                                              <m:sub>
                                                <m:r>
                                                  <m:rPr>
                                                    <m:brk m:alnAt="25"/>
                                                  </m:rPr>
                                                  <a:rPr lang="en-NZ" sz="1600" b="0" i="1" smtClean="0">
                                                    <a:latin typeface="Cambria Math" panose="02040503050406030204" pitchFamily="18" charset="0"/>
                                                    <a:ea typeface="Cambria Math" panose="02040503050406030204" pitchFamily="18" charset="0"/>
                                                  </a:rPr>
                                                  <m:t>𝑘</m:t>
                                                </m:r>
                                                <m:r>
                                                  <a:rPr lang="en-NZ" sz="1600" b="0" i="1" smtClean="0">
                                                    <a:latin typeface="Cambria Math" panose="02040503050406030204" pitchFamily="18" charset="0"/>
                                                    <a:ea typeface="Cambria Math" panose="02040503050406030204" pitchFamily="18" charset="0"/>
                                                  </a:rPr>
                                                  <m:t>=1</m:t>
                                                </m:r>
                                              </m:sub>
                                              <m:sup>
                                                <m:r>
                                                  <a:rPr lang="en-NZ" sz="1600" b="0" i="1" smtClean="0">
                                                    <a:latin typeface="Cambria Math" panose="02040503050406030204" pitchFamily="18" charset="0"/>
                                                    <a:ea typeface="Cambria Math" panose="02040503050406030204" pitchFamily="18" charset="0"/>
                                                  </a:rPr>
                                                  <m:t>𝑛</m:t>
                                                </m:r>
                                              </m:sup>
                                              <m:e>
                                                <m:sSub>
                                                  <m:sSubPr>
                                                    <m:ctrlPr>
                                                      <a:rPr lang="en-NZ" sz="1600" b="0" i="1" smtClean="0">
                                                        <a:latin typeface="Cambria Math" panose="02040503050406030204" pitchFamily="18" charset="0"/>
                                                        <a:ea typeface="Cambria Math" panose="02040503050406030204" pitchFamily="18" charset="0"/>
                                                      </a:rPr>
                                                    </m:ctrlPr>
                                                  </m:sSubPr>
                                                  <m:e>
                                                    <m:r>
                                                      <a:rPr lang="en-NZ" sz="1600" b="0" i="1" smtClean="0">
                                                        <a:latin typeface="Cambria Math" panose="02040503050406030204" pitchFamily="18" charset="0"/>
                                                        <a:ea typeface="Cambria Math" panose="02040503050406030204" pitchFamily="18" charset="0"/>
                                                      </a:rPr>
                                                      <m:t>𝑌</m:t>
                                                    </m:r>
                                                  </m:e>
                                                  <m:sub>
                                                    <m:r>
                                                      <a:rPr lang="en-NZ" sz="1600" b="0" i="1" smtClean="0">
                                                        <a:latin typeface="Cambria Math" panose="02040503050406030204" pitchFamily="18" charset="0"/>
                                                        <a:ea typeface="Cambria Math" panose="02040503050406030204" pitchFamily="18" charset="0"/>
                                                      </a:rPr>
                                                      <m:t>𝑖𝑗𝑘</m:t>
                                                    </m:r>
                                                  </m:sub>
                                                </m:sSub>
                                              </m:e>
                                            </m:nary>
                                          </m:e>
                                        </m:nary>
                                      </m:e>
                                    </m:nary>
                                  </m:e>
                                </m:d>
                              </m:oMath>
                            </m:oMathPara>
                          </a14:m>
                          <a:endParaRPr lang="en-NZ" sz="1600" dirty="0"/>
                        </a:p>
                      </a:txBody>
                      <a:tcPr anchor="ctr"/>
                    </a:tc>
                    <a:tc>
                      <a:txBody>
                        <a:bodyPr/>
                        <a:lstStyle/>
                        <a:p>
                          <a:pPr algn="ctr"/>
                          <a:r>
                            <a:rPr lang="en-NZ" sz="1600"/>
                            <a:t>Overall Mean</a:t>
                          </a:r>
                          <a:endParaRPr lang="en-NZ" sz="1600" dirty="0"/>
                        </a:p>
                      </a:txBody>
                      <a:tcPr anchor="ctr"/>
                    </a:tc>
                    <a:extLst>
                      <a:ext uri="{0D108BD9-81ED-4DB2-BD59-A6C34878D82A}">
                        <a16:rowId xmlns:a16="http://schemas.microsoft.com/office/drawing/2014/main" val="3341485952"/>
                      </a:ext>
                    </a:extLst>
                  </a:tr>
                  <a:tr h="63905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NZ" sz="1600" b="0" i="1" smtClean="0">
                                        <a:latin typeface="Cambria Math" panose="02040503050406030204" pitchFamily="18" charset="0"/>
                                      </a:rPr>
                                    </m:ctrlPr>
                                  </m:sSubPr>
                                  <m:e>
                                    <m:r>
                                      <a:rPr lang="en-NZ" sz="1600" b="0" i="1" smtClean="0">
                                        <a:latin typeface="Cambria Math" panose="02040503050406030204" pitchFamily="18" charset="0"/>
                                      </a:rPr>
                                      <m:t>𝜇</m:t>
                                    </m:r>
                                  </m:e>
                                  <m:sub>
                                    <m:r>
                                      <a:rPr lang="en-NZ" sz="1600" b="0" i="1" smtClean="0">
                                        <a:latin typeface="Cambria Math" panose="02040503050406030204" pitchFamily="18" charset="0"/>
                                      </a:rPr>
                                      <m:t>𝑖𝑗</m:t>
                                    </m:r>
                                  </m:sub>
                                </m:sSub>
                              </m:oMath>
                            </m:oMathPara>
                          </a14:m>
                          <a:endParaRPr lang="en-NZ" sz="1600" dirty="0"/>
                        </a:p>
                      </a:txBody>
                      <a:tcPr anchor="ctr"/>
                    </a:tc>
                    <a:tc>
                      <a:txBody>
                        <a:bodyPr/>
                        <a:lstStyle/>
                        <a:p>
                          <a:pPr algn="ctr"/>
                          <a14:m>
                            <m:oMathPara xmlns:m="http://schemas.openxmlformats.org/officeDocument/2006/math">
                              <m:oMathParaPr>
                                <m:jc m:val="centerGroup"/>
                              </m:oMathParaPr>
                              <m:oMath xmlns:m="http://schemas.openxmlformats.org/officeDocument/2006/math">
                                <m:acc>
                                  <m:accPr>
                                    <m:chr m:val="̂"/>
                                    <m:ctrlPr>
                                      <a:rPr lang="en-NZ" sz="1600" i="1" smtClean="0">
                                        <a:latin typeface="Cambria Math" panose="02040503050406030204" pitchFamily="18" charset="0"/>
                                      </a:rPr>
                                    </m:ctrlPr>
                                  </m:accPr>
                                  <m:e>
                                    <m:sSub>
                                      <m:sSubPr>
                                        <m:ctrlPr>
                                          <a:rPr lang="en-NZ" sz="1600" b="0" i="1" smtClean="0">
                                            <a:latin typeface="Cambria Math" panose="02040503050406030204" pitchFamily="18" charset="0"/>
                                          </a:rPr>
                                        </m:ctrlPr>
                                      </m:sSubPr>
                                      <m:e>
                                        <m:r>
                                          <a:rPr lang="en-NZ" sz="1600" b="0" i="1" smtClean="0">
                                            <a:latin typeface="Cambria Math" panose="02040503050406030204" pitchFamily="18" charset="0"/>
                                          </a:rPr>
                                          <m:t>𝜇</m:t>
                                        </m:r>
                                      </m:e>
                                      <m:sub>
                                        <m:r>
                                          <a:rPr lang="en-NZ" sz="1600" b="0" i="1" smtClean="0">
                                            <a:latin typeface="Cambria Math" panose="02040503050406030204" pitchFamily="18" charset="0"/>
                                          </a:rPr>
                                          <m:t>𝑖𝑗</m:t>
                                        </m:r>
                                      </m:sub>
                                    </m:sSub>
                                  </m:e>
                                </m:acc>
                                <m:r>
                                  <a:rPr lang="en-NZ" sz="1600" b="0" i="1" smtClean="0">
                                    <a:latin typeface="Cambria Math" panose="02040503050406030204" pitchFamily="18" charset="0"/>
                                  </a:rPr>
                                  <m:t>=</m:t>
                                </m:r>
                                <m:sSub>
                                  <m:sSubPr>
                                    <m:ctrlPr>
                                      <a:rPr lang="en-NZ" sz="1600" b="0" i="1" smtClean="0">
                                        <a:latin typeface="Cambria Math" panose="02040503050406030204" pitchFamily="18" charset="0"/>
                                      </a:rPr>
                                    </m:ctrlPr>
                                  </m:sSubPr>
                                  <m:e>
                                    <m:acc>
                                      <m:accPr>
                                        <m:chr m:val="̅"/>
                                        <m:ctrlPr>
                                          <a:rPr lang="en-NZ" sz="1600" i="1" smtClean="0">
                                            <a:latin typeface="Cambria Math" panose="02040503050406030204" pitchFamily="18" charset="0"/>
                                          </a:rPr>
                                        </m:ctrlPr>
                                      </m:accPr>
                                      <m:e>
                                        <m:r>
                                          <a:rPr lang="en-NZ" sz="1600" b="0" i="1" smtClean="0">
                                            <a:latin typeface="Cambria Math" panose="02040503050406030204" pitchFamily="18" charset="0"/>
                                          </a:rPr>
                                          <m:t>𝑌</m:t>
                                        </m:r>
                                      </m:e>
                                    </m:acc>
                                  </m:e>
                                  <m:sub>
                                    <m:r>
                                      <a:rPr lang="en-NZ" sz="1600" b="0" i="1" smtClean="0">
                                        <a:latin typeface="Cambria Math" panose="02040503050406030204" pitchFamily="18" charset="0"/>
                                      </a:rPr>
                                      <m:t>𝑖𝑗</m:t>
                                    </m:r>
                                    <m:r>
                                      <a:rPr lang="en-NZ" sz="1600" b="0" i="1" smtClean="0">
                                        <a:latin typeface="Cambria Math" panose="02040503050406030204" pitchFamily="18" charset="0"/>
                                        <a:ea typeface="Cambria Math" panose="02040503050406030204" pitchFamily="18" charset="0"/>
                                      </a:rPr>
                                      <m:t>∙</m:t>
                                    </m:r>
                                  </m:sub>
                                </m:sSub>
                                <m:r>
                                  <a:rPr lang="en-NZ" sz="1600" b="0" i="1" smtClean="0">
                                    <a:latin typeface="Cambria Math" panose="02040503050406030204" pitchFamily="18" charset="0"/>
                                    <a:ea typeface="Cambria Math" panose="02040503050406030204" pitchFamily="18" charset="0"/>
                                  </a:rPr>
                                  <m:t>= </m:t>
                                </m:r>
                                <m:f>
                                  <m:fPr>
                                    <m:type m:val="lin"/>
                                    <m:ctrlPr>
                                      <a:rPr lang="en-NZ" sz="1600" b="0" i="1" smtClean="0">
                                        <a:latin typeface="Cambria Math" panose="02040503050406030204" pitchFamily="18" charset="0"/>
                                        <a:ea typeface="Cambria Math" panose="02040503050406030204" pitchFamily="18" charset="0"/>
                                      </a:rPr>
                                    </m:ctrlPr>
                                  </m:fPr>
                                  <m:num>
                                    <m:r>
                                      <a:rPr lang="en-NZ" sz="1600" b="0" i="1" smtClean="0">
                                        <a:latin typeface="Cambria Math" panose="02040503050406030204" pitchFamily="18" charset="0"/>
                                        <a:ea typeface="Cambria Math" panose="02040503050406030204" pitchFamily="18" charset="0"/>
                                      </a:rPr>
                                      <m:t>1</m:t>
                                    </m:r>
                                  </m:num>
                                  <m:den>
                                    <m:r>
                                      <a:rPr lang="en-NZ" sz="1600" b="0" i="1" smtClean="0">
                                        <a:latin typeface="Cambria Math" panose="02040503050406030204" pitchFamily="18" charset="0"/>
                                        <a:ea typeface="Cambria Math" panose="02040503050406030204" pitchFamily="18" charset="0"/>
                                      </a:rPr>
                                      <m:t>𝑛</m:t>
                                    </m:r>
                                  </m:den>
                                </m:f>
                                <m:r>
                                  <a:rPr lang="en-NZ" sz="1600" b="0" i="1" smtClean="0">
                                    <a:latin typeface="Cambria Math" panose="02040503050406030204" pitchFamily="18" charset="0"/>
                                    <a:ea typeface="Cambria Math" panose="02040503050406030204" pitchFamily="18" charset="0"/>
                                  </a:rPr>
                                  <m:t> ∗ </m:t>
                                </m:r>
                                <m:nary>
                                  <m:naryPr>
                                    <m:chr m:val="∑"/>
                                    <m:limLoc m:val="subSup"/>
                                    <m:ctrlPr>
                                      <a:rPr lang="en-NZ" sz="1600" b="0" i="1" smtClean="0">
                                        <a:latin typeface="Cambria Math" panose="02040503050406030204" pitchFamily="18" charset="0"/>
                                        <a:ea typeface="Cambria Math" panose="02040503050406030204" pitchFamily="18" charset="0"/>
                                      </a:rPr>
                                    </m:ctrlPr>
                                  </m:naryPr>
                                  <m:sub>
                                    <m:r>
                                      <m:rPr>
                                        <m:brk m:alnAt="25"/>
                                      </m:rPr>
                                      <a:rPr lang="en-NZ" sz="1600" b="0" i="1" smtClean="0">
                                        <a:latin typeface="Cambria Math" panose="02040503050406030204" pitchFamily="18" charset="0"/>
                                        <a:ea typeface="Cambria Math" panose="02040503050406030204" pitchFamily="18" charset="0"/>
                                      </a:rPr>
                                      <m:t>𝑘</m:t>
                                    </m:r>
                                    <m:r>
                                      <a:rPr lang="en-NZ" sz="1600" b="0" i="1" smtClean="0">
                                        <a:latin typeface="Cambria Math" panose="02040503050406030204" pitchFamily="18" charset="0"/>
                                        <a:ea typeface="Cambria Math" panose="02040503050406030204" pitchFamily="18" charset="0"/>
                                      </a:rPr>
                                      <m:t>=1</m:t>
                                    </m:r>
                                  </m:sub>
                                  <m:sup>
                                    <m:r>
                                      <a:rPr lang="en-NZ" sz="1600" b="0" i="1" smtClean="0">
                                        <a:latin typeface="Cambria Math" panose="02040503050406030204" pitchFamily="18" charset="0"/>
                                        <a:ea typeface="Cambria Math" panose="02040503050406030204" pitchFamily="18" charset="0"/>
                                      </a:rPr>
                                      <m:t>𝑛</m:t>
                                    </m:r>
                                  </m:sup>
                                  <m:e>
                                    <m:sSub>
                                      <m:sSubPr>
                                        <m:ctrlPr>
                                          <a:rPr lang="en-NZ" sz="1600" b="0" i="1" smtClean="0">
                                            <a:latin typeface="Cambria Math" panose="02040503050406030204" pitchFamily="18" charset="0"/>
                                            <a:ea typeface="Cambria Math" panose="02040503050406030204" pitchFamily="18" charset="0"/>
                                          </a:rPr>
                                        </m:ctrlPr>
                                      </m:sSubPr>
                                      <m:e>
                                        <m:r>
                                          <a:rPr lang="en-NZ" sz="1600" b="0" i="1" smtClean="0">
                                            <a:latin typeface="Cambria Math" panose="02040503050406030204" pitchFamily="18" charset="0"/>
                                            <a:ea typeface="Cambria Math" panose="02040503050406030204" pitchFamily="18" charset="0"/>
                                          </a:rPr>
                                          <m:t>𝑌</m:t>
                                        </m:r>
                                      </m:e>
                                      <m:sub>
                                        <m:r>
                                          <a:rPr lang="en-NZ" sz="1600" b="0" i="1" smtClean="0">
                                            <a:latin typeface="Cambria Math" panose="02040503050406030204" pitchFamily="18" charset="0"/>
                                            <a:ea typeface="Cambria Math" panose="02040503050406030204" pitchFamily="18" charset="0"/>
                                          </a:rPr>
                                          <m:t>𝑖𝑗𝑘</m:t>
                                        </m:r>
                                      </m:sub>
                                    </m:sSub>
                                  </m:e>
                                </m:nary>
                              </m:oMath>
                            </m:oMathPara>
                          </a14:m>
                          <a:endParaRPr lang="en-NZ" sz="1600" dirty="0"/>
                        </a:p>
                      </a:txBody>
                      <a:tcPr anchor="ctr"/>
                    </a:tc>
                    <a:tc>
                      <a:txBody>
                        <a:bodyPr/>
                        <a:lstStyle/>
                        <a:p>
                          <a:pPr algn="ctr"/>
                          <a:r>
                            <a:rPr lang="en-NZ" sz="1600" dirty="0"/>
                            <a:t>Mean of cell </a:t>
                          </a:r>
                          <a14:m>
                            <m:oMath xmlns:m="http://schemas.openxmlformats.org/officeDocument/2006/math">
                              <m:r>
                                <a:rPr lang="en-NZ" sz="1600" b="0" i="1" smtClean="0">
                                  <a:latin typeface="Cambria Math" panose="02040503050406030204" pitchFamily="18" charset="0"/>
                                </a:rPr>
                                <m:t>(</m:t>
                              </m:r>
                              <m:r>
                                <a:rPr lang="en-NZ" sz="1600" b="0" i="1" smtClean="0">
                                  <a:latin typeface="Cambria Math" panose="02040503050406030204" pitchFamily="18" charset="0"/>
                                </a:rPr>
                                <m:t>𝑖</m:t>
                              </m:r>
                              <m:r>
                                <a:rPr lang="en-NZ" sz="1600" b="0" i="1" smtClean="0">
                                  <a:latin typeface="Cambria Math" panose="02040503050406030204" pitchFamily="18" charset="0"/>
                                </a:rPr>
                                <m:t>,</m:t>
                              </m:r>
                              <m:r>
                                <a:rPr lang="en-NZ" sz="1600" b="0" i="1" smtClean="0">
                                  <a:latin typeface="Cambria Math" panose="02040503050406030204" pitchFamily="18" charset="0"/>
                                </a:rPr>
                                <m:t>𝑗</m:t>
                              </m:r>
                              <m:r>
                                <a:rPr lang="en-NZ" sz="1600" b="0" i="1" smtClean="0">
                                  <a:latin typeface="Cambria Math" panose="02040503050406030204" pitchFamily="18" charset="0"/>
                                </a:rPr>
                                <m:t>)</m:t>
                              </m:r>
                            </m:oMath>
                          </a14:m>
                          <a:endParaRPr lang="en-NZ" sz="1600" dirty="0"/>
                        </a:p>
                      </a:txBody>
                      <a:tcPr anchor="ctr"/>
                    </a:tc>
                    <a:extLst>
                      <a:ext uri="{0D108BD9-81ED-4DB2-BD59-A6C34878D82A}">
                        <a16:rowId xmlns:a16="http://schemas.microsoft.com/office/drawing/2014/main" val="443198030"/>
                      </a:ext>
                    </a:extLst>
                  </a:tr>
                  <a:tr h="697879">
                    <a:tc>
                      <a:txBody>
                        <a:bodyPr/>
                        <a:lstStyle/>
                        <a:p>
                          <a:pPr algn="ctr"/>
                          <a14:m>
                            <m:oMathPara xmlns:m="http://schemas.openxmlformats.org/officeDocument/2006/math">
                              <m:oMathParaPr>
                                <m:jc m:val="centerGroup"/>
                              </m:oMathParaPr>
                              <m:oMath xmlns:m="http://schemas.openxmlformats.org/officeDocument/2006/math">
                                <m:sSub>
                                  <m:sSubPr>
                                    <m:ctrlPr>
                                      <a:rPr lang="en-NZ" sz="1600" b="0" i="1" smtClean="0">
                                        <a:latin typeface="Cambria Math" panose="02040503050406030204" pitchFamily="18" charset="0"/>
                                      </a:rPr>
                                    </m:ctrlPr>
                                  </m:sSubPr>
                                  <m:e>
                                    <m:r>
                                      <a:rPr lang="en-NZ" sz="1600" b="0" i="1" smtClean="0">
                                        <a:latin typeface="Cambria Math" panose="02040503050406030204" pitchFamily="18" charset="0"/>
                                      </a:rPr>
                                      <m:t>𝜇</m:t>
                                    </m:r>
                                  </m:e>
                                  <m:sub>
                                    <m:r>
                                      <a:rPr lang="en-NZ" sz="1600" b="0" i="1" smtClean="0">
                                        <a:latin typeface="Cambria Math" panose="02040503050406030204" pitchFamily="18" charset="0"/>
                                      </a:rPr>
                                      <m:t>𝑖</m:t>
                                    </m:r>
                                    <m:r>
                                      <a:rPr lang="en-NZ" sz="1600" b="0" i="1" smtClean="0">
                                        <a:latin typeface="Cambria Math" panose="02040503050406030204" pitchFamily="18" charset="0"/>
                                        <a:ea typeface="Cambria Math" panose="02040503050406030204" pitchFamily="18" charset="0"/>
                                      </a:rPr>
                                      <m:t>∙</m:t>
                                    </m:r>
                                  </m:sub>
                                </m:sSub>
                              </m:oMath>
                            </m:oMathPara>
                          </a14:m>
                          <a:endParaRPr lang="en-NZ" sz="1600" dirty="0"/>
                        </a:p>
                      </a:txBody>
                      <a:tcPr anchor="ctr"/>
                    </a:tc>
                    <a:tc>
                      <a:txBody>
                        <a:bodyPr/>
                        <a:lstStyle/>
                        <a:p>
                          <a:pPr algn="ctr"/>
                          <a14:m>
                            <m:oMathPara xmlns:m="http://schemas.openxmlformats.org/officeDocument/2006/math">
                              <m:oMathParaPr>
                                <m:jc m:val="centerGroup"/>
                              </m:oMathParaPr>
                              <m:oMath xmlns:m="http://schemas.openxmlformats.org/officeDocument/2006/math">
                                <m:acc>
                                  <m:accPr>
                                    <m:chr m:val="̂"/>
                                    <m:ctrlPr>
                                      <a:rPr lang="en-NZ" sz="1600" i="1" smtClean="0">
                                        <a:latin typeface="Cambria Math" panose="02040503050406030204" pitchFamily="18" charset="0"/>
                                      </a:rPr>
                                    </m:ctrlPr>
                                  </m:accPr>
                                  <m:e>
                                    <m:sSub>
                                      <m:sSubPr>
                                        <m:ctrlPr>
                                          <a:rPr lang="en-NZ" sz="1600" b="0" i="1" smtClean="0">
                                            <a:latin typeface="Cambria Math" panose="02040503050406030204" pitchFamily="18" charset="0"/>
                                          </a:rPr>
                                        </m:ctrlPr>
                                      </m:sSubPr>
                                      <m:e>
                                        <m:r>
                                          <a:rPr lang="en-NZ" sz="1600" b="0" i="1" smtClean="0">
                                            <a:latin typeface="Cambria Math" panose="02040503050406030204" pitchFamily="18" charset="0"/>
                                          </a:rPr>
                                          <m:t>𝜇</m:t>
                                        </m:r>
                                      </m:e>
                                      <m:sub>
                                        <m:r>
                                          <a:rPr lang="en-NZ" sz="1600" b="0" i="1" smtClean="0">
                                            <a:latin typeface="Cambria Math" panose="02040503050406030204" pitchFamily="18" charset="0"/>
                                          </a:rPr>
                                          <m:t>𝑖</m:t>
                                        </m:r>
                                        <m:r>
                                          <a:rPr lang="en-NZ" sz="1600" b="0" i="1" smtClean="0">
                                            <a:latin typeface="Cambria Math" panose="02040503050406030204" pitchFamily="18" charset="0"/>
                                            <a:ea typeface="Cambria Math" panose="02040503050406030204" pitchFamily="18" charset="0"/>
                                          </a:rPr>
                                          <m:t>∙</m:t>
                                        </m:r>
                                      </m:sub>
                                    </m:sSub>
                                  </m:e>
                                </m:acc>
                                <m:r>
                                  <a:rPr lang="en-NZ" sz="1600" b="0" i="1" smtClean="0">
                                    <a:latin typeface="Cambria Math" panose="02040503050406030204" pitchFamily="18" charset="0"/>
                                  </a:rPr>
                                  <m:t>=</m:t>
                                </m:r>
                                <m:sSub>
                                  <m:sSubPr>
                                    <m:ctrlPr>
                                      <a:rPr lang="en-NZ" sz="1600" b="0" i="1" smtClean="0">
                                        <a:latin typeface="Cambria Math" panose="02040503050406030204" pitchFamily="18" charset="0"/>
                                      </a:rPr>
                                    </m:ctrlPr>
                                  </m:sSubPr>
                                  <m:e>
                                    <m:acc>
                                      <m:accPr>
                                        <m:chr m:val="̅"/>
                                        <m:ctrlPr>
                                          <a:rPr lang="en-NZ" sz="1600" i="1" smtClean="0">
                                            <a:latin typeface="Cambria Math" panose="02040503050406030204" pitchFamily="18" charset="0"/>
                                          </a:rPr>
                                        </m:ctrlPr>
                                      </m:accPr>
                                      <m:e>
                                        <m:r>
                                          <a:rPr lang="en-NZ" sz="1600" b="0" i="1" smtClean="0">
                                            <a:latin typeface="Cambria Math" panose="02040503050406030204" pitchFamily="18" charset="0"/>
                                          </a:rPr>
                                          <m:t>𝑌</m:t>
                                        </m:r>
                                      </m:e>
                                    </m:acc>
                                  </m:e>
                                  <m:sub>
                                    <m:r>
                                      <a:rPr lang="en-NZ" sz="1600" b="0" i="1" smtClean="0">
                                        <a:latin typeface="Cambria Math" panose="02040503050406030204" pitchFamily="18" charset="0"/>
                                      </a:rPr>
                                      <m:t>𝑖</m:t>
                                    </m:r>
                                    <m:r>
                                      <a:rPr lang="en-NZ" sz="1600" b="0" i="1" smtClean="0">
                                        <a:latin typeface="Cambria Math" panose="02040503050406030204" pitchFamily="18" charset="0"/>
                                        <a:ea typeface="Cambria Math" panose="02040503050406030204" pitchFamily="18" charset="0"/>
                                      </a:rPr>
                                      <m:t>∙∙</m:t>
                                    </m:r>
                                  </m:sub>
                                </m:sSub>
                                <m:r>
                                  <a:rPr lang="en-NZ" sz="1600" b="0" i="1" smtClean="0">
                                    <a:latin typeface="Cambria Math" panose="02040503050406030204" pitchFamily="18" charset="0"/>
                                    <a:ea typeface="Cambria Math" panose="02040503050406030204" pitchFamily="18" charset="0"/>
                                  </a:rPr>
                                  <m:t>= </m:t>
                                </m:r>
                                <m:f>
                                  <m:fPr>
                                    <m:type m:val="lin"/>
                                    <m:ctrlPr>
                                      <a:rPr lang="en-NZ" sz="1600" b="0" i="1" smtClean="0">
                                        <a:latin typeface="Cambria Math" panose="02040503050406030204" pitchFamily="18" charset="0"/>
                                        <a:ea typeface="Cambria Math" panose="02040503050406030204" pitchFamily="18" charset="0"/>
                                      </a:rPr>
                                    </m:ctrlPr>
                                  </m:fPr>
                                  <m:num>
                                    <m:r>
                                      <a:rPr lang="en-NZ" sz="1600" b="0" i="1" smtClean="0">
                                        <a:latin typeface="Cambria Math" panose="02040503050406030204" pitchFamily="18" charset="0"/>
                                        <a:ea typeface="Cambria Math" panose="02040503050406030204" pitchFamily="18" charset="0"/>
                                      </a:rPr>
                                      <m:t>1</m:t>
                                    </m:r>
                                  </m:num>
                                  <m:den>
                                    <m:r>
                                      <a:rPr lang="en-NZ" sz="1600" b="0" i="1" smtClean="0">
                                        <a:latin typeface="Cambria Math" panose="02040503050406030204" pitchFamily="18" charset="0"/>
                                        <a:ea typeface="Cambria Math" panose="02040503050406030204" pitchFamily="18" charset="0"/>
                                      </a:rPr>
                                      <m:t>(</m:t>
                                    </m:r>
                                    <m:r>
                                      <a:rPr lang="en-NZ" sz="1600" b="0" i="1" smtClean="0">
                                        <a:latin typeface="Cambria Math" panose="02040503050406030204" pitchFamily="18" charset="0"/>
                                        <a:ea typeface="Cambria Math" panose="02040503050406030204" pitchFamily="18" charset="0"/>
                                      </a:rPr>
                                      <m:t>𝑏𝑛</m:t>
                                    </m:r>
                                  </m:den>
                                </m:f>
                                <m:r>
                                  <a:rPr lang="en-NZ" sz="1600" b="0" i="1" smtClean="0">
                                    <a:latin typeface="Cambria Math" panose="02040503050406030204" pitchFamily="18" charset="0"/>
                                    <a:ea typeface="Cambria Math" panose="02040503050406030204" pitchFamily="18" charset="0"/>
                                  </a:rPr>
                                  <m:t>) ∗</m:t>
                                </m:r>
                                <m:nary>
                                  <m:naryPr>
                                    <m:chr m:val="∑"/>
                                    <m:limLoc m:val="subSup"/>
                                    <m:ctrlPr>
                                      <a:rPr lang="en-NZ" sz="1600" b="0" i="1" smtClean="0">
                                        <a:latin typeface="Cambria Math" panose="02040503050406030204" pitchFamily="18" charset="0"/>
                                        <a:ea typeface="Cambria Math" panose="02040503050406030204" pitchFamily="18" charset="0"/>
                                      </a:rPr>
                                    </m:ctrlPr>
                                  </m:naryPr>
                                  <m:sub>
                                    <m:r>
                                      <m:rPr>
                                        <m:brk m:alnAt="1"/>
                                      </m:rPr>
                                      <a:rPr lang="en-NZ" sz="1600" b="0" i="1" smtClean="0">
                                        <a:latin typeface="Cambria Math" panose="02040503050406030204" pitchFamily="18" charset="0"/>
                                        <a:ea typeface="Cambria Math" panose="02040503050406030204" pitchFamily="18" charset="0"/>
                                      </a:rPr>
                                      <m:t>𝑗</m:t>
                                    </m:r>
                                    <m:r>
                                      <a:rPr lang="en-NZ" sz="1600" b="0" i="1" smtClean="0">
                                        <a:latin typeface="Cambria Math" panose="02040503050406030204" pitchFamily="18" charset="0"/>
                                        <a:ea typeface="Cambria Math" panose="02040503050406030204" pitchFamily="18" charset="0"/>
                                      </a:rPr>
                                      <m:t>=1</m:t>
                                    </m:r>
                                  </m:sub>
                                  <m:sup>
                                    <m:r>
                                      <a:rPr lang="en-NZ" sz="1600" b="0" i="1" smtClean="0">
                                        <a:latin typeface="Cambria Math" panose="02040503050406030204" pitchFamily="18" charset="0"/>
                                        <a:ea typeface="Cambria Math" panose="02040503050406030204" pitchFamily="18" charset="0"/>
                                      </a:rPr>
                                      <m:t>𝑏</m:t>
                                    </m:r>
                                  </m:sup>
                                  <m:e>
                                    <m:nary>
                                      <m:naryPr>
                                        <m:chr m:val="∑"/>
                                        <m:limLoc m:val="subSup"/>
                                        <m:ctrlPr>
                                          <a:rPr lang="en-NZ" sz="1600" b="0" i="1" smtClean="0">
                                            <a:latin typeface="Cambria Math" panose="02040503050406030204" pitchFamily="18" charset="0"/>
                                            <a:ea typeface="Cambria Math" panose="02040503050406030204" pitchFamily="18" charset="0"/>
                                          </a:rPr>
                                        </m:ctrlPr>
                                      </m:naryPr>
                                      <m:sub>
                                        <m:r>
                                          <m:rPr>
                                            <m:brk m:alnAt="25"/>
                                          </m:rPr>
                                          <a:rPr lang="en-NZ" sz="1600" b="0" i="1" smtClean="0">
                                            <a:latin typeface="Cambria Math" panose="02040503050406030204" pitchFamily="18" charset="0"/>
                                            <a:ea typeface="Cambria Math" panose="02040503050406030204" pitchFamily="18" charset="0"/>
                                          </a:rPr>
                                          <m:t>𝑘</m:t>
                                        </m:r>
                                        <m:r>
                                          <a:rPr lang="en-NZ" sz="1600" b="0" i="1" smtClean="0">
                                            <a:latin typeface="Cambria Math" panose="02040503050406030204" pitchFamily="18" charset="0"/>
                                            <a:ea typeface="Cambria Math" panose="02040503050406030204" pitchFamily="18" charset="0"/>
                                          </a:rPr>
                                          <m:t>=1</m:t>
                                        </m:r>
                                      </m:sub>
                                      <m:sup>
                                        <m:r>
                                          <a:rPr lang="en-NZ" sz="1600" b="0" i="1" smtClean="0">
                                            <a:latin typeface="Cambria Math" panose="02040503050406030204" pitchFamily="18" charset="0"/>
                                            <a:ea typeface="Cambria Math" panose="02040503050406030204" pitchFamily="18" charset="0"/>
                                          </a:rPr>
                                          <m:t>𝑛</m:t>
                                        </m:r>
                                      </m:sup>
                                      <m:e>
                                        <m:sSub>
                                          <m:sSubPr>
                                            <m:ctrlPr>
                                              <a:rPr lang="en-NZ" sz="1600" b="0" i="1" smtClean="0">
                                                <a:latin typeface="Cambria Math" panose="02040503050406030204" pitchFamily="18" charset="0"/>
                                                <a:ea typeface="Cambria Math" panose="02040503050406030204" pitchFamily="18" charset="0"/>
                                              </a:rPr>
                                            </m:ctrlPr>
                                          </m:sSubPr>
                                          <m:e>
                                            <m:r>
                                              <a:rPr lang="en-NZ" sz="1600" b="0" i="1" smtClean="0">
                                                <a:latin typeface="Cambria Math" panose="02040503050406030204" pitchFamily="18" charset="0"/>
                                                <a:ea typeface="Cambria Math" panose="02040503050406030204" pitchFamily="18" charset="0"/>
                                              </a:rPr>
                                              <m:t>𝑌</m:t>
                                            </m:r>
                                          </m:e>
                                          <m:sub>
                                            <m:r>
                                              <a:rPr lang="en-NZ" sz="1600" b="0" i="1" smtClean="0">
                                                <a:latin typeface="Cambria Math" panose="02040503050406030204" pitchFamily="18" charset="0"/>
                                                <a:ea typeface="Cambria Math" panose="02040503050406030204" pitchFamily="18" charset="0"/>
                                              </a:rPr>
                                              <m:t>𝑖𝑗𝑘</m:t>
                                            </m:r>
                                          </m:sub>
                                        </m:sSub>
                                      </m:e>
                                    </m:nary>
                                  </m:e>
                                </m:nary>
                              </m:oMath>
                            </m:oMathPara>
                          </a14:m>
                          <a:endParaRPr lang="en-NZ" sz="1600" dirty="0"/>
                        </a:p>
                      </a:txBody>
                      <a:tcPr anchor="ctr"/>
                    </a:tc>
                    <a:tc>
                      <a:txBody>
                        <a:bodyPr/>
                        <a:lstStyle/>
                        <a:p>
                          <a:pPr algn="ctr"/>
                          <a:r>
                            <a:rPr lang="en-NZ" sz="1600"/>
                            <a:t>Mean of the </a:t>
                          </a:r>
                          <a14:m>
                            <m:oMath xmlns:m="http://schemas.openxmlformats.org/officeDocument/2006/math">
                              <m:sSup>
                                <m:sSupPr>
                                  <m:ctrlPr>
                                    <a:rPr lang="en-NZ" sz="1600" b="0" i="1" smtClean="0">
                                      <a:latin typeface="Cambria Math" panose="02040503050406030204" pitchFamily="18" charset="0"/>
                                    </a:rPr>
                                  </m:ctrlPr>
                                </m:sSupPr>
                                <m:e>
                                  <m:r>
                                    <a:rPr lang="en-NZ" sz="1600" b="0" i="1" smtClean="0">
                                      <a:latin typeface="Cambria Math" panose="02040503050406030204" pitchFamily="18" charset="0"/>
                                    </a:rPr>
                                    <m:t>𝑖</m:t>
                                  </m:r>
                                </m:e>
                                <m:sup>
                                  <m:r>
                                    <a:rPr lang="en-NZ" sz="1600" b="0" i="1" smtClean="0">
                                      <a:latin typeface="Cambria Math" panose="02040503050406030204" pitchFamily="18" charset="0"/>
                                    </a:rPr>
                                    <m:t>𝑡h</m:t>
                                  </m:r>
                                </m:sup>
                              </m:sSup>
                            </m:oMath>
                          </a14:m>
                          <a:r>
                            <a:rPr lang="en-NZ" sz="1600" dirty="0"/>
                            <a:t> level of Factor A</a:t>
                          </a:r>
                        </a:p>
                      </a:txBody>
                      <a:tcPr anchor="ctr"/>
                    </a:tc>
                    <a:extLst>
                      <a:ext uri="{0D108BD9-81ED-4DB2-BD59-A6C34878D82A}">
                        <a16:rowId xmlns:a16="http://schemas.microsoft.com/office/drawing/2014/main" val="3427382577"/>
                      </a:ext>
                    </a:extLst>
                  </a:tr>
                  <a:tr h="639052">
                    <a:tc>
                      <a:txBody>
                        <a:bodyPr/>
                        <a:lstStyle/>
                        <a:p>
                          <a:pPr algn="ctr"/>
                          <a14:m>
                            <m:oMathPara xmlns:m="http://schemas.openxmlformats.org/officeDocument/2006/math">
                              <m:oMathParaPr>
                                <m:jc m:val="centerGroup"/>
                              </m:oMathParaPr>
                              <m:oMath xmlns:m="http://schemas.openxmlformats.org/officeDocument/2006/math">
                                <m:sSub>
                                  <m:sSubPr>
                                    <m:ctrlPr>
                                      <a:rPr lang="en-NZ" sz="1600" b="0" i="1" smtClean="0">
                                        <a:latin typeface="Cambria Math" panose="02040503050406030204" pitchFamily="18" charset="0"/>
                                      </a:rPr>
                                    </m:ctrlPr>
                                  </m:sSubPr>
                                  <m:e>
                                    <m:r>
                                      <a:rPr lang="en-NZ" sz="1600" b="0" i="1" smtClean="0">
                                        <a:latin typeface="Cambria Math" panose="02040503050406030204" pitchFamily="18" charset="0"/>
                                      </a:rPr>
                                      <m:t>𝜇</m:t>
                                    </m:r>
                                  </m:e>
                                  <m:sub>
                                    <m:r>
                                      <a:rPr lang="en-NZ" sz="1600" b="0" i="1" smtClean="0">
                                        <a:latin typeface="Cambria Math" panose="02040503050406030204" pitchFamily="18" charset="0"/>
                                        <a:ea typeface="Cambria Math" panose="02040503050406030204" pitchFamily="18" charset="0"/>
                                      </a:rPr>
                                      <m:t>∙</m:t>
                                    </m:r>
                                    <m:r>
                                      <a:rPr lang="en-NZ" sz="1600" b="0" i="1" smtClean="0">
                                        <a:latin typeface="Cambria Math" panose="02040503050406030204" pitchFamily="18" charset="0"/>
                                        <a:ea typeface="Cambria Math" panose="02040503050406030204" pitchFamily="18" charset="0"/>
                                      </a:rPr>
                                      <m:t>𝑗</m:t>
                                    </m:r>
                                  </m:sub>
                                </m:sSub>
                              </m:oMath>
                            </m:oMathPara>
                          </a14:m>
                          <a:endParaRPr lang="en-NZ" sz="1600" dirty="0"/>
                        </a:p>
                      </a:txBody>
                      <a:tcPr anchor="ctr"/>
                    </a:tc>
                    <a:tc>
                      <a:txBody>
                        <a:bodyPr/>
                        <a:lstStyle/>
                        <a:p>
                          <a:pPr algn="ctr"/>
                          <a14:m>
                            <m:oMathPara xmlns:m="http://schemas.openxmlformats.org/officeDocument/2006/math">
                              <m:oMathParaPr>
                                <m:jc m:val="centerGroup"/>
                              </m:oMathParaPr>
                              <m:oMath xmlns:m="http://schemas.openxmlformats.org/officeDocument/2006/math">
                                <m:acc>
                                  <m:accPr>
                                    <m:chr m:val="̂"/>
                                    <m:ctrlPr>
                                      <a:rPr lang="en-NZ" sz="1600" i="1" smtClean="0">
                                        <a:latin typeface="Cambria Math" panose="02040503050406030204" pitchFamily="18" charset="0"/>
                                      </a:rPr>
                                    </m:ctrlPr>
                                  </m:accPr>
                                  <m:e>
                                    <m:sSub>
                                      <m:sSubPr>
                                        <m:ctrlPr>
                                          <a:rPr lang="en-NZ" sz="1600" b="0" i="1" smtClean="0">
                                            <a:latin typeface="Cambria Math" panose="02040503050406030204" pitchFamily="18" charset="0"/>
                                          </a:rPr>
                                        </m:ctrlPr>
                                      </m:sSubPr>
                                      <m:e>
                                        <m:r>
                                          <a:rPr lang="en-NZ" sz="1600" b="0" i="1" smtClean="0">
                                            <a:latin typeface="Cambria Math" panose="02040503050406030204" pitchFamily="18" charset="0"/>
                                          </a:rPr>
                                          <m:t>𝜇</m:t>
                                        </m:r>
                                      </m:e>
                                      <m:sub>
                                        <m:r>
                                          <a:rPr lang="en-NZ" sz="1600" b="0" i="1" smtClean="0">
                                            <a:latin typeface="Cambria Math" panose="02040503050406030204" pitchFamily="18" charset="0"/>
                                            <a:ea typeface="Cambria Math" panose="02040503050406030204" pitchFamily="18" charset="0"/>
                                          </a:rPr>
                                          <m:t>∙</m:t>
                                        </m:r>
                                        <m:r>
                                          <a:rPr lang="en-NZ" sz="1600" b="0" i="1" smtClean="0">
                                            <a:latin typeface="Cambria Math" panose="02040503050406030204" pitchFamily="18" charset="0"/>
                                            <a:ea typeface="Cambria Math" panose="02040503050406030204" pitchFamily="18" charset="0"/>
                                          </a:rPr>
                                          <m:t>𝑗</m:t>
                                        </m:r>
                                      </m:sub>
                                    </m:sSub>
                                  </m:e>
                                </m:acc>
                                <m:r>
                                  <a:rPr lang="en-NZ" sz="1600" b="0" i="1" smtClean="0">
                                    <a:latin typeface="Cambria Math" panose="02040503050406030204" pitchFamily="18" charset="0"/>
                                  </a:rPr>
                                  <m:t>=</m:t>
                                </m:r>
                                <m:sSub>
                                  <m:sSubPr>
                                    <m:ctrlPr>
                                      <a:rPr lang="en-NZ" sz="1600" b="0" i="1" smtClean="0">
                                        <a:latin typeface="Cambria Math" panose="02040503050406030204" pitchFamily="18" charset="0"/>
                                      </a:rPr>
                                    </m:ctrlPr>
                                  </m:sSubPr>
                                  <m:e>
                                    <m:acc>
                                      <m:accPr>
                                        <m:chr m:val="̅"/>
                                        <m:ctrlPr>
                                          <a:rPr lang="en-NZ" sz="1600" i="1" smtClean="0">
                                            <a:latin typeface="Cambria Math" panose="02040503050406030204" pitchFamily="18" charset="0"/>
                                          </a:rPr>
                                        </m:ctrlPr>
                                      </m:accPr>
                                      <m:e>
                                        <m:r>
                                          <a:rPr lang="en-NZ" sz="1600" b="0" i="1" smtClean="0">
                                            <a:latin typeface="Cambria Math" panose="02040503050406030204" pitchFamily="18" charset="0"/>
                                          </a:rPr>
                                          <m:t>𝑌</m:t>
                                        </m:r>
                                      </m:e>
                                    </m:acc>
                                  </m:e>
                                  <m:sub>
                                    <m:r>
                                      <a:rPr lang="en-NZ" sz="1600" b="0" i="1" smtClean="0">
                                        <a:latin typeface="Cambria Math" panose="02040503050406030204" pitchFamily="18" charset="0"/>
                                        <a:ea typeface="Cambria Math" panose="02040503050406030204" pitchFamily="18" charset="0"/>
                                      </a:rPr>
                                      <m:t>∙</m:t>
                                    </m:r>
                                    <m:r>
                                      <a:rPr lang="en-NZ" sz="1600" b="0" i="1" smtClean="0">
                                        <a:latin typeface="Cambria Math" panose="02040503050406030204" pitchFamily="18" charset="0"/>
                                        <a:ea typeface="Cambria Math" panose="02040503050406030204" pitchFamily="18" charset="0"/>
                                      </a:rPr>
                                      <m:t>𝑗</m:t>
                                    </m:r>
                                    <m:r>
                                      <a:rPr lang="en-NZ" sz="1600" b="0" i="1" smtClean="0">
                                        <a:latin typeface="Cambria Math" panose="02040503050406030204" pitchFamily="18" charset="0"/>
                                        <a:ea typeface="Cambria Math" panose="02040503050406030204" pitchFamily="18" charset="0"/>
                                      </a:rPr>
                                      <m:t>∙</m:t>
                                    </m:r>
                                  </m:sub>
                                </m:sSub>
                                <m:r>
                                  <a:rPr lang="en-NZ" sz="1600" b="0" i="1" smtClean="0">
                                    <a:latin typeface="Cambria Math" panose="02040503050406030204" pitchFamily="18" charset="0"/>
                                    <a:ea typeface="Cambria Math" panose="02040503050406030204" pitchFamily="18" charset="0"/>
                                  </a:rPr>
                                  <m:t>= </m:t>
                                </m:r>
                                <m:f>
                                  <m:fPr>
                                    <m:type m:val="lin"/>
                                    <m:ctrlPr>
                                      <a:rPr lang="en-NZ" sz="1600" b="0" i="1" smtClean="0">
                                        <a:latin typeface="Cambria Math" panose="02040503050406030204" pitchFamily="18" charset="0"/>
                                        <a:ea typeface="Cambria Math" panose="02040503050406030204" pitchFamily="18" charset="0"/>
                                      </a:rPr>
                                    </m:ctrlPr>
                                  </m:fPr>
                                  <m:num>
                                    <m:r>
                                      <a:rPr lang="en-NZ" sz="1600" b="0" i="1" smtClean="0">
                                        <a:latin typeface="Cambria Math" panose="02040503050406030204" pitchFamily="18" charset="0"/>
                                        <a:ea typeface="Cambria Math" panose="02040503050406030204" pitchFamily="18" charset="0"/>
                                      </a:rPr>
                                      <m:t>1</m:t>
                                    </m:r>
                                  </m:num>
                                  <m:den>
                                    <m:r>
                                      <a:rPr lang="en-NZ" sz="1600" b="0" i="1" smtClean="0">
                                        <a:latin typeface="Cambria Math" panose="02040503050406030204" pitchFamily="18" charset="0"/>
                                        <a:ea typeface="Cambria Math" panose="02040503050406030204" pitchFamily="18" charset="0"/>
                                      </a:rPr>
                                      <m:t>(</m:t>
                                    </m:r>
                                    <m:r>
                                      <a:rPr lang="en-NZ" sz="1600" b="0" i="1" smtClean="0">
                                        <a:latin typeface="Cambria Math" panose="02040503050406030204" pitchFamily="18" charset="0"/>
                                        <a:ea typeface="Cambria Math" panose="02040503050406030204" pitchFamily="18" charset="0"/>
                                      </a:rPr>
                                      <m:t>𝑎𝑛</m:t>
                                    </m:r>
                                  </m:den>
                                </m:f>
                                <m:r>
                                  <a:rPr lang="en-NZ" sz="1600" b="0" i="1" smtClean="0">
                                    <a:latin typeface="Cambria Math" panose="02040503050406030204" pitchFamily="18" charset="0"/>
                                    <a:ea typeface="Cambria Math" panose="02040503050406030204" pitchFamily="18" charset="0"/>
                                  </a:rPr>
                                  <m:t>) ∗</m:t>
                                </m:r>
                                <m:nary>
                                  <m:naryPr>
                                    <m:chr m:val="∑"/>
                                    <m:limLoc m:val="subSup"/>
                                    <m:ctrlPr>
                                      <a:rPr lang="en-NZ" sz="1600" b="0" i="1" smtClean="0">
                                        <a:latin typeface="Cambria Math" panose="02040503050406030204" pitchFamily="18" charset="0"/>
                                        <a:ea typeface="Cambria Math" panose="02040503050406030204" pitchFamily="18" charset="0"/>
                                      </a:rPr>
                                    </m:ctrlPr>
                                  </m:naryPr>
                                  <m:sub>
                                    <m:r>
                                      <m:rPr>
                                        <m:brk m:alnAt="1"/>
                                      </m:rPr>
                                      <a:rPr lang="en-NZ" sz="1600" b="0" i="1" smtClean="0">
                                        <a:latin typeface="Cambria Math" panose="02040503050406030204" pitchFamily="18" charset="0"/>
                                        <a:ea typeface="Cambria Math" panose="02040503050406030204" pitchFamily="18" charset="0"/>
                                      </a:rPr>
                                      <m:t>𝑖</m:t>
                                    </m:r>
                                    <m:r>
                                      <a:rPr lang="en-NZ" sz="1600" b="0" i="1" smtClean="0">
                                        <a:latin typeface="Cambria Math" panose="02040503050406030204" pitchFamily="18" charset="0"/>
                                        <a:ea typeface="Cambria Math" panose="02040503050406030204" pitchFamily="18" charset="0"/>
                                      </a:rPr>
                                      <m:t>=1</m:t>
                                    </m:r>
                                  </m:sub>
                                  <m:sup>
                                    <m:r>
                                      <a:rPr lang="en-NZ" sz="1600" b="0" i="1" smtClean="0">
                                        <a:latin typeface="Cambria Math" panose="02040503050406030204" pitchFamily="18" charset="0"/>
                                        <a:ea typeface="Cambria Math" panose="02040503050406030204" pitchFamily="18" charset="0"/>
                                      </a:rPr>
                                      <m:t>𝑎</m:t>
                                    </m:r>
                                  </m:sup>
                                  <m:e>
                                    <m:nary>
                                      <m:naryPr>
                                        <m:chr m:val="∑"/>
                                        <m:limLoc m:val="subSup"/>
                                        <m:ctrlPr>
                                          <a:rPr lang="en-NZ" sz="1600" b="0" i="1" smtClean="0">
                                            <a:latin typeface="Cambria Math" panose="02040503050406030204" pitchFamily="18" charset="0"/>
                                            <a:ea typeface="Cambria Math" panose="02040503050406030204" pitchFamily="18" charset="0"/>
                                          </a:rPr>
                                        </m:ctrlPr>
                                      </m:naryPr>
                                      <m:sub>
                                        <m:r>
                                          <m:rPr>
                                            <m:brk m:alnAt="25"/>
                                          </m:rPr>
                                          <a:rPr lang="en-NZ" sz="1600" b="0" i="1" smtClean="0">
                                            <a:latin typeface="Cambria Math" panose="02040503050406030204" pitchFamily="18" charset="0"/>
                                            <a:ea typeface="Cambria Math" panose="02040503050406030204" pitchFamily="18" charset="0"/>
                                          </a:rPr>
                                          <m:t>𝑘</m:t>
                                        </m:r>
                                        <m:r>
                                          <a:rPr lang="en-NZ" sz="1600" b="0" i="1" smtClean="0">
                                            <a:latin typeface="Cambria Math" panose="02040503050406030204" pitchFamily="18" charset="0"/>
                                            <a:ea typeface="Cambria Math" panose="02040503050406030204" pitchFamily="18" charset="0"/>
                                          </a:rPr>
                                          <m:t>=1</m:t>
                                        </m:r>
                                      </m:sub>
                                      <m:sup>
                                        <m:r>
                                          <a:rPr lang="en-NZ" sz="1600" b="0" i="1" smtClean="0">
                                            <a:latin typeface="Cambria Math" panose="02040503050406030204" pitchFamily="18" charset="0"/>
                                            <a:ea typeface="Cambria Math" panose="02040503050406030204" pitchFamily="18" charset="0"/>
                                          </a:rPr>
                                          <m:t>𝑛</m:t>
                                        </m:r>
                                      </m:sup>
                                      <m:e>
                                        <m:sSub>
                                          <m:sSubPr>
                                            <m:ctrlPr>
                                              <a:rPr lang="en-NZ" sz="1600" b="0" i="1" smtClean="0">
                                                <a:latin typeface="Cambria Math" panose="02040503050406030204" pitchFamily="18" charset="0"/>
                                                <a:ea typeface="Cambria Math" panose="02040503050406030204" pitchFamily="18" charset="0"/>
                                              </a:rPr>
                                            </m:ctrlPr>
                                          </m:sSubPr>
                                          <m:e>
                                            <m:r>
                                              <a:rPr lang="en-NZ" sz="1600" b="0" i="1" smtClean="0">
                                                <a:latin typeface="Cambria Math" panose="02040503050406030204" pitchFamily="18" charset="0"/>
                                                <a:ea typeface="Cambria Math" panose="02040503050406030204" pitchFamily="18" charset="0"/>
                                              </a:rPr>
                                              <m:t>𝑌</m:t>
                                            </m:r>
                                          </m:e>
                                          <m:sub>
                                            <m:r>
                                              <a:rPr lang="en-NZ" sz="1600" b="0" i="1" smtClean="0">
                                                <a:latin typeface="Cambria Math" panose="02040503050406030204" pitchFamily="18" charset="0"/>
                                                <a:ea typeface="Cambria Math" panose="02040503050406030204" pitchFamily="18" charset="0"/>
                                              </a:rPr>
                                              <m:t>𝑖𝑗𝑘</m:t>
                                            </m:r>
                                          </m:sub>
                                        </m:sSub>
                                      </m:e>
                                    </m:nary>
                                  </m:e>
                                </m:nary>
                              </m:oMath>
                            </m:oMathPara>
                          </a14:m>
                          <a:endParaRPr lang="en-NZ" sz="1600" dirty="0"/>
                        </a:p>
                      </a:txBody>
                      <a:tcPr anchor="ctr"/>
                    </a:tc>
                    <a:tc>
                      <a:txBody>
                        <a:bodyPr/>
                        <a:lstStyle/>
                        <a:p>
                          <a:pPr algn="ctr"/>
                          <a:r>
                            <a:rPr lang="en-NZ" sz="1600" dirty="0"/>
                            <a:t>Mean of the </a:t>
                          </a:r>
                          <a14:m>
                            <m:oMath xmlns:m="http://schemas.openxmlformats.org/officeDocument/2006/math">
                              <m:sSup>
                                <m:sSupPr>
                                  <m:ctrlPr>
                                    <a:rPr lang="en-NZ" sz="1600" b="0" i="1" smtClean="0">
                                      <a:latin typeface="Cambria Math" panose="02040503050406030204" pitchFamily="18" charset="0"/>
                                    </a:rPr>
                                  </m:ctrlPr>
                                </m:sSupPr>
                                <m:e>
                                  <m:r>
                                    <a:rPr lang="en-NZ" sz="1600" b="0" i="1" smtClean="0">
                                      <a:latin typeface="Cambria Math" panose="02040503050406030204" pitchFamily="18" charset="0"/>
                                    </a:rPr>
                                    <m:t>𝑗</m:t>
                                  </m:r>
                                </m:e>
                                <m:sup>
                                  <m:r>
                                    <a:rPr lang="en-NZ" sz="1600" b="0" i="1" smtClean="0">
                                      <a:latin typeface="Cambria Math" panose="02040503050406030204" pitchFamily="18" charset="0"/>
                                    </a:rPr>
                                    <m:t>𝑡h</m:t>
                                  </m:r>
                                </m:sup>
                              </m:sSup>
                            </m:oMath>
                          </a14:m>
                          <a:r>
                            <a:rPr lang="en-NZ" sz="1600" dirty="0"/>
                            <a:t> level of Factor B</a:t>
                          </a:r>
                        </a:p>
                      </a:txBody>
                      <a:tcPr anchor="ctr"/>
                    </a:tc>
                    <a:extLst>
                      <a:ext uri="{0D108BD9-81ED-4DB2-BD59-A6C34878D82A}">
                        <a16:rowId xmlns:a16="http://schemas.microsoft.com/office/drawing/2014/main" val="3328376915"/>
                      </a:ext>
                    </a:extLst>
                  </a:tr>
                  <a:tr h="415412">
                    <a:tc>
                      <a:txBody>
                        <a:bodyPr/>
                        <a:lstStyle/>
                        <a:p>
                          <a:pPr algn="ctr"/>
                          <a14:m>
                            <m:oMathPara xmlns:m="http://schemas.openxmlformats.org/officeDocument/2006/math">
                              <m:oMathParaPr>
                                <m:jc m:val="centerGroup"/>
                              </m:oMathParaPr>
                              <m:oMath xmlns:m="http://schemas.openxmlformats.org/officeDocument/2006/math">
                                <m:sSub>
                                  <m:sSubPr>
                                    <m:ctrlPr>
                                      <a:rPr lang="en-NZ" sz="1600" b="0" i="1" smtClean="0">
                                        <a:latin typeface="Cambria Math" panose="02040503050406030204" pitchFamily="18" charset="0"/>
                                      </a:rPr>
                                    </m:ctrlPr>
                                  </m:sSubPr>
                                  <m:e>
                                    <m:r>
                                      <a:rPr lang="en-NZ" sz="1600" b="0" i="1" smtClean="0">
                                        <a:latin typeface="Cambria Math" panose="02040503050406030204" pitchFamily="18" charset="0"/>
                                      </a:rPr>
                                      <m:t>𝛼</m:t>
                                    </m:r>
                                  </m:e>
                                  <m:sub>
                                    <m:r>
                                      <a:rPr lang="en-NZ" sz="1600" b="0" i="1" smtClean="0">
                                        <a:latin typeface="Cambria Math" panose="02040503050406030204" pitchFamily="18" charset="0"/>
                                      </a:rPr>
                                      <m:t>𝑖</m:t>
                                    </m:r>
                                  </m:sub>
                                </m:sSub>
                                <m:r>
                                  <a:rPr lang="en-NZ" sz="1600" b="0" i="1" smtClean="0">
                                    <a:latin typeface="Cambria Math" panose="02040503050406030204" pitchFamily="18" charset="0"/>
                                  </a:rPr>
                                  <m:t>≡  </m:t>
                                </m:r>
                                <m:sSub>
                                  <m:sSubPr>
                                    <m:ctrlPr>
                                      <a:rPr lang="en-NZ" sz="1600" b="0" i="1" smtClean="0">
                                        <a:latin typeface="Cambria Math" panose="02040503050406030204" pitchFamily="18" charset="0"/>
                                      </a:rPr>
                                    </m:ctrlPr>
                                  </m:sSubPr>
                                  <m:e>
                                    <m:r>
                                      <a:rPr lang="en-NZ" sz="1600" b="0" i="1" smtClean="0">
                                        <a:latin typeface="Cambria Math" panose="02040503050406030204" pitchFamily="18" charset="0"/>
                                      </a:rPr>
                                      <m:t>𝜇</m:t>
                                    </m:r>
                                  </m:e>
                                  <m:sub>
                                    <m:r>
                                      <a:rPr lang="en-NZ" sz="1600" b="0" i="1" smtClean="0">
                                        <a:latin typeface="Cambria Math" panose="02040503050406030204" pitchFamily="18" charset="0"/>
                                      </a:rPr>
                                      <m:t>𝑖</m:t>
                                    </m:r>
                                    <m:r>
                                      <a:rPr lang="en-NZ" sz="1600" b="0" i="1" smtClean="0">
                                        <a:latin typeface="Cambria Math" panose="02040503050406030204" pitchFamily="18" charset="0"/>
                                        <a:ea typeface="Cambria Math" panose="02040503050406030204" pitchFamily="18" charset="0"/>
                                      </a:rPr>
                                      <m:t>∙</m:t>
                                    </m:r>
                                  </m:sub>
                                </m:sSub>
                                <m:r>
                                  <a:rPr lang="en-NZ" sz="1600" b="0" i="1" smtClean="0">
                                    <a:latin typeface="Cambria Math" panose="02040503050406030204" pitchFamily="18" charset="0"/>
                                  </a:rPr>
                                  <m:t> −</m:t>
                                </m:r>
                                <m:r>
                                  <a:rPr lang="en-NZ" sz="1600" b="0" i="1" smtClean="0">
                                    <a:latin typeface="Cambria Math" panose="02040503050406030204" pitchFamily="18" charset="0"/>
                                  </a:rPr>
                                  <m:t>𝜇</m:t>
                                </m:r>
                              </m:oMath>
                            </m:oMathPara>
                          </a14:m>
                          <a:endParaRPr lang="en-NZ" sz="1600" dirty="0"/>
                        </a:p>
                      </a:txBody>
                      <a:tcPr anchor="ctr"/>
                    </a:tc>
                    <a:tc>
                      <a:txBody>
                        <a:bodyPr/>
                        <a:lstStyle/>
                        <a:p>
                          <a:pPr algn="ctr"/>
                          <a14:m>
                            <m:oMathPara xmlns:m="http://schemas.openxmlformats.org/officeDocument/2006/math">
                              <m:oMathParaPr>
                                <m:jc m:val="centerGroup"/>
                              </m:oMathParaPr>
                              <m:oMath xmlns:m="http://schemas.openxmlformats.org/officeDocument/2006/math">
                                <m:acc>
                                  <m:accPr>
                                    <m:chr m:val="̂"/>
                                    <m:ctrlPr>
                                      <a:rPr lang="en-NZ" sz="1600" i="1" smtClean="0">
                                        <a:latin typeface="Cambria Math" panose="02040503050406030204" pitchFamily="18" charset="0"/>
                                      </a:rPr>
                                    </m:ctrlPr>
                                  </m:accPr>
                                  <m:e>
                                    <m:sSub>
                                      <m:sSubPr>
                                        <m:ctrlPr>
                                          <a:rPr lang="en-NZ" sz="1600" b="0" i="1" smtClean="0">
                                            <a:latin typeface="Cambria Math" panose="02040503050406030204" pitchFamily="18" charset="0"/>
                                          </a:rPr>
                                        </m:ctrlPr>
                                      </m:sSubPr>
                                      <m:e>
                                        <m:r>
                                          <a:rPr lang="en-NZ" sz="1600" b="0" i="1" smtClean="0">
                                            <a:latin typeface="Cambria Math" panose="02040503050406030204" pitchFamily="18" charset="0"/>
                                          </a:rPr>
                                          <m:t>𝛼</m:t>
                                        </m:r>
                                      </m:e>
                                      <m:sub>
                                        <m:r>
                                          <a:rPr lang="en-NZ" sz="1600" b="0" i="1" smtClean="0">
                                            <a:latin typeface="Cambria Math" panose="02040503050406030204" pitchFamily="18" charset="0"/>
                                          </a:rPr>
                                          <m:t>𝑖</m:t>
                                        </m:r>
                                      </m:sub>
                                    </m:sSub>
                                  </m:e>
                                </m:acc>
                                <m:r>
                                  <a:rPr lang="en-NZ" sz="1600" b="0" i="1" smtClean="0">
                                    <a:latin typeface="Cambria Math" panose="02040503050406030204" pitchFamily="18" charset="0"/>
                                  </a:rPr>
                                  <m:t> = </m:t>
                                </m:r>
                                <m:acc>
                                  <m:accPr>
                                    <m:chr m:val="̂"/>
                                    <m:ctrlPr>
                                      <a:rPr lang="en-NZ" sz="1600" i="1" smtClean="0">
                                        <a:latin typeface="Cambria Math" panose="02040503050406030204" pitchFamily="18" charset="0"/>
                                      </a:rPr>
                                    </m:ctrlPr>
                                  </m:accPr>
                                  <m:e>
                                    <m:sSub>
                                      <m:sSubPr>
                                        <m:ctrlPr>
                                          <a:rPr lang="en-NZ" sz="1600" b="0" i="1" smtClean="0">
                                            <a:latin typeface="Cambria Math" panose="02040503050406030204" pitchFamily="18" charset="0"/>
                                          </a:rPr>
                                        </m:ctrlPr>
                                      </m:sSubPr>
                                      <m:e>
                                        <m:r>
                                          <a:rPr lang="en-NZ" sz="1600" b="0" i="1" smtClean="0">
                                            <a:latin typeface="Cambria Math" panose="02040503050406030204" pitchFamily="18" charset="0"/>
                                          </a:rPr>
                                          <m:t>𝜇</m:t>
                                        </m:r>
                                      </m:e>
                                      <m:sub>
                                        <m:r>
                                          <a:rPr lang="en-NZ" sz="1600" b="0" i="1" smtClean="0">
                                            <a:latin typeface="Cambria Math" panose="02040503050406030204" pitchFamily="18" charset="0"/>
                                          </a:rPr>
                                          <m:t>𝑖</m:t>
                                        </m:r>
                                        <m:r>
                                          <a:rPr lang="en-NZ" sz="1600" b="0" i="1" smtClean="0">
                                            <a:latin typeface="Cambria Math" panose="02040503050406030204" pitchFamily="18" charset="0"/>
                                            <a:ea typeface="Cambria Math" panose="02040503050406030204" pitchFamily="18" charset="0"/>
                                          </a:rPr>
                                          <m:t>∙</m:t>
                                        </m:r>
                                      </m:sub>
                                    </m:sSub>
                                  </m:e>
                                </m:acc>
                                <m:r>
                                  <a:rPr lang="en-NZ" sz="1600" b="0" i="1" smtClean="0">
                                    <a:latin typeface="Cambria Math" panose="02040503050406030204" pitchFamily="18" charset="0"/>
                                    <a:ea typeface="Cambria Math" panose="02040503050406030204" pitchFamily="18" charset="0"/>
                                  </a:rPr>
                                  <m:t> − </m:t>
                                </m:r>
                                <m:acc>
                                  <m:accPr>
                                    <m:chr m:val="̂"/>
                                    <m:ctrlPr>
                                      <a:rPr lang="en-NZ" sz="1600" b="0" i="1" smtClean="0">
                                        <a:latin typeface="Cambria Math" panose="02040503050406030204" pitchFamily="18" charset="0"/>
                                      </a:rPr>
                                    </m:ctrlPr>
                                  </m:accPr>
                                  <m:e>
                                    <m:r>
                                      <a:rPr lang="en-NZ" sz="1600" b="0" i="1" smtClean="0">
                                        <a:latin typeface="Cambria Math" panose="02040503050406030204" pitchFamily="18" charset="0"/>
                                      </a:rPr>
                                      <m:t>𝜇</m:t>
                                    </m:r>
                                  </m:e>
                                </m:acc>
                                <m:r>
                                  <a:rPr lang="en-NZ" sz="1600" b="0" i="0" smtClean="0">
                                    <a:latin typeface="Cambria Math" panose="02040503050406030204" pitchFamily="18" charset="0"/>
                                  </a:rPr>
                                  <m:t> =</m:t>
                                </m:r>
                                <m:sSub>
                                  <m:sSubPr>
                                    <m:ctrlPr>
                                      <a:rPr lang="en-NZ" sz="1600" b="0" i="1" smtClean="0">
                                        <a:latin typeface="Cambria Math" panose="02040503050406030204" pitchFamily="18" charset="0"/>
                                      </a:rPr>
                                    </m:ctrlPr>
                                  </m:sSubPr>
                                  <m:e>
                                    <m:acc>
                                      <m:accPr>
                                        <m:chr m:val="̅"/>
                                        <m:ctrlPr>
                                          <a:rPr lang="en-NZ" sz="1600" i="1" smtClean="0">
                                            <a:latin typeface="Cambria Math" panose="02040503050406030204" pitchFamily="18" charset="0"/>
                                          </a:rPr>
                                        </m:ctrlPr>
                                      </m:accPr>
                                      <m:e>
                                        <m:r>
                                          <a:rPr lang="en-NZ" sz="1600" b="0" i="1" smtClean="0">
                                            <a:latin typeface="Cambria Math" panose="02040503050406030204" pitchFamily="18" charset="0"/>
                                          </a:rPr>
                                          <m:t>𝑌</m:t>
                                        </m:r>
                                      </m:e>
                                    </m:acc>
                                  </m:e>
                                  <m:sub>
                                    <m:r>
                                      <a:rPr lang="en-NZ" sz="1600" b="0" i="1" smtClean="0">
                                        <a:latin typeface="Cambria Math" panose="02040503050406030204" pitchFamily="18" charset="0"/>
                                      </a:rPr>
                                      <m:t>𝑖</m:t>
                                    </m:r>
                                    <m:r>
                                      <a:rPr lang="en-NZ" sz="1600" b="0" i="1" smtClean="0">
                                        <a:latin typeface="Cambria Math" panose="02040503050406030204" pitchFamily="18" charset="0"/>
                                        <a:ea typeface="Cambria Math" panose="02040503050406030204" pitchFamily="18" charset="0"/>
                                      </a:rPr>
                                      <m:t>∙∙</m:t>
                                    </m:r>
                                  </m:sub>
                                </m:sSub>
                                <m:r>
                                  <a:rPr lang="en-NZ" sz="1600" b="0" i="0" smtClean="0">
                                    <a:latin typeface="Cambria Math" panose="02040503050406030204" pitchFamily="18" charset="0"/>
                                    <a:ea typeface="Cambria Math" panose="02040503050406030204" pitchFamily="18" charset="0"/>
                                  </a:rPr>
                                  <m:t> −</m:t>
                                </m:r>
                                <m:sSub>
                                  <m:sSubPr>
                                    <m:ctrlPr>
                                      <a:rPr lang="en-NZ" sz="1600" b="0" i="1" smtClean="0">
                                        <a:latin typeface="Cambria Math" panose="02040503050406030204" pitchFamily="18" charset="0"/>
                                      </a:rPr>
                                    </m:ctrlPr>
                                  </m:sSubPr>
                                  <m:e>
                                    <m:acc>
                                      <m:accPr>
                                        <m:chr m:val="̅"/>
                                        <m:ctrlPr>
                                          <a:rPr lang="en-NZ" sz="1600" i="1" smtClean="0">
                                            <a:latin typeface="Cambria Math" panose="02040503050406030204" pitchFamily="18" charset="0"/>
                                          </a:rPr>
                                        </m:ctrlPr>
                                      </m:accPr>
                                      <m:e>
                                        <m:r>
                                          <a:rPr lang="en-NZ" sz="1600" b="0" i="1" smtClean="0">
                                            <a:latin typeface="Cambria Math" panose="02040503050406030204" pitchFamily="18" charset="0"/>
                                          </a:rPr>
                                          <m:t>𝑌</m:t>
                                        </m:r>
                                      </m:e>
                                    </m:acc>
                                  </m:e>
                                  <m:sub>
                                    <m:r>
                                      <a:rPr lang="en-NZ" sz="1600" b="0" i="1" smtClean="0">
                                        <a:latin typeface="Cambria Math" panose="02040503050406030204" pitchFamily="18" charset="0"/>
                                        <a:ea typeface="Cambria Math" panose="02040503050406030204" pitchFamily="18" charset="0"/>
                                      </a:rPr>
                                      <m:t>∙∙∙</m:t>
                                    </m:r>
                                  </m:sub>
                                </m:sSub>
                              </m:oMath>
                            </m:oMathPara>
                          </a14:m>
                          <a:endParaRPr lang="en-NZ" sz="1600" dirty="0"/>
                        </a:p>
                      </a:txBody>
                      <a:tcPr anchor="ctr"/>
                    </a:tc>
                    <a:tc>
                      <a:txBody>
                        <a:bodyPr/>
                        <a:lstStyle/>
                        <a:p>
                          <a:pPr algn="ctr"/>
                          <a:r>
                            <a:rPr lang="en-NZ" sz="1600" dirty="0"/>
                            <a:t>Effect of the </a:t>
                          </a:r>
                          <a14:m>
                            <m:oMath xmlns:m="http://schemas.openxmlformats.org/officeDocument/2006/math">
                              <m:sSup>
                                <m:sSupPr>
                                  <m:ctrlPr>
                                    <a:rPr lang="en-NZ" sz="1600" b="0" i="1" smtClean="0">
                                      <a:latin typeface="Cambria Math" panose="02040503050406030204" pitchFamily="18" charset="0"/>
                                    </a:rPr>
                                  </m:ctrlPr>
                                </m:sSupPr>
                                <m:e>
                                  <m:r>
                                    <a:rPr lang="en-NZ" sz="1600" b="0" i="1" smtClean="0">
                                      <a:latin typeface="Cambria Math" panose="02040503050406030204" pitchFamily="18" charset="0"/>
                                    </a:rPr>
                                    <m:t>𝑖</m:t>
                                  </m:r>
                                </m:e>
                                <m:sup>
                                  <m:r>
                                    <a:rPr lang="en-NZ" sz="1600" b="0" i="1" smtClean="0">
                                      <a:latin typeface="Cambria Math" panose="02040503050406030204" pitchFamily="18" charset="0"/>
                                    </a:rPr>
                                    <m:t>𝑡h</m:t>
                                  </m:r>
                                </m:sup>
                              </m:sSup>
                            </m:oMath>
                          </a14:m>
                          <a:r>
                            <a:rPr lang="en-NZ" sz="1600" dirty="0"/>
                            <a:t> level of Factor A</a:t>
                          </a:r>
                        </a:p>
                      </a:txBody>
                      <a:tcPr anchor="ctr"/>
                    </a:tc>
                    <a:extLst>
                      <a:ext uri="{0D108BD9-81ED-4DB2-BD59-A6C34878D82A}">
                        <a16:rowId xmlns:a16="http://schemas.microsoft.com/office/drawing/2014/main" val="3262608191"/>
                      </a:ext>
                    </a:extLst>
                  </a:tr>
                  <a:tr h="418542">
                    <a:tc>
                      <a:txBody>
                        <a:bodyPr/>
                        <a:lstStyle/>
                        <a:p>
                          <a:pPr algn="ctr"/>
                          <a14:m>
                            <m:oMathPara xmlns:m="http://schemas.openxmlformats.org/officeDocument/2006/math">
                              <m:oMathParaPr>
                                <m:jc m:val="centerGroup"/>
                              </m:oMathParaPr>
                              <m:oMath xmlns:m="http://schemas.openxmlformats.org/officeDocument/2006/math">
                                <m:sSub>
                                  <m:sSubPr>
                                    <m:ctrlPr>
                                      <a:rPr lang="en-NZ" sz="1600" b="0" i="1" smtClean="0">
                                        <a:latin typeface="Cambria Math" panose="02040503050406030204" pitchFamily="18" charset="0"/>
                                      </a:rPr>
                                    </m:ctrlPr>
                                  </m:sSubPr>
                                  <m:e>
                                    <m:r>
                                      <a:rPr lang="en-NZ" sz="1600" b="0" i="1" smtClean="0">
                                        <a:latin typeface="Cambria Math" panose="02040503050406030204" pitchFamily="18" charset="0"/>
                                      </a:rPr>
                                      <m:t>𝛽</m:t>
                                    </m:r>
                                  </m:e>
                                  <m:sub>
                                    <m:r>
                                      <a:rPr lang="en-NZ" sz="1600" b="0" i="1" smtClean="0">
                                        <a:latin typeface="Cambria Math" panose="02040503050406030204" pitchFamily="18" charset="0"/>
                                      </a:rPr>
                                      <m:t>𝑗</m:t>
                                    </m:r>
                                  </m:sub>
                                </m:sSub>
                                <m:r>
                                  <a:rPr lang="en-NZ" sz="1600" b="0" i="1" smtClean="0">
                                    <a:latin typeface="Cambria Math" panose="02040503050406030204" pitchFamily="18" charset="0"/>
                                  </a:rPr>
                                  <m:t>≡  </m:t>
                                </m:r>
                                <m:sSub>
                                  <m:sSubPr>
                                    <m:ctrlPr>
                                      <a:rPr lang="en-NZ" sz="1600" b="0" i="1" smtClean="0">
                                        <a:latin typeface="Cambria Math" panose="02040503050406030204" pitchFamily="18" charset="0"/>
                                      </a:rPr>
                                    </m:ctrlPr>
                                  </m:sSubPr>
                                  <m:e>
                                    <m:r>
                                      <a:rPr lang="en-NZ" sz="1600" b="0" i="1" smtClean="0">
                                        <a:latin typeface="Cambria Math" panose="02040503050406030204" pitchFamily="18" charset="0"/>
                                      </a:rPr>
                                      <m:t>𝜇</m:t>
                                    </m:r>
                                  </m:e>
                                  <m:sub>
                                    <m:r>
                                      <a:rPr lang="en-NZ" sz="1600" b="0" i="1" smtClean="0">
                                        <a:latin typeface="Cambria Math" panose="02040503050406030204" pitchFamily="18" charset="0"/>
                                        <a:ea typeface="Cambria Math" panose="02040503050406030204" pitchFamily="18" charset="0"/>
                                      </a:rPr>
                                      <m:t>∙</m:t>
                                    </m:r>
                                    <m:r>
                                      <a:rPr lang="en-NZ" sz="1600" b="0" i="1" smtClean="0">
                                        <a:latin typeface="Cambria Math" panose="02040503050406030204" pitchFamily="18" charset="0"/>
                                        <a:ea typeface="Cambria Math" panose="02040503050406030204" pitchFamily="18" charset="0"/>
                                      </a:rPr>
                                      <m:t>𝑗</m:t>
                                    </m:r>
                                  </m:sub>
                                </m:sSub>
                                <m:r>
                                  <a:rPr lang="en-NZ" sz="1600" b="0" i="1" smtClean="0">
                                    <a:latin typeface="Cambria Math" panose="02040503050406030204" pitchFamily="18" charset="0"/>
                                  </a:rPr>
                                  <m:t> −</m:t>
                                </m:r>
                                <m:r>
                                  <a:rPr lang="en-NZ" sz="1600" b="0" i="1" smtClean="0">
                                    <a:latin typeface="Cambria Math" panose="02040503050406030204" pitchFamily="18" charset="0"/>
                                  </a:rPr>
                                  <m:t>𝜇</m:t>
                                </m:r>
                              </m:oMath>
                            </m:oMathPara>
                          </a14:m>
                          <a:endParaRPr lang="en-NZ" sz="1600" dirty="0"/>
                        </a:p>
                      </a:txBody>
                      <a:tcPr anchor="ctr"/>
                    </a:tc>
                    <a:tc>
                      <a:txBody>
                        <a:bodyPr/>
                        <a:lstStyle/>
                        <a:p>
                          <a:pPr algn="ctr"/>
                          <a14:m>
                            <m:oMathPara xmlns:m="http://schemas.openxmlformats.org/officeDocument/2006/math">
                              <m:oMathParaPr>
                                <m:jc m:val="centerGroup"/>
                              </m:oMathParaPr>
                              <m:oMath xmlns:m="http://schemas.openxmlformats.org/officeDocument/2006/math">
                                <m:acc>
                                  <m:accPr>
                                    <m:chr m:val="̂"/>
                                    <m:ctrlPr>
                                      <a:rPr lang="en-NZ" sz="1600" i="1" smtClean="0">
                                        <a:latin typeface="Cambria Math" panose="02040503050406030204" pitchFamily="18" charset="0"/>
                                      </a:rPr>
                                    </m:ctrlPr>
                                  </m:accPr>
                                  <m:e>
                                    <m:sSub>
                                      <m:sSubPr>
                                        <m:ctrlPr>
                                          <a:rPr lang="en-NZ" sz="1600" b="0" i="1" smtClean="0">
                                            <a:latin typeface="Cambria Math" panose="02040503050406030204" pitchFamily="18" charset="0"/>
                                          </a:rPr>
                                        </m:ctrlPr>
                                      </m:sSubPr>
                                      <m:e>
                                        <m:r>
                                          <a:rPr lang="en-NZ" sz="1600" b="0" i="1" smtClean="0">
                                            <a:latin typeface="Cambria Math" panose="02040503050406030204" pitchFamily="18" charset="0"/>
                                          </a:rPr>
                                          <m:t>𝛽</m:t>
                                        </m:r>
                                      </m:e>
                                      <m:sub>
                                        <m:r>
                                          <a:rPr lang="en-NZ" sz="1600" b="0" i="1" smtClean="0">
                                            <a:latin typeface="Cambria Math" panose="02040503050406030204" pitchFamily="18" charset="0"/>
                                          </a:rPr>
                                          <m:t>𝑗</m:t>
                                        </m:r>
                                      </m:sub>
                                    </m:sSub>
                                  </m:e>
                                </m:acc>
                                <m:r>
                                  <a:rPr lang="en-NZ" sz="1600" b="0" i="1" smtClean="0">
                                    <a:latin typeface="Cambria Math" panose="02040503050406030204" pitchFamily="18" charset="0"/>
                                  </a:rPr>
                                  <m:t> = </m:t>
                                </m:r>
                                <m:acc>
                                  <m:accPr>
                                    <m:chr m:val="̂"/>
                                    <m:ctrlPr>
                                      <a:rPr lang="en-NZ" sz="1600" i="1" smtClean="0">
                                        <a:latin typeface="Cambria Math" panose="02040503050406030204" pitchFamily="18" charset="0"/>
                                      </a:rPr>
                                    </m:ctrlPr>
                                  </m:accPr>
                                  <m:e>
                                    <m:sSub>
                                      <m:sSubPr>
                                        <m:ctrlPr>
                                          <a:rPr lang="en-NZ" sz="1600" b="0" i="1" smtClean="0">
                                            <a:latin typeface="Cambria Math" panose="02040503050406030204" pitchFamily="18" charset="0"/>
                                          </a:rPr>
                                        </m:ctrlPr>
                                      </m:sSubPr>
                                      <m:e>
                                        <m:r>
                                          <a:rPr lang="en-NZ" sz="1600" b="0" i="1" smtClean="0">
                                            <a:latin typeface="Cambria Math" panose="02040503050406030204" pitchFamily="18" charset="0"/>
                                          </a:rPr>
                                          <m:t>𝜇</m:t>
                                        </m:r>
                                      </m:e>
                                      <m:sub>
                                        <m:r>
                                          <a:rPr lang="en-NZ" sz="1600" b="0" i="1" smtClean="0">
                                            <a:latin typeface="Cambria Math" panose="02040503050406030204" pitchFamily="18" charset="0"/>
                                            <a:ea typeface="Cambria Math" panose="02040503050406030204" pitchFamily="18" charset="0"/>
                                          </a:rPr>
                                          <m:t>∙</m:t>
                                        </m:r>
                                        <m:r>
                                          <a:rPr lang="en-NZ" sz="1600" b="0" i="1" smtClean="0">
                                            <a:latin typeface="Cambria Math" panose="02040503050406030204" pitchFamily="18" charset="0"/>
                                            <a:ea typeface="Cambria Math" panose="02040503050406030204" pitchFamily="18" charset="0"/>
                                          </a:rPr>
                                          <m:t>𝑗</m:t>
                                        </m:r>
                                      </m:sub>
                                    </m:sSub>
                                  </m:e>
                                </m:acc>
                                <m:r>
                                  <a:rPr lang="en-NZ" sz="1600" b="0" i="1" smtClean="0">
                                    <a:latin typeface="Cambria Math" panose="02040503050406030204" pitchFamily="18" charset="0"/>
                                    <a:ea typeface="Cambria Math" panose="02040503050406030204" pitchFamily="18" charset="0"/>
                                  </a:rPr>
                                  <m:t> − </m:t>
                                </m:r>
                                <m:acc>
                                  <m:accPr>
                                    <m:chr m:val="̂"/>
                                    <m:ctrlPr>
                                      <a:rPr lang="en-NZ" sz="1600" b="0" i="1" smtClean="0">
                                        <a:latin typeface="Cambria Math" panose="02040503050406030204" pitchFamily="18" charset="0"/>
                                      </a:rPr>
                                    </m:ctrlPr>
                                  </m:accPr>
                                  <m:e>
                                    <m:r>
                                      <a:rPr lang="en-NZ" sz="1600" b="0" i="1" smtClean="0">
                                        <a:latin typeface="Cambria Math" panose="02040503050406030204" pitchFamily="18" charset="0"/>
                                      </a:rPr>
                                      <m:t>𝜇</m:t>
                                    </m:r>
                                  </m:e>
                                </m:acc>
                                <m:r>
                                  <a:rPr lang="en-NZ" sz="1600" b="0" i="0" smtClean="0">
                                    <a:latin typeface="Cambria Math" panose="02040503050406030204" pitchFamily="18" charset="0"/>
                                  </a:rPr>
                                  <m:t> =</m:t>
                                </m:r>
                                <m:sSub>
                                  <m:sSubPr>
                                    <m:ctrlPr>
                                      <a:rPr lang="en-NZ" sz="1600" b="0" i="1" smtClean="0">
                                        <a:latin typeface="Cambria Math" panose="02040503050406030204" pitchFamily="18" charset="0"/>
                                      </a:rPr>
                                    </m:ctrlPr>
                                  </m:sSubPr>
                                  <m:e>
                                    <m:acc>
                                      <m:accPr>
                                        <m:chr m:val="̅"/>
                                        <m:ctrlPr>
                                          <a:rPr lang="en-NZ" sz="1600" i="1" smtClean="0">
                                            <a:latin typeface="Cambria Math" panose="02040503050406030204" pitchFamily="18" charset="0"/>
                                          </a:rPr>
                                        </m:ctrlPr>
                                      </m:accPr>
                                      <m:e>
                                        <m:r>
                                          <a:rPr lang="en-NZ" sz="1600" b="0" i="1" smtClean="0">
                                            <a:latin typeface="Cambria Math" panose="02040503050406030204" pitchFamily="18" charset="0"/>
                                          </a:rPr>
                                          <m:t>𝑌</m:t>
                                        </m:r>
                                      </m:e>
                                    </m:acc>
                                  </m:e>
                                  <m:sub>
                                    <m:r>
                                      <a:rPr lang="en-NZ" sz="1600" b="0" i="1" smtClean="0">
                                        <a:latin typeface="Cambria Math" panose="02040503050406030204" pitchFamily="18" charset="0"/>
                                        <a:ea typeface="Cambria Math" panose="02040503050406030204" pitchFamily="18" charset="0"/>
                                      </a:rPr>
                                      <m:t>∙</m:t>
                                    </m:r>
                                    <m:r>
                                      <a:rPr lang="en-NZ" sz="1600" b="0" i="1" smtClean="0">
                                        <a:latin typeface="Cambria Math" panose="02040503050406030204" pitchFamily="18" charset="0"/>
                                        <a:ea typeface="Cambria Math" panose="02040503050406030204" pitchFamily="18" charset="0"/>
                                      </a:rPr>
                                      <m:t>𝑗</m:t>
                                    </m:r>
                                    <m:r>
                                      <a:rPr lang="en-NZ" sz="1600" b="0" i="1" smtClean="0">
                                        <a:latin typeface="Cambria Math" panose="02040503050406030204" pitchFamily="18" charset="0"/>
                                        <a:ea typeface="Cambria Math" panose="02040503050406030204" pitchFamily="18" charset="0"/>
                                      </a:rPr>
                                      <m:t>∙</m:t>
                                    </m:r>
                                  </m:sub>
                                </m:sSub>
                                <m:r>
                                  <a:rPr lang="en-NZ" sz="1600" b="0" i="0" smtClean="0">
                                    <a:latin typeface="Cambria Math" panose="02040503050406030204" pitchFamily="18" charset="0"/>
                                    <a:ea typeface="Cambria Math" panose="02040503050406030204" pitchFamily="18" charset="0"/>
                                  </a:rPr>
                                  <m:t> −</m:t>
                                </m:r>
                                <m:sSub>
                                  <m:sSubPr>
                                    <m:ctrlPr>
                                      <a:rPr lang="en-NZ" sz="1600" b="0" i="1" smtClean="0">
                                        <a:latin typeface="Cambria Math" panose="02040503050406030204" pitchFamily="18" charset="0"/>
                                      </a:rPr>
                                    </m:ctrlPr>
                                  </m:sSubPr>
                                  <m:e>
                                    <m:acc>
                                      <m:accPr>
                                        <m:chr m:val="̅"/>
                                        <m:ctrlPr>
                                          <a:rPr lang="en-NZ" sz="1600" i="1" smtClean="0">
                                            <a:latin typeface="Cambria Math" panose="02040503050406030204" pitchFamily="18" charset="0"/>
                                          </a:rPr>
                                        </m:ctrlPr>
                                      </m:accPr>
                                      <m:e>
                                        <m:r>
                                          <a:rPr lang="en-NZ" sz="1600" b="0" i="1" smtClean="0">
                                            <a:latin typeface="Cambria Math" panose="02040503050406030204" pitchFamily="18" charset="0"/>
                                          </a:rPr>
                                          <m:t>𝑌</m:t>
                                        </m:r>
                                      </m:e>
                                    </m:acc>
                                  </m:e>
                                  <m:sub>
                                    <m:r>
                                      <a:rPr lang="en-NZ" sz="1600" b="0" i="1" smtClean="0">
                                        <a:latin typeface="Cambria Math" panose="02040503050406030204" pitchFamily="18" charset="0"/>
                                        <a:ea typeface="Cambria Math" panose="02040503050406030204" pitchFamily="18" charset="0"/>
                                      </a:rPr>
                                      <m:t>∙∙∙</m:t>
                                    </m:r>
                                  </m:sub>
                                </m:sSub>
                              </m:oMath>
                            </m:oMathPara>
                          </a14:m>
                          <a:endParaRPr lang="en-NZ" sz="1600" dirty="0"/>
                        </a:p>
                      </a:txBody>
                      <a:tcPr anchor="ctr"/>
                    </a:tc>
                    <a:tc>
                      <a:txBody>
                        <a:bodyPr/>
                        <a:lstStyle/>
                        <a:p>
                          <a:pPr algn="ctr"/>
                          <a:r>
                            <a:rPr lang="en-NZ" sz="1600" dirty="0"/>
                            <a:t>Effect of </a:t>
                          </a:r>
                          <a14:m>
                            <m:oMath xmlns:m="http://schemas.openxmlformats.org/officeDocument/2006/math">
                              <m:sSup>
                                <m:sSupPr>
                                  <m:ctrlPr>
                                    <a:rPr lang="en-NZ" sz="1600" b="0" i="1" smtClean="0">
                                      <a:latin typeface="Cambria Math" panose="02040503050406030204" pitchFamily="18" charset="0"/>
                                    </a:rPr>
                                  </m:ctrlPr>
                                </m:sSupPr>
                                <m:e>
                                  <m:r>
                                    <a:rPr lang="en-NZ" sz="1600" b="0" i="1" smtClean="0">
                                      <a:latin typeface="Cambria Math" panose="02040503050406030204" pitchFamily="18" charset="0"/>
                                    </a:rPr>
                                    <m:t>𝑗</m:t>
                                  </m:r>
                                </m:e>
                                <m:sup>
                                  <m:r>
                                    <a:rPr lang="en-NZ" sz="1600" b="0" i="1" smtClean="0">
                                      <a:latin typeface="Cambria Math" panose="02040503050406030204" pitchFamily="18" charset="0"/>
                                    </a:rPr>
                                    <m:t>𝑡h</m:t>
                                  </m:r>
                                </m:sup>
                              </m:sSup>
                            </m:oMath>
                          </a14:m>
                          <a:r>
                            <a:rPr lang="en-NZ" sz="1600" dirty="0"/>
                            <a:t> level of Factor B</a:t>
                          </a:r>
                        </a:p>
                      </a:txBody>
                      <a:tcPr anchor="ctr"/>
                    </a:tc>
                    <a:extLst>
                      <a:ext uri="{0D108BD9-81ED-4DB2-BD59-A6C34878D82A}">
                        <a16:rowId xmlns:a16="http://schemas.microsoft.com/office/drawing/2014/main" val="3760970986"/>
                      </a:ext>
                    </a:extLst>
                  </a:tr>
                  <a:tr h="875994">
                    <a:tc>
                      <a:txBody>
                        <a:bodyPr/>
                        <a:lstStyle/>
                        <a:p>
                          <a:pPr algn="ctr"/>
                          <a14:m>
                            <m:oMathPara xmlns:m="http://schemas.openxmlformats.org/officeDocument/2006/math">
                              <m:oMathParaPr>
                                <m:jc m:val="centerGroup"/>
                              </m:oMathParaPr>
                              <m:oMath xmlns:m="http://schemas.openxmlformats.org/officeDocument/2006/math">
                                <m:sSup>
                                  <m:sSupPr>
                                    <m:ctrlPr>
                                      <a:rPr lang="en-NZ" sz="1600" b="0" i="1" smtClean="0">
                                        <a:latin typeface="Cambria Math" panose="02040503050406030204" pitchFamily="18" charset="0"/>
                                      </a:rPr>
                                    </m:ctrlPr>
                                  </m:sSupPr>
                                  <m:e>
                                    <m:r>
                                      <a:rPr lang="en-NZ" sz="1600" b="0" i="1" smtClean="0">
                                        <a:latin typeface="Cambria Math" panose="02040503050406030204" pitchFamily="18" charset="0"/>
                                      </a:rPr>
                                      <m:t>𝜎</m:t>
                                    </m:r>
                                  </m:e>
                                  <m:sup>
                                    <m:r>
                                      <a:rPr lang="en-NZ" sz="1600" b="0" i="1" smtClean="0">
                                        <a:latin typeface="Cambria Math" panose="02040503050406030204" pitchFamily="18" charset="0"/>
                                      </a:rPr>
                                      <m:t>2</m:t>
                                    </m:r>
                                  </m:sup>
                                </m:sSup>
                              </m:oMath>
                            </m:oMathPara>
                          </a14:m>
                          <a:endParaRPr lang="en-NZ" sz="1600" dirty="0"/>
                        </a:p>
                      </a:txBody>
                      <a:tcPr anchor="ctr"/>
                    </a:tc>
                    <a:tc>
                      <a:txBody>
                        <a:bodyPr/>
                        <a:lstStyle/>
                        <a:p>
                          <a:pPr algn="ctr"/>
                          <a14:m>
                            <m:oMathPara xmlns:m="http://schemas.openxmlformats.org/officeDocument/2006/math">
                              <m:oMathParaPr>
                                <m:jc m:val="centerGroup"/>
                              </m:oMathParaPr>
                              <m:oMath xmlns:m="http://schemas.openxmlformats.org/officeDocument/2006/math">
                                <m:sSup>
                                  <m:sSupPr>
                                    <m:ctrlPr>
                                      <a:rPr lang="en-NZ" sz="1600" b="0" i="1" smtClean="0">
                                        <a:latin typeface="Cambria Math" panose="02040503050406030204" pitchFamily="18" charset="0"/>
                                      </a:rPr>
                                    </m:ctrlPr>
                                  </m:sSupPr>
                                  <m:e>
                                    <m:sSup>
                                      <m:sSupPr>
                                        <m:ctrlPr>
                                          <a:rPr lang="en-NZ" sz="1600" b="0" i="1" smtClean="0">
                                            <a:latin typeface="Cambria Math" panose="02040503050406030204" pitchFamily="18" charset="0"/>
                                          </a:rPr>
                                        </m:ctrlPr>
                                      </m:sSupPr>
                                      <m:e>
                                        <m:acc>
                                          <m:accPr>
                                            <m:chr m:val="̂"/>
                                            <m:ctrlPr>
                                              <a:rPr lang="en-NZ" sz="1600" b="0" i="1" smtClean="0">
                                                <a:latin typeface="Cambria Math" panose="02040503050406030204" pitchFamily="18" charset="0"/>
                                              </a:rPr>
                                            </m:ctrlPr>
                                          </m:accPr>
                                          <m:e>
                                            <m:r>
                                              <a:rPr lang="en-NZ" sz="1600" b="0" i="1" smtClean="0">
                                                <a:latin typeface="Cambria Math" panose="02040503050406030204" pitchFamily="18" charset="0"/>
                                              </a:rPr>
                                              <m:t>𝜎</m:t>
                                            </m:r>
                                          </m:e>
                                        </m:acc>
                                      </m:e>
                                      <m:sup>
                                        <m:r>
                                          <a:rPr lang="en-NZ" sz="1600" b="0" i="1" smtClean="0">
                                            <a:latin typeface="Cambria Math" panose="02040503050406030204" pitchFamily="18" charset="0"/>
                                          </a:rPr>
                                          <m:t>2</m:t>
                                        </m:r>
                                      </m:sup>
                                    </m:sSup>
                                    <m:r>
                                      <a:rPr lang="en-NZ" sz="1600" b="0" i="1" smtClean="0">
                                        <a:latin typeface="Cambria Math" panose="02040503050406030204" pitchFamily="18" charset="0"/>
                                      </a:rPr>
                                      <m:t> = </m:t>
                                    </m:r>
                                    <m:r>
                                      <a:rPr lang="en-NZ" sz="1600" b="0" i="1" smtClean="0">
                                        <a:latin typeface="Cambria Math" panose="02040503050406030204" pitchFamily="18" charset="0"/>
                                      </a:rPr>
                                      <m:t>𝑠</m:t>
                                    </m:r>
                                  </m:e>
                                  <m:sup>
                                    <m:r>
                                      <a:rPr lang="en-NZ" sz="1600" b="0" i="1" smtClean="0">
                                        <a:latin typeface="Cambria Math" panose="02040503050406030204" pitchFamily="18" charset="0"/>
                                      </a:rPr>
                                      <m:t>2</m:t>
                                    </m:r>
                                  </m:sup>
                                </m:sSup>
                                <m:r>
                                  <a:rPr lang="en-NZ" sz="1600" b="0" i="1" smtClean="0">
                                    <a:latin typeface="Cambria Math" panose="02040503050406030204" pitchFamily="18" charset="0"/>
                                  </a:rPr>
                                  <m:t>=</m:t>
                                </m:r>
                                <m:f>
                                  <m:fPr>
                                    <m:ctrlPr>
                                      <a:rPr lang="en-NZ" sz="1600" b="0" i="1" smtClean="0">
                                        <a:latin typeface="Cambria Math" panose="02040503050406030204" pitchFamily="18" charset="0"/>
                                      </a:rPr>
                                    </m:ctrlPr>
                                  </m:fPr>
                                  <m:num>
                                    <m:r>
                                      <a:rPr lang="en-NZ" sz="1600" b="0" i="1" smtClean="0">
                                        <a:latin typeface="Cambria Math" panose="02040503050406030204" pitchFamily="18" charset="0"/>
                                      </a:rPr>
                                      <m:t>1</m:t>
                                    </m:r>
                                  </m:num>
                                  <m:den>
                                    <m:r>
                                      <a:rPr lang="en-NZ" sz="1600" b="0" i="1" smtClean="0">
                                        <a:latin typeface="Cambria Math" panose="02040503050406030204" pitchFamily="18" charset="0"/>
                                      </a:rPr>
                                      <m:t>𝑘</m:t>
                                    </m:r>
                                  </m:den>
                                </m:f>
                                <m:r>
                                  <a:rPr lang="en-NZ" sz="1600" b="0" i="1" smtClean="0">
                                    <a:latin typeface="Cambria Math" panose="02040503050406030204" pitchFamily="18" charset="0"/>
                                  </a:rPr>
                                  <m:t> </m:t>
                                </m:r>
                                <m:nary>
                                  <m:naryPr>
                                    <m:chr m:val="∑"/>
                                    <m:ctrlPr>
                                      <a:rPr lang="en-NZ" sz="1600" b="0" i="1" smtClean="0">
                                        <a:latin typeface="Cambria Math" panose="02040503050406030204" pitchFamily="18" charset="0"/>
                                      </a:rPr>
                                    </m:ctrlPr>
                                  </m:naryPr>
                                  <m:sub>
                                    <m:r>
                                      <m:rPr>
                                        <m:brk m:alnAt="23"/>
                                      </m:rPr>
                                      <a:rPr lang="en-NZ" sz="1600" b="0" i="1" smtClean="0">
                                        <a:latin typeface="Cambria Math" panose="02040503050406030204" pitchFamily="18" charset="0"/>
                                      </a:rPr>
                                      <m:t>𝑖</m:t>
                                    </m:r>
                                    <m:r>
                                      <a:rPr lang="en-NZ" sz="1600" b="0" i="1" smtClean="0">
                                        <a:latin typeface="Cambria Math" panose="02040503050406030204" pitchFamily="18" charset="0"/>
                                      </a:rPr>
                                      <m:t>=1</m:t>
                                    </m:r>
                                  </m:sub>
                                  <m:sup>
                                    <m:r>
                                      <a:rPr lang="en-NZ" sz="1600" b="0" i="1" smtClean="0">
                                        <a:latin typeface="Cambria Math" panose="02040503050406030204" pitchFamily="18" charset="0"/>
                                      </a:rPr>
                                      <m:t>𝑘</m:t>
                                    </m:r>
                                  </m:sup>
                                  <m:e>
                                    <m:sSubSup>
                                      <m:sSubSupPr>
                                        <m:ctrlPr>
                                          <a:rPr lang="en-NZ" sz="1600" b="0" i="1" smtClean="0">
                                            <a:latin typeface="Cambria Math" panose="02040503050406030204" pitchFamily="18" charset="0"/>
                                          </a:rPr>
                                        </m:ctrlPr>
                                      </m:sSubSupPr>
                                      <m:e>
                                        <m:r>
                                          <a:rPr lang="en-NZ" sz="1600" b="0" i="1" smtClean="0">
                                            <a:latin typeface="Cambria Math" panose="02040503050406030204" pitchFamily="18" charset="0"/>
                                          </a:rPr>
                                          <m:t>𝑠</m:t>
                                        </m:r>
                                      </m:e>
                                      <m:sub>
                                        <m:r>
                                          <a:rPr lang="en-NZ" sz="1600" b="0" i="1" smtClean="0">
                                            <a:latin typeface="Cambria Math" panose="02040503050406030204" pitchFamily="18" charset="0"/>
                                          </a:rPr>
                                          <m:t>𝑖</m:t>
                                        </m:r>
                                      </m:sub>
                                      <m:sup>
                                        <m:r>
                                          <a:rPr lang="en-NZ" sz="1600" b="0" i="1" smtClean="0">
                                            <a:latin typeface="Cambria Math" panose="02040503050406030204" pitchFamily="18" charset="0"/>
                                          </a:rPr>
                                          <m:t>2</m:t>
                                        </m:r>
                                      </m:sup>
                                    </m:sSubSup>
                                  </m:e>
                                </m:nary>
                              </m:oMath>
                            </m:oMathPara>
                          </a14:m>
                          <a:endParaRPr lang="en-NZ" sz="1600" dirty="0"/>
                        </a:p>
                      </a:txBody>
                      <a:tcPr anchor="ctr"/>
                    </a:tc>
                    <a:tc>
                      <a:txBody>
                        <a:bodyPr/>
                        <a:lstStyle/>
                        <a:p>
                          <a:pPr algn="ctr"/>
                          <a:r>
                            <a:rPr lang="en-NZ" sz="1600" dirty="0"/>
                            <a:t>Common Variance</a:t>
                          </a:r>
                          <a:br>
                            <a:rPr lang="en-NZ" sz="1600" dirty="0"/>
                          </a:br>
                          <a:r>
                            <a:rPr lang="en-NZ" sz="1600" dirty="0"/>
                            <a:t>(Holds only for balanced designs)</a:t>
                          </a:r>
                        </a:p>
                      </a:txBody>
                      <a:tcPr anchor="ctr"/>
                    </a:tc>
                    <a:extLst>
                      <a:ext uri="{0D108BD9-81ED-4DB2-BD59-A6C34878D82A}">
                        <a16:rowId xmlns:a16="http://schemas.microsoft.com/office/drawing/2014/main" val="2599272264"/>
                      </a:ext>
                    </a:extLst>
                  </a:tr>
                </a:tbl>
              </a:graphicData>
            </a:graphic>
          </p:graphicFrame>
        </mc:Choice>
        <mc:Fallback xmlns="">
          <p:graphicFrame>
            <p:nvGraphicFramePr>
              <p:cNvPr id="22" name="Table 2">
                <a:extLst>
                  <a:ext uri="{FF2B5EF4-FFF2-40B4-BE49-F238E27FC236}">
                    <a16:creationId xmlns:a16="http://schemas.microsoft.com/office/drawing/2014/main" id="{68C4A14C-F897-4C2E-8A89-87A356FB86B1}"/>
                  </a:ext>
                </a:extLst>
              </p:cNvPr>
              <p:cNvGraphicFramePr>
                <a:graphicFrameLocks noGrp="1"/>
              </p:cNvGraphicFramePr>
              <p:nvPr>
                <p:extLst>
                  <p:ext uri="{D42A27DB-BD31-4B8C-83A1-F6EECF244321}">
                    <p14:modId xmlns:p14="http://schemas.microsoft.com/office/powerpoint/2010/main" val="1882791089"/>
                  </p:ext>
                </p:extLst>
              </p:nvPr>
            </p:nvGraphicFramePr>
            <p:xfrm>
              <a:off x="1009427" y="1682451"/>
              <a:ext cx="10173145" cy="4817502"/>
            </p:xfrm>
            <a:graphic>
              <a:graphicData uri="http://schemas.openxmlformats.org/drawingml/2006/table">
                <a:tbl>
                  <a:tblPr firstRow="1" bandRow="1">
                    <a:tableStyleId>{5C22544A-7EE6-4342-B048-85BDC9FD1C3A}</a:tableStyleId>
                  </a:tblPr>
                  <a:tblGrid>
                    <a:gridCol w="1799874">
                      <a:extLst>
                        <a:ext uri="{9D8B030D-6E8A-4147-A177-3AD203B41FA5}">
                          <a16:colId xmlns:a16="http://schemas.microsoft.com/office/drawing/2014/main" val="4198110682"/>
                        </a:ext>
                      </a:extLst>
                    </a:gridCol>
                    <a:gridCol w="4483865">
                      <a:extLst>
                        <a:ext uri="{9D8B030D-6E8A-4147-A177-3AD203B41FA5}">
                          <a16:colId xmlns:a16="http://schemas.microsoft.com/office/drawing/2014/main" val="292302729"/>
                        </a:ext>
                      </a:extLst>
                    </a:gridCol>
                    <a:gridCol w="3889406">
                      <a:extLst>
                        <a:ext uri="{9D8B030D-6E8A-4147-A177-3AD203B41FA5}">
                          <a16:colId xmlns:a16="http://schemas.microsoft.com/office/drawing/2014/main" val="126256495"/>
                        </a:ext>
                      </a:extLst>
                    </a:gridCol>
                  </a:tblGrid>
                  <a:tr h="415412">
                    <a:tc>
                      <a:txBody>
                        <a:bodyPr/>
                        <a:lstStyle/>
                        <a:p>
                          <a:pPr algn="ctr"/>
                          <a:r>
                            <a:rPr lang="en-NZ"/>
                            <a:t>Parameter</a:t>
                          </a:r>
                          <a:endParaRPr lang="en-NZ" dirty="0"/>
                        </a:p>
                      </a:txBody>
                      <a:tcPr anchor="ctr"/>
                    </a:tc>
                    <a:tc>
                      <a:txBody>
                        <a:bodyPr/>
                        <a:lstStyle/>
                        <a:p>
                          <a:pPr algn="ctr"/>
                          <a:r>
                            <a:rPr lang="en-NZ" dirty="0"/>
                            <a:t>Unbiassed Estimator</a:t>
                          </a:r>
                        </a:p>
                      </a:txBody>
                      <a:tcPr anchor="ctr"/>
                    </a:tc>
                    <a:tc>
                      <a:txBody>
                        <a:bodyPr/>
                        <a:lstStyle/>
                        <a:p>
                          <a:pPr algn="ctr"/>
                          <a:r>
                            <a:rPr lang="en-NZ"/>
                            <a:t>Meaning</a:t>
                          </a:r>
                          <a:endParaRPr lang="en-NZ" dirty="0"/>
                        </a:p>
                      </a:txBody>
                      <a:tcPr anchor="ctr"/>
                    </a:tc>
                    <a:extLst>
                      <a:ext uri="{0D108BD9-81ED-4DB2-BD59-A6C34878D82A}">
                        <a16:rowId xmlns:a16="http://schemas.microsoft.com/office/drawing/2014/main" val="3666350365"/>
                      </a:ext>
                    </a:extLst>
                  </a:tr>
                  <a:tr h="716159">
                    <a:tc>
                      <a:txBody>
                        <a:bodyPr/>
                        <a:lstStyle/>
                        <a:p>
                          <a:endParaRPr lang="en-US"/>
                        </a:p>
                      </a:txBody>
                      <a:tcPr anchor="ctr">
                        <a:blipFill>
                          <a:blip r:embed="rId2"/>
                          <a:stretch>
                            <a:fillRect l="-339" t="-58475" r="-467458" b="-515254"/>
                          </a:stretch>
                        </a:blipFill>
                      </a:tcPr>
                    </a:tc>
                    <a:tc>
                      <a:txBody>
                        <a:bodyPr/>
                        <a:lstStyle/>
                        <a:p>
                          <a:endParaRPr lang="en-US"/>
                        </a:p>
                      </a:txBody>
                      <a:tcPr anchor="ctr">
                        <a:blipFill>
                          <a:blip r:embed="rId2"/>
                          <a:stretch>
                            <a:fillRect l="-40163" t="-58475" r="-87110" b="-515254"/>
                          </a:stretch>
                        </a:blipFill>
                      </a:tcPr>
                    </a:tc>
                    <a:tc>
                      <a:txBody>
                        <a:bodyPr/>
                        <a:lstStyle/>
                        <a:p>
                          <a:pPr algn="ctr"/>
                          <a:r>
                            <a:rPr lang="en-NZ" sz="1600"/>
                            <a:t>Overall Mean</a:t>
                          </a:r>
                          <a:endParaRPr lang="en-NZ" sz="1600" dirty="0"/>
                        </a:p>
                      </a:txBody>
                      <a:tcPr anchor="ctr"/>
                    </a:tc>
                    <a:extLst>
                      <a:ext uri="{0D108BD9-81ED-4DB2-BD59-A6C34878D82A}">
                        <a16:rowId xmlns:a16="http://schemas.microsoft.com/office/drawing/2014/main" val="3341485952"/>
                      </a:ext>
                    </a:extLst>
                  </a:tr>
                  <a:tr h="639052">
                    <a:tc>
                      <a:txBody>
                        <a:bodyPr/>
                        <a:lstStyle/>
                        <a:p>
                          <a:endParaRPr lang="en-US"/>
                        </a:p>
                      </a:txBody>
                      <a:tcPr anchor="ctr">
                        <a:blipFill>
                          <a:blip r:embed="rId2"/>
                          <a:stretch>
                            <a:fillRect l="-339" t="-178095" r="-467458" b="-479048"/>
                          </a:stretch>
                        </a:blipFill>
                      </a:tcPr>
                    </a:tc>
                    <a:tc>
                      <a:txBody>
                        <a:bodyPr/>
                        <a:lstStyle/>
                        <a:p>
                          <a:endParaRPr lang="en-US"/>
                        </a:p>
                      </a:txBody>
                      <a:tcPr anchor="ctr">
                        <a:blipFill>
                          <a:blip r:embed="rId2"/>
                          <a:stretch>
                            <a:fillRect l="-40163" t="-178095" r="-87110" b="-479048"/>
                          </a:stretch>
                        </a:blipFill>
                      </a:tcPr>
                    </a:tc>
                    <a:tc>
                      <a:txBody>
                        <a:bodyPr/>
                        <a:lstStyle/>
                        <a:p>
                          <a:endParaRPr lang="en-US"/>
                        </a:p>
                      </a:txBody>
                      <a:tcPr anchor="ctr">
                        <a:blipFill>
                          <a:blip r:embed="rId2"/>
                          <a:stretch>
                            <a:fillRect l="-161912" t="-178095" r="-627" b="-479048"/>
                          </a:stretch>
                        </a:blipFill>
                      </a:tcPr>
                    </a:tc>
                    <a:extLst>
                      <a:ext uri="{0D108BD9-81ED-4DB2-BD59-A6C34878D82A}">
                        <a16:rowId xmlns:a16="http://schemas.microsoft.com/office/drawing/2014/main" val="443198030"/>
                      </a:ext>
                    </a:extLst>
                  </a:tr>
                  <a:tr h="697879">
                    <a:tc>
                      <a:txBody>
                        <a:bodyPr/>
                        <a:lstStyle/>
                        <a:p>
                          <a:endParaRPr lang="en-US"/>
                        </a:p>
                      </a:txBody>
                      <a:tcPr anchor="ctr">
                        <a:blipFill>
                          <a:blip r:embed="rId2"/>
                          <a:stretch>
                            <a:fillRect l="-339" t="-253913" r="-467458" b="-337391"/>
                          </a:stretch>
                        </a:blipFill>
                      </a:tcPr>
                    </a:tc>
                    <a:tc>
                      <a:txBody>
                        <a:bodyPr/>
                        <a:lstStyle/>
                        <a:p>
                          <a:endParaRPr lang="en-US"/>
                        </a:p>
                      </a:txBody>
                      <a:tcPr anchor="ctr">
                        <a:blipFill>
                          <a:blip r:embed="rId2"/>
                          <a:stretch>
                            <a:fillRect l="-40163" t="-253913" r="-87110" b="-337391"/>
                          </a:stretch>
                        </a:blipFill>
                      </a:tcPr>
                    </a:tc>
                    <a:tc>
                      <a:txBody>
                        <a:bodyPr/>
                        <a:lstStyle/>
                        <a:p>
                          <a:endParaRPr lang="en-US"/>
                        </a:p>
                      </a:txBody>
                      <a:tcPr anchor="ctr">
                        <a:blipFill>
                          <a:blip r:embed="rId2"/>
                          <a:stretch>
                            <a:fillRect l="-161912" t="-253913" r="-627" b="-337391"/>
                          </a:stretch>
                        </a:blipFill>
                      </a:tcPr>
                    </a:tc>
                    <a:extLst>
                      <a:ext uri="{0D108BD9-81ED-4DB2-BD59-A6C34878D82A}">
                        <a16:rowId xmlns:a16="http://schemas.microsoft.com/office/drawing/2014/main" val="3427382577"/>
                      </a:ext>
                    </a:extLst>
                  </a:tr>
                  <a:tr h="639052">
                    <a:tc>
                      <a:txBody>
                        <a:bodyPr/>
                        <a:lstStyle/>
                        <a:p>
                          <a:endParaRPr lang="en-US"/>
                        </a:p>
                      </a:txBody>
                      <a:tcPr anchor="ctr">
                        <a:blipFill>
                          <a:blip r:embed="rId2"/>
                          <a:stretch>
                            <a:fillRect l="-339" t="-387619" r="-467458" b="-269524"/>
                          </a:stretch>
                        </a:blipFill>
                      </a:tcPr>
                    </a:tc>
                    <a:tc>
                      <a:txBody>
                        <a:bodyPr/>
                        <a:lstStyle/>
                        <a:p>
                          <a:endParaRPr lang="en-US"/>
                        </a:p>
                      </a:txBody>
                      <a:tcPr anchor="ctr">
                        <a:blipFill>
                          <a:blip r:embed="rId2"/>
                          <a:stretch>
                            <a:fillRect l="-40163" t="-387619" r="-87110" b="-269524"/>
                          </a:stretch>
                        </a:blipFill>
                      </a:tcPr>
                    </a:tc>
                    <a:tc>
                      <a:txBody>
                        <a:bodyPr/>
                        <a:lstStyle/>
                        <a:p>
                          <a:endParaRPr lang="en-US"/>
                        </a:p>
                      </a:txBody>
                      <a:tcPr anchor="ctr">
                        <a:blipFill>
                          <a:blip r:embed="rId2"/>
                          <a:stretch>
                            <a:fillRect l="-161912" t="-387619" r="-627" b="-269524"/>
                          </a:stretch>
                        </a:blipFill>
                      </a:tcPr>
                    </a:tc>
                    <a:extLst>
                      <a:ext uri="{0D108BD9-81ED-4DB2-BD59-A6C34878D82A}">
                        <a16:rowId xmlns:a16="http://schemas.microsoft.com/office/drawing/2014/main" val="3328376915"/>
                      </a:ext>
                    </a:extLst>
                  </a:tr>
                  <a:tr h="415412">
                    <a:tc>
                      <a:txBody>
                        <a:bodyPr/>
                        <a:lstStyle/>
                        <a:p>
                          <a:endParaRPr lang="en-US"/>
                        </a:p>
                      </a:txBody>
                      <a:tcPr anchor="ctr">
                        <a:blipFill>
                          <a:blip r:embed="rId2"/>
                          <a:stretch>
                            <a:fillRect l="-339" t="-752941" r="-467458" b="-316176"/>
                          </a:stretch>
                        </a:blipFill>
                      </a:tcPr>
                    </a:tc>
                    <a:tc>
                      <a:txBody>
                        <a:bodyPr/>
                        <a:lstStyle/>
                        <a:p>
                          <a:endParaRPr lang="en-US"/>
                        </a:p>
                      </a:txBody>
                      <a:tcPr anchor="ctr">
                        <a:blipFill>
                          <a:blip r:embed="rId2"/>
                          <a:stretch>
                            <a:fillRect l="-40163" t="-752941" r="-87110" b="-316176"/>
                          </a:stretch>
                        </a:blipFill>
                      </a:tcPr>
                    </a:tc>
                    <a:tc>
                      <a:txBody>
                        <a:bodyPr/>
                        <a:lstStyle/>
                        <a:p>
                          <a:endParaRPr lang="en-US"/>
                        </a:p>
                      </a:txBody>
                      <a:tcPr anchor="ctr">
                        <a:blipFill>
                          <a:blip r:embed="rId2"/>
                          <a:stretch>
                            <a:fillRect l="-161912" t="-752941" r="-627" b="-316176"/>
                          </a:stretch>
                        </a:blipFill>
                      </a:tcPr>
                    </a:tc>
                    <a:extLst>
                      <a:ext uri="{0D108BD9-81ED-4DB2-BD59-A6C34878D82A}">
                        <a16:rowId xmlns:a16="http://schemas.microsoft.com/office/drawing/2014/main" val="3262608191"/>
                      </a:ext>
                    </a:extLst>
                  </a:tr>
                  <a:tr h="418542">
                    <a:tc>
                      <a:txBody>
                        <a:bodyPr/>
                        <a:lstStyle/>
                        <a:p>
                          <a:endParaRPr lang="en-US"/>
                        </a:p>
                      </a:txBody>
                      <a:tcPr anchor="ctr">
                        <a:blipFill>
                          <a:blip r:embed="rId2"/>
                          <a:stretch>
                            <a:fillRect l="-339" t="-840580" r="-467458" b="-211594"/>
                          </a:stretch>
                        </a:blipFill>
                      </a:tcPr>
                    </a:tc>
                    <a:tc>
                      <a:txBody>
                        <a:bodyPr/>
                        <a:lstStyle/>
                        <a:p>
                          <a:endParaRPr lang="en-US"/>
                        </a:p>
                      </a:txBody>
                      <a:tcPr anchor="ctr">
                        <a:blipFill>
                          <a:blip r:embed="rId2"/>
                          <a:stretch>
                            <a:fillRect l="-40163" t="-840580" r="-87110" b="-211594"/>
                          </a:stretch>
                        </a:blipFill>
                      </a:tcPr>
                    </a:tc>
                    <a:tc>
                      <a:txBody>
                        <a:bodyPr/>
                        <a:lstStyle/>
                        <a:p>
                          <a:endParaRPr lang="en-US"/>
                        </a:p>
                      </a:txBody>
                      <a:tcPr anchor="ctr">
                        <a:blipFill>
                          <a:blip r:embed="rId2"/>
                          <a:stretch>
                            <a:fillRect l="-161912" t="-840580" r="-627" b="-211594"/>
                          </a:stretch>
                        </a:blipFill>
                      </a:tcPr>
                    </a:tc>
                    <a:extLst>
                      <a:ext uri="{0D108BD9-81ED-4DB2-BD59-A6C34878D82A}">
                        <a16:rowId xmlns:a16="http://schemas.microsoft.com/office/drawing/2014/main" val="3760970986"/>
                      </a:ext>
                    </a:extLst>
                  </a:tr>
                  <a:tr h="875994">
                    <a:tc>
                      <a:txBody>
                        <a:bodyPr/>
                        <a:lstStyle/>
                        <a:p>
                          <a:endParaRPr lang="en-US"/>
                        </a:p>
                      </a:txBody>
                      <a:tcPr anchor="ctr">
                        <a:blipFill>
                          <a:blip r:embed="rId2"/>
                          <a:stretch>
                            <a:fillRect l="-339" t="-450694" r="-467458" b="-1389"/>
                          </a:stretch>
                        </a:blipFill>
                      </a:tcPr>
                    </a:tc>
                    <a:tc>
                      <a:txBody>
                        <a:bodyPr/>
                        <a:lstStyle/>
                        <a:p>
                          <a:endParaRPr lang="en-US"/>
                        </a:p>
                      </a:txBody>
                      <a:tcPr anchor="ctr">
                        <a:blipFill>
                          <a:blip r:embed="rId2"/>
                          <a:stretch>
                            <a:fillRect l="-40163" t="-450694" r="-87110" b="-1389"/>
                          </a:stretch>
                        </a:blipFill>
                      </a:tcPr>
                    </a:tc>
                    <a:tc>
                      <a:txBody>
                        <a:bodyPr/>
                        <a:lstStyle/>
                        <a:p>
                          <a:pPr algn="ctr"/>
                          <a:r>
                            <a:rPr lang="en-NZ" sz="1600" dirty="0"/>
                            <a:t>Common Variance</a:t>
                          </a:r>
                          <a:br>
                            <a:rPr lang="en-NZ" sz="1600" dirty="0"/>
                          </a:br>
                          <a:r>
                            <a:rPr lang="en-NZ" sz="1600" dirty="0"/>
                            <a:t>(Holds only for balanced designs)</a:t>
                          </a:r>
                        </a:p>
                      </a:txBody>
                      <a:tcPr anchor="ctr"/>
                    </a:tc>
                    <a:extLst>
                      <a:ext uri="{0D108BD9-81ED-4DB2-BD59-A6C34878D82A}">
                        <a16:rowId xmlns:a16="http://schemas.microsoft.com/office/drawing/2014/main" val="2599272264"/>
                      </a:ext>
                    </a:extLst>
                  </a:tr>
                </a:tbl>
              </a:graphicData>
            </a:graphic>
          </p:graphicFrame>
        </mc:Fallback>
      </mc:AlternateContent>
      <p:sp>
        <p:nvSpPr>
          <p:cNvPr id="11" name="Footer Placeholder 2">
            <a:extLst>
              <a:ext uri="{FF2B5EF4-FFF2-40B4-BE49-F238E27FC236}">
                <a16:creationId xmlns:a16="http://schemas.microsoft.com/office/drawing/2014/main" id="{41B06A22-23A0-6AA7-5FE7-7B858C5802AD}"/>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4.3 – </a:t>
            </a:r>
            <a:r>
              <a:rPr kumimoji="1" lang="en-US" altLang="ja-JP" sz="1600" dirty="0">
                <a:solidFill>
                  <a:srgbClr val="DEDDDD"/>
                </a:solidFill>
                <a:latin typeface="Gidole"/>
                <a:ea typeface="游ゴシック" panose="020B0400000000000000" pitchFamily="34" charset="-128"/>
              </a:rPr>
              <a:t>Fixed Effects Model</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12" name="Text Placeholder 5">
                <a:extLst>
                  <a:ext uri="{FF2B5EF4-FFF2-40B4-BE49-F238E27FC236}">
                    <a16:creationId xmlns:a16="http://schemas.microsoft.com/office/drawing/2014/main" id="{C9FA8E62-4E27-CEF2-63EA-D9DC3A47F996}"/>
                  </a:ext>
                </a:extLst>
              </p:cNvPr>
              <p:cNvSpPr txBox="1">
                <a:spLocks/>
              </p:cNvSpPr>
              <p:nvPr/>
            </p:nvSpPr>
            <p:spPr>
              <a:xfrm>
                <a:off x="8154814" y="891596"/>
                <a:ext cx="3873413"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𝒀</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𝒊𝒋𝒌</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𝝁</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𝜶</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𝜷</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𝒋</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𝝐</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𝒊𝒋𝒌</m:t>
                          </m:r>
                        </m:sub>
                      </m:sSub>
                    </m:oMath>
                  </m:oMathPara>
                </a14:m>
                <a:endParaRPr kumimoji="1" lang="en-NZ" altLang="ja-JP" sz="18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12" name="Text Placeholder 5">
                <a:extLst>
                  <a:ext uri="{FF2B5EF4-FFF2-40B4-BE49-F238E27FC236}">
                    <a16:creationId xmlns:a16="http://schemas.microsoft.com/office/drawing/2014/main" id="{C9FA8E62-4E27-CEF2-63EA-D9DC3A47F996}"/>
                  </a:ext>
                </a:extLst>
              </p:cNvPr>
              <p:cNvSpPr txBox="1">
                <a:spLocks noRot="1" noChangeAspect="1" noMove="1" noResize="1" noEditPoints="1" noAdjustHandles="1" noChangeArrowheads="1" noChangeShapeType="1" noTextEdit="1"/>
              </p:cNvSpPr>
              <p:nvPr/>
            </p:nvSpPr>
            <p:spPr>
              <a:xfrm>
                <a:off x="8154814" y="891596"/>
                <a:ext cx="3873413" cy="474953"/>
              </a:xfrm>
              <a:prstGeom prst="rect">
                <a:avLst/>
              </a:prstGeom>
              <a:blipFill>
                <a:blip r:embed="rId3"/>
                <a:stretch>
                  <a:fillRect/>
                </a:stretch>
              </a:blipFill>
            </p:spPr>
            <p:txBody>
              <a:bodyPr/>
              <a:lstStyle/>
              <a:p>
                <a:r>
                  <a:rPr lang="en-NZ">
                    <a:noFill/>
                  </a:rPr>
                  <a:t> </a:t>
                </a:r>
              </a:p>
            </p:txBody>
          </p:sp>
        </mc:Fallback>
      </mc:AlternateContent>
    </p:spTree>
    <p:extLst>
      <p:ext uri="{BB962C8B-B14F-4D97-AF65-F5344CB8AC3E}">
        <p14:creationId xmlns:p14="http://schemas.microsoft.com/office/powerpoint/2010/main" val="4193420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7" name="Title 6">
            <a:extLst>
              <a:ext uri="{FF2B5EF4-FFF2-40B4-BE49-F238E27FC236}">
                <a16:creationId xmlns:a16="http://schemas.microsoft.com/office/drawing/2014/main" id="{4ACB7FAA-E9E1-4274-A8D0-489528A3C0F6}"/>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4.3a – The Fixed Effects Model</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mc:AlternateContent xmlns:mc="http://schemas.openxmlformats.org/markup-compatibility/2006" xmlns:a14="http://schemas.microsoft.com/office/drawing/2010/main">
        <mc:Choice Requires="a14">
          <p:sp>
            <p:nvSpPr>
              <p:cNvPr id="23" name="Text Placeholder 5">
                <a:extLst>
                  <a:ext uri="{FF2B5EF4-FFF2-40B4-BE49-F238E27FC236}">
                    <a16:creationId xmlns:a16="http://schemas.microsoft.com/office/drawing/2014/main" id="{4838C218-8F47-4289-85A0-DCBADB495606}"/>
                  </a:ext>
                </a:extLst>
              </p:cNvPr>
              <p:cNvSpPr txBox="1">
                <a:spLocks/>
              </p:cNvSpPr>
              <p:nvPr/>
            </p:nvSpPr>
            <p:spPr>
              <a:xfrm>
                <a:off x="442839" y="2063332"/>
                <a:ext cx="5182725"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Para xmlns:m="http://schemas.openxmlformats.org/officeDocument/2006/math">
                    <m:oMathParaPr>
                      <m:jc m:val="left"/>
                    </m:oMathParaPr>
                    <m:oMath xmlns:m="http://schemas.openxmlformats.org/officeDocument/2006/math">
                      <m:r>
                        <a:rPr lang="en-NZ" altLang="ja-JP" sz="1800" b="1" i="1" smtClean="0">
                          <a:solidFill>
                            <a:schemeClr val="tx1"/>
                          </a:solidFill>
                          <a:latin typeface="Cambria Math" panose="02040503050406030204" pitchFamily="18" charset="0"/>
                        </a:rPr>
                        <m:t>𝑬</m:t>
                      </m:r>
                      <m:d>
                        <m:dPr>
                          <m:begChr m:val="["/>
                          <m:endChr m:val="]"/>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 </m:t>
                          </m:r>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𝒀</m:t>
                              </m:r>
                            </m:e>
                            <m:sub>
                              <m:r>
                                <a:rPr lang="en-NZ" altLang="ja-JP" sz="1800" b="1" i="1" smtClean="0">
                                  <a:solidFill>
                                    <a:schemeClr val="tx1"/>
                                  </a:solidFill>
                                  <a:latin typeface="Cambria Math" panose="02040503050406030204" pitchFamily="18" charset="0"/>
                                </a:rPr>
                                <m:t>𝒊𝒋𝒌</m:t>
                              </m:r>
                            </m:sub>
                          </m:sSub>
                          <m:r>
                            <a:rPr lang="en-NZ" altLang="ja-JP" sz="1800" b="1" i="1" smtClean="0">
                              <a:solidFill>
                                <a:schemeClr val="tx1"/>
                              </a:solidFill>
                              <a:latin typeface="Cambria Math" panose="02040503050406030204" pitchFamily="18" charset="0"/>
                            </a:rPr>
                            <m:t> </m:t>
                          </m:r>
                        </m:e>
                      </m:d>
                      <m:r>
                        <a:rPr lang="en-NZ" altLang="ja-JP" sz="1800" b="1" i="1" smtClean="0">
                          <a:solidFill>
                            <a:schemeClr val="tx1"/>
                          </a:solidFill>
                          <a:latin typeface="Cambria Math" panose="02040503050406030204" pitchFamily="18" charset="0"/>
                        </a:rPr>
                        <m:t>   = </m:t>
                      </m:r>
                      <m:r>
                        <a:rPr lang="en-NZ" altLang="ja-JP" sz="1800" b="1" i="1" smtClean="0">
                          <a:solidFill>
                            <a:schemeClr val="tx1"/>
                          </a:solidFill>
                          <a:latin typeface="Cambria Math" panose="02040503050406030204" pitchFamily="18" charset="0"/>
                        </a:rPr>
                        <m:t>𝑬</m:t>
                      </m:r>
                      <m:d>
                        <m:dPr>
                          <m:begChr m:val="["/>
                          <m:endChr m:val="]"/>
                          <m:ctrlPr>
                            <a:rPr lang="en-NZ" altLang="ja-JP" sz="1800" b="1" i="1" smtClean="0">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𝝁</m:t>
                          </m:r>
                          <m:r>
                            <a:rPr lang="en-NZ" altLang="ja-JP" sz="1800" b="1" i="1">
                              <a:solidFill>
                                <a:schemeClr val="tx1"/>
                              </a:solidFill>
                              <a:latin typeface="Cambria Math" panose="02040503050406030204" pitchFamily="18" charset="0"/>
                            </a:rPr>
                            <m:t>  +   </m:t>
                          </m:r>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𝜶</m:t>
                              </m:r>
                            </m:e>
                            <m:sub>
                              <m:r>
                                <a:rPr lang="en-NZ" altLang="ja-JP" sz="1800" b="1" i="1">
                                  <a:solidFill>
                                    <a:schemeClr val="tx1"/>
                                  </a:solidFill>
                                  <a:latin typeface="Cambria Math" panose="02040503050406030204" pitchFamily="18" charset="0"/>
                                </a:rPr>
                                <m:t>𝒊</m:t>
                              </m:r>
                            </m:sub>
                          </m:sSub>
                          <m:r>
                            <a:rPr lang="en-NZ" altLang="ja-JP" sz="1800" b="1" i="1">
                              <a:solidFill>
                                <a:schemeClr val="tx1"/>
                              </a:solidFill>
                              <a:latin typeface="Cambria Math" panose="02040503050406030204" pitchFamily="18" charset="0"/>
                            </a:rPr>
                            <m:t>  +   </m:t>
                          </m:r>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𝜷</m:t>
                              </m:r>
                            </m:e>
                            <m:sub>
                              <m:r>
                                <a:rPr lang="en-NZ" altLang="ja-JP" sz="1800" b="1" i="1">
                                  <a:solidFill>
                                    <a:schemeClr val="tx1"/>
                                  </a:solidFill>
                                  <a:latin typeface="Cambria Math" panose="02040503050406030204" pitchFamily="18" charset="0"/>
                                </a:rPr>
                                <m:t>𝒋</m:t>
                              </m:r>
                            </m:sub>
                          </m:sSub>
                          <m:r>
                            <a:rPr lang="en-NZ" altLang="ja-JP" sz="1800" b="1" i="1">
                              <a:solidFill>
                                <a:schemeClr val="tx1"/>
                              </a:solidFill>
                              <a:latin typeface="Cambria Math" panose="02040503050406030204" pitchFamily="18" charset="0"/>
                            </a:rPr>
                            <m:t>  +   </m:t>
                          </m:r>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𝝐</m:t>
                              </m:r>
                            </m:e>
                            <m:sub>
                              <m:r>
                                <a:rPr lang="en-NZ" altLang="ja-JP" sz="1800" b="1" i="1">
                                  <a:solidFill>
                                    <a:schemeClr val="tx1"/>
                                  </a:solidFill>
                                  <a:latin typeface="Cambria Math" panose="02040503050406030204" pitchFamily="18" charset="0"/>
                                </a:rPr>
                                <m:t>𝒊𝒋𝒌</m:t>
                              </m:r>
                            </m:sub>
                          </m:sSub>
                        </m:e>
                      </m:d>
                    </m:oMath>
                  </m:oMathPara>
                </a14:m>
                <a:endParaRPr lang="en-NZ" altLang="ja-JP" sz="1800" b="1" i="1" dirty="0">
                  <a:solidFill>
                    <a:schemeClr val="tx1"/>
                  </a:solidFill>
                </a:endParaRPr>
              </a:p>
              <a:p>
                <a:pPr>
                  <a:lnSpc>
                    <a:spcPct val="100000"/>
                  </a:lnSpc>
                </a:pPr>
                <a:endParaRPr lang="en-NZ" altLang="ja-JP" sz="1800" b="1" i="1" dirty="0">
                  <a:solidFill>
                    <a:schemeClr val="tx1"/>
                  </a:solidFill>
                </a:endParaRPr>
              </a:p>
            </p:txBody>
          </p:sp>
        </mc:Choice>
        <mc:Fallback xmlns="">
          <p:sp>
            <p:nvSpPr>
              <p:cNvPr id="23" name="Text Placeholder 5">
                <a:extLst>
                  <a:ext uri="{FF2B5EF4-FFF2-40B4-BE49-F238E27FC236}">
                    <a16:creationId xmlns:a16="http://schemas.microsoft.com/office/drawing/2014/main" id="{4838C218-8F47-4289-85A0-DCBADB495606}"/>
                  </a:ext>
                </a:extLst>
              </p:cNvPr>
              <p:cNvSpPr txBox="1">
                <a:spLocks noRot="1" noChangeAspect="1" noMove="1" noResize="1" noEditPoints="1" noAdjustHandles="1" noChangeArrowheads="1" noChangeShapeType="1" noTextEdit="1"/>
              </p:cNvSpPr>
              <p:nvPr/>
            </p:nvSpPr>
            <p:spPr>
              <a:xfrm>
                <a:off x="442839" y="2063332"/>
                <a:ext cx="5182725" cy="365125"/>
              </a:xfrm>
              <a:prstGeom prst="rect">
                <a:avLst/>
              </a:prstGeom>
              <a:blipFill>
                <a:blip r:embed="rId2"/>
                <a:stretch>
                  <a:fillRect b="-25000"/>
                </a:stretch>
              </a:blipFill>
            </p:spPr>
            <p:txBody>
              <a:bodyPr/>
              <a:lstStyle/>
              <a:p>
                <a:r>
                  <a:rPr lang="en-NZ">
                    <a:noFill/>
                  </a:rPr>
                  <a:t> </a:t>
                </a:r>
              </a:p>
            </p:txBody>
          </p:sp>
        </mc:Fallback>
      </mc:AlternateContent>
      <p:sp>
        <p:nvSpPr>
          <p:cNvPr id="11" name="Footer Placeholder 2">
            <a:extLst>
              <a:ext uri="{FF2B5EF4-FFF2-40B4-BE49-F238E27FC236}">
                <a16:creationId xmlns:a16="http://schemas.microsoft.com/office/drawing/2014/main" id="{41B06A22-23A0-6AA7-5FE7-7B858C5802AD}"/>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4.3 – </a:t>
            </a:r>
            <a:r>
              <a:rPr kumimoji="1" lang="en-US" altLang="ja-JP" sz="1600" dirty="0">
                <a:solidFill>
                  <a:srgbClr val="DEDDDD"/>
                </a:solidFill>
                <a:latin typeface="Gidole"/>
                <a:ea typeface="游ゴシック" panose="020B0400000000000000" pitchFamily="34" charset="-128"/>
              </a:rPr>
              <a:t>Fixed Effects Model</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12" name="Text Placeholder 5">
                <a:extLst>
                  <a:ext uri="{FF2B5EF4-FFF2-40B4-BE49-F238E27FC236}">
                    <a16:creationId xmlns:a16="http://schemas.microsoft.com/office/drawing/2014/main" id="{C9FA8E62-4E27-CEF2-63EA-D9DC3A47F996}"/>
                  </a:ext>
                </a:extLst>
              </p:cNvPr>
              <p:cNvSpPr txBox="1">
                <a:spLocks/>
              </p:cNvSpPr>
              <p:nvPr/>
            </p:nvSpPr>
            <p:spPr>
              <a:xfrm>
                <a:off x="3581551" y="1018493"/>
                <a:ext cx="502889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𝒀</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𝒊𝒋𝒌</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𝝁</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𝜶</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𝜷</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𝒋</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𝝐</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𝒊𝒋𝒌</m:t>
                          </m:r>
                        </m:sub>
                      </m:sSub>
                    </m:oMath>
                  </m:oMathPara>
                </a14:m>
                <a:endParaRPr kumimoji="1" lang="en-NZ" altLang="ja-JP" sz="18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12" name="Text Placeholder 5">
                <a:extLst>
                  <a:ext uri="{FF2B5EF4-FFF2-40B4-BE49-F238E27FC236}">
                    <a16:creationId xmlns:a16="http://schemas.microsoft.com/office/drawing/2014/main" id="{C9FA8E62-4E27-CEF2-63EA-D9DC3A47F996}"/>
                  </a:ext>
                </a:extLst>
              </p:cNvPr>
              <p:cNvSpPr txBox="1">
                <a:spLocks noRot="1" noChangeAspect="1" noMove="1" noResize="1" noEditPoints="1" noAdjustHandles="1" noChangeArrowheads="1" noChangeShapeType="1" noTextEdit="1"/>
              </p:cNvSpPr>
              <p:nvPr/>
            </p:nvSpPr>
            <p:spPr>
              <a:xfrm>
                <a:off x="3581551" y="1018493"/>
                <a:ext cx="5028899" cy="474953"/>
              </a:xfrm>
              <a:prstGeom prst="rect">
                <a:avLst/>
              </a:prstGeom>
              <a:blipFill>
                <a:blip r:embed="rId3"/>
                <a:stretch>
                  <a:fillRect/>
                </a:stretch>
              </a:blipFill>
            </p:spPr>
            <p:txBody>
              <a:bodyPr/>
              <a:lstStyle/>
              <a:p>
                <a:r>
                  <a:rPr lang="en-NZ">
                    <a:noFill/>
                  </a:rPr>
                  <a:t> </a:t>
                </a:r>
              </a:p>
            </p:txBody>
          </p:sp>
        </mc:Fallback>
      </mc:AlternateContent>
      <p:sp>
        <p:nvSpPr>
          <p:cNvPr id="13" name="Text Placeholder 5">
            <a:extLst>
              <a:ext uri="{FF2B5EF4-FFF2-40B4-BE49-F238E27FC236}">
                <a16:creationId xmlns:a16="http://schemas.microsoft.com/office/drawing/2014/main" id="{A131CAC6-A16A-FE11-BF3D-F4EB5758F4A6}"/>
              </a:ext>
            </a:extLst>
          </p:cNvPr>
          <p:cNvSpPr txBox="1">
            <a:spLocks/>
          </p:cNvSpPr>
          <p:nvPr/>
        </p:nvSpPr>
        <p:spPr>
          <a:xfrm>
            <a:off x="98001" y="1525792"/>
            <a:ext cx="4436894" cy="53754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b="1" i="1" dirty="0">
                <a:solidFill>
                  <a:srgbClr val="002060"/>
                </a:solidFill>
              </a:rPr>
              <a:t>Expectation of the k</a:t>
            </a:r>
            <a:r>
              <a:rPr lang="en-NZ" altLang="ja-JP" sz="1800" b="1" i="1" baseline="30000" dirty="0">
                <a:solidFill>
                  <a:srgbClr val="002060"/>
                </a:solidFill>
              </a:rPr>
              <a:t>th</a:t>
            </a:r>
            <a:r>
              <a:rPr lang="en-NZ" altLang="ja-JP" sz="1800" b="1" i="1" dirty="0">
                <a:solidFill>
                  <a:srgbClr val="002060"/>
                </a:solidFill>
              </a:rPr>
              <a:t> observation in cell (</a:t>
            </a:r>
            <a:r>
              <a:rPr lang="en-NZ" altLang="ja-JP" sz="1800" b="1" i="1" dirty="0" err="1">
                <a:solidFill>
                  <a:srgbClr val="002060"/>
                </a:solidFill>
              </a:rPr>
              <a:t>i,j</a:t>
            </a:r>
            <a:r>
              <a:rPr lang="en-NZ" altLang="ja-JP" sz="1800" b="1" i="1" dirty="0">
                <a:solidFill>
                  <a:srgbClr val="002060"/>
                </a:solidFill>
              </a:rPr>
              <a:t>)</a:t>
            </a:r>
          </a:p>
        </p:txBody>
      </p:sp>
      <p:sp>
        <p:nvSpPr>
          <p:cNvPr id="14" name="Text Placeholder 5">
            <a:extLst>
              <a:ext uri="{FF2B5EF4-FFF2-40B4-BE49-F238E27FC236}">
                <a16:creationId xmlns:a16="http://schemas.microsoft.com/office/drawing/2014/main" id="{86D6E9E9-66B2-40AB-E857-2F33B814E78A}"/>
              </a:ext>
            </a:extLst>
          </p:cNvPr>
          <p:cNvSpPr txBox="1">
            <a:spLocks/>
          </p:cNvSpPr>
          <p:nvPr/>
        </p:nvSpPr>
        <p:spPr>
          <a:xfrm>
            <a:off x="251224" y="4276428"/>
            <a:ext cx="4436894" cy="53754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b="1" i="1" dirty="0">
                <a:solidFill>
                  <a:srgbClr val="002060"/>
                </a:solidFill>
              </a:rPr>
              <a:t>Variance of the k</a:t>
            </a:r>
            <a:r>
              <a:rPr lang="en-NZ" altLang="ja-JP" sz="1800" b="1" i="1" baseline="30000" dirty="0">
                <a:solidFill>
                  <a:srgbClr val="002060"/>
                </a:solidFill>
              </a:rPr>
              <a:t>th</a:t>
            </a:r>
            <a:r>
              <a:rPr lang="en-NZ" altLang="ja-JP" sz="1800" b="1" i="1" dirty="0">
                <a:solidFill>
                  <a:srgbClr val="002060"/>
                </a:solidFill>
              </a:rPr>
              <a:t> observation in cell (</a:t>
            </a:r>
            <a:r>
              <a:rPr lang="en-NZ" altLang="ja-JP" sz="1800" b="1" i="1" dirty="0" err="1">
                <a:solidFill>
                  <a:srgbClr val="002060"/>
                </a:solidFill>
              </a:rPr>
              <a:t>i,j</a:t>
            </a:r>
            <a:r>
              <a:rPr lang="en-NZ" altLang="ja-JP" sz="1800" b="1" i="1" dirty="0">
                <a:solidFill>
                  <a:srgbClr val="002060"/>
                </a:solidFill>
              </a:rPr>
              <a:t>)</a:t>
            </a:r>
          </a:p>
        </p:txBody>
      </p:sp>
      <mc:AlternateContent xmlns:mc="http://schemas.openxmlformats.org/markup-compatibility/2006" xmlns:a14="http://schemas.microsoft.com/office/drawing/2010/main">
        <mc:Choice Requires="a14">
          <p:sp>
            <p:nvSpPr>
              <p:cNvPr id="15" name="Text Placeholder 5">
                <a:extLst>
                  <a:ext uri="{FF2B5EF4-FFF2-40B4-BE49-F238E27FC236}">
                    <a16:creationId xmlns:a16="http://schemas.microsoft.com/office/drawing/2014/main" id="{985D2F3C-3BDC-2F9C-16B4-3FBBDB2F29B0}"/>
                  </a:ext>
                </a:extLst>
              </p:cNvPr>
              <p:cNvSpPr txBox="1">
                <a:spLocks/>
              </p:cNvSpPr>
              <p:nvPr/>
            </p:nvSpPr>
            <p:spPr>
              <a:xfrm>
                <a:off x="1450172" y="2556186"/>
                <a:ext cx="5332164" cy="40981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Para xmlns:m="http://schemas.openxmlformats.org/officeDocument/2006/math">
                    <m:oMathParaPr>
                      <m:jc m:val="left"/>
                    </m:oMathParaPr>
                    <m:oMath xmlns:m="http://schemas.openxmlformats.org/officeDocument/2006/math">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𝑬</m:t>
                      </m:r>
                      <m:d>
                        <m:dPr>
                          <m:begChr m:val="["/>
                          <m:endChr m:val="]"/>
                          <m:ctrlPr>
                            <a:rPr lang="en-NZ" altLang="ja-JP" sz="1800" b="1" i="1" smtClean="0">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 </m:t>
                          </m:r>
                          <m:r>
                            <a:rPr lang="ja-JP" altLang="en-NZ" sz="1800" b="1" i="1">
                              <a:solidFill>
                                <a:schemeClr val="tx1"/>
                              </a:solidFill>
                              <a:latin typeface="Cambria Math" panose="02040503050406030204" pitchFamily="18" charset="0"/>
                            </a:rPr>
                            <m:t>𝝁</m:t>
                          </m:r>
                          <m:r>
                            <a:rPr lang="en-NZ" altLang="ja-JP" sz="1800" b="1" i="1" smtClean="0">
                              <a:solidFill>
                                <a:schemeClr val="tx1"/>
                              </a:solidFill>
                              <a:latin typeface="Cambria Math" panose="02040503050406030204" pitchFamily="18" charset="0"/>
                            </a:rPr>
                            <m:t> </m:t>
                          </m:r>
                        </m:e>
                      </m:d>
                      <m:r>
                        <a:rPr lang="ja-JP" altLang="en-NZ"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𝑬</m:t>
                      </m:r>
                      <m:d>
                        <m:dPr>
                          <m:begChr m:val="["/>
                          <m:endChr m:val="]"/>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 </m:t>
                          </m:r>
                          <m:sSub>
                            <m:sSubPr>
                              <m:ctrlPr>
                                <a:rPr lang="en-NZ" altLang="ja-JP" sz="1800" b="1" i="1" smtClean="0">
                                  <a:solidFill>
                                    <a:schemeClr val="tx1"/>
                                  </a:solidFill>
                                  <a:latin typeface="Cambria Math" panose="02040503050406030204" pitchFamily="18" charset="0"/>
                                </a:rPr>
                              </m:ctrlPr>
                            </m:sSubPr>
                            <m:e>
                              <m:r>
                                <a:rPr lang="ja-JP" altLang="en-NZ" sz="1800" b="1" i="1">
                                  <a:solidFill>
                                    <a:schemeClr val="tx1"/>
                                  </a:solidFill>
                                  <a:latin typeface="Cambria Math" panose="02040503050406030204" pitchFamily="18" charset="0"/>
                                </a:rPr>
                                <m:t>𝜶</m:t>
                              </m:r>
                            </m:e>
                            <m:sub>
                              <m:r>
                                <a:rPr lang="en-NZ" altLang="ja-JP" sz="1800" b="1" i="1" smtClean="0">
                                  <a:solidFill>
                                    <a:schemeClr val="tx1"/>
                                  </a:solidFill>
                                  <a:latin typeface="Cambria Math" panose="02040503050406030204" pitchFamily="18" charset="0"/>
                                </a:rPr>
                                <m:t>𝒊</m:t>
                              </m:r>
                            </m:sub>
                          </m:sSub>
                          <m:r>
                            <a:rPr lang="en-NZ" altLang="ja-JP" sz="1800" b="1" i="1" smtClean="0">
                              <a:solidFill>
                                <a:schemeClr val="tx1"/>
                              </a:solidFill>
                              <a:latin typeface="Cambria Math" panose="02040503050406030204" pitchFamily="18" charset="0"/>
                            </a:rPr>
                            <m:t> </m:t>
                          </m:r>
                        </m:e>
                      </m:d>
                      <m:r>
                        <a:rPr lang="ja-JP" altLang="en-NZ"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𝑬</m:t>
                      </m:r>
                      <m:d>
                        <m:dPr>
                          <m:begChr m:val="["/>
                          <m:endChr m:val="]"/>
                          <m:ctrlPr>
                            <a:rPr lang="en-NZ" altLang="ja-JP" sz="1800" b="1" i="1" smtClean="0">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 </m:t>
                          </m:r>
                          <m:sSub>
                            <m:sSubPr>
                              <m:ctrlPr>
                                <a:rPr lang="en-NZ" altLang="ja-JP" sz="1800" b="1" i="1" smtClean="0">
                                  <a:solidFill>
                                    <a:schemeClr val="tx1"/>
                                  </a:solidFill>
                                  <a:latin typeface="Cambria Math" panose="02040503050406030204" pitchFamily="18" charset="0"/>
                                </a:rPr>
                              </m:ctrlPr>
                            </m:sSubPr>
                            <m:e>
                              <m:r>
                                <a:rPr lang="ja-JP" altLang="en-NZ" sz="1800" b="1" i="1">
                                  <a:solidFill>
                                    <a:schemeClr val="tx1"/>
                                  </a:solidFill>
                                  <a:latin typeface="Cambria Math" panose="02040503050406030204" pitchFamily="18" charset="0"/>
                                </a:rPr>
                                <m:t>𝜷</m:t>
                              </m:r>
                            </m:e>
                            <m:sub>
                              <m:r>
                                <a:rPr lang="en-NZ" altLang="ja-JP" sz="1800" b="1" i="1" smtClean="0">
                                  <a:solidFill>
                                    <a:schemeClr val="tx1"/>
                                  </a:solidFill>
                                  <a:latin typeface="Cambria Math" panose="02040503050406030204" pitchFamily="18" charset="0"/>
                                </a:rPr>
                                <m:t>𝒋</m:t>
                              </m:r>
                            </m:sub>
                          </m:sSub>
                        </m:e>
                      </m:d>
                      <m:r>
                        <a:rPr lang="ja-JP" altLang="en-NZ"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𝑬</m:t>
                      </m:r>
                      <m:d>
                        <m:dPr>
                          <m:begChr m:val="["/>
                          <m:endChr m:val="]"/>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 </m:t>
                          </m:r>
                          <m:sSub>
                            <m:sSubPr>
                              <m:ctrlPr>
                                <a:rPr lang="en-NZ" altLang="ja-JP" sz="1800" b="1" i="1">
                                  <a:solidFill>
                                    <a:schemeClr val="tx1"/>
                                  </a:solidFill>
                                  <a:latin typeface="Cambria Math" panose="02040503050406030204" pitchFamily="18" charset="0"/>
                                </a:rPr>
                              </m:ctrlPr>
                            </m:sSubPr>
                            <m:e>
                              <m:r>
                                <a:rPr lang="ja-JP" altLang="en-NZ" sz="1800" b="1" i="1">
                                  <a:solidFill>
                                    <a:schemeClr val="tx1"/>
                                  </a:solidFill>
                                  <a:latin typeface="Cambria Math" panose="02040503050406030204" pitchFamily="18" charset="0"/>
                                </a:rPr>
                                <m:t>𝝐</m:t>
                              </m:r>
                            </m:e>
                            <m:sub>
                              <m:r>
                                <a:rPr lang="ja-JP" altLang="en-NZ" sz="1800" b="1" i="1">
                                  <a:solidFill>
                                    <a:schemeClr val="tx1"/>
                                  </a:solidFill>
                                  <a:latin typeface="Cambria Math" panose="02040503050406030204" pitchFamily="18" charset="0"/>
                                </a:rPr>
                                <m:t>𝒊𝒋𝒌</m:t>
                              </m:r>
                            </m:sub>
                          </m:sSub>
                          <m:r>
                            <a:rPr lang="en-NZ" altLang="ja-JP" sz="1800" b="1" i="1" smtClean="0">
                              <a:solidFill>
                                <a:schemeClr val="tx1"/>
                              </a:solidFill>
                              <a:latin typeface="Cambria Math" panose="02040503050406030204" pitchFamily="18" charset="0"/>
                            </a:rPr>
                            <m:t> </m:t>
                          </m:r>
                        </m:e>
                      </m:d>
                    </m:oMath>
                  </m:oMathPara>
                </a14:m>
                <a:endParaRPr lang="en-NZ" altLang="ja-JP" sz="1800" b="1" i="1" dirty="0">
                  <a:solidFill>
                    <a:schemeClr val="tx1"/>
                  </a:solidFill>
                </a:endParaRPr>
              </a:p>
              <a:p>
                <a:pPr>
                  <a:lnSpc>
                    <a:spcPct val="100000"/>
                  </a:lnSpc>
                </a:pPr>
                <a:endParaRPr lang="en-NZ" altLang="ja-JP" sz="1800" b="1" i="1" dirty="0">
                  <a:solidFill>
                    <a:schemeClr val="tx1"/>
                  </a:solidFill>
                </a:endParaRPr>
              </a:p>
            </p:txBody>
          </p:sp>
        </mc:Choice>
        <mc:Fallback xmlns="">
          <p:sp>
            <p:nvSpPr>
              <p:cNvPr id="15" name="Text Placeholder 5">
                <a:extLst>
                  <a:ext uri="{FF2B5EF4-FFF2-40B4-BE49-F238E27FC236}">
                    <a16:creationId xmlns:a16="http://schemas.microsoft.com/office/drawing/2014/main" id="{985D2F3C-3BDC-2F9C-16B4-3FBBDB2F29B0}"/>
                  </a:ext>
                </a:extLst>
              </p:cNvPr>
              <p:cNvSpPr txBox="1">
                <a:spLocks noRot="1" noChangeAspect="1" noMove="1" noResize="1" noEditPoints="1" noAdjustHandles="1" noChangeArrowheads="1" noChangeShapeType="1" noTextEdit="1"/>
              </p:cNvSpPr>
              <p:nvPr/>
            </p:nvSpPr>
            <p:spPr>
              <a:xfrm>
                <a:off x="1450172" y="2556186"/>
                <a:ext cx="5332164" cy="409811"/>
              </a:xfrm>
              <a:prstGeom prst="rect">
                <a:avLst/>
              </a:prstGeom>
              <a:blipFill>
                <a:blip r:embed="rId4"/>
                <a:stretch>
                  <a:fillRect b="-10294"/>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5BADC93F-A8E5-8CFF-E657-BD3BBB9A2F21}"/>
                  </a:ext>
                </a:extLst>
              </p:cNvPr>
              <p:cNvSpPr txBox="1">
                <a:spLocks/>
              </p:cNvSpPr>
              <p:nvPr/>
            </p:nvSpPr>
            <p:spPr>
              <a:xfrm>
                <a:off x="1450171" y="3051145"/>
                <a:ext cx="3470313" cy="40981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Para xmlns:m="http://schemas.openxmlformats.org/officeDocument/2006/math">
                    <m:oMathParaPr>
                      <m:jc m:val="left"/>
                    </m:oMathParaPr>
                    <m:oMath xmlns:m="http://schemas.openxmlformats.org/officeDocument/2006/math">
                      <m:r>
                        <a:rPr lang="en-NZ" altLang="ja-JP" sz="1800" b="1" i="1" smtClean="0">
                          <a:solidFill>
                            <a:schemeClr val="tx1"/>
                          </a:solidFill>
                          <a:latin typeface="Cambria Math" panose="02040503050406030204" pitchFamily="18" charset="0"/>
                        </a:rPr>
                        <m:t>=  </m:t>
                      </m:r>
                      <m:r>
                        <a:rPr lang="ja-JP" altLang="en-NZ" sz="1800" b="1" i="1">
                          <a:solidFill>
                            <a:schemeClr val="tx1"/>
                          </a:solidFill>
                          <a:latin typeface="Cambria Math" panose="02040503050406030204" pitchFamily="18" charset="0"/>
                        </a:rPr>
                        <m:t>𝝁</m:t>
                      </m:r>
                      <m:r>
                        <a:rPr lang="ja-JP" altLang="en-NZ" sz="1800" b="1" i="1">
                          <a:solidFill>
                            <a:schemeClr val="tx1"/>
                          </a:solidFill>
                          <a:latin typeface="Cambria Math" panose="02040503050406030204" pitchFamily="18" charset="0"/>
                        </a:rPr>
                        <m:t>  +   </m:t>
                      </m:r>
                      <m:sSub>
                        <m:sSubPr>
                          <m:ctrlPr>
                            <a:rPr lang="en-NZ" altLang="ja-JP" sz="1800" b="1" i="1">
                              <a:solidFill>
                                <a:schemeClr val="tx1"/>
                              </a:solidFill>
                              <a:latin typeface="Cambria Math" panose="02040503050406030204" pitchFamily="18" charset="0"/>
                            </a:rPr>
                          </m:ctrlPr>
                        </m:sSubPr>
                        <m:e>
                          <m:r>
                            <a:rPr lang="ja-JP" altLang="en-NZ" sz="1800" b="1" i="1">
                              <a:solidFill>
                                <a:schemeClr val="tx1"/>
                              </a:solidFill>
                              <a:latin typeface="Cambria Math" panose="02040503050406030204" pitchFamily="18" charset="0"/>
                            </a:rPr>
                            <m:t>𝜶</m:t>
                          </m:r>
                        </m:e>
                        <m:sub>
                          <m:r>
                            <a:rPr lang="ja-JP" altLang="en-NZ" sz="1800" b="1" i="1">
                              <a:solidFill>
                                <a:schemeClr val="tx1"/>
                              </a:solidFill>
                              <a:latin typeface="Cambria Math" panose="02040503050406030204" pitchFamily="18" charset="0"/>
                            </a:rPr>
                            <m:t>𝒊</m:t>
                          </m:r>
                        </m:sub>
                      </m:sSub>
                      <m:r>
                        <a:rPr lang="ja-JP" altLang="en-NZ"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   </m:t>
                      </m:r>
                      <m:sSub>
                        <m:sSubPr>
                          <m:ctrlPr>
                            <a:rPr lang="en-NZ" altLang="ja-JP" sz="1800" b="1" i="1">
                              <a:solidFill>
                                <a:schemeClr val="tx1"/>
                              </a:solidFill>
                              <a:latin typeface="Cambria Math" panose="02040503050406030204" pitchFamily="18" charset="0"/>
                            </a:rPr>
                          </m:ctrlPr>
                        </m:sSubPr>
                        <m:e>
                          <m:r>
                            <a:rPr lang="ja-JP" altLang="en-NZ" sz="1800" b="1" i="1">
                              <a:solidFill>
                                <a:schemeClr val="tx1"/>
                              </a:solidFill>
                              <a:latin typeface="Cambria Math" panose="02040503050406030204" pitchFamily="18" charset="0"/>
                            </a:rPr>
                            <m:t>𝜷</m:t>
                          </m:r>
                        </m:e>
                        <m:sub>
                          <m:r>
                            <a:rPr lang="ja-JP" altLang="en-NZ" sz="1800" b="1" i="1">
                              <a:solidFill>
                                <a:schemeClr val="tx1"/>
                              </a:solidFill>
                              <a:latin typeface="Cambria Math" panose="02040503050406030204" pitchFamily="18" charset="0"/>
                            </a:rPr>
                            <m:t>𝒋</m:t>
                          </m:r>
                        </m:sub>
                      </m:sSub>
                    </m:oMath>
                  </m:oMathPara>
                </a14:m>
                <a:endParaRPr lang="en-NZ" altLang="ja-JP" sz="1800" b="1" i="1" dirty="0">
                  <a:solidFill>
                    <a:schemeClr val="tx1"/>
                  </a:solidFill>
                </a:endParaRPr>
              </a:p>
              <a:p>
                <a:pPr>
                  <a:lnSpc>
                    <a:spcPct val="100000"/>
                  </a:lnSpc>
                </a:pPr>
                <a:endParaRPr lang="en-NZ" altLang="ja-JP" sz="1800" b="1" i="1" dirty="0">
                  <a:solidFill>
                    <a:schemeClr val="tx1"/>
                  </a:solidFill>
                </a:endParaRPr>
              </a:p>
            </p:txBody>
          </p:sp>
        </mc:Choice>
        <mc:Fallback xmlns="">
          <p:sp>
            <p:nvSpPr>
              <p:cNvPr id="16" name="Text Placeholder 5">
                <a:extLst>
                  <a:ext uri="{FF2B5EF4-FFF2-40B4-BE49-F238E27FC236}">
                    <a16:creationId xmlns:a16="http://schemas.microsoft.com/office/drawing/2014/main" id="{5BADC93F-A8E5-8CFF-E657-BD3BBB9A2F21}"/>
                  </a:ext>
                </a:extLst>
              </p:cNvPr>
              <p:cNvSpPr txBox="1">
                <a:spLocks noRot="1" noChangeAspect="1" noMove="1" noResize="1" noEditPoints="1" noAdjustHandles="1" noChangeArrowheads="1" noChangeShapeType="1" noTextEdit="1"/>
              </p:cNvSpPr>
              <p:nvPr/>
            </p:nvSpPr>
            <p:spPr>
              <a:xfrm>
                <a:off x="1450171" y="3051145"/>
                <a:ext cx="3470313" cy="409811"/>
              </a:xfrm>
              <a:prstGeom prst="rect">
                <a:avLst/>
              </a:prstGeom>
              <a:blipFill>
                <a:blip r:embed="rId5"/>
                <a:stretch>
                  <a:fillRect b="-4478"/>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7" name="Text Placeholder 5">
                <a:extLst>
                  <a:ext uri="{FF2B5EF4-FFF2-40B4-BE49-F238E27FC236}">
                    <a16:creationId xmlns:a16="http://schemas.microsoft.com/office/drawing/2014/main" id="{C2A5B6E7-8227-8BED-B95E-1310DFA8DE9A}"/>
                  </a:ext>
                </a:extLst>
              </p:cNvPr>
              <p:cNvSpPr txBox="1">
                <a:spLocks/>
              </p:cNvSpPr>
              <p:nvPr/>
            </p:nvSpPr>
            <p:spPr>
              <a:xfrm>
                <a:off x="1450171" y="3460956"/>
                <a:ext cx="3470313" cy="40981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Para xmlns:m="http://schemas.openxmlformats.org/officeDocument/2006/math">
                    <m:oMathParaPr>
                      <m:jc m:val="left"/>
                    </m:oMathParaPr>
                    <m:oMath xmlns:m="http://schemas.openxmlformats.org/officeDocument/2006/math">
                      <m:r>
                        <a:rPr lang="en-NZ" altLang="ja-JP" sz="1800" b="1" i="1" smtClean="0">
                          <a:solidFill>
                            <a:schemeClr val="tx1"/>
                          </a:solidFill>
                          <a:latin typeface="Cambria Math" panose="02040503050406030204" pitchFamily="18" charset="0"/>
                        </a:rPr>
                        <m:t>= </m:t>
                      </m:r>
                      <m:sSub>
                        <m:sSubPr>
                          <m:ctrlPr>
                            <a:rPr lang="en-NZ" sz="1800" b="1" i="1">
                              <a:solidFill>
                                <a:schemeClr val="tx1"/>
                              </a:solidFill>
                              <a:latin typeface="Cambria Math" panose="02040503050406030204" pitchFamily="18" charset="0"/>
                            </a:rPr>
                          </m:ctrlPr>
                        </m:sSubPr>
                        <m:e>
                          <m:r>
                            <a:rPr lang="en-NZ" sz="1800" b="1" i="1">
                              <a:solidFill>
                                <a:schemeClr val="tx1"/>
                              </a:solidFill>
                              <a:latin typeface="Cambria Math" panose="02040503050406030204" pitchFamily="18" charset="0"/>
                            </a:rPr>
                            <m:t>𝝁</m:t>
                          </m:r>
                        </m:e>
                        <m:sub>
                          <m:r>
                            <a:rPr lang="en-NZ" sz="1800" b="1" i="1">
                              <a:solidFill>
                                <a:schemeClr val="tx1"/>
                              </a:solidFill>
                              <a:latin typeface="Cambria Math" panose="02040503050406030204" pitchFamily="18" charset="0"/>
                            </a:rPr>
                            <m:t>𝒊𝒋</m:t>
                          </m:r>
                        </m:sub>
                      </m:sSub>
                    </m:oMath>
                  </m:oMathPara>
                </a14:m>
                <a:endParaRPr lang="en-NZ" altLang="ja-JP" sz="1800" b="1" i="1" dirty="0">
                  <a:solidFill>
                    <a:schemeClr val="tx1"/>
                  </a:solidFill>
                </a:endParaRPr>
              </a:p>
              <a:p>
                <a:pPr>
                  <a:lnSpc>
                    <a:spcPct val="100000"/>
                  </a:lnSpc>
                </a:pPr>
                <a:endParaRPr lang="en-NZ" altLang="ja-JP" sz="1800" b="1" i="1" dirty="0">
                  <a:solidFill>
                    <a:schemeClr val="tx1"/>
                  </a:solidFill>
                </a:endParaRPr>
              </a:p>
            </p:txBody>
          </p:sp>
        </mc:Choice>
        <mc:Fallback xmlns="">
          <p:sp>
            <p:nvSpPr>
              <p:cNvPr id="17" name="Text Placeholder 5">
                <a:extLst>
                  <a:ext uri="{FF2B5EF4-FFF2-40B4-BE49-F238E27FC236}">
                    <a16:creationId xmlns:a16="http://schemas.microsoft.com/office/drawing/2014/main" id="{C2A5B6E7-8227-8BED-B95E-1310DFA8DE9A}"/>
                  </a:ext>
                </a:extLst>
              </p:cNvPr>
              <p:cNvSpPr txBox="1">
                <a:spLocks noRot="1" noChangeAspect="1" noMove="1" noResize="1" noEditPoints="1" noAdjustHandles="1" noChangeArrowheads="1" noChangeShapeType="1" noTextEdit="1"/>
              </p:cNvSpPr>
              <p:nvPr/>
            </p:nvSpPr>
            <p:spPr>
              <a:xfrm>
                <a:off x="1450171" y="3460956"/>
                <a:ext cx="3470313" cy="409811"/>
              </a:xfrm>
              <a:prstGeom prst="rect">
                <a:avLst/>
              </a:prstGeom>
              <a:blipFill>
                <a:blip r:embed="rId6"/>
                <a:stretch>
                  <a:fillRect b="-4478"/>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FE07014A-8365-63F7-484B-1FA2580EB04B}"/>
                  </a:ext>
                </a:extLst>
              </p:cNvPr>
              <p:cNvSpPr txBox="1">
                <a:spLocks/>
              </p:cNvSpPr>
              <p:nvPr/>
            </p:nvSpPr>
            <p:spPr>
              <a:xfrm>
                <a:off x="442839" y="4785033"/>
                <a:ext cx="5182725"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Para xmlns:m="http://schemas.openxmlformats.org/officeDocument/2006/math">
                    <m:oMathParaPr>
                      <m:jc m:val="left"/>
                    </m:oMathParaPr>
                    <m:oMath xmlns:m="http://schemas.openxmlformats.org/officeDocument/2006/math">
                      <m:r>
                        <a:rPr lang="en-NZ" altLang="ja-JP" sz="1800" b="1" i="1" smtClean="0">
                          <a:solidFill>
                            <a:schemeClr val="tx1"/>
                          </a:solidFill>
                          <a:latin typeface="Cambria Math" panose="02040503050406030204" pitchFamily="18" charset="0"/>
                        </a:rPr>
                        <m:t>𝑽𝒂𝒓</m:t>
                      </m:r>
                      <m:d>
                        <m:dPr>
                          <m:begChr m:val="["/>
                          <m:endChr m:val="]"/>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 </m:t>
                          </m:r>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𝒀</m:t>
                              </m:r>
                            </m:e>
                            <m:sub>
                              <m:r>
                                <a:rPr lang="en-NZ" altLang="ja-JP" sz="1800" b="1" i="1" smtClean="0">
                                  <a:solidFill>
                                    <a:schemeClr val="tx1"/>
                                  </a:solidFill>
                                  <a:latin typeface="Cambria Math" panose="02040503050406030204" pitchFamily="18" charset="0"/>
                                </a:rPr>
                                <m:t>𝒊𝒋𝒌</m:t>
                              </m:r>
                            </m:sub>
                          </m:sSub>
                          <m:r>
                            <a:rPr lang="en-NZ" altLang="ja-JP" sz="1800" b="1" i="1" smtClean="0">
                              <a:solidFill>
                                <a:schemeClr val="tx1"/>
                              </a:solidFill>
                              <a:latin typeface="Cambria Math" panose="02040503050406030204" pitchFamily="18" charset="0"/>
                            </a:rPr>
                            <m:t> </m:t>
                          </m:r>
                        </m:e>
                      </m:d>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𝑽𝒂𝒓</m:t>
                      </m:r>
                      <m:d>
                        <m:dPr>
                          <m:begChr m:val="["/>
                          <m:endChr m:val="]"/>
                          <m:ctrlPr>
                            <a:rPr lang="en-NZ" altLang="ja-JP" sz="1800" b="1" i="1" smtClean="0">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𝝁</m:t>
                          </m:r>
                          <m:r>
                            <a:rPr lang="en-NZ" altLang="ja-JP" sz="1800" b="1" i="1">
                              <a:solidFill>
                                <a:schemeClr val="tx1"/>
                              </a:solidFill>
                              <a:latin typeface="Cambria Math" panose="02040503050406030204" pitchFamily="18" charset="0"/>
                            </a:rPr>
                            <m:t>  +   </m:t>
                          </m:r>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𝜶</m:t>
                              </m:r>
                            </m:e>
                            <m:sub>
                              <m:r>
                                <a:rPr lang="en-NZ" altLang="ja-JP" sz="1800" b="1" i="1">
                                  <a:solidFill>
                                    <a:schemeClr val="tx1"/>
                                  </a:solidFill>
                                  <a:latin typeface="Cambria Math" panose="02040503050406030204" pitchFamily="18" charset="0"/>
                                </a:rPr>
                                <m:t>𝒊</m:t>
                              </m:r>
                            </m:sub>
                          </m:sSub>
                          <m:r>
                            <a:rPr lang="en-NZ" altLang="ja-JP" sz="1800" b="1" i="1">
                              <a:solidFill>
                                <a:schemeClr val="tx1"/>
                              </a:solidFill>
                              <a:latin typeface="Cambria Math" panose="02040503050406030204" pitchFamily="18" charset="0"/>
                            </a:rPr>
                            <m:t>  +   </m:t>
                          </m:r>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𝜷</m:t>
                              </m:r>
                            </m:e>
                            <m:sub>
                              <m:r>
                                <a:rPr lang="en-NZ" altLang="ja-JP" sz="1800" b="1" i="1">
                                  <a:solidFill>
                                    <a:schemeClr val="tx1"/>
                                  </a:solidFill>
                                  <a:latin typeface="Cambria Math" panose="02040503050406030204" pitchFamily="18" charset="0"/>
                                </a:rPr>
                                <m:t>𝒋</m:t>
                              </m:r>
                            </m:sub>
                          </m:sSub>
                          <m:r>
                            <a:rPr lang="en-NZ" altLang="ja-JP" sz="1800" b="1" i="1">
                              <a:solidFill>
                                <a:schemeClr val="tx1"/>
                              </a:solidFill>
                              <a:latin typeface="Cambria Math" panose="02040503050406030204" pitchFamily="18" charset="0"/>
                            </a:rPr>
                            <m:t>  +   </m:t>
                          </m:r>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𝝐</m:t>
                              </m:r>
                            </m:e>
                            <m:sub>
                              <m:r>
                                <a:rPr lang="en-NZ" altLang="ja-JP" sz="1800" b="1" i="1">
                                  <a:solidFill>
                                    <a:schemeClr val="tx1"/>
                                  </a:solidFill>
                                  <a:latin typeface="Cambria Math" panose="02040503050406030204" pitchFamily="18" charset="0"/>
                                </a:rPr>
                                <m:t>𝒊𝒋𝒌</m:t>
                              </m:r>
                            </m:sub>
                          </m:sSub>
                        </m:e>
                      </m:d>
                    </m:oMath>
                  </m:oMathPara>
                </a14:m>
                <a:endParaRPr lang="en-NZ" altLang="ja-JP" sz="1800" b="1" i="1" dirty="0">
                  <a:solidFill>
                    <a:schemeClr val="tx1"/>
                  </a:solidFill>
                </a:endParaRPr>
              </a:p>
            </p:txBody>
          </p:sp>
        </mc:Choice>
        <mc:Fallback xmlns="">
          <p:sp>
            <p:nvSpPr>
              <p:cNvPr id="18" name="Text Placeholder 5">
                <a:extLst>
                  <a:ext uri="{FF2B5EF4-FFF2-40B4-BE49-F238E27FC236}">
                    <a16:creationId xmlns:a16="http://schemas.microsoft.com/office/drawing/2014/main" id="{FE07014A-8365-63F7-484B-1FA2580EB04B}"/>
                  </a:ext>
                </a:extLst>
              </p:cNvPr>
              <p:cNvSpPr txBox="1">
                <a:spLocks noRot="1" noChangeAspect="1" noMove="1" noResize="1" noEditPoints="1" noAdjustHandles="1" noChangeArrowheads="1" noChangeShapeType="1" noTextEdit="1"/>
              </p:cNvSpPr>
              <p:nvPr/>
            </p:nvSpPr>
            <p:spPr>
              <a:xfrm>
                <a:off x="442839" y="4785033"/>
                <a:ext cx="5182725" cy="365125"/>
              </a:xfrm>
              <a:prstGeom prst="rect">
                <a:avLst/>
              </a:prstGeom>
              <a:blipFill>
                <a:blip r:embed="rId7"/>
                <a:stretch>
                  <a:fillRect b="-23333"/>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CFF7F0F6-340F-F488-B7E2-AD9A0D38EBC6}"/>
                  </a:ext>
                </a:extLst>
              </p:cNvPr>
              <p:cNvSpPr txBox="1">
                <a:spLocks/>
              </p:cNvSpPr>
              <p:nvPr/>
            </p:nvSpPr>
            <p:spPr>
              <a:xfrm>
                <a:off x="1450171" y="5364559"/>
                <a:ext cx="7958234" cy="40981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Para xmlns:m="http://schemas.openxmlformats.org/officeDocument/2006/math">
                    <m:oMathParaPr>
                      <m:jc m:val="left"/>
                    </m:oMathParaPr>
                    <m:oMath xmlns:m="http://schemas.openxmlformats.org/officeDocument/2006/math">
                      <m:r>
                        <a:rPr lang="en-NZ" altLang="ja-JP" sz="1800" b="1" i="1" smtClean="0">
                          <a:solidFill>
                            <a:schemeClr val="tx1"/>
                          </a:solidFill>
                          <a:latin typeface="Cambria Math" panose="02040503050406030204" pitchFamily="18" charset="0"/>
                        </a:rPr>
                        <m:t>=  </m:t>
                      </m:r>
                      <m:sSup>
                        <m:sSupPr>
                          <m:ctrlPr>
                            <a:rPr lang="en-NZ" altLang="ja-JP" sz="1800" b="1" i="1" smtClean="0">
                              <a:solidFill>
                                <a:schemeClr val="tx1"/>
                              </a:solidFill>
                              <a:latin typeface="Cambria Math" panose="02040503050406030204" pitchFamily="18" charset="0"/>
                            </a:rPr>
                          </m:ctrlPr>
                        </m:sSupPr>
                        <m:e>
                          <m:d>
                            <m:dPr>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𝟏</m:t>
                              </m:r>
                            </m:e>
                          </m:d>
                        </m:e>
                        <m:sup>
                          <m:r>
                            <a:rPr lang="en-NZ" altLang="ja-JP" sz="1800" b="1" i="1" smtClean="0">
                              <a:solidFill>
                                <a:schemeClr val="tx1"/>
                              </a:solidFill>
                              <a:latin typeface="Cambria Math" panose="02040503050406030204" pitchFamily="18" charset="0"/>
                            </a:rPr>
                            <m:t>𝟐</m:t>
                          </m:r>
                        </m:sup>
                      </m:sSup>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𝑽𝒂𝒓</m:t>
                      </m:r>
                      <m:d>
                        <m:dPr>
                          <m:begChr m:val="["/>
                          <m:endChr m:val="]"/>
                          <m:ctrlPr>
                            <a:rPr lang="en-NZ" altLang="ja-JP" sz="1800" b="1" i="1" smtClean="0">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 </m:t>
                          </m:r>
                          <m:r>
                            <a:rPr lang="ja-JP" altLang="en-NZ" sz="1800" b="1" i="1">
                              <a:solidFill>
                                <a:schemeClr val="tx1"/>
                              </a:solidFill>
                              <a:latin typeface="Cambria Math" panose="02040503050406030204" pitchFamily="18" charset="0"/>
                            </a:rPr>
                            <m:t>𝝁</m:t>
                          </m:r>
                          <m:r>
                            <a:rPr lang="en-NZ" altLang="ja-JP" sz="1800" b="1" i="1" smtClean="0">
                              <a:solidFill>
                                <a:schemeClr val="tx1"/>
                              </a:solidFill>
                              <a:latin typeface="Cambria Math" panose="02040503050406030204" pitchFamily="18" charset="0"/>
                            </a:rPr>
                            <m:t> </m:t>
                          </m:r>
                        </m:e>
                      </m:d>
                      <m:r>
                        <a:rPr lang="ja-JP" altLang="en-NZ" sz="1800" b="1" i="1">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  </m:t>
                      </m:r>
                      <m:sSup>
                        <m:sSupPr>
                          <m:ctrlPr>
                            <a:rPr lang="en-NZ" altLang="ja-JP" sz="1800" b="1" i="1">
                              <a:solidFill>
                                <a:schemeClr val="tx1"/>
                              </a:solidFill>
                              <a:latin typeface="Cambria Math" panose="02040503050406030204" pitchFamily="18" charset="0"/>
                            </a:rPr>
                          </m:ctrlPr>
                        </m:sSupPr>
                        <m:e>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𝟏</m:t>
                              </m:r>
                            </m:e>
                          </m:d>
                        </m:e>
                        <m:sup>
                          <m:r>
                            <a:rPr lang="en-NZ" altLang="ja-JP" sz="1800" b="1" i="1">
                              <a:solidFill>
                                <a:schemeClr val="tx1"/>
                              </a:solidFill>
                              <a:latin typeface="Cambria Math" panose="02040503050406030204" pitchFamily="18" charset="0"/>
                            </a:rPr>
                            <m:t>𝟐</m:t>
                          </m:r>
                        </m:sup>
                      </m:sSup>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𝑽𝒂𝒓</m:t>
                      </m:r>
                      <m:d>
                        <m:dPr>
                          <m:begChr m:val="["/>
                          <m:endChr m:val="]"/>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 </m:t>
                          </m:r>
                          <m:sSub>
                            <m:sSubPr>
                              <m:ctrlPr>
                                <a:rPr lang="en-NZ" altLang="ja-JP" sz="1800" b="1" i="1" smtClean="0">
                                  <a:solidFill>
                                    <a:schemeClr val="tx1"/>
                                  </a:solidFill>
                                  <a:latin typeface="Cambria Math" panose="02040503050406030204" pitchFamily="18" charset="0"/>
                                </a:rPr>
                              </m:ctrlPr>
                            </m:sSubPr>
                            <m:e>
                              <m:r>
                                <a:rPr lang="ja-JP" altLang="en-NZ" sz="1800" b="1" i="1">
                                  <a:solidFill>
                                    <a:schemeClr val="tx1"/>
                                  </a:solidFill>
                                  <a:latin typeface="Cambria Math" panose="02040503050406030204" pitchFamily="18" charset="0"/>
                                </a:rPr>
                                <m:t>𝜶</m:t>
                              </m:r>
                            </m:e>
                            <m:sub>
                              <m:r>
                                <a:rPr lang="en-NZ" altLang="ja-JP" sz="1800" b="1" i="1" smtClean="0">
                                  <a:solidFill>
                                    <a:schemeClr val="tx1"/>
                                  </a:solidFill>
                                  <a:latin typeface="Cambria Math" panose="02040503050406030204" pitchFamily="18" charset="0"/>
                                </a:rPr>
                                <m:t>𝒊</m:t>
                              </m:r>
                            </m:sub>
                          </m:sSub>
                          <m:r>
                            <a:rPr lang="en-NZ" altLang="ja-JP" sz="1800" b="1" i="1" smtClean="0">
                              <a:solidFill>
                                <a:schemeClr val="tx1"/>
                              </a:solidFill>
                              <a:latin typeface="Cambria Math" panose="02040503050406030204" pitchFamily="18" charset="0"/>
                            </a:rPr>
                            <m:t> </m:t>
                          </m:r>
                        </m:e>
                      </m:d>
                      <m:r>
                        <a:rPr lang="ja-JP" altLang="en-NZ"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  </m:t>
                      </m:r>
                      <m:sSup>
                        <m:sSupPr>
                          <m:ctrlPr>
                            <a:rPr lang="en-NZ" altLang="ja-JP" sz="1800" b="1" i="1">
                              <a:solidFill>
                                <a:schemeClr val="tx1"/>
                              </a:solidFill>
                              <a:latin typeface="Cambria Math" panose="02040503050406030204" pitchFamily="18" charset="0"/>
                            </a:rPr>
                          </m:ctrlPr>
                        </m:sSupPr>
                        <m:e>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𝟏</m:t>
                              </m:r>
                            </m:e>
                          </m:d>
                        </m:e>
                        <m:sup>
                          <m:r>
                            <a:rPr lang="en-NZ" altLang="ja-JP" sz="1800" b="1" i="1">
                              <a:solidFill>
                                <a:schemeClr val="tx1"/>
                              </a:solidFill>
                              <a:latin typeface="Cambria Math" panose="02040503050406030204" pitchFamily="18" charset="0"/>
                            </a:rPr>
                            <m:t>𝟐</m:t>
                          </m:r>
                        </m:sup>
                      </m:sSup>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𝑽𝒂𝒓</m:t>
                      </m:r>
                      <m:d>
                        <m:dPr>
                          <m:begChr m:val="["/>
                          <m:endChr m:val="]"/>
                          <m:ctrlPr>
                            <a:rPr lang="en-NZ" altLang="ja-JP" sz="1800" b="1" i="1" smtClean="0">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 </m:t>
                          </m:r>
                          <m:sSub>
                            <m:sSubPr>
                              <m:ctrlPr>
                                <a:rPr lang="en-NZ" altLang="ja-JP" sz="1800" b="1" i="1" smtClean="0">
                                  <a:solidFill>
                                    <a:schemeClr val="tx1"/>
                                  </a:solidFill>
                                  <a:latin typeface="Cambria Math" panose="02040503050406030204" pitchFamily="18" charset="0"/>
                                </a:rPr>
                              </m:ctrlPr>
                            </m:sSubPr>
                            <m:e>
                              <m:r>
                                <a:rPr lang="ja-JP" altLang="en-NZ" sz="1800" b="1" i="1">
                                  <a:solidFill>
                                    <a:schemeClr val="tx1"/>
                                  </a:solidFill>
                                  <a:latin typeface="Cambria Math" panose="02040503050406030204" pitchFamily="18" charset="0"/>
                                </a:rPr>
                                <m:t>𝜷</m:t>
                              </m:r>
                            </m:e>
                            <m:sub>
                              <m:r>
                                <a:rPr lang="en-NZ" altLang="ja-JP" sz="1800" b="1" i="1" smtClean="0">
                                  <a:solidFill>
                                    <a:schemeClr val="tx1"/>
                                  </a:solidFill>
                                  <a:latin typeface="Cambria Math" panose="02040503050406030204" pitchFamily="18" charset="0"/>
                                </a:rPr>
                                <m:t>𝒋</m:t>
                              </m:r>
                            </m:sub>
                          </m:sSub>
                        </m:e>
                      </m:d>
                      <m:r>
                        <a:rPr lang="ja-JP" altLang="en-NZ"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  </m:t>
                      </m:r>
                      <m:sSup>
                        <m:sSupPr>
                          <m:ctrlPr>
                            <a:rPr lang="en-NZ" altLang="ja-JP" sz="1800" b="1" i="1">
                              <a:solidFill>
                                <a:schemeClr val="tx1"/>
                              </a:solidFill>
                              <a:latin typeface="Cambria Math" panose="02040503050406030204" pitchFamily="18" charset="0"/>
                            </a:rPr>
                          </m:ctrlPr>
                        </m:sSupPr>
                        <m:e>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𝟏</m:t>
                              </m:r>
                            </m:e>
                          </m:d>
                        </m:e>
                        <m:sup>
                          <m:r>
                            <a:rPr lang="en-NZ" altLang="ja-JP" sz="1800" b="1" i="1">
                              <a:solidFill>
                                <a:schemeClr val="tx1"/>
                              </a:solidFill>
                              <a:latin typeface="Cambria Math" panose="02040503050406030204" pitchFamily="18" charset="0"/>
                            </a:rPr>
                            <m:t>𝟐</m:t>
                          </m:r>
                        </m:sup>
                      </m:sSup>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𝑽𝒂𝒓</m:t>
                      </m:r>
                      <m:d>
                        <m:dPr>
                          <m:begChr m:val="["/>
                          <m:endChr m:val="]"/>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 </m:t>
                          </m:r>
                          <m:sSub>
                            <m:sSubPr>
                              <m:ctrlPr>
                                <a:rPr lang="en-NZ" altLang="ja-JP" sz="1800" b="1" i="1">
                                  <a:solidFill>
                                    <a:schemeClr val="tx1"/>
                                  </a:solidFill>
                                  <a:latin typeface="Cambria Math" panose="02040503050406030204" pitchFamily="18" charset="0"/>
                                </a:rPr>
                              </m:ctrlPr>
                            </m:sSubPr>
                            <m:e>
                              <m:r>
                                <a:rPr lang="ja-JP" altLang="en-NZ" sz="1800" b="1" i="1">
                                  <a:solidFill>
                                    <a:schemeClr val="tx1"/>
                                  </a:solidFill>
                                  <a:latin typeface="Cambria Math" panose="02040503050406030204" pitchFamily="18" charset="0"/>
                                </a:rPr>
                                <m:t>𝝐</m:t>
                              </m:r>
                            </m:e>
                            <m:sub>
                              <m:r>
                                <a:rPr lang="ja-JP" altLang="en-NZ" sz="1800" b="1" i="1">
                                  <a:solidFill>
                                    <a:schemeClr val="tx1"/>
                                  </a:solidFill>
                                  <a:latin typeface="Cambria Math" panose="02040503050406030204" pitchFamily="18" charset="0"/>
                                </a:rPr>
                                <m:t>𝒊𝒋𝒌</m:t>
                              </m:r>
                            </m:sub>
                          </m:sSub>
                          <m:r>
                            <a:rPr lang="en-NZ" altLang="ja-JP" sz="1800" b="1" i="1" smtClean="0">
                              <a:solidFill>
                                <a:schemeClr val="tx1"/>
                              </a:solidFill>
                              <a:latin typeface="Cambria Math" panose="02040503050406030204" pitchFamily="18" charset="0"/>
                            </a:rPr>
                            <m:t> </m:t>
                          </m:r>
                        </m:e>
                      </m:d>
                    </m:oMath>
                  </m:oMathPara>
                </a14:m>
                <a:endParaRPr lang="en-NZ" altLang="ja-JP" sz="1800" b="1" i="1" dirty="0">
                  <a:solidFill>
                    <a:schemeClr val="tx1"/>
                  </a:solidFill>
                </a:endParaRPr>
              </a:p>
              <a:p>
                <a:pPr>
                  <a:lnSpc>
                    <a:spcPct val="100000"/>
                  </a:lnSpc>
                </a:pPr>
                <a:endParaRPr lang="en-NZ" altLang="ja-JP" sz="1800" b="1" i="1" dirty="0">
                  <a:solidFill>
                    <a:schemeClr val="tx1"/>
                  </a:solidFill>
                </a:endParaRPr>
              </a:p>
            </p:txBody>
          </p:sp>
        </mc:Choice>
        <mc:Fallback xmlns="">
          <p:sp>
            <p:nvSpPr>
              <p:cNvPr id="19" name="Text Placeholder 5">
                <a:extLst>
                  <a:ext uri="{FF2B5EF4-FFF2-40B4-BE49-F238E27FC236}">
                    <a16:creationId xmlns:a16="http://schemas.microsoft.com/office/drawing/2014/main" id="{CFF7F0F6-340F-F488-B7E2-AD9A0D38EBC6}"/>
                  </a:ext>
                </a:extLst>
              </p:cNvPr>
              <p:cNvSpPr txBox="1">
                <a:spLocks noRot="1" noChangeAspect="1" noMove="1" noResize="1" noEditPoints="1" noAdjustHandles="1" noChangeArrowheads="1" noChangeShapeType="1" noTextEdit="1"/>
              </p:cNvSpPr>
              <p:nvPr/>
            </p:nvSpPr>
            <p:spPr>
              <a:xfrm>
                <a:off x="1450171" y="5364559"/>
                <a:ext cx="7958234" cy="409811"/>
              </a:xfrm>
              <a:prstGeom prst="rect">
                <a:avLst/>
              </a:prstGeom>
              <a:blipFill>
                <a:blip r:embed="rId8"/>
                <a:stretch>
                  <a:fillRect b="-11940"/>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7E6C21D0-CA9E-2AC2-1985-E9542C96564A}"/>
                  </a:ext>
                </a:extLst>
              </p:cNvPr>
              <p:cNvSpPr txBox="1">
                <a:spLocks/>
              </p:cNvSpPr>
              <p:nvPr/>
            </p:nvSpPr>
            <p:spPr>
              <a:xfrm>
                <a:off x="1450171" y="5859518"/>
                <a:ext cx="8090436" cy="40981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Para xmlns:m="http://schemas.openxmlformats.org/officeDocument/2006/math">
                    <m:oMathParaPr>
                      <m:jc m:val="left"/>
                    </m:oMathParaPr>
                    <m:oMath xmlns:m="http://schemas.openxmlformats.org/officeDocument/2006/math">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𝟎</m:t>
                      </m:r>
                      <m:r>
                        <a:rPr lang="ja-JP" altLang="en-NZ" sz="1800" b="1" i="1">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                     </m:t>
                      </m:r>
                      <m:r>
                        <a:rPr lang="ja-JP" altLang="en-NZ" sz="1800" b="1" i="1">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𝟎</m:t>
                      </m:r>
                      <m:r>
                        <a:rPr lang="en-NZ" altLang="ja-JP" sz="1800" b="1" i="1" smtClean="0">
                          <a:solidFill>
                            <a:schemeClr val="tx1"/>
                          </a:solidFill>
                          <a:latin typeface="Cambria Math" panose="02040503050406030204" pitchFamily="18" charset="0"/>
                        </a:rPr>
                        <m:t>                    +   </m:t>
                      </m:r>
                      <m:r>
                        <a:rPr lang="en-NZ" altLang="ja-JP" sz="1800" b="1" i="1" smtClean="0">
                          <a:solidFill>
                            <a:schemeClr val="tx1"/>
                          </a:solidFill>
                          <a:latin typeface="Cambria Math" panose="02040503050406030204" pitchFamily="18" charset="0"/>
                        </a:rPr>
                        <m:t>𝟎</m:t>
                      </m:r>
                      <m:r>
                        <a:rPr lang="en-NZ" altLang="ja-JP" sz="1800" b="1" i="1" smtClean="0">
                          <a:solidFill>
                            <a:schemeClr val="tx1"/>
                          </a:solidFill>
                          <a:latin typeface="Cambria Math" panose="02040503050406030204" pitchFamily="18" charset="0"/>
                        </a:rPr>
                        <m:t>                         +  </m:t>
                      </m:r>
                      <m:sSup>
                        <m:sSupPr>
                          <m:ctrlPr>
                            <a:rPr lang="en-NZ" altLang="ja-JP" sz="1800" b="1" i="1" smtClean="0">
                              <a:solidFill>
                                <a:schemeClr val="tx1"/>
                              </a:solidFill>
                              <a:latin typeface="Cambria Math" panose="02040503050406030204" pitchFamily="18" charset="0"/>
                            </a:rPr>
                          </m:ctrlPr>
                        </m:sSupPr>
                        <m:e>
                          <m:r>
                            <a:rPr lang="en-NZ" altLang="ja-JP" sz="1800" b="1" i="1" smtClean="0">
                              <a:solidFill>
                                <a:schemeClr val="tx1"/>
                              </a:solidFill>
                              <a:latin typeface="Cambria Math" panose="02040503050406030204" pitchFamily="18" charset="0"/>
                            </a:rPr>
                            <m:t>𝝈</m:t>
                          </m:r>
                        </m:e>
                        <m:sup>
                          <m:r>
                            <a:rPr lang="en-NZ" altLang="ja-JP" sz="1800" b="1" i="1" smtClean="0">
                              <a:solidFill>
                                <a:schemeClr val="tx1"/>
                              </a:solidFill>
                              <a:latin typeface="Cambria Math" panose="02040503050406030204" pitchFamily="18" charset="0"/>
                            </a:rPr>
                            <m:t>𝟐</m:t>
                          </m:r>
                        </m:sup>
                      </m:sSup>
                    </m:oMath>
                  </m:oMathPara>
                </a14:m>
                <a:endParaRPr lang="en-NZ" altLang="ja-JP" sz="1800" b="1" i="1" dirty="0">
                  <a:solidFill>
                    <a:schemeClr val="tx1"/>
                  </a:solidFill>
                </a:endParaRPr>
              </a:p>
              <a:p>
                <a:pPr>
                  <a:lnSpc>
                    <a:spcPct val="100000"/>
                  </a:lnSpc>
                </a:pPr>
                <a:endParaRPr lang="en-NZ" altLang="ja-JP" sz="1800" b="1" i="1" dirty="0">
                  <a:solidFill>
                    <a:schemeClr val="tx1"/>
                  </a:solidFill>
                </a:endParaRPr>
              </a:p>
            </p:txBody>
          </p:sp>
        </mc:Choice>
        <mc:Fallback xmlns="">
          <p:sp>
            <p:nvSpPr>
              <p:cNvPr id="20" name="Text Placeholder 5">
                <a:extLst>
                  <a:ext uri="{FF2B5EF4-FFF2-40B4-BE49-F238E27FC236}">
                    <a16:creationId xmlns:a16="http://schemas.microsoft.com/office/drawing/2014/main" id="{7E6C21D0-CA9E-2AC2-1985-E9542C96564A}"/>
                  </a:ext>
                </a:extLst>
              </p:cNvPr>
              <p:cNvSpPr txBox="1">
                <a:spLocks noRot="1" noChangeAspect="1" noMove="1" noResize="1" noEditPoints="1" noAdjustHandles="1" noChangeArrowheads="1" noChangeShapeType="1" noTextEdit="1"/>
              </p:cNvSpPr>
              <p:nvPr/>
            </p:nvSpPr>
            <p:spPr>
              <a:xfrm>
                <a:off x="1450171" y="5859518"/>
                <a:ext cx="8090436" cy="409811"/>
              </a:xfrm>
              <a:prstGeom prst="rect">
                <a:avLst/>
              </a:prstGeom>
              <a:blipFill>
                <a:blip r:embed="rId9"/>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4" name="Text Placeholder 5">
                <a:extLst>
                  <a:ext uri="{FF2B5EF4-FFF2-40B4-BE49-F238E27FC236}">
                    <a16:creationId xmlns:a16="http://schemas.microsoft.com/office/drawing/2014/main" id="{D7857978-4D71-9F03-0C87-557671407C85}"/>
                  </a:ext>
                </a:extLst>
              </p:cNvPr>
              <p:cNvSpPr txBox="1">
                <a:spLocks/>
              </p:cNvSpPr>
              <p:nvPr/>
            </p:nvSpPr>
            <p:spPr>
              <a:xfrm>
                <a:off x="1450171" y="6269329"/>
                <a:ext cx="3470313" cy="40981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Para xmlns:m="http://schemas.openxmlformats.org/officeDocument/2006/math">
                    <m:oMathParaPr>
                      <m:jc m:val="left"/>
                    </m:oMathParaPr>
                    <m:oMath xmlns:m="http://schemas.openxmlformats.org/officeDocument/2006/math">
                      <m:r>
                        <a:rPr lang="en-NZ" altLang="ja-JP" sz="1800" b="1" i="1" smtClean="0">
                          <a:solidFill>
                            <a:schemeClr val="tx1"/>
                          </a:solidFill>
                          <a:latin typeface="Cambria Math" panose="02040503050406030204" pitchFamily="18" charset="0"/>
                        </a:rPr>
                        <m:t>=</m:t>
                      </m:r>
                      <m:sSup>
                        <m:sSupPr>
                          <m:ctrlPr>
                            <a:rPr lang="en-NZ" sz="1800" b="1" i="1" smtClean="0">
                              <a:solidFill>
                                <a:schemeClr val="tx1"/>
                              </a:solidFill>
                              <a:latin typeface="Cambria Math" panose="02040503050406030204" pitchFamily="18" charset="0"/>
                            </a:rPr>
                          </m:ctrlPr>
                        </m:sSupPr>
                        <m:e>
                          <m:r>
                            <a:rPr lang="en-NZ" sz="1800" b="1" i="1" smtClean="0">
                              <a:solidFill>
                                <a:schemeClr val="tx1"/>
                              </a:solidFill>
                              <a:latin typeface="Cambria Math" panose="02040503050406030204" pitchFamily="18" charset="0"/>
                            </a:rPr>
                            <m:t>      </m:t>
                          </m:r>
                          <m:r>
                            <a:rPr lang="en-NZ" sz="1800" b="1" i="1" smtClean="0">
                              <a:solidFill>
                                <a:schemeClr val="tx1"/>
                              </a:solidFill>
                              <a:latin typeface="Cambria Math" panose="02040503050406030204" pitchFamily="18" charset="0"/>
                            </a:rPr>
                            <m:t>𝝈</m:t>
                          </m:r>
                        </m:e>
                        <m:sup>
                          <m:r>
                            <a:rPr lang="en-NZ" sz="1800" b="1" i="1" smtClean="0">
                              <a:solidFill>
                                <a:schemeClr val="tx1"/>
                              </a:solidFill>
                              <a:latin typeface="Cambria Math" panose="02040503050406030204" pitchFamily="18" charset="0"/>
                            </a:rPr>
                            <m:t>𝟐</m:t>
                          </m:r>
                        </m:sup>
                      </m:sSup>
                    </m:oMath>
                  </m:oMathPara>
                </a14:m>
                <a:endParaRPr lang="en-NZ" altLang="ja-JP" sz="1800" b="1" i="1" dirty="0">
                  <a:solidFill>
                    <a:schemeClr val="tx1"/>
                  </a:solidFill>
                </a:endParaRPr>
              </a:p>
              <a:p>
                <a:pPr>
                  <a:lnSpc>
                    <a:spcPct val="100000"/>
                  </a:lnSpc>
                </a:pPr>
                <a:endParaRPr lang="en-NZ" altLang="ja-JP" sz="1800" b="1" i="1" dirty="0">
                  <a:solidFill>
                    <a:schemeClr val="tx1"/>
                  </a:solidFill>
                </a:endParaRPr>
              </a:p>
            </p:txBody>
          </p:sp>
        </mc:Choice>
        <mc:Fallback xmlns="">
          <p:sp>
            <p:nvSpPr>
              <p:cNvPr id="24" name="Text Placeholder 5">
                <a:extLst>
                  <a:ext uri="{FF2B5EF4-FFF2-40B4-BE49-F238E27FC236}">
                    <a16:creationId xmlns:a16="http://schemas.microsoft.com/office/drawing/2014/main" id="{D7857978-4D71-9F03-0C87-557671407C85}"/>
                  </a:ext>
                </a:extLst>
              </p:cNvPr>
              <p:cNvSpPr txBox="1">
                <a:spLocks noRot="1" noChangeAspect="1" noMove="1" noResize="1" noEditPoints="1" noAdjustHandles="1" noChangeArrowheads="1" noChangeShapeType="1" noTextEdit="1"/>
              </p:cNvSpPr>
              <p:nvPr/>
            </p:nvSpPr>
            <p:spPr>
              <a:xfrm>
                <a:off x="1450171" y="6269329"/>
                <a:ext cx="3470313" cy="409811"/>
              </a:xfrm>
              <a:prstGeom prst="rect">
                <a:avLst/>
              </a:prstGeom>
              <a:blipFill>
                <a:blip r:embed="rId10"/>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6" name="Text Placeholder 5">
                <a:extLst>
                  <a:ext uri="{FF2B5EF4-FFF2-40B4-BE49-F238E27FC236}">
                    <a16:creationId xmlns:a16="http://schemas.microsoft.com/office/drawing/2014/main" id="{675A859B-A350-BB55-E960-1A35C6CC3DAC}"/>
                  </a:ext>
                </a:extLst>
              </p:cNvPr>
              <p:cNvSpPr txBox="1">
                <a:spLocks/>
              </p:cNvSpPr>
              <p:nvPr/>
            </p:nvSpPr>
            <p:spPr>
              <a:xfrm>
                <a:off x="7679140" y="4612618"/>
                <a:ext cx="3536031" cy="53754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Para xmlns:m="http://schemas.openxmlformats.org/officeDocument/2006/math">
                    <m:oMathParaPr>
                      <m:jc m:val="center"/>
                    </m:oMathParaPr>
                    <m:oMath xmlns:m="http://schemas.openxmlformats.org/officeDocument/2006/math">
                      <m:r>
                        <a:rPr lang="en-NZ" altLang="ja-JP" sz="1400" b="1" i="1" smtClean="0">
                          <a:solidFill>
                            <a:schemeClr val="bg2">
                              <a:lumMod val="50000"/>
                            </a:schemeClr>
                          </a:solidFill>
                          <a:latin typeface="Cambria Math" panose="02040503050406030204" pitchFamily="18" charset="0"/>
                        </a:rPr>
                        <m:t>𝑽𝒂𝒓</m:t>
                      </m:r>
                      <m:d>
                        <m:dPr>
                          <m:begChr m:val="["/>
                          <m:endChr m:val="]"/>
                          <m:ctrlPr>
                            <a:rPr lang="en-NZ" altLang="ja-JP" sz="1400" b="1" i="1" smtClean="0">
                              <a:solidFill>
                                <a:schemeClr val="bg2">
                                  <a:lumMod val="50000"/>
                                </a:schemeClr>
                              </a:solidFill>
                              <a:latin typeface="Cambria Math" panose="02040503050406030204" pitchFamily="18" charset="0"/>
                            </a:rPr>
                          </m:ctrlPr>
                        </m:dPr>
                        <m:e>
                          <m:r>
                            <a:rPr lang="en-NZ" altLang="ja-JP" sz="1400" b="1" i="1" smtClean="0">
                              <a:solidFill>
                                <a:schemeClr val="bg2">
                                  <a:lumMod val="50000"/>
                                </a:schemeClr>
                              </a:solidFill>
                              <a:latin typeface="Cambria Math" panose="02040503050406030204" pitchFamily="18" charset="0"/>
                            </a:rPr>
                            <m:t>  </m:t>
                          </m:r>
                          <m:nary>
                            <m:naryPr>
                              <m:chr m:val="∑"/>
                              <m:ctrlPr>
                                <a:rPr lang="en-NZ" altLang="ja-JP" sz="1400" b="1" i="1" smtClean="0">
                                  <a:solidFill>
                                    <a:schemeClr val="bg2">
                                      <a:lumMod val="50000"/>
                                    </a:schemeClr>
                                  </a:solidFill>
                                  <a:latin typeface="Cambria Math" panose="02040503050406030204" pitchFamily="18" charset="0"/>
                                </a:rPr>
                              </m:ctrlPr>
                            </m:naryPr>
                            <m:sub>
                              <m:r>
                                <m:rPr>
                                  <m:brk m:alnAt="23"/>
                                </m:rPr>
                                <a:rPr lang="en-NZ" altLang="ja-JP" sz="1400" b="1" i="1" smtClean="0">
                                  <a:solidFill>
                                    <a:schemeClr val="bg2">
                                      <a:lumMod val="50000"/>
                                    </a:schemeClr>
                                  </a:solidFill>
                                  <a:latin typeface="Cambria Math" panose="02040503050406030204" pitchFamily="18" charset="0"/>
                                </a:rPr>
                                <m:t>𝒍</m:t>
                              </m:r>
                              <m:r>
                                <a:rPr lang="en-NZ" altLang="ja-JP" sz="1400" b="1" i="1" smtClean="0">
                                  <a:solidFill>
                                    <a:schemeClr val="bg2">
                                      <a:lumMod val="50000"/>
                                    </a:schemeClr>
                                  </a:solidFill>
                                  <a:latin typeface="Cambria Math" panose="02040503050406030204" pitchFamily="18" charset="0"/>
                                </a:rPr>
                                <m:t>=</m:t>
                              </m:r>
                              <m:r>
                                <a:rPr lang="en-NZ" altLang="ja-JP" sz="1400" b="1" i="1" smtClean="0">
                                  <a:solidFill>
                                    <a:schemeClr val="bg2">
                                      <a:lumMod val="50000"/>
                                    </a:schemeClr>
                                  </a:solidFill>
                                  <a:latin typeface="Cambria Math" panose="02040503050406030204" pitchFamily="18" charset="0"/>
                                </a:rPr>
                                <m:t>𝟏</m:t>
                              </m:r>
                            </m:sub>
                            <m:sup>
                              <m:r>
                                <a:rPr lang="en-NZ" altLang="ja-JP" sz="1400" b="1" i="1" smtClean="0">
                                  <a:solidFill>
                                    <a:schemeClr val="bg2">
                                      <a:lumMod val="50000"/>
                                    </a:schemeClr>
                                  </a:solidFill>
                                  <a:latin typeface="Cambria Math" panose="02040503050406030204" pitchFamily="18" charset="0"/>
                                </a:rPr>
                                <m:t>𝒏</m:t>
                              </m:r>
                            </m:sup>
                            <m:e>
                              <m:sSub>
                                <m:sSubPr>
                                  <m:ctrlPr>
                                    <a:rPr lang="en-NZ" altLang="ja-JP" sz="1400" b="1" i="1" smtClean="0">
                                      <a:solidFill>
                                        <a:schemeClr val="bg2">
                                          <a:lumMod val="50000"/>
                                        </a:schemeClr>
                                      </a:solidFill>
                                      <a:latin typeface="Cambria Math" panose="02040503050406030204" pitchFamily="18" charset="0"/>
                                    </a:rPr>
                                  </m:ctrlPr>
                                </m:sSubPr>
                                <m:e>
                                  <m:r>
                                    <a:rPr lang="en-NZ" altLang="ja-JP" sz="1400" b="1" i="1" smtClean="0">
                                      <a:solidFill>
                                        <a:schemeClr val="bg2">
                                          <a:lumMod val="50000"/>
                                        </a:schemeClr>
                                      </a:solidFill>
                                      <a:latin typeface="Cambria Math" panose="02040503050406030204" pitchFamily="18" charset="0"/>
                                    </a:rPr>
                                    <m:t>𝒂</m:t>
                                  </m:r>
                                </m:e>
                                <m:sub>
                                  <m:r>
                                    <a:rPr lang="en-NZ" altLang="ja-JP" sz="1400" b="1" i="1" smtClean="0">
                                      <a:solidFill>
                                        <a:schemeClr val="bg2">
                                          <a:lumMod val="50000"/>
                                        </a:schemeClr>
                                      </a:solidFill>
                                      <a:latin typeface="Cambria Math" panose="02040503050406030204" pitchFamily="18" charset="0"/>
                                    </a:rPr>
                                    <m:t>𝒍</m:t>
                                  </m:r>
                                </m:sub>
                              </m:sSub>
                              <m:sSub>
                                <m:sSubPr>
                                  <m:ctrlPr>
                                    <a:rPr lang="en-NZ" altLang="ja-JP" sz="1400" b="1" i="1" smtClean="0">
                                      <a:solidFill>
                                        <a:schemeClr val="bg2">
                                          <a:lumMod val="50000"/>
                                        </a:schemeClr>
                                      </a:solidFill>
                                      <a:latin typeface="Cambria Math" panose="02040503050406030204" pitchFamily="18" charset="0"/>
                                    </a:rPr>
                                  </m:ctrlPr>
                                </m:sSubPr>
                                <m:e>
                                  <m:r>
                                    <a:rPr lang="en-NZ" altLang="ja-JP" sz="1400" b="1" i="1" smtClean="0">
                                      <a:solidFill>
                                        <a:schemeClr val="bg2">
                                          <a:lumMod val="50000"/>
                                        </a:schemeClr>
                                      </a:solidFill>
                                      <a:latin typeface="Cambria Math" panose="02040503050406030204" pitchFamily="18" charset="0"/>
                                    </a:rPr>
                                    <m:t>𝑿</m:t>
                                  </m:r>
                                </m:e>
                                <m:sub>
                                  <m:r>
                                    <a:rPr lang="en-NZ" altLang="ja-JP" sz="1400" b="1" i="1" smtClean="0">
                                      <a:solidFill>
                                        <a:schemeClr val="bg2">
                                          <a:lumMod val="50000"/>
                                        </a:schemeClr>
                                      </a:solidFill>
                                      <a:latin typeface="Cambria Math" panose="02040503050406030204" pitchFamily="18" charset="0"/>
                                    </a:rPr>
                                    <m:t>𝒍</m:t>
                                  </m:r>
                                </m:sub>
                              </m:sSub>
                            </m:e>
                          </m:nary>
                          <m:r>
                            <a:rPr lang="en-NZ" altLang="ja-JP" sz="1400" b="1" i="1" smtClean="0">
                              <a:solidFill>
                                <a:schemeClr val="bg2">
                                  <a:lumMod val="50000"/>
                                </a:schemeClr>
                              </a:solidFill>
                              <a:latin typeface="Cambria Math" panose="02040503050406030204" pitchFamily="18" charset="0"/>
                            </a:rPr>
                            <m:t> </m:t>
                          </m:r>
                        </m:e>
                      </m:d>
                      <m:r>
                        <a:rPr lang="en-NZ" altLang="ja-JP" sz="1400" b="1" i="1" smtClean="0">
                          <a:solidFill>
                            <a:schemeClr val="bg2">
                              <a:lumMod val="50000"/>
                            </a:schemeClr>
                          </a:solidFill>
                          <a:latin typeface="Cambria Math" panose="02040503050406030204" pitchFamily="18" charset="0"/>
                        </a:rPr>
                        <m:t> =  </m:t>
                      </m:r>
                      <m:nary>
                        <m:naryPr>
                          <m:chr m:val="∑"/>
                          <m:ctrlPr>
                            <a:rPr lang="en-NZ" altLang="ja-JP" sz="1400" b="1" i="1" smtClean="0">
                              <a:solidFill>
                                <a:schemeClr val="bg2">
                                  <a:lumMod val="50000"/>
                                </a:schemeClr>
                              </a:solidFill>
                              <a:latin typeface="Cambria Math" panose="02040503050406030204" pitchFamily="18" charset="0"/>
                            </a:rPr>
                          </m:ctrlPr>
                        </m:naryPr>
                        <m:sub>
                          <m:r>
                            <m:rPr>
                              <m:brk m:alnAt="23"/>
                            </m:rPr>
                            <a:rPr lang="en-NZ" altLang="ja-JP" sz="1400" b="1" i="1" smtClean="0">
                              <a:solidFill>
                                <a:schemeClr val="bg2">
                                  <a:lumMod val="50000"/>
                                </a:schemeClr>
                              </a:solidFill>
                              <a:latin typeface="Cambria Math" panose="02040503050406030204" pitchFamily="18" charset="0"/>
                            </a:rPr>
                            <m:t>𝒍</m:t>
                          </m:r>
                          <m:r>
                            <a:rPr lang="en-NZ" altLang="ja-JP" sz="1400" b="1" i="1" smtClean="0">
                              <a:solidFill>
                                <a:schemeClr val="bg2">
                                  <a:lumMod val="50000"/>
                                </a:schemeClr>
                              </a:solidFill>
                              <a:latin typeface="Cambria Math" panose="02040503050406030204" pitchFamily="18" charset="0"/>
                            </a:rPr>
                            <m:t>=</m:t>
                          </m:r>
                          <m:r>
                            <a:rPr lang="en-NZ" altLang="ja-JP" sz="1400" b="1" i="1" smtClean="0">
                              <a:solidFill>
                                <a:schemeClr val="bg2">
                                  <a:lumMod val="50000"/>
                                </a:schemeClr>
                              </a:solidFill>
                              <a:latin typeface="Cambria Math" panose="02040503050406030204" pitchFamily="18" charset="0"/>
                            </a:rPr>
                            <m:t>𝟏</m:t>
                          </m:r>
                        </m:sub>
                        <m:sup>
                          <m:r>
                            <a:rPr lang="en-NZ" altLang="ja-JP" sz="1400" b="1" i="1" smtClean="0">
                              <a:solidFill>
                                <a:schemeClr val="bg2">
                                  <a:lumMod val="50000"/>
                                </a:schemeClr>
                              </a:solidFill>
                              <a:latin typeface="Cambria Math" panose="02040503050406030204" pitchFamily="18" charset="0"/>
                            </a:rPr>
                            <m:t>𝒏</m:t>
                          </m:r>
                        </m:sup>
                        <m:e>
                          <m:sSubSup>
                            <m:sSubSupPr>
                              <m:ctrlPr>
                                <a:rPr lang="en-NZ" altLang="ja-JP" sz="1400" b="1" i="1" smtClean="0">
                                  <a:solidFill>
                                    <a:schemeClr val="bg2">
                                      <a:lumMod val="50000"/>
                                    </a:schemeClr>
                                  </a:solidFill>
                                  <a:latin typeface="Cambria Math" panose="02040503050406030204" pitchFamily="18" charset="0"/>
                                </a:rPr>
                              </m:ctrlPr>
                            </m:sSubSupPr>
                            <m:e>
                              <m:r>
                                <a:rPr lang="en-NZ" altLang="ja-JP" sz="1400" b="1" i="1" smtClean="0">
                                  <a:solidFill>
                                    <a:schemeClr val="bg2">
                                      <a:lumMod val="50000"/>
                                    </a:schemeClr>
                                  </a:solidFill>
                                  <a:latin typeface="Cambria Math" panose="02040503050406030204" pitchFamily="18" charset="0"/>
                                </a:rPr>
                                <m:t>𝒂</m:t>
                              </m:r>
                            </m:e>
                            <m:sub>
                              <m:r>
                                <a:rPr lang="en-NZ" altLang="ja-JP" sz="1400" b="1" i="1" smtClean="0">
                                  <a:solidFill>
                                    <a:schemeClr val="bg2">
                                      <a:lumMod val="50000"/>
                                    </a:schemeClr>
                                  </a:solidFill>
                                  <a:latin typeface="Cambria Math" panose="02040503050406030204" pitchFamily="18" charset="0"/>
                                </a:rPr>
                                <m:t>𝒍</m:t>
                              </m:r>
                            </m:sub>
                            <m:sup>
                              <m:r>
                                <a:rPr lang="en-NZ" altLang="ja-JP" sz="1400" b="1" i="1" smtClean="0">
                                  <a:solidFill>
                                    <a:schemeClr val="bg2">
                                      <a:lumMod val="50000"/>
                                    </a:schemeClr>
                                  </a:solidFill>
                                  <a:latin typeface="Cambria Math" panose="02040503050406030204" pitchFamily="18" charset="0"/>
                                </a:rPr>
                                <m:t>𝟐</m:t>
                              </m:r>
                            </m:sup>
                          </m:sSubSup>
                          <m:r>
                            <a:rPr lang="en-NZ" altLang="ja-JP" sz="1400" b="1" i="1" smtClean="0">
                              <a:solidFill>
                                <a:schemeClr val="bg2">
                                  <a:lumMod val="50000"/>
                                </a:schemeClr>
                              </a:solidFill>
                              <a:latin typeface="Cambria Math" panose="02040503050406030204" pitchFamily="18" charset="0"/>
                            </a:rPr>
                            <m:t> </m:t>
                          </m:r>
                          <m:r>
                            <a:rPr lang="en-NZ" altLang="ja-JP" sz="1400" b="1" i="1" smtClean="0">
                              <a:solidFill>
                                <a:schemeClr val="bg2">
                                  <a:lumMod val="50000"/>
                                </a:schemeClr>
                              </a:solidFill>
                              <a:latin typeface="Cambria Math" panose="02040503050406030204" pitchFamily="18" charset="0"/>
                            </a:rPr>
                            <m:t>𝑽𝒂𝒓</m:t>
                          </m:r>
                          <m:r>
                            <a:rPr lang="en-NZ" altLang="ja-JP" sz="1400" b="1" i="1" smtClean="0">
                              <a:solidFill>
                                <a:schemeClr val="bg2">
                                  <a:lumMod val="50000"/>
                                </a:schemeClr>
                              </a:solidFill>
                              <a:latin typeface="Cambria Math" panose="02040503050406030204" pitchFamily="18" charset="0"/>
                            </a:rPr>
                            <m:t>[ </m:t>
                          </m:r>
                          <m:sSub>
                            <m:sSubPr>
                              <m:ctrlPr>
                                <a:rPr lang="en-NZ" altLang="ja-JP" sz="1400" b="1" i="1" smtClean="0">
                                  <a:solidFill>
                                    <a:schemeClr val="bg2">
                                      <a:lumMod val="50000"/>
                                    </a:schemeClr>
                                  </a:solidFill>
                                  <a:latin typeface="Cambria Math" panose="02040503050406030204" pitchFamily="18" charset="0"/>
                                </a:rPr>
                              </m:ctrlPr>
                            </m:sSubPr>
                            <m:e>
                              <m:r>
                                <a:rPr lang="en-NZ" altLang="ja-JP" sz="1400" b="1" i="1" smtClean="0">
                                  <a:solidFill>
                                    <a:schemeClr val="bg2">
                                      <a:lumMod val="50000"/>
                                    </a:schemeClr>
                                  </a:solidFill>
                                  <a:latin typeface="Cambria Math" panose="02040503050406030204" pitchFamily="18" charset="0"/>
                                </a:rPr>
                                <m:t>𝑿</m:t>
                              </m:r>
                            </m:e>
                            <m:sub>
                              <m:r>
                                <a:rPr lang="en-NZ" altLang="ja-JP" sz="1400" b="1" i="1" smtClean="0">
                                  <a:solidFill>
                                    <a:schemeClr val="bg2">
                                      <a:lumMod val="50000"/>
                                    </a:schemeClr>
                                  </a:solidFill>
                                  <a:latin typeface="Cambria Math" panose="02040503050406030204" pitchFamily="18" charset="0"/>
                                </a:rPr>
                                <m:t>𝒍</m:t>
                              </m:r>
                            </m:sub>
                          </m:sSub>
                          <m:r>
                            <a:rPr lang="en-NZ" altLang="ja-JP" sz="1400" b="1" i="1" smtClean="0">
                              <a:solidFill>
                                <a:schemeClr val="bg2">
                                  <a:lumMod val="50000"/>
                                </a:schemeClr>
                              </a:solidFill>
                              <a:latin typeface="Cambria Math" panose="02040503050406030204" pitchFamily="18" charset="0"/>
                            </a:rPr>
                            <m:t>]</m:t>
                          </m:r>
                        </m:e>
                      </m:nary>
                    </m:oMath>
                  </m:oMathPara>
                </a14:m>
                <a:endParaRPr lang="en-NZ" altLang="ja-JP" sz="1400" b="1" i="1" dirty="0">
                  <a:solidFill>
                    <a:schemeClr val="bg2">
                      <a:lumMod val="50000"/>
                    </a:schemeClr>
                  </a:solidFill>
                </a:endParaRPr>
              </a:p>
            </p:txBody>
          </p:sp>
        </mc:Choice>
        <mc:Fallback xmlns="">
          <p:sp>
            <p:nvSpPr>
              <p:cNvPr id="26" name="Text Placeholder 5">
                <a:extLst>
                  <a:ext uri="{FF2B5EF4-FFF2-40B4-BE49-F238E27FC236}">
                    <a16:creationId xmlns:a16="http://schemas.microsoft.com/office/drawing/2014/main" id="{675A859B-A350-BB55-E960-1A35C6CC3DAC}"/>
                  </a:ext>
                </a:extLst>
              </p:cNvPr>
              <p:cNvSpPr txBox="1">
                <a:spLocks noRot="1" noChangeAspect="1" noMove="1" noResize="1" noEditPoints="1" noAdjustHandles="1" noChangeArrowheads="1" noChangeShapeType="1" noTextEdit="1"/>
              </p:cNvSpPr>
              <p:nvPr/>
            </p:nvSpPr>
            <p:spPr>
              <a:xfrm>
                <a:off x="7679140" y="4612618"/>
                <a:ext cx="3536031" cy="537540"/>
              </a:xfrm>
              <a:prstGeom prst="rect">
                <a:avLst/>
              </a:prstGeom>
              <a:blipFill>
                <a:blip r:embed="rId11"/>
                <a:stretch>
                  <a:fillRect b="-18182"/>
                </a:stretch>
              </a:blipFill>
            </p:spPr>
            <p:txBody>
              <a:bodyPr/>
              <a:lstStyle/>
              <a:p>
                <a:r>
                  <a:rPr lang="en-NZ">
                    <a:noFill/>
                  </a:rPr>
                  <a:t> </a:t>
                </a:r>
              </a:p>
            </p:txBody>
          </p:sp>
        </mc:Fallback>
      </mc:AlternateContent>
    </p:spTree>
    <p:extLst>
      <p:ext uri="{BB962C8B-B14F-4D97-AF65-F5344CB8AC3E}">
        <p14:creationId xmlns:p14="http://schemas.microsoft.com/office/powerpoint/2010/main" val="1171000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13" grpId="0"/>
      <p:bldP spid="14" grpId="0"/>
      <p:bldP spid="15" grpId="0"/>
      <p:bldP spid="16" grpId="0"/>
      <p:bldP spid="17" grpId="0"/>
      <p:bldP spid="18" grpId="0"/>
      <p:bldP spid="19" grpId="0"/>
      <p:bldP spid="20" grpId="0"/>
      <p:bldP spid="24" grpId="0"/>
      <p:bldP spid="2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21" name="Text Placeholder 5">
            <a:extLst>
              <a:ext uri="{FF2B5EF4-FFF2-40B4-BE49-F238E27FC236}">
                <a16:creationId xmlns:a16="http://schemas.microsoft.com/office/drawing/2014/main" id="{DBA0427A-F068-434B-84BF-17437B3BF697}"/>
              </a:ext>
            </a:extLst>
          </p:cNvPr>
          <p:cNvSpPr txBox="1">
            <a:spLocks/>
          </p:cNvSpPr>
          <p:nvPr/>
        </p:nvSpPr>
        <p:spPr>
          <a:xfrm>
            <a:off x="251224" y="926071"/>
            <a:ext cx="11232109"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We wish to test whether or not there is an effect of the treatment factor on the response variable.  </a:t>
            </a:r>
          </a:p>
          <a:p>
            <a:pPr algn="just">
              <a:lnSpc>
                <a:spcPct val="100000"/>
              </a:lnSpc>
            </a:pPr>
            <a:r>
              <a:rPr lang="en-NZ" altLang="ja-JP" sz="1800" dirty="0">
                <a:solidFill>
                  <a:schemeClr val="tx1"/>
                </a:solidFill>
              </a:rPr>
              <a:t>In other words, we want to test between the hypotheses:</a:t>
            </a:r>
          </a:p>
          <a:p>
            <a:pPr algn="just">
              <a:lnSpc>
                <a:spcPct val="100000"/>
              </a:lnSpc>
            </a:pPr>
            <a:r>
              <a:rPr lang="en-NZ" altLang="ja-JP" sz="1800" dirty="0">
                <a:solidFill>
                  <a:schemeClr val="tx1"/>
                </a:solidFill>
              </a:rPr>
              <a:t>  </a:t>
            </a:r>
          </a:p>
          <a:p>
            <a:pPr algn="just">
              <a:lnSpc>
                <a:spcPct val="100000"/>
              </a:lnSpc>
            </a:pPr>
            <a:endParaRPr lang="en-NZ" altLang="ja-JP" sz="1800" dirty="0">
              <a:solidFill>
                <a:schemeClr val="tx1"/>
              </a:solidFill>
            </a:endParaRPr>
          </a:p>
        </p:txBody>
      </p:sp>
      <mc:AlternateContent xmlns:mc="http://schemas.openxmlformats.org/markup-compatibility/2006" xmlns:a14="http://schemas.microsoft.com/office/drawing/2010/main">
        <mc:Choice Requires="a14">
          <p:sp>
            <p:nvSpPr>
              <p:cNvPr id="11" name="Text Placeholder 5">
                <a:extLst>
                  <a:ext uri="{FF2B5EF4-FFF2-40B4-BE49-F238E27FC236}">
                    <a16:creationId xmlns:a16="http://schemas.microsoft.com/office/drawing/2014/main" id="{D8C9BD56-764F-057D-6066-23B9AE53B472}"/>
                  </a:ext>
                </a:extLst>
              </p:cNvPr>
              <p:cNvSpPr txBox="1">
                <a:spLocks/>
              </p:cNvSpPr>
              <p:nvPr/>
            </p:nvSpPr>
            <p:spPr>
              <a:xfrm>
                <a:off x="1824248" y="1601414"/>
                <a:ext cx="3507477" cy="80144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𝟎</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𝟎</m:t>
                    </m:r>
                  </m:oMath>
                </a14:m>
                <a:r>
                  <a:rPr lang="en-NZ" altLang="ja-JP" sz="20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for all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=1, …, </m:t>
                    </m:r>
                    <m:r>
                      <a:rPr lang="en-NZ" altLang="ja-JP" sz="1600" b="0" i="1" smtClean="0">
                        <a:solidFill>
                          <a:schemeClr val="tx1"/>
                        </a:solidFill>
                        <a:latin typeface="Cambria Math" panose="02040503050406030204" pitchFamily="18" charset="0"/>
                      </a:rPr>
                      <m:t>𝑎</m:t>
                    </m:r>
                  </m:oMath>
                </a14:m>
                <a:r>
                  <a:rPr lang="en-NZ" altLang="ja-JP" sz="1600" dirty="0">
                    <a:solidFill>
                      <a:schemeClr val="tx1"/>
                    </a:solidFill>
                    <a:latin typeface="Cambria Math" panose="02040503050406030204" pitchFamily="18" charset="0"/>
                  </a:rPr>
                  <a:t> </a:t>
                </a:r>
                <a:br>
                  <a:rPr lang="en-NZ" altLang="ja-JP" sz="2000" b="1" i="1" dirty="0">
                    <a:solidFill>
                      <a:schemeClr val="tx1"/>
                    </a:solidFill>
                    <a:latin typeface="Cambria Math" panose="02040503050406030204" pitchFamily="18" charset="0"/>
                  </a:rPr>
                </a:br>
                <a14:m>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𝟏</m:t>
                        </m:r>
                      </m:sub>
                    </m:sSub>
                    <m:r>
                      <a:rPr lang="en-NZ" altLang="ja-JP" sz="2000" b="1" i="1">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𝟎</m:t>
                    </m:r>
                  </m:oMath>
                </a14:m>
                <a:r>
                  <a:rPr lang="en-NZ" altLang="ja-JP" sz="2000" b="1" dirty="0">
                    <a:solidFill>
                      <a:schemeClr val="tx1"/>
                    </a:solidFill>
                  </a:rPr>
                  <a:t>  </a:t>
                </a:r>
                <a:r>
                  <a:rPr lang="en-NZ" altLang="ja-JP" sz="1600" dirty="0">
                    <a:solidFill>
                      <a:schemeClr val="tx1"/>
                    </a:solidFill>
                  </a:rPr>
                  <a:t>for some </a:t>
                </a:r>
                <a14:m>
                  <m:oMath xmlns:m="http://schemas.openxmlformats.org/officeDocument/2006/math">
                    <m:r>
                      <a:rPr lang="en-NZ" altLang="ja-JP" sz="1600" b="0" i="1" smtClean="0">
                        <a:solidFill>
                          <a:schemeClr val="tx1"/>
                        </a:solidFill>
                        <a:latin typeface="Cambria Math" panose="02040503050406030204" pitchFamily="18" charset="0"/>
                      </a:rPr>
                      <m:t>𝑖</m:t>
                    </m:r>
                  </m:oMath>
                </a14:m>
                <a:endParaRPr lang="en-NZ" altLang="ja-JP" sz="1600" dirty="0">
                  <a:solidFill>
                    <a:schemeClr val="tx1"/>
                  </a:solidFill>
                </a:endParaRPr>
              </a:p>
            </p:txBody>
          </p:sp>
        </mc:Choice>
        <mc:Fallback xmlns="">
          <p:sp>
            <p:nvSpPr>
              <p:cNvPr id="11" name="Text Placeholder 5">
                <a:extLst>
                  <a:ext uri="{FF2B5EF4-FFF2-40B4-BE49-F238E27FC236}">
                    <a16:creationId xmlns:a16="http://schemas.microsoft.com/office/drawing/2014/main" id="{D8C9BD56-764F-057D-6066-23B9AE53B472}"/>
                  </a:ext>
                </a:extLst>
              </p:cNvPr>
              <p:cNvSpPr txBox="1">
                <a:spLocks noRot="1" noChangeAspect="1" noMove="1" noResize="1" noEditPoints="1" noAdjustHandles="1" noChangeArrowheads="1" noChangeShapeType="1" noTextEdit="1"/>
              </p:cNvSpPr>
              <p:nvPr/>
            </p:nvSpPr>
            <p:spPr>
              <a:xfrm>
                <a:off x="1824248" y="1601414"/>
                <a:ext cx="3507477" cy="801442"/>
              </a:xfrm>
              <a:prstGeom prst="rect">
                <a:avLst/>
              </a:prstGeom>
              <a:blipFill>
                <a:blip r:embed="rId2"/>
                <a:stretch>
                  <a:fillRect/>
                </a:stretch>
              </a:blipFill>
            </p:spPr>
            <p:txBody>
              <a:bodyPr/>
              <a:lstStyle/>
              <a:p>
                <a:r>
                  <a:rPr lang="en-NZ">
                    <a:noFill/>
                  </a:rPr>
                  <a:t> </a:t>
                </a:r>
              </a:p>
            </p:txBody>
          </p:sp>
        </mc:Fallback>
      </mc:AlternateContent>
      <p:sp>
        <p:nvSpPr>
          <p:cNvPr id="12" name="Text Placeholder 5">
            <a:extLst>
              <a:ext uri="{FF2B5EF4-FFF2-40B4-BE49-F238E27FC236}">
                <a16:creationId xmlns:a16="http://schemas.microsoft.com/office/drawing/2014/main" id="{E259E229-7310-C000-4A02-15BC212A595C}"/>
              </a:ext>
            </a:extLst>
          </p:cNvPr>
          <p:cNvSpPr txBox="1">
            <a:spLocks/>
          </p:cNvSpPr>
          <p:nvPr/>
        </p:nvSpPr>
        <p:spPr>
          <a:xfrm>
            <a:off x="314916" y="2515053"/>
            <a:ext cx="11232109"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We are </a:t>
            </a:r>
            <a:r>
              <a:rPr lang="en-NZ" altLang="ja-JP" sz="1800" b="1" u="sng" dirty="0">
                <a:solidFill>
                  <a:schemeClr val="tx1"/>
                </a:solidFill>
              </a:rPr>
              <a:t>NOT</a:t>
            </a:r>
            <a:r>
              <a:rPr lang="en-NZ" altLang="ja-JP" sz="1800" dirty="0">
                <a:solidFill>
                  <a:schemeClr val="tx1"/>
                </a:solidFill>
              </a:rPr>
              <a:t> interested in testing whether the blocking factor (the nuisance variable) has an effect on the response variable. We have assumed a priori that it does and we are trying to control for this.</a:t>
            </a:r>
          </a:p>
          <a:p>
            <a:pPr algn="just">
              <a:lnSpc>
                <a:spcPct val="100000"/>
              </a:lnSpc>
            </a:pPr>
            <a:r>
              <a:rPr lang="en-NZ" altLang="ja-JP" sz="1800" dirty="0">
                <a:solidFill>
                  <a:schemeClr val="tx1"/>
                </a:solidFill>
              </a:rPr>
              <a:t>  </a:t>
            </a:r>
          </a:p>
          <a:p>
            <a:pPr algn="just">
              <a:lnSpc>
                <a:spcPct val="100000"/>
              </a:lnSpc>
            </a:pPr>
            <a:endParaRPr lang="en-NZ" altLang="ja-JP" sz="1800" dirty="0">
              <a:solidFill>
                <a:schemeClr val="tx1"/>
              </a:solidFill>
            </a:endParaRPr>
          </a:p>
        </p:txBody>
      </p:sp>
      <p:sp>
        <p:nvSpPr>
          <p:cNvPr id="13" name="Title 6">
            <a:extLst>
              <a:ext uri="{FF2B5EF4-FFF2-40B4-BE49-F238E27FC236}">
                <a16:creationId xmlns:a16="http://schemas.microsoft.com/office/drawing/2014/main" id="{539E1FA8-24B4-FFD9-7C26-8B31D6C98125}"/>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4.3a – The Fixed Effects Model</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4" name="Text Placeholder 5">
            <a:extLst>
              <a:ext uri="{FF2B5EF4-FFF2-40B4-BE49-F238E27FC236}">
                <a16:creationId xmlns:a16="http://schemas.microsoft.com/office/drawing/2014/main" id="{0F75741B-66FB-9838-EF7C-681AC5447CBE}"/>
              </a:ext>
            </a:extLst>
          </p:cNvPr>
          <p:cNvSpPr txBox="1">
            <a:spLocks/>
          </p:cNvSpPr>
          <p:nvPr/>
        </p:nvSpPr>
        <p:spPr>
          <a:xfrm>
            <a:off x="479945" y="3781842"/>
            <a:ext cx="11232109" cy="92678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 study is undertaken to determine whether there is any difference in the ability of two prescription drugs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Atorvastatin</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and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Pravastatin</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to reduce the level of cholesterol in the blood stream of patients. Since cholesterol levels are known to increase with age, the age of study participants is a nuisance variable. </a:t>
            </a:r>
          </a:p>
        </p:txBody>
      </p:sp>
      <p:sp>
        <p:nvSpPr>
          <p:cNvPr id="15" name="Text Placeholder 5">
            <a:extLst>
              <a:ext uri="{FF2B5EF4-FFF2-40B4-BE49-F238E27FC236}">
                <a16:creationId xmlns:a16="http://schemas.microsoft.com/office/drawing/2014/main" id="{EDC82C99-A7B6-526D-1EE6-8402309D108D}"/>
              </a:ext>
            </a:extLst>
          </p:cNvPr>
          <p:cNvSpPr txBox="1">
            <a:spLocks/>
          </p:cNvSpPr>
          <p:nvPr/>
        </p:nvSpPr>
        <p:spPr>
          <a:xfrm>
            <a:off x="479945" y="3316495"/>
            <a:ext cx="1594514" cy="46534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1" i="1" u="sng"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Example:</a:t>
            </a:r>
          </a:p>
        </p:txBody>
      </p:sp>
      <p:sp>
        <p:nvSpPr>
          <p:cNvPr id="16" name="Text Placeholder 5">
            <a:extLst>
              <a:ext uri="{FF2B5EF4-FFF2-40B4-BE49-F238E27FC236}">
                <a16:creationId xmlns:a16="http://schemas.microsoft.com/office/drawing/2014/main" id="{4FB404EE-D5C8-8865-3AB6-77CB2BE2C4FF}"/>
              </a:ext>
            </a:extLst>
          </p:cNvPr>
          <p:cNvSpPr txBox="1">
            <a:spLocks/>
          </p:cNvSpPr>
          <p:nvPr/>
        </p:nvSpPr>
        <p:spPr>
          <a:xfrm>
            <a:off x="709683" y="4918842"/>
            <a:ext cx="5386318" cy="160213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Response Variable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Cholesterol level</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prstClr val="black"/>
                </a:solidFill>
                <a:latin typeface="Calibri" panose="020F0502020204030204"/>
                <a:ea typeface="游ゴシック" panose="020B0400000000000000" pitchFamily="34" charset="-128"/>
              </a:rPr>
              <a:t>Treatment Factor </a:t>
            </a:r>
            <a:r>
              <a:rPr lang="en-NZ" altLang="ja-JP" sz="1800" dirty="0">
                <a:solidFill>
                  <a:prstClr val="black"/>
                </a:solidFill>
                <a:latin typeface="Calibri" panose="020F0502020204030204"/>
                <a:ea typeface="游ゴシック" panose="020B0400000000000000" pitchFamily="34" charset="-128"/>
              </a:rPr>
              <a:t>	</a:t>
            </a:r>
            <a:r>
              <a:rPr lang="en-NZ" altLang="ja-JP" sz="1800">
                <a:solidFill>
                  <a:prstClr val="black"/>
                </a:solidFill>
                <a:latin typeface="Calibri" panose="020F0502020204030204"/>
                <a:ea typeface="游ゴシック" panose="020B0400000000000000" pitchFamily="34" charset="-128"/>
              </a:rPr>
              <a:t>   Prescription </a:t>
            </a:r>
            <a:r>
              <a:rPr lang="en-NZ" altLang="ja-JP" sz="1800" dirty="0">
                <a:solidFill>
                  <a:prstClr val="black"/>
                </a:solidFill>
                <a:latin typeface="Calibri" panose="020F0502020204030204"/>
                <a:ea typeface="游ゴシック" panose="020B0400000000000000" pitchFamily="34" charset="-128"/>
              </a:rPr>
              <a:t>drug</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Treatment</a:t>
            </a:r>
            <a:r>
              <a:rPr lang="en-NZ" altLang="ja-JP" sz="1800" b="1" dirty="0">
                <a:solidFill>
                  <a:prstClr val="black"/>
                </a:solidFill>
                <a:latin typeface="Calibri" panose="020F0502020204030204"/>
                <a:ea typeface="游ゴシック" panose="020B0400000000000000" pitchFamily="34" charset="-128"/>
              </a:rPr>
              <a:t> Levels</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800" b="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Atorvastatin, Pravastatin</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prstClr val="black"/>
                </a:solidFill>
                <a:latin typeface="Calibri" panose="020F0502020204030204"/>
                <a:ea typeface="游ゴシック" panose="020B0400000000000000" pitchFamily="34" charset="-128"/>
              </a:rPr>
              <a:t>Blocking Factor</a:t>
            </a:r>
            <a:r>
              <a:rPr lang="en-NZ" altLang="ja-JP" sz="1800" dirty="0">
                <a:solidFill>
                  <a:prstClr val="black"/>
                </a:solidFill>
                <a:latin typeface="Calibri" panose="020F0502020204030204"/>
                <a:ea typeface="游ゴシック" panose="020B0400000000000000" pitchFamily="34" charset="-128"/>
              </a:rPr>
              <a:t>	   Age</a:t>
            </a:r>
            <a:endParaRPr kumimoji="1" lang="en-NZ" altLang="ja-JP" sz="1800" b="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algn="just">
              <a:lnSpc>
                <a:spcPct val="100000"/>
              </a:lnSpc>
              <a:defRPr/>
            </a:pPr>
            <a:r>
              <a:rPr lang="en-NZ" altLang="ja-JP" sz="1800" b="1" dirty="0">
                <a:solidFill>
                  <a:prstClr val="black"/>
                </a:solidFill>
              </a:rPr>
              <a:t>Blocking Levels</a:t>
            </a:r>
            <a:r>
              <a:rPr lang="en-NZ" altLang="ja-JP" sz="1800" dirty="0">
                <a:solidFill>
                  <a:prstClr val="black"/>
                </a:solidFill>
              </a:rPr>
              <a:t>	   18-30, 31-40, 41-50, 51-65, 65+</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7" name="Left Brace 16">
            <a:extLst>
              <a:ext uri="{FF2B5EF4-FFF2-40B4-BE49-F238E27FC236}">
                <a16:creationId xmlns:a16="http://schemas.microsoft.com/office/drawing/2014/main" id="{42AE3FE7-EE1B-96DC-88D4-CC26BB1A4369}"/>
              </a:ext>
            </a:extLst>
          </p:cNvPr>
          <p:cNvSpPr/>
          <p:nvPr/>
        </p:nvSpPr>
        <p:spPr>
          <a:xfrm rot="10800000">
            <a:off x="6095999" y="5060464"/>
            <a:ext cx="356383" cy="128574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Placeholder 5">
            <a:extLst>
              <a:ext uri="{FF2B5EF4-FFF2-40B4-BE49-F238E27FC236}">
                <a16:creationId xmlns:a16="http://schemas.microsoft.com/office/drawing/2014/main" id="{CF7E9953-5D7C-7796-A6EB-D04C5D02D61C}"/>
              </a:ext>
            </a:extLst>
          </p:cNvPr>
          <p:cNvSpPr txBox="1">
            <a:spLocks/>
          </p:cNvSpPr>
          <p:nvPr/>
        </p:nvSpPr>
        <p:spPr>
          <a:xfrm>
            <a:off x="6621769" y="5060464"/>
            <a:ext cx="4746816" cy="151596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600" i="1" dirty="0">
                <a:solidFill>
                  <a:srgbClr val="E7E6E6">
                    <a:lumMod val="50000"/>
                  </a:srgbClr>
                </a:solidFill>
              </a:rPr>
              <a:t>We are </a:t>
            </a:r>
            <a:r>
              <a:rPr kumimoji="1" lang="en-NZ" altLang="ja-JP" sz="16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rPr>
              <a:t>interested </a:t>
            </a:r>
            <a:r>
              <a:rPr lang="en-NZ" altLang="ja-JP" sz="1600" i="1" dirty="0">
                <a:solidFill>
                  <a:srgbClr val="E7E6E6">
                    <a:lumMod val="50000"/>
                  </a:srgbClr>
                </a:solidFill>
                <a:latin typeface="Calibri" panose="020F0502020204030204"/>
                <a:ea typeface="游ゴシック" panose="020B0400000000000000" pitchFamily="34" charset="-128"/>
              </a:rPr>
              <a:t>in testing whether Atorvastatin or Pravastatin is better at reducing cholesterol.</a:t>
            </a:r>
            <a:br>
              <a:rPr lang="en-NZ" altLang="ja-JP" sz="1600" i="1" dirty="0">
                <a:solidFill>
                  <a:srgbClr val="E7E6E6">
                    <a:lumMod val="50000"/>
                  </a:srgbClr>
                </a:solidFill>
                <a:latin typeface="Calibri" panose="020F0502020204030204"/>
                <a:ea typeface="游ゴシック" panose="020B0400000000000000" pitchFamily="34" charset="-128"/>
              </a:rPr>
            </a:br>
            <a:endParaRPr lang="en-NZ" altLang="ja-JP" sz="1600" i="1" dirty="0">
              <a:solidFill>
                <a:srgbClr val="E7E6E6">
                  <a:lumMod val="50000"/>
                </a:srgbClr>
              </a:solidFill>
              <a:latin typeface="Calibri" panose="020F0502020204030204"/>
              <a:ea typeface="游ゴシック" panose="020B0400000000000000" pitchFamily="34" charset="-128"/>
            </a:endParaRP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rPr>
              <a:t>We are not interested in testing whether age has an effect on cholesterol.</a:t>
            </a:r>
            <a:r>
              <a:rPr kumimoji="1" lang="en-NZ" altLang="ja-JP" sz="1600" i="1" u="none" strike="noStrike" kern="1200" cap="none" spc="0" normalizeH="0" noProof="0" dirty="0">
                <a:ln>
                  <a:noFill/>
                </a:ln>
                <a:solidFill>
                  <a:srgbClr val="E7E6E6">
                    <a:lumMod val="50000"/>
                  </a:srgbClr>
                </a:solidFill>
                <a:effectLst/>
                <a:uLnTx/>
                <a:uFillTx/>
                <a:latin typeface="Calibri" panose="020F0502020204030204"/>
                <a:ea typeface="游ゴシック" panose="020B0400000000000000" pitchFamily="34" charset="-128"/>
              </a:rPr>
              <a:t> We want to control for this.</a:t>
            </a:r>
            <a:endParaRPr kumimoji="1" lang="en-NZ" altLang="ja-JP" sz="160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endParaRP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endParaRPr>
          </a:p>
        </p:txBody>
      </p:sp>
      <p:sp>
        <p:nvSpPr>
          <p:cNvPr id="19" name="Footer Placeholder 2">
            <a:extLst>
              <a:ext uri="{FF2B5EF4-FFF2-40B4-BE49-F238E27FC236}">
                <a16:creationId xmlns:a16="http://schemas.microsoft.com/office/drawing/2014/main" id="{7B7A5402-5147-BD16-DFD4-6E7CD4ABB18C}"/>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4.3 – </a:t>
            </a:r>
            <a:r>
              <a:rPr kumimoji="1" lang="en-US" altLang="ja-JP" sz="1600" dirty="0">
                <a:solidFill>
                  <a:srgbClr val="DEDDDD"/>
                </a:solidFill>
                <a:latin typeface="Gidole"/>
                <a:ea typeface="游ゴシック" panose="020B0400000000000000" pitchFamily="34" charset="-128"/>
              </a:rPr>
              <a:t>Fixed Effects Model</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18A0A827-9B72-EFA1-2791-FBF0841DA538}"/>
                  </a:ext>
                </a:extLst>
              </p:cNvPr>
              <p:cNvSpPr txBox="1">
                <a:spLocks/>
              </p:cNvSpPr>
              <p:nvPr/>
            </p:nvSpPr>
            <p:spPr>
              <a:xfrm>
                <a:off x="5905947" y="1719015"/>
                <a:ext cx="5462638"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𝒀</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𝒊𝒋𝒌</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𝝁</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𝜶</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𝜷</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𝒋</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𝝐</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𝒊𝒋𝒌</m:t>
                          </m:r>
                        </m:sub>
                      </m:sSub>
                    </m:oMath>
                  </m:oMathPara>
                </a14:m>
                <a:endParaRPr kumimoji="1" lang="en-NZ" altLang="ja-JP" sz="18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0" name="Text Placeholder 5">
                <a:extLst>
                  <a:ext uri="{FF2B5EF4-FFF2-40B4-BE49-F238E27FC236}">
                    <a16:creationId xmlns:a16="http://schemas.microsoft.com/office/drawing/2014/main" id="{18A0A827-9B72-EFA1-2791-FBF0841DA538}"/>
                  </a:ext>
                </a:extLst>
              </p:cNvPr>
              <p:cNvSpPr txBox="1">
                <a:spLocks noRot="1" noChangeAspect="1" noMove="1" noResize="1" noEditPoints="1" noAdjustHandles="1" noChangeArrowheads="1" noChangeShapeType="1" noTextEdit="1"/>
              </p:cNvSpPr>
              <p:nvPr/>
            </p:nvSpPr>
            <p:spPr>
              <a:xfrm>
                <a:off x="5905947" y="1719015"/>
                <a:ext cx="5462638" cy="474953"/>
              </a:xfrm>
              <a:prstGeom prst="rect">
                <a:avLst/>
              </a:prstGeom>
              <a:blipFill>
                <a:blip r:embed="rId3"/>
                <a:stretch>
                  <a:fillRect/>
                </a:stretch>
              </a:blipFill>
            </p:spPr>
            <p:txBody>
              <a:bodyPr/>
              <a:lstStyle/>
              <a:p>
                <a:r>
                  <a:rPr lang="en-NZ">
                    <a:noFill/>
                  </a:rPr>
                  <a:t> </a:t>
                </a:r>
              </a:p>
            </p:txBody>
          </p:sp>
        </mc:Fallback>
      </mc:AlternateContent>
    </p:spTree>
    <p:extLst>
      <p:ext uri="{BB962C8B-B14F-4D97-AF65-F5344CB8AC3E}">
        <p14:creationId xmlns:p14="http://schemas.microsoft.com/office/powerpoint/2010/main" val="1181965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5" grpId="0"/>
      <p:bldP spid="16" grpId="0"/>
      <p:bldP spid="17" grpId="0" animBg="1"/>
      <p:bldP spid="1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21" name="Text Placeholder 5">
            <a:extLst>
              <a:ext uri="{FF2B5EF4-FFF2-40B4-BE49-F238E27FC236}">
                <a16:creationId xmlns:a16="http://schemas.microsoft.com/office/drawing/2014/main" id="{DBA0427A-F068-434B-84BF-17437B3BF697}"/>
              </a:ext>
            </a:extLst>
          </p:cNvPr>
          <p:cNvSpPr txBox="1">
            <a:spLocks/>
          </p:cNvSpPr>
          <p:nvPr/>
        </p:nvSpPr>
        <p:spPr>
          <a:xfrm>
            <a:off x="251224" y="1267265"/>
            <a:ext cx="11232109"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Strictly speaking the experimental set up of a randomised block design prevents us from being able to test for blocking effects anyway…</a:t>
            </a:r>
          </a:p>
          <a:p>
            <a:pPr algn="just">
              <a:lnSpc>
                <a:spcPct val="100000"/>
              </a:lnSpc>
            </a:pPr>
            <a:r>
              <a:rPr lang="en-NZ" altLang="ja-JP" sz="1800" dirty="0">
                <a:solidFill>
                  <a:schemeClr val="tx1"/>
                </a:solidFill>
              </a:rPr>
              <a:t>  </a:t>
            </a:r>
          </a:p>
          <a:p>
            <a:pPr algn="just">
              <a:lnSpc>
                <a:spcPct val="100000"/>
              </a:lnSpc>
            </a:pPr>
            <a:endParaRPr lang="en-NZ" altLang="ja-JP" sz="1800" dirty="0">
              <a:solidFill>
                <a:schemeClr val="tx1"/>
              </a:solidFill>
            </a:endParaRPr>
          </a:p>
        </p:txBody>
      </p:sp>
      <p:sp>
        <p:nvSpPr>
          <p:cNvPr id="13" name="Title 6">
            <a:extLst>
              <a:ext uri="{FF2B5EF4-FFF2-40B4-BE49-F238E27FC236}">
                <a16:creationId xmlns:a16="http://schemas.microsoft.com/office/drawing/2014/main" id="{539E1FA8-24B4-FFD9-7C26-8B31D6C98125}"/>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4.3a – The Fixed Effects Model</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9" name="Text Placeholder 5">
            <a:extLst>
              <a:ext uri="{FF2B5EF4-FFF2-40B4-BE49-F238E27FC236}">
                <a16:creationId xmlns:a16="http://schemas.microsoft.com/office/drawing/2014/main" id="{A2A5FDED-F2AE-1517-795B-AFB3524DED72}"/>
              </a:ext>
            </a:extLst>
          </p:cNvPr>
          <p:cNvSpPr txBox="1">
            <a:spLocks/>
          </p:cNvSpPr>
          <p:nvPr/>
        </p:nvSpPr>
        <p:spPr>
          <a:xfrm>
            <a:off x="736979" y="2027167"/>
            <a:ext cx="10746354" cy="197162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i="1" dirty="0">
                <a:solidFill>
                  <a:schemeClr val="accent1">
                    <a:lumMod val="75000"/>
                  </a:schemeClr>
                </a:solidFill>
              </a:rPr>
              <a:t>While the RBD model might look like the model for a two-way ANOVA (without interactions), </a:t>
            </a:r>
            <a:br>
              <a:rPr lang="en-NZ" altLang="ja-JP" sz="1800" i="1" dirty="0">
                <a:solidFill>
                  <a:schemeClr val="accent1">
                    <a:lumMod val="75000"/>
                  </a:schemeClr>
                </a:solidFill>
              </a:rPr>
            </a:br>
            <a:r>
              <a:rPr lang="en-NZ" altLang="ja-JP" sz="1800" i="1" dirty="0">
                <a:solidFill>
                  <a:schemeClr val="accent1">
                    <a:lumMod val="75000"/>
                  </a:schemeClr>
                </a:solidFill>
              </a:rPr>
              <a:t>treatments in a RBD are allocated randomly within blocks, not completely at random over the experimental units as in a two-way ANOVA design. </a:t>
            </a:r>
          </a:p>
          <a:p>
            <a:pPr algn="just">
              <a:lnSpc>
                <a:spcPct val="100000"/>
              </a:lnSpc>
            </a:pPr>
            <a:endParaRPr lang="en-NZ" altLang="ja-JP" sz="1800" i="1" dirty="0">
              <a:solidFill>
                <a:schemeClr val="accent1">
                  <a:lumMod val="75000"/>
                </a:schemeClr>
              </a:solidFill>
            </a:endParaRPr>
          </a:p>
          <a:p>
            <a:pPr>
              <a:lnSpc>
                <a:spcPct val="100000"/>
              </a:lnSpc>
            </a:pPr>
            <a:r>
              <a:rPr lang="en-NZ" altLang="ja-JP" sz="1800" i="1" dirty="0">
                <a:solidFill>
                  <a:schemeClr val="accent1">
                    <a:lumMod val="75000"/>
                  </a:schemeClr>
                </a:solidFill>
              </a:rPr>
              <a:t>This means that whilst we may test for treatment effects allowing for blocking effects…</a:t>
            </a:r>
            <a:br>
              <a:rPr lang="en-NZ" altLang="ja-JP" sz="1800" i="1" dirty="0">
                <a:solidFill>
                  <a:schemeClr val="accent1">
                    <a:lumMod val="75000"/>
                  </a:schemeClr>
                </a:solidFill>
              </a:rPr>
            </a:br>
            <a:r>
              <a:rPr lang="en-NZ" altLang="ja-JP" sz="1800" i="1" dirty="0">
                <a:solidFill>
                  <a:schemeClr val="accent1">
                    <a:lumMod val="75000"/>
                  </a:schemeClr>
                </a:solidFill>
              </a:rPr>
              <a:t>the test of blocks allowing for treatments would not be valid as conditions of randomness for this test are not properly met.  </a:t>
            </a:r>
          </a:p>
          <a:p>
            <a:pPr algn="just">
              <a:lnSpc>
                <a:spcPct val="100000"/>
              </a:lnSpc>
            </a:pPr>
            <a:endParaRPr lang="en-NZ" altLang="ja-JP" sz="1800" i="1" dirty="0">
              <a:solidFill>
                <a:schemeClr val="accent1">
                  <a:lumMod val="75000"/>
                </a:schemeClr>
              </a:solidFill>
            </a:endParaRPr>
          </a:p>
        </p:txBody>
      </p:sp>
      <p:sp>
        <p:nvSpPr>
          <p:cNvPr id="20" name="Text Placeholder 5">
            <a:extLst>
              <a:ext uri="{FF2B5EF4-FFF2-40B4-BE49-F238E27FC236}">
                <a16:creationId xmlns:a16="http://schemas.microsoft.com/office/drawing/2014/main" id="{645ADC35-9826-E030-B40E-92F636A9B524}"/>
              </a:ext>
            </a:extLst>
          </p:cNvPr>
          <p:cNvSpPr txBox="1">
            <a:spLocks/>
          </p:cNvSpPr>
          <p:nvPr/>
        </p:nvSpPr>
        <p:spPr>
          <a:xfrm>
            <a:off x="251224" y="4463265"/>
            <a:ext cx="11232109" cy="4182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We want to test whether or not there is an effect of the treatment factor on the response variable.    </a:t>
            </a:r>
          </a:p>
          <a:p>
            <a:pPr algn="just">
              <a:lnSpc>
                <a:spcPct val="100000"/>
              </a:lnSpc>
            </a:pPr>
            <a:endParaRPr lang="en-NZ" altLang="ja-JP" sz="1800" dirty="0">
              <a:solidFill>
                <a:schemeClr val="tx1"/>
              </a:solidFill>
            </a:endParaRPr>
          </a:p>
        </p:txBody>
      </p:sp>
      <mc:AlternateContent xmlns:mc="http://schemas.openxmlformats.org/markup-compatibility/2006" xmlns:a14="http://schemas.microsoft.com/office/drawing/2010/main">
        <mc:Choice Requires="a14">
          <p:sp>
            <p:nvSpPr>
              <p:cNvPr id="22" name="Text Placeholder 5">
                <a:extLst>
                  <a:ext uri="{FF2B5EF4-FFF2-40B4-BE49-F238E27FC236}">
                    <a16:creationId xmlns:a16="http://schemas.microsoft.com/office/drawing/2014/main" id="{9D9799E0-A307-0D49-2819-EFA783728A81}"/>
                  </a:ext>
                </a:extLst>
              </p:cNvPr>
              <p:cNvSpPr txBox="1">
                <a:spLocks/>
              </p:cNvSpPr>
              <p:nvPr/>
            </p:nvSpPr>
            <p:spPr>
              <a:xfrm>
                <a:off x="1319281" y="4899032"/>
                <a:ext cx="3507477" cy="80144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𝟎</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𝟎</m:t>
                    </m:r>
                  </m:oMath>
                </a14:m>
                <a:r>
                  <a:rPr lang="en-NZ" altLang="ja-JP" sz="20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for all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=1, …, </m:t>
                    </m:r>
                    <m:r>
                      <a:rPr lang="en-NZ" altLang="ja-JP" sz="1600" b="0" i="1" smtClean="0">
                        <a:solidFill>
                          <a:schemeClr val="tx1"/>
                        </a:solidFill>
                        <a:latin typeface="Cambria Math" panose="02040503050406030204" pitchFamily="18" charset="0"/>
                      </a:rPr>
                      <m:t>𝑎</m:t>
                    </m:r>
                  </m:oMath>
                </a14:m>
                <a:r>
                  <a:rPr lang="en-NZ" altLang="ja-JP" sz="1600" dirty="0">
                    <a:solidFill>
                      <a:schemeClr val="tx1"/>
                    </a:solidFill>
                    <a:latin typeface="Cambria Math" panose="02040503050406030204" pitchFamily="18" charset="0"/>
                  </a:rPr>
                  <a:t> </a:t>
                </a:r>
                <a:br>
                  <a:rPr lang="en-NZ" altLang="ja-JP" sz="2000" b="1" i="1" dirty="0">
                    <a:solidFill>
                      <a:schemeClr val="tx1"/>
                    </a:solidFill>
                    <a:latin typeface="Cambria Math" panose="02040503050406030204" pitchFamily="18" charset="0"/>
                  </a:rPr>
                </a:br>
                <a14:m>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𝟏</m:t>
                        </m:r>
                      </m:sub>
                    </m:sSub>
                    <m:r>
                      <a:rPr lang="en-NZ" altLang="ja-JP" sz="2000" b="1" i="1">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𝟎</m:t>
                    </m:r>
                  </m:oMath>
                </a14:m>
                <a:r>
                  <a:rPr lang="en-NZ" altLang="ja-JP" sz="2000" b="1" dirty="0">
                    <a:solidFill>
                      <a:schemeClr val="tx1"/>
                    </a:solidFill>
                  </a:rPr>
                  <a:t>  </a:t>
                </a:r>
                <a:r>
                  <a:rPr lang="en-NZ" altLang="ja-JP" sz="1600" dirty="0">
                    <a:solidFill>
                      <a:schemeClr val="tx1"/>
                    </a:solidFill>
                  </a:rPr>
                  <a:t>for some </a:t>
                </a:r>
                <a14:m>
                  <m:oMath xmlns:m="http://schemas.openxmlformats.org/officeDocument/2006/math">
                    <m:r>
                      <a:rPr lang="en-NZ" altLang="ja-JP" sz="1600" b="0" i="1" smtClean="0">
                        <a:solidFill>
                          <a:schemeClr val="tx1"/>
                        </a:solidFill>
                        <a:latin typeface="Cambria Math" panose="02040503050406030204" pitchFamily="18" charset="0"/>
                      </a:rPr>
                      <m:t>𝑖</m:t>
                    </m:r>
                  </m:oMath>
                </a14:m>
                <a:endParaRPr lang="en-NZ" altLang="ja-JP" sz="1600" dirty="0">
                  <a:solidFill>
                    <a:schemeClr val="tx1"/>
                  </a:solidFill>
                </a:endParaRPr>
              </a:p>
            </p:txBody>
          </p:sp>
        </mc:Choice>
        <mc:Fallback xmlns="">
          <p:sp>
            <p:nvSpPr>
              <p:cNvPr id="22" name="Text Placeholder 5">
                <a:extLst>
                  <a:ext uri="{FF2B5EF4-FFF2-40B4-BE49-F238E27FC236}">
                    <a16:creationId xmlns:a16="http://schemas.microsoft.com/office/drawing/2014/main" id="{9D9799E0-A307-0D49-2819-EFA783728A81}"/>
                  </a:ext>
                </a:extLst>
              </p:cNvPr>
              <p:cNvSpPr txBox="1">
                <a:spLocks noRot="1" noChangeAspect="1" noMove="1" noResize="1" noEditPoints="1" noAdjustHandles="1" noChangeArrowheads="1" noChangeShapeType="1" noTextEdit="1"/>
              </p:cNvSpPr>
              <p:nvPr/>
            </p:nvSpPr>
            <p:spPr>
              <a:xfrm>
                <a:off x="1319281" y="4899032"/>
                <a:ext cx="3507477" cy="801442"/>
              </a:xfrm>
              <a:prstGeom prst="rect">
                <a:avLst/>
              </a:prstGeom>
              <a:blipFill>
                <a:blip r:embed="rId2"/>
                <a:stretch>
                  <a:fillRect/>
                </a:stretch>
              </a:blipFill>
            </p:spPr>
            <p:txBody>
              <a:bodyPr/>
              <a:lstStyle/>
              <a:p>
                <a:r>
                  <a:rPr lang="en-NZ">
                    <a:noFill/>
                  </a:rPr>
                  <a:t> </a:t>
                </a:r>
              </a:p>
            </p:txBody>
          </p:sp>
        </mc:Fallback>
      </mc:AlternateContent>
      <p:sp>
        <p:nvSpPr>
          <p:cNvPr id="23" name="Text Placeholder 5">
            <a:extLst>
              <a:ext uri="{FF2B5EF4-FFF2-40B4-BE49-F238E27FC236}">
                <a16:creationId xmlns:a16="http://schemas.microsoft.com/office/drawing/2014/main" id="{7242151A-ED64-5330-6020-5C2B4C173A4E}"/>
              </a:ext>
            </a:extLst>
          </p:cNvPr>
          <p:cNvSpPr txBox="1">
            <a:spLocks/>
          </p:cNvSpPr>
          <p:nvPr/>
        </p:nvSpPr>
        <p:spPr>
          <a:xfrm>
            <a:off x="251224" y="5764424"/>
            <a:ext cx="11232109" cy="4182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How can we do this?    </a:t>
            </a:r>
          </a:p>
          <a:p>
            <a:pPr algn="just">
              <a:lnSpc>
                <a:spcPct val="100000"/>
              </a:lnSpc>
            </a:pPr>
            <a:endParaRPr lang="en-NZ" altLang="ja-JP" sz="1800" dirty="0">
              <a:solidFill>
                <a:schemeClr val="tx1"/>
              </a:solidFill>
            </a:endParaRPr>
          </a:p>
        </p:txBody>
      </p:sp>
      <p:sp>
        <p:nvSpPr>
          <p:cNvPr id="11" name="Footer Placeholder 2">
            <a:extLst>
              <a:ext uri="{FF2B5EF4-FFF2-40B4-BE49-F238E27FC236}">
                <a16:creationId xmlns:a16="http://schemas.microsoft.com/office/drawing/2014/main" id="{A4A9D871-C3C7-523A-6A4E-AC934DD60E1A}"/>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4.3 – </a:t>
            </a:r>
            <a:r>
              <a:rPr kumimoji="1" lang="en-US" altLang="ja-JP" sz="1600" dirty="0">
                <a:solidFill>
                  <a:srgbClr val="DEDDDD"/>
                </a:solidFill>
                <a:latin typeface="Gidole"/>
                <a:ea typeface="游ゴシック" panose="020B0400000000000000" pitchFamily="34" charset="-128"/>
              </a:rPr>
              <a:t>Fixed Effects Model</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1551299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2" grpId="0"/>
      <p:bldP spid="2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1" name="Text Placeholder 5">
                <a:extLst>
                  <a:ext uri="{FF2B5EF4-FFF2-40B4-BE49-F238E27FC236}">
                    <a16:creationId xmlns:a16="http://schemas.microsoft.com/office/drawing/2014/main" id="{DBA0427A-F068-434B-84BF-17437B3BF697}"/>
                  </a:ext>
                </a:extLst>
              </p:cNvPr>
              <p:cNvSpPr txBox="1">
                <a:spLocks/>
              </p:cNvSpPr>
              <p:nvPr/>
            </p:nvSpPr>
            <p:spPr>
              <a:xfrm>
                <a:off x="251223" y="1035263"/>
                <a:ext cx="11232109" cy="97096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200" b="1" dirty="0">
                    <a:solidFill>
                      <a:schemeClr val="tx1"/>
                    </a:solidFill>
                  </a:rPr>
                  <a:t>Lemma:</a:t>
                </a:r>
                <a:endParaRPr lang="en-NZ" altLang="ja-JP" sz="2200" dirty="0">
                  <a:solidFill>
                    <a:schemeClr val="tx1"/>
                  </a:solidFill>
                </a:endParaRPr>
              </a:p>
              <a:p>
                <a:pPr algn="just">
                  <a:lnSpc>
                    <a:spcPct val="100000"/>
                  </a:lnSpc>
                </a:pPr>
                <a14:m>
                  <m:oMathPara xmlns:m="http://schemas.openxmlformats.org/officeDocument/2006/math">
                    <m:oMathParaPr>
                      <m:jc m:val="centerGroup"/>
                    </m:oMathParaPr>
                    <m:oMath xmlns:m="http://schemas.openxmlformats.org/officeDocument/2006/math">
                      <m:sSub>
                        <m:sSubPr>
                          <m:ctrlPr>
                            <a:rPr lang="en-NZ" altLang="ja-JP" sz="2200" b="1" i="1" smtClean="0">
                              <a:solidFill>
                                <a:srgbClr val="C00000"/>
                              </a:solidFill>
                              <a:latin typeface="Cambria Math" panose="02040503050406030204" pitchFamily="18" charset="0"/>
                            </a:rPr>
                          </m:ctrlPr>
                        </m:sSubPr>
                        <m:e>
                          <m:r>
                            <a:rPr lang="en-NZ" altLang="ja-JP" sz="2200" b="1" i="1" smtClean="0">
                              <a:solidFill>
                                <a:srgbClr val="C00000"/>
                              </a:solidFill>
                              <a:latin typeface="Cambria Math" panose="02040503050406030204" pitchFamily="18" charset="0"/>
                            </a:rPr>
                            <m:t>𝒀</m:t>
                          </m:r>
                        </m:e>
                        <m:sub>
                          <m:r>
                            <a:rPr lang="en-NZ" altLang="ja-JP" sz="2200" b="1" i="1" smtClean="0">
                              <a:solidFill>
                                <a:srgbClr val="C00000"/>
                              </a:solidFill>
                              <a:latin typeface="Cambria Math" panose="02040503050406030204" pitchFamily="18" charset="0"/>
                            </a:rPr>
                            <m:t>𝒊𝒋𝒌</m:t>
                          </m:r>
                        </m:sub>
                      </m:sSub>
                      <m:r>
                        <a:rPr lang="en-NZ" altLang="ja-JP" sz="2200" b="1" i="1" smtClean="0">
                          <a:solidFill>
                            <a:srgbClr val="C00000"/>
                          </a:solidFill>
                          <a:latin typeface="Cambria Math" panose="02040503050406030204" pitchFamily="18" charset="0"/>
                        </a:rPr>
                        <m:t>  −  </m:t>
                      </m:r>
                      <m:sSub>
                        <m:sSubPr>
                          <m:ctrlPr>
                            <a:rPr lang="en-NZ" altLang="ja-JP" sz="2200" b="1" i="1" smtClean="0">
                              <a:solidFill>
                                <a:srgbClr val="C00000"/>
                              </a:solidFill>
                              <a:latin typeface="Cambria Math" panose="02040503050406030204" pitchFamily="18" charset="0"/>
                            </a:rPr>
                          </m:ctrlPr>
                        </m:sSubPr>
                        <m:e>
                          <m:acc>
                            <m:accPr>
                              <m:chr m:val="̅"/>
                              <m:ctrlPr>
                                <a:rPr lang="en-NZ" altLang="ja-JP" sz="2200" b="1" i="1" smtClean="0">
                                  <a:solidFill>
                                    <a:srgbClr val="C00000"/>
                                  </a:solidFill>
                                  <a:latin typeface="Cambria Math" panose="02040503050406030204" pitchFamily="18" charset="0"/>
                                </a:rPr>
                              </m:ctrlPr>
                            </m:accPr>
                            <m:e>
                              <m:r>
                                <a:rPr lang="en-NZ" altLang="ja-JP" sz="2200" b="1" i="1" smtClean="0">
                                  <a:solidFill>
                                    <a:srgbClr val="C00000"/>
                                  </a:solidFill>
                                  <a:latin typeface="Cambria Math" panose="02040503050406030204" pitchFamily="18" charset="0"/>
                                </a:rPr>
                                <m:t>𝒀</m:t>
                              </m:r>
                            </m:e>
                          </m:acc>
                        </m:e>
                        <m:sub>
                          <m:r>
                            <a:rPr lang="en-NZ" altLang="ja-JP" sz="2200" b="1" i="1" smtClean="0">
                              <a:solidFill>
                                <a:srgbClr val="C00000"/>
                              </a:solidFill>
                              <a:latin typeface="Cambria Math" panose="02040503050406030204" pitchFamily="18" charset="0"/>
                              <a:ea typeface="Cambria Math" panose="02040503050406030204" pitchFamily="18" charset="0"/>
                            </a:rPr>
                            <m:t>∙∙∙</m:t>
                          </m:r>
                        </m:sub>
                      </m:sSub>
                      <m:r>
                        <a:rPr lang="en-NZ" altLang="ja-JP" sz="2200" b="1" i="1" smtClean="0">
                          <a:solidFill>
                            <a:srgbClr val="C00000"/>
                          </a:solidFill>
                          <a:latin typeface="Cambria Math" panose="02040503050406030204" pitchFamily="18" charset="0"/>
                        </a:rPr>
                        <m:t>  =   </m:t>
                      </m:r>
                      <m:d>
                        <m:dPr>
                          <m:ctrlPr>
                            <a:rPr lang="en-NZ" altLang="ja-JP" sz="2200" b="1" i="1" smtClean="0">
                              <a:solidFill>
                                <a:srgbClr val="C00000"/>
                              </a:solidFill>
                              <a:latin typeface="Cambria Math" panose="02040503050406030204" pitchFamily="18" charset="0"/>
                            </a:rPr>
                          </m:ctrlPr>
                        </m:dPr>
                        <m:e>
                          <m:sSub>
                            <m:sSubPr>
                              <m:ctrlPr>
                                <a:rPr lang="en-NZ" altLang="ja-JP" sz="2200" b="1" i="1">
                                  <a:solidFill>
                                    <a:srgbClr val="C00000"/>
                                  </a:solidFill>
                                  <a:latin typeface="Cambria Math" panose="02040503050406030204" pitchFamily="18" charset="0"/>
                                </a:rPr>
                              </m:ctrlPr>
                            </m:sSubPr>
                            <m:e>
                              <m:r>
                                <a:rPr lang="en-NZ" altLang="ja-JP" sz="2200" b="1" i="1" smtClean="0">
                                  <a:solidFill>
                                    <a:srgbClr val="C00000"/>
                                  </a:solidFill>
                                  <a:latin typeface="Cambria Math" panose="02040503050406030204" pitchFamily="18" charset="0"/>
                                </a:rPr>
                                <m:t> </m:t>
                              </m:r>
                              <m:acc>
                                <m:accPr>
                                  <m:chr m:val="̅"/>
                                  <m:ctrlPr>
                                    <a:rPr lang="en-NZ" altLang="ja-JP" sz="2200" b="1" i="1" smtClean="0">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smtClean="0">
                                  <a:solidFill>
                                    <a:srgbClr val="C00000"/>
                                  </a:solidFill>
                                  <a:latin typeface="Cambria Math" panose="02040503050406030204" pitchFamily="18" charset="0"/>
                                </a:rPr>
                                <m:t>𝒊</m:t>
                              </m:r>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smtClean="0">
                              <a:solidFill>
                                <a:srgbClr val="C00000"/>
                              </a:solidFill>
                              <a:latin typeface="Cambria Math" panose="02040503050406030204" pitchFamily="18" charset="0"/>
                              <a:ea typeface="Cambria Math" panose="02040503050406030204" pitchFamily="18" charset="0"/>
                            </a:rPr>
                            <m:t>  − </m:t>
                          </m:r>
                          <m:sSub>
                            <m:sSubPr>
                              <m:ctrlPr>
                                <a:rPr lang="en-NZ" altLang="ja-JP" sz="2200" b="1" i="1">
                                  <a:solidFill>
                                    <a:srgbClr val="C00000"/>
                                  </a:solidFill>
                                  <a:latin typeface="Cambria Math" panose="02040503050406030204" pitchFamily="18" charset="0"/>
                                </a:rPr>
                              </m:ctrlPr>
                            </m:sSubPr>
                            <m:e>
                              <m:acc>
                                <m:accPr>
                                  <m:chr m:val="̅"/>
                                  <m:ctrlPr>
                                    <a:rPr lang="en-NZ" altLang="ja-JP" sz="2200" b="1" i="1">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smtClean="0">
                              <a:solidFill>
                                <a:srgbClr val="C00000"/>
                              </a:solidFill>
                              <a:latin typeface="Cambria Math" panose="02040503050406030204" pitchFamily="18" charset="0"/>
                              <a:ea typeface="Cambria Math" panose="02040503050406030204" pitchFamily="18" charset="0"/>
                            </a:rPr>
                            <m:t> </m:t>
                          </m:r>
                        </m:e>
                      </m:d>
                      <m:r>
                        <a:rPr lang="en-NZ" altLang="ja-JP" sz="2200" b="1" i="1" smtClean="0">
                          <a:solidFill>
                            <a:srgbClr val="C00000"/>
                          </a:solidFill>
                          <a:latin typeface="Cambria Math" panose="02040503050406030204" pitchFamily="18" charset="0"/>
                          <a:ea typeface="Cambria Math" panose="02040503050406030204" pitchFamily="18" charset="0"/>
                        </a:rPr>
                        <m:t> + </m:t>
                      </m:r>
                      <m:d>
                        <m:dPr>
                          <m:ctrlPr>
                            <a:rPr lang="en-NZ" altLang="ja-JP" sz="2200" b="1" i="1">
                              <a:solidFill>
                                <a:srgbClr val="C00000"/>
                              </a:solidFill>
                              <a:latin typeface="Cambria Math" panose="02040503050406030204" pitchFamily="18" charset="0"/>
                            </a:rPr>
                          </m:ctrlPr>
                        </m:dPr>
                        <m:e>
                          <m:sSub>
                            <m:sSubPr>
                              <m:ctrlPr>
                                <a:rPr lang="en-NZ" altLang="ja-JP" sz="2200" b="1" i="1">
                                  <a:solidFill>
                                    <a:srgbClr val="C00000"/>
                                  </a:solidFill>
                                  <a:latin typeface="Cambria Math" panose="02040503050406030204" pitchFamily="18" charset="0"/>
                                </a:rPr>
                              </m:ctrlPr>
                            </m:sSubPr>
                            <m:e>
                              <m:r>
                                <a:rPr lang="en-NZ" altLang="ja-JP" sz="2200" b="1" i="1">
                                  <a:solidFill>
                                    <a:srgbClr val="C00000"/>
                                  </a:solidFill>
                                  <a:latin typeface="Cambria Math" panose="02040503050406030204" pitchFamily="18" charset="0"/>
                                </a:rPr>
                                <m:t> </m:t>
                              </m:r>
                              <m:acc>
                                <m:accPr>
                                  <m:chr m:val="̅"/>
                                  <m:ctrlPr>
                                    <a:rPr lang="en-NZ" altLang="ja-JP" sz="2200" b="1" i="1">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a:solidFill>
                                    <a:srgbClr val="C00000"/>
                                  </a:solidFill>
                                  <a:latin typeface="Cambria Math" panose="02040503050406030204" pitchFamily="18" charset="0"/>
                                  <a:ea typeface="Cambria Math" panose="02040503050406030204" pitchFamily="18" charset="0"/>
                                </a:rPr>
                                <m:t>∙</m:t>
                              </m:r>
                              <m:r>
                                <a:rPr lang="en-NZ" altLang="ja-JP" sz="2200" b="1" i="1" smtClean="0">
                                  <a:solidFill>
                                    <a:srgbClr val="C00000"/>
                                  </a:solidFill>
                                  <a:latin typeface="Cambria Math" panose="02040503050406030204" pitchFamily="18" charset="0"/>
                                  <a:ea typeface="Cambria Math" panose="02040503050406030204" pitchFamily="18" charset="0"/>
                                </a:rPr>
                                <m:t>𝒋</m:t>
                              </m:r>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a:solidFill>
                                <a:srgbClr val="C00000"/>
                              </a:solidFill>
                              <a:latin typeface="Cambria Math" panose="02040503050406030204" pitchFamily="18" charset="0"/>
                              <a:ea typeface="Cambria Math" panose="02040503050406030204" pitchFamily="18" charset="0"/>
                            </a:rPr>
                            <m:t>  − </m:t>
                          </m:r>
                          <m:sSub>
                            <m:sSubPr>
                              <m:ctrlPr>
                                <a:rPr lang="en-NZ" altLang="ja-JP" sz="2200" b="1" i="1">
                                  <a:solidFill>
                                    <a:srgbClr val="C00000"/>
                                  </a:solidFill>
                                  <a:latin typeface="Cambria Math" panose="02040503050406030204" pitchFamily="18" charset="0"/>
                                </a:rPr>
                              </m:ctrlPr>
                            </m:sSubPr>
                            <m:e>
                              <m:acc>
                                <m:accPr>
                                  <m:chr m:val="̅"/>
                                  <m:ctrlPr>
                                    <a:rPr lang="en-NZ" altLang="ja-JP" sz="2200" b="1" i="1">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a:solidFill>
                                <a:srgbClr val="C00000"/>
                              </a:solidFill>
                              <a:latin typeface="Cambria Math" panose="02040503050406030204" pitchFamily="18" charset="0"/>
                              <a:ea typeface="Cambria Math" panose="02040503050406030204" pitchFamily="18" charset="0"/>
                            </a:rPr>
                            <m:t> </m:t>
                          </m:r>
                        </m:e>
                      </m:d>
                      <m:r>
                        <a:rPr lang="en-NZ" altLang="ja-JP" sz="2200" b="1" i="1" smtClean="0">
                          <a:solidFill>
                            <a:srgbClr val="C00000"/>
                          </a:solidFill>
                          <a:latin typeface="Cambria Math" panose="02040503050406030204" pitchFamily="18" charset="0"/>
                          <a:ea typeface="Cambria Math" panose="02040503050406030204" pitchFamily="18" charset="0"/>
                        </a:rPr>
                        <m:t>  +  </m:t>
                      </m:r>
                      <m:d>
                        <m:dPr>
                          <m:ctrlPr>
                            <a:rPr lang="en-NZ" altLang="ja-JP" sz="2200" b="1" i="1">
                              <a:solidFill>
                                <a:srgbClr val="C00000"/>
                              </a:solidFill>
                              <a:latin typeface="Cambria Math" panose="02040503050406030204" pitchFamily="18" charset="0"/>
                            </a:rPr>
                          </m:ctrlPr>
                        </m:dPr>
                        <m:e>
                          <m:sSub>
                            <m:sSubPr>
                              <m:ctrlPr>
                                <a:rPr lang="en-NZ" altLang="ja-JP" sz="2200" b="1" i="1">
                                  <a:solidFill>
                                    <a:srgbClr val="C00000"/>
                                  </a:solidFill>
                                  <a:latin typeface="Cambria Math" panose="02040503050406030204" pitchFamily="18" charset="0"/>
                                </a:rPr>
                              </m:ctrlPr>
                            </m:sSubPr>
                            <m:e>
                              <m:r>
                                <a:rPr lang="en-NZ" altLang="ja-JP" sz="2200" b="1" i="1">
                                  <a:solidFill>
                                    <a:srgbClr val="C00000"/>
                                  </a:solidFill>
                                  <a:latin typeface="Cambria Math" panose="02040503050406030204" pitchFamily="18" charset="0"/>
                                </a:rPr>
                                <m:t>𝒀</m:t>
                              </m:r>
                            </m:e>
                            <m:sub>
                              <m:r>
                                <a:rPr lang="en-NZ" altLang="ja-JP" sz="2200" b="1" i="1">
                                  <a:solidFill>
                                    <a:srgbClr val="C00000"/>
                                  </a:solidFill>
                                  <a:latin typeface="Cambria Math" panose="02040503050406030204" pitchFamily="18" charset="0"/>
                                </a:rPr>
                                <m:t>𝒊𝒋𝒌</m:t>
                              </m:r>
                            </m:sub>
                          </m:sSub>
                          <m:r>
                            <a:rPr lang="en-NZ" altLang="ja-JP" sz="2200" b="1" i="1" smtClean="0">
                              <a:solidFill>
                                <a:srgbClr val="C00000"/>
                              </a:solidFill>
                              <a:latin typeface="Cambria Math" panose="02040503050406030204" pitchFamily="18" charset="0"/>
                            </a:rPr>
                            <m:t> −</m:t>
                          </m:r>
                          <m:sSub>
                            <m:sSubPr>
                              <m:ctrlPr>
                                <a:rPr lang="en-NZ" altLang="ja-JP" sz="2200" b="1" i="1">
                                  <a:solidFill>
                                    <a:srgbClr val="C00000"/>
                                  </a:solidFill>
                                  <a:latin typeface="Cambria Math" panose="02040503050406030204" pitchFamily="18" charset="0"/>
                                </a:rPr>
                              </m:ctrlPr>
                            </m:sSubPr>
                            <m:e>
                              <m:r>
                                <a:rPr lang="en-NZ" altLang="ja-JP" sz="2200" b="1" i="1" smtClean="0">
                                  <a:solidFill>
                                    <a:srgbClr val="C00000"/>
                                  </a:solidFill>
                                  <a:latin typeface="Cambria Math" panose="02040503050406030204" pitchFamily="18" charset="0"/>
                                </a:rPr>
                                <m:t> </m:t>
                              </m:r>
                              <m:acc>
                                <m:accPr>
                                  <m:chr m:val="̅"/>
                                  <m:ctrlPr>
                                    <a:rPr lang="en-NZ" altLang="ja-JP" sz="2200" b="1" i="1">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smtClean="0">
                                  <a:solidFill>
                                    <a:srgbClr val="C00000"/>
                                  </a:solidFill>
                                  <a:latin typeface="Cambria Math" panose="02040503050406030204" pitchFamily="18" charset="0"/>
                                </a:rPr>
                                <m:t>𝒊</m:t>
                              </m:r>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a:solidFill>
                                <a:srgbClr val="C00000"/>
                              </a:solidFill>
                              <a:latin typeface="Cambria Math" panose="02040503050406030204" pitchFamily="18" charset="0"/>
                            </a:rPr>
                            <m:t>−</m:t>
                          </m:r>
                          <m:sSub>
                            <m:sSubPr>
                              <m:ctrlPr>
                                <a:rPr lang="en-NZ" altLang="ja-JP" sz="2200" b="1" i="1">
                                  <a:solidFill>
                                    <a:srgbClr val="C00000"/>
                                  </a:solidFill>
                                  <a:latin typeface="Cambria Math" panose="02040503050406030204" pitchFamily="18" charset="0"/>
                                </a:rPr>
                              </m:ctrlPr>
                            </m:sSubPr>
                            <m:e>
                              <m:r>
                                <a:rPr lang="en-NZ" altLang="ja-JP" sz="2200" b="1" i="1">
                                  <a:solidFill>
                                    <a:srgbClr val="C00000"/>
                                  </a:solidFill>
                                  <a:latin typeface="Cambria Math" panose="02040503050406030204" pitchFamily="18" charset="0"/>
                                </a:rPr>
                                <m:t> </m:t>
                              </m:r>
                              <m:acc>
                                <m:accPr>
                                  <m:chr m:val="̅"/>
                                  <m:ctrlPr>
                                    <a:rPr lang="en-NZ" altLang="ja-JP" sz="2200" b="1" i="1">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a:solidFill>
                                    <a:srgbClr val="C00000"/>
                                  </a:solidFill>
                                  <a:latin typeface="Cambria Math" panose="02040503050406030204" pitchFamily="18" charset="0"/>
                                  <a:ea typeface="Cambria Math" panose="02040503050406030204" pitchFamily="18" charset="0"/>
                                </a:rPr>
                                <m:t>∙</m:t>
                              </m:r>
                              <m:r>
                                <a:rPr lang="en-NZ" altLang="ja-JP" sz="2200" b="1" i="1" smtClean="0">
                                  <a:solidFill>
                                    <a:srgbClr val="C00000"/>
                                  </a:solidFill>
                                  <a:latin typeface="Cambria Math" panose="02040503050406030204" pitchFamily="18" charset="0"/>
                                  <a:ea typeface="Cambria Math" panose="02040503050406030204" pitchFamily="18" charset="0"/>
                                </a:rPr>
                                <m:t>𝒋</m:t>
                              </m:r>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smtClean="0">
                              <a:solidFill>
                                <a:srgbClr val="C00000"/>
                              </a:solidFill>
                              <a:latin typeface="Cambria Math" panose="02040503050406030204" pitchFamily="18" charset="0"/>
                              <a:ea typeface="Cambria Math" panose="02040503050406030204" pitchFamily="18" charset="0"/>
                            </a:rPr>
                            <m:t>+</m:t>
                          </m:r>
                          <m:r>
                            <a:rPr lang="en-NZ" altLang="ja-JP" sz="2200" b="1" i="1">
                              <a:solidFill>
                                <a:srgbClr val="C00000"/>
                              </a:solidFill>
                              <a:latin typeface="Cambria Math" panose="02040503050406030204" pitchFamily="18" charset="0"/>
                              <a:ea typeface="Cambria Math" panose="02040503050406030204" pitchFamily="18" charset="0"/>
                            </a:rPr>
                            <m:t> </m:t>
                          </m:r>
                          <m:sSub>
                            <m:sSubPr>
                              <m:ctrlPr>
                                <a:rPr lang="en-NZ" altLang="ja-JP" sz="2200" b="1" i="1">
                                  <a:solidFill>
                                    <a:srgbClr val="C00000"/>
                                  </a:solidFill>
                                  <a:latin typeface="Cambria Math" panose="02040503050406030204" pitchFamily="18" charset="0"/>
                                </a:rPr>
                              </m:ctrlPr>
                            </m:sSubPr>
                            <m:e>
                              <m:acc>
                                <m:accPr>
                                  <m:chr m:val="̅"/>
                                  <m:ctrlPr>
                                    <a:rPr lang="en-NZ" altLang="ja-JP" sz="2200" b="1" i="1">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a:solidFill>
                                <a:srgbClr val="C00000"/>
                              </a:solidFill>
                              <a:latin typeface="Cambria Math" panose="02040503050406030204" pitchFamily="18" charset="0"/>
                              <a:ea typeface="Cambria Math" panose="02040503050406030204" pitchFamily="18" charset="0"/>
                            </a:rPr>
                            <m:t> </m:t>
                          </m:r>
                        </m:e>
                      </m:d>
                    </m:oMath>
                  </m:oMathPara>
                </a14:m>
                <a:endParaRPr lang="en-NZ" altLang="ja-JP" sz="2200" dirty="0">
                  <a:solidFill>
                    <a:schemeClr val="tx1"/>
                  </a:solidFill>
                </a:endParaRPr>
              </a:p>
            </p:txBody>
          </p:sp>
        </mc:Choice>
        <mc:Fallback xmlns="">
          <p:sp>
            <p:nvSpPr>
              <p:cNvPr id="21" name="Text Placeholder 5">
                <a:extLst>
                  <a:ext uri="{FF2B5EF4-FFF2-40B4-BE49-F238E27FC236}">
                    <a16:creationId xmlns:a16="http://schemas.microsoft.com/office/drawing/2014/main" id="{DBA0427A-F068-434B-84BF-17437B3BF697}"/>
                  </a:ext>
                </a:extLst>
              </p:cNvPr>
              <p:cNvSpPr txBox="1">
                <a:spLocks noRot="1" noChangeAspect="1" noMove="1" noResize="1" noEditPoints="1" noAdjustHandles="1" noChangeArrowheads="1" noChangeShapeType="1" noTextEdit="1"/>
              </p:cNvSpPr>
              <p:nvPr/>
            </p:nvSpPr>
            <p:spPr>
              <a:xfrm>
                <a:off x="251223" y="1035263"/>
                <a:ext cx="11232109" cy="970968"/>
              </a:xfrm>
              <a:prstGeom prst="rect">
                <a:avLst/>
              </a:prstGeom>
              <a:blipFill>
                <a:blip r:embed="rId2"/>
                <a:stretch>
                  <a:fillRect l="-705" t="-4403"/>
                </a:stretch>
              </a:blipFill>
            </p:spPr>
            <p:txBody>
              <a:bodyPr/>
              <a:lstStyle/>
              <a:p>
                <a:r>
                  <a:rPr lang="en-NZ">
                    <a:noFill/>
                  </a:rPr>
                  <a:t> </a:t>
                </a:r>
              </a:p>
            </p:txBody>
          </p:sp>
        </mc:Fallback>
      </mc:AlternateContent>
      <p:sp>
        <p:nvSpPr>
          <p:cNvPr id="13" name="Title 6">
            <a:extLst>
              <a:ext uri="{FF2B5EF4-FFF2-40B4-BE49-F238E27FC236}">
                <a16:creationId xmlns:a16="http://schemas.microsoft.com/office/drawing/2014/main" id="{539E1FA8-24B4-FFD9-7C26-8B31D6C98125}"/>
              </a:ext>
            </a:extLst>
          </p:cNvPr>
          <p:cNvSpPr txBox="1">
            <a:spLocks/>
          </p:cNvSpPr>
          <p:nvPr/>
        </p:nvSpPr>
        <p:spPr>
          <a:xfrm>
            <a:off x="251224" y="237833"/>
            <a:ext cx="8660764"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4.3b – Breakdown of Basic Sums of Squares</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7" name="Text Placeholder 5">
            <a:extLst>
              <a:ext uri="{FF2B5EF4-FFF2-40B4-BE49-F238E27FC236}">
                <a16:creationId xmlns:a16="http://schemas.microsoft.com/office/drawing/2014/main" id="{2ED68E23-FE65-5965-AA30-068C47E733C0}"/>
              </a:ext>
            </a:extLst>
          </p:cNvPr>
          <p:cNvSpPr txBox="1">
            <a:spLocks/>
          </p:cNvSpPr>
          <p:nvPr/>
        </p:nvSpPr>
        <p:spPr>
          <a:xfrm>
            <a:off x="251223" y="2006231"/>
            <a:ext cx="11232109" cy="50495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200" b="1" i="1" dirty="0">
                <a:solidFill>
                  <a:schemeClr val="tx1"/>
                </a:solidFill>
              </a:rPr>
              <a:t>Proof:</a:t>
            </a:r>
            <a:r>
              <a:rPr lang="en-NZ" altLang="ja-JP" sz="2200" i="1" dirty="0">
                <a:solidFill>
                  <a:schemeClr val="tx1"/>
                </a:solidFill>
              </a:rPr>
              <a:t>  </a:t>
            </a:r>
            <a:r>
              <a:rPr lang="en-NZ" altLang="ja-JP" sz="2200" dirty="0">
                <a:solidFill>
                  <a:schemeClr val="tx1"/>
                </a:solidFill>
              </a:rPr>
              <a:t>Simply write out the right hand side and collect like terms. </a:t>
            </a:r>
            <a:r>
              <a:rPr lang="en-NZ" altLang="ja-JP" sz="1200" dirty="0">
                <a:solidFill>
                  <a:schemeClr val="tx1"/>
                </a:solidFill>
              </a:rPr>
              <a:t>□</a:t>
            </a:r>
            <a:endParaRPr lang="en-NZ" altLang="ja-JP" sz="2200" dirty="0">
              <a:solidFill>
                <a:schemeClr val="tx1"/>
              </a:solidFill>
            </a:endParaRPr>
          </a:p>
        </p:txBody>
      </p:sp>
      <p:sp>
        <p:nvSpPr>
          <p:cNvPr id="25" name="Footer Placeholder 2">
            <a:extLst>
              <a:ext uri="{FF2B5EF4-FFF2-40B4-BE49-F238E27FC236}">
                <a16:creationId xmlns:a16="http://schemas.microsoft.com/office/drawing/2014/main" id="{FA5D93A3-9F97-37D4-9237-70764A3CDD26}"/>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4.3 – </a:t>
            </a:r>
            <a:r>
              <a:rPr kumimoji="1" lang="en-US" altLang="ja-JP" sz="1600" dirty="0">
                <a:solidFill>
                  <a:srgbClr val="DEDDDD"/>
                </a:solidFill>
                <a:latin typeface="Gidole"/>
                <a:ea typeface="游ゴシック" panose="020B0400000000000000" pitchFamily="34" charset="-128"/>
              </a:rPr>
              <a:t>Fixed Effects Model</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cxnSp>
        <p:nvCxnSpPr>
          <p:cNvPr id="4" name="Straight Connector 3">
            <a:extLst>
              <a:ext uri="{FF2B5EF4-FFF2-40B4-BE49-F238E27FC236}">
                <a16:creationId xmlns:a16="http://schemas.microsoft.com/office/drawing/2014/main" id="{17AB77DD-9FF8-B0D8-DBC1-6989001455B2}"/>
              </a:ext>
            </a:extLst>
          </p:cNvPr>
          <p:cNvCxnSpPr/>
          <p:nvPr/>
        </p:nvCxnSpPr>
        <p:spPr>
          <a:xfrm flipV="1">
            <a:off x="3398293" y="1337490"/>
            <a:ext cx="573205" cy="668741"/>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A557655-AA34-A90B-2B6C-9F948DABDD28}"/>
              </a:ext>
            </a:extLst>
          </p:cNvPr>
          <p:cNvCxnSpPr/>
          <p:nvPr/>
        </p:nvCxnSpPr>
        <p:spPr>
          <a:xfrm flipV="1">
            <a:off x="8215952" y="1297396"/>
            <a:ext cx="573205" cy="668741"/>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0AF9F5B-74BC-10BA-E16B-1F3DD8C4D383}"/>
              </a:ext>
            </a:extLst>
          </p:cNvPr>
          <p:cNvCxnSpPr>
            <a:cxnSpLocks/>
          </p:cNvCxnSpPr>
          <p:nvPr/>
        </p:nvCxnSpPr>
        <p:spPr>
          <a:xfrm flipV="1">
            <a:off x="5294072" y="1311894"/>
            <a:ext cx="573205" cy="668741"/>
          </a:xfrm>
          <a:prstGeom prst="line">
            <a:avLst/>
          </a:prstGeom>
          <a:ln>
            <a:solidFill>
              <a:srgbClr val="00B050"/>
            </a:solidFill>
            <a:prstDash val="lgDash"/>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643E17E-7B61-D69A-8C57-C76BDEA883D2}"/>
              </a:ext>
            </a:extLst>
          </p:cNvPr>
          <p:cNvCxnSpPr>
            <a:cxnSpLocks/>
          </p:cNvCxnSpPr>
          <p:nvPr/>
        </p:nvCxnSpPr>
        <p:spPr>
          <a:xfrm flipV="1">
            <a:off x="9014347" y="1312744"/>
            <a:ext cx="573205" cy="668741"/>
          </a:xfrm>
          <a:prstGeom prst="line">
            <a:avLst/>
          </a:prstGeom>
          <a:ln>
            <a:solidFill>
              <a:srgbClr val="00B050"/>
            </a:solidFill>
            <a:prstDash val="lgDash"/>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B58C9BE-AB07-2684-1C8A-95C44AC130E7}"/>
              </a:ext>
            </a:extLst>
          </p:cNvPr>
          <p:cNvCxnSpPr>
            <a:cxnSpLocks/>
          </p:cNvCxnSpPr>
          <p:nvPr/>
        </p:nvCxnSpPr>
        <p:spPr>
          <a:xfrm flipV="1">
            <a:off x="6121916" y="1311894"/>
            <a:ext cx="573205" cy="668741"/>
          </a:xfrm>
          <a:prstGeom prst="line">
            <a:avLst/>
          </a:prstGeom>
          <a:ln>
            <a:solidFill>
              <a:srgbClr val="7030A0"/>
            </a:solidFill>
            <a:prstDash val="lg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AD756FE-2A89-E44A-CF56-F098BFFF8146}"/>
              </a:ext>
            </a:extLst>
          </p:cNvPr>
          <p:cNvCxnSpPr>
            <a:cxnSpLocks/>
          </p:cNvCxnSpPr>
          <p:nvPr/>
        </p:nvCxnSpPr>
        <p:spPr>
          <a:xfrm flipV="1">
            <a:off x="9675634" y="1339328"/>
            <a:ext cx="573205" cy="668741"/>
          </a:xfrm>
          <a:prstGeom prst="line">
            <a:avLst/>
          </a:prstGeom>
          <a:ln>
            <a:solidFill>
              <a:srgbClr val="7030A0"/>
            </a:solidFill>
            <a:prstDash val="lgDash"/>
          </a:ln>
        </p:spPr>
        <p:style>
          <a:lnRef idx="1">
            <a:schemeClr val="accent1"/>
          </a:lnRef>
          <a:fillRef idx="0">
            <a:schemeClr val="accent1"/>
          </a:fillRef>
          <a:effectRef idx="0">
            <a:schemeClr val="accent1"/>
          </a:effectRef>
          <a:fontRef idx="minor">
            <a:schemeClr val="tx1"/>
          </a:fontRef>
        </p:style>
      </p:cxnSp>
      <p:sp>
        <p:nvSpPr>
          <p:cNvPr id="38" name="Text Placeholder 5">
            <a:extLst>
              <a:ext uri="{FF2B5EF4-FFF2-40B4-BE49-F238E27FC236}">
                <a16:creationId xmlns:a16="http://schemas.microsoft.com/office/drawing/2014/main" id="{02547824-B2BC-948F-872D-EF5FA5169607}"/>
              </a:ext>
            </a:extLst>
          </p:cNvPr>
          <p:cNvSpPr txBox="1">
            <a:spLocks/>
          </p:cNvSpPr>
          <p:nvPr/>
        </p:nvSpPr>
        <p:spPr>
          <a:xfrm>
            <a:off x="4086558" y="996728"/>
            <a:ext cx="775649" cy="36738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3000" dirty="0">
                <a:solidFill>
                  <a:srgbClr val="0070C0"/>
                </a:solidFill>
                <a:sym typeface="Wingdings" panose="05000000000000000000" pitchFamily="2" charset="2"/>
              </a:rPr>
              <a:t></a:t>
            </a:r>
            <a:endParaRPr lang="en-NZ" altLang="ja-JP" sz="3000" dirty="0">
              <a:solidFill>
                <a:srgbClr val="0070C0"/>
              </a:solidFill>
            </a:endParaRPr>
          </a:p>
        </p:txBody>
      </p:sp>
      <p:sp>
        <p:nvSpPr>
          <p:cNvPr id="39" name="Text Placeholder 5">
            <a:extLst>
              <a:ext uri="{FF2B5EF4-FFF2-40B4-BE49-F238E27FC236}">
                <a16:creationId xmlns:a16="http://schemas.microsoft.com/office/drawing/2014/main" id="{ACA0C78C-5476-B7E1-9F51-DFA8E421B57D}"/>
              </a:ext>
            </a:extLst>
          </p:cNvPr>
          <p:cNvSpPr txBox="1">
            <a:spLocks/>
          </p:cNvSpPr>
          <p:nvPr/>
        </p:nvSpPr>
        <p:spPr>
          <a:xfrm>
            <a:off x="7460774" y="1015628"/>
            <a:ext cx="775649" cy="36738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3000" dirty="0">
                <a:solidFill>
                  <a:srgbClr val="0070C0"/>
                </a:solidFill>
                <a:sym typeface="Wingdings" panose="05000000000000000000" pitchFamily="2" charset="2"/>
              </a:rPr>
              <a:t></a:t>
            </a:r>
            <a:endParaRPr lang="en-NZ" altLang="ja-JP" sz="3000" dirty="0">
              <a:solidFill>
                <a:srgbClr val="0070C0"/>
              </a:solidFill>
            </a:endParaRPr>
          </a:p>
        </p:txBody>
      </p:sp>
    </p:spTree>
    <p:extLst>
      <p:ext uri="{BB962C8B-B14F-4D97-AF65-F5344CB8AC3E}">
        <p14:creationId xmlns:p14="http://schemas.microsoft.com/office/powerpoint/2010/main" val="2182814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8" grpId="0"/>
      <p:bldP spid="3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1" name="Text Placeholder 5">
                <a:extLst>
                  <a:ext uri="{FF2B5EF4-FFF2-40B4-BE49-F238E27FC236}">
                    <a16:creationId xmlns:a16="http://schemas.microsoft.com/office/drawing/2014/main" id="{DBA0427A-F068-434B-84BF-17437B3BF697}"/>
                  </a:ext>
                </a:extLst>
              </p:cNvPr>
              <p:cNvSpPr txBox="1">
                <a:spLocks/>
              </p:cNvSpPr>
              <p:nvPr/>
            </p:nvSpPr>
            <p:spPr>
              <a:xfrm>
                <a:off x="251223" y="1035263"/>
                <a:ext cx="11232109" cy="97096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200" b="1" dirty="0">
                    <a:solidFill>
                      <a:schemeClr val="tx1"/>
                    </a:solidFill>
                  </a:rPr>
                  <a:t>Lemma:</a:t>
                </a:r>
                <a:endParaRPr lang="en-NZ" altLang="ja-JP" sz="2200" dirty="0">
                  <a:solidFill>
                    <a:schemeClr val="tx1"/>
                  </a:solidFill>
                </a:endParaRPr>
              </a:p>
              <a:p>
                <a:pPr algn="just">
                  <a:lnSpc>
                    <a:spcPct val="100000"/>
                  </a:lnSpc>
                </a:pPr>
                <a14:m>
                  <m:oMathPara xmlns:m="http://schemas.openxmlformats.org/officeDocument/2006/math">
                    <m:oMathParaPr>
                      <m:jc m:val="centerGroup"/>
                    </m:oMathParaPr>
                    <m:oMath xmlns:m="http://schemas.openxmlformats.org/officeDocument/2006/math">
                      <m:sSub>
                        <m:sSubPr>
                          <m:ctrlPr>
                            <a:rPr lang="en-NZ" altLang="ja-JP" sz="2200" b="1" i="1" smtClean="0">
                              <a:solidFill>
                                <a:srgbClr val="C00000"/>
                              </a:solidFill>
                              <a:latin typeface="Cambria Math" panose="02040503050406030204" pitchFamily="18" charset="0"/>
                            </a:rPr>
                          </m:ctrlPr>
                        </m:sSubPr>
                        <m:e>
                          <m:r>
                            <a:rPr lang="en-NZ" altLang="ja-JP" sz="2200" b="1" i="1" smtClean="0">
                              <a:solidFill>
                                <a:srgbClr val="C00000"/>
                              </a:solidFill>
                              <a:latin typeface="Cambria Math" panose="02040503050406030204" pitchFamily="18" charset="0"/>
                            </a:rPr>
                            <m:t>𝒀</m:t>
                          </m:r>
                        </m:e>
                        <m:sub>
                          <m:r>
                            <a:rPr lang="en-NZ" altLang="ja-JP" sz="2200" b="1" i="1" smtClean="0">
                              <a:solidFill>
                                <a:srgbClr val="C00000"/>
                              </a:solidFill>
                              <a:latin typeface="Cambria Math" panose="02040503050406030204" pitchFamily="18" charset="0"/>
                            </a:rPr>
                            <m:t>𝒊𝒋𝒌</m:t>
                          </m:r>
                        </m:sub>
                      </m:sSub>
                      <m:r>
                        <a:rPr lang="en-NZ" altLang="ja-JP" sz="2200" b="1" i="1" smtClean="0">
                          <a:solidFill>
                            <a:srgbClr val="C00000"/>
                          </a:solidFill>
                          <a:latin typeface="Cambria Math" panose="02040503050406030204" pitchFamily="18" charset="0"/>
                        </a:rPr>
                        <m:t>  −  </m:t>
                      </m:r>
                      <m:sSub>
                        <m:sSubPr>
                          <m:ctrlPr>
                            <a:rPr lang="en-NZ" altLang="ja-JP" sz="2200" b="1" i="1" smtClean="0">
                              <a:solidFill>
                                <a:srgbClr val="C00000"/>
                              </a:solidFill>
                              <a:latin typeface="Cambria Math" panose="02040503050406030204" pitchFamily="18" charset="0"/>
                            </a:rPr>
                          </m:ctrlPr>
                        </m:sSubPr>
                        <m:e>
                          <m:acc>
                            <m:accPr>
                              <m:chr m:val="̅"/>
                              <m:ctrlPr>
                                <a:rPr lang="en-NZ" altLang="ja-JP" sz="2200" b="1" i="1" smtClean="0">
                                  <a:solidFill>
                                    <a:srgbClr val="C00000"/>
                                  </a:solidFill>
                                  <a:latin typeface="Cambria Math" panose="02040503050406030204" pitchFamily="18" charset="0"/>
                                </a:rPr>
                              </m:ctrlPr>
                            </m:accPr>
                            <m:e>
                              <m:r>
                                <a:rPr lang="en-NZ" altLang="ja-JP" sz="2200" b="1" i="1" smtClean="0">
                                  <a:solidFill>
                                    <a:srgbClr val="C00000"/>
                                  </a:solidFill>
                                  <a:latin typeface="Cambria Math" panose="02040503050406030204" pitchFamily="18" charset="0"/>
                                </a:rPr>
                                <m:t>𝒀</m:t>
                              </m:r>
                            </m:e>
                          </m:acc>
                        </m:e>
                        <m:sub>
                          <m:r>
                            <a:rPr lang="en-NZ" altLang="ja-JP" sz="2200" b="1" i="1" smtClean="0">
                              <a:solidFill>
                                <a:srgbClr val="C00000"/>
                              </a:solidFill>
                              <a:latin typeface="Cambria Math" panose="02040503050406030204" pitchFamily="18" charset="0"/>
                              <a:ea typeface="Cambria Math" panose="02040503050406030204" pitchFamily="18" charset="0"/>
                            </a:rPr>
                            <m:t>∙∙∙</m:t>
                          </m:r>
                        </m:sub>
                      </m:sSub>
                      <m:r>
                        <a:rPr lang="en-NZ" altLang="ja-JP" sz="2200" b="1" i="1" smtClean="0">
                          <a:solidFill>
                            <a:srgbClr val="C00000"/>
                          </a:solidFill>
                          <a:latin typeface="Cambria Math" panose="02040503050406030204" pitchFamily="18" charset="0"/>
                        </a:rPr>
                        <m:t>  =   </m:t>
                      </m:r>
                      <m:d>
                        <m:dPr>
                          <m:ctrlPr>
                            <a:rPr lang="en-NZ" altLang="ja-JP" sz="2200" b="1" i="1" smtClean="0">
                              <a:solidFill>
                                <a:srgbClr val="C00000"/>
                              </a:solidFill>
                              <a:latin typeface="Cambria Math" panose="02040503050406030204" pitchFamily="18" charset="0"/>
                            </a:rPr>
                          </m:ctrlPr>
                        </m:dPr>
                        <m:e>
                          <m:sSub>
                            <m:sSubPr>
                              <m:ctrlPr>
                                <a:rPr lang="en-NZ" altLang="ja-JP" sz="2200" b="1" i="1">
                                  <a:solidFill>
                                    <a:srgbClr val="C00000"/>
                                  </a:solidFill>
                                  <a:latin typeface="Cambria Math" panose="02040503050406030204" pitchFamily="18" charset="0"/>
                                </a:rPr>
                              </m:ctrlPr>
                            </m:sSubPr>
                            <m:e>
                              <m:r>
                                <a:rPr lang="en-NZ" altLang="ja-JP" sz="2200" b="1" i="1" smtClean="0">
                                  <a:solidFill>
                                    <a:srgbClr val="C00000"/>
                                  </a:solidFill>
                                  <a:latin typeface="Cambria Math" panose="02040503050406030204" pitchFamily="18" charset="0"/>
                                </a:rPr>
                                <m:t> </m:t>
                              </m:r>
                              <m:acc>
                                <m:accPr>
                                  <m:chr m:val="̅"/>
                                  <m:ctrlPr>
                                    <a:rPr lang="en-NZ" altLang="ja-JP" sz="2200" b="1" i="1" smtClean="0">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smtClean="0">
                                  <a:solidFill>
                                    <a:srgbClr val="C00000"/>
                                  </a:solidFill>
                                  <a:latin typeface="Cambria Math" panose="02040503050406030204" pitchFamily="18" charset="0"/>
                                </a:rPr>
                                <m:t>𝒊</m:t>
                              </m:r>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smtClean="0">
                              <a:solidFill>
                                <a:srgbClr val="C00000"/>
                              </a:solidFill>
                              <a:latin typeface="Cambria Math" panose="02040503050406030204" pitchFamily="18" charset="0"/>
                              <a:ea typeface="Cambria Math" panose="02040503050406030204" pitchFamily="18" charset="0"/>
                            </a:rPr>
                            <m:t>  − </m:t>
                          </m:r>
                          <m:sSub>
                            <m:sSubPr>
                              <m:ctrlPr>
                                <a:rPr lang="en-NZ" altLang="ja-JP" sz="2200" b="1" i="1">
                                  <a:solidFill>
                                    <a:srgbClr val="C00000"/>
                                  </a:solidFill>
                                  <a:latin typeface="Cambria Math" panose="02040503050406030204" pitchFamily="18" charset="0"/>
                                </a:rPr>
                              </m:ctrlPr>
                            </m:sSubPr>
                            <m:e>
                              <m:acc>
                                <m:accPr>
                                  <m:chr m:val="̅"/>
                                  <m:ctrlPr>
                                    <a:rPr lang="en-NZ" altLang="ja-JP" sz="2200" b="1" i="1">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smtClean="0">
                              <a:solidFill>
                                <a:srgbClr val="C00000"/>
                              </a:solidFill>
                              <a:latin typeface="Cambria Math" panose="02040503050406030204" pitchFamily="18" charset="0"/>
                              <a:ea typeface="Cambria Math" panose="02040503050406030204" pitchFamily="18" charset="0"/>
                            </a:rPr>
                            <m:t> </m:t>
                          </m:r>
                        </m:e>
                      </m:d>
                      <m:r>
                        <a:rPr lang="en-NZ" altLang="ja-JP" sz="2200" b="1" i="1" smtClean="0">
                          <a:solidFill>
                            <a:srgbClr val="C00000"/>
                          </a:solidFill>
                          <a:latin typeface="Cambria Math" panose="02040503050406030204" pitchFamily="18" charset="0"/>
                          <a:ea typeface="Cambria Math" panose="02040503050406030204" pitchFamily="18" charset="0"/>
                        </a:rPr>
                        <m:t> + </m:t>
                      </m:r>
                      <m:d>
                        <m:dPr>
                          <m:ctrlPr>
                            <a:rPr lang="en-NZ" altLang="ja-JP" sz="2200" b="1" i="1">
                              <a:solidFill>
                                <a:srgbClr val="C00000"/>
                              </a:solidFill>
                              <a:latin typeface="Cambria Math" panose="02040503050406030204" pitchFamily="18" charset="0"/>
                            </a:rPr>
                          </m:ctrlPr>
                        </m:dPr>
                        <m:e>
                          <m:sSub>
                            <m:sSubPr>
                              <m:ctrlPr>
                                <a:rPr lang="en-NZ" altLang="ja-JP" sz="2200" b="1" i="1">
                                  <a:solidFill>
                                    <a:srgbClr val="C00000"/>
                                  </a:solidFill>
                                  <a:latin typeface="Cambria Math" panose="02040503050406030204" pitchFamily="18" charset="0"/>
                                </a:rPr>
                              </m:ctrlPr>
                            </m:sSubPr>
                            <m:e>
                              <m:r>
                                <a:rPr lang="en-NZ" altLang="ja-JP" sz="2200" b="1" i="1">
                                  <a:solidFill>
                                    <a:srgbClr val="C00000"/>
                                  </a:solidFill>
                                  <a:latin typeface="Cambria Math" panose="02040503050406030204" pitchFamily="18" charset="0"/>
                                </a:rPr>
                                <m:t> </m:t>
                              </m:r>
                              <m:acc>
                                <m:accPr>
                                  <m:chr m:val="̅"/>
                                  <m:ctrlPr>
                                    <a:rPr lang="en-NZ" altLang="ja-JP" sz="2200" b="1" i="1">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a:solidFill>
                                    <a:srgbClr val="C00000"/>
                                  </a:solidFill>
                                  <a:latin typeface="Cambria Math" panose="02040503050406030204" pitchFamily="18" charset="0"/>
                                  <a:ea typeface="Cambria Math" panose="02040503050406030204" pitchFamily="18" charset="0"/>
                                </a:rPr>
                                <m:t>∙</m:t>
                              </m:r>
                              <m:r>
                                <a:rPr lang="en-NZ" altLang="ja-JP" sz="2200" b="1" i="1" smtClean="0">
                                  <a:solidFill>
                                    <a:srgbClr val="C00000"/>
                                  </a:solidFill>
                                  <a:latin typeface="Cambria Math" panose="02040503050406030204" pitchFamily="18" charset="0"/>
                                  <a:ea typeface="Cambria Math" panose="02040503050406030204" pitchFamily="18" charset="0"/>
                                </a:rPr>
                                <m:t>𝒋</m:t>
                              </m:r>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a:solidFill>
                                <a:srgbClr val="C00000"/>
                              </a:solidFill>
                              <a:latin typeface="Cambria Math" panose="02040503050406030204" pitchFamily="18" charset="0"/>
                              <a:ea typeface="Cambria Math" panose="02040503050406030204" pitchFamily="18" charset="0"/>
                            </a:rPr>
                            <m:t>  − </m:t>
                          </m:r>
                          <m:sSub>
                            <m:sSubPr>
                              <m:ctrlPr>
                                <a:rPr lang="en-NZ" altLang="ja-JP" sz="2200" b="1" i="1">
                                  <a:solidFill>
                                    <a:srgbClr val="C00000"/>
                                  </a:solidFill>
                                  <a:latin typeface="Cambria Math" panose="02040503050406030204" pitchFamily="18" charset="0"/>
                                </a:rPr>
                              </m:ctrlPr>
                            </m:sSubPr>
                            <m:e>
                              <m:acc>
                                <m:accPr>
                                  <m:chr m:val="̅"/>
                                  <m:ctrlPr>
                                    <a:rPr lang="en-NZ" altLang="ja-JP" sz="2200" b="1" i="1">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a:solidFill>
                                <a:srgbClr val="C00000"/>
                              </a:solidFill>
                              <a:latin typeface="Cambria Math" panose="02040503050406030204" pitchFamily="18" charset="0"/>
                              <a:ea typeface="Cambria Math" panose="02040503050406030204" pitchFamily="18" charset="0"/>
                            </a:rPr>
                            <m:t> </m:t>
                          </m:r>
                        </m:e>
                      </m:d>
                      <m:r>
                        <a:rPr lang="en-NZ" altLang="ja-JP" sz="2200" b="1" i="1" smtClean="0">
                          <a:solidFill>
                            <a:srgbClr val="C00000"/>
                          </a:solidFill>
                          <a:latin typeface="Cambria Math" panose="02040503050406030204" pitchFamily="18" charset="0"/>
                          <a:ea typeface="Cambria Math" panose="02040503050406030204" pitchFamily="18" charset="0"/>
                        </a:rPr>
                        <m:t>  +  </m:t>
                      </m:r>
                      <m:d>
                        <m:dPr>
                          <m:ctrlPr>
                            <a:rPr lang="en-NZ" altLang="ja-JP" sz="2200" b="1" i="1">
                              <a:solidFill>
                                <a:srgbClr val="C00000"/>
                              </a:solidFill>
                              <a:latin typeface="Cambria Math" panose="02040503050406030204" pitchFamily="18" charset="0"/>
                            </a:rPr>
                          </m:ctrlPr>
                        </m:dPr>
                        <m:e>
                          <m:sSub>
                            <m:sSubPr>
                              <m:ctrlPr>
                                <a:rPr lang="en-NZ" altLang="ja-JP" sz="2200" b="1" i="1">
                                  <a:solidFill>
                                    <a:srgbClr val="C00000"/>
                                  </a:solidFill>
                                  <a:latin typeface="Cambria Math" panose="02040503050406030204" pitchFamily="18" charset="0"/>
                                </a:rPr>
                              </m:ctrlPr>
                            </m:sSubPr>
                            <m:e>
                              <m:r>
                                <a:rPr lang="en-NZ" altLang="ja-JP" sz="2200" b="1" i="1">
                                  <a:solidFill>
                                    <a:srgbClr val="C00000"/>
                                  </a:solidFill>
                                  <a:latin typeface="Cambria Math" panose="02040503050406030204" pitchFamily="18" charset="0"/>
                                </a:rPr>
                                <m:t>𝒀</m:t>
                              </m:r>
                            </m:e>
                            <m:sub>
                              <m:r>
                                <a:rPr lang="en-NZ" altLang="ja-JP" sz="2200" b="1" i="1">
                                  <a:solidFill>
                                    <a:srgbClr val="C00000"/>
                                  </a:solidFill>
                                  <a:latin typeface="Cambria Math" panose="02040503050406030204" pitchFamily="18" charset="0"/>
                                </a:rPr>
                                <m:t>𝒊𝒋𝒌</m:t>
                              </m:r>
                            </m:sub>
                          </m:sSub>
                          <m:r>
                            <a:rPr lang="en-NZ" altLang="ja-JP" sz="2200" b="1" i="1" smtClean="0">
                              <a:solidFill>
                                <a:srgbClr val="C00000"/>
                              </a:solidFill>
                              <a:latin typeface="Cambria Math" panose="02040503050406030204" pitchFamily="18" charset="0"/>
                            </a:rPr>
                            <m:t> −</m:t>
                          </m:r>
                          <m:sSub>
                            <m:sSubPr>
                              <m:ctrlPr>
                                <a:rPr lang="en-NZ" altLang="ja-JP" sz="2200" b="1" i="1">
                                  <a:solidFill>
                                    <a:srgbClr val="C00000"/>
                                  </a:solidFill>
                                  <a:latin typeface="Cambria Math" panose="02040503050406030204" pitchFamily="18" charset="0"/>
                                </a:rPr>
                              </m:ctrlPr>
                            </m:sSubPr>
                            <m:e>
                              <m:r>
                                <a:rPr lang="en-NZ" altLang="ja-JP" sz="2200" b="1" i="1" smtClean="0">
                                  <a:solidFill>
                                    <a:srgbClr val="C00000"/>
                                  </a:solidFill>
                                  <a:latin typeface="Cambria Math" panose="02040503050406030204" pitchFamily="18" charset="0"/>
                                </a:rPr>
                                <m:t> </m:t>
                              </m:r>
                              <m:acc>
                                <m:accPr>
                                  <m:chr m:val="̅"/>
                                  <m:ctrlPr>
                                    <a:rPr lang="en-NZ" altLang="ja-JP" sz="2200" b="1" i="1">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smtClean="0">
                                  <a:solidFill>
                                    <a:srgbClr val="C00000"/>
                                  </a:solidFill>
                                  <a:latin typeface="Cambria Math" panose="02040503050406030204" pitchFamily="18" charset="0"/>
                                </a:rPr>
                                <m:t>𝒊</m:t>
                              </m:r>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a:solidFill>
                                <a:srgbClr val="C00000"/>
                              </a:solidFill>
                              <a:latin typeface="Cambria Math" panose="02040503050406030204" pitchFamily="18" charset="0"/>
                            </a:rPr>
                            <m:t>−</m:t>
                          </m:r>
                          <m:sSub>
                            <m:sSubPr>
                              <m:ctrlPr>
                                <a:rPr lang="en-NZ" altLang="ja-JP" sz="2200" b="1" i="1">
                                  <a:solidFill>
                                    <a:srgbClr val="C00000"/>
                                  </a:solidFill>
                                  <a:latin typeface="Cambria Math" panose="02040503050406030204" pitchFamily="18" charset="0"/>
                                </a:rPr>
                              </m:ctrlPr>
                            </m:sSubPr>
                            <m:e>
                              <m:r>
                                <a:rPr lang="en-NZ" altLang="ja-JP" sz="2200" b="1" i="1">
                                  <a:solidFill>
                                    <a:srgbClr val="C00000"/>
                                  </a:solidFill>
                                  <a:latin typeface="Cambria Math" panose="02040503050406030204" pitchFamily="18" charset="0"/>
                                </a:rPr>
                                <m:t> </m:t>
                              </m:r>
                              <m:acc>
                                <m:accPr>
                                  <m:chr m:val="̅"/>
                                  <m:ctrlPr>
                                    <a:rPr lang="en-NZ" altLang="ja-JP" sz="2200" b="1" i="1">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a:solidFill>
                                    <a:srgbClr val="C00000"/>
                                  </a:solidFill>
                                  <a:latin typeface="Cambria Math" panose="02040503050406030204" pitchFamily="18" charset="0"/>
                                  <a:ea typeface="Cambria Math" panose="02040503050406030204" pitchFamily="18" charset="0"/>
                                </a:rPr>
                                <m:t>∙</m:t>
                              </m:r>
                              <m:r>
                                <a:rPr lang="en-NZ" altLang="ja-JP" sz="2200" b="1" i="1" smtClean="0">
                                  <a:solidFill>
                                    <a:srgbClr val="C00000"/>
                                  </a:solidFill>
                                  <a:latin typeface="Cambria Math" panose="02040503050406030204" pitchFamily="18" charset="0"/>
                                  <a:ea typeface="Cambria Math" panose="02040503050406030204" pitchFamily="18" charset="0"/>
                                </a:rPr>
                                <m:t>𝒋</m:t>
                              </m:r>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smtClean="0">
                              <a:solidFill>
                                <a:srgbClr val="C00000"/>
                              </a:solidFill>
                              <a:latin typeface="Cambria Math" panose="02040503050406030204" pitchFamily="18" charset="0"/>
                              <a:ea typeface="Cambria Math" panose="02040503050406030204" pitchFamily="18" charset="0"/>
                            </a:rPr>
                            <m:t>+</m:t>
                          </m:r>
                          <m:r>
                            <a:rPr lang="en-NZ" altLang="ja-JP" sz="2200" b="1" i="1">
                              <a:solidFill>
                                <a:srgbClr val="C00000"/>
                              </a:solidFill>
                              <a:latin typeface="Cambria Math" panose="02040503050406030204" pitchFamily="18" charset="0"/>
                              <a:ea typeface="Cambria Math" panose="02040503050406030204" pitchFamily="18" charset="0"/>
                            </a:rPr>
                            <m:t> </m:t>
                          </m:r>
                          <m:sSub>
                            <m:sSubPr>
                              <m:ctrlPr>
                                <a:rPr lang="en-NZ" altLang="ja-JP" sz="2200" b="1" i="1">
                                  <a:solidFill>
                                    <a:srgbClr val="C00000"/>
                                  </a:solidFill>
                                  <a:latin typeface="Cambria Math" panose="02040503050406030204" pitchFamily="18" charset="0"/>
                                </a:rPr>
                              </m:ctrlPr>
                            </m:sSubPr>
                            <m:e>
                              <m:acc>
                                <m:accPr>
                                  <m:chr m:val="̅"/>
                                  <m:ctrlPr>
                                    <a:rPr lang="en-NZ" altLang="ja-JP" sz="2200" b="1" i="1">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a:solidFill>
                                <a:srgbClr val="C00000"/>
                              </a:solidFill>
                              <a:latin typeface="Cambria Math" panose="02040503050406030204" pitchFamily="18" charset="0"/>
                              <a:ea typeface="Cambria Math" panose="02040503050406030204" pitchFamily="18" charset="0"/>
                            </a:rPr>
                            <m:t> </m:t>
                          </m:r>
                        </m:e>
                      </m:d>
                    </m:oMath>
                  </m:oMathPara>
                </a14:m>
                <a:endParaRPr lang="en-NZ" altLang="ja-JP" sz="2200" dirty="0">
                  <a:solidFill>
                    <a:schemeClr val="tx1"/>
                  </a:solidFill>
                </a:endParaRPr>
              </a:p>
            </p:txBody>
          </p:sp>
        </mc:Choice>
        <mc:Fallback xmlns="">
          <p:sp>
            <p:nvSpPr>
              <p:cNvPr id="21" name="Text Placeholder 5">
                <a:extLst>
                  <a:ext uri="{FF2B5EF4-FFF2-40B4-BE49-F238E27FC236}">
                    <a16:creationId xmlns:a16="http://schemas.microsoft.com/office/drawing/2014/main" id="{DBA0427A-F068-434B-84BF-17437B3BF697}"/>
                  </a:ext>
                </a:extLst>
              </p:cNvPr>
              <p:cNvSpPr txBox="1">
                <a:spLocks noRot="1" noChangeAspect="1" noMove="1" noResize="1" noEditPoints="1" noAdjustHandles="1" noChangeArrowheads="1" noChangeShapeType="1" noTextEdit="1"/>
              </p:cNvSpPr>
              <p:nvPr/>
            </p:nvSpPr>
            <p:spPr>
              <a:xfrm>
                <a:off x="251223" y="1035263"/>
                <a:ext cx="11232109" cy="970968"/>
              </a:xfrm>
              <a:prstGeom prst="rect">
                <a:avLst/>
              </a:prstGeom>
              <a:blipFill>
                <a:blip r:embed="rId2"/>
                <a:stretch>
                  <a:fillRect l="-705" t="-4403"/>
                </a:stretch>
              </a:blipFill>
            </p:spPr>
            <p:txBody>
              <a:bodyPr/>
              <a:lstStyle/>
              <a:p>
                <a:r>
                  <a:rPr lang="en-NZ">
                    <a:noFill/>
                  </a:rPr>
                  <a:t> </a:t>
                </a:r>
              </a:p>
            </p:txBody>
          </p:sp>
        </mc:Fallback>
      </mc:AlternateContent>
      <p:sp>
        <p:nvSpPr>
          <p:cNvPr id="13" name="Title 6">
            <a:extLst>
              <a:ext uri="{FF2B5EF4-FFF2-40B4-BE49-F238E27FC236}">
                <a16:creationId xmlns:a16="http://schemas.microsoft.com/office/drawing/2014/main" id="{539E1FA8-24B4-FFD9-7C26-8B31D6C98125}"/>
              </a:ext>
            </a:extLst>
          </p:cNvPr>
          <p:cNvSpPr txBox="1">
            <a:spLocks/>
          </p:cNvSpPr>
          <p:nvPr/>
        </p:nvSpPr>
        <p:spPr>
          <a:xfrm>
            <a:off x="251224" y="237833"/>
            <a:ext cx="8660764"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4.3b – Breakdown of Basic Sums of Squares</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7" name="Text Placeholder 5">
            <a:extLst>
              <a:ext uri="{FF2B5EF4-FFF2-40B4-BE49-F238E27FC236}">
                <a16:creationId xmlns:a16="http://schemas.microsoft.com/office/drawing/2014/main" id="{2ED68E23-FE65-5965-AA30-068C47E733C0}"/>
              </a:ext>
            </a:extLst>
          </p:cNvPr>
          <p:cNvSpPr txBox="1">
            <a:spLocks/>
          </p:cNvSpPr>
          <p:nvPr/>
        </p:nvSpPr>
        <p:spPr>
          <a:xfrm>
            <a:off x="251223" y="2006231"/>
            <a:ext cx="11232109" cy="50495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200" b="1" i="1" dirty="0">
                <a:solidFill>
                  <a:schemeClr val="tx1"/>
                </a:solidFill>
              </a:rPr>
              <a:t>Proof:</a:t>
            </a:r>
            <a:r>
              <a:rPr lang="en-NZ" altLang="ja-JP" sz="2200" i="1" dirty="0">
                <a:solidFill>
                  <a:schemeClr val="tx1"/>
                </a:solidFill>
              </a:rPr>
              <a:t>  </a:t>
            </a:r>
            <a:r>
              <a:rPr lang="en-NZ" altLang="ja-JP" sz="2200" dirty="0">
                <a:solidFill>
                  <a:schemeClr val="tx1"/>
                </a:solidFill>
              </a:rPr>
              <a:t>Simply write out the right hand side and collect like terms. </a:t>
            </a:r>
            <a:r>
              <a:rPr lang="en-NZ" altLang="ja-JP" sz="1200" dirty="0">
                <a:solidFill>
                  <a:schemeClr val="tx1"/>
                </a:solidFill>
              </a:rPr>
              <a:t>□</a:t>
            </a:r>
            <a:endParaRPr lang="en-NZ" altLang="ja-JP" sz="2200" dirty="0">
              <a:solidFill>
                <a:schemeClr val="tx1"/>
              </a:solidFill>
            </a:endParaRPr>
          </a:p>
        </p:txBody>
      </p:sp>
      <p:sp>
        <p:nvSpPr>
          <p:cNvPr id="9" name="Text Placeholder 5">
            <a:extLst>
              <a:ext uri="{FF2B5EF4-FFF2-40B4-BE49-F238E27FC236}">
                <a16:creationId xmlns:a16="http://schemas.microsoft.com/office/drawing/2014/main" id="{9FFBB42A-B093-F4DD-2250-7289674BBF32}"/>
              </a:ext>
            </a:extLst>
          </p:cNvPr>
          <p:cNvSpPr txBox="1">
            <a:spLocks/>
          </p:cNvSpPr>
          <p:nvPr/>
        </p:nvSpPr>
        <p:spPr>
          <a:xfrm>
            <a:off x="251223" y="2724720"/>
            <a:ext cx="11232109" cy="50495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200" dirty="0">
                <a:solidFill>
                  <a:schemeClr val="tx1"/>
                </a:solidFill>
              </a:rPr>
              <a:t>The model for a RBD is given by:</a:t>
            </a:r>
          </a:p>
        </p:txBody>
      </p:sp>
      <mc:AlternateContent xmlns:mc="http://schemas.openxmlformats.org/markup-compatibility/2006" xmlns:a14="http://schemas.microsoft.com/office/drawing/2010/main">
        <mc:Choice Requires="a14">
          <p:sp>
            <p:nvSpPr>
              <p:cNvPr id="12" name="Text Placeholder 5">
                <a:extLst>
                  <a:ext uri="{FF2B5EF4-FFF2-40B4-BE49-F238E27FC236}">
                    <a16:creationId xmlns:a16="http://schemas.microsoft.com/office/drawing/2014/main" id="{67B93BDF-08A7-0976-5D26-4BB5A23476EF}"/>
                  </a:ext>
                </a:extLst>
              </p:cNvPr>
              <p:cNvSpPr txBox="1">
                <a:spLocks/>
              </p:cNvSpPr>
              <p:nvPr/>
            </p:nvSpPr>
            <p:spPr>
              <a:xfrm>
                <a:off x="3135958" y="3191523"/>
                <a:ext cx="5462638"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𝒀</m:t>
                          </m:r>
                        </m:e>
                        <m:sub>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𝒊𝒋𝒌</m:t>
                          </m:r>
                        </m:sub>
                      </m:sSub>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   =     </m:t>
                      </m:r>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𝝁</m:t>
                      </m:r>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𝜶</m:t>
                          </m:r>
                        </m:e>
                        <m:sub>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𝒊</m:t>
                          </m:r>
                        </m:sub>
                      </m:sSub>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𝜷</m:t>
                          </m:r>
                        </m:e>
                        <m:sub>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𝒋</m:t>
                          </m:r>
                        </m:sub>
                      </m:sSub>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𝝐</m:t>
                          </m:r>
                        </m:e>
                        <m:sub>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𝒊𝒋𝒌</m:t>
                          </m:r>
                        </m:sub>
                      </m:sSub>
                    </m:oMath>
                  </m:oMathPara>
                </a14:m>
                <a:endParaRPr kumimoji="1" lang="en-NZ" altLang="ja-JP" sz="1800" b="1"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p:txBody>
          </p:sp>
        </mc:Choice>
        <mc:Fallback xmlns="">
          <p:sp>
            <p:nvSpPr>
              <p:cNvPr id="12" name="Text Placeholder 5">
                <a:extLst>
                  <a:ext uri="{FF2B5EF4-FFF2-40B4-BE49-F238E27FC236}">
                    <a16:creationId xmlns:a16="http://schemas.microsoft.com/office/drawing/2014/main" id="{67B93BDF-08A7-0976-5D26-4BB5A23476EF}"/>
                  </a:ext>
                </a:extLst>
              </p:cNvPr>
              <p:cNvSpPr txBox="1">
                <a:spLocks noRot="1" noChangeAspect="1" noMove="1" noResize="1" noEditPoints="1" noAdjustHandles="1" noChangeArrowheads="1" noChangeShapeType="1" noTextEdit="1"/>
              </p:cNvSpPr>
              <p:nvPr/>
            </p:nvSpPr>
            <p:spPr>
              <a:xfrm>
                <a:off x="3135958" y="3191523"/>
                <a:ext cx="5462638" cy="474953"/>
              </a:xfrm>
              <a:prstGeom prst="rect">
                <a:avLst/>
              </a:prstGeom>
              <a:blipFill>
                <a:blip r:embed="rId3"/>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4" name="Text Placeholder 5">
                <a:extLst>
                  <a:ext uri="{FF2B5EF4-FFF2-40B4-BE49-F238E27FC236}">
                    <a16:creationId xmlns:a16="http://schemas.microsoft.com/office/drawing/2014/main" id="{98BF5E7A-E8A8-F925-28C0-747D17137EAA}"/>
                  </a:ext>
                </a:extLst>
              </p:cNvPr>
              <p:cNvSpPr txBox="1">
                <a:spLocks/>
              </p:cNvSpPr>
              <p:nvPr/>
            </p:nvSpPr>
            <p:spPr>
              <a:xfrm>
                <a:off x="3026776" y="3750201"/>
                <a:ext cx="5462638"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14:m>
                  <m:oMathPara xmlns:m="http://schemas.openxmlformats.org/officeDocument/2006/math">
                    <m:oMathParaPr>
                      <m:jc m:val="centerGroup"/>
                    </m:oMathParaPr>
                    <m:oMath xmlns:m="http://schemas.openxmlformats.org/officeDocument/2006/math">
                      <m:sSub>
                        <m:sSubPr>
                          <m:ctrlP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𝒀</m:t>
                          </m:r>
                        </m:e>
                        <m:sub>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𝒊𝒋𝒌</m:t>
                          </m:r>
                        </m:sub>
                      </m:sSub>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  </m:t>
                      </m:r>
                      <m:r>
                        <a:rPr lang="en-NZ" altLang="ja-JP" sz="1800" b="1" i="1">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𝝁</m:t>
                      </m:r>
                      <m:r>
                        <a:rPr lang="en-NZ" altLang="ja-JP" sz="1800" b="1" i="1" smtClean="0">
                          <a:solidFill>
                            <a:schemeClr val="tx1"/>
                          </a:solidFill>
                          <a:latin typeface="Cambria Math" panose="02040503050406030204" pitchFamily="18" charset="0"/>
                        </a:rPr>
                        <m:t>  </m:t>
                      </m:r>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   </m:t>
                      </m:r>
                      <m:sSub>
                        <m:sSubPr>
                          <m:ctrlP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𝜶</m:t>
                          </m:r>
                        </m:e>
                        <m:sub>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𝒊</m:t>
                          </m:r>
                        </m:sub>
                      </m:sSub>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𝜷</m:t>
                          </m:r>
                        </m:e>
                        <m:sub>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𝒋</m:t>
                          </m:r>
                        </m:sub>
                      </m:sSub>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𝝐</m:t>
                          </m:r>
                        </m:e>
                        <m:sub>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𝒊𝒋𝒌</m:t>
                          </m:r>
                        </m:sub>
                      </m:sSub>
                    </m:oMath>
                  </m:oMathPara>
                </a14:m>
                <a:endParaRPr kumimoji="1" lang="en-NZ" altLang="ja-JP" sz="1800" b="1"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p:txBody>
          </p:sp>
        </mc:Choice>
        <mc:Fallback xmlns="">
          <p:sp>
            <p:nvSpPr>
              <p:cNvPr id="14" name="Text Placeholder 5">
                <a:extLst>
                  <a:ext uri="{FF2B5EF4-FFF2-40B4-BE49-F238E27FC236}">
                    <a16:creationId xmlns:a16="http://schemas.microsoft.com/office/drawing/2014/main" id="{98BF5E7A-E8A8-F925-28C0-747D17137EAA}"/>
                  </a:ext>
                </a:extLst>
              </p:cNvPr>
              <p:cNvSpPr txBox="1">
                <a:spLocks noRot="1" noChangeAspect="1" noMove="1" noResize="1" noEditPoints="1" noAdjustHandles="1" noChangeArrowheads="1" noChangeShapeType="1" noTextEdit="1"/>
              </p:cNvSpPr>
              <p:nvPr/>
            </p:nvSpPr>
            <p:spPr>
              <a:xfrm>
                <a:off x="3026776" y="3750201"/>
                <a:ext cx="5462638" cy="474953"/>
              </a:xfrm>
              <a:prstGeom prst="rect">
                <a:avLst/>
              </a:prstGeom>
              <a:blipFill>
                <a:blip r:embed="rId4"/>
                <a:stretch>
                  <a:fillRect/>
                </a:stretch>
              </a:blipFill>
            </p:spPr>
            <p:txBody>
              <a:bodyPr/>
              <a:lstStyle/>
              <a:p>
                <a:r>
                  <a:rPr lang="en-NZ">
                    <a:noFill/>
                  </a:rPr>
                  <a:t> </a:t>
                </a:r>
              </a:p>
            </p:txBody>
          </p:sp>
        </mc:Fallback>
      </mc:AlternateContent>
      <p:sp>
        <p:nvSpPr>
          <p:cNvPr id="15" name="Text Placeholder 5">
            <a:extLst>
              <a:ext uri="{FF2B5EF4-FFF2-40B4-BE49-F238E27FC236}">
                <a16:creationId xmlns:a16="http://schemas.microsoft.com/office/drawing/2014/main" id="{B82210D7-30EF-BB4D-EE11-5FE28441C384}"/>
              </a:ext>
            </a:extLst>
          </p:cNvPr>
          <p:cNvSpPr txBox="1">
            <a:spLocks/>
          </p:cNvSpPr>
          <p:nvPr/>
        </p:nvSpPr>
        <p:spPr>
          <a:xfrm>
            <a:off x="2645775" y="3740263"/>
            <a:ext cx="980365" cy="50495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lnSpc>
                <a:spcPct val="100000"/>
              </a:lnSpc>
            </a:pPr>
            <a:r>
              <a:rPr lang="en-NZ" altLang="ja-JP" sz="2200" dirty="0">
                <a:solidFill>
                  <a:schemeClr val="tx1"/>
                </a:solidFill>
              </a:rPr>
              <a:t>=&gt;</a:t>
            </a:r>
          </a:p>
        </p:txBody>
      </p:sp>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7DA2C5CA-98B6-61FF-E94B-E94535C7379E}"/>
                  </a:ext>
                </a:extLst>
              </p:cNvPr>
              <p:cNvSpPr txBox="1">
                <a:spLocks/>
              </p:cNvSpPr>
              <p:nvPr/>
            </p:nvSpPr>
            <p:spPr>
              <a:xfrm>
                <a:off x="479945" y="5021460"/>
                <a:ext cx="11232109" cy="5929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sSub>
                        <m:sSubPr>
                          <m:ctrlPr>
                            <a:rPr lang="en-NZ" altLang="ja-JP" sz="2200" b="1" i="1" smtClean="0">
                              <a:solidFill>
                                <a:srgbClr val="C00000"/>
                              </a:solidFill>
                              <a:latin typeface="Cambria Math" panose="02040503050406030204" pitchFamily="18" charset="0"/>
                            </a:rPr>
                          </m:ctrlPr>
                        </m:sSubPr>
                        <m:e>
                          <m:r>
                            <a:rPr lang="en-NZ" altLang="ja-JP" sz="2200" b="1" i="1" smtClean="0">
                              <a:solidFill>
                                <a:srgbClr val="C00000"/>
                              </a:solidFill>
                              <a:latin typeface="Cambria Math" panose="02040503050406030204" pitchFamily="18" charset="0"/>
                            </a:rPr>
                            <m:t>𝒀</m:t>
                          </m:r>
                        </m:e>
                        <m:sub>
                          <m:r>
                            <a:rPr lang="en-NZ" altLang="ja-JP" sz="2200" b="1" i="1" smtClean="0">
                              <a:solidFill>
                                <a:srgbClr val="C00000"/>
                              </a:solidFill>
                              <a:latin typeface="Cambria Math" panose="02040503050406030204" pitchFamily="18" charset="0"/>
                            </a:rPr>
                            <m:t>𝒊𝒋𝒌</m:t>
                          </m:r>
                        </m:sub>
                      </m:sSub>
                      <m:r>
                        <a:rPr lang="en-NZ" altLang="ja-JP" sz="2200" b="1" i="1" smtClean="0">
                          <a:solidFill>
                            <a:srgbClr val="C00000"/>
                          </a:solidFill>
                          <a:latin typeface="Cambria Math" panose="02040503050406030204" pitchFamily="18" charset="0"/>
                        </a:rPr>
                        <m:t>  −  </m:t>
                      </m:r>
                      <m:sSub>
                        <m:sSubPr>
                          <m:ctrlPr>
                            <a:rPr lang="en-NZ" altLang="ja-JP" sz="2200" b="1" i="1" smtClean="0">
                              <a:solidFill>
                                <a:srgbClr val="C00000"/>
                              </a:solidFill>
                              <a:latin typeface="Cambria Math" panose="02040503050406030204" pitchFamily="18" charset="0"/>
                            </a:rPr>
                          </m:ctrlPr>
                        </m:sSubPr>
                        <m:e>
                          <m:acc>
                            <m:accPr>
                              <m:chr m:val="̅"/>
                              <m:ctrlPr>
                                <a:rPr lang="en-NZ" altLang="ja-JP" sz="2200" b="1" i="1" smtClean="0">
                                  <a:solidFill>
                                    <a:srgbClr val="C00000"/>
                                  </a:solidFill>
                                  <a:latin typeface="Cambria Math" panose="02040503050406030204" pitchFamily="18" charset="0"/>
                                </a:rPr>
                              </m:ctrlPr>
                            </m:accPr>
                            <m:e>
                              <m:r>
                                <a:rPr lang="en-NZ" altLang="ja-JP" sz="2200" b="1" i="1" smtClean="0">
                                  <a:solidFill>
                                    <a:srgbClr val="C00000"/>
                                  </a:solidFill>
                                  <a:latin typeface="Cambria Math" panose="02040503050406030204" pitchFamily="18" charset="0"/>
                                </a:rPr>
                                <m:t>𝒀</m:t>
                              </m:r>
                            </m:e>
                          </m:acc>
                        </m:e>
                        <m:sub>
                          <m:r>
                            <a:rPr lang="en-NZ" altLang="ja-JP" sz="2200" b="1" i="1" smtClean="0">
                              <a:solidFill>
                                <a:srgbClr val="C00000"/>
                              </a:solidFill>
                              <a:latin typeface="Cambria Math" panose="02040503050406030204" pitchFamily="18" charset="0"/>
                              <a:ea typeface="Cambria Math" panose="02040503050406030204" pitchFamily="18" charset="0"/>
                            </a:rPr>
                            <m:t>∙∙∙</m:t>
                          </m:r>
                        </m:sub>
                      </m:sSub>
                      <m:r>
                        <a:rPr lang="en-NZ" altLang="ja-JP" sz="2200" b="1" i="1" smtClean="0">
                          <a:solidFill>
                            <a:srgbClr val="C00000"/>
                          </a:solidFill>
                          <a:latin typeface="Cambria Math" panose="02040503050406030204" pitchFamily="18" charset="0"/>
                        </a:rPr>
                        <m:t>  =   </m:t>
                      </m:r>
                      <m:d>
                        <m:dPr>
                          <m:ctrlPr>
                            <a:rPr lang="en-NZ" altLang="ja-JP" sz="2200" b="1" i="1" smtClean="0">
                              <a:solidFill>
                                <a:srgbClr val="C00000"/>
                              </a:solidFill>
                              <a:latin typeface="Cambria Math" panose="02040503050406030204" pitchFamily="18" charset="0"/>
                            </a:rPr>
                          </m:ctrlPr>
                        </m:dPr>
                        <m:e>
                          <m:sSub>
                            <m:sSubPr>
                              <m:ctrlPr>
                                <a:rPr lang="en-NZ" altLang="ja-JP" sz="2200" b="1" i="1">
                                  <a:solidFill>
                                    <a:srgbClr val="C00000"/>
                                  </a:solidFill>
                                  <a:latin typeface="Cambria Math" panose="02040503050406030204" pitchFamily="18" charset="0"/>
                                </a:rPr>
                              </m:ctrlPr>
                            </m:sSubPr>
                            <m:e>
                              <m:r>
                                <a:rPr lang="en-NZ" altLang="ja-JP" sz="2200" b="1" i="1" smtClean="0">
                                  <a:solidFill>
                                    <a:srgbClr val="C00000"/>
                                  </a:solidFill>
                                  <a:latin typeface="Cambria Math" panose="02040503050406030204" pitchFamily="18" charset="0"/>
                                </a:rPr>
                                <m:t> </m:t>
                              </m:r>
                              <m:acc>
                                <m:accPr>
                                  <m:chr m:val="̅"/>
                                  <m:ctrlPr>
                                    <a:rPr lang="en-NZ" altLang="ja-JP" sz="2200" b="1" i="1" smtClean="0">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smtClean="0">
                                  <a:solidFill>
                                    <a:srgbClr val="C00000"/>
                                  </a:solidFill>
                                  <a:latin typeface="Cambria Math" panose="02040503050406030204" pitchFamily="18" charset="0"/>
                                </a:rPr>
                                <m:t>𝒊</m:t>
                              </m:r>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smtClean="0">
                              <a:solidFill>
                                <a:srgbClr val="C00000"/>
                              </a:solidFill>
                              <a:latin typeface="Cambria Math" panose="02040503050406030204" pitchFamily="18" charset="0"/>
                              <a:ea typeface="Cambria Math" panose="02040503050406030204" pitchFamily="18" charset="0"/>
                            </a:rPr>
                            <m:t>  − </m:t>
                          </m:r>
                          <m:sSub>
                            <m:sSubPr>
                              <m:ctrlPr>
                                <a:rPr lang="en-NZ" altLang="ja-JP" sz="2200" b="1" i="1">
                                  <a:solidFill>
                                    <a:srgbClr val="C00000"/>
                                  </a:solidFill>
                                  <a:latin typeface="Cambria Math" panose="02040503050406030204" pitchFamily="18" charset="0"/>
                                </a:rPr>
                              </m:ctrlPr>
                            </m:sSubPr>
                            <m:e>
                              <m:acc>
                                <m:accPr>
                                  <m:chr m:val="̅"/>
                                  <m:ctrlPr>
                                    <a:rPr lang="en-NZ" altLang="ja-JP" sz="2200" b="1" i="1">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smtClean="0">
                              <a:solidFill>
                                <a:srgbClr val="C00000"/>
                              </a:solidFill>
                              <a:latin typeface="Cambria Math" panose="02040503050406030204" pitchFamily="18" charset="0"/>
                              <a:ea typeface="Cambria Math" panose="02040503050406030204" pitchFamily="18" charset="0"/>
                            </a:rPr>
                            <m:t> </m:t>
                          </m:r>
                        </m:e>
                      </m:d>
                      <m:r>
                        <a:rPr lang="en-NZ" altLang="ja-JP" sz="2200" b="1" i="1" smtClean="0">
                          <a:solidFill>
                            <a:srgbClr val="C00000"/>
                          </a:solidFill>
                          <a:latin typeface="Cambria Math" panose="02040503050406030204" pitchFamily="18" charset="0"/>
                          <a:ea typeface="Cambria Math" panose="02040503050406030204" pitchFamily="18" charset="0"/>
                        </a:rPr>
                        <m:t> + </m:t>
                      </m:r>
                      <m:d>
                        <m:dPr>
                          <m:ctrlPr>
                            <a:rPr lang="en-NZ" altLang="ja-JP" sz="2200" b="1" i="1">
                              <a:solidFill>
                                <a:srgbClr val="C00000"/>
                              </a:solidFill>
                              <a:latin typeface="Cambria Math" panose="02040503050406030204" pitchFamily="18" charset="0"/>
                            </a:rPr>
                          </m:ctrlPr>
                        </m:dPr>
                        <m:e>
                          <m:sSub>
                            <m:sSubPr>
                              <m:ctrlPr>
                                <a:rPr lang="en-NZ" altLang="ja-JP" sz="2200" b="1" i="1">
                                  <a:solidFill>
                                    <a:srgbClr val="C00000"/>
                                  </a:solidFill>
                                  <a:latin typeface="Cambria Math" panose="02040503050406030204" pitchFamily="18" charset="0"/>
                                </a:rPr>
                              </m:ctrlPr>
                            </m:sSubPr>
                            <m:e>
                              <m:r>
                                <a:rPr lang="en-NZ" altLang="ja-JP" sz="2200" b="1" i="1">
                                  <a:solidFill>
                                    <a:srgbClr val="C00000"/>
                                  </a:solidFill>
                                  <a:latin typeface="Cambria Math" panose="02040503050406030204" pitchFamily="18" charset="0"/>
                                </a:rPr>
                                <m:t> </m:t>
                              </m:r>
                              <m:acc>
                                <m:accPr>
                                  <m:chr m:val="̅"/>
                                  <m:ctrlPr>
                                    <a:rPr lang="en-NZ" altLang="ja-JP" sz="2200" b="1" i="1">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a:solidFill>
                                    <a:srgbClr val="C00000"/>
                                  </a:solidFill>
                                  <a:latin typeface="Cambria Math" panose="02040503050406030204" pitchFamily="18" charset="0"/>
                                  <a:ea typeface="Cambria Math" panose="02040503050406030204" pitchFamily="18" charset="0"/>
                                </a:rPr>
                                <m:t>∙</m:t>
                              </m:r>
                              <m:r>
                                <a:rPr lang="en-NZ" altLang="ja-JP" sz="2200" b="1" i="1" smtClean="0">
                                  <a:solidFill>
                                    <a:srgbClr val="C00000"/>
                                  </a:solidFill>
                                  <a:latin typeface="Cambria Math" panose="02040503050406030204" pitchFamily="18" charset="0"/>
                                  <a:ea typeface="Cambria Math" panose="02040503050406030204" pitchFamily="18" charset="0"/>
                                </a:rPr>
                                <m:t>𝒋</m:t>
                              </m:r>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a:solidFill>
                                <a:srgbClr val="C00000"/>
                              </a:solidFill>
                              <a:latin typeface="Cambria Math" panose="02040503050406030204" pitchFamily="18" charset="0"/>
                              <a:ea typeface="Cambria Math" panose="02040503050406030204" pitchFamily="18" charset="0"/>
                            </a:rPr>
                            <m:t>  − </m:t>
                          </m:r>
                          <m:sSub>
                            <m:sSubPr>
                              <m:ctrlPr>
                                <a:rPr lang="en-NZ" altLang="ja-JP" sz="2200" b="1" i="1">
                                  <a:solidFill>
                                    <a:srgbClr val="C00000"/>
                                  </a:solidFill>
                                  <a:latin typeface="Cambria Math" panose="02040503050406030204" pitchFamily="18" charset="0"/>
                                </a:rPr>
                              </m:ctrlPr>
                            </m:sSubPr>
                            <m:e>
                              <m:acc>
                                <m:accPr>
                                  <m:chr m:val="̅"/>
                                  <m:ctrlPr>
                                    <a:rPr lang="en-NZ" altLang="ja-JP" sz="2200" b="1" i="1">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a:solidFill>
                                <a:srgbClr val="C00000"/>
                              </a:solidFill>
                              <a:latin typeface="Cambria Math" panose="02040503050406030204" pitchFamily="18" charset="0"/>
                              <a:ea typeface="Cambria Math" panose="02040503050406030204" pitchFamily="18" charset="0"/>
                            </a:rPr>
                            <m:t> </m:t>
                          </m:r>
                        </m:e>
                      </m:d>
                      <m:r>
                        <a:rPr lang="en-NZ" altLang="ja-JP" sz="2200" b="1" i="1" smtClean="0">
                          <a:solidFill>
                            <a:srgbClr val="C00000"/>
                          </a:solidFill>
                          <a:latin typeface="Cambria Math" panose="02040503050406030204" pitchFamily="18" charset="0"/>
                          <a:ea typeface="Cambria Math" panose="02040503050406030204" pitchFamily="18" charset="0"/>
                        </a:rPr>
                        <m:t>  +  </m:t>
                      </m:r>
                      <m:d>
                        <m:dPr>
                          <m:ctrlPr>
                            <a:rPr lang="en-NZ" altLang="ja-JP" sz="2200" b="1" i="1">
                              <a:solidFill>
                                <a:srgbClr val="C00000"/>
                              </a:solidFill>
                              <a:latin typeface="Cambria Math" panose="02040503050406030204" pitchFamily="18" charset="0"/>
                            </a:rPr>
                          </m:ctrlPr>
                        </m:dPr>
                        <m:e>
                          <m:sSub>
                            <m:sSubPr>
                              <m:ctrlPr>
                                <a:rPr lang="en-NZ" altLang="ja-JP" sz="2200" b="1" i="1">
                                  <a:solidFill>
                                    <a:srgbClr val="C00000"/>
                                  </a:solidFill>
                                  <a:latin typeface="Cambria Math" panose="02040503050406030204" pitchFamily="18" charset="0"/>
                                </a:rPr>
                              </m:ctrlPr>
                            </m:sSubPr>
                            <m:e>
                              <m:r>
                                <a:rPr lang="en-NZ" altLang="ja-JP" sz="2200" b="1" i="1">
                                  <a:solidFill>
                                    <a:srgbClr val="C00000"/>
                                  </a:solidFill>
                                  <a:latin typeface="Cambria Math" panose="02040503050406030204" pitchFamily="18" charset="0"/>
                                </a:rPr>
                                <m:t>𝒀</m:t>
                              </m:r>
                            </m:e>
                            <m:sub>
                              <m:r>
                                <a:rPr lang="en-NZ" altLang="ja-JP" sz="2200" b="1" i="1">
                                  <a:solidFill>
                                    <a:srgbClr val="C00000"/>
                                  </a:solidFill>
                                  <a:latin typeface="Cambria Math" panose="02040503050406030204" pitchFamily="18" charset="0"/>
                                </a:rPr>
                                <m:t>𝒊𝒋𝒌</m:t>
                              </m:r>
                            </m:sub>
                          </m:sSub>
                          <m:r>
                            <a:rPr lang="en-NZ" altLang="ja-JP" sz="2200" b="1" i="1" smtClean="0">
                              <a:solidFill>
                                <a:srgbClr val="C00000"/>
                              </a:solidFill>
                              <a:latin typeface="Cambria Math" panose="02040503050406030204" pitchFamily="18" charset="0"/>
                            </a:rPr>
                            <m:t> −</m:t>
                          </m:r>
                          <m:sSub>
                            <m:sSubPr>
                              <m:ctrlPr>
                                <a:rPr lang="en-NZ" altLang="ja-JP" sz="2200" b="1" i="1">
                                  <a:solidFill>
                                    <a:srgbClr val="C00000"/>
                                  </a:solidFill>
                                  <a:latin typeface="Cambria Math" panose="02040503050406030204" pitchFamily="18" charset="0"/>
                                </a:rPr>
                              </m:ctrlPr>
                            </m:sSubPr>
                            <m:e>
                              <m:r>
                                <a:rPr lang="en-NZ" altLang="ja-JP" sz="2200" b="1" i="1" smtClean="0">
                                  <a:solidFill>
                                    <a:srgbClr val="C00000"/>
                                  </a:solidFill>
                                  <a:latin typeface="Cambria Math" panose="02040503050406030204" pitchFamily="18" charset="0"/>
                                </a:rPr>
                                <m:t> </m:t>
                              </m:r>
                              <m:acc>
                                <m:accPr>
                                  <m:chr m:val="̅"/>
                                  <m:ctrlPr>
                                    <a:rPr lang="en-NZ" altLang="ja-JP" sz="2200" b="1" i="1">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smtClean="0">
                                  <a:solidFill>
                                    <a:srgbClr val="C00000"/>
                                  </a:solidFill>
                                  <a:latin typeface="Cambria Math" panose="02040503050406030204" pitchFamily="18" charset="0"/>
                                </a:rPr>
                                <m:t>𝒊</m:t>
                              </m:r>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a:solidFill>
                                <a:srgbClr val="C00000"/>
                              </a:solidFill>
                              <a:latin typeface="Cambria Math" panose="02040503050406030204" pitchFamily="18" charset="0"/>
                            </a:rPr>
                            <m:t>−</m:t>
                          </m:r>
                          <m:sSub>
                            <m:sSubPr>
                              <m:ctrlPr>
                                <a:rPr lang="en-NZ" altLang="ja-JP" sz="2200" b="1" i="1">
                                  <a:solidFill>
                                    <a:srgbClr val="C00000"/>
                                  </a:solidFill>
                                  <a:latin typeface="Cambria Math" panose="02040503050406030204" pitchFamily="18" charset="0"/>
                                </a:rPr>
                              </m:ctrlPr>
                            </m:sSubPr>
                            <m:e>
                              <m:r>
                                <a:rPr lang="en-NZ" altLang="ja-JP" sz="2200" b="1" i="1">
                                  <a:solidFill>
                                    <a:srgbClr val="C00000"/>
                                  </a:solidFill>
                                  <a:latin typeface="Cambria Math" panose="02040503050406030204" pitchFamily="18" charset="0"/>
                                </a:rPr>
                                <m:t> </m:t>
                              </m:r>
                              <m:acc>
                                <m:accPr>
                                  <m:chr m:val="̅"/>
                                  <m:ctrlPr>
                                    <a:rPr lang="en-NZ" altLang="ja-JP" sz="2200" b="1" i="1">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a:solidFill>
                                    <a:srgbClr val="C00000"/>
                                  </a:solidFill>
                                  <a:latin typeface="Cambria Math" panose="02040503050406030204" pitchFamily="18" charset="0"/>
                                  <a:ea typeface="Cambria Math" panose="02040503050406030204" pitchFamily="18" charset="0"/>
                                </a:rPr>
                                <m:t>∙</m:t>
                              </m:r>
                              <m:r>
                                <a:rPr lang="en-NZ" altLang="ja-JP" sz="2200" b="1" i="1" smtClean="0">
                                  <a:solidFill>
                                    <a:srgbClr val="C00000"/>
                                  </a:solidFill>
                                  <a:latin typeface="Cambria Math" panose="02040503050406030204" pitchFamily="18" charset="0"/>
                                  <a:ea typeface="Cambria Math" panose="02040503050406030204" pitchFamily="18" charset="0"/>
                                </a:rPr>
                                <m:t>𝒋</m:t>
                              </m:r>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smtClean="0">
                              <a:solidFill>
                                <a:srgbClr val="C00000"/>
                              </a:solidFill>
                              <a:latin typeface="Cambria Math" panose="02040503050406030204" pitchFamily="18" charset="0"/>
                              <a:ea typeface="Cambria Math" panose="02040503050406030204" pitchFamily="18" charset="0"/>
                            </a:rPr>
                            <m:t>+</m:t>
                          </m:r>
                          <m:r>
                            <a:rPr lang="en-NZ" altLang="ja-JP" sz="2200" b="1" i="1">
                              <a:solidFill>
                                <a:srgbClr val="C00000"/>
                              </a:solidFill>
                              <a:latin typeface="Cambria Math" panose="02040503050406030204" pitchFamily="18" charset="0"/>
                              <a:ea typeface="Cambria Math" panose="02040503050406030204" pitchFamily="18" charset="0"/>
                            </a:rPr>
                            <m:t> </m:t>
                          </m:r>
                          <m:sSub>
                            <m:sSubPr>
                              <m:ctrlPr>
                                <a:rPr lang="en-NZ" altLang="ja-JP" sz="2200" b="1" i="1">
                                  <a:solidFill>
                                    <a:srgbClr val="C00000"/>
                                  </a:solidFill>
                                  <a:latin typeface="Cambria Math" panose="02040503050406030204" pitchFamily="18" charset="0"/>
                                </a:rPr>
                              </m:ctrlPr>
                            </m:sSubPr>
                            <m:e>
                              <m:acc>
                                <m:accPr>
                                  <m:chr m:val="̅"/>
                                  <m:ctrlPr>
                                    <a:rPr lang="en-NZ" altLang="ja-JP" sz="2200" b="1" i="1">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a:solidFill>
                                <a:srgbClr val="C00000"/>
                              </a:solidFill>
                              <a:latin typeface="Cambria Math" panose="02040503050406030204" pitchFamily="18" charset="0"/>
                              <a:ea typeface="Cambria Math" panose="02040503050406030204" pitchFamily="18" charset="0"/>
                            </a:rPr>
                            <m:t> </m:t>
                          </m:r>
                        </m:e>
                      </m:d>
                    </m:oMath>
                  </m:oMathPara>
                </a14:m>
                <a:endParaRPr lang="en-NZ" altLang="ja-JP" sz="2200" dirty="0">
                  <a:solidFill>
                    <a:schemeClr val="tx1"/>
                  </a:solidFill>
                </a:endParaRPr>
              </a:p>
            </p:txBody>
          </p:sp>
        </mc:Choice>
        <mc:Fallback xmlns="">
          <p:sp>
            <p:nvSpPr>
              <p:cNvPr id="16" name="Text Placeholder 5">
                <a:extLst>
                  <a:ext uri="{FF2B5EF4-FFF2-40B4-BE49-F238E27FC236}">
                    <a16:creationId xmlns:a16="http://schemas.microsoft.com/office/drawing/2014/main" id="{7DA2C5CA-98B6-61FF-E94B-E94535C7379E}"/>
                  </a:ext>
                </a:extLst>
              </p:cNvPr>
              <p:cNvSpPr txBox="1">
                <a:spLocks noRot="1" noChangeAspect="1" noMove="1" noResize="1" noEditPoints="1" noAdjustHandles="1" noChangeArrowheads="1" noChangeShapeType="1" noTextEdit="1"/>
              </p:cNvSpPr>
              <p:nvPr/>
            </p:nvSpPr>
            <p:spPr>
              <a:xfrm>
                <a:off x="479945" y="5021460"/>
                <a:ext cx="11232109" cy="592925"/>
              </a:xfrm>
              <a:prstGeom prst="rect">
                <a:avLst/>
              </a:prstGeom>
              <a:blipFill>
                <a:blip r:embed="rId5"/>
                <a:stretch>
                  <a:fillRect/>
                </a:stretch>
              </a:blipFill>
            </p:spPr>
            <p:txBody>
              <a:bodyPr/>
              <a:lstStyle/>
              <a:p>
                <a:r>
                  <a:rPr lang="en-NZ">
                    <a:noFill/>
                  </a:rPr>
                  <a:t> </a:t>
                </a:r>
              </a:p>
            </p:txBody>
          </p:sp>
        </mc:Fallback>
      </mc:AlternateContent>
      <p:cxnSp>
        <p:nvCxnSpPr>
          <p:cNvPr id="3" name="Straight Arrow Connector 2">
            <a:extLst>
              <a:ext uri="{FF2B5EF4-FFF2-40B4-BE49-F238E27FC236}">
                <a16:creationId xmlns:a16="http://schemas.microsoft.com/office/drawing/2014/main" id="{42637178-D5FD-B482-3870-EE3CF79436CC}"/>
              </a:ext>
            </a:extLst>
          </p:cNvPr>
          <p:cNvCxnSpPr>
            <a:cxnSpLocks/>
            <a:stCxn id="17" idx="1"/>
          </p:cNvCxnSpPr>
          <p:nvPr/>
        </p:nvCxnSpPr>
        <p:spPr>
          <a:xfrm flipH="1">
            <a:off x="2347415" y="4499888"/>
            <a:ext cx="2194863" cy="5015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Left Brace 16">
            <a:extLst>
              <a:ext uri="{FF2B5EF4-FFF2-40B4-BE49-F238E27FC236}">
                <a16:creationId xmlns:a16="http://schemas.microsoft.com/office/drawing/2014/main" id="{049081EE-D310-4BE3-4893-88DAB593A94B}"/>
              </a:ext>
            </a:extLst>
          </p:cNvPr>
          <p:cNvSpPr/>
          <p:nvPr/>
        </p:nvSpPr>
        <p:spPr>
          <a:xfrm rot="16200000">
            <a:off x="4372557" y="3795032"/>
            <a:ext cx="339442" cy="107027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Left Brace 17">
            <a:extLst>
              <a:ext uri="{FF2B5EF4-FFF2-40B4-BE49-F238E27FC236}">
                <a16:creationId xmlns:a16="http://schemas.microsoft.com/office/drawing/2014/main" id="{F24E640C-24D5-7BCB-4A1F-8954B2C998D7}"/>
              </a:ext>
            </a:extLst>
          </p:cNvPr>
          <p:cNvSpPr/>
          <p:nvPr/>
        </p:nvSpPr>
        <p:spPr>
          <a:xfrm rot="16200000">
            <a:off x="5466459" y="4152401"/>
            <a:ext cx="339442" cy="3555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Left Brace 18">
            <a:extLst>
              <a:ext uri="{FF2B5EF4-FFF2-40B4-BE49-F238E27FC236}">
                <a16:creationId xmlns:a16="http://schemas.microsoft.com/office/drawing/2014/main" id="{F9B0E2D0-496E-3594-573D-4653AB83BB31}"/>
              </a:ext>
            </a:extLst>
          </p:cNvPr>
          <p:cNvSpPr/>
          <p:nvPr/>
        </p:nvSpPr>
        <p:spPr>
          <a:xfrm rot="16200000">
            <a:off x="6208335" y="4152401"/>
            <a:ext cx="339442" cy="3555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Left Brace 19">
            <a:extLst>
              <a:ext uri="{FF2B5EF4-FFF2-40B4-BE49-F238E27FC236}">
                <a16:creationId xmlns:a16="http://schemas.microsoft.com/office/drawing/2014/main" id="{1CF3CDE1-6960-C2D9-D556-DB01B5F9F78B}"/>
              </a:ext>
            </a:extLst>
          </p:cNvPr>
          <p:cNvSpPr/>
          <p:nvPr/>
        </p:nvSpPr>
        <p:spPr>
          <a:xfrm rot="16200000">
            <a:off x="7122634" y="4148070"/>
            <a:ext cx="339442" cy="3555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2" name="Straight Arrow Connector 21">
            <a:extLst>
              <a:ext uri="{FF2B5EF4-FFF2-40B4-BE49-F238E27FC236}">
                <a16:creationId xmlns:a16="http://schemas.microsoft.com/office/drawing/2014/main" id="{25B024D7-B326-7D1A-4E7B-C67FE1277E09}"/>
              </a:ext>
            </a:extLst>
          </p:cNvPr>
          <p:cNvCxnSpPr>
            <a:cxnSpLocks/>
            <a:stCxn id="18" idx="1"/>
          </p:cNvCxnSpPr>
          <p:nvPr/>
        </p:nvCxnSpPr>
        <p:spPr>
          <a:xfrm flipH="1">
            <a:off x="4542278" y="4499888"/>
            <a:ext cx="1093902" cy="521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B033E45-969A-E91B-6213-611A96E6EE4B}"/>
              </a:ext>
            </a:extLst>
          </p:cNvPr>
          <p:cNvCxnSpPr>
            <a:cxnSpLocks/>
            <a:stCxn id="19" idx="1"/>
          </p:cNvCxnSpPr>
          <p:nvPr/>
        </p:nvCxnSpPr>
        <p:spPr>
          <a:xfrm>
            <a:off x="6378056" y="4499888"/>
            <a:ext cx="0" cy="521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E3960FF7-4DEC-1B15-71F1-5D171ADECF57}"/>
              </a:ext>
            </a:extLst>
          </p:cNvPr>
          <p:cNvCxnSpPr>
            <a:cxnSpLocks/>
            <a:stCxn id="20" idx="1"/>
          </p:cNvCxnSpPr>
          <p:nvPr/>
        </p:nvCxnSpPr>
        <p:spPr>
          <a:xfrm>
            <a:off x="7292355" y="4495557"/>
            <a:ext cx="1619633" cy="5058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 Placeholder 5">
            <a:extLst>
              <a:ext uri="{FF2B5EF4-FFF2-40B4-BE49-F238E27FC236}">
                <a16:creationId xmlns:a16="http://schemas.microsoft.com/office/drawing/2014/main" id="{7D1690FC-9985-C2F7-180C-036254ABC299}"/>
              </a:ext>
            </a:extLst>
          </p:cNvPr>
          <p:cNvSpPr txBox="1">
            <a:spLocks/>
          </p:cNvSpPr>
          <p:nvPr/>
        </p:nvSpPr>
        <p:spPr>
          <a:xfrm>
            <a:off x="2720065" y="4425395"/>
            <a:ext cx="717768" cy="2935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600" dirty="0" err="1">
                <a:solidFill>
                  <a:srgbClr val="002060"/>
                </a:solidFill>
              </a:rPr>
              <a:t>est</a:t>
            </a:r>
            <a:endParaRPr lang="en-NZ" altLang="ja-JP" sz="1600" dirty="0">
              <a:solidFill>
                <a:srgbClr val="002060"/>
              </a:solidFill>
            </a:endParaRPr>
          </a:p>
        </p:txBody>
      </p:sp>
      <p:sp>
        <p:nvSpPr>
          <p:cNvPr id="31" name="Text Placeholder 5">
            <a:extLst>
              <a:ext uri="{FF2B5EF4-FFF2-40B4-BE49-F238E27FC236}">
                <a16:creationId xmlns:a16="http://schemas.microsoft.com/office/drawing/2014/main" id="{CC87848C-007B-1D13-CD9F-2CAEE6A039A6}"/>
              </a:ext>
            </a:extLst>
          </p:cNvPr>
          <p:cNvSpPr txBox="1">
            <a:spLocks/>
          </p:cNvSpPr>
          <p:nvPr/>
        </p:nvSpPr>
        <p:spPr>
          <a:xfrm>
            <a:off x="4535264" y="4553802"/>
            <a:ext cx="717768" cy="2935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600" dirty="0" err="1">
                <a:solidFill>
                  <a:srgbClr val="002060"/>
                </a:solidFill>
              </a:rPr>
              <a:t>est</a:t>
            </a:r>
            <a:endParaRPr lang="en-NZ" altLang="ja-JP" sz="1600" dirty="0">
              <a:solidFill>
                <a:srgbClr val="002060"/>
              </a:solidFill>
            </a:endParaRPr>
          </a:p>
        </p:txBody>
      </p:sp>
      <p:sp>
        <p:nvSpPr>
          <p:cNvPr id="32" name="Text Placeholder 5">
            <a:extLst>
              <a:ext uri="{FF2B5EF4-FFF2-40B4-BE49-F238E27FC236}">
                <a16:creationId xmlns:a16="http://schemas.microsoft.com/office/drawing/2014/main" id="{B46D1958-1844-AB9D-A1DA-3A0726ED67C7}"/>
              </a:ext>
            </a:extLst>
          </p:cNvPr>
          <p:cNvSpPr txBox="1">
            <a:spLocks/>
          </p:cNvSpPr>
          <p:nvPr/>
        </p:nvSpPr>
        <p:spPr>
          <a:xfrm>
            <a:off x="5744857" y="4553802"/>
            <a:ext cx="717768" cy="2935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600" dirty="0" err="1">
                <a:solidFill>
                  <a:srgbClr val="002060"/>
                </a:solidFill>
              </a:rPr>
              <a:t>est</a:t>
            </a:r>
            <a:endParaRPr lang="en-NZ" altLang="ja-JP" sz="1600" dirty="0">
              <a:solidFill>
                <a:srgbClr val="002060"/>
              </a:solidFill>
            </a:endParaRPr>
          </a:p>
        </p:txBody>
      </p:sp>
      <p:sp>
        <p:nvSpPr>
          <p:cNvPr id="33" name="Text Placeholder 5">
            <a:extLst>
              <a:ext uri="{FF2B5EF4-FFF2-40B4-BE49-F238E27FC236}">
                <a16:creationId xmlns:a16="http://schemas.microsoft.com/office/drawing/2014/main" id="{DC067C50-932E-B760-58EB-BD753CA5B978}"/>
              </a:ext>
            </a:extLst>
          </p:cNvPr>
          <p:cNvSpPr txBox="1">
            <a:spLocks/>
          </p:cNvSpPr>
          <p:nvPr/>
        </p:nvSpPr>
        <p:spPr>
          <a:xfrm>
            <a:off x="7292355" y="4553802"/>
            <a:ext cx="717768" cy="2935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600" dirty="0" err="1">
                <a:solidFill>
                  <a:srgbClr val="002060"/>
                </a:solidFill>
              </a:rPr>
              <a:t>est</a:t>
            </a:r>
            <a:endParaRPr lang="en-NZ" altLang="ja-JP" sz="1600" dirty="0">
              <a:solidFill>
                <a:srgbClr val="002060"/>
              </a:solidFill>
            </a:endParaRPr>
          </a:p>
        </p:txBody>
      </p:sp>
      <mc:AlternateContent xmlns:mc="http://schemas.openxmlformats.org/markup-compatibility/2006" xmlns:a14="http://schemas.microsoft.com/office/drawing/2010/main">
        <mc:Choice Requires="a14">
          <p:sp>
            <p:nvSpPr>
              <p:cNvPr id="34" name="Text Placeholder 5">
                <a:extLst>
                  <a:ext uri="{FF2B5EF4-FFF2-40B4-BE49-F238E27FC236}">
                    <a16:creationId xmlns:a16="http://schemas.microsoft.com/office/drawing/2014/main" id="{F5189795-CC45-52DD-AE78-524476C550DB}"/>
                  </a:ext>
                </a:extLst>
              </p:cNvPr>
              <p:cNvSpPr txBox="1">
                <a:spLocks/>
              </p:cNvSpPr>
              <p:nvPr/>
            </p:nvSpPr>
            <p:spPr>
              <a:xfrm>
                <a:off x="251224" y="5941330"/>
                <a:ext cx="6863366" cy="5929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In particular, </a:t>
                </a:r>
                <a:r>
                  <a:rPr lang="en-NZ" altLang="ja-JP" sz="1800" b="1" dirty="0">
                    <a:solidFill>
                      <a:schemeClr val="tx1"/>
                    </a:solidFill>
                  </a:rPr>
                  <a:t>  </a:t>
                </a:r>
                <a14:m>
                  <m:oMath xmlns:m="http://schemas.openxmlformats.org/officeDocument/2006/math">
                    <m:d>
                      <m:dPr>
                        <m:ctrlPr>
                          <a:rPr lang="en-NZ" altLang="ja-JP" sz="1800" b="1" i="1" smtClean="0">
                            <a:solidFill>
                              <a:schemeClr val="tx1"/>
                            </a:solidFill>
                            <a:latin typeface="Cambria Math" panose="02040503050406030204" pitchFamily="18" charset="0"/>
                          </a:rPr>
                        </m:ctrlPr>
                      </m:dPr>
                      <m:e>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𝒀</m:t>
                            </m:r>
                          </m:e>
                          <m:sub>
                            <m:r>
                              <a:rPr lang="en-NZ" altLang="ja-JP" sz="1800" b="1" i="1">
                                <a:solidFill>
                                  <a:schemeClr val="tx1"/>
                                </a:solidFill>
                                <a:latin typeface="Cambria Math" panose="02040503050406030204" pitchFamily="18" charset="0"/>
                              </a:rPr>
                              <m:t>𝒊𝒋𝒌</m:t>
                            </m:r>
                          </m:sub>
                        </m:sSub>
                        <m:r>
                          <a:rPr lang="en-NZ" altLang="ja-JP" sz="1800" b="1" i="1" smtClean="0">
                            <a:solidFill>
                              <a:schemeClr val="tx1"/>
                            </a:solidFill>
                            <a:latin typeface="Cambria Math" panose="02040503050406030204" pitchFamily="18" charset="0"/>
                          </a:rPr>
                          <m:t> −</m:t>
                        </m:r>
                        <m:sSub>
                          <m:sSubPr>
                            <m:ctrlPr>
                              <a:rPr lang="en-NZ" altLang="ja-JP" sz="1800" b="1" i="1">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 </m:t>
                            </m:r>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𝒀</m:t>
                                </m:r>
                              </m:e>
                            </m:acc>
                          </m:e>
                          <m:sub>
                            <m:r>
                              <a:rPr lang="en-NZ" altLang="ja-JP" sz="1800" b="1" i="1" smtClean="0">
                                <a:solidFill>
                                  <a:schemeClr val="tx1"/>
                                </a:solidFill>
                                <a:latin typeface="Cambria Math" panose="02040503050406030204" pitchFamily="18" charset="0"/>
                              </a:rPr>
                              <m:t>𝒊</m:t>
                            </m:r>
                            <m:r>
                              <a:rPr lang="en-NZ" altLang="ja-JP" sz="1800" b="1" i="1">
                                <a:solidFill>
                                  <a:schemeClr val="tx1"/>
                                </a:solidFill>
                                <a:latin typeface="Cambria Math" panose="02040503050406030204" pitchFamily="18" charset="0"/>
                                <a:ea typeface="Cambria Math" panose="02040503050406030204" pitchFamily="18" charset="0"/>
                              </a:rPr>
                              <m:t>∙∙</m:t>
                            </m:r>
                          </m:sub>
                        </m:sSub>
                        <m:r>
                          <a:rPr lang="en-NZ" altLang="ja-JP" sz="1800" b="1" i="1">
                            <a:solidFill>
                              <a:schemeClr val="tx1"/>
                            </a:solidFill>
                            <a:latin typeface="Cambria Math" panose="02040503050406030204" pitchFamily="18" charset="0"/>
                          </a:rPr>
                          <m:t>−</m:t>
                        </m:r>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 </m:t>
                            </m:r>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𝒀</m:t>
                                </m:r>
                              </m:e>
                            </m:acc>
                          </m:e>
                          <m:sub>
                            <m:r>
                              <a:rPr lang="en-NZ" altLang="ja-JP" sz="1800" b="1" i="1">
                                <a:solidFill>
                                  <a:schemeClr val="tx1"/>
                                </a:solidFill>
                                <a:latin typeface="Cambria Math" panose="02040503050406030204" pitchFamily="18" charset="0"/>
                                <a:ea typeface="Cambria Math" panose="02040503050406030204" pitchFamily="18" charset="0"/>
                              </a:rPr>
                              <m:t>∙</m:t>
                            </m:r>
                            <m:r>
                              <a:rPr lang="en-NZ" altLang="ja-JP" sz="1800" b="1" i="1" smtClean="0">
                                <a:solidFill>
                                  <a:schemeClr val="tx1"/>
                                </a:solidFill>
                                <a:latin typeface="Cambria Math" panose="02040503050406030204" pitchFamily="18" charset="0"/>
                                <a:ea typeface="Cambria Math" panose="02040503050406030204" pitchFamily="18" charset="0"/>
                              </a:rPr>
                              <m:t>𝒋</m:t>
                            </m:r>
                            <m:r>
                              <a:rPr lang="en-NZ" altLang="ja-JP" sz="1800" b="1" i="1">
                                <a:solidFill>
                                  <a:schemeClr val="tx1"/>
                                </a:solidFill>
                                <a:latin typeface="Cambria Math" panose="02040503050406030204" pitchFamily="18" charset="0"/>
                                <a:ea typeface="Cambria Math" panose="02040503050406030204" pitchFamily="18" charset="0"/>
                              </a:rPr>
                              <m:t>∙</m:t>
                            </m:r>
                          </m:sub>
                        </m:sSub>
                        <m:r>
                          <a:rPr lang="en-NZ" altLang="ja-JP" sz="1800" b="1" i="1" smtClean="0">
                            <a:solidFill>
                              <a:schemeClr val="tx1"/>
                            </a:solidFill>
                            <a:latin typeface="Cambria Math" panose="02040503050406030204" pitchFamily="18" charset="0"/>
                            <a:ea typeface="Cambria Math" panose="02040503050406030204" pitchFamily="18" charset="0"/>
                          </a:rPr>
                          <m:t>+</m:t>
                        </m:r>
                        <m:r>
                          <a:rPr lang="en-NZ" altLang="ja-JP" sz="1800" b="1" i="1">
                            <a:solidFill>
                              <a:schemeClr val="tx1"/>
                            </a:solidFill>
                            <a:latin typeface="Cambria Math" panose="02040503050406030204" pitchFamily="18" charset="0"/>
                            <a:ea typeface="Cambria Math" panose="02040503050406030204" pitchFamily="18" charset="0"/>
                          </a:rPr>
                          <m:t> </m:t>
                        </m:r>
                        <m:sSub>
                          <m:sSubPr>
                            <m:ctrlPr>
                              <a:rPr lang="en-NZ" altLang="ja-JP" sz="1800" b="1" i="1">
                                <a:solidFill>
                                  <a:schemeClr val="tx1"/>
                                </a:solidFill>
                                <a:latin typeface="Cambria Math" panose="02040503050406030204" pitchFamily="18" charset="0"/>
                              </a:rPr>
                            </m:ctrlPr>
                          </m:sSub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𝒀</m:t>
                                </m:r>
                              </m:e>
                            </m:acc>
                          </m:e>
                          <m:sub>
                            <m:r>
                              <a:rPr lang="en-NZ" altLang="ja-JP" sz="1800" b="1" i="1">
                                <a:solidFill>
                                  <a:schemeClr val="tx1"/>
                                </a:solidFill>
                                <a:latin typeface="Cambria Math" panose="02040503050406030204" pitchFamily="18" charset="0"/>
                                <a:ea typeface="Cambria Math" panose="02040503050406030204" pitchFamily="18" charset="0"/>
                              </a:rPr>
                              <m:t>∙∙∙</m:t>
                            </m:r>
                          </m:sub>
                        </m:sSub>
                        <m:r>
                          <a:rPr lang="en-NZ" altLang="ja-JP" sz="1800" b="1" i="1">
                            <a:solidFill>
                              <a:schemeClr val="tx1"/>
                            </a:solidFill>
                            <a:latin typeface="Cambria Math" panose="02040503050406030204" pitchFamily="18" charset="0"/>
                            <a:ea typeface="Cambria Math" panose="02040503050406030204" pitchFamily="18" charset="0"/>
                          </a:rPr>
                          <m:t> </m:t>
                        </m:r>
                      </m:e>
                    </m:d>
                  </m:oMath>
                </a14:m>
                <a:r>
                  <a:rPr lang="en-NZ" altLang="ja-JP" sz="1800" dirty="0">
                    <a:solidFill>
                      <a:schemeClr val="tx1"/>
                    </a:solidFill>
                  </a:rPr>
                  <a:t> is an estimate of </a:t>
                </a:r>
                <a14:m>
                  <m:oMath xmlns:m="http://schemas.openxmlformats.org/officeDocument/2006/math">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𝝐</m:t>
                        </m:r>
                      </m:e>
                      <m:sub>
                        <m:r>
                          <a:rPr lang="en-NZ" altLang="ja-JP" sz="1800" b="1" i="1">
                            <a:solidFill>
                              <a:schemeClr val="tx1"/>
                            </a:solidFill>
                            <a:latin typeface="Cambria Math" panose="02040503050406030204" pitchFamily="18" charset="0"/>
                          </a:rPr>
                          <m:t>𝒊𝒋𝒌</m:t>
                        </m:r>
                      </m:sub>
                    </m:sSub>
                  </m:oMath>
                </a14:m>
                <a:r>
                  <a:rPr lang="en-NZ" altLang="ja-JP" sz="1800" dirty="0">
                    <a:solidFill>
                      <a:schemeClr val="tx1"/>
                    </a:solidFill>
                  </a:rPr>
                  <a:t> </a:t>
                </a:r>
              </a:p>
            </p:txBody>
          </p:sp>
        </mc:Choice>
        <mc:Fallback xmlns="">
          <p:sp>
            <p:nvSpPr>
              <p:cNvPr id="34" name="Text Placeholder 5">
                <a:extLst>
                  <a:ext uri="{FF2B5EF4-FFF2-40B4-BE49-F238E27FC236}">
                    <a16:creationId xmlns:a16="http://schemas.microsoft.com/office/drawing/2014/main" id="{F5189795-CC45-52DD-AE78-524476C550DB}"/>
                  </a:ext>
                </a:extLst>
              </p:cNvPr>
              <p:cNvSpPr txBox="1">
                <a:spLocks noRot="1" noChangeAspect="1" noMove="1" noResize="1" noEditPoints="1" noAdjustHandles="1" noChangeArrowheads="1" noChangeShapeType="1" noTextEdit="1"/>
              </p:cNvSpPr>
              <p:nvPr/>
            </p:nvSpPr>
            <p:spPr>
              <a:xfrm>
                <a:off x="251224" y="5941330"/>
                <a:ext cx="6863366" cy="592925"/>
              </a:xfrm>
              <a:prstGeom prst="rect">
                <a:avLst/>
              </a:prstGeom>
              <a:blipFill>
                <a:blip r:embed="rId6"/>
                <a:stretch>
                  <a:fillRect l="-710" t="-2062"/>
                </a:stretch>
              </a:blipFill>
            </p:spPr>
            <p:txBody>
              <a:bodyPr/>
              <a:lstStyle/>
              <a:p>
                <a:r>
                  <a:rPr lang="en-NZ">
                    <a:noFill/>
                  </a:rPr>
                  <a:t> </a:t>
                </a:r>
              </a:p>
            </p:txBody>
          </p:sp>
        </mc:Fallback>
      </mc:AlternateContent>
      <p:sp>
        <p:nvSpPr>
          <p:cNvPr id="25" name="Footer Placeholder 2">
            <a:extLst>
              <a:ext uri="{FF2B5EF4-FFF2-40B4-BE49-F238E27FC236}">
                <a16:creationId xmlns:a16="http://schemas.microsoft.com/office/drawing/2014/main" id="{FA5D93A3-9F97-37D4-9237-70764A3CDD26}"/>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4.3 – </a:t>
            </a:r>
            <a:r>
              <a:rPr kumimoji="1" lang="en-US" altLang="ja-JP" sz="1600" dirty="0">
                <a:solidFill>
                  <a:srgbClr val="DEDDDD"/>
                </a:solidFill>
                <a:latin typeface="Gidole"/>
                <a:ea typeface="游ゴシック" panose="020B0400000000000000" pitchFamily="34" charset="-128"/>
              </a:rPr>
              <a:t>Fixed Effects Model</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70354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4" grpId="0"/>
      <p:bldP spid="15" grpId="0"/>
      <p:bldP spid="16" grpId="0"/>
      <p:bldP spid="17" grpId="0" animBg="1"/>
      <p:bldP spid="18" grpId="0" animBg="1"/>
      <p:bldP spid="19" grpId="0" animBg="1"/>
      <p:bldP spid="20" grpId="0" animBg="1"/>
      <p:bldP spid="30" grpId="0"/>
      <p:bldP spid="31" grpId="0"/>
      <p:bldP spid="32" grpId="0"/>
      <p:bldP spid="33" grpId="0"/>
      <p:bldP spid="3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21" name="Text Placeholder 5">
            <a:extLst>
              <a:ext uri="{FF2B5EF4-FFF2-40B4-BE49-F238E27FC236}">
                <a16:creationId xmlns:a16="http://schemas.microsoft.com/office/drawing/2014/main" id="{DBA0427A-F068-434B-84BF-17437B3BF697}"/>
              </a:ext>
            </a:extLst>
          </p:cNvPr>
          <p:cNvSpPr txBox="1">
            <a:spLocks/>
          </p:cNvSpPr>
          <p:nvPr/>
        </p:nvSpPr>
        <p:spPr>
          <a:xfrm>
            <a:off x="251224" y="926071"/>
            <a:ext cx="11232109"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a:solidFill>
                  <a:schemeClr val="tx1"/>
                </a:solidFill>
              </a:rPr>
              <a:t>Of course, we </a:t>
            </a:r>
            <a:r>
              <a:rPr lang="en-NZ" altLang="ja-JP" sz="1800" dirty="0">
                <a:solidFill>
                  <a:schemeClr val="tx1"/>
                </a:solidFill>
              </a:rPr>
              <a:t>don’t know </a:t>
            </a:r>
            <a:r>
              <a:rPr lang="en-NZ" altLang="ja-JP" sz="1800">
                <a:solidFill>
                  <a:schemeClr val="tx1"/>
                </a:solidFill>
              </a:rPr>
              <a:t>what the true values of the parameters in the model are. </a:t>
            </a:r>
            <a:endParaRPr lang="en-NZ" altLang="ja-JP" sz="1800" dirty="0">
              <a:solidFill>
                <a:schemeClr val="tx1"/>
              </a:solidFill>
            </a:endParaRPr>
          </a:p>
          <a:p>
            <a:pPr algn="just">
              <a:lnSpc>
                <a:spcPct val="100000"/>
              </a:lnSpc>
            </a:pPr>
            <a:r>
              <a:rPr lang="en-NZ" altLang="ja-JP" sz="1800" dirty="0">
                <a:solidFill>
                  <a:schemeClr val="tx1"/>
                </a:solidFill>
              </a:rPr>
              <a:t>As such</a:t>
            </a:r>
            <a:r>
              <a:rPr lang="en-NZ" altLang="ja-JP" sz="1800">
                <a:solidFill>
                  <a:schemeClr val="tx1"/>
                </a:solidFill>
              </a:rPr>
              <a:t>, we must estimate these parameters from the </a:t>
            </a:r>
            <a:r>
              <a:rPr lang="en-NZ" altLang="ja-JP" sz="1800" dirty="0">
                <a:solidFill>
                  <a:schemeClr val="tx1"/>
                </a:solidFill>
              </a:rPr>
              <a:t>data</a:t>
            </a:r>
          </a:p>
          <a:p>
            <a:pPr algn="just">
              <a:lnSpc>
                <a:spcPct val="100000"/>
              </a:lnSpc>
            </a:pPr>
            <a:r>
              <a:rPr lang="en-NZ" altLang="ja-JP" sz="1800" dirty="0">
                <a:solidFill>
                  <a:schemeClr val="tx1"/>
                </a:solidFill>
              </a:rPr>
              <a:t>  </a:t>
            </a:r>
          </a:p>
          <a:p>
            <a:pPr algn="just">
              <a:lnSpc>
                <a:spcPct val="100000"/>
              </a:lnSpc>
            </a:pPr>
            <a:endParaRPr lang="en-NZ" altLang="ja-JP" sz="1800" dirty="0">
              <a:solidFill>
                <a:schemeClr val="tx1"/>
              </a:solidFill>
            </a:endParaRPr>
          </a:p>
        </p:txBody>
      </p:sp>
      <mc:AlternateContent xmlns:mc="http://schemas.openxmlformats.org/markup-compatibility/2006" xmlns:a14="http://schemas.microsoft.com/office/drawing/2010/main">
        <mc:Choice Requires="a14">
          <p:graphicFrame>
            <p:nvGraphicFramePr>
              <p:cNvPr id="22" name="Table 2">
                <a:extLst>
                  <a:ext uri="{FF2B5EF4-FFF2-40B4-BE49-F238E27FC236}">
                    <a16:creationId xmlns:a16="http://schemas.microsoft.com/office/drawing/2014/main" id="{68C4A14C-F897-4C2E-8A89-87A356FB86B1}"/>
                  </a:ext>
                </a:extLst>
              </p:cNvPr>
              <p:cNvGraphicFramePr>
                <a:graphicFrameLocks noGrp="1"/>
              </p:cNvGraphicFramePr>
              <p:nvPr/>
            </p:nvGraphicFramePr>
            <p:xfrm>
              <a:off x="1009427" y="1682451"/>
              <a:ext cx="10173145" cy="4817502"/>
            </p:xfrm>
            <a:graphic>
              <a:graphicData uri="http://schemas.openxmlformats.org/drawingml/2006/table">
                <a:tbl>
                  <a:tblPr firstRow="1" bandRow="1">
                    <a:tableStyleId>{5C22544A-7EE6-4342-B048-85BDC9FD1C3A}</a:tableStyleId>
                  </a:tblPr>
                  <a:tblGrid>
                    <a:gridCol w="1799874">
                      <a:extLst>
                        <a:ext uri="{9D8B030D-6E8A-4147-A177-3AD203B41FA5}">
                          <a16:colId xmlns:a16="http://schemas.microsoft.com/office/drawing/2014/main" val="4198110682"/>
                        </a:ext>
                      </a:extLst>
                    </a:gridCol>
                    <a:gridCol w="4483865">
                      <a:extLst>
                        <a:ext uri="{9D8B030D-6E8A-4147-A177-3AD203B41FA5}">
                          <a16:colId xmlns:a16="http://schemas.microsoft.com/office/drawing/2014/main" val="292302729"/>
                        </a:ext>
                      </a:extLst>
                    </a:gridCol>
                    <a:gridCol w="3889406">
                      <a:extLst>
                        <a:ext uri="{9D8B030D-6E8A-4147-A177-3AD203B41FA5}">
                          <a16:colId xmlns:a16="http://schemas.microsoft.com/office/drawing/2014/main" val="126256495"/>
                        </a:ext>
                      </a:extLst>
                    </a:gridCol>
                  </a:tblGrid>
                  <a:tr h="415412">
                    <a:tc>
                      <a:txBody>
                        <a:bodyPr/>
                        <a:lstStyle/>
                        <a:p>
                          <a:pPr algn="ctr"/>
                          <a:r>
                            <a:rPr lang="en-NZ"/>
                            <a:t>Parameter</a:t>
                          </a:r>
                          <a:endParaRPr lang="en-NZ" dirty="0"/>
                        </a:p>
                      </a:txBody>
                      <a:tcPr anchor="ctr"/>
                    </a:tc>
                    <a:tc>
                      <a:txBody>
                        <a:bodyPr/>
                        <a:lstStyle/>
                        <a:p>
                          <a:pPr algn="ctr"/>
                          <a:r>
                            <a:rPr lang="en-NZ" dirty="0"/>
                            <a:t>Unbiassed Estimator</a:t>
                          </a:r>
                        </a:p>
                      </a:txBody>
                      <a:tcPr anchor="ctr"/>
                    </a:tc>
                    <a:tc>
                      <a:txBody>
                        <a:bodyPr/>
                        <a:lstStyle/>
                        <a:p>
                          <a:pPr algn="ctr"/>
                          <a:r>
                            <a:rPr lang="en-NZ"/>
                            <a:t>Meaning</a:t>
                          </a:r>
                          <a:endParaRPr lang="en-NZ" dirty="0"/>
                        </a:p>
                      </a:txBody>
                      <a:tcPr anchor="ctr"/>
                    </a:tc>
                    <a:extLst>
                      <a:ext uri="{0D108BD9-81ED-4DB2-BD59-A6C34878D82A}">
                        <a16:rowId xmlns:a16="http://schemas.microsoft.com/office/drawing/2014/main" val="3666350365"/>
                      </a:ext>
                    </a:extLst>
                  </a:tr>
                  <a:tr h="716159">
                    <a:tc>
                      <a:txBody>
                        <a:bodyPr/>
                        <a:lstStyle/>
                        <a:p>
                          <a:pPr algn="ctr"/>
                          <a14:m>
                            <m:oMathPara xmlns:m="http://schemas.openxmlformats.org/officeDocument/2006/math">
                              <m:oMathParaPr>
                                <m:jc m:val="centerGroup"/>
                              </m:oMathParaPr>
                              <m:oMath xmlns:m="http://schemas.openxmlformats.org/officeDocument/2006/math">
                                <m:r>
                                  <a:rPr lang="en-NZ" sz="1600" b="0" i="1" smtClean="0">
                                    <a:latin typeface="Cambria Math" panose="02040503050406030204" pitchFamily="18" charset="0"/>
                                  </a:rPr>
                                  <m:t>𝜇</m:t>
                                </m:r>
                              </m:oMath>
                            </m:oMathPara>
                          </a14:m>
                          <a:endParaRPr lang="en-NZ" sz="1600" dirty="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NZ" sz="1600" b="0" i="1" smtClean="0">
                                        <a:latin typeface="Cambria Math" panose="02040503050406030204" pitchFamily="18" charset="0"/>
                                      </a:rPr>
                                    </m:ctrlPr>
                                  </m:sSubPr>
                                  <m:e>
                                    <m:acc>
                                      <m:accPr>
                                        <m:chr m:val="̂"/>
                                        <m:ctrlPr>
                                          <a:rPr lang="en-NZ" sz="1600" b="0" i="1" smtClean="0">
                                            <a:latin typeface="Cambria Math" panose="02040503050406030204" pitchFamily="18" charset="0"/>
                                          </a:rPr>
                                        </m:ctrlPr>
                                      </m:accPr>
                                      <m:e>
                                        <m:r>
                                          <a:rPr lang="en-NZ" sz="1600" b="0" i="1" smtClean="0">
                                            <a:latin typeface="Cambria Math" panose="02040503050406030204" pitchFamily="18" charset="0"/>
                                          </a:rPr>
                                          <m:t>𝜇</m:t>
                                        </m:r>
                                      </m:e>
                                    </m:acc>
                                    <m:r>
                                      <a:rPr lang="en-NZ" sz="1600" b="0" i="1" smtClean="0">
                                        <a:latin typeface="Cambria Math" panose="02040503050406030204" pitchFamily="18" charset="0"/>
                                      </a:rPr>
                                      <m:t>= </m:t>
                                    </m:r>
                                    <m:acc>
                                      <m:accPr>
                                        <m:chr m:val="̅"/>
                                        <m:ctrlPr>
                                          <a:rPr lang="en-NZ" sz="1600" i="1" smtClean="0">
                                            <a:latin typeface="Cambria Math" panose="02040503050406030204" pitchFamily="18" charset="0"/>
                                          </a:rPr>
                                        </m:ctrlPr>
                                      </m:accPr>
                                      <m:e>
                                        <m:r>
                                          <a:rPr lang="en-NZ" sz="1600" b="0" i="1" smtClean="0">
                                            <a:latin typeface="Cambria Math" panose="02040503050406030204" pitchFamily="18" charset="0"/>
                                          </a:rPr>
                                          <m:t>𝑌</m:t>
                                        </m:r>
                                      </m:e>
                                    </m:acc>
                                  </m:e>
                                  <m:sub>
                                    <m:r>
                                      <a:rPr lang="en-NZ" sz="1600" i="1" smtClean="0">
                                        <a:latin typeface="Cambria Math" panose="02040503050406030204" pitchFamily="18" charset="0"/>
                                        <a:ea typeface="Cambria Math" panose="02040503050406030204" pitchFamily="18" charset="0"/>
                                      </a:rPr>
                                      <m:t>∙∙∙</m:t>
                                    </m:r>
                                  </m:sub>
                                </m:sSub>
                                <m:r>
                                  <a:rPr lang="en-NZ" sz="1600" b="0" i="1" smtClean="0">
                                    <a:latin typeface="Cambria Math" panose="02040503050406030204" pitchFamily="18" charset="0"/>
                                    <a:ea typeface="Cambria Math" panose="02040503050406030204" pitchFamily="18" charset="0"/>
                                  </a:rPr>
                                  <m:t>= </m:t>
                                </m:r>
                                <m:f>
                                  <m:fPr>
                                    <m:type m:val="lin"/>
                                    <m:ctrlPr>
                                      <a:rPr lang="en-NZ" sz="1600" b="0" i="1" smtClean="0">
                                        <a:latin typeface="Cambria Math" panose="02040503050406030204" pitchFamily="18" charset="0"/>
                                        <a:ea typeface="Cambria Math" panose="02040503050406030204" pitchFamily="18" charset="0"/>
                                      </a:rPr>
                                    </m:ctrlPr>
                                  </m:fPr>
                                  <m:num>
                                    <m:r>
                                      <a:rPr lang="en-NZ" sz="1600" b="0" i="1" smtClean="0">
                                        <a:latin typeface="Cambria Math" panose="02040503050406030204" pitchFamily="18" charset="0"/>
                                        <a:ea typeface="Cambria Math" panose="02040503050406030204" pitchFamily="18" charset="0"/>
                                      </a:rPr>
                                      <m:t>1</m:t>
                                    </m:r>
                                  </m:num>
                                  <m:den>
                                    <m:r>
                                      <a:rPr lang="en-NZ" sz="1600" b="0" i="1" smtClean="0">
                                        <a:latin typeface="Cambria Math" panose="02040503050406030204" pitchFamily="18" charset="0"/>
                                        <a:ea typeface="Cambria Math" panose="02040503050406030204" pitchFamily="18" charset="0"/>
                                      </a:rPr>
                                      <m:t>(</m:t>
                                    </m:r>
                                    <m:r>
                                      <a:rPr lang="en-NZ" sz="1600" b="0" i="1" smtClean="0">
                                        <a:latin typeface="Cambria Math" panose="02040503050406030204" pitchFamily="18" charset="0"/>
                                        <a:ea typeface="Cambria Math" panose="02040503050406030204" pitchFamily="18" charset="0"/>
                                      </a:rPr>
                                      <m:t>𝑎𝑏𝑛</m:t>
                                    </m:r>
                                    <m:r>
                                      <a:rPr lang="en-NZ" sz="1600" b="0" i="1" smtClean="0">
                                        <a:latin typeface="Cambria Math" panose="02040503050406030204" pitchFamily="18" charset="0"/>
                                        <a:ea typeface="Cambria Math" panose="02040503050406030204" pitchFamily="18" charset="0"/>
                                      </a:rPr>
                                      <m:t>)</m:t>
                                    </m:r>
                                  </m:den>
                                </m:f>
                                <m:r>
                                  <a:rPr lang="en-NZ" sz="1600" b="0" i="1" smtClean="0">
                                    <a:latin typeface="Cambria Math" panose="02040503050406030204" pitchFamily="18" charset="0"/>
                                    <a:ea typeface="Cambria Math" panose="02040503050406030204" pitchFamily="18" charset="0"/>
                                  </a:rPr>
                                  <m:t> ∗</m:t>
                                </m:r>
                                <m:d>
                                  <m:dPr>
                                    <m:ctrlPr>
                                      <a:rPr lang="en-NZ" sz="1600" b="0" i="1" smtClean="0">
                                        <a:latin typeface="Cambria Math" panose="02040503050406030204" pitchFamily="18" charset="0"/>
                                        <a:ea typeface="Cambria Math" panose="02040503050406030204" pitchFamily="18" charset="0"/>
                                      </a:rPr>
                                    </m:ctrlPr>
                                  </m:dPr>
                                  <m:e>
                                    <m:nary>
                                      <m:naryPr>
                                        <m:chr m:val="∑"/>
                                        <m:limLoc m:val="subSup"/>
                                        <m:ctrlPr>
                                          <a:rPr lang="en-NZ" sz="1600" b="0" i="1" smtClean="0">
                                            <a:latin typeface="Cambria Math" panose="02040503050406030204" pitchFamily="18" charset="0"/>
                                            <a:ea typeface="Cambria Math" panose="02040503050406030204" pitchFamily="18" charset="0"/>
                                          </a:rPr>
                                        </m:ctrlPr>
                                      </m:naryPr>
                                      <m:sub>
                                        <m:r>
                                          <m:rPr>
                                            <m:brk m:alnAt="25"/>
                                          </m:rPr>
                                          <a:rPr lang="en-NZ" sz="1600" b="0" i="1" smtClean="0">
                                            <a:latin typeface="Cambria Math" panose="02040503050406030204" pitchFamily="18" charset="0"/>
                                            <a:ea typeface="Cambria Math" panose="02040503050406030204" pitchFamily="18" charset="0"/>
                                          </a:rPr>
                                          <m:t>𝑖</m:t>
                                        </m:r>
                                        <m:r>
                                          <a:rPr lang="en-NZ" sz="1600" b="0" i="1" smtClean="0">
                                            <a:latin typeface="Cambria Math" panose="02040503050406030204" pitchFamily="18" charset="0"/>
                                            <a:ea typeface="Cambria Math" panose="02040503050406030204" pitchFamily="18" charset="0"/>
                                          </a:rPr>
                                          <m:t>=1</m:t>
                                        </m:r>
                                      </m:sub>
                                      <m:sup>
                                        <m:r>
                                          <a:rPr lang="en-NZ" sz="1600" b="0" i="1" smtClean="0">
                                            <a:latin typeface="Cambria Math" panose="02040503050406030204" pitchFamily="18" charset="0"/>
                                            <a:ea typeface="Cambria Math" panose="02040503050406030204" pitchFamily="18" charset="0"/>
                                          </a:rPr>
                                          <m:t>𝑎</m:t>
                                        </m:r>
                                      </m:sup>
                                      <m:e>
                                        <m:nary>
                                          <m:naryPr>
                                            <m:chr m:val="∑"/>
                                            <m:limLoc m:val="subSup"/>
                                            <m:ctrlPr>
                                              <a:rPr lang="en-NZ" sz="1600" b="0" i="1" smtClean="0">
                                                <a:latin typeface="Cambria Math" panose="02040503050406030204" pitchFamily="18" charset="0"/>
                                                <a:ea typeface="Cambria Math" panose="02040503050406030204" pitchFamily="18" charset="0"/>
                                              </a:rPr>
                                            </m:ctrlPr>
                                          </m:naryPr>
                                          <m:sub>
                                            <m:r>
                                              <m:rPr>
                                                <m:brk m:alnAt="1"/>
                                              </m:rPr>
                                              <a:rPr lang="en-NZ" sz="1600" b="0" i="1" smtClean="0">
                                                <a:latin typeface="Cambria Math" panose="02040503050406030204" pitchFamily="18" charset="0"/>
                                                <a:ea typeface="Cambria Math" panose="02040503050406030204" pitchFamily="18" charset="0"/>
                                              </a:rPr>
                                              <m:t>𝑗</m:t>
                                            </m:r>
                                            <m:r>
                                              <a:rPr lang="en-NZ" sz="1600" b="0" i="1" smtClean="0">
                                                <a:latin typeface="Cambria Math" panose="02040503050406030204" pitchFamily="18" charset="0"/>
                                                <a:ea typeface="Cambria Math" panose="02040503050406030204" pitchFamily="18" charset="0"/>
                                              </a:rPr>
                                              <m:t>=1</m:t>
                                            </m:r>
                                          </m:sub>
                                          <m:sup>
                                            <m:r>
                                              <a:rPr lang="en-NZ" sz="1600" b="0" i="1" smtClean="0">
                                                <a:latin typeface="Cambria Math" panose="02040503050406030204" pitchFamily="18" charset="0"/>
                                                <a:ea typeface="Cambria Math" panose="02040503050406030204" pitchFamily="18" charset="0"/>
                                              </a:rPr>
                                              <m:t>𝑏</m:t>
                                            </m:r>
                                          </m:sup>
                                          <m:e>
                                            <m:nary>
                                              <m:naryPr>
                                                <m:chr m:val="∑"/>
                                                <m:limLoc m:val="subSup"/>
                                                <m:ctrlPr>
                                                  <a:rPr lang="en-NZ" sz="1600" b="0" i="1" smtClean="0">
                                                    <a:latin typeface="Cambria Math" panose="02040503050406030204" pitchFamily="18" charset="0"/>
                                                    <a:ea typeface="Cambria Math" panose="02040503050406030204" pitchFamily="18" charset="0"/>
                                                  </a:rPr>
                                                </m:ctrlPr>
                                              </m:naryPr>
                                              <m:sub>
                                                <m:r>
                                                  <m:rPr>
                                                    <m:brk m:alnAt="25"/>
                                                  </m:rPr>
                                                  <a:rPr lang="en-NZ" sz="1600" b="0" i="1" smtClean="0">
                                                    <a:latin typeface="Cambria Math" panose="02040503050406030204" pitchFamily="18" charset="0"/>
                                                    <a:ea typeface="Cambria Math" panose="02040503050406030204" pitchFamily="18" charset="0"/>
                                                  </a:rPr>
                                                  <m:t>𝑘</m:t>
                                                </m:r>
                                                <m:r>
                                                  <a:rPr lang="en-NZ" sz="1600" b="0" i="1" smtClean="0">
                                                    <a:latin typeface="Cambria Math" panose="02040503050406030204" pitchFamily="18" charset="0"/>
                                                    <a:ea typeface="Cambria Math" panose="02040503050406030204" pitchFamily="18" charset="0"/>
                                                  </a:rPr>
                                                  <m:t>=1</m:t>
                                                </m:r>
                                              </m:sub>
                                              <m:sup>
                                                <m:r>
                                                  <a:rPr lang="en-NZ" sz="1600" b="0" i="1" smtClean="0">
                                                    <a:latin typeface="Cambria Math" panose="02040503050406030204" pitchFamily="18" charset="0"/>
                                                    <a:ea typeface="Cambria Math" panose="02040503050406030204" pitchFamily="18" charset="0"/>
                                                  </a:rPr>
                                                  <m:t>𝑛</m:t>
                                                </m:r>
                                              </m:sup>
                                              <m:e>
                                                <m:sSub>
                                                  <m:sSubPr>
                                                    <m:ctrlPr>
                                                      <a:rPr lang="en-NZ" sz="1600" b="0" i="1" smtClean="0">
                                                        <a:latin typeface="Cambria Math" panose="02040503050406030204" pitchFamily="18" charset="0"/>
                                                        <a:ea typeface="Cambria Math" panose="02040503050406030204" pitchFamily="18" charset="0"/>
                                                      </a:rPr>
                                                    </m:ctrlPr>
                                                  </m:sSubPr>
                                                  <m:e>
                                                    <m:r>
                                                      <a:rPr lang="en-NZ" sz="1600" b="0" i="1" smtClean="0">
                                                        <a:latin typeface="Cambria Math" panose="02040503050406030204" pitchFamily="18" charset="0"/>
                                                        <a:ea typeface="Cambria Math" panose="02040503050406030204" pitchFamily="18" charset="0"/>
                                                      </a:rPr>
                                                      <m:t>𝑌</m:t>
                                                    </m:r>
                                                  </m:e>
                                                  <m:sub>
                                                    <m:r>
                                                      <a:rPr lang="en-NZ" sz="1600" b="0" i="1" smtClean="0">
                                                        <a:latin typeface="Cambria Math" panose="02040503050406030204" pitchFamily="18" charset="0"/>
                                                        <a:ea typeface="Cambria Math" panose="02040503050406030204" pitchFamily="18" charset="0"/>
                                                      </a:rPr>
                                                      <m:t>𝑖𝑗𝑘</m:t>
                                                    </m:r>
                                                  </m:sub>
                                                </m:sSub>
                                              </m:e>
                                            </m:nary>
                                          </m:e>
                                        </m:nary>
                                      </m:e>
                                    </m:nary>
                                  </m:e>
                                </m:d>
                              </m:oMath>
                            </m:oMathPara>
                          </a14:m>
                          <a:endParaRPr lang="en-NZ" sz="1600" dirty="0"/>
                        </a:p>
                      </a:txBody>
                      <a:tcPr anchor="ctr"/>
                    </a:tc>
                    <a:tc>
                      <a:txBody>
                        <a:bodyPr/>
                        <a:lstStyle/>
                        <a:p>
                          <a:pPr algn="ctr"/>
                          <a:r>
                            <a:rPr lang="en-NZ" sz="1600"/>
                            <a:t>Overall Mean</a:t>
                          </a:r>
                          <a:endParaRPr lang="en-NZ" sz="1600" dirty="0"/>
                        </a:p>
                      </a:txBody>
                      <a:tcPr anchor="ctr"/>
                    </a:tc>
                    <a:extLst>
                      <a:ext uri="{0D108BD9-81ED-4DB2-BD59-A6C34878D82A}">
                        <a16:rowId xmlns:a16="http://schemas.microsoft.com/office/drawing/2014/main" val="3341485952"/>
                      </a:ext>
                    </a:extLst>
                  </a:tr>
                  <a:tr h="63905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NZ" sz="1600" b="0" i="1" smtClean="0">
                                        <a:latin typeface="Cambria Math" panose="02040503050406030204" pitchFamily="18" charset="0"/>
                                      </a:rPr>
                                    </m:ctrlPr>
                                  </m:sSubPr>
                                  <m:e>
                                    <m:r>
                                      <a:rPr lang="en-NZ" sz="1600" b="0" i="1" smtClean="0">
                                        <a:latin typeface="Cambria Math" panose="02040503050406030204" pitchFamily="18" charset="0"/>
                                      </a:rPr>
                                      <m:t>𝜇</m:t>
                                    </m:r>
                                  </m:e>
                                  <m:sub>
                                    <m:r>
                                      <a:rPr lang="en-NZ" sz="1600" b="0" i="1" smtClean="0">
                                        <a:latin typeface="Cambria Math" panose="02040503050406030204" pitchFamily="18" charset="0"/>
                                      </a:rPr>
                                      <m:t>𝑖𝑗</m:t>
                                    </m:r>
                                  </m:sub>
                                </m:sSub>
                              </m:oMath>
                            </m:oMathPara>
                          </a14:m>
                          <a:endParaRPr lang="en-NZ" sz="1600" dirty="0"/>
                        </a:p>
                      </a:txBody>
                      <a:tcPr anchor="ctr"/>
                    </a:tc>
                    <a:tc>
                      <a:txBody>
                        <a:bodyPr/>
                        <a:lstStyle/>
                        <a:p>
                          <a:pPr algn="ctr"/>
                          <a14:m>
                            <m:oMathPara xmlns:m="http://schemas.openxmlformats.org/officeDocument/2006/math">
                              <m:oMathParaPr>
                                <m:jc m:val="centerGroup"/>
                              </m:oMathParaPr>
                              <m:oMath xmlns:m="http://schemas.openxmlformats.org/officeDocument/2006/math">
                                <m:acc>
                                  <m:accPr>
                                    <m:chr m:val="̂"/>
                                    <m:ctrlPr>
                                      <a:rPr lang="en-NZ" sz="1600" i="1" smtClean="0">
                                        <a:latin typeface="Cambria Math" panose="02040503050406030204" pitchFamily="18" charset="0"/>
                                      </a:rPr>
                                    </m:ctrlPr>
                                  </m:accPr>
                                  <m:e>
                                    <m:sSub>
                                      <m:sSubPr>
                                        <m:ctrlPr>
                                          <a:rPr lang="en-NZ" sz="1600" b="0" i="1" smtClean="0">
                                            <a:latin typeface="Cambria Math" panose="02040503050406030204" pitchFamily="18" charset="0"/>
                                          </a:rPr>
                                        </m:ctrlPr>
                                      </m:sSubPr>
                                      <m:e>
                                        <m:r>
                                          <a:rPr lang="en-NZ" sz="1600" b="0" i="1" smtClean="0">
                                            <a:latin typeface="Cambria Math" panose="02040503050406030204" pitchFamily="18" charset="0"/>
                                          </a:rPr>
                                          <m:t>𝜇</m:t>
                                        </m:r>
                                      </m:e>
                                      <m:sub>
                                        <m:r>
                                          <a:rPr lang="en-NZ" sz="1600" b="0" i="1" smtClean="0">
                                            <a:latin typeface="Cambria Math" panose="02040503050406030204" pitchFamily="18" charset="0"/>
                                          </a:rPr>
                                          <m:t>𝑖𝑗</m:t>
                                        </m:r>
                                      </m:sub>
                                    </m:sSub>
                                  </m:e>
                                </m:acc>
                                <m:r>
                                  <a:rPr lang="en-NZ" sz="1600" b="0" i="1" smtClean="0">
                                    <a:latin typeface="Cambria Math" panose="02040503050406030204" pitchFamily="18" charset="0"/>
                                  </a:rPr>
                                  <m:t>=</m:t>
                                </m:r>
                                <m:sSub>
                                  <m:sSubPr>
                                    <m:ctrlPr>
                                      <a:rPr lang="en-NZ" sz="1600" b="0" i="1" smtClean="0">
                                        <a:latin typeface="Cambria Math" panose="02040503050406030204" pitchFamily="18" charset="0"/>
                                      </a:rPr>
                                    </m:ctrlPr>
                                  </m:sSubPr>
                                  <m:e>
                                    <m:acc>
                                      <m:accPr>
                                        <m:chr m:val="̅"/>
                                        <m:ctrlPr>
                                          <a:rPr lang="en-NZ" sz="1600" i="1" smtClean="0">
                                            <a:latin typeface="Cambria Math" panose="02040503050406030204" pitchFamily="18" charset="0"/>
                                          </a:rPr>
                                        </m:ctrlPr>
                                      </m:accPr>
                                      <m:e>
                                        <m:r>
                                          <a:rPr lang="en-NZ" sz="1600" b="0" i="1" smtClean="0">
                                            <a:latin typeface="Cambria Math" panose="02040503050406030204" pitchFamily="18" charset="0"/>
                                          </a:rPr>
                                          <m:t>𝑌</m:t>
                                        </m:r>
                                      </m:e>
                                    </m:acc>
                                  </m:e>
                                  <m:sub>
                                    <m:r>
                                      <a:rPr lang="en-NZ" sz="1600" b="0" i="1" smtClean="0">
                                        <a:latin typeface="Cambria Math" panose="02040503050406030204" pitchFamily="18" charset="0"/>
                                      </a:rPr>
                                      <m:t>𝑖𝑗</m:t>
                                    </m:r>
                                    <m:r>
                                      <a:rPr lang="en-NZ" sz="1600" b="0" i="1" smtClean="0">
                                        <a:latin typeface="Cambria Math" panose="02040503050406030204" pitchFamily="18" charset="0"/>
                                        <a:ea typeface="Cambria Math" panose="02040503050406030204" pitchFamily="18" charset="0"/>
                                      </a:rPr>
                                      <m:t>∙</m:t>
                                    </m:r>
                                  </m:sub>
                                </m:sSub>
                                <m:r>
                                  <a:rPr lang="en-NZ" sz="1600" b="0" i="1" smtClean="0">
                                    <a:latin typeface="Cambria Math" panose="02040503050406030204" pitchFamily="18" charset="0"/>
                                    <a:ea typeface="Cambria Math" panose="02040503050406030204" pitchFamily="18" charset="0"/>
                                  </a:rPr>
                                  <m:t>= </m:t>
                                </m:r>
                                <m:f>
                                  <m:fPr>
                                    <m:type m:val="lin"/>
                                    <m:ctrlPr>
                                      <a:rPr lang="en-NZ" sz="1600" b="0" i="1" smtClean="0">
                                        <a:latin typeface="Cambria Math" panose="02040503050406030204" pitchFamily="18" charset="0"/>
                                        <a:ea typeface="Cambria Math" panose="02040503050406030204" pitchFamily="18" charset="0"/>
                                      </a:rPr>
                                    </m:ctrlPr>
                                  </m:fPr>
                                  <m:num>
                                    <m:r>
                                      <a:rPr lang="en-NZ" sz="1600" b="0" i="1" smtClean="0">
                                        <a:latin typeface="Cambria Math" panose="02040503050406030204" pitchFamily="18" charset="0"/>
                                        <a:ea typeface="Cambria Math" panose="02040503050406030204" pitchFamily="18" charset="0"/>
                                      </a:rPr>
                                      <m:t>1</m:t>
                                    </m:r>
                                  </m:num>
                                  <m:den>
                                    <m:r>
                                      <a:rPr lang="en-NZ" sz="1600" b="0" i="1" smtClean="0">
                                        <a:latin typeface="Cambria Math" panose="02040503050406030204" pitchFamily="18" charset="0"/>
                                        <a:ea typeface="Cambria Math" panose="02040503050406030204" pitchFamily="18" charset="0"/>
                                      </a:rPr>
                                      <m:t>𝑛</m:t>
                                    </m:r>
                                  </m:den>
                                </m:f>
                                <m:r>
                                  <a:rPr lang="en-NZ" sz="1600" b="0" i="1" smtClean="0">
                                    <a:latin typeface="Cambria Math" panose="02040503050406030204" pitchFamily="18" charset="0"/>
                                    <a:ea typeface="Cambria Math" panose="02040503050406030204" pitchFamily="18" charset="0"/>
                                  </a:rPr>
                                  <m:t> ∗ </m:t>
                                </m:r>
                                <m:nary>
                                  <m:naryPr>
                                    <m:chr m:val="∑"/>
                                    <m:limLoc m:val="subSup"/>
                                    <m:ctrlPr>
                                      <a:rPr lang="en-NZ" sz="1600" b="0" i="1" smtClean="0">
                                        <a:latin typeface="Cambria Math" panose="02040503050406030204" pitchFamily="18" charset="0"/>
                                        <a:ea typeface="Cambria Math" panose="02040503050406030204" pitchFamily="18" charset="0"/>
                                      </a:rPr>
                                    </m:ctrlPr>
                                  </m:naryPr>
                                  <m:sub>
                                    <m:r>
                                      <m:rPr>
                                        <m:brk m:alnAt="25"/>
                                      </m:rPr>
                                      <a:rPr lang="en-NZ" sz="1600" b="0" i="1" smtClean="0">
                                        <a:latin typeface="Cambria Math" panose="02040503050406030204" pitchFamily="18" charset="0"/>
                                        <a:ea typeface="Cambria Math" panose="02040503050406030204" pitchFamily="18" charset="0"/>
                                      </a:rPr>
                                      <m:t>𝑘</m:t>
                                    </m:r>
                                    <m:r>
                                      <a:rPr lang="en-NZ" sz="1600" b="0" i="1" smtClean="0">
                                        <a:latin typeface="Cambria Math" panose="02040503050406030204" pitchFamily="18" charset="0"/>
                                        <a:ea typeface="Cambria Math" panose="02040503050406030204" pitchFamily="18" charset="0"/>
                                      </a:rPr>
                                      <m:t>=1</m:t>
                                    </m:r>
                                  </m:sub>
                                  <m:sup>
                                    <m:r>
                                      <a:rPr lang="en-NZ" sz="1600" b="0" i="1" smtClean="0">
                                        <a:latin typeface="Cambria Math" panose="02040503050406030204" pitchFamily="18" charset="0"/>
                                        <a:ea typeface="Cambria Math" panose="02040503050406030204" pitchFamily="18" charset="0"/>
                                      </a:rPr>
                                      <m:t>𝑛</m:t>
                                    </m:r>
                                  </m:sup>
                                  <m:e>
                                    <m:sSub>
                                      <m:sSubPr>
                                        <m:ctrlPr>
                                          <a:rPr lang="en-NZ" sz="1600" b="0" i="1" smtClean="0">
                                            <a:latin typeface="Cambria Math" panose="02040503050406030204" pitchFamily="18" charset="0"/>
                                            <a:ea typeface="Cambria Math" panose="02040503050406030204" pitchFamily="18" charset="0"/>
                                          </a:rPr>
                                        </m:ctrlPr>
                                      </m:sSubPr>
                                      <m:e>
                                        <m:r>
                                          <a:rPr lang="en-NZ" sz="1600" b="0" i="1" smtClean="0">
                                            <a:latin typeface="Cambria Math" panose="02040503050406030204" pitchFamily="18" charset="0"/>
                                            <a:ea typeface="Cambria Math" panose="02040503050406030204" pitchFamily="18" charset="0"/>
                                          </a:rPr>
                                          <m:t>𝑌</m:t>
                                        </m:r>
                                      </m:e>
                                      <m:sub>
                                        <m:r>
                                          <a:rPr lang="en-NZ" sz="1600" b="0" i="1" smtClean="0">
                                            <a:latin typeface="Cambria Math" panose="02040503050406030204" pitchFamily="18" charset="0"/>
                                            <a:ea typeface="Cambria Math" panose="02040503050406030204" pitchFamily="18" charset="0"/>
                                          </a:rPr>
                                          <m:t>𝑖𝑗𝑘</m:t>
                                        </m:r>
                                      </m:sub>
                                    </m:sSub>
                                  </m:e>
                                </m:nary>
                              </m:oMath>
                            </m:oMathPara>
                          </a14:m>
                          <a:endParaRPr lang="en-NZ" sz="1600" dirty="0"/>
                        </a:p>
                      </a:txBody>
                      <a:tcPr anchor="ctr"/>
                    </a:tc>
                    <a:tc>
                      <a:txBody>
                        <a:bodyPr/>
                        <a:lstStyle/>
                        <a:p>
                          <a:pPr algn="ctr"/>
                          <a:r>
                            <a:rPr lang="en-NZ" sz="1600" dirty="0"/>
                            <a:t>Mean of cell </a:t>
                          </a:r>
                          <a14:m>
                            <m:oMath xmlns:m="http://schemas.openxmlformats.org/officeDocument/2006/math">
                              <m:r>
                                <a:rPr lang="en-NZ" sz="1600" b="0" i="1" smtClean="0">
                                  <a:latin typeface="Cambria Math" panose="02040503050406030204" pitchFamily="18" charset="0"/>
                                </a:rPr>
                                <m:t>(</m:t>
                              </m:r>
                              <m:r>
                                <a:rPr lang="en-NZ" sz="1600" b="0" i="1" smtClean="0">
                                  <a:latin typeface="Cambria Math" panose="02040503050406030204" pitchFamily="18" charset="0"/>
                                </a:rPr>
                                <m:t>𝑖</m:t>
                              </m:r>
                              <m:r>
                                <a:rPr lang="en-NZ" sz="1600" b="0" i="1" smtClean="0">
                                  <a:latin typeface="Cambria Math" panose="02040503050406030204" pitchFamily="18" charset="0"/>
                                </a:rPr>
                                <m:t>,</m:t>
                              </m:r>
                              <m:r>
                                <a:rPr lang="en-NZ" sz="1600" b="0" i="1" smtClean="0">
                                  <a:latin typeface="Cambria Math" panose="02040503050406030204" pitchFamily="18" charset="0"/>
                                </a:rPr>
                                <m:t>𝑗</m:t>
                              </m:r>
                              <m:r>
                                <a:rPr lang="en-NZ" sz="1600" b="0" i="1" smtClean="0">
                                  <a:latin typeface="Cambria Math" panose="02040503050406030204" pitchFamily="18" charset="0"/>
                                </a:rPr>
                                <m:t>)</m:t>
                              </m:r>
                            </m:oMath>
                          </a14:m>
                          <a:endParaRPr lang="en-NZ" sz="1600" dirty="0"/>
                        </a:p>
                      </a:txBody>
                      <a:tcPr anchor="ctr"/>
                    </a:tc>
                    <a:extLst>
                      <a:ext uri="{0D108BD9-81ED-4DB2-BD59-A6C34878D82A}">
                        <a16:rowId xmlns:a16="http://schemas.microsoft.com/office/drawing/2014/main" val="443198030"/>
                      </a:ext>
                    </a:extLst>
                  </a:tr>
                  <a:tr h="697879">
                    <a:tc>
                      <a:txBody>
                        <a:bodyPr/>
                        <a:lstStyle/>
                        <a:p>
                          <a:pPr algn="ctr"/>
                          <a14:m>
                            <m:oMathPara xmlns:m="http://schemas.openxmlformats.org/officeDocument/2006/math">
                              <m:oMathParaPr>
                                <m:jc m:val="centerGroup"/>
                              </m:oMathParaPr>
                              <m:oMath xmlns:m="http://schemas.openxmlformats.org/officeDocument/2006/math">
                                <m:sSub>
                                  <m:sSubPr>
                                    <m:ctrlPr>
                                      <a:rPr lang="en-NZ" sz="1600" b="0" i="1" smtClean="0">
                                        <a:latin typeface="Cambria Math" panose="02040503050406030204" pitchFamily="18" charset="0"/>
                                      </a:rPr>
                                    </m:ctrlPr>
                                  </m:sSubPr>
                                  <m:e>
                                    <m:r>
                                      <a:rPr lang="en-NZ" sz="1600" b="0" i="1" smtClean="0">
                                        <a:latin typeface="Cambria Math" panose="02040503050406030204" pitchFamily="18" charset="0"/>
                                      </a:rPr>
                                      <m:t>𝜇</m:t>
                                    </m:r>
                                  </m:e>
                                  <m:sub>
                                    <m:r>
                                      <a:rPr lang="en-NZ" sz="1600" b="0" i="1" smtClean="0">
                                        <a:latin typeface="Cambria Math" panose="02040503050406030204" pitchFamily="18" charset="0"/>
                                      </a:rPr>
                                      <m:t>𝑖</m:t>
                                    </m:r>
                                    <m:r>
                                      <a:rPr lang="en-NZ" sz="1600" b="0" i="1" smtClean="0">
                                        <a:latin typeface="Cambria Math" panose="02040503050406030204" pitchFamily="18" charset="0"/>
                                        <a:ea typeface="Cambria Math" panose="02040503050406030204" pitchFamily="18" charset="0"/>
                                      </a:rPr>
                                      <m:t>∙</m:t>
                                    </m:r>
                                  </m:sub>
                                </m:sSub>
                              </m:oMath>
                            </m:oMathPara>
                          </a14:m>
                          <a:endParaRPr lang="en-NZ" sz="1600" dirty="0"/>
                        </a:p>
                      </a:txBody>
                      <a:tcPr anchor="ctr"/>
                    </a:tc>
                    <a:tc>
                      <a:txBody>
                        <a:bodyPr/>
                        <a:lstStyle/>
                        <a:p>
                          <a:pPr algn="ctr"/>
                          <a14:m>
                            <m:oMathPara xmlns:m="http://schemas.openxmlformats.org/officeDocument/2006/math">
                              <m:oMathParaPr>
                                <m:jc m:val="centerGroup"/>
                              </m:oMathParaPr>
                              <m:oMath xmlns:m="http://schemas.openxmlformats.org/officeDocument/2006/math">
                                <m:acc>
                                  <m:accPr>
                                    <m:chr m:val="̂"/>
                                    <m:ctrlPr>
                                      <a:rPr lang="en-NZ" sz="1600" i="1" smtClean="0">
                                        <a:latin typeface="Cambria Math" panose="02040503050406030204" pitchFamily="18" charset="0"/>
                                      </a:rPr>
                                    </m:ctrlPr>
                                  </m:accPr>
                                  <m:e>
                                    <m:sSub>
                                      <m:sSubPr>
                                        <m:ctrlPr>
                                          <a:rPr lang="en-NZ" sz="1600" b="0" i="1" smtClean="0">
                                            <a:latin typeface="Cambria Math" panose="02040503050406030204" pitchFamily="18" charset="0"/>
                                          </a:rPr>
                                        </m:ctrlPr>
                                      </m:sSubPr>
                                      <m:e>
                                        <m:r>
                                          <a:rPr lang="en-NZ" sz="1600" b="0" i="1" smtClean="0">
                                            <a:latin typeface="Cambria Math" panose="02040503050406030204" pitchFamily="18" charset="0"/>
                                          </a:rPr>
                                          <m:t>𝜇</m:t>
                                        </m:r>
                                      </m:e>
                                      <m:sub>
                                        <m:r>
                                          <a:rPr lang="en-NZ" sz="1600" b="0" i="1" smtClean="0">
                                            <a:latin typeface="Cambria Math" panose="02040503050406030204" pitchFamily="18" charset="0"/>
                                          </a:rPr>
                                          <m:t>𝑖</m:t>
                                        </m:r>
                                        <m:r>
                                          <a:rPr lang="en-NZ" sz="1600" b="0" i="1" smtClean="0">
                                            <a:latin typeface="Cambria Math" panose="02040503050406030204" pitchFamily="18" charset="0"/>
                                            <a:ea typeface="Cambria Math" panose="02040503050406030204" pitchFamily="18" charset="0"/>
                                          </a:rPr>
                                          <m:t>∙</m:t>
                                        </m:r>
                                      </m:sub>
                                    </m:sSub>
                                  </m:e>
                                </m:acc>
                                <m:r>
                                  <a:rPr lang="en-NZ" sz="1600" b="0" i="1" smtClean="0">
                                    <a:latin typeface="Cambria Math" panose="02040503050406030204" pitchFamily="18" charset="0"/>
                                  </a:rPr>
                                  <m:t>=</m:t>
                                </m:r>
                                <m:sSub>
                                  <m:sSubPr>
                                    <m:ctrlPr>
                                      <a:rPr lang="en-NZ" sz="1600" b="0" i="1" smtClean="0">
                                        <a:latin typeface="Cambria Math" panose="02040503050406030204" pitchFamily="18" charset="0"/>
                                      </a:rPr>
                                    </m:ctrlPr>
                                  </m:sSubPr>
                                  <m:e>
                                    <m:acc>
                                      <m:accPr>
                                        <m:chr m:val="̅"/>
                                        <m:ctrlPr>
                                          <a:rPr lang="en-NZ" sz="1600" i="1" smtClean="0">
                                            <a:latin typeface="Cambria Math" panose="02040503050406030204" pitchFamily="18" charset="0"/>
                                          </a:rPr>
                                        </m:ctrlPr>
                                      </m:accPr>
                                      <m:e>
                                        <m:r>
                                          <a:rPr lang="en-NZ" sz="1600" b="0" i="1" smtClean="0">
                                            <a:latin typeface="Cambria Math" panose="02040503050406030204" pitchFamily="18" charset="0"/>
                                          </a:rPr>
                                          <m:t>𝑌</m:t>
                                        </m:r>
                                      </m:e>
                                    </m:acc>
                                  </m:e>
                                  <m:sub>
                                    <m:r>
                                      <a:rPr lang="en-NZ" sz="1600" b="0" i="1" smtClean="0">
                                        <a:latin typeface="Cambria Math" panose="02040503050406030204" pitchFamily="18" charset="0"/>
                                      </a:rPr>
                                      <m:t>𝑖</m:t>
                                    </m:r>
                                    <m:r>
                                      <a:rPr lang="en-NZ" sz="1600" b="0" i="1" smtClean="0">
                                        <a:latin typeface="Cambria Math" panose="02040503050406030204" pitchFamily="18" charset="0"/>
                                        <a:ea typeface="Cambria Math" panose="02040503050406030204" pitchFamily="18" charset="0"/>
                                      </a:rPr>
                                      <m:t>∙∙</m:t>
                                    </m:r>
                                  </m:sub>
                                </m:sSub>
                                <m:r>
                                  <a:rPr lang="en-NZ" sz="1600" b="0" i="1" smtClean="0">
                                    <a:latin typeface="Cambria Math" panose="02040503050406030204" pitchFamily="18" charset="0"/>
                                    <a:ea typeface="Cambria Math" panose="02040503050406030204" pitchFamily="18" charset="0"/>
                                  </a:rPr>
                                  <m:t>= </m:t>
                                </m:r>
                                <m:f>
                                  <m:fPr>
                                    <m:type m:val="lin"/>
                                    <m:ctrlPr>
                                      <a:rPr lang="en-NZ" sz="1600" b="0" i="1" smtClean="0">
                                        <a:latin typeface="Cambria Math" panose="02040503050406030204" pitchFamily="18" charset="0"/>
                                        <a:ea typeface="Cambria Math" panose="02040503050406030204" pitchFamily="18" charset="0"/>
                                      </a:rPr>
                                    </m:ctrlPr>
                                  </m:fPr>
                                  <m:num>
                                    <m:r>
                                      <a:rPr lang="en-NZ" sz="1600" b="0" i="1" smtClean="0">
                                        <a:latin typeface="Cambria Math" panose="02040503050406030204" pitchFamily="18" charset="0"/>
                                        <a:ea typeface="Cambria Math" panose="02040503050406030204" pitchFamily="18" charset="0"/>
                                      </a:rPr>
                                      <m:t>1</m:t>
                                    </m:r>
                                  </m:num>
                                  <m:den>
                                    <m:r>
                                      <a:rPr lang="en-NZ" sz="1600" b="0" i="1" smtClean="0">
                                        <a:latin typeface="Cambria Math" panose="02040503050406030204" pitchFamily="18" charset="0"/>
                                        <a:ea typeface="Cambria Math" panose="02040503050406030204" pitchFamily="18" charset="0"/>
                                      </a:rPr>
                                      <m:t>(</m:t>
                                    </m:r>
                                    <m:r>
                                      <a:rPr lang="en-NZ" sz="1600" b="0" i="1" smtClean="0">
                                        <a:latin typeface="Cambria Math" panose="02040503050406030204" pitchFamily="18" charset="0"/>
                                        <a:ea typeface="Cambria Math" panose="02040503050406030204" pitchFamily="18" charset="0"/>
                                      </a:rPr>
                                      <m:t>𝑏𝑛</m:t>
                                    </m:r>
                                  </m:den>
                                </m:f>
                                <m:r>
                                  <a:rPr lang="en-NZ" sz="1600" b="0" i="1" smtClean="0">
                                    <a:latin typeface="Cambria Math" panose="02040503050406030204" pitchFamily="18" charset="0"/>
                                    <a:ea typeface="Cambria Math" panose="02040503050406030204" pitchFamily="18" charset="0"/>
                                  </a:rPr>
                                  <m:t>) ∗</m:t>
                                </m:r>
                                <m:nary>
                                  <m:naryPr>
                                    <m:chr m:val="∑"/>
                                    <m:limLoc m:val="subSup"/>
                                    <m:ctrlPr>
                                      <a:rPr lang="en-NZ" sz="1600" b="0" i="1" smtClean="0">
                                        <a:latin typeface="Cambria Math" panose="02040503050406030204" pitchFamily="18" charset="0"/>
                                        <a:ea typeface="Cambria Math" panose="02040503050406030204" pitchFamily="18" charset="0"/>
                                      </a:rPr>
                                    </m:ctrlPr>
                                  </m:naryPr>
                                  <m:sub>
                                    <m:r>
                                      <m:rPr>
                                        <m:brk m:alnAt="1"/>
                                      </m:rPr>
                                      <a:rPr lang="en-NZ" sz="1600" b="0" i="1" smtClean="0">
                                        <a:latin typeface="Cambria Math" panose="02040503050406030204" pitchFamily="18" charset="0"/>
                                        <a:ea typeface="Cambria Math" panose="02040503050406030204" pitchFamily="18" charset="0"/>
                                      </a:rPr>
                                      <m:t>𝑗</m:t>
                                    </m:r>
                                    <m:r>
                                      <a:rPr lang="en-NZ" sz="1600" b="0" i="1" smtClean="0">
                                        <a:latin typeface="Cambria Math" panose="02040503050406030204" pitchFamily="18" charset="0"/>
                                        <a:ea typeface="Cambria Math" panose="02040503050406030204" pitchFamily="18" charset="0"/>
                                      </a:rPr>
                                      <m:t>=1</m:t>
                                    </m:r>
                                  </m:sub>
                                  <m:sup>
                                    <m:r>
                                      <a:rPr lang="en-NZ" sz="1600" b="0" i="1" smtClean="0">
                                        <a:latin typeface="Cambria Math" panose="02040503050406030204" pitchFamily="18" charset="0"/>
                                        <a:ea typeface="Cambria Math" panose="02040503050406030204" pitchFamily="18" charset="0"/>
                                      </a:rPr>
                                      <m:t>𝑏</m:t>
                                    </m:r>
                                  </m:sup>
                                  <m:e>
                                    <m:nary>
                                      <m:naryPr>
                                        <m:chr m:val="∑"/>
                                        <m:limLoc m:val="subSup"/>
                                        <m:ctrlPr>
                                          <a:rPr lang="en-NZ" sz="1600" b="0" i="1" smtClean="0">
                                            <a:latin typeface="Cambria Math" panose="02040503050406030204" pitchFamily="18" charset="0"/>
                                            <a:ea typeface="Cambria Math" panose="02040503050406030204" pitchFamily="18" charset="0"/>
                                          </a:rPr>
                                        </m:ctrlPr>
                                      </m:naryPr>
                                      <m:sub>
                                        <m:r>
                                          <m:rPr>
                                            <m:brk m:alnAt="25"/>
                                          </m:rPr>
                                          <a:rPr lang="en-NZ" sz="1600" b="0" i="1" smtClean="0">
                                            <a:latin typeface="Cambria Math" panose="02040503050406030204" pitchFamily="18" charset="0"/>
                                            <a:ea typeface="Cambria Math" panose="02040503050406030204" pitchFamily="18" charset="0"/>
                                          </a:rPr>
                                          <m:t>𝑘</m:t>
                                        </m:r>
                                        <m:r>
                                          <a:rPr lang="en-NZ" sz="1600" b="0" i="1" smtClean="0">
                                            <a:latin typeface="Cambria Math" panose="02040503050406030204" pitchFamily="18" charset="0"/>
                                            <a:ea typeface="Cambria Math" panose="02040503050406030204" pitchFamily="18" charset="0"/>
                                          </a:rPr>
                                          <m:t>=1</m:t>
                                        </m:r>
                                      </m:sub>
                                      <m:sup>
                                        <m:r>
                                          <a:rPr lang="en-NZ" sz="1600" b="0" i="1" smtClean="0">
                                            <a:latin typeface="Cambria Math" panose="02040503050406030204" pitchFamily="18" charset="0"/>
                                            <a:ea typeface="Cambria Math" panose="02040503050406030204" pitchFamily="18" charset="0"/>
                                          </a:rPr>
                                          <m:t>𝑛</m:t>
                                        </m:r>
                                      </m:sup>
                                      <m:e>
                                        <m:sSub>
                                          <m:sSubPr>
                                            <m:ctrlPr>
                                              <a:rPr lang="en-NZ" sz="1600" b="0" i="1" smtClean="0">
                                                <a:latin typeface="Cambria Math" panose="02040503050406030204" pitchFamily="18" charset="0"/>
                                                <a:ea typeface="Cambria Math" panose="02040503050406030204" pitchFamily="18" charset="0"/>
                                              </a:rPr>
                                            </m:ctrlPr>
                                          </m:sSubPr>
                                          <m:e>
                                            <m:r>
                                              <a:rPr lang="en-NZ" sz="1600" b="0" i="1" smtClean="0">
                                                <a:latin typeface="Cambria Math" panose="02040503050406030204" pitchFamily="18" charset="0"/>
                                                <a:ea typeface="Cambria Math" panose="02040503050406030204" pitchFamily="18" charset="0"/>
                                              </a:rPr>
                                              <m:t>𝑌</m:t>
                                            </m:r>
                                          </m:e>
                                          <m:sub>
                                            <m:r>
                                              <a:rPr lang="en-NZ" sz="1600" b="0" i="1" smtClean="0">
                                                <a:latin typeface="Cambria Math" panose="02040503050406030204" pitchFamily="18" charset="0"/>
                                                <a:ea typeface="Cambria Math" panose="02040503050406030204" pitchFamily="18" charset="0"/>
                                              </a:rPr>
                                              <m:t>𝑖𝑗𝑘</m:t>
                                            </m:r>
                                          </m:sub>
                                        </m:sSub>
                                      </m:e>
                                    </m:nary>
                                  </m:e>
                                </m:nary>
                              </m:oMath>
                            </m:oMathPara>
                          </a14:m>
                          <a:endParaRPr lang="en-NZ" sz="1600" dirty="0"/>
                        </a:p>
                      </a:txBody>
                      <a:tcPr anchor="ctr"/>
                    </a:tc>
                    <a:tc>
                      <a:txBody>
                        <a:bodyPr/>
                        <a:lstStyle/>
                        <a:p>
                          <a:pPr algn="ctr"/>
                          <a:r>
                            <a:rPr lang="en-NZ" sz="1600"/>
                            <a:t>Mean of the </a:t>
                          </a:r>
                          <a14:m>
                            <m:oMath xmlns:m="http://schemas.openxmlformats.org/officeDocument/2006/math">
                              <m:sSup>
                                <m:sSupPr>
                                  <m:ctrlPr>
                                    <a:rPr lang="en-NZ" sz="1600" b="0" i="1" smtClean="0">
                                      <a:latin typeface="Cambria Math" panose="02040503050406030204" pitchFamily="18" charset="0"/>
                                    </a:rPr>
                                  </m:ctrlPr>
                                </m:sSupPr>
                                <m:e>
                                  <m:r>
                                    <a:rPr lang="en-NZ" sz="1600" b="0" i="1" smtClean="0">
                                      <a:latin typeface="Cambria Math" panose="02040503050406030204" pitchFamily="18" charset="0"/>
                                    </a:rPr>
                                    <m:t>𝑖</m:t>
                                  </m:r>
                                </m:e>
                                <m:sup>
                                  <m:r>
                                    <a:rPr lang="en-NZ" sz="1600" b="0" i="1" smtClean="0">
                                      <a:latin typeface="Cambria Math" panose="02040503050406030204" pitchFamily="18" charset="0"/>
                                    </a:rPr>
                                    <m:t>𝑡h</m:t>
                                  </m:r>
                                </m:sup>
                              </m:sSup>
                            </m:oMath>
                          </a14:m>
                          <a:r>
                            <a:rPr lang="en-NZ" sz="1600" dirty="0"/>
                            <a:t> level of Factor A</a:t>
                          </a:r>
                        </a:p>
                      </a:txBody>
                      <a:tcPr anchor="ctr"/>
                    </a:tc>
                    <a:extLst>
                      <a:ext uri="{0D108BD9-81ED-4DB2-BD59-A6C34878D82A}">
                        <a16:rowId xmlns:a16="http://schemas.microsoft.com/office/drawing/2014/main" val="3427382577"/>
                      </a:ext>
                    </a:extLst>
                  </a:tr>
                  <a:tr h="639052">
                    <a:tc>
                      <a:txBody>
                        <a:bodyPr/>
                        <a:lstStyle/>
                        <a:p>
                          <a:pPr algn="ctr"/>
                          <a14:m>
                            <m:oMathPara xmlns:m="http://schemas.openxmlformats.org/officeDocument/2006/math">
                              <m:oMathParaPr>
                                <m:jc m:val="centerGroup"/>
                              </m:oMathParaPr>
                              <m:oMath xmlns:m="http://schemas.openxmlformats.org/officeDocument/2006/math">
                                <m:sSub>
                                  <m:sSubPr>
                                    <m:ctrlPr>
                                      <a:rPr lang="en-NZ" sz="1600" b="0" i="1" smtClean="0">
                                        <a:latin typeface="Cambria Math" panose="02040503050406030204" pitchFamily="18" charset="0"/>
                                      </a:rPr>
                                    </m:ctrlPr>
                                  </m:sSubPr>
                                  <m:e>
                                    <m:r>
                                      <a:rPr lang="en-NZ" sz="1600" b="0" i="1" smtClean="0">
                                        <a:latin typeface="Cambria Math" panose="02040503050406030204" pitchFamily="18" charset="0"/>
                                      </a:rPr>
                                      <m:t>𝜇</m:t>
                                    </m:r>
                                  </m:e>
                                  <m:sub>
                                    <m:r>
                                      <a:rPr lang="en-NZ" sz="1600" b="0" i="1" smtClean="0">
                                        <a:latin typeface="Cambria Math" panose="02040503050406030204" pitchFamily="18" charset="0"/>
                                        <a:ea typeface="Cambria Math" panose="02040503050406030204" pitchFamily="18" charset="0"/>
                                      </a:rPr>
                                      <m:t>∙</m:t>
                                    </m:r>
                                    <m:r>
                                      <a:rPr lang="en-NZ" sz="1600" b="0" i="1" smtClean="0">
                                        <a:latin typeface="Cambria Math" panose="02040503050406030204" pitchFamily="18" charset="0"/>
                                        <a:ea typeface="Cambria Math" panose="02040503050406030204" pitchFamily="18" charset="0"/>
                                      </a:rPr>
                                      <m:t>𝑗</m:t>
                                    </m:r>
                                  </m:sub>
                                </m:sSub>
                              </m:oMath>
                            </m:oMathPara>
                          </a14:m>
                          <a:endParaRPr lang="en-NZ" sz="1600" dirty="0"/>
                        </a:p>
                      </a:txBody>
                      <a:tcPr anchor="ctr"/>
                    </a:tc>
                    <a:tc>
                      <a:txBody>
                        <a:bodyPr/>
                        <a:lstStyle/>
                        <a:p>
                          <a:pPr algn="ctr"/>
                          <a14:m>
                            <m:oMathPara xmlns:m="http://schemas.openxmlformats.org/officeDocument/2006/math">
                              <m:oMathParaPr>
                                <m:jc m:val="centerGroup"/>
                              </m:oMathParaPr>
                              <m:oMath xmlns:m="http://schemas.openxmlformats.org/officeDocument/2006/math">
                                <m:acc>
                                  <m:accPr>
                                    <m:chr m:val="̂"/>
                                    <m:ctrlPr>
                                      <a:rPr lang="en-NZ" sz="1600" i="1" smtClean="0">
                                        <a:latin typeface="Cambria Math" panose="02040503050406030204" pitchFamily="18" charset="0"/>
                                      </a:rPr>
                                    </m:ctrlPr>
                                  </m:accPr>
                                  <m:e>
                                    <m:sSub>
                                      <m:sSubPr>
                                        <m:ctrlPr>
                                          <a:rPr lang="en-NZ" sz="1600" b="0" i="1" smtClean="0">
                                            <a:latin typeface="Cambria Math" panose="02040503050406030204" pitchFamily="18" charset="0"/>
                                          </a:rPr>
                                        </m:ctrlPr>
                                      </m:sSubPr>
                                      <m:e>
                                        <m:r>
                                          <a:rPr lang="en-NZ" sz="1600" b="0" i="1" smtClean="0">
                                            <a:latin typeface="Cambria Math" panose="02040503050406030204" pitchFamily="18" charset="0"/>
                                          </a:rPr>
                                          <m:t>𝜇</m:t>
                                        </m:r>
                                      </m:e>
                                      <m:sub>
                                        <m:r>
                                          <a:rPr lang="en-NZ" sz="1600" b="0" i="1" smtClean="0">
                                            <a:latin typeface="Cambria Math" panose="02040503050406030204" pitchFamily="18" charset="0"/>
                                            <a:ea typeface="Cambria Math" panose="02040503050406030204" pitchFamily="18" charset="0"/>
                                          </a:rPr>
                                          <m:t>∙</m:t>
                                        </m:r>
                                        <m:r>
                                          <a:rPr lang="en-NZ" sz="1600" b="0" i="1" smtClean="0">
                                            <a:latin typeface="Cambria Math" panose="02040503050406030204" pitchFamily="18" charset="0"/>
                                            <a:ea typeface="Cambria Math" panose="02040503050406030204" pitchFamily="18" charset="0"/>
                                          </a:rPr>
                                          <m:t>𝑗</m:t>
                                        </m:r>
                                      </m:sub>
                                    </m:sSub>
                                  </m:e>
                                </m:acc>
                                <m:r>
                                  <a:rPr lang="en-NZ" sz="1600" b="0" i="1" smtClean="0">
                                    <a:latin typeface="Cambria Math" panose="02040503050406030204" pitchFamily="18" charset="0"/>
                                  </a:rPr>
                                  <m:t>=</m:t>
                                </m:r>
                                <m:sSub>
                                  <m:sSubPr>
                                    <m:ctrlPr>
                                      <a:rPr lang="en-NZ" sz="1600" b="0" i="1" smtClean="0">
                                        <a:latin typeface="Cambria Math" panose="02040503050406030204" pitchFamily="18" charset="0"/>
                                      </a:rPr>
                                    </m:ctrlPr>
                                  </m:sSubPr>
                                  <m:e>
                                    <m:acc>
                                      <m:accPr>
                                        <m:chr m:val="̅"/>
                                        <m:ctrlPr>
                                          <a:rPr lang="en-NZ" sz="1600" i="1" smtClean="0">
                                            <a:latin typeface="Cambria Math" panose="02040503050406030204" pitchFamily="18" charset="0"/>
                                          </a:rPr>
                                        </m:ctrlPr>
                                      </m:accPr>
                                      <m:e>
                                        <m:r>
                                          <a:rPr lang="en-NZ" sz="1600" b="0" i="1" smtClean="0">
                                            <a:latin typeface="Cambria Math" panose="02040503050406030204" pitchFamily="18" charset="0"/>
                                          </a:rPr>
                                          <m:t>𝑌</m:t>
                                        </m:r>
                                      </m:e>
                                    </m:acc>
                                  </m:e>
                                  <m:sub>
                                    <m:r>
                                      <a:rPr lang="en-NZ" sz="1600" b="0" i="1" smtClean="0">
                                        <a:latin typeface="Cambria Math" panose="02040503050406030204" pitchFamily="18" charset="0"/>
                                        <a:ea typeface="Cambria Math" panose="02040503050406030204" pitchFamily="18" charset="0"/>
                                      </a:rPr>
                                      <m:t>∙</m:t>
                                    </m:r>
                                    <m:r>
                                      <a:rPr lang="en-NZ" sz="1600" b="0" i="1" smtClean="0">
                                        <a:latin typeface="Cambria Math" panose="02040503050406030204" pitchFamily="18" charset="0"/>
                                        <a:ea typeface="Cambria Math" panose="02040503050406030204" pitchFamily="18" charset="0"/>
                                      </a:rPr>
                                      <m:t>𝑗</m:t>
                                    </m:r>
                                    <m:r>
                                      <a:rPr lang="en-NZ" sz="1600" b="0" i="1" smtClean="0">
                                        <a:latin typeface="Cambria Math" panose="02040503050406030204" pitchFamily="18" charset="0"/>
                                        <a:ea typeface="Cambria Math" panose="02040503050406030204" pitchFamily="18" charset="0"/>
                                      </a:rPr>
                                      <m:t>∙</m:t>
                                    </m:r>
                                  </m:sub>
                                </m:sSub>
                                <m:r>
                                  <a:rPr lang="en-NZ" sz="1600" b="0" i="1" smtClean="0">
                                    <a:latin typeface="Cambria Math" panose="02040503050406030204" pitchFamily="18" charset="0"/>
                                    <a:ea typeface="Cambria Math" panose="02040503050406030204" pitchFamily="18" charset="0"/>
                                  </a:rPr>
                                  <m:t>= </m:t>
                                </m:r>
                                <m:f>
                                  <m:fPr>
                                    <m:type m:val="lin"/>
                                    <m:ctrlPr>
                                      <a:rPr lang="en-NZ" sz="1600" b="0" i="1" smtClean="0">
                                        <a:latin typeface="Cambria Math" panose="02040503050406030204" pitchFamily="18" charset="0"/>
                                        <a:ea typeface="Cambria Math" panose="02040503050406030204" pitchFamily="18" charset="0"/>
                                      </a:rPr>
                                    </m:ctrlPr>
                                  </m:fPr>
                                  <m:num>
                                    <m:r>
                                      <a:rPr lang="en-NZ" sz="1600" b="0" i="1" smtClean="0">
                                        <a:latin typeface="Cambria Math" panose="02040503050406030204" pitchFamily="18" charset="0"/>
                                        <a:ea typeface="Cambria Math" panose="02040503050406030204" pitchFamily="18" charset="0"/>
                                      </a:rPr>
                                      <m:t>1</m:t>
                                    </m:r>
                                  </m:num>
                                  <m:den>
                                    <m:r>
                                      <a:rPr lang="en-NZ" sz="1600" b="0" i="1" smtClean="0">
                                        <a:latin typeface="Cambria Math" panose="02040503050406030204" pitchFamily="18" charset="0"/>
                                        <a:ea typeface="Cambria Math" panose="02040503050406030204" pitchFamily="18" charset="0"/>
                                      </a:rPr>
                                      <m:t>(</m:t>
                                    </m:r>
                                    <m:r>
                                      <a:rPr lang="en-NZ" sz="1600" b="0" i="1" smtClean="0">
                                        <a:latin typeface="Cambria Math" panose="02040503050406030204" pitchFamily="18" charset="0"/>
                                        <a:ea typeface="Cambria Math" panose="02040503050406030204" pitchFamily="18" charset="0"/>
                                      </a:rPr>
                                      <m:t>𝑎𝑛</m:t>
                                    </m:r>
                                  </m:den>
                                </m:f>
                                <m:r>
                                  <a:rPr lang="en-NZ" sz="1600" b="0" i="1" smtClean="0">
                                    <a:latin typeface="Cambria Math" panose="02040503050406030204" pitchFamily="18" charset="0"/>
                                    <a:ea typeface="Cambria Math" panose="02040503050406030204" pitchFamily="18" charset="0"/>
                                  </a:rPr>
                                  <m:t>) ∗</m:t>
                                </m:r>
                                <m:nary>
                                  <m:naryPr>
                                    <m:chr m:val="∑"/>
                                    <m:limLoc m:val="subSup"/>
                                    <m:ctrlPr>
                                      <a:rPr lang="en-NZ" sz="1600" b="0" i="1" smtClean="0">
                                        <a:latin typeface="Cambria Math" panose="02040503050406030204" pitchFamily="18" charset="0"/>
                                        <a:ea typeface="Cambria Math" panose="02040503050406030204" pitchFamily="18" charset="0"/>
                                      </a:rPr>
                                    </m:ctrlPr>
                                  </m:naryPr>
                                  <m:sub>
                                    <m:r>
                                      <m:rPr>
                                        <m:brk m:alnAt="1"/>
                                      </m:rPr>
                                      <a:rPr lang="en-NZ" sz="1600" b="0" i="1" smtClean="0">
                                        <a:latin typeface="Cambria Math" panose="02040503050406030204" pitchFamily="18" charset="0"/>
                                        <a:ea typeface="Cambria Math" panose="02040503050406030204" pitchFamily="18" charset="0"/>
                                      </a:rPr>
                                      <m:t>𝑖</m:t>
                                    </m:r>
                                    <m:r>
                                      <a:rPr lang="en-NZ" sz="1600" b="0" i="1" smtClean="0">
                                        <a:latin typeface="Cambria Math" panose="02040503050406030204" pitchFamily="18" charset="0"/>
                                        <a:ea typeface="Cambria Math" panose="02040503050406030204" pitchFamily="18" charset="0"/>
                                      </a:rPr>
                                      <m:t>=1</m:t>
                                    </m:r>
                                  </m:sub>
                                  <m:sup>
                                    <m:r>
                                      <a:rPr lang="en-NZ" sz="1600" b="0" i="1" smtClean="0">
                                        <a:latin typeface="Cambria Math" panose="02040503050406030204" pitchFamily="18" charset="0"/>
                                        <a:ea typeface="Cambria Math" panose="02040503050406030204" pitchFamily="18" charset="0"/>
                                      </a:rPr>
                                      <m:t>𝑎</m:t>
                                    </m:r>
                                  </m:sup>
                                  <m:e>
                                    <m:nary>
                                      <m:naryPr>
                                        <m:chr m:val="∑"/>
                                        <m:limLoc m:val="subSup"/>
                                        <m:ctrlPr>
                                          <a:rPr lang="en-NZ" sz="1600" b="0" i="1" smtClean="0">
                                            <a:latin typeface="Cambria Math" panose="02040503050406030204" pitchFamily="18" charset="0"/>
                                            <a:ea typeface="Cambria Math" panose="02040503050406030204" pitchFamily="18" charset="0"/>
                                          </a:rPr>
                                        </m:ctrlPr>
                                      </m:naryPr>
                                      <m:sub>
                                        <m:r>
                                          <m:rPr>
                                            <m:brk m:alnAt="25"/>
                                          </m:rPr>
                                          <a:rPr lang="en-NZ" sz="1600" b="0" i="1" smtClean="0">
                                            <a:latin typeface="Cambria Math" panose="02040503050406030204" pitchFamily="18" charset="0"/>
                                            <a:ea typeface="Cambria Math" panose="02040503050406030204" pitchFamily="18" charset="0"/>
                                          </a:rPr>
                                          <m:t>𝑘</m:t>
                                        </m:r>
                                        <m:r>
                                          <a:rPr lang="en-NZ" sz="1600" b="0" i="1" smtClean="0">
                                            <a:latin typeface="Cambria Math" panose="02040503050406030204" pitchFamily="18" charset="0"/>
                                            <a:ea typeface="Cambria Math" panose="02040503050406030204" pitchFamily="18" charset="0"/>
                                          </a:rPr>
                                          <m:t>=1</m:t>
                                        </m:r>
                                      </m:sub>
                                      <m:sup>
                                        <m:r>
                                          <a:rPr lang="en-NZ" sz="1600" b="0" i="1" smtClean="0">
                                            <a:latin typeface="Cambria Math" panose="02040503050406030204" pitchFamily="18" charset="0"/>
                                            <a:ea typeface="Cambria Math" panose="02040503050406030204" pitchFamily="18" charset="0"/>
                                          </a:rPr>
                                          <m:t>𝑛</m:t>
                                        </m:r>
                                      </m:sup>
                                      <m:e>
                                        <m:sSub>
                                          <m:sSubPr>
                                            <m:ctrlPr>
                                              <a:rPr lang="en-NZ" sz="1600" b="0" i="1" smtClean="0">
                                                <a:latin typeface="Cambria Math" panose="02040503050406030204" pitchFamily="18" charset="0"/>
                                                <a:ea typeface="Cambria Math" panose="02040503050406030204" pitchFamily="18" charset="0"/>
                                              </a:rPr>
                                            </m:ctrlPr>
                                          </m:sSubPr>
                                          <m:e>
                                            <m:r>
                                              <a:rPr lang="en-NZ" sz="1600" b="0" i="1" smtClean="0">
                                                <a:latin typeface="Cambria Math" panose="02040503050406030204" pitchFamily="18" charset="0"/>
                                                <a:ea typeface="Cambria Math" panose="02040503050406030204" pitchFamily="18" charset="0"/>
                                              </a:rPr>
                                              <m:t>𝑌</m:t>
                                            </m:r>
                                          </m:e>
                                          <m:sub>
                                            <m:r>
                                              <a:rPr lang="en-NZ" sz="1600" b="0" i="1" smtClean="0">
                                                <a:latin typeface="Cambria Math" panose="02040503050406030204" pitchFamily="18" charset="0"/>
                                                <a:ea typeface="Cambria Math" panose="02040503050406030204" pitchFamily="18" charset="0"/>
                                              </a:rPr>
                                              <m:t>𝑖𝑗𝑘</m:t>
                                            </m:r>
                                          </m:sub>
                                        </m:sSub>
                                      </m:e>
                                    </m:nary>
                                  </m:e>
                                </m:nary>
                              </m:oMath>
                            </m:oMathPara>
                          </a14:m>
                          <a:endParaRPr lang="en-NZ" sz="1600" dirty="0"/>
                        </a:p>
                      </a:txBody>
                      <a:tcPr anchor="ctr"/>
                    </a:tc>
                    <a:tc>
                      <a:txBody>
                        <a:bodyPr/>
                        <a:lstStyle/>
                        <a:p>
                          <a:pPr algn="ctr"/>
                          <a:r>
                            <a:rPr lang="en-NZ" sz="1600" dirty="0"/>
                            <a:t>Mean of the </a:t>
                          </a:r>
                          <a14:m>
                            <m:oMath xmlns:m="http://schemas.openxmlformats.org/officeDocument/2006/math">
                              <m:sSup>
                                <m:sSupPr>
                                  <m:ctrlPr>
                                    <a:rPr lang="en-NZ" sz="1600" b="0" i="1" smtClean="0">
                                      <a:latin typeface="Cambria Math" panose="02040503050406030204" pitchFamily="18" charset="0"/>
                                    </a:rPr>
                                  </m:ctrlPr>
                                </m:sSupPr>
                                <m:e>
                                  <m:r>
                                    <a:rPr lang="en-NZ" sz="1600" b="0" i="1" smtClean="0">
                                      <a:latin typeface="Cambria Math" panose="02040503050406030204" pitchFamily="18" charset="0"/>
                                    </a:rPr>
                                    <m:t>𝑗</m:t>
                                  </m:r>
                                </m:e>
                                <m:sup>
                                  <m:r>
                                    <a:rPr lang="en-NZ" sz="1600" b="0" i="1" smtClean="0">
                                      <a:latin typeface="Cambria Math" panose="02040503050406030204" pitchFamily="18" charset="0"/>
                                    </a:rPr>
                                    <m:t>𝑡h</m:t>
                                  </m:r>
                                </m:sup>
                              </m:sSup>
                            </m:oMath>
                          </a14:m>
                          <a:r>
                            <a:rPr lang="en-NZ" sz="1600" dirty="0"/>
                            <a:t> level of Factor B</a:t>
                          </a:r>
                        </a:p>
                      </a:txBody>
                      <a:tcPr anchor="ctr"/>
                    </a:tc>
                    <a:extLst>
                      <a:ext uri="{0D108BD9-81ED-4DB2-BD59-A6C34878D82A}">
                        <a16:rowId xmlns:a16="http://schemas.microsoft.com/office/drawing/2014/main" val="3328376915"/>
                      </a:ext>
                    </a:extLst>
                  </a:tr>
                  <a:tr h="415412">
                    <a:tc>
                      <a:txBody>
                        <a:bodyPr/>
                        <a:lstStyle/>
                        <a:p>
                          <a:pPr algn="ctr"/>
                          <a14:m>
                            <m:oMathPara xmlns:m="http://schemas.openxmlformats.org/officeDocument/2006/math">
                              <m:oMathParaPr>
                                <m:jc m:val="centerGroup"/>
                              </m:oMathParaPr>
                              <m:oMath xmlns:m="http://schemas.openxmlformats.org/officeDocument/2006/math">
                                <m:sSub>
                                  <m:sSubPr>
                                    <m:ctrlPr>
                                      <a:rPr lang="en-NZ" sz="1600" b="0" i="1" smtClean="0">
                                        <a:latin typeface="Cambria Math" panose="02040503050406030204" pitchFamily="18" charset="0"/>
                                      </a:rPr>
                                    </m:ctrlPr>
                                  </m:sSubPr>
                                  <m:e>
                                    <m:r>
                                      <a:rPr lang="en-NZ" sz="1600" b="0" i="1" smtClean="0">
                                        <a:latin typeface="Cambria Math" panose="02040503050406030204" pitchFamily="18" charset="0"/>
                                      </a:rPr>
                                      <m:t>𝛼</m:t>
                                    </m:r>
                                  </m:e>
                                  <m:sub>
                                    <m:r>
                                      <a:rPr lang="en-NZ" sz="1600" b="0" i="1" smtClean="0">
                                        <a:latin typeface="Cambria Math" panose="02040503050406030204" pitchFamily="18" charset="0"/>
                                      </a:rPr>
                                      <m:t>𝑖</m:t>
                                    </m:r>
                                  </m:sub>
                                </m:sSub>
                                <m:r>
                                  <a:rPr lang="en-NZ" sz="1600" b="0" i="1" smtClean="0">
                                    <a:latin typeface="Cambria Math" panose="02040503050406030204" pitchFamily="18" charset="0"/>
                                  </a:rPr>
                                  <m:t>≡  </m:t>
                                </m:r>
                                <m:sSub>
                                  <m:sSubPr>
                                    <m:ctrlPr>
                                      <a:rPr lang="en-NZ" sz="1600" b="0" i="1" smtClean="0">
                                        <a:latin typeface="Cambria Math" panose="02040503050406030204" pitchFamily="18" charset="0"/>
                                      </a:rPr>
                                    </m:ctrlPr>
                                  </m:sSubPr>
                                  <m:e>
                                    <m:r>
                                      <a:rPr lang="en-NZ" sz="1600" b="0" i="1" smtClean="0">
                                        <a:latin typeface="Cambria Math" panose="02040503050406030204" pitchFamily="18" charset="0"/>
                                      </a:rPr>
                                      <m:t>𝜇</m:t>
                                    </m:r>
                                  </m:e>
                                  <m:sub>
                                    <m:r>
                                      <a:rPr lang="en-NZ" sz="1600" b="0" i="1" smtClean="0">
                                        <a:latin typeface="Cambria Math" panose="02040503050406030204" pitchFamily="18" charset="0"/>
                                      </a:rPr>
                                      <m:t>𝑖</m:t>
                                    </m:r>
                                    <m:r>
                                      <a:rPr lang="en-NZ" sz="1600" b="0" i="1" smtClean="0">
                                        <a:latin typeface="Cambria Math" panose="02040503050406030204" pitchFamily="18" charset="0"/>
                                        <a:ea typeface="Cambria Math" panose="02040503050406030204" pitchFamily="18" charset="0"/>
                                      </a:rPr>
                                      <m:t>∙</m:t>
                                    </m:r>
                                  </m:sub>
                                </m:sSub>
                                <m:r>
                                  <a:rPr lang="en-NZ" sz="1600" b="0" i="1" smtClean="0">
                                    <a:latin typeface="Cambria Math" panose="02040503050406030204" pitchFamily="18" charset="0"/>
                                  </a:rPr>
                                  <m:t> −</m:t>
                                </m:r>
                                <m:r>
                                  <a:rPr lang="en-NZ" sz="1600" b="0" i="1" smtClean="0">
                                    <a:latin typeface="Cambria Math" panose="02040503050406030204" pitchFamily="18" charset="0"/>
                                  </a:rPr>
                                  <m:t>𝜇</m:t>
                                </m:r>
                              </m:oMath>
                            </m:oMathPara>
                          </a14:m>
                          <a:endParaRPr lang="en-NZ" sz="1600" dirty="0"/>
                        </a:p>
                      </a:txBody>
                      <a:tcPr anchor="ctr"/>
                    </a:tc>
                    <a:tc>
                      <a:txBody>
                        <a:bodyPr/>
                        <a:lstStyle/>
                        <a:p>
                          <a:pPr algn="ctr"/>
                          <a14:m>
                            <m:oMathPara xmlns:m="http://schemas.openxmlformats.org/officeDocument/2006/math">
                              <m:oMathParaPr>
                                <m:jc m:val="centerGroup"/>
                              </m:oMathParaPr>
                              <m:oMath xmlns:m="http://schemas.openxmlformats.org/officeDocument/2006/math">
                                <m:acc>
                                  <m:accPr>
                                    <m:chr m:val="̂"/>
                                    <m:ctrlPr>
                                      <a:rPr lang="en-NZ" sz="1600" i="1" smtClean="0">
                                        <a:latin typeface="Cambria Math" panose="02040503050406030204" pitchFamily="18" charset="0"/>
                                      </a:rPr>
                                    </m:ctrlPr>
                                  </m:accPr>
                                  <m:e>
                                    <m:sSub>
                                      <m:sSubPr>
                                        <m:ctrlPr>
                                          <a:rPr lang="en-NZ" sz="1600" b="0" i="1" smtClean="0">
                                            <a:latin typeface="Cambria Math" panose="02040503050406030204" pitchFamily="18" charset="0"/>
                                          </a:rPr>
                                        </m:ctrlPr>
                                      </m:sSubPr>
                                      <m:e>
                                        <m:r>
                                          <a:rPr lang="en-NZ" sz="1600" b="0" i="1" smtClean="0">
                                            <a:latin typeface="Cambria Math" panose="02040503050406030204" pitchFamily="18" charset="0"/>
                                          </a:rPr>
                                          <m:t>𝛼</m:t>
                                        </m:r>
                                      </m:e>
                                      <m:sub>
                                        <m:r>
                                          <a:rPr lang="en-NZ" sz="1600" b="0" i="1" smtClean="0">
                                            <a:latin typeface="Cambria Math" panose="02040503050406030204" pitchFamily="18" charset="0"/>
                                          </a:rPr>
                                          <m:t>𝑖</m:t>
                                        </m:r>
                                      </m:sub>
                                    </m:sSub>
                                  </m:e>
                                </m:acc>
                                <m:r>
                                  <a:rPr lang="en-NZ" sz="1600" b="0" i="1" smtClean="0">
                                    <a:latin typeface="Cambria Math" panose="02040503050406030204" pitchFamily="18" charset="0"/>
                                  </a:rPr>
                                  <m:t> = </m:t>
                                </m:r>
                                <m:acc>
                                  <m:accPr>
                                    <m:chr m:val="̂"/>
                                    <m:ctrlPr>
                                      <a:rPr lang="en-NZ" sz="1600" i="1" smtClean="0">
                                        <a:latin typeface="Cambria Math" panose="02040503050406030204" pitchFamily="18" charset="0"/>
                                      </a:rPr>
                                    </m:ctrlPr>
                                  </m:accPr>
                                  <m:e>
                                    <m:sSub>
                                      <m:sSubPr>
                                        <m:ctrlPr>
                                          <a:rPr lang="en-NZ" sz="1600" b="0" i="1" smtClean="0">
                                            <a:latin typeface="Cambria Math" panose="02040503050406030204" pitchFamily="18" charset="0"/>
                                          </a:rPr>
                                        </m:ctrlPr>
                                      </m:sSubPr>
                                      <m:e>
                                        <m:r>
                                          <a:rPr lang="en-NZ" sz="1600" b="0" i="1" smtClean="0">
                                            <a:latin typeface="Cambria Math" panose="02040503050406030204" pitchFamily="18" charset="0"/>
                                          </a:rPr>
                                          <m:t>𝜇</m:t>
                                        </m:r>
                                      </m:e>
                                      <m:sub>
                                        <m:r>
                                          <a:rPr lang="en-NZ" sz="1600" b="0" i="1" smtClean="0">
                                            <a:latin typeface="Cambria Math" panose="02040503050406030204" pitchFamily="18" charset="0"/>
                                          </a:rPr>
                                          <m:t>𝑖</m:t>
                                        </m:r>
                                        <m:r>
                                          <a:rPr lang="en-NZ" sz="1600" b="0" i="1" smtClean="0">
                                            <a:latin typeface="Cambria Math" panose="02040503050406030204" pitchFamily="18" charset="0"/>
                                            <a:ea typeface="Cambria Math" panose="02040503050406030204" pitchFamily="18" charset="0"/>
                                          </a:rPr>
                                          <m:t>∙</m:t>
                                        </m:r>
                                      </m:sub>
                                    </m:sSub>
                                  </m:e>
                                </m:acc>
                                <m:r>
                                  <a:rPr lang="en-NZ" sz="1600" b="0" i="1" smtClean="0">
                                    <a:latin typeface="Cambria Math" panose="02040503050406030204" pitchFamily="18" charset="0"/>
                                    <a:ea typeface="Cambria Math" panose="02040503050406030204" pitchFamily="18" charset="0"/>
                                  </a:rPr>
                                  <m:t> − </m:t>
                                </m:r>
                                <m:acc>
                                  <m:accPr>
                                    <m:chr m:val="̂"/>
                                    <m:ctrlPr>
                                      <a:rPr lang="en-NZ" sz="1600" b="0" i="1" smtClean="0">
                                        <a:latin typeface="Cambria Math" panose="02040503050406030204" pitchFamily="18" charset="0"/>
                                      </a:rPr>
                                    </m:ctrlPr>
                                  </m:accPr>
                                  <m:e>
                                    <m:r>
                                      <a:rPr lang="en-NZ" sz="1600" b="0" i="1" smtClean="0">
                                        <a:latin typeface="Cambria Math" panose="02040503050406030204" pitchFamily="18" charset="0"/>
                                      </a:rPr>
                                      <m:t>𝜇</m:t>
                                    </m:r>
                                  </m:e>
                                </m:acc>
                                <m:r>
                                  <a:rPr lang="en-NZ" sz="1600" b="0" i="0" smtClean="0">
                                    <a:latin typeface="Cambria Math" panose="02040503050406030204" pitchFamily="18" charset="0"/>
                                  </a:rPr>
                                  <m:t> =</m:t>
                                </m:r>
                                <m:sSub>
                                  <m:sSubPr>
                                    <m:ctrlPr>
                                      <a:rPr lang="en-NZ" sz="1600" b="0" i="1" smtClean="0">
                                        <a:latin typeface="Cambria Math" panose="02040503050406030204" pitchFamily="18" charset="0"/>
                                      </a:rPr>
                                    </m:ctrlPr>
                                  </m:sSubPr>
                                  <m:e>
                                    <m:acc>
                                      <m:accPr>
                                        <m:chr m:val="̅"/>
                                        <m:ctrlPr>
                                          <a:rPr lang="en-NZ" sz="1600" i="1" smtClean="0">
                                            <a:latin typeface="Cambria Math" panose="02040503050406030204" pitchFamily="18" charset="0"/>
                                          </a:rPr>
                                        </m:ctrlPr>
                                      </m:accPr>
                                      <m:e>
                                        <m:r>
                                          <a:rPr lang="en-NZ" sz="1600" b="0" i="1" smtClean="0">
                                            <a:latin typeface="Cambria Math" panose="02040503050406030204" pitchFamily="18" charset="0"/>
                                          </a:rPr>
                                          <m:t>𝑌</m:t>
                                        </m:r>
                                      </m:e>
                                    </m:acc>
                                  </m:e>
                                  <m:sub>
                                    <m:r>
                                      <a:rPr lang="en-NZ" sz="1600" b="0" i="1" smtClean="0">
                                        <a:latin typeface="Cambria Math" panose="02040503050406030204" pitchFamily="18" charset="0"/>
                                      </a:rPr>
                                      <m:t>𝑖</m:t>
                                    </m:r>
                                    <m:r>
                                      <a:rPr lang="en-NZ" sz="1600" b="0" i="1" smtClean="0">
                                        <a:latin typeface="Cambria Math" panose="02040503050406030204" pitchFamily="18" charset="0"/>
                                        <a:ea typeface="Cambria Math" panose="02040503050406030204" pitchFamily="18" charset="0"/>
                                      </a:rPr>
                                      <m:t>∙∙</m:t>
                                    </m:r>
                                  </m:sub>
                                </m:sSub>
                                <m:r>
                                  <a:rPr lang="en-NZ" sz="1600" b="0" i="0" smtClean="0">
                                    <a:latin typeface="Cambria Math" panose="02040503050406030204" pitchFamily="18" charset="0"/>
                                    <a:ea typeface="Cambria Math" panose="02040503050406030204" pitchFamily="18" charset="0"/>
                                  </a:rPr>
                                  <m:t> −</m:t>
                                </m:r>
                                <m:sSub>
                                  <m:sSubPr>
                                    <m:ctrlPr>
                                      <a:rPr lang="en-NZ" sz="1600" b="0" i="1" smtClean="0">
                                        <a:latin typeface="Cambria Math" panose="02040503050406030204" pitchFamily="18" charset="0"/>
                                      </a:rPr>
                                    </m:ctrlPr>
                                  </m:sSubPr>
                                  <m:e>
                                    <m:acc>
                                      <m:accPr>
                                        <m:chr m:val="̅"/>
                                        <m:ctrlPr>
                                          <a:rPr lang="en-NZ" sz="1600" i="1" smtClean="0">
                                            <a:latin typeface="Cambria Math" panose="02040503050406030204" pitchFamily="18" charset="0"/>
                                          </a:rPr>
                                        </m:ctrlPr>
                                      </m:accPr>
                                      <m:e>
                                        <m:r>
                                          <a:rPr lang="en-NZ" sz="1600" b="0" i="1" smtClean="0">
                                            <a:latin typeface="Cambria Math" panose="02040503050406030204" pitchFamily="18" charset="0"/>
                                          </a:rPr>
                                          <m:t>𝑌</m:t>
                                        </m:r>
                                      </m:e>
                                    </m:acc>
                                  </m:e>
                                  <m:sub>
                                    <m:r>
                                      <a:rPr lang="en-NZ" sz="1600" b="0" i="1" smtClean="0">
                                        <a:latin typeface="Cambria Math" panose="02040503050406030204" pitchFamily="18" charset="0"/>
                                        <a:ea typeface="Cambria Math" panose="02040503050406030204" pitchFamily="18" charset="0"/>
                                      </a:rPr>
                                      <m:t>∙∙∙</m:t>
                                    </m:r>
                                  </m:sub>
                                </m:sSub>
                              </m:oMath>
                            </m:oMathPara>
                          </a14:m>
                          <a:endParaRPr lang="en-NZ" sz="1600" dirty="0"/>
                        </a:p>
                      </a:txBody>
                      <a:tcPr anchor="ctr"/>
                    </a:tc>
                    <a:tc>
                      <a:txBody>
                        <a:bodyPr/>
                        <a:lstStyle/>
                        <a:p>
                          <a:pPr algn="ctr"/>
                          <a:r>
                            <a:rPr lang="en-NZ" sz="1600" dirty="0"/>
                            <a:t>Effect of the </a:t>
                          </a:r>
                          <a14:m>
                            <m:oMath xmlns:m="http://schemas.openxmlformats.org/officeDocument/2006/math">
                              <m:sSup>
                                <m:sSupPr>
                                  <m:ctrlPr>
                                    <a:rPr lang="en-NZ" sz="1600" b="0" i="1" smtClean="0">
                                      <a:latin typeface="Cambria Math" panose="02040503050406030204" pitchFamily="18" charset="0"/>
                                    </a:rPr>
                                  </m:ctrlPr>
                                </m:sSupPr>
                                <m:e>
                                  <m:r>
                                    <a:rPr lang="en-NZ" sz="1600" b="0" i="1" smtClean="0">
                                      <a:latin typeface="Cambria Math" panose="02040503050406030204" pitchFamily="18" charset="0"/>
                                    </a:rPr>
                                    <m:t>𝑖</m:t>
                                  </m:r>
                                </m:e>
                                <m:sup>
                                  <m:r>
                                    <a:rPr lang="en-NZ" sz="1600" b="0" i="1" smtClean="0">
                                      <a:latin typeface="Cambria Math" panose="02040503050406030204" pitchFamily="18" charset="0"/>
                                    </a:rPr>
                                    <m:t>𝑡h</m:t>
                                  </m:r>
                                </m:sup>
                              </m:sSup>
                            </m:oMath>
                          </a14:m>
                          <a:r>
                            <a:rPr lang="en-NZ" sz="1600" dirty="0"/>
                            <a:t> level of Factor A</a:t>
                          </a:r>
                        </a:p>
                      </a:txBody>
                      <a:tcPr anchor="ctr"/>
                    </a:tc>
                    <a:extLst>
                      <a:ext uri="{0D108BD9-81ED-4DB2-BD59-A6C34878D82A}">
                        <a16:rowId xmlns:a16="http://schemas.microsoft.com/office/drawing/2014/main" val="3262608191"/>
                      </a:ext>
                    </a:extLst>
                  </a:tr>
                  <a:tr h="418542">
                    <a:tc>
                      <a:txBody>
                        <a:bodyPr/>
                        <a:lstStyle/>
                        <a:p>
                          <a:pPr algn="ctr"/>
                          <a14:m>
                            <m:oMathPara xmlns:m="http://schemas.openxmlformats.org/officeDocument/2006/math">
                              <m:oMathParaPr>
                                <m:jc m:val="centerGroup"/>
                              </m:oMathParaPr>
                              <m:oMath xmlns:m="http://schemas.openxmlformats.org/officeDocument/2006/math">
                                <m:sSub>
                                  <m:sSubPr>
                                    <m:ctrlPr>
                                      <a:rPr lang="en-NZ" sz="1600" b="0" i="1" smtClean="0">
                                        <a:latin typeface="Cambria Math" panose="02040503050406030204" pitchFamily="18" charset="0"/>
                                      </a:rPr>
                                    </m:ctrlPr>
                                  </m:sSubPr>
                                  <m:e>
                                    <m:r>
                                      <a:rPr lang="en-NZ" sz="1600" b="0" i="1" smtClean="0">
                                        <a:latin typeface="Cambria Math" panose="02040503050406030204" pitchFamily="18" charset="0"/>
                                      </a:rPr>
                                      <m:t>𝛽</m:t>
                                    </m:r>
                                  </m:e>
                                  <m:sub>
                                    <m:r>
                                      <a:rPr lang="en-NZ" sz="1600" b="0" i="1" smtClean="0">
                                        <a:latin typeface="Cambria Math" panose="02040503050406030204" pitchFamily="18" charset="0"/>
                                      </a:rPr>
                                      <m:t>𝑗</m:t>
                                    </m:r>
                                  </m:sub>
                                </m:sSub>
                                <m:r>
                                  <a:rPr lang="en-NZ" sz="1600" b="0" i="1" smtClean="0">
                                    <a:latin typeface="Cambria Math" panose="02040503050406030204" pitchFamily="18" charset="0"/>
                                  </a:rPr>
                                  <m:t>≡  </m:t>
                                </m:r>
                                <m:sSub>
                                  <m:sSubPr>
                                    <m:ctrlPr>
                                      <a:rPr lang="en-NZ" sz="1600" b="0" i="1" smtClean="0">
                                        <a:latin typeface="Cambria Math" panose="02040503050406030204" pitchFamily="18" charset="0"/>
                                      </a:rPr>
                                    </m:ctrlPr>
                                  </m:sSubPr>
                                  <m:e>
                                    <m:r>
                                      <a:rPr lang="en-NZ" sz="1600" b="0" i="1" smtClean="0">
                                        <a:latin typeface="Cambria Math" panose="02040503050406030204" pitchFamily="18" charset="0"/>
                                      </a:rPr>
                                      <m:t>𝜇</m:t>
                                    </m:r>
                                  </m:e>
                                  <m:sub>
                                    <m:r>
                                      <a:rPr lang="en-NZ" sz="1600" b="0" i="1" smtClean="0">
                                        <a:latin typeface="Cambria Math" panose="02040503050406030204" pitchFamily="18" charset="0"/>
                                        <a:ea typeface="Cambria Math" panose="02040503050406030204" pitchFamily="18" charset="0"/>
                                      </a:rPr>
                                      <m:t>∙</m:t>
                                    </m:r>
                                    <m:r>
                                      <a:rPr lang="en-NZ" sz="1600" b="0" i="1" smtClean="0">
                                        <a:latin typeface="Cambria Math" panose="02040503050406030204" pitchFamily="18" charset="0"/>
                                        <a:ea typeface="Cambria Math" panose="02040503050406030204" pitchFamily="18" charset="0"/>
                                      </a:rPr>
                                      <m:t>𝑗</m:t>
                                    </m:r>
                                  </m:sub>
                                </m:sSub>
                                <m:r>
                                  <a:rPr lang="en-NZ" sz="1600" b="0" i="1" smtClean="0">
                                    <a:latin typeface="Cambria Math" panose="02040503050406030204" pitchFamily="18" charset="0"/>
                                  </a:rPr>
                                  <m:t> −</m:t>
                                </m:r>
                                <m:r>
                                  <a:rPr lang="en-NZ" sz="1600" b="0" i="1" smtClean="0">
                                    <a:latin typeface="Cambria Math" panose="02040503050406030204" pitchFamily="18" charset="0"/>
                                  </a:rPr>
                                  <m:t>𝜇</m:t>
                                </m:r>
                              </m:oMath>
                            </m:oMathPara>
                          </a14:m>
                          <a:endParaRPr lang="en-NZ" sz="1600" dirty="0"/>
                        </a:p>
                      </a:txBody>
                      <a:tcPr anchor="ctr"/>
                    </a:tc>
                    <a:tc>
                      <a:txBody>
                        <a:bodyPr/>
                        <a:lstStyle/>
                        <a:p>
                          <a:pPr algn="ctr"/>
                          <a14:m>
                            <m:oMathPara xmlns:m="http://schemas.openxmlformats.org/officeDocument/2006/math">
                              <m:oMathParaPr>
                                <m:jc m:val="centerGroup"/>
                              </m:oMathParaPr>
                              <m:oMath xmlns:m="http://schemas.openxmlformats.org/officeDocument/2006/math">
                                <m:acc>
                                  <m:accPr>
                                    <m:chr m:val="̂"/>
                                    <m:ctrlPr>
                                      <a:rPr lang="en-NZ" sz="1600" i="1" smtClean="0">
                                        <a:latin typeface="Cambria Math" panose="02040503050406030204" pitchFamily="18" charset="0"/>
                                      </a:rPr>
                                    </m:ctrlPr>
                                  </m:accPr>
                                  <m:e>
                                    <m:sSub>
                                      <m:sSubPr>
                                        <m:ctrlPr>
                                          <a:rPr lang="en-NZ" sz="1600" b="0" i="1" smtClean="0">
                                            <a:latin typeface="Cambria Math" panose="02040503050406030204" pitchFamily="18" charset="0"/>
                                          </a:rPr>
                                        </m:ctrlPr>
                                      </m:sSubPr>
                                      <m:e>
                                        <m:r>
                                          <a:rPr lang="en-NZ" sz="1600" b="0" i="1" smtClean="0">
                                            <a:latin typeface="Cambria Math" panose="02040503050406030204" pitchFamily="18" charset="0"/>
                                          </a:rPr>
                                          <m:t>𝛽</m:t>
                                        </m:r>
                                      </m:e>
                                      <m:sub>
                                        <m:r>
                                          <a:rPr lang="en-NZ" sz="1600" b="0" i="1" smtClean="0">
                                            <a:latin typeface="Cambria Math" panose="02040503050406030204" pitchFamily="18" charset="0"/>
                                          </a:rPr>
                                          <m:t>𝑗</m:t>
                                        </m:r>
                                      </m:sub>
                                    </m:sSub>
                                  </m:e>
                                </m:acc>
                                <m:r>
                                  <a:rPr lang="en-NZ" sz="1600" b="0" i="1" smtClean="0">
                                    <a:latin typeface="Cambria Math" panose="02040503050406030204" pitchFamily="18" charset="0"/>
                                  </a:rPr>
                                  <m:t> = </m:t>
                                </m:r>
                                <m:acc>
                                  <m:accPr>
                                    <m:chr m:val="̂"/>
                                    <m:ctrlPr>
                                      <a:rPr lang="en-NZ" sz="1600" i="1" smtClean="0">
                                        <a:latin typeface="Cambria Math" panose="02040503050406030204" pitchFamily="18" charset="0"/>
                                      </a:rPr>
                                    </m:ctrlPr>
                                  </m:accPr>
                                  <m:e>
                                    <m:sSub>
                                      <m:sSubPr>
                                        <m:ctrlPr>
                                          <a:rPr lang="en-NZ" sz="1600" b="0" i="1" smtClean="0">
                                            <a:latin typeface="Cambria Math" panose="02040503050406030204" pitchFamily="18" charset="0"/>
                                          </a:rPr>
                                        </m:ctrlPr>
                                      </m:sSubPr>
                                      <m:e>
                                        <m:r>
                                          <a:rPr lang="en-NZ" sz="1600" b="0" i="1" smtClean="0">
                                            <a:latin typeface="Cambria Math" panose="02040503050406030204" pitchFamily="18" charset="0"/>
                                          </a:rPr>
                                          <m:t>𝜇</m:t>
                                        </m:r>
                                      </m:e>
                                      <m:sub>
                                        <m:r>
                                          <a:rPr lang="en-NZ" sz="1600" b="0" i="1" smtClean="0">
                                            <a:latin typeface="Cambria Math" panose="02040503050406030204" pitchFamily="18" charset="0"/>
                                            <a:ea typeface="Cambria Math" panose="02040503050406030204" pitchFamily="18" charset="0"/>
                                          </a:rPr>
                                          <m:t>∙</m:t>
                                        </m:r>
                                        <m:r>
                                          <a:rPr lang="en-NZ" sz="1600" b="0" i="1" smtClean="0">
                                            <a:latin typeface="Cambria Math" panose="02040503050406030204" pitchFamily="18" charset="0"/>
                                            <a:ea typeface="Cambria Math" panose="02040503050406030204" pitchFamily="18" charset="0"/>
                                          </a:rPr>
                                          <m:t>𝑗</m:t>
                                        </m:r>
                                      </m:sub>
                                    </m:sSub>
                                  </m:e>
                                </m:acc>
                                <m:r>
                                  <a:rPr lang="en-NZ" sz="1600" b="0" i="1" smtClean="0">
                                    <a:latin typeface="Cambria Math" panose="02040503050406030204" pitchFamily="18" charset="0"/>
                                    <a:ea typeface="Cambria Math" panose="02040503050406030204" pitchFamily="18" charset="0"/>
                                  </a:rPr>
                                  <m:t> − </m:t>
                                </m:r>
                                <m:acc>
                                  <m:accPr>
                                    <m:chr m:val="̂"/>
                                    <m:ctrlPr>
                                      <a:rPr lang="en-NZ" sz="1600" b="0" i="1" smtClean="0">
                                        <a:latin typeface="Cambria Math" panose="02040503050406030204" pitchFamily="18" charset="0"/>
                                      </a:rPr>
                                    </m:ctrlPr>
                                  </m:accPr>
                                  <m:e>
                                    <m:r>
                                      <a:rPr lang="en-NZ" sz="1600" b="0" i="1" smtClean="0">
                                        <a:latin typeface="Cambria Math" panose="02040503050406030204" pitchFamily="18" charset="0"/>
                                      </a:rPr>
                                      <m:t>𝜇</m:t>
                                    </m:r>
                                  </m:e>
                                </m:acc>
                                <m:r>
                                  <a:rPr lang="en-NZ" sz="1600" b="0" i="0" smtClean="0">
                                    <a:latin typeface="Cambria Math" panose="02040503050406030204" pitchFamily="18" charset="0"/>
                                  </a:rPr>
                                  <m:t> =</m:t>
                                </m:r>
                                <m:sSub>
                                  <m:sSubPr>
                                    <m:ctrlPr>
                                      <a:rPr lang="en-NZ" sz="1600" b="0" i="1" smtClean="0">
                                        <a:latin typeface="Cambria Math" panose="02040503050406030204" pitchFamily="18" charset="0"/>
                                      </a:rPr>
                                    </m:ctrlPr>
                                  </m:sSubPr>
                                  <m:e>
                                    <m:acc>
                                      <m:accPr>
                                        <m:chr m:val="̅"/>
                                        <m:ctrlPr>
                                          <a:rPr lang="en-NZ" sz="1600" i="1" smtClean="0">
                                            <a:latin typeface="Cambria Math" panose="02040503050406030204" pitchFamily="18" charset="0"/>
                                          </a:rPr>
                                        </m:ctrlPr>
                                      </m:accPr>
                                      <m:e>
                                        <m:r>
                                          <a:rPr lang="en-NZ" sz="1600" b="0" i="1" smtClean="0">
                                            <a:latin typeface="Cambria Math" panose="02040503050406030204" pitchFamily="18" charset="0"/>
                                          </a:rPr>
                                          <m:t>𝑌</m:t>
                                        </m:r>
                                      </m:e>
                                    </m:acc>
                                  </m:e>
                                  <m:sub>
                                    <m:r>
                                      <a:rPr lang="en-NZ" sz="1600" b="0" i="1" smtClean="0">
                                        <a:latin typeface="Cambria Math" panose="02040503050406030204" pitchFamily="18" charset="0"/>
                                        <a:ea typeface="Cambria Math" panose="02040503050406030204" pitchFamily="18" charset="0"/>
                                      </a:rPr>
                                      <m:t>∙</m:t>
                                    </m:r>
                                    <m:r>
                                      <a:rPr lang="en-NZ" sz="1600" b="0" i="1" smtClean="0">
                                        <a:latin typeface="Cambria Math" panose="02040503050406030204" pitchFamily="18" charset="0"/>
                                        <a:ea typeface="Cambria Math" panose="02040503050406030204" pitchFamily="18" charset="0"/>
                                      </a:rPr>
                                      <m:t>𝑗</m:t>
                                    </m:r>
                                    <m:r>
                                      <a:rPr lang="en-NZ" sz="1600" b="0" i="1" smtClean="0">
                                        <a:latin typeface="Cambria Math" panose="02040503050406030204" pitchFamily="18" charset="0"/>
                                        <a:ea typeface="Cambria Math" panose="02040503050406030204" pitchFamily="18" charset="0"/>
                                      </a:rPr>
                                      <m:t>∙</m:t>
                                    </m:r>
                                  </m:sub>
                                </m:sSub>
                                <m:r>
                                  <a:rPr lang="en-NZ" sz="1600" b="0" i="0" smtClean="0">
                                    <a:latin typeface="Cambria Math" panose="02040503050406030204" pitchFamily="18" charset="0"/>
                                    <a:ea typeface="Cambria Math" panose="02040503050406030204" pitchFamily="18" charset="0"/>
                                  </a:rPr>
                                  <m:t> −</m:t>
                                </m:r>
                                <m:sSub>
                                  <m:sSubPr>
                                    <m:ctrlPr>
                                      <a:rPr lang="en-NZ" sz="1600" b="0" i="1" smtClean="0">
                                        <a:latin typeface="Cambria Math" panose="02040503050406030204" pitchFamily="18" charset="0"/>
                                      </a:rPr>
                                    </m:ctrlPr>
                                  </m:sSubPr>
                                  <m:e>
                                    <m:acc>
                                      <m:accPr>
                                        <m:chr m:val="̅"/>
                                        <m:ctrlPr>
                                          <a:rPr lang="en-NZ" sz="1600" i="1" smtClean="0">
                                            <a:latin typeface="Cambria Math" panose="02040503050406030204" pitchFamily="18" charset="0"/>
                                          </a:rPr>
                                        </m:ctrlPr>
                                      </m:accPr>
                                      <m:e>
                                        <m:r>
                                          <a:rPr lang="en-NZ" sz="1600" b="0" i="1" smtClean="0">
                                            <a:latin typeface="Cambria Math" panose="02040503050406030204" pitchFamily="18" charset="0"/>
                                          </a:rPr>
                                          <m:t>𝑌</m:t>
                                        </m:r>
                                      </m:e>
                                    </m:acc>
                                  </m:e>
                                  <m:sub>
                                    <m:r>
                                      <a:rPr lang="en-NZ" sz="1600" b="0" i="1" smtClean="0">
                                        <a:latin typeface="Cambria Math" panose="02040503050406030204" pitchFamily="18" charset="0"/>
                                        <a:ea typeface="Cambria Math" panose="02040503050406030204" pitchFamily="18" charset="0"/>
                                      </a:rPr>
                                      <m:t>∙∙∙</m:t>
                                    </m:r>
                                  </m:sub>
                                </m:sSub>
                              </m:oMath>
                            </m:oMathPara>
                          </a14:m>
                          <a:endParaRPr lang="en-NZ" sz="1600" dirty="0"/>
                        </a:p>
                      </a:txBody>
                      <a:tcPr anchor="ctr"/>
                    </a:tc>
                    <a:tc>
                      <a:txBody>
                        <a:bodyPr/>
                        <a:lstStyle/>
                        <a:p>
                          <a:pPr algn="ctr"/>
                          <a:r>
                            <a:rPr lang="en-NZ" sz="1600" dirty="0"/>
                            <a:t>Effect of </a:t>
                          </a:r>
                          <a14:m>
                            <m:oMath xmlns:m="http://schemas.openxmlformats.org/officeDocument/2006/math">
                              <m:sSup>
                                <m:sSupPr>
                                  <m:ctrlPr>
                                    <a:rPr lang="en-NZ" sz="1600" b="0" i="1" smtClean="0">
                                      <a:latin typeface="Cambria Math" panose="02040503050406030204" pitchFamily="18" charset="0"/>
                                    </a:rPr>
                                  </m:ctrlPr>
                                </m:sSupPr>
                                <m:e>
                                  <m:r>
                                    <a:rPr lang="en-NZ" sz="1600" b="0" i="1" smtClean="0">
                                      <a:latin typeface="Cambria Math" panose="02040503050406030204" pitchFamily="18" charset="0"/>
                                    </a:rPr>
                                    <m:t>𝑗</m:t>
                                  </m:r>
                                </m:e>
                                <m:sup>
                                  <m:r>
                                    <a:rPr lang="en-NZ" sz="1600" b="0" i="1" smtClean="0">
                                      <a:latin typeface="Cambria Math" panose="02040503050406030204" pitchFamily="18" charset="0"/>
                                    </a:rPr>
                                    <m:t>𝑡h</m:t>
                                  </m:r>
                                </m:sup>
                              </m:sSup>
                            </m:oMath>
                          </a14:m>
                          <a:r>
                            <a:rPr lang="en-NZ" sz="1600" dirty="0"/>
                            <a:t> level of Factor B</a:t>
                          </a:r>
                        </a:p>
                      </a:txBody>
                      <a:tcPr anchor="ctr"/>
                    </a:tc>
                    <a:extLst>
                      <a:ext uri="{0D108BD9-81ED-4DB2-BD59-A6C34878D82A}">
                        <a16:rowId xmlns:a16="http://schemas.microsoft.com/office/drawing/2014/main" val="3760970986"/>
                      </a:ext>
                    </a:extLst>
                  </a:tr>
                  <a:tr h="875994">
                    <a:tc>
                      <a:txBody>
                        <a:bodyPr/>
                        <a:lstStyle/>
                        <a:p>
                          <a:pPr algn="ctr"/>
                          <a14:m>
                            <m:oMathPara xmlns:m="http://schemas.openxmlformats.org/officeDocument/2006/math">
                              <m:oMathParaPr>
                                <m:jc m:val="centerGroup"/>
                              </m:oMathParaPr>
                              <m:oMath xmlns:m="http://schemas.openxmlformats.org/officeDocument/2006/math">
                                <m:sSup>
                                  <m:sSupPr>
                                    <m:ctrlPr>
                                      <a:rPr lang="en-NZ" sz="1600" b="0" i="1" smtClean="0">
                                        <a:latin typeface="Cambria Math" panose="02040503050406030204" pitchFamily="18" charset="0"/>
                                      </a:rPr>
                                    </m:ctrlPr>
                                  </m:sSupPr>
                                  <m:e>
                                    <m:r>
                                      <a:rPr lang="en-NZ" sz="1600" b="0" i="1" smtClean="0">
                                        <a:latin typeface="Cambria Math" panose="02040503050406030204" pitchFamily="18" charset="0"/>
                                      </a:rPr>
                                      <m:t>𝜎</m:t>
                                    </m:r>
                                  </m:e>
                                  <m:sup>
                                    <m:r>
                                      <a:rPr lang="en-NZ" sz="1600" b="0" i="1" smtClean="0">
                                        <a:latin typeface="Cambria Math" panose="02040503050406030204" pitchFamily="18" charset="0"/>
                                      </a:rPr>
                                      <m:t>2</m:t>
                                    </m:r>
                                  </m:sup>
                                </m:sSup>
                              </m:oMath>
                            </m:oMathPara>
                          </a14:m>
                          <a:endParaRPr lang="en-NZ" sz="1600" dirty="0"/>
                        </a:p>
                      </a:txBody>
                      <a:tcPr anchor="ctr"/>
                    </a:tc>
                    <a:tc>
                      <a:txBody>
                        <a:bodyPr/>
                        <a:lstStyle/>
                        <a:p>
                          <a:pPr algn="ctr"/>
                          <a14:m>
                            <m:oMathPara xmlns:m="http://schemas.openxmlformats.org/officeDocument/2006/math">
                              <m:oMathParaPr>
                                <m:jc m:val="centerGroup"/>
                              </m:oMathParaPr>
                              <m:oMath xmlns:m="http://schemas.openxmlformats.org/officeDocument/2006/math">
                                <m:sSup>
                                  <m:sSupPr>
                                    <m:ctrlPr>
                                      <a:rPr lang="en-NZ" sz="1600" b="0" i="1" smtClean="0">
                                        <a:latin typeface="Cambria Math" panose="02040503050406030204" pitchFamily="18" charset="0"/>
                                      </a:rPr>
                                    </m:ctrlPr>
                                  </m:sSupPr>
                                  <m:e>
                                    <m:sSup>
                                      <m:sSupPr>
                                        <m:ctrlPr>
                                          <a:rPr lang="en-NZ" sz="1600" b="0" i="1" smtClean="0">
                                            <a:latin typeface="Cambria Math" panose="02040503050406030204" pitchFamily="18" charset="0"/>
                                          </a:rPr>
                                        </m:ctrlPr>
                                      </m:sSupPr>
                                      <m:e>
                                        <m:acc>
                                          <m:accPr>
                                            <m:chr m:val="̂"/>
                                            <m:ctrlPr>
                                              <a:rPr lang="en-NZ" sz="1600" b="0" i="1" smtClean="0">
                                                <a:latin typeface="Cambria Math" panose="02040503050406030204" pitchFamily="18" charset="0"/>
                                              </a:rPr>
                                            </m:ctrlPr>
                                          </m:accPr>
                                          <m:e>
                                            <m:r>
                                              <a:rPr lang="en-NZ" sz="1600" b="0" i="1" smtClean="0">
                                                <a:latin typeface="Cambria Math" panose="02040503050406030204" pitchFamily="18" charset="0"/>
                                              </a:rPr>
                                              <m:t>𝜎</m:t>
                                            </m:r>
                                          </m:e>
                                        </m:acc>
                                      </m:e>
                                      <m:sup>
                                        <m:r>
                                          <a:rPr lang="en-NZ" sz="1600" b="0" i="1" smtClean="0">
                                            <a:latin typeface="Cambria Math" panose="02040503050406030204" pitchFamily="18" charset="0"/>
                                          </a:rPr>
                                          <m:t>2</m:t>
                                        </m:r>
                                      </m:sup>
                                    </m:sSup>
                                    <m:r>
                                      <a:rPr lang="en-NZ" sz="1600" b="0" i="1" smtClean="0">
                                        <a:latin typeface="Cambria Math" panose="02040503050406030204" pitchFamily="18" charset="0"/>
                                      </a:rPr>
                                      <m:t> = </m:t>
                                    </m:r>
                                    <m:r>
                                      <a:rPr lang="en-NZ" sz="1600" b="0" i="1" smtClean="0">
                                        <a:latin typeface="Cambria Math" panose="02040503050406030204" pitchFamily="18" charset="0"/>
                                      </a:rPr>
                                      <m:t>𝑠</m:t>
                                    </m:r>
                                  </m:e>
                                  <m:sup>
                                    <m:r>
                                      <a:rPr lang="en-NZ" sz="1600" b="0" i="1" smtClean="0">
                                        <a:latin typeface="Cambria Math" panose="02040503050406030204" pitchFamily="18" charset="0"/>
                                      </a:rPr>
                                      <m:t>2</m:t>
                                    </m:r>
                                  </m:sup>
                                </m:sSup>
                                <m:r>
                                  <a:rPr lang="en-NZ" sz="1600" b="0" i="1" smtClean="0">
                                    <a:latin typeface="Cambria Math" panose="02040503050406030204" pitchFamily="18" charset="0"/>
                                  </a:rPr>
                                  <m:t>=</m:t>
                                </m:r>
                                <m:f>
                                  <m:fPr>
                                    <m:ctrlPr>
                                      <a:rPr lang="en-NZ" sz="1600" b="0" i="1" smtClean="0">
                                        <a:latin typeface="Cambria Math" panose="02040503050406030204" pitchFamily="18" charset="0"/>
                                      </a:rPr>
                                    </m:ctrlPr>
                                  </m:fPr>
                                  <m:num>
                                    <m:r>
                                      <a:rPr lang="en-NZ" sz="1600" b="0" i="1" smtClean="0">
                                        <a:latin typeface="Cambria Math" panose="02040503050406030204" pitchFamily="18" charset="0"/>
                                      </a:rPr>
                                      <m:t>1</m:t>
                                    </m:r>
                                  </m:num>
                                  <m:den>
                                    <m:r>
                                      <a:rPr lang="en-NZ" sz="1600" b="0" i="1" smtClean="0">
                                        <a:latin typeface="Cambria Math" panose="02040503050406030204" pitchFamily="18" charset="0"/>
                                      </a:rPr>
                                      <m:t>𝑘</m:t>
                                    </m:r>
                                  </m:den>
                                </m:f>
                                <m:r>
                                  <a:rPr lang="en-NZ" sz="1600" b="0" i="1" smtClean="0">
                                    <a:latin typeface="Cambria Math" panose="02040503050406030204" pitchFamily="18" charset="0"/>
                                  </a:rPr>
                                  <m:t> </m:t>
                                </m:r>
                                <m:nary>
                                  <m:naryPr>
                                    <m:chr m:val="∑"/>
                                    <m:ctrlPr>
                                      <a:rPr lang="en-NZ" sz="1600" b="0" i="1" smtClean="0">
                                        <a:latin typeface="Cambria Math" panose="02040503050406030204" pitchFamily="18" charset="0"/>
                                      </a:rPr>
                                    </m:ctrlPr>
                                  </m:naryPr>
                                  <m:sub>
                                    <m:r>
                                      <m:rPr>
                                        <m:brk m:alnAt="23"/>
                                      </m:rPr>
                                      <a:rPr lang="en-NZ" sz="1600" b="0" i="1" smtClean="0">
                                        <a:latin typeface="Cambria Math" panose="02040503050406030204" pitchFamily="18" charset="0"/>
                                      </a:rPr>
                                      <m:t>𝑖</m:t>
                                    </m:r>
                                    <m:r>
                                      <a:rPr lang="en-NZ" sz="1600" b="0" i="1" smtClean="0">
                                        <a:latin typeface="Cambria Math" panose="02040503050406030204" pitchFamily="18" charset="0"/>
                                      </a:rPr>
                                      <m:t>=1</m:t>
                                    </m:r>
                                  </m:sub>
                                  <m:sup>
                                    <m:r>
                                      <a:rPr lang="en-NZ" sz="1600" b="0" i="1" smtClean="0">
                                        <a:latin typeface="Cambria Math" panose="02040503050406030204" pitchFamily="18" charset="0"/>
                                      </a:rPr>
                                      <m:t>𝑘</m:t>
                                    </m:r>
                                  </m:sup>
                                  <m:e>
                                    <m:sSubSup>
                                      <m:sSubSupPr>
                                        <m:ctrlPr>
                                          <a:rPr lang="en-NZ" sz="1600" b="0" i="1" smtClean="0">
                                            <a:latin typeface="Cambria Math" panose="02040503050406030204" pitchFamily="18" charset="0"/>
                                          </a:rPr>
                                        </m:ctrlPr>
                                      </m:sSubSupPr>
                                      <m:e>
                                        <m:r>
                                          <a:rPr lang="en-NZ" sz="1600" b="0" i="1" smtClean="0">
                                            <a:latin typeface="Cambria Math" panose="02040503050406030204" pitchFamily="18" charset="0"/>
                                          </a:rPr>
                                          <m:t>𝑠</m:t>
                                        </m:r>
                                      </m:e>
                                      <m:sub>
                                        <m:r>
                                          <a:rPr lang="en-NZ" sz="1600" b="0" i="1" smtClean="0">
                                            <a:latin typeface="Cambria Math" panose="02040503050406030204" pitchFamily="18" charset="0"/>
                                          </a:rPr>
                                          <m:t>𝑖</m:t>
                                        </m:r>
                                      </m:sub>
                                      <m:sup>
                                        <m:r>
                                          <a:rPr lang="en-NZ" sz="1600" b="0" i="1" smtClean="0">
                                            <a:latin typeface="Cambria Math" panose="02040503050406030204" pitchFamily="18" charset="0"/>
                                          </a:rPr>
                                          <m:t>2</m:t>
                                        </m:r>
                                      </m:sup>
                                    </m:sSubSup>
                                  </m:e>
                                </m:nary>
                              </m:oMath>
                            </m:oMathPara>
                          </a14:m>
                          <a:endParaRPr lang="en-NZ" sz="1600" dirty="0"/>
                        </a:p>
                      </a:txBody>
                      <a:tcPr anchor="ctr"/>
                    </a:tc>
                    <a:tc>
                      <a:txBody>
                        <a:bodyPr/>
                        <a:lstStyle/>
                        <a:p>
                          <a:pPr algn="ctr"/>
                          <a:r>
                            <a:rPr lang="en-NZ" sz="1600" dirty="0"/>
                            <a:t>Common Variance</a:t>
                          </a:r>
                          <a:br>
                            <a:rPr lang="en-NZ" sz="1600" dirty="0"/>
                          </a:br>
                          <a:r>
                            <a:rPr lang="en-NZ" sz="1600" dirty="0"/>
                            <a:t>(Holds only for balanced designs)</a:t>
                          </a:r>
                        </a:p>
                      </a:txBody>
                      <a:tcPr anchor="ctr"/>
                    </a:tc>
                    <a:extLst>
                      <a:ext uri="{0D108BD9-81ED-4DB2-BD59-A6C34878D82A}">
                        <a16:rowId xmlns:a16="http://schemas.microsoft.com/office/drawing/2014/main" val="2599272264"/>
                      </a:ext>
                    </a:extLst>
                  </a:tr>
                </a:tbl>
              </a:graphicData>
            </a:graphic>
          </p:graphicFrame>
        </mc:Choice>
        <mc:Fallback xmlns="">
          <p:graphicFrame>
            <p:nvGraphicFramePr>
              <p:cNvPr id="22" name="Table 2">
                <a:extLst>
                  <a:ext uri="{FF2B5EF4-FFF2-40B4-BE49-F238E27FC236}">
                    <a16:creationId xmlns:a16="http://schemas.microsoft.com/office/drawing/2014/main" id="{68C4A14C-F897-4C2E-8A89-87A356FB86B1}"/>
                  </a:ext>
                </a:extLst>
              </p:cNvPr>
              <p:cNvGraphicFramePr>
                <a:graphicFrameLocks noGrp="1"/>
              </p:cNvGraphicFramePr>
              <p:nvPr/>
            </p:nvGraphicFramePr>
            <p:xfrm>
              <a:off x="1009427" y="1682451"/>
              <a:ext cx="10173145" cy="4817502"/>
            </p:xfrm>
            <a:graphic>
              <a:graphicData uri="http://schemas.openxmlformats.org/drawingml/2006/table">
                <a:tbl>
                  <a:tblPr firstRow="1" bandRow="1">
                    <a:tableStyleId>{5C22544A-7EE6-4342-B048-85BDC9FD1C3A}</a:tableStyleId>
                  </a:tblPr>
                  <a:tblGrid>
                    <a:gridCol w="1799874">
                      <a:extLst>
                        <a:ext uri="{9D8B030D-6E8A-4147-A177-3AD203B41FA5}">
                          <a16:colId xmlns:a16="http://schemas.microsoft.com/office/drawing/2014/main" val="4198110682"/>
                        </a:ext>
                      </a:extLst>
                    </a:gridCol>
                    <a:gridCol w="4483865">
                      <a:extLst>
                        <a:ext uri="{9D8B030D-6E8A-4147-A177-3AD203B41FA5}">
                          <a16:colId xmlns:a16="http://schemas.microsoft.com/office/drawing/2014/main" val="292302729"/>
                        </a:ext>
                      </a:extLst>
                    </a:gridCol>
                    <a:gridCol w="3889406">
                      <a:extLst>
                        <a:ext uri="{9D8B030D-6E8A-4147-A177-3AD203B41FA5}">
                          <a16:colId xmlns:a16="http://schemas.microsoft.com/office/drawing/2014/main" val="126256495"/>
                        </a:ext>
                      </a:extLst>
                    </a:gridCol>
                  </a:tblGrid>
                  <a:tr h="415412">
                    <a:tc>
                      <a:txBody>
                        <a:bodyPr/>
                        <a:lstStyle/>
                        <a:p>
                          <a:pPr algn="ctr"/>
                          <a:r>
                            <a:rPr lang="en-NZ"/>
                            <a:t>Parameter</a:t>
                          </a:r>
                          <a:endParaRPr lang="en-NZ" dirty="0"/>
                        </a:p>
                      </a:txBody>
                      <a:tcPr anchor="ctr"/>
                    </a:tc>
                    <a:tc>
                      <a:txBody>
                        <a:bodyPr/>
                        <a:lstStyle/>
                        <a:p>
                          <a:pPr algn="ctr"/>
                          <a:r>
                            <a:rPr lang="en-NZ" dirty="0"/>
                            <a:t>Unbiassed Estimator</a:t>
                          </a:r>
                        </a:p>
                      </a:txBody>
                      <a:tcPr anchor="ctr"/>
                    </a:tc>
                    <a:tc>
                      <a:txBody>
                        <a:bodyPr/>
                        <a:lstStyle/>
                        <a:p>
                          <a:pPr algn="ctr"/>
                          <a:r>
                            <a:rPr lang="en-NZ"/>
                            <a:t>Meaning</a:t>
                          </a:r>
                          <a:endParaRPr lang="en-NZ" dirty="0"/>
                        </a:p>
                      </a:txBody>
                      <a:tcPr anchor="ctr"/>
                    </a:tc>
                    <a:extLst>
                      <a:ext uri="{0D108BD9-81ED-4DB2-BD59-A6C34878D82A}">
                        <a16:rowId xmlns:a16="http://schemas.microsoft.com/office/drawing/2014/main" val="3666350365"/>
                      </a:ext>
                    </a:extLst>
                  </a:tr>
                  <a:tr h="716159">
                    <a:tc>
                      <a:txBody>
                        <a:bodyPr/>
                        <a:lstStyle/>
                        <a:p>
                          <a:endParaRPr lang="en-US"/>
                        </a:p>
                      </a:txBody>
                      <a:tcPr anchor="ctr">
                        <a:blipFill>
                          <a:blip r:embed="rId2"/>
                          <a:stretch>
                            <a:fillRect l="-339" t="-58475" r="-467458" b="-515254"/>
                          </a:stretch>
                        </a:blipFill>
                      </a:tcPr>
                    </a:tc>
                    <a:tc>
                      <a:txBody>
                        <a:bodyPr/>
                        <a:lstStyle/>
                        <a:p>
                          <a:endParaRPr lang="en-US"/>
                        </a:p>
                      </a:txBody>
                      <a:tcPr anchor="ctr">
                        <a:blipFill>
                          <a:blip r:embed="rId2"/>
                          <a:stretch>
                            <a:fillRect l="-40163" t="-58475" r="-87110" b="-515254"/>
                          </a:stretch>
                        </a:blipFill>
                      </a:tcPr>
                    </a:tc>
                    <a:tc>
                      <a:txBody>
                        <a:bodyPr/>
                        <a:lstStyle/>
                        <a:p>
                          <a:pPr algn="ctr"/>
                          <a:r>
                            <a:rPr lang="en-NZ" sz="1600"/>
                            <a:t>Overall Mean</a:t>
                          </a:r>
                          <a:endParaRPr lang="en-NZ" sz="1600" dirty="0"/>
                        </a:p>
                      </a:txBody>
                      <a:tcPr anchor="ctr"/>
                    </a:tc>
                    <a:extLst>
                      <a:ext uri="{0D108BD9-81ED-4DB2-BD59-A6C34878D82A}">
                        <a16:rowId xmlns:a16="http://schemas.microsoft.com/office/drawing/2014/main" val="3341485952"/>
                      </a:ext>
                    </a:extLst>
                  </a:tr>
                  <a:tr h="639052">
                    <a:tc>
                      <a:txBody>
                        <a:bodyPr/>
                        <a:lstStyle/>
                        <a:p>
                          <a:endParaRPr lang="en-US"/>
                        </a:p>
                      </a:txBody>
                      <a:tcPr anchor="ctr">
                        <a:blipFill>
                          <a:blip r:embed="rId2"/>
                          <a:stretch>
                            <a:fillRect l="-339" t="-178095" r="-467458" b="-479048"/>
                          </a:stretch>
                        </a:blipFill>
                      </a:tcPr>
                    </a:tc>
                    <a:tc>
                      <a:txBody>
                        <a:bodyPr/>
                        <a:lstStyle/>
                        <a:p>
                          <a:endParaRPr lang="en-US"/>
                        </a:p>
                      </a:txBody>
                      <a:tcPr anchor="ctr">
                        <a:blipFill>
                          <a:blip r:embed="rId2"/>
                          <a:stretch>
                            <a:fillRect l="-40163" t="-178095" r="-87110" b="-479048"/>
                          </a:stretch>
                        </a:blipFill>
                      </a:tcPr>
                    </a:tc>
                    <a:tc>
                      <a:txBody>
                        <a:bodyPr/>
                        <a:lstStyle/>
                        <a:p>
                          <a:endParaRPr lang="en-US"/>
                        </a:p>
                      </a:txBody>
                      <a:tcPr anchor="ctr">
                        <a:blipFill>
                          <a:blip r:embed="rId2"/>
                          <a:stretch>
                            <a:fillRect l="-161912" t="-178095" r="-627" b="-479048"/>
                          </a:stretch>
                        </a:blipFill>
                      </a:tcPr>
                    </a:tc>
                    <a:extLst>
                      <a:ext uri="{0D108BD9-81ED-4DB2-BD59-A6C34878D82A}">
                        <a16:rowId xmlns:a16="http://schemas.microsoft.com/office/drawing/2014/main" val="443198030"/>
                      </a:ext>
                    </a:extLst>
                  </a:tr>
                  <a:tr h="697879">
                    <a:tc>
                      <a:txBody>
                        <a:bodyPr/>
                        <a:lstStyle/>
                        <a:p>
                          <a:endParaRPr lang="en-US"/>
                        </a:p>
                      </a:txBody>
                      <a:tcPr anchor="ctr">
                        <a:blipFill>
                          <a:blip r:embed="rId2"/>
                          <a:stretch>
                            <a:fillRect l="-339" t="-253913" r="-467458" b="-337391"/>
                          </a:stretch>
                        </a:blipFill>
                      </a:tcPr>
                    </a:tc>
                    <a:tc>
                      <a:txBody>
                        <a:bodyPr/>
                        <a:lstStyle/>
                        <a:p>
                          <a:endParaRPr lang="en-US"/>
                        </a:p>
                      </a:txBody>
                      <a:tcPr anchor="ctr">
                        <a:blipFill>
                          <a:blip r:embed="rId2"/>
                          <a:stretch>
                            <a:fillRect l="-40163" t="-253913" r="-87110" b="-337391"/>
                          </a:stretch>
                        </a:blipFill>
                      </a:tcPr>
                    </a:tc>
                    <a:tc>
                      <a:txBody>
                        <a:bodyPr/>
                        <a:lstStyle/>
                        <a:p>
                          <a:endParaRPr lang="en-US"/>
                        </a:p>
                      </a:txBody>
                      <a:tcPr anchor="ctr">
                        <a:blipFill>
                          <a:blip r:embed="rId2"/>
                          <a:stretch>
                            <a:fillRect l="-161912" t="-253913" r="-627" b="-337391"/>
                          </a:stretch>
                        </a:blipFill>
                      </a:tcPr>
                    </a:tc>
                    <a:extLst>
                      <a:ext uri="{0D108BD9-81ED-4DB2-BD59-A6C34878D82A}">
                        <a16:rowId xmlns:a16="http://schemas.microsoft.com/office/drawing/2014/main" val="3427382577"/>
                      </a:ext>
                    </a:extLst>
                  </a:tr>
                  <a:tr h="639052">
                    <a:tc>
                      <a:txBody>
                        <a:bodyPr/>
                        <a:lstStyle/>
                        <a:p>
                          <a:endParaRPr lang="en-US"/>
                        </a:p>
                      </a:txBody>
                      <a:tcPr anchor="ctr">
                        <a:blipFill>
                          <a:blip r:embed="rId2"/>
                          <a:stretch>
                            <a:fillRect l="-339" t="-387619" r="-467458" b="-269524"/>
                          </a:stretch>
                        </a:blipFill>
                      </a:tcPr>
                    </a:tc>
                    <a:tc>
                      <a:txBody>
                        <a:bodyPr/>
                        <a:lstStyle/>
                        <a:p>
                          <a:endParaRPr lang="en-US"/>
                        </a:p>
                      </a:txBody>
                      <a:tcPr anchor="ctr">
                        <a:blipFill>
                          <a:blip r:embed="rId2"/>
                          <a:stretch>
                            <a:fillRect l="-40163" t="-387619" r="-87110" b="-269524"/>
                          </a:stretch>
                        </a:blipFill>
                      </a:tcPr>
                    </a:tc>
                    <a:tc>
                      <a:txBody>
                        <a:bodyPr/>
                        <a:lstStyle/>
                        <a:p>
                          <a:endParaRPr lang="en-US"/>
                        </a:p>
                      </a:txBody>
                      <a:tcPr anchor="ctr">
                        <a:blipFill>
                          <a:blip r:embed="rId2"/>
                          <a:stretch>
                            <a:fillRect l="-161912" t="-387619" r="-627" b="-269524"/>
                          </a:stretch>
                        </a:blipFill>
                      </a:tcPr>
                    </a:tc>
                    <a:extLst>
                      <a:ext uri="{0D108BD9-81ED-4DB2-BD59-A6C34878D82A}">
                        <a16:rowId xmlns:a16="http://schemas.microsoft.com/office/drawing/2014/main" val="3328376915"/>
                      </a:ext>
                    </a:extLst>
                  </a:tr>
                  <a:tr h="415412">
                    <a:tc>
                      <a:txBody>
                        <a:bodyPr/>
                        <a:lstStyle/>
                        <a:p>
                          <a:endParaRPr lang="en-US"/>
                        </a:p>
                      </a:txBody>
                      <a:tcPr anchor="ctr">
                        <a:blipFill>
                          <a:blip r:embed="rId2"/>
                          <a:stretch>
                            <a:fillRect l="-339" t="-752941" r="-467458" b="-316176"/>
                          </a:stretch>
                        </a:blipFill>
                      </a:tcPr>
                    </a:tc>
                    <a:tc>
                      <a:txBody>
                        <a:bodyPr/>
                        <a:lstStyle/>
                        <a:p>
                          <a:endParaRPr lang="en-US"/>
                        </a:p>
                      </a:txBody>
                      <a:tcPr anchor="ctr">
                        <a:blipFill>
                          <a:blip r:embed="rId2"/>
                          <a:stretch>
                            <a:fillRect l="-40163" t="-752941" r="-87110" b="-316176"/>
                          </a:stretch>
                        </a:blipFill>
                      </a:tcPr>
                    </a:tc>
                    <a:tc>
                      <a:txBody>
                        <a:bodyPr/>
                        <a:lstStyle/>
                        <a:p>
                          <a:endParaRPr lang="en-US"/>
                        </a:p>
                      </a:txBody>
                      <a:tcPr anchor="ctr">
                        <a:blipFill>
                          <a:blip r:embed="rId2"/>
                          <a:stretch>
                            <a:fillRect l="-161912" t="-752941" r="-627" b="-316176"/>
                          </a:stretch>
                        </a:blipFill>
                      </a:tcPr>
                    </a:tc>
                    <a:extLst>
                      <a:ext uri="{0D108BD9-81ED-4DB2-BD59-A6C34878D82A}">
                        <a16:rowId xmlns:a16="http://schemas.microsoft.com/office/drawing/2014/main" val="3262608191"/>
                      </a:ext>
                    </a:extLst>
                  </a:tr>
                  <a:tr h="418542">
                    <a:tc>
                      <a:txBody>
                        <a:bodyPr/>
                        <a:lstStyle/>
                        <a:p>
                          <a:endParaRPr lang="en-US"/>
                        </a:p>
                      </a:txBody>
                      <a:tcPr anchor="ctr">
                        <a:blipFill>
                          <a:blip r:embed="rId2"/>
                          <a:stretch>
                            <a:fillRect l="-339" t="-840580" r="-467458" b="-211594"/>
                          </a:stretch>
                        </a:blipFill>
                      </a:tcPr>
                    </a:tc>
                    <a:tc>
                      <a:txBody>
                        <a:bodyPr/>
                        <a:lstStyle/>
                        <a:p>
                          <a:endParaRPr lang="en-US"/>
                        </a:p>
                      </a:txBody>
                      <a:tcPr anchor="ctr">
                        <a:blipFill>
                          <a:blip r:embed="rId2"/>
                          <a:stretch>
                            <a:fillRect l="-40163" t="-840580" r="-87110" b="-211594"/>
                          </a:stretch>
                        </a:blipFill>
                      </a:tcPr>
                    </a:tc>
                    <a:tc>
                      <a:txBody>
                        <a:bodyPr/>
                        <a:lstStyle/>
                        <a:p>
                          <a:endParaRPr lang="en-US"/>
                        </a:p>
                      </a:txBody>
                      <a:tcPr anchor="ctr">
                        <a:blipFill>
                          <a:blip r:embed="rId2"/>
                          <a:stretch>
                            <a:fillRect l="-161912" t="-840580" r="-627" b="-211594"/>
                          </a:stretch>
                        </a:blipFill>
                      </a:tcPr>
                    </a:tc>
                    <a:extLst>
                      <a:ext uri="{0D108BD9-81ED-4DB2-BD59-A6C34878D82A}">
                        <a16:rowId xmlns:a16="http://schemas.microsoft.com/office/drawing/2014/main" val="3760970986"/>
                      </a:ext>
                    </a:extLst>
                  </a:tr>
                  <a:tr h="875994">
                    <a:tc>
                      <a:txBody>
                        <a:bodyPr/>
                        <a:lstStyle/>
                        <a:p>
                          <a:endParaRPr lang="en-US"/>
                        </a:p>
                      </a:txBody>
                      <a:tcPr anchor="ctr">
                        <a:blipFill>
                          <a:blip r:embed="rId2"/>
                          <a:stretch>
                            <a:fillRect l="-339" t="-450694" r="-467458" b="-1389"/>
                          </a:stretch>
                        </a:blipFill>
                      </a:tcPr>
                    </a:tc>
                    <a:tc>
                      <a:txBody>
                        <a:bodyPr/>
                        <a:lstStyle/>
                        <a:p>
                          <a:endParaRPr lang="en-US"/>
                        </a:p>
                      </a:txBody>
                      <a:tcPr anchor="ctr">
                        <a:blipFill>
                          <a:blip r:embed="rId2"/>
                          <a:stretch>
                            <a:fillRect l="-40163" t="-450694" r="-87110" b="-1389"/>
                          </a:stretch>
                        </a:blipFill>
                      </a:tcPr>
                    </a:tc>
                    <a:tc>
                      <a:txBody>
                        <a:bodyPr/>
                        <a:lstStyle/>
                        <a:p>
                          <a:pPr algn="ctr"/>
                          <a:r>
                            <a:rPr lang="en-NZ" sz="1600" dirty="0"/>
                            <a:t>Common Variance</a:t>
                          </a:r>
                          <a:br>
                            <a:rPr lang="en-NZ" sz="1600" dirty="0"/>
                          </a:br>
                          <a:r>
                            <a:rPr lang="en-NZ" sz="1600" dirty="0"/>
                            <a:t>(Holds only for balanced designs)</a:t>
                          </a:r>
                        </a:p>
                      </a:txBody>
                      <a:tcPr anchor="ctr"/>
                    </a:tc>
                    <a:extLst>
                      <a:ext uri="{0D108BD9-81ED-4DB2-BD59-A6C34878D82A}">
                        <a16:rowId xmlns:a16="http://schemas.microsoft.com/office/drawing/2014/main" val="2599272264"/>
                      </a:ext>
                    </a:extLst>
                  </a:tr>
                </a:tbl>
              </a:graphicData>
            </a:graphic>
          </p:graphicFrame>
        </mc:Fallback>
      </mc:AlternateContent>
      <mc:AlternateContent xmlns:mc="http://schemas.openxmlformats.org/markup-compatibility/2006" xmlns:a14="http://schemas.microsoft.com/office/drawing/2010/main">
        <mc:Choice Requires="a14">
          <p:sp>
            <p:nvSpPr>
              <p:cNvPr id="12" name="Text Placeholder 5">
                <a:extLst>
                  <a:ext uri="{FF2B5EF4-FFF2-40B4-BE49-F238E27FC236}">
                    <a16:creationId xmlns:a16="http://schemas.microsoft.com/office/drawing/2014/main" id="{C9FA8E62-4E27-CEF2-63EA-D9DC3A47F996}"/>
                  </a:ext>
                </a:extLst>
              </p:cNvPr>
              <p:cNvSpPr txBox="1">
                <a:spLocks/>
              </p:cNvSpPr>
              <p:nvPr/>
            </p:nvSpPr>
            <p:spPr>
              <a:xfrm>
                <a:off x="8154814" y="891596"/>
                <a:ext cx="3873413"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𝒀</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𝒊𝒋𝒌</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𝝁</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𝜶</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𝜷</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𝒋</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𝝐</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𝒊𝒋𝒌</m:t>
                          </m:r>
                        </m:sub>
                      </m:sSub>
                    </m:oMath>
                  </m:oMathPara>
                </a14:m>
                <a:endParaRPr kumimoji="1" lang="en-NZ" altLang="ja-JP" sz="18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12" name="Text Placeholder 5">
                <a:extLst>
                  <a:ext uri="{FF2B5EF4-FFF2-40B4-BE49-F238E27FC236}">
                    <a16:creationId xmlns:a16="http://schemas.microsoft.com/office/drawing/2014/main" id="{C9FA8E62-4E27-CEF2-63EA-D9DC3A47F996}"/>
                  </a:ext>
                </a:extLst>
              </p:cNvPr>
              <p:cNvSpPr txBox="1">
                <a:spLocks noRot="1" noChangeAspect="1" noMove="1" noResize="1" noEditPoints="1" noAdjustHandles="1" noChangeArrowheads="1" noChangeShapeType="1" noTextEdit="1"/>
              </p:cNvSpPr>
              <p:nvPr/>
            </p:nvSpPr>
            <p:spPr>
              <a:xfrm>
                <a:off x="8154814" y="891596"/>
                <a:ext cx="3873413" cy="474953"/>
              </a:xfrm>
              <a:prstGeom prst="rect">
                <a:avLst/>
              </a:prstGeom>
              <a:blipFill>
                <a:blip r:embed="rId3"/>
                <a:stretch>
                  <a:fillRect/>
                </a:stretch>
              </a:blipFill>
            </p:spPr>
            <p:txBody>
              <a:bodyPr/>
              <a:lstStyle/>
              <a:p>
                <a:r>
                  <a:rPr lang="en-NZ">
                    <a:noFill/>
                  </a:rPr>
                  <a:t> </a:t>
                </a:r>
              </a:p>
            </p:txBody>
          </p:sp>
        </mc:Fallback>
      </mc:AlternateContent>
      <p:sp>
        <p:nvSpPr>
          <p:cNvPr id="8" name="Title 6">
            <a:extLst>
              <a:ext uri="{FF2B5EF4-FFF2-40B4-BE49-F238E27FC236}">
                <a16:creationId xmlns:a16="http://schemas.microsoft.com/office/drawing/2014/main" id="{CEE73A98-1516-D09D-9E66-CF17E860850B}"/>
              </a:ext>
            </a:extLst>
          </p:cNvPr>
          <p:cNvSpPr txBox="1">
            <a:spLocks/>
          </p:cNvSpPr>
          <p:nvPr/>
        </p:nvSpPr>
        <p:spPr>
          <a:xfrm>
            <a:off x="251224" y="237833"/>
            <a:ext cx="8660764"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4.3b – Breakdown of Basic Sums of Squares</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9" name="Footer Placeholder 2">
            <a:extLst>
              <a:ext uri="{FF2B5EF4-FFF2-40B4-BE49-F238E27FC236}">
                <a16:creationId xmlns:a16="http://schemas.microsoft.com/office/drawing/2014/main" id="{C2407671-3EA7-5D00-63AA-2AB760F6A1FF}"/>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4.3 – </a:t>
            </a:r>
            <a:r>
              <a:rPr kumimoji="1" lang="en-US" altLang="ja-JP" sz="1600" dirty="0">
                <a:solidFill>
                  <a:srgbClr val="DEDDDD"/>
                </a:solidFill>
                <a:latin typeface="Gidole"/>
                <a:ea typeface="游ゴシック" panose="020B0400000000000000" pitchFamily="34" charset="-128"/>
              </a:rPr>
              <a:t>Fixed Effects Model</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32792015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1" name="Text Placeholder 5">
                <a:extLst>
                  <a:ext uri="{FF2B5EF4-FFF2-40B4-BE49-F238E27FC236}">
                    <a16:creationId xmlns:a16="http://schemas.microsoft.com/office/drawing/2014/main" id="{DBA0427A-F068-434B-84BF-17437B3BF697}"/>
                  </a:ext>
                </a:extLst>
              </p:cNvPr>
              <p:cNvSpPr txBox="1">
                <a:spLocks/>
              </p:cNvSpPr>
              <p:nvPr/>
            </p:nvSpPr>
            <p:spPr>
              <a:xfrm>
                <a:off x="251223" y="1035263"/>
                <a:ext cx="11232109" cy="97096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200" b="1" dirty="0">
                    <a:solidFill>
                      <a:schemeClr val="tx1"/>
                    </a:solidFill>
                  </a:rPr>
                  <a:t>Lemma:</a:t>
                </a:r>
                <a:endParaRPr lang="en-NZ" altLang="ja-JP" sz="2200" dirty="0">
                  <a:solidFill>
                    <a:schemeClr val="tx1"/>
                  </a:solidFill>
                </a:endParaRPr>
              </a:p>
              <a:p>
                <a:pPr algn="just">
                  <a:lnSpc>
                    <a:spcPct val="100000"/>
                  </a:lnSpc>
                </a:pPr>
                <a14:m>
                  <m:oMathPara xmlns:m="http://schemas.openxmlformats.org/officeDocument/2006/math">
                    <m:oMathParaPr>
                      <m:jc m:val="centerGroup"/>
                    </m:oMathParaPr>
                    <m:oMath xmlns:m="http://schemas.openxmlformats.org/officeDocument/2006/math">
                      <m:sSub>
                        <m:sSubPr>
                          <m:ctrlPr>
                            <a:rPr lang="en-NZ" altLang="ja-JP" sz="2200" b="1" i="1" smtClean="0">
                              <a:solidFill>
                                <a:srgbClr val="C00000"/>
                              </a:solidFill>
                              <a:latin typeface="Cambria Math" panose="02040503050406030204" pitchFamily="18" charset="0"/>
                            </a:rPr>
                          </m:ctrlPr>
                        </m:sSubPr>
                        <m:e>
                          <m:r>
                            <a:rPr lang="en-NZ" altLang="ja-JP" sz="2200" b="1" i="1" smtClean="0">
                              <a:solidFill>
                                <a:srgbClr val="C00000"/>
                              </a:solidFill>
                              <a:latin typeface="Cambria Math" panose="02040503050406030204" pitchFamily="18" charset="0"/>
                            </a:rPr>
                            <m:t>𝒀</m:t>
                          </m:r>
                        </m:e>
                        <m:sub>
                          <m:r>
                            <a:rPr lang="en-NZ" altLang="ja-JP" sz="2200" b="1" i="1" smtClean="0">
                              <a:solidFill>
                                <a:srgbClr val="C00000"/>
                              </a:solidFill>
                              <a:latin typeface="Cambria Math" panose="02040503050406030204" pitchFamily="18" charset="0"/>
                            </a:rPr>
                            <m:t>𝒊𝒋𝒌</m:t>
                          </m:r>
                        </m:sub>
                      </m:sSub>
                      <m:r>
                        <a:rPr lang="en-NZ" altLang="ja-JP" sz="2200" b="1" i="1" smtClean="0">
                          <a:solidFill>
                            <a:srgbClr val="C00000"/>
                          </a:solidFill>
                          <a:latin typeface="Cambria Math" panose="02040503050406030204" pitchFamily="18" charset="0"/>
                        </a:rPr>
                        <m:t>  −  </m:t>
                      </m:r>
                      <m:sSub>
                        <m:sSubPr>
                          <m:ctrlPr>
                            <a:rPr lang="en-NZ" altLang="ja-JP" sz="2200" b="1" i="1" smtClean="0">
                              <a:solidFill>
                                <a:srgbClr val="C00000"/>
                              </a:solidFill>
                              <a:latin typeface="Cambria Math" panose="02040503050406030204" pitchFamily="18" charset="0"/>
                            </a:rPr>
                          </m:ctrlPr>
                        </m:sSubPr>
                        <m:e>
                          <m:acc>
                            <m:accPr>
                              <m:chr m:val="̅"/>
                              <m:ctrlPr>
                                <a:rPr lang="en-NZ" altLang="ja-JP" sz="2200" b="1" i="1" smtClean="0">
                                  <a:solidFill>
                                    <a:srgbClr val="C00000"/>
                                  </a:solidFill>
                                  <a:latin typeface="Cambria Math" panose="02040503050406030204" pitchFamily="18" charset="0"/>
                                </a:rPr>
                              </m:ctrlPr>
                            </m:accPr>
                            <m:e>
                              <m:r>
                                <a:rPr lang="en-NZ" altLang="ja-JP" sz="2200" b="1" i="1" smtClean="0">
                                  <a:solidFill>
                                    <a:srgbClr val="C00000"/>
                                  </a:solidFill>
                                  <a:latin typeface="Cambria Math" panose="02040503050406030204" pitchFamily="18" charset="0"/>
                                </a:rPr>
                                <m:t>𝒀</m:t>
                              </m:r>
                            </m:e>
                          </m:acc>
                        </m:e>
                        <m:sub>
                          <m:r>
                            <a:rPr lang="en-NZ" altLang="ja-JP" sz="2200" b="1" i="1" smtClean="0">
                              <a:solidFill>
                                <a:srgbClr val="C00000"/>
                              </a:solidFill>
                              <a:latin typeface="Cambria Math" panose="02040503050406030204" pitchFamily="18" charset="0"/>
                              <a:ea typeface="Cambria Math" panose="02040503050406030204" pitchFamily="18" charset="0"/>
                            </a:rPr>
                            <m:t>∙∙∙</m:t>
                          </m:r>
                        </m:sub>
                      </m:sSub>
                      <m:r>
                        <a:rPr lang="en-NZ" altLang="ja-JP" sz="2200" b="1" i="1" smtClean="0">
                          <a:solidFill>
                            <a:srgbClr val="C00000"/>
                          </a:solidFill>
                          <a:latin typeface="Cambria Math" panose="02040503050406030204" pitchFamily="18" charset="0"/>
                        </a:rPr>
                        <m:t>  =   </m:t>
                      </m:r>
                      <m:d>
                        <m:dPr>
                          <m:ctrlPr>
                            <a:rPr lang="en-NZ" altLang="ja-JP" sz="2200" b="1" i="1" smtClean="0">
                              <a:solidFill>
                                <a:srgbClr val="C00000"/>
                              </a:solidFill>
                              <a:latin typeface="Cambria Math" panose="02040503050406030204" pitchFamily="18" charset="0"/>
                            </a:rPr>
                          </m:ctrlPr>
                        </m:dPr>
                        <m:e>
                          <m:sSub>
                            <m:sSubPr>
                              <m:ctrlPr>
                                <a:rPr lang="en-NZ" altLang="ja-JP" sz="2200" b="1" i="1">
                                  <a:solidFill>
                                    <a:srgbClr val="C00000"/>
                                  </a:solidFill>
                                  <a:latin typeface="Cambria Math" panose="02040503050406030204" pitchFamily="18" charset="0"/>
                                </a:rPr>
                              </m:ctrlPr>
                            </m:sSubPr>
                            <m:e>
                              <m:r>
                                <a:rPr lang="en-NZ" altLang="ja-JP" sz="2200" b="1" i="1" smtClean="0">
                                  <a:solidFill>
                                    <a:srgbClr val="C00000"/>
                                  </a:solidFill>
                                  <a:latin typeface="Cambria Math" panose="02040503050406030204" pitchFamily="18" charset="0"/>
                                </a:rPr>
                                <m:t> </m:t>
                              </m:r>
                              <m:acc>
                                <m:accPr>
                                  <m:chr m:val="̅"/>
                                  <m:ctrlPr>
                                    <a:rPr lang="en-NZ" altLang="ja-JP" sz="2200" b="1" i="1" smtClean="0">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smtClean="0">
                                  <a:solidFill>
                                    <a:srgbClr val="C00000"/>
                                  </a:solidFill>
                                  <a:latin typeface="Cambria Math" panose="02040503050406030204" pitchFamily="18" charset="0"/>
                                </a:rPr>
                                <m:t>𝒊</m:t>
                              </m:r>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smtClean="0">
                              <a:solidFill>
                                <a:srgbClr val="C00000"/>
                              </a:solidFill>
                              <a:latin typeface="Cambria Math" panose="02040503050406030204" pitchFamily="18" charset="0"/>
                              <a:ea typeface="Cambria Math" panose="02040503050406030204" pitchFamily="18" charset="0"/>
                            </a:rPr>
                            <m:t>  − </m:t>
                          </m:r>
                          <m:sSub>
                            <m:sSubPr>
                              <m:ctrlPr>
                                <a:rPr lang="en-NZ" altLang="ja-JP" sz="2200" b="1" i="1">
                                  <a:solidFill>
                                    <a:srgbClr val="C00000"/>
                                  </a:solidFill>
                                  <a:latin typeface="Cambria Math" panose="02040503050406030204" pitchFamily="18" charset="0"/>
                                </a:rPr>
                              </m:ctrlPr>
                            </m:sSubPr>
                            <m:e>
                              <m:acc>
                                <m:accPr>
                                  <m:chr m:val="̅"/>
                                  <m:ctrlPr>
                                    <a:rPr lang="en-NZ" altLang="ja-JP" sz="2200" b="1" i="1">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smtClean="0">
                              <a:solidFill>
                                <a:srgbClr val="C00000"/>
                              </a:solidFill>
                              <a:latin typeface="Cambria Math" panose="02040503050406030204" pitchFamily="18" charset="0"/>
                              <a:ea typeface="Cambria Math" panose="02040503050406030204" pitchFamily="18" charset="0"/>
                            </a:rPr>
                            <m:t> </m:t>
                          </m:r>
                        </m:e>
                      </m:d>
                      <m:r>
                        <a:rPr lang="en-NZ" altLang="ja-JP" sz="2200" b="1" i="1" smtClean="0">
                          <a:solidFill>
                            <a:srgbClr val="C00000"/>
                          </a:solidFill>
                          <a:latin typeface="Cambria Math" panose="02040503050406030204" pitchFamily="18" charset="0"/>
                          <a:ea typeface="Cambria Math" panose="02040503050406030204" pitchFamily="18" charset="0"/>
                        </a:rPr>
                        <m:t> + </m:t>
                      </m:r>
                      <m:d>
                        <m:dPr>
                          <m:ctrlPr>
                            <a:rPr lang="en-NZ" altLang="ja-JP" sz="2200" b="1" i="1">
                              <a:solidFill>
                                <a:srgbClr val="C00000"/>
                              </a:solidFill>
                              <a:latin typeface="Cambria Math" panose="02040503050406030204" pitchFamily="18" charset="0"/>
                            </a:rPr>
                          </m:ctrlPr>
                        </m:dPr>
                        <m:e>
                          <m:sSub>
                            <m:sSubPr>
                              <m:ctrlPr>
                                <a:rPr lang="en-NZ" altLang="ja-JP" sz="2200" b="1" i="1">
                                  <a:solidFill>
                                    <a:srgbClr val="C00000"/>
                                  </a:solidFill>
                                  <a:latin typeface="Cambria Math" panose="02040503050406030204" pitchFamily="18" charset="0"/>
                                </a:rPr>
                              </m:ctrlPr>
                            </m:sSubPr>
                            <m:e>
                              <m:r>
                                <a:rPr lang="en-NZ" altLang="ja-JP" sz="2200" b="1" i="1">
                                  <a:solidFill>
                                    <a:srgbClr val="C00000"/>
                                  </a:solidFill>
                                  <a:latin typeface="Cambria Math" panose="02040503050406030204" pitchFamily="18" charset="0"/>
                                </a:rPr>
                                <m:t> </m:t>
                              </m:r>
                              <m:acc>
                                <m:accPr>
                                  <m:chr m:val="̅"/>
                                  <m:ctrlPr>
                                    <a:rPr lang="en-NZ" altLang="ja-JP" sz="2200" b="1" i="1">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a:solidFill>
                                    <a:srgbClr val="C00000"/>
                                  </a:solidFill>
                                  <a:latin typeface="Cambria Math" panose="02040503050406030204" pitchFamily="18" charset="0"/>
                                  <a:ea typeface="Cambria Math" panose="02040503050406030204" pitchFamily="18" charset="0"/>
                                </a:rPr>
                                <m:t>∙</m:t>
                              </m:r>
                              <m:r>
                                <a:rPr lang="en-NZ" altLang="ja-JP" sz="2200" b="1" i="1" smtClean="0">
                                  <a:solidFill>
                                    <a:srgbClr val="C00000"/>
                                  </a:solidFill>
                                  <a:latin typeface="Cambria Math" panose="02040503050406030204" pitchFamily="18" charset="0"/>
                                  <a:ea typeface="Cambria Math" panose="02040503050406030204" pitchFamily="18" charset="0"/>
                                </a:rPr>
                                <m:t>𝒋</m:t>
                              </m:r>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a:solidFill>
                                <a:srgbClr val="C00000"/>
                              </a:solidFill>
                              <a:latin typeface="Cambria Math" panose="02040503050406030204" pitchFamily="18" charset="0"/>
                              <a:ea typeface="Cambria Math" panose="02040503050406030204" pitchFamily="18" charset="0"/>
                            </a:rPr>
                            <m:t>  − </m:t>
                          </m:r>
                          <m:sSub>
                            <m:sSubPr>
                              <m:ctrlPr>
                                <a:rPr lang="en-NZ" altLang="ja-JP" sz="2200" b="1" i="1">
                                  <a:solidFill>
                                    <a:srgbClr val="C00000"/>
                                  </a:solidFill>
                                  <a:latin typeface="Cambria Math" panose="02040503050406030204" pitchFamily="18" charset="0"/>
                                </a:rPr>
                              </m:ctrlPr>
                            </m:sSubPr>
                            <m:e>
                              <m:acc>
                                <m:accPr>
                                  <m:chr m:val="̅"/>
                                  <m:ctrlPr>
                                    <a:rPr lang="en-NZ" altLang="ja-JP" sz="2200" b="1" i="1">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a:solidFill>
                                <a:srgbClr val="C00000"/>
                              </a:solidFill>
                              <a:latin typeface="Cambria Math" panose="02040503050406030204" pitchFamily="18" charset="0"/>
                              <a:ea typeface="Cambria Math" panose="02040503050406030204" pitchFamily="18" charset="0"/>
                            </a:rPr>
                            <m:t> </m:t>
                          </m:r>
                        </m:e>
                      </m:d>
                      <m:r>
                        <a:rPr lang="en-NZ" altLang="ja-JP" sz="2200" b="1" i="1" smtClean="0">
                          <a:solidFill>
                            <a:srgbClr val="C00000"/>
                          </a:solidFill>
                          <a:latin typeface="Cambria Math" panose="02040503050406030204" pitchFamily="18" charset="0"/>
                          <a:ea typeface="Cambria Math" panose="02040503050406030204" pitchFamily="18" charset="0"/>
                        </a:rPr>
                        <m:t>  +  </m:t>
                      </m:r>
                      <m:d>
                        <m:dPr>
                          <m:ctrlPr>
                            <a:rPr lang="en-NZ" altLang="ja-JP" sz="2200" b="1" i="1">
                              <a:solidFill>
                                <a:srgbClr val="C00000"/>
                              </a:solidFill>
                              <a:latin typeface="Cambria Math" panose="02040503050406030204" pitchFamily="18" charset="0"/>
                            </a:rPr>
                          </m:ctrlPr>
                        </m:dPr>
                        <m:e>
                          <m:sSub>
                            <m:sSubPr>
                              <m:ctrlPr>
                                <a:rPr lang="en-NZ" altLang="ja-JP" sz="2200" b="1" i="1">
                                  <a:solidFill>
                                    <a:srgbClr val="C00000"/>
                                  </a:solidFill>
                                  <a:latin typeface="Cambria Math" panose="02040503050406030204" pitchFamily="18" charset="0"/>
                                </a:rPr>
                              </m:ctrlPr>
                            </m:sSubPr>
                            <m:e>
                              <m:r>
                                <a:rPr lang="en-NZ" altLang="ja-JP" sz="2200" b="1" i="1">
                                  <a:solidFill>
                                    <a:srgbClr val="C00000"/>
                                  </a:solidFill>
                                  <a:latin typeface="Cambria Math" panose="02040503050406030204" pitchFamily="18" charset="0"/>
                                </a:rPr>
                                <m:t>𝒀</m:t>
                              </m:r>
                            </m:e>
                            <m:sub>
                              <m:r>
                                <a:rPr lang="en-NZ" altLang="ja-JP" sz="2200" b="1" i="1">
                                  <a:solidFill>
                                    <a:srgbClr val="C00000"/>
                                  </a:solidFill>
                                  <a:latin typeface="Cambria Math" panose="02040503050406030204" pitchFamily="18" charset="0"/>
                                </a:rPr>
                                <m:t>𝒊𝒋𝒌</m:t>
                              </m:r>
                            </m:sub>
                          </m:sSub>
                          <m:r>
                            <a:rPr lang="en-NZ" altLang="ja-JP" sz="2200" b="1" i="1" smtClean="0">
                              <a:solidFill>
                                <a:srgbClr val="C00000"/>
                              </a:solidFill>
                              <a:latin typeface="Cambria Math" panose="02040503050406030204" pitchFamily="18" charset="0"/>
                            </a:rPr>
                            <m:t> −</m:t>
                          </m:r>
                          <m:sSub>
                            <m:sSubPr>
                              <m:ctrlPr>
                                <a:rPr lang="en-NZ" altLang="ja-JP" sz="2200" b="1" i="1">
                                  <a:solidFill>
                                    <a:srgbClr val="C00000"/>
                                  </a:solidFill>
                                  <a:latin typeface="Cambria Math" panose="02040503050406030204" pitchFamily="18" charset="0"/>
                                </a:rPr>
                              </m:ctrlPr>
                            </m:sSubPr>
                            <m:e>
                              <m:r>
                                <a:rPr lang="en-NZ" altLang="ja-JP" sz="2200" b="1" i="1" smtClean="0">
                                  <a:solidFill>
                                    <a:srgbClr val="C00000"/>
                                  </a:solidFill>
                                  <a:latin typeface="Cambria Math" panose="02040503050406030204" pitchFamily="18" charset="0"/>
                                </a:rPr>
                                <m:t> </m:t>
                              </m:r>
                              <m:acc>
                                <m:accPr>
                                  <m:chr m:val="̅"/>
                                  <m:ctrlPr>
                                    <a:rPr lang="en-NZ" altLang="ja-JP" sz="2200" b="1" i="1">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smtClean="0">
                                  <a:solidFill>
                                    <a:srgbClr val="C00000"/>
                                  </a:solidFill>
                                  <a:latin typeface="Cambria Math" panose="02040503050406030204" pitchFamily="18" charset="0"/>
                                </a:rPr>
                                <m:t>𝒊</m:t>
                              </m:r>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a:solidFill>
                                <a:srgbClr val="C00000"/>
                              </a:solidFill>
                              <a:latin typeface="Cambria Math" panose="02040503050406030204" pitchFamily="18" charset="0"/>
                            </a:rPr>
                            <m:t>−</m:t>
                          </m:r>
                          <m:sSub>
                            <m:sSubPr>
                              <m:ctrlPr>
                                <a:rPr lang="en-NZ" altLang="ja-JP" sz="2200" b="1" i="1">
                                  <a:solidFill>
                                    <a:srgbClr val="C00000"/>
                                  </a:solidFill>
                                  <a:latin typeface="Cambria Math" panose="02040503050406030204" pitchFamily="18" charset="0"/>
                                </a:rPr>
                              </m:ctrlPr>
                            </m:sSubPr>
                            <m:e>
                              <m:r>
                                <a:rPr lang="en-NZ" altLang="ja-JP" sz="2200" b="1" i="1">
                                  <a:solidFill>
                                    <a:srgbClr val="C00000"/>
                                  </a:solidFill>
                                  <a:latin typeface="Cambria Math" panose="02040503050406030204" pitchFamily="18" charset="0"/>
                                </a:rPr>
                                <m:t> </m:t>
                              </m:r>
                              <m:acc>
                                <m:accPr>
                                  <m:chr m:val="̅"/>
                                  <m:ctrlPr>
                                    <a:rPr lang="en-NZ" altLang="ja-JP" sz="2200" b="1" i="1">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a:solidFill>
                                    <a:srgbClr val="C00000"/>
                                  </a:solidFill>
                                  <a:latin typeface="Cambria Math" panose="02040503050406030204" pitchFamily="18" charset="0"/>
                                  <a:ea typeface="Cambria Math" panose="02040503050406030204" pitchFamily="18" charset="0"/>
                                </a:rPr>
                                <m:t>∙</m:t>
                              </m:r>
                              <m:r>
                                <a:rPr lang="en-NZ" altLang="ja-JP" sz="2200" b="1" i="1" smtClean="0">
                                  <a:solidFill>
                                    <a:srgbClr val="C00000"/>
                                  </a:solidFill>
                                  <a:latin typeface="Cambria Math" panose="02040503050406030204" pitchFamily="18" charset="0"/>
                                  <a:ea typeface="Cambria Math" panose="02040503050406030204" pitchFamily="18" charset="0"/>
                                </a:rPr>
                                <m:t>𝒋</m:t>
                              </m:r>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smtClean="0">
                              <a:solidFill>
                                <a:srgbClr val="C00000"/>
                              </a:solidFill>
                              <a:latin typeface="Cambria Math" panose="02040503050406030204" pitchFamily="18" charset="0"/>
                              <a:ea typeface="Cambria Math" panose="02040503050406030204" pitchFamily="18" charset="0"/>
                            </a:rPr>
                            <m:t>+</m:t>
                          </m:r>
                          <m:r>
                            <a:rPr lang="en-NZ" altLang="ja-JP" sz="2200" b="1" i="1">
                              <a:solidFill>
                                <a:srgbClr val="C00000"/>
                              </a:solidFill>
                              <a:latin typeface="Cambria Math" panose="02040503050406030204" pitchFamily="18" charset="0"/>
                              <a:ea typeface="Cambria Math" panose="02040503050406030204" pitchFamily="18" charset="0"/>
                            </a:rPr>
                            <m:t> </m:t>
                          </m:r>
                          <m:sSub>
                            <m:sSubPr>
                              <m:ctrlPr>
                                <a:rPr lang="en-NZ" altLang="ja-JP" sz="2200" b="1" i="1">
                                  <a:solidFill>
                                    <a:srgbClr val="C00000"/>
                                  </a:solidFill>
                                  <a:latin typeface="Cambria Math" panose="02040503050406030204" pitchFamily="18" charset="0"/>
                                </a:rPr>
                              </m:ctrlPr>
                            </m:sSubPr>
                            <m:e>
                              <m:acc>
                                <m:accPr>
                                  <m:chr m:val="̅"/>
                                  <m:ctrlPr>
                                    <a:rPr lang="en-NZ" altLang="ja-JP" sz="2200" b="1" i="1">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a:solidFill>
                                <a:srgbClr val="C00000"/>
                              </a:solidFill>
                              <a:latin typeface="Cambria Math" panose="02040503050406030204" pitchFamily="18" charset="0"/>
                              <a:ea typeface="Cambria Math" panose="02040503050406030204" pitchFamily="18" charset="0"/>
                            </a:rPr>
                            <m:t> </m:t>
                          </m:r>
                        </m:e>
                      </m:d>
                    </m:oMath>
                  </m:oMathPara>
                </a14:m>
                <a:endParaRPr lang="en-NZ" altLang="ja-JP" sz="2200" dirty="0">
                  <a:solidFill>
                    <a:schemeClr val="tx1"/>
                  </a:solidFill>
                </a:endParaRPr>
              </a:p>
            </p:txBody>
          </p:sp>
        </mc:Choice>
        <mc:Fallback xmlns="">
          <p:sp>
            <p:nvSpPr>
              <p:cNvPr id="21" name="Text Placeholder 5">
                <a:extLst>
                  <a:ext uri="{FF2B5EF4-FFF2-40B4-BE49-F238E27FC236}">
                    <a16:creationId xmlns:a16="http://schemas.microsoft.com/office/drawing/2014/main" id="{DBA0427A-F068-434B-84BF-17437B3BF697}"/>
                  </a:ext>
                </a:extLst>
              </p:cNvPr>
              <p:cNvSpPr txBox="1">
                <a:spLocks noRot="1" noChangeAspect="1" noMove="1" noResize="1" noEditPoints="1" noAdjustHandles="1" noChangeArrowheads="1" noChangeShapeType="1" noTextEdit="1"/>
              </p:cNvSpPr>
              <p:nvPr/>
            </p:nvSpPr>
            <p:spPr>
              <a:xfrm>
                <a:off x="251223" y="1035263"/>
                <a:ext cx="11232109" cy="970968"/>
              </a:xfrm>
              <a:prstGeom prst="rect">
                <a:avLst/>
              </a:prstGeom>
              <a:blipFill>
                <a:blip r:embed="rId2"/>
                <a:stretch>
                  <a:fillRect l="-705" t="-4403"/>
                </a:stretch>
              </a:blipFill>
            </p:spPr>
            <p:txBody>
              <a:bodyPr/>
              <a:lstStyle/>
              <a:p>
                <a:r>
                  <a:rPr lang="en-NZ">
                    <a:noFill/>
                  </a:rPr>
                  <a:t> </a:t>
                </a:r>
              </a:p>
            </p:txBody>
          </p:sp>
        </mc:Fallback>
      </mc:AlternateContent>
      <p:sp>
        <p:nvSpPr>
          <p:cNvPr id="13" name="Title 6">
            <a:extLst>
              <a:ext uri="{FF2B5EF4-FFF2-40B4-BE49-F238E27FC236}">
                <a16:creationId xmlns:a16="http://schemas.microsoft.com/office/drawing/2014/main" id="{539E1FA8-24B4-FFD9-7C26-8B31D6C98125}"/>
              </a:ext>
            </a:extLst>
          </p:cNvPr>
          <p:cNvSpPr txBox="1">
            <a:spLocks/>
          </p:cNvSpPr>
          <p:nvPr/>
        </p:nvSpPr>
        <p:spPr>
          <a:xfrm>
            <a:off x="251224" y="237833"/>
            <a:ext cx="8660764"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4.3b – Breakdown of Basic Sums of Squares</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7" name="Text Placeholder 5">
            <a:extLst>
              <a:ext uri="{FF2B5EF4-FFF2-40B4-BE49-F238E27FC236}">
                <a16:creationId xmlns:a16="http://schemas.microsoft.com/office/drawing/2014/main" id="{2ED68E23-FE65-5965-AA30-068C47E733C0}"/>
              </a:ext>
            </a:extLst>
          </p:cNvPr>
          <p:cNvSpPr txBox="1">
            <a:spLocks/>
          </p:cNvSpPr>
          <p:nvPr/>
        </p:nvSpPr>
        <p:spPr>
          <a:xfrm>
            <a:off x="251223" y="2006231"/>
            <a:ext cx="11232109" cy="50495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200" b="1" i="1" dirty="0">
                <a:solidFill>
                  <a:schemeClr val="tx1"/>
                </a:solidFill>
              </a:rPr>
              <a:t>Proof:</a:t>
            </a:r>
            <a:r>
              <a:rPr lang="en-NZ" altLang="ja-JP" sz="2200" i="1" dirty="0">
                <a:solidFill>
                  <a:schemeClr val="tx1"/>
                </a:solidFill>
              </a:rPr>
              <a:t>  </a:t>
            </a:r>
            <a:r>
              <a:rPr lang="en-NZ" altLang="ja-JP" sz="2200" dirty="0">
                <a:solidFill>
                  <a:schemeClr val="tx1"/>
                </a:solidFill>
              </a:rPr>
              <a:t>Simply write out the right hand side and collect like terms. </a:t>
            </a:r>
            <a:r>
              <a:rPr lang="en-NZ" altLang="ja-JP" sz="1200" dirty="0">
                <a:solidFill>
                  <a:schemeClr val="tx1"/>
                </a:solidFill>
              </a:rPr>
              <a:t>□</a:t>
            </a:r>
            <a:endParaRPr lang="en-NZ" altLang="ja-JP" sz="2200" dirty="0">
              <a:solidFill>
                <a:schemeClr val="tx1"/>
              </a:solidFill>
            </a:endParaRPr>
          </a:p>
        </p:txBody>
      </p:sp>
      <p:sp>
        <p:nvSpPr>
          <p:cNvPr id="9" name="Text Placeholder 5">
            <a:extLst>
              <a:ext uri="{FF2B5EF4-FFF2-40B4-BE49-F238E27FC236}">
                <a16:creationId xmlns:a16="http://schemas.microsoft.com/office/drawing/2014/main" id="{9FFBB42A-B093-F4DD-2250-7289674BBF32}"/>
              </a:ext>
            </a:extLst>
          </p:cNvPr>
          <p:cNvSpPr txBox="1">
            <a:spLocks/>
          </p:cNvSpPr>
          <p:nvPr/>
        </p:nvSpPr>
        <p:spPr>
          <a:xfrm>
            <a:off x="251223" y="2724720"/>
            <a:ext cx="11232109" cy="50495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200" dirty="0">
                <a:solidFill>
                  <a:schemeClr val="tx1"/>
                </a:solidFill>
              </a:rPr>
              <a:t>Note that by definition of the model for a RBD we have that</a:t>
            </a:r>
          </a:p>
        </p:txBody>
      </p:sp>
      <mc:AlternateContent xmlns:mc="http://schemas.openxmlformats.org/markup-compatibility/2006" xmlns:a14="http://schemas.microsoft.com/office/drawing/2010/main">
        <mc:Choice Requires="a14">
          <p:sp>
            <p:nvSpPr>
              <p:cNvPr id="12" name="Text Placeholder 5">
                <a:extLst>
                  <a:ext uri="{FF2B5EF4-FFF2-40B4-BE49-F238E27FC236}">
                    <a16:creationId xmlns:a16="http://schemas.microsoft.com/office/drawing/2014/main" id="{67B93BDF-08A7-0976-5D26-4BB5A23476EF}"/>
                  </a:ext>
                </a:extLst>
              </p:cNvPr>
              <p:cNvSpPr txBox="1">
                <a:spLocks/>
              </p:cNvSpPr>
              <p:nvPr/>
            </p:nvSpPr>
            <p:spPr>
              <a:xfrm>
                <a:off x="3135958" y="3191523"/>
                <a:ext cx="5462638"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𝒀</m:t>
                          </m:r>
                        </m:e>
                        <m:sub>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𝒊𝒋𝒌</m:t>
                          </m:r>
                        </m:sub>
                      </m:sSub>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   =     </m:t>
                      </m:r>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𝝁</m:t>
                      </m:r>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𝜶</m:t>
                          </m:r>
                        </m:e>
                        <m:sub>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𝒊</m:t>
                          </m:r>
                        </m:sub>
                      </m:sSub>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𝜷</m:t>
                          </m:r>
                        </m:e>
                        <m:sub>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𝒋</m:t>
                          </m:r>
                        </m:sub>
                      </m:sSub>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𝝐</m:t>
                          </m:r>
                        </m:e>
                        <m:sub>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𝒊𝒋𝒌</m:t>
                          </m:r>
                        </m:sub>
                      </m:sSub>
                    </m:oMath>
                  </m:oMathPara>
                </a14:m>
                <a:endParaRPr kumimoji="1" lang="en-NZ" altLang="ja-JP" sz="1800" b="1"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p:txBody>
          </p:sp>
        </mc:Choice>
        <mc:Fallback xmlns="">
          <p:sp>
            <p:nvSpPr>
              <p:cNvPr id="12" name="Text Placeholder 5">
                <a:extLst>
                  <a:ext uri="{FF2B5EF4-FFF2-40B4-BE49-F238E27FC236}">
                    <a16:creationId xmlns:a16="http://schemas.microsoft.com/office/drawing/2014/main" id="{67B93BDF-08A7-0976-5D26-4BB5A23476EF}"/>
                  </a:ext>
                </a:extLst>
              </p:cNvPr>
              <p:cNvSpPr txBox="1">
                <a:spLocks noRot="1" noChangeAspect="1" noMove="1" noResize="1" noEditPoints="1" noAdjustHandles="1" noChangeArrowheads="1" noChangeShapeType="1" noTextEdit="1"/>
              </p:cNvSpPr>
              <p:nvPr/>
            </p:nvSpPr>
            <p:spPr>
              <a:xfrm>
                <a:off x="3135958" y="3191523"/>
                <a:ext cx="5462638" cy="474953"/>
              </a:xfrm>
              <a:prstGeom prst="rect">
                <a:avLst/>
              </a:prstGeom>
              <a:blipFill>
                <a:blip r:embed="rId3"/>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4" name="Text Placeholder 5">
                <a:extLst>
                  <a:ext uri="{FF2B5EF4-FFF2-40B4-BE49-F238E27FC236}">
                    <a16:creationId xmlns:a16="http://schemas.microsoft.com/office/drawing/2014/main" id="{98BF5E7A-E8A8-F925-28C0-747D17137EAA}"/>
                  </a:ext>
                </a:extLst>
              </p:cNvPr>
              <p:cNvSpPr txBox="1">
                <a:spLocks/>
              </p:cNvSpPr>
              <p:nvPr/>
            </p:nvSpPr>
            <p:spPr>
              <a:xfrm>
                <a:off x="3026776" y="3750201"/>
                <a:ext cx="5462638"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14:m>
                  <m:oMathPara xmlns:m="http://schemas.openxmlformats.org/officeDocument/2006/math">
                    <m:oMathParaPr>
                      <m:jc m:val="centerGroup"/>
                    </m:oMathParaPr>
                    <m:oMath xmlns:m="http://schemas.openxmlformats.org/officeDocument/2006/math">
                      <m:sSub>
                        <m:sSubPr>
                          <m:ctrlP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𝒀</m:t>
                          </m:r>
                        </m:e>
                        <m:sub>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𝒊𝒋𝒌</m:t>
                          </m:r>
                        </m:sub>
                      </m:sSub>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  </m:t>
                      </m:r>
                      <m:r>
                        <a:rPr lang="en-NZ" altLang="ja-JP" sz="1800" b="1" i="1">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𝝁</m:t>
                      </m:r>
                      <m:r>
                        <a:rPr lang="en-NZ" altLang="ja-JP" sz="1800" b="1" i="1" smtClean="0">
                          <a:solidFill>
                            <a:schemeClr val="tx1"/>
                          </a:solidFill>
                          <a:latin typeface="Cambria Math" panose="02040503050406030204" pitchFamily="18" charset="0"/>
                        </a:rPr>
                        <m:t>  </m:t>
                      </m:r>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   </m:t>
                      </m:r>
                      <m:sSub>
                        <m:sSubPr>
                          <m:ctrlP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𝜶</m:t>
                          </m:r>
                        </m:e>
                        <m:sub>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𝒊</m:t>
                          </m:r>
                        </m:sub>
                      </m:sSub>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𝜷</m:t>
                          </m:r>
                        </m:e>
                        <m:sub>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𝒋</m:t>
                          </m:r>
                        </m:sub>
                      </m:sSub>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𝝐</m:t>
                          </m:r>
                        </m:e>
                        <m:sub>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𝒊𝒋𝒌</m:t>
                          </m:r>
                        </m:sub>
                      </m:sSub>
                    </m:oMath>
                  </m:oMathPara>
                </a14:m>
                <a:endParaRPr kumimoji="1" lang="en-NZ" altLang="ja-JP" sz="1800" b="1"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p:txBody>
          </p:sp>
        </mc:Choice>
        <mc:Fallback xmlns="">
          <p:sp>
            <p:nvSpPr>
              <p:cNvPr id="14" name="Text Placeholder 5">
                <a:extLst>
                  <a:ext uri="{FF2B5EF4-FFF2-40B4-BE49-F238E27FC236}">
                    <a16:creationId xmlns:a16="http://schemas.microsoft.com/office/drawing/2014/main" id="{98BF5E7A-E8A8-F925-28C0-747D17137EAA}"/>
                  </a:ext>
                </a:extLst>
              </p:cNvPr>
              <p:cNvSpPr txBox="1">
                <a:spLocks noRot="1" noChangeAspect="1" noMove="1" noResize="1" noEditPoints="1" noAdjustHandles="1" noChangeArrowheads="1" noChangeShapeType="1" noTextEdit="1"/>
              </p:cNvSpPr>
              <p:nvPr/>
            </p:nvSpPr>
            <p:spPr>
              <a:xfrm>
                <a:off x="3026776" y="3750201"/>
                <a:ext cx="5462638" cy="474953"/>
              </a:xfrm>
              <a:prstGeom prst="rect">
                <a:avLst/>
              </a:prstGeom>
              <a:blipFill>
                <a:blip r:embed="rId4"/>
                <a:stretch>
                  <a:fillRect/>
                </a:stretch>
              </a:blipFill>
            </p:spPr>
            <p:txBody>
              <a:bodyPr/>
              <a:lstStyle/>
              <a:p>
                <a:r>
                  <a:rPr lang="en-NZ">
                    <a:noFill/>
                  </a:rPr>
                  <a:t> </a:t>
                </a:r>
              </a:p>
            </p:txBody>
          </p:sp>
        </mc:Fallback>
      </mc:AlternateContent>
      <p:sp>
        <p:nvSpPr>
          <p:cNvPr id="15" name="Text Placeholder 5">
            <a:extLst>
              <a:ext uri="{FF2B5EF4-FFF2-40B4-BE49-F238E27FC236}">
                <a16:creationId xmlns:a16="http://schemas.microsoft.com/office/drawing/2014/main" id="{B82210D7-30EF-BB4D-EE11-5FE28441C384}"/>
              </a:ext>
            </a:extLst>
          </p:cNvPr>
          <p:cNvSpPr txBox="1">
            <a:spLocks/>
          </p:cNvSpPr>
          <p:nvPr/>
        </p:nvSpPr>
        <p:spPr>
          <a:xfrm>
            <a:off x="2645775" y="3740263"/>
            <a:ext cx="980365" cy="50495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lnSpc>
                <a:spcPct val="100000"/>
              </a:lnSpc>
            </a:pPr>
            <a:r>
              <a:rPr lang="en-NZ" altLang="ja-JP" sz="2200" dirty="0">
                <a:solidFill>
                  <a:schemeClr val="tx1"/>
                </a:solidFill>
              </a:rPr>
              <a:t>=&gt;</a:t>
            </a:r>
          </a:p>
        </p:txBody>
      </p:sp>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7DA2C5CA-98B6-61FF-E94B-E94535C7379E}"/>
                  </a:ext>
                </a:extLst>
              </p:cNvPr>
              <p:cNvSpPr txBox="1">
                <a:spLocks/>
              </p:cNvSpPr>
              <p:nvPr/>
            </p:nvSpPr>
            <p:spPr>
              <a:xfrm>
                <a:off x="479945" y="5021460"/>
                <a:ext cx="11232109" cy="5929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sSub>
                        <m:sSubPr>
                          <m:ctrlPr>
                            <a:rPr lang="en-NZ" altLang="ja-JP" sz="2200" b="1" i="1" smtClean="0">
                              <a:solidFill>
                                <a:srgbClr val="C00000"/>
                              </a:solidFill>
                              <a:latin typeface="Cambria Math" panose="02040503050406030204" pitchFamily="18" charset="0"/>
                            </a:rPr>
                          </m:ctrlPr>
                        </m:sSubPr>
                        <m:e>
                          <m:r>
                            <a:rPr lang="en-NZ" altLang="ja-JP" sz="2200" b="1" i="1" smtClean="0">
                              <a:solidFill>
                                <a:srgbClr val="C00000"/>
                              </a:solidFill>
                              <a:latin typeface="Cambria Math" panose="02040503050406030204" pitchFamily="18" charset="0"/>
                            </a:rPr>
                            <m:t>𝒀</m:t>
                          </m:r>
                        </m:e>
                        <m:sub>
                          <m:r>
                            <a:rPr lang="en-NZ" altLang="ja-JP" sz="2200" b="1" i="1" smtClean="0">
                              <a:solidFill>
                                <a:srgbClr val="C00000"/>
                              </a:solidFill>
                              <a:latin typeface="Cambria Math" panose="02040503050406030204" pitchFamily="18" charset="0"/>
                            </a:rPr>
                            <m:t>𝒊𝒋𝒌</m:t>
                          </m:r>
                        </m:sub>
                      </m:sSub>
                      <m:r>
                        <a:rPr lang="en-NZ" altLang="ja-JP" sz="2200" b="1" i="1" smtClean="0">
                          <a:solidFill>
                            <a:srgbClr val="C00000"/>
                          </a:solidFill>
                          <a:latin typeface="Cambria Math" panose="02040503050406030204" pitchFamily="18" charset="0"/>
                        </a:rPr>
                        <m:t>  −  </m:t>
                      </m:r>
                      <m:sSub>
                        <m:sSubPr>
                          <m:ctrlPr>
                            <a:rPr lang="en-NZ" altLang="ja-JP" sz="2200" b="1" i="1" smtClean="0">
                              <a:solidFill>
                                <a:srgbClr val="C00000"/>
                              </a:solidFill>
                              <a:latin typeface="Cambria Math" panose="02040503050406030204" pitchFamily="18" charset="0"/>
                            </a:rPr>
                          </m:ctrlPr>
                        </m:sSubPr>
                        <m:e>
                          <m:acc>
                            <m:accPr>
                              <m:chr m:val="̅"/>
                              <m:ctrlPr>
                                <a:rPr lang="en-NZ" altLang="ja-JP" sz="2200" b="1" i="1" smtClean="0">
                                  <a:solidFill>
                                    <a:srgbClr val="C00000"/>
                                  </a:solidFill>
                                  <a:latin typeface="Cambria Math" panose="02040503050406030204" pitchFamily="18" charset="0"/>
                                </a:rPr>
                              </m:ctrlPr>
                            </m:accPr>
                            <m:e>
                              <m:r>
                                <a:rPr lang="en-NZ" altLang="ja-JP" sz="2200" b="1" i="1" smtClean="0">
                                  <a:solidFill>
                                    <a:srgbClr val="C00000"/>
                                  </a:solidFill>
                                  <a:latin typeface="Cambria Math" panose="02040503050406030204" pitchFamily="18" charset="0"/>
                                </a:rPr>
                                <m:t>𝒀</m:t>
                              </m:r>
                            </m:e>
                          </m:acc>
                        </m:e>
                        <m:sub>
                          <m:r>
                            <a:rPr lang="en-NZ" altLang="ja-JP" sz="2200" b="1" i="1" smtClean="0">
                              <a:solidFill>
                                <a:srgbClr val="C00000"/>
                              </a:solidFill>
                              <a:latin typeface="Cambria Math" panose="02040503050406030204" pitchFamily="18" charset="0"/>
                              <a:ea typeface="Cambria Math" panose="02040503050406030204" pitchFamily="18" charset="0"/>
                            </a:rPr>
                            <m:t>∙∙∙</m:t>
                          </m:r>
                        </m:sub>
                      </m:sSub>
                      <m:r>
                        <a:rPr lang="en-NZ" altLang="ja-JP" sz="2200" b="1" i="1" smtClean="0">
                          <a:solidFill>
                            <a:srgbClr val="C00000"/>
                          </a:solidFill>
                          <a:latin typeface="Cambria Math" panose="02040503050406030204" pitchFamily="18" charset="0"/>
                        </a:rPr>
                        <m:t>  =   </m:t>
                      </m:r>
                      <m:d>
                        <m:dPr>
                          <m:ctrlPr>
                            <a:rPr lang="en-NZ" altLang="ja-JP" sz="2200" b="1" i="1" smtClean="0">
                              <a:solidFill>
                                <a:srgbClr val="C00000"/>
                              </a:solidFill>
                              <a:latin typeface="Cambria Math" panose="02040503050406030204" pitchFamily="18" charset="0"/>
                            </a:rPr>
                          </m:ctrlPr>
                        </m:dPr>
                        <m:e>
                          <m:sSub>
                            <m:sSubPr>
                              <m:ctrlPr>
                                <a:rPr lang="en-NZ" altLang="ja-JP" sz="2200" b="1" i="1">
                                  <a:solidFill>
                                    <a:srgbClr val="C00000"/>
                                  </a:solidFill>
                                  <a:latin typeface="Cambria Math" panose="02040503050406030204" pitchFamily="18" charset="0"/>
                                </a:rPr>
                              </m:ctrlPr>
                            </m:sSubPr>
                            <m:e>
                              <m:r>
                                <a:rPr lang="en-NZ" altLang="ja-JP" sz="2200" b="1" i="1" smtClean="0">
                                  <a:solidFill>
                                    <a:srgbClr val="C00000"/>
                                  </a:solidFill>
                                  <a:latin typeface="Cambria Math" panose="02040503050406030204" pitchFamily="18" charset="0"/>
                                </a:rPr>
                                <m:t> </m:t>
                              </m:r>
                              <m:acc>
                                <m:accPr>
                                  <m:chr m:val="̅"/>
                                  <m:ctrlPr>
                                    <a:rPr lang="en-NZ" altLang="ja-JP" sz="2200" b="1" i="1" smtClean="0">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smtClean="0">
                                  <a:solidFill>
                                    <a:srgbClr val="C00000"/>
                                  </a:solidFill>
                                  <a:latin typeface="Cambria Math" panose="02040503050406030204" pitchFamily="18" charset="0"/>
                                </a:rPr>
                                <m:t>𝒊</m:t>
                              </m:r>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smtClean="0">
                              <a:solidFill>
                                <a:srgbClr val="C00000"/>
                              </a:solidFill>
                              <a:latin typeface="Cambria Math" panose="02040503050406030204" pitchFamily="18" charset="0"/>
                              <a:ea typeface="Cambria Math" panose="02040503050406030204" pitchFamily="18" charset="0"/>
                            </a:rPr>
                            <m:t>  − </m:t>
                          </m:r>
                          <m:sSub>
                            <m:sSubPr>
                              <m:ctrlPr>
                                <a:rPr lang="en-NZ" altLang="ja-JP" sz="2200" b="1" i="1">
                                  <a:solidFill>
                                    <a:srgbClr val="C00000"/>
                                  </a:solidFill>
                                  <a:latin typeface="Cambria Math" panose="02040503050406030204" pitchFamily="18" charset="0"/>
                                </a:rPr>
                              </m:ctrlPr>
                            </m:sSubPr>
                            <m:e>
                              <m:acc>
                                <m:accPr>
                                  <m:chr m:val="̅"/>
                                  <m:ctrlPr>
                                    <a:rPr lang="en-NZ" altLang="ja-JP" sz="2200" b="1" i="1">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smtClean="0">
                              <a:solidFill>
                                <a:srgbClr val="C00000"/>
                              </a:solidFill>
                              <a:latin typeface="Cambria Math" panose="02040503050406030204" pitchFamily="18" charset="0"/>
                              <a:ea typeface="Cambria Math" panose="02040503050406030204" pitchFamily="18" charset="0"/>
                            </a:rPr>
                            <m:t> </m:t>
                          </m:r>
                        </m:e>
                      </m:d>
                      <m:r>
                        <a:rPr lang="en-NZ" altLang="ja-JP" sz="2200" b="1" i="1" smtClean="0">
                          <a:solidFill>
                            <a:srgbClr val="C00000"/>
                          </a:solidFill>
                          <a:latin typeface="Cambria Math" panose="02040503050406030204" pitchFamily="18" charset="0"/>
                          <a:ea typeface="Cambria Math" panose="02040503050406030204" pitchFamily="18" charset="0"/>
                        </a:rPr>
                        <m:t> + </m:t>
                      </m:r>
                      <m:d>
                        <m:dPr>
                          <m:ctrlPr>
                            <a:rPr lang="en-NZ" altLang="ja-JP" sz="2200" b="1" i="1">
                              <a:solidFill>
                                <a:srgbClr val="C00000"/>
                              </a:solidFill>
                              <a:latin typeface="Cambria Math" panose="02040503050406030204" pitchFamily="18" charset="0"/>
                            </a:rPr>
                          </m:ctrlPr>
                        </m:dPr>
                        <m:e>
                          <m:sSub>
                            <m:sSubPr>
                              <m:ctrlPr>
                                <a:rPr lang="en-NZ" altLang="ja-JP" sz="2200" b="1" i="1">
                                  <a:solidFill>
                                    <a:srgbClr val="C00000"/>
                                  </a:solidFill>
                                  <a:latin typeface="Cambria Math" panose="02040503050406030204" pitchFamily="18" charset="0"/>
                                </a:rPr>
                              </m:ctrlPr>
                            </m:sSubPr>
                            <m:e>
                              <m:r>
                                <a:rPr lang="en-NZ" altLang="ja-JP" sz="2200" b="1" i="1">
                                  <a:solidFill>
                                    <a:srgbClr val="C00000"/>
                                  </a:solidFill>
                                  <a:latin typeface="Cambria Math" panose="02040503050406030204" pitchFamily="18" charset="0"/>
                                </a:rPr>
                                <m:t> </m:t>
                              </m:r>
                              <m:acc>
                                <m:accPr>
                                  <m:chr m:val="̅"/>
                                  <m:ctrlPr>
                                    <a:rPr lang="en-NZ" altLang="ja-JP" sz="2200" b="1" i="1">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a:solidFill>
                                    <a:srgbClr val="C00000"/>
                                  </a:solidFill>
                                  <a:latin typeface="Cambria Math" panose="02040503050406030204" pitchFamily="18" charset="0"/>
                                  <a:ea typeface="Cambria Math" panose="02040503050406030204" pitchFamily="18" charset="0"/>
                                </a:rPr>
                                <m:t>∙</m:t>
                              </m:r>
                              <m:r>
                                <a:rPr lang="en-NZ" altLang="ja-JP" sz="2200" b="1" i="1" smtClean="0">
                                  <a:solidFill>
                                    <a:srgbClr val="C00000"/>
                                  </a:solidFill>
                                  <a:latin typeface="Cambria Math" panose="02040503050406030204" pitchFamily="18" charset="0"/>
                                  <a:ea typeface="Cambria Math" panose="02040503050406030204" pitchFamily="18" charset="0"/>
                                </a:rPr>
                                <m:t>𝒋</m:t>
                              </m:r>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a:solidFill>
                                <a:srgbClr val="C00000"/>
                              </a:solidFill>
                              <a:latin typeface="Cambria Math" panose="02040503050406030204" pitchFamily="18" charset="0"/>
                              <a:ea typeface="Cambria Math" panose="02040503050406030204" pitchFamily="18" charset="0"/>
                            </a:rPr>
                            <m:t>  − </m:t>
                          </m:r>
                          <m:sSub>
                            <m:sSubPr>
                              <m:ctrlPr>
                                <a:rPr lang="en-NZ" altLang="ja-JP" sz="2200" b="1" i="1">
                                  <a:solidFill>
                                    <a:srgbClr val="C00000"/>
                                  </a:solidFill>
                                  <a:latin typeface="Cambria Math" panose="02040503050406030204" pitchFamily="18" charset="0"/>
                                </a:rPr>
                              </m:ctrlPr>
                            </m:sSubPr>
                            <m:e>
                              <m:acc>
                                <m:accPr>
                                  <m:chr m:val="̅"/>
                                  <m:ctrlPr>
                                    <a:rPr lang="en-NZ" altLang="ja-JP" sz="2200" b="1" i="1">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a:solidFill>
                                <a:srgbClr val="C00000"/>
                              </a:solidFill>
                              <a:latin typeface="Cambria Math" panose="02040503050406030204" pitchFamily="18" charset="0"/>
                              <a:ea typeface="Cambria Math" panose="02040503050406030204" pitchFamily="18" charset="0"/>
                            </a:rPr>
                            <m:t> </m:t>
                          </m:r>
                        </m:e>
                      </m:d>
                      <m:r>
                        <a:rPr lang="en-NZ" altLang="ja-JP" sz="2200" b="1" i="1" smtClean="0">
                          <a:solidFill>
                            <a:srgbClr val="C00000"/>
                          </a:solidFill>
                          <a:latin typeface="Cambria Math" panose="02040503050406030204" pitchFamily="18" charset="0"/>
                          <a:ea typeface="Cambria Math" panose="02040503050406030204" pitchFamily="18" charset="0"/>
                        </a:rPr>
                        <m:t>  +  </m:t>
                      </m:r>
                      <m:d>
                        <m:dPr>
                          <m:ctrlPr>
                            <a:rPr lang="en-NZ" altLang="ja-JP" sz="2200" b="1" i="1">
                              <a:solidFill>
                                <a:srgbClr val="C00000"/>
                              </a:solidFill>
                              <a:latin typeface="Cambria Math" panose="02040503050406030204" pitchFamily="18" charset="0"/>
                            </a:rPr>
                          </m:ctrlPr>
                        </m:dPr>
                        <m:e>
                          <m:sSub>
                            <m:sSubPr>
                              <m:ctrlPr>
                                <a:rPr lang="en-NZ" altLang="ja-JP" sz="2200" b="1" i="1">
                                  <a:solidFill>
                                    <a:srgbClr val="C00000"/>
                                  </a:solidFill>
                                  <a:latin typeface="Cambria Math" panose="02040503050406030204" pitchFamily="18" charset="0"/>
                                </a:rPr>
                              </m:ctrlPr>
                            </m:sSubPr>
                            <m:e>
                              <m:r>
                                <a:rPr lang="en-NZ" altLang="ja-JP" sz="2200" b="1" i="1">
                                  <a:solidFill>
                                    <a:srgbClr val="C00000"/>
                                  </a:solidFill>
                                  <a:latin typeface="Cambria Math" panose="02040503050406030204" pitchFamily="18" charset="0"/>
                                </a:rPr>
                                <m:t>𝒀</m:t>
                              </m:r>
                            </m:e>
                            <m:sub>
                              <m:r>
                                <a:rPr lang="en-NZ" altLang="ja-JP" sz="2200" b="1" i="1">
                                  <a:solidFill>
                                    <a:srgbClr val="C00000"/>
                                  </a:solidFill>
                                  <a:latin typeface="Cambria Math" panose="02040503050406030204" pitchFamily="18" charset="0"/>
                                </a:rPr>
                                <m:t>𝒊𝒋𝒌</m:t>
                              </m:r>
                            </m:sub>
                          </m:sSub>
                          <m:r>
                            <a:rPr lang="en-NZ" altLang="ja-JP" sz="2200" b="1" i="1" smtClean="0">
                              <a:solidFill>
                                <a:srgbClr val="C00000"/>
                              </a:solidFill>
                              <a:latin typeface="Cambria Math" panose="02040503050406030204" pitchFamily="18" charset="0"/>
                            </a:rPr>
                            <m:t> −</m:t>
                          </m:r>
                          <m:sSub>
                            <m:sSubPr>
                              <m:ctrlPr>
                                <a:rPr lang="en-NZ" altLang="ja-JP" sz="2200" b="1" i="1">
                                  <a:solidFill>
                                    <a:srgbClr val="C00000"/>
                                  </a:solidFill>
                                  <a:latin typeface="Cambria Math" panose="02040503050406030204" pitchFamily="18" charset="0"/>
                                </a:rPr>
                              </m:ctrlPr>
                            </m:sSubPr>
                            <m:e>
                              <m:r>
                                <a:rPr lang="en-NZ" altLang="ja-JP" sz="2200" b="1" i="1" smtClean="0">
                                  <a:solidFill>
                                    <a:srgbClr val="C00000"/>
                                  </a:solidFill>
                                  <a:latin typeface="Cambria Math" panose="02040503050406030204" pitchFamily="18" charset="0"/>
                                </a:rPr>
                                <m:t> </m:t>
                              </m:r>
                              <m:acc>
                                <m:accPr>
                                  <m:chr m:val="̅"/>
                                  <m:ctrlPr>
                                    <a:rPr lang="en-NZ" altLang="ja-JP" sz="2200" b="1" i="1">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smtClean="0">
                                  <a:solidFill>
                                    <a:srgbClr val="C00000"/>
                                  </a:solidFill>
                                  <a:latin typeface="Cambria Math" panose="02040503050406030204" pitchFamily="18" charset="0"/>
                                </a:rPr>
                                <m:t>𝒊</m:t>
                              </m:r>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a:solidFill>
                                <a:srgbClr val="C00000"/>
                              </a:solidFill>
                              <a:latin typeface="Cambria Math" panose="02040503050406030204" pitchFamily="18" charset="0"/>
                            </a:rPr>
                            <m:t>−</m:t>
                          </m:r>
                          <m:sSub>
                            <m:sSubPr>
                              <m:ctrlPr>
                                <a:rPr lang="en-NZ" altLang="ja-JP" sz="2200" b="1" i="1">
                                  <a:solidFill>
                                    <a:srgbClr val="C00000"/>
                                  </a:solidFill>
                                  <a:latin typeface="Cambria Math" panose="02040503050406030204" pitchFamily="18" charset="0"/>
                                </a:rPr>
                              </m:ctrlPr>
                            </m:sSubPr>
                            <m:e>
                              <m:r>
                                <a:rPr lang="en-NZ" altLang="ja-JP" sz="2200" b="1" i="1">
                                  <a:solidFill>
                                    <a:srgbClr val="C00000"/>
                                  </a:solidFill>
                                  <a:latin typeface="Cambria Math" panose="02040503050406030204" pitchFamily="18" charset="0"/>
                                </a:rPr>
                                <m:t> </m:t>
                              </m:r>
                              <m:acc>
                                <m:accPr>
                                  <m:chr m:val="̅"/>
                                  <m:ctrlPr>
                                    <a:rPr lang="en-NZ" altLang="ja-JP" sz="2200" b="1" i="1">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a:solidFill>
                                    <a:srgbClr val="C00000"/>
                                  </a:solidFill>
                                  <a:latin typeface="Cambria Math" panose="02040503050406030204" pitchFamily="18" charset="0"/>
                                  <a:ea typeface="Cambria Math" panose="02040503050406030204" pitchFamily="18" charset="0"/>
                                </a:rPr>
                                <m:t>∙</m:t>
                              </m:r>
                              <m:r>
                                <a:rPr lang="en-NZ" altLang="ja-JP" sz="2200" b="1" i="1" smtClean="0">
                                  <a:solidFill>
                                    <a:srgbClr val="C00000"/>
                                  </a:solidFill>
                                  <a:latin typeface="Cambria Math" panose="02040503050406030204" pitchFamily="18" charset="0"/>
                                  <a:ea typeface="Cambria Math" panose="02040503050406030204" pitchFamily="18" charset="0"/>
                                </a:rPr>
                                <m:t>𝒋</m:t>
                              </m:r>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smtClean="0">
                              <a:solidFill>
                                <a:srgbClr val="C00000"/>
                              </a:solidFill>
                              <a:latin typeface="Cambria Math" panose="02040503050406030204" pitchFamily="18" charset="0"/>
                              <a:ea typeface="Cambria Math" panose="02040503050406030204" pitchFamily="18" charset="0"/>
                            </a:rPr>
                            <m:t>+</m:t>
                          </m:r>
                          <m:r>
                            <a:rPr lang="en-NZ" altLang="ja-JP" sz="2200" b="1" i="1">
                              <a:solidFill>
                                <a:srgbClr val="C00000"/>
                              </a:solidFill>
                              <a:latin typeface="Cambria Math" panose="02040503050406030204" pitchFamily="18" charset="0"/>
                              <a:ea typeface="Cambria Math" panose="02040503050406030204" pitchFamily="18" charset="0"/>
                            </a:rPr>
                            <m:t> </m:t>
                          </m:r>
                          <m:sSub>
                            <m:sSubPr>
                              <m:ctrlPr>
                                <a:rPr lang="en-NZ" altLang="ja-JP" sz="2200" b="1" i="1">
                                  <a:solidFill>
                                    <a:srgbClr val="C00000"/>
                                  </a:solidFill>
                                  <a:latin typeface="Cambria Math" panose="02040503050406030204" pitchFamily="18" charset="0"/>
                                </a:rPr>
                              </m:ctrlPr>
                            </m:sSubPr>
                            <m:e>
                              <m:acc>
                                <m:accPr>
                                  <m:chr m:val="̅"/>
                                  <m:ctrlPr>
                                    <a:rPr lang="en-NZ" altLang="ja-JP" sz="2200" b="1" i="1">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a:solidFill>
                                <a:srgbClr val="C00000"/>
                              </a:solidFill>
                              <a:latin typeface="Cambria Math" panose="02040503050406030204" pitchFamily="18" charset="0"/>
                              <a:ea typeface="Cambria Math" panose="02040503050406030204" pitchFamily="18" charset="0"/>
                            </a:rPr>
                            <m:t> </m:t>
                          </m:r>
                        </m:e>
                      </m:d>
                    </m:oMath>
                  </m:oMathPara>
                </a14:m>
                <a:endParaRPr lang="en-NZ" altLang="ja-JP" sz="2200" dirty="0">
                  <a:solidFill>
                    <a:schemeClr val="tx1"/>
                  </a:solidFill>
                </a:endParaRPr>
              </a:p>
            </p:txBody>
          </p:sp>
        </mc:Choice>
        <mc:Fallback xmlns="">
          <p:sp>
            <p:nvSpPr>
              <p:cNvPr id="16" name="Text Placeholder 5">
                <a:extLst>
                  <a:ext uri="{FF2B5EF4-FFF2-40B4-BE49-F238E27FC236}">
                    <a16:creationId xmlns:a16="http://schemas.microsoft.com/office/drawing/2014/main" id="{7DA2C5CA-98B6-61FF-E94B-E94535C7379E}"/>
                  </a:ext>
                </a:extLst>
              </p:cNvPr>
              <p:cNvSpPr txBox="1">
                <a:spLocks noRot="1" noChangeAspect="1" noMove="1" noResize="1" noEditPoints="1" noAdjustHandles="1" noChangeArrowheads="1" noChangeShapeType="1" noTextEdit="1"/>
              </p:cNvSpPr>
              <p:nvPr/>
            </p:nvSpPr>
            <p:spPr>
              <a:xfrm>
                <a:off x="479945" y="5021460"/>
                <a:ext cx="11232109" cy="592925"/>
              </a:xfrm>
              <a:prstGeom prst="rect">
                <a:avLst/>
              </a:prstGeom>
              <a:blipFill>
                <a:blip r:embed="rId5"/>
                <a:stretch>
                  <a:fillRect/>
                </a:stretch>
              </a:blipFill>
            </p:spPr>
            <p:txBody>
              <a:bodyPr/>
              <a:lstStyle/>
              <a:p>
                <a:r>
                  <a:rPr lang="en-NZ">
                    <a:noFill/>
                  </a:rPr>
                  <a:t> </a:t>
                </a:r>
              </a:p>
            </p:txBody>
          </p:sp>
        </mc:Fallback>
      </mc:AlternateContent>
      <p:cxnSp>
        <p:nvCxnSpPr>
          <p:cNvPr id="3" name="Straight Arrow Connector 2">
            <a:extLst>
              <a:ext uri="{FF2B5EF4-FFF2-40B4-BE49-F238E27FC236}">
                <a16:creationId xmlns:a16="http://schemas.microsoft.com/office/drawing/2014/main" id="{42637178-D5FD-B482-3870-EE3CF79436CC}"/>
              </a:ext>
            </a:extLst>
          </p:cNvPr>
          <p:cNvCxnSpPr>
            <a:cxnSpLocks/>
            <a:stCxn id="17" idx="1"/>
          </p:cNvCxnSpPr>
          <p:nvPr/>
        </p:nvCxnSpPr>
        <p:spPr>
          <a:xfrm flipH="1">
            <a:off x="2347415" y="4499888"/>
            <a:ext cx="2194863" cy="5015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Left Brace 16">
            <a:extLst>
              <a:ext uri="{FF2B5EF4-FFF2-40B4-BE49-F238E27FC236}">
                <a16:creationId xmlns:a16="http://schemas.microsoft.com/office/drawing/2014/main" id="{049081EE-D310-4BE3-4893-88DAB593A94B}"/>
              </a:ext>
            </a:extLst>
          </p:cNvPr>
          <p:cNvSpPr/>
          <p:nvPr/>
        </p:nvSpPr>
        <p:spPr>
          <a:xfrm rot="16200000">
            <a:off x="4372557" y="3795032"/>
            <a:ext cx="339442" cy="107027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Left Brace 17">
            <a:extLst>
              <a:ext uri="{FF2B5EF4-FFF2-40B4-BE49-F238E27FC236}">
                <a16:creationId xmlns:a16="http://schemas.microsoft.com/office/drawing/2014/main" id="{F24E640C-24D5-7BCB-4A1F-8954B2C998D7}"/>
              </a:ext>
            </a:extLst>
          </p:cNvPr>
          <p:cNvSpPr/>
          <p:nvPr/>
        </p:nvSpPr>
        <p:spPr>
          <a:xfrm rot="16200000">
            <a:off x="5466459" y="4152401"/>
            <a:ext cx="339442" cy="3555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Left Brace 18">
            <a:extLst>
              <a:ext uri="{FF2B5EF4-FFF2-40B4-BE49-F238E27FC236}">
                <a16:creationId xmlns:a16="http://schemas.microsoft.com/office/drawing/2014/main" id="{F9B0E2D0-496E-3594-573D-4653AB83BB31}"/>
              </a:ext>
            </a:extLst>
          </p:cNvPr>
          <p:cNvSpPr/>
          <p:nvPr/>
        </p:nvSpPr>
        <p:spPr>
          <a:xfrm rot="16200000">
            <a:off x="6208335" y="4152401"/>
            <a:ext cx="339442" cy="3555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Left Brace 19">
            <a:extLst>
              <a:ext uri="{FF2B5EF4-FFF2-40B4-BE49-F238E27FC236}">
                <a16:creationId xmlns:a16="http://schemas.microsoft.com/office/drawing/2014/main" id="{1CF3CDE1-6960-C2D9-D556-DB01B5F9F78B}"/>
              </a:ext>
            </a:extLst>
          </p:cNvPr>
          <p:cNvSpPr/>
          <p:nvPr/>
        </p:nvSpPr>
        <p:spPr>
          <a:xfrm rot="16200000">
            <a:off x="7122634" y="4148070"/>
            <a:ext cx="339442" cy="3555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2" name="Straight Arrow Connector 21">
            <a:extLst>
              <a:ext uri="{FF2B5EF4-FFF2-40B4-BE49-F238E27FC236}">
                <a16:creationId xmlns:a16="http://schemas.microsoft.com/office/drawing/2014/main" id="{25B024D7-B326-7D1A-4E7B-C67FE1277E09}"/>
              </a:ext>
            </a:extLst>
          </p:cNvPr>
          <p:cNvCxnSpPr>
            <a:cxnSpLocks/>
            <a:stCxn id="18" idx="1"/>
          </p:cNvCxnSpPr>
          <p:nvPr/>
        </p:nvCxnSpPr>
        <p:spPr>
          <a:xfrm flipH="1">
            <a:off x="4542278" y="4499888"/>
            <a:ext cx="1093902" cy="521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B033E45-969A-E91B-6213-611A96E6EE4B}"/>
              </a:ext>
            </a:extLst>
          </p:cNvPr>
          <p:cNvCxnSpPr>
            <a:cxnSpLocks/>
            <a:stCxn id="19" idx="1"/>
          </p:cNvCxnSpPr>
          <p:nvPr/>
        </p:nvCxnSpPr>
        <p:spPr>
          <a:xfrm>
            <a:off x="6378056" y="4499888"/>
            <a:ext cx="0" cy="521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E3960FF7-4DEC-1B15-71F1-5D171ADECF57}"/>
              </a:ext>
            </a:extLst>
          </p:cNvPr>
          <p:cNvCxnSpPr>
            <a:cxnSpLocks/>
            <a:stCxn id="20" idx="1"/>
          </p:cNvCxnSpPr>
          <p:nvPr/>
        </p:nvCxnSpPr>
        <p:spPr>
          <a:xfrm>
            <a:off x="7292355" y="4495557"/>
            <a:ext cx="1619633" cy="5058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 Placeholder 5">
            <a:extLst>
              <a:ext uri="{FF2B5EF4-FFF2-40B4-BE49-F238E27FC236}">
                <a16:creationId xmlns:a16="http://schemas.microsoft.com/office/drawing/2014/main" id="{7D1690FC-9985-C2F7-180C-036254ABC299}"/>
              </a:ext>
            </a:extLst>
          </p:cNvPr>
          <p:cNvSpPr txBox="1">
            <a:spLocks/>
          </p:cNvSpPr>
          <p:nvPr/>
        </p:nvSpPr>
        <p:spPr>
          <a:xfrm>
            <a:off x="2720065" y="4425395"/>
            <a:ext cx="717768" cy="2935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600" dirty="0" err="1">
                <a:solidFill>
                  <a:srgbClr val="002060"/>
                </a:solidFill>
              </a:rPr>
              <a:t>est</a:t>
            </a:r>
            <a:endParaRPr lang="en-NZ" altLang="ja-JP" sz="1600" dirty="0">
              <a:solidFill>
                <a:srgbClr val="002060"/>
              </a:solidFill>
            </a:endParaRPr>
          </a:p>
        </p:txBody>
      </p:sp>
      <p:sp>
        <p:nvSpPr>
          <p:cNvPr id="31" name="Text Placeholder 5">
            <a:extLst>
              <a:ext uri="{FF2B5EF4-FFF2-40B4-BE49-F238E27FC236}">
                <a16:creationId xmlns:a16="http://schemas.microsoft.com/office/drawing/2014/main" id="{CC87848C-007B-1D13-CD9F-2CAEE6A039A6}"/>
              </a:ext>
            </a:extLst>
          </p:cNvPr>
          <p:cNvSpPr txBox="1">
            <a:spLocks/>
          </p:cNvSpPr>
          <p:nvPr/>
        </p:nvSpPr>
        <p:spPr>
          <a:xfrm>
            <a:off x="4535264" y="4553802"/>
            <a:ext cx="717768" cy="2935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600" dirty="0" err="1">
                <a:solidFill>
                  <a:srgbClr val="002060"/>
                </a:solidFill>
              </a:rPr>
              <a:t>est</a:t>
            </a:r>
            <a:endParaRPr lang="en-NZ" altLang="ja-JP" sz="1600" dirty="0">
              <a:solidFill>
                <a:srgbClr val="002060"/>
              </a:solidFill>
            </a:endParaRPr>
          </a:p>
        </p:txBody>
      </p:sp>
      <p:sp>
        <p:nvSpPr>
          <p:cNvPr id="32" name="Text Placeholder 5">
            <a:extLst>
              <a:ext uri="{FF2B5EF4-FFF2-40B4-BE49-F238E27FC236}">
                <a16:creationId xmlns:a16="http://schemas.microsoft.com/office/drawing/2014/main" id="{B46D1958-1844-AB9D-A1DA-3A0726ED67C7}"/>
              </a:ext>
            </a:extLst>
          </p:cNvPr>
          <p:cNvSpPr txBox="1">
            <a:spLocks/>
          </p:cNvSpPr>
          <p:nvPr/>
        </p:nvSpPr>
        <p:spPr>
          <a:xfrm>
            <a:off x="5744857" y="4553802"/>
            <a:ext cx="717768" cy="2935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600" dirty="0" err="1">
                <a:solidFill>
                  <a:srgbClr val="002060"/>
                </a:solidFill>
              </a:rPr>
              <a:t>est</a:t>
            </a:r>
            <a:endParaRPr lang="en-NZ" altLang="ja-JP" sz="1600" dirty="0">
              <a:solidFill>
                <a:srgbClr val="002060"/>
              </a:solidFill>
            </a:endParaRPr>
          </a:p>
        </p:txBody>
      </p:sp>
      <p:sp>
        <p:nvSpPr>
          <p:cNvPr id="33" name="Text Placeholder 5">
            <a:extLst>
              <a:ext uri="{FF2B5EF4-FFF2-40B4-BE49-F238E27FC236}">
                <a16:creationId xmlns:a16="http://schemas.microsoft.com/office/drawing/2014/main" id="{DC067C50-932E-B760-58EB-BD753CA5B978}"/>
              </a:ext>
            </a:extLst>
          </p:cNvPr>
          <p:cNvSpPr txBox="1">
            <a:spLocks/>
          </p:cNvSpPr>
          <p:nvPr/>
        </p:nvSpPr>
        <p:spPr>
          <a:xfrm>
            <a:off x="7292355" y="4553802"/>
            <a:ext cx="717768" cy="2935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600" dirty="0" err="1">
                <a:solidFill>
                  <a:srgbClr val="002060"/>
                </a:solidFill>
              </a:rPr>
              <a:t>est</a:t>
            </a:r>
            <a:endParaRPr lang="en-NZ" altLang="ja-JP" sz="1600" dirty="0">
              <a:solidFill>
                <a:srgbClr val="002060"/>
              </a:solidFill>
            </a:endParaRPr>
          </a:p>
        </p:txBody>
      </p:sp>
      <mc:AlternateContent xmlns:mc="http://schemas.openxmlformats.org/markup-compatibility/2006" xmlns:a14="http://schemas.microsoft.com/office/drawing/2010/main">
        <mc:Choice Requires="a14">
          <p:sp>
            <p:nvSpPr>
              <p:cNvPr id="34" name="Text Placeholder 5">
                <a:extLst>
                  <a:ext uri="{FF2B5EF4-FFF2-40B4-BE49-F238E27FC236}">
                    <a16:creationId xmlns:a16="http://schemas.microsoft.com/office/drawing/2014/main" id="{F5189795-CC45-52DD-AE78-524476C550DB}"/>
                  </a:ext>
                </a:extLst>
              </p:cNvPr>
              <p:cNvSpPr txBox="1">
                <a:spLocks/>
              </p:cNvSpPr>
              <p:nvPr/>
            </p:nvSpPr>
            <p:spPr>
              <a:xfrm>
                <a:off x="251224" y="5941330"/>
                <a:ext cx="6863366" cy="5929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In particular, </a:t>
                </a:r>
                <a:r>
                  <a:rPr lang="en-NZ" altLang="ja-JP" sz="1800" b="1" dirty="0">
                    <a:solidFill>
                      <a:schemeClr val="tx1"/>
                    </a:solidFill>
                  </a:rPr>
                  <a:t>  </a:t>
                </a:r>
                <a14:m>
                  <m:oMath xmlns:m="http://schemas.openxmlformats.org/officeDocument/2006/math">
                    <m:d>
                      <m:dPr>
                        <m:ctrlPr>
                          <a:rPr lang="en-NZ" altLang="ja-JP" sz="1800" b="1" i="1" smtClean="0">
                            <a:solidFill>
                              <a:schemeClr val="tx1"/>
                            </a:solidFill>
                            <a:latin typeface="Cambria Math" panose="02040503050406030204" pitchFamily="18" charset="0"/>
                          </a:rPr>
                        </m:ctrlPr>
                      </m:dPr>
                      <m:e>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𝒀</m:t>
                            </m:r>
                          </m:e>
                          <m:sub>
                            <m:r>
                              <a:rPr lang="en-NZ" altLang="ja-JP" sz="1800" b="1" i="1">
                                <a:solidFill>
                                  <a:schemeClr val="tx1"/>
                                </a:solidFill>
                                <a:latin typeface="Cambria Math" panose="02040503050406030204" pitchFamily="18" charset="0"/>
                              </a:rPr>
                              <m:t>𝒊𝒋𝒌</m:t>
                            </m:r>
                          </m:sub>
                        </m:sSub>
                        <m:r>
                          <a:rPr lang="en-NZ" altLang="ja-JP" sz="1800" b="1" i="1" smtClean="0">
                            <a:solidFill>
                              <a:schemeClr val="tx1"/>
                            </a:solidFill>
                            <a:latin typeface="Cambria Math" panose="02040503050406030204" pitchFamily="18" charset="0"/>
                          </a:rPr>
                          <m:t> −</m:t>
                        </m:r>
                        <m:sSub>
                          <m:sSubPr>
                            <m:ctrlPr>
                              <a:rPr lang="en-NZ" altLang="ja-JP" sz="1800" b="1" i="1">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 </m:t>
                            </m:r>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𝒀</m:t>
                                </m:r>
                              </m:e>
                            </m:acc>
                          </m:e>
                          <m:sub>
                            <m:r>
                              <a:rPr lang="en-NZ" altLang="ja-JP" sz="1800" b="1" i="1" smtClean="0">
                                <a:solidFill>
                                  <a:schemeClr val="tx1"/>
                                </a:solidFill>
                                <a:latin typeface="Cambria Math" panose="02040503050406030204" pitchFamily="18" charset="0"/>
                              </a:rPr>
                              <m:t>𝒊</m:t>
                            </m:r>
                            <m:r>
                              <a:rPr lang="en-NZ" altLang="ja-JP" sz="1800" b="1" i="1">
                                <a:solidFill>
                                  <a:schemeClr val="tx1"/>
                                </a:solidFill>
                                <a:latin typeface="Cambria Math" panose="02040503050406030204" pitchFamily="18" charset="0"/>
                                <a:ea typeface="Cambria Math" panose="02040503050406030204" pitchFamily="18" charset="0"/>
                              </a:rPr>
                              <m:t>∙∙</m:t>
                            </m:r>
                          </m:sub>
                        </m:sSub>
                        <m:r>
                          <a:rPr lang="en-NZ" altLang="ja-JP" sz="1800" b="1" i="1">
                            <a:solidFill>
                              <a:schemeClr val="tx1"/>
                            </a:solidFill>
                            <a:latin typeface="Cambria Math" panose="02040503050406030204" pitchFamily="18" charset="0"/>
                          </a:rPr>
                          <m:t>−</m:t>
                        </m:r>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 </m:t>
                            </m:r>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𝒀</m:t>
                                </m:r>
                              </m:e>
                            </m:acc>
                          </m:e>
                          <m:sub>
                            <m:r>
                              <a:rPr lang="en-NZ" altLang="ja-JP" sz="1800" b="1" i="1">
                                <a:solidFill>
                                  <a:schemeClr val="tx1"/>
                                </a:solidFill>
                                <a:latin typeface="Cambria Math" panose="02040503050406030204" pitchFamily="18" charset="0"/>
                                <a:ea typeface="Cambria Math" panose="02040503050406030204" pitchFamily="18" charset="0"/>
                              </a:rPr>
                              <m:t>∙</m:t>
                            </m:r>
                            <m:r>
                              <a:rPr lang="en-NZ" altLang="ja-JP" sz="1800" b="1" i="1" smtClean="0">
                                <a:solidFill>
                                  <a:schemeClr val="tx1"/>
                                </a:solidFill>
                                <a:latin typeface="Cambria Math" panose="02040503050406030204" pitchFamily="18" charset="0"/>
                                <a:ea typeface="Cambria Math" panose="02040503050406030204" pitchFamily="18" charset="0"/>
                              </a:rPr>
                              <m:t>𝒋</m:t>
                            </m:r>
                            <m:r>
                              <a:rPr lang="en-NZ" altLang="ja-JP" sz="1800" b="1" i="1">
                                <a:solidFill>
                                  <a:schemeClr val="tx1"/>
                                </a:solidFill>
                                <a:latin typeface="Cambria Math" panose="02040503050406030204" pitchFamily="18" charset="0"/>
                                <a:ea typeface="Cambria Math" panose="02040503050406030204" pitchFamily="18" charset="0"/>
                              </a:rPr>
                              <m:t>∙</m:t>
                            </m:r>
                          </m:sub>
                        </m:sSub>
                        <m:r>
                          <a:rPr lang="en-NZ" altLang="ja-JP" sz="1800" b="1" i="1" smtClean="0">
                            <a:solidFill>
                              <a:schemeClr val="tx1"/>
                            </a:solidFill>
                            <a:latin typeface="Cambria Math" panose="02040503050406030204" pitchFamily="18" charset="0"/>
                            <a:ea typeface="Cambria Math" panose="02040503050406030204" pitchFamily="18" charset="0"/>
                          </a:rPr>
                          <m:t>+</m:t>
                        </m:r>
                        <m:r>
                          <a:rPr lang="en-NZ" altLang="ja-JP" sz="1800" b="1" i="1">
                            <a:solidFill>
                              <a:schemeClr val="tx1"/>
                            </a:solidFill>
                            <a:latin typeface="Cambria Math" panose="02040503050406030204" pitchFamily="18" charset="0"/>
                            <a:ea typeface="Cambria Math" panose="02040503050406030204" pitchFamily="18" charset="0"/>
                          </a:rPr>
                          <m:t> </m:t>
                        </m:r>
                        <m:sSub>
                          <m:sSubPr>
                            <m:ctrlPr>
                              <a:rPr lang="en-NZ" altLang="ja-JP" sz="1800" b="1" i="1">
                                <a:solidFill>
                                  <a:schemeClr val="tx1"/>
                                </a:solidFill>
                                <a:latin typeface="Cambria Math" panose="02040503050406030204" pitchFamily="18" charset="0"/>
                              </a:rPr>
                            </m:ctrlPr>
                          </m:sSub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𝒀</m:t>
                                </m:r>
                              </m:e>
                            </m:acc>
                          </m:e>
                          <m:sub>
                            <m:r>
                              <a:rPr lang="en-NZ" altLang="ja-JP" sz="1800" b="1" i="1">
                                <a:solidFill>
                                  <a:schemeClr val="tx1"/>
                                </a:solidFill>
                                <a:latin typeface="Cambria Math" panose="02040503050406030204" pitchFamily="18" charset="0"/>
                                <a:ea typeface="Cambria Math" panose="02040503050406030204" pitchFamily="18" charset="0"/>
                              </a:rPr>
                              <m:t>∙∙∙</m:t>
                            </m:r>
                          </m:sub>
                        </m:sSub>
                        <m:r>
                          <a:rPr lang="en-NZ" altLang="ja-JP" sz="1800" b="1" i="1">
                            <a:solidFill>
                              <a:schemeClr val="tx1"/>
                            </a:solidFill>
                            <a:latin typeface="Cambria Math" panose="02040503050406030204" pitchFamily="18" charset="0"/>
                            <a:ea typeface="Cambria Math" panose="02040503050406030204" pitchFamily="18" charset="0"/>
                          </a:rPr>
                          <m:t> </m:t>
                        </m:r>
                      </m:e>
                    </m:d>
                  </m:oMath>
                </a14:m>
                <a:r>
                  <a:rPr lang="en-NZ" altLang="ja-JP" sz="1800" dirty="0">
                    <a:solidFill>
                      <a:schemeClr val="tx1"/>
                    </a:solidFill>
                  </a:rPr>
                  <a:t> is an estimate of </a:t>
                </a:r>
                <a14:m>
                  <m:oMath xmlns:m="http://schemas.openxmlformats.org/officeDocument/2006/math">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𝝐</m:t>
                        </m:r>
                      </m:e>
                      <m:sub>
                        <m:r>
                          <a:rPr lang="en-NZ" altLang="ja-JP" sz="1800" b="1" i="1">
                            <a:solidFill>
                              <a:schemeClr val="tx1"/>
                            </a:solidFill>
                            <a:latin typeface="Cambria Math" panose="02040503050406030204" pitchFamily="18" charset="0"/>
                          </a:rPr>
                          <m:t>𝒊𝒋𝒌</m:t>
                        </m:r>
                      </m:sub>
                    </m:sSub>
                  </m:oMath>
                </a14:m>
                <a:r>
                  <a:rPr lang="en-NZ" altLang="ja-JP" sz="1800" dirty="0">
                    <a:solidFill>
                      <a:schemeClr val="tx1"/>
                    </a:solidFill>
                  </a:rPr>
                  <a:t> </a:t>
                </a:r>
              </a:p>
            </p:txBody>
          </p:sp>
        </mc:Choice>
        <mc:Fallback xmlns="">
          <p:sp>
            <p:nvSpPr>
              <p:cNvPr id="34" name="Text Placeholder 5">
                <a:extLst>
                  <a:ext uri="{FF2B5EF4-FFF2-40B4-BE49-F238E27FC236}">
                    <a16:creationId xmlns:a16="http://schemas.microsoft.com/office/drawing/2014/main" id="{F5189795-CC45-52DD-AE78-524476C550DB}"/>
                  </a:ext>
                </a:extLst>
              </p:cNvPr>
              <p:cNvSpPr txBox="1">
                <a:spLocks noRot="1" noChangeAspect="1" noMove="1" noResize="1" noEditPoints="1" noAdjustHandles="1" noChangeArrowheads="1" noChangeShapeType="1" noTextEdit="1"/>
              </p:cNvSpPr>
              <p:nvPr/>
            </p:nvSpPr>
            <p:spPr>
              <a:xfrm>
                <a:off x="251224" y="5941330"/>
                <a:ext cx="6863366" cy="592925"/>
              </a:xfrm>
              <a:prstGeom prst="rect">
                <a:avLst/>
              </a:prstGeom>
              <a:blipFill>
                <a:blip r:embed="rId6"/>
                <a:stretch>
                  <a:fillRect l="-710" t="-2062"/>
                </a:stretch>
              </a:blipFill>
            </p:spPr>
            <p:txBody>
              <a:bodyPr/>
              <a:lstStyle/>
              <a:p>
                <a:r>
                  <a:rPr lang="en-NZ">
                    <a:noFill/>
                  </a:rPr>
                  <a:t> </a:t>
                </a:r>
              </a:p>
            </p:txBody>
          </p:sp>
        </mc:Fallback>
      </mc:AlternateContent>
      <p:sp>
        <p:nvSpPr>
          <p:cNvPr id="25" name="Footer Placeholder 2">
            <a:extLst>
              <a:ext uri="{FF2B5EF4-FFF2-40B4-BE49-F238E27FC236}">
                <a16:creationId xmlns:a16="http://schemas.microsoft.com/office/drawing/2014/main" id="{FA5D93A3-9F97-37D4-9237-70764A3CDD26}"/>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4.3 – </a:t>
            </a:r>
            <a:r>
              <a:rPr kumimoji="1" lang="en-US" altLang="ja-JP" sz="1600" dirty="0">
                <a:solidFill>
                  <a:srgbClr val="DEDDDD"/>
                </a:solidFill>
                <a:latin typeface="Gidole"/>
                <a:ea typeface="游ゴシック" panose="020B0400000000000000" pitchFamily="34" charset="-128"/>
              </a:rPr>
              <a:t>Fixed Effects Model</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33214603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20" name="Text Placeholder 5">
            <a:extLst>
              <a:ext uri="{FF2B5EF4-FFF2-40B4-BE49-F238E27FC236}">
                <a16:creationId xmlns:a16="http://schemas.microsoft.com/office/drawing/2014/main" id="{645ADC35-9826-E030-B40E-92F636A9B524}"/>
              </a:ext>
            </a:extLst>
          </p:cNvPr>
          <p:cNvSpPr txBox="1">
            <a:spLocks/>
          </p:cNvSpPr>
          <p:nvPr/>
        </p:nvSpPr>
        <p:spPr>
          <a:xfrm>
            <a:off x="251223" y="1708857"/>
            <a:ext cx="11232109" cy="4182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If we square both sides of the above equation and sum over all observations we obtain*:</a:t>
            </a:r>
          </a:p>
          <a:p>
            <a:pPr algn="just">
              <a:lnSpc>
                <a:spcPct val="100000"/>
              </a:lnSpc>
            </a:pPr>
            <a:endParaRPr lang="en-NZ" altLang="ja-JP" sz="1800" dirty="0">
              <a:solidFill>
                <a:schemeClr val="tx1"/>
              </a:solidFill>
            </a:endParaRPr>
          </a:p>
        </p:txBody>
      </p:sp>
      <p:sp>
        <p:nvSpPr>
          <p:cNvPr id="11" name="Title 6">
            <a:extLst>
              <a:ext uri="{FF2B5EF4-FFF2-40B4-BE49-F238E27FC236}">
                <a16:creationId xmlns:a16="http://schemas.microsoft.com/office/drawing/2014/main" id="{CC6F8923-FBAC-A7E9-191D-7503FFA25C11}"/>
              </a:ext>
            </a:extLst>
          </p:cNvPr>
          <p:cNvSpPr txBox="1">
            <a:spLocks/>
          </p:cNvSpPr>
          <p:nvPr/>
        </p:nvSpPr>
        <p:spPr>
          <a:xfrm>
            <a:off x="251224" y="237833"/>
            <a:ext cx="8660764"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4.3b – Breakdown of Basic Sums of Squares</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mc:AlternateContent xmlns:mc="http://schemas.openxmlformats.org/markup-compatibility/2006" xmlns:a14="http://schemas.microsoft.com/office/drawing/2010/main">
        <mc:Choice Requires="a14">
          <p:sp>
            <p:nvSpPr>
              <p:cNvPr id="12" name="Text Placeholder 5">
                <a:extLst>
                  <a:ext uri="{FF2B5EF4-FFF2-40B4-BE49-F238E27FC236}">
                    <a16:creationId xmlns:a16="http://schemas.microsoft.com/office/drawing/2014/main" id="{0DA71500-3235-4377-F6BD-642DD4103582}"/>
                  </a:ext>
                </a:extLst>
              </p:cNvPr>
              <p:cNvSpPr txBox="1">
                <a:spLocks/>
              </p:cNvSpPr>
              <p:nvPr/>
            </p:nvSpPr>
            <p:spPr>
              <a:xfrm>
                <a:off x="251223" y="1035263"/>
                <a:ext cx="11232109" cy="60720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sSub>
                        <m:sSubPr>
                          <m:ctrlPr>
                            <a:rPr lang="en-NZ" altLang="ja-JP" sz="2200" b="1" i="1" smtClean="0">
                              <a:solidFill>
                                <a:srgbClr val="C00000"/>
                              </a:solidFill>
                              <a:latin typeface="Cambria Math" panose="02040503050406030204" pitchFamily="18" charset="0"/>
                            </a:rPr>
                          </m:ctrlPr>
                        </m:sSubPr>
                        <m:e>
                          <m:r>
                            <a:rPr lang="en-NZ" altLang="ja-JP" sz="2200" b="1" i="1" smtClean="0">
                              <a:solidFill>
                                <a:srgbClr val="C00000"/>
                              </a:solidFill>
                              <a:latin typeface="Cambria Math" panose="02040503050406030204" pitchFamily="18" charset="0"/>
                            </a:rPr>
                            <m:t>𝒀</m:t>
                          </m:r>
                        </m:e>
                        <m:sub>
                          <m:r>
                            <a:rPr lang="en-NZ" altLang="ja-JP" sz="2200" b="1" i="1" smtClean="0">
                              <a:solidFill>
                                <a:srgbClr val="C00000"/>
                              </a:solidFill>
                              <a:latin typeface="Cambria Math" panose="02040503050406030204" pitchFamily="18" charset="0"/>
                            </a:rPr>
                            <m:t>𝒊𝒋𝒌</m:t>
                          </m:r>
                        </m:sub>
                      </m:sSub>
                      <m:r>
                        <a:rPr lang="en-NZ" altLang="ja-JP" sz="2200" b="1" i="1" smtClean="0">
                          <a:solidFill>
                            <a:srgbClr val="C00000"/>
                          </a:solidFill>
                          <a:latin typeface="Cambria Math" panose="02040503050406030204" pitchFamily="18" charset="0"/>
                        </a:rPr>
                        <m:t>  −  </m:t>
                      </m:r>
                      <m:sSub>
                        <m:sSubPr>
                          <m:ctrlPr>
                            <a:rPr lang="en-NZ" altLang="ja-JP" sz="2200" b="1" i="1" smtClean="0">
                              <a:solidFill>
                                <a:srgbClr val="C00000"/>
                              </a:solidFill>
                              <a:latin typeface="Cambria Math" panose="02040503050406030204" pitchFamily="18" charset="0"/>
                            </a:rPr>
                          </m:ctrlPr>
                        </m:sSubPr>
                        <m:e>
                          <m:acc>
                            <m:accPr>
                              <m:chr m:val="̅"/>
                              <m:ctrlPr>
                                <a:rPr lang="en-NZ" altLang="ja-JP" sz="2200" b="1" i="1" smtClean="0">
                                  <a:solidFill>
                                    <a:srgbClr val="C00000"/>
                                  </a:solidFill>
                                  <a:latin typeface="Cambria Math" panose="02040503050406030204" pitchFamily="18" charset="0"/>
                                </a:rPr>
                              </m:ctrlPr>
                            </m:accPr>
                            <m:e>
                              <m:r>
                                <a:rPr lang="en-NZ" altLang="ja-JP" sz="2200" b="1" i="1" smtClean="0">
                                  <a:solidFill>
                                    <a:srgbClr val="C00000"/>
                                  </a:solidFill>
                                  <a:latin typeface="Cambria Math" panose="02040503050406030204" pitchFamily="18" charset="0"/>
                                </a:rPr>
                                <m:t>𝒀</m:t>
                              </m:r>
                            </m:e>
                          </m:acc>
                        </m:e>
                        <m:sub>
                          <m:r>
                            <a:rPr lang="en-NZ" altLang="ja-JP" sz="2200" b="1" i="1" smtClean="0">
                              <a:solidFill>
                                <a:srgbClr val="C00000"/>
                              </a:solidFill>
                              <a:latin typeface="Cambria Math" panose="02040503050406030204" pitchFamily="18" charset="0"/>
                              <a:ea typeface="Cambria Math" panose="02040503050406030204" pitchFamily="18" charset="0"/>
                            </a:rPr>
                            <m:t>∙∙∙</m:t>
                          </m:r>
                        </m:sub>
                      </m:sSub>
                      <m:r>
                        <a:rPr lang="en-NZ" altLang="ja-JP" sz="2200" b="1" i="1" smtClean="0">
                          <a:solidFill>
                            <a:srgbClr val="C00000"/>
                          </a:solidFill>
                          <a:latin typeface="Cambria Math" panose="02040503050406030204" pitchFamily="18" charset="0"/>
                        </a:rPr>
                        <m:t>  =   </m:t>
                      </m:r>
                      <m:d>
                        <m:dPr>
                          <m:ctrlPr>
                            <a:rPr lang="en-NZ" altLang="ja-JP" sz="2200" b="1" i="1" smtClean="0">
                              <a:solidFill>
                                <a:srgbClr val="C00000"/>
                              </a:solidFill>
                              <a:latin typeface="Cambria Math" panose="02040503050406030204" pitchFamily="18" charset="0"/>
                            </a:rPr>
                          </m:ctrlPr>
                        </m:dPr>
                        <m:e>
                          <m:sSub>
                            <m:sSubPr>
                              <m:ctrlPr>
                                <a:rPr lang="en-NZ" altLang="ja-JP" sz="2200" b="1" i="1">
                                  <a:solidFill>
                                    <a:srgbClr val="C00000"/>
                                  </a:solidFill>
                                  <a:latin typeface="Cambria Math" panose="02040503050406030204" pitchFamily="18" charset="0"/>
                                </a:rPr>
                              </m:ctrlPr>
                            </m:sSubPr>
                            <m:e>
                              <m:r>
                                <a:rPr lang="en-NZ" altLang="ja-JP" sz="2200" b="1" i="1" smtClean="0">
                                  <a:solidFill>
                                    <a:srgbClr val="C00000"/>
                                  </a:solidFill>
                                  <a:latin typeface="Cambria Math" panose="02040503050406030204" pitchFamily="18" charset="0"/>
                                </a:rPr>
                                <m:t> </m:t>
                              </m:r>
                              <m:acc>
                                <m:accPr>
                                  <m:chr m:val="̅"/>
                                  <m:ctrlPr>
                                    <a:rPr lang="en-NZ" altLang="ja-JP" sz="2200" b="1" i="1" smtClean="0">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smtClean="0">
                                  <a:solidFill>
                                    <a:srgbClr val="C00000"/>
                                  </a:solidFill>
                                  <a:latin typeface="Cambria Math" panose="02040503050406030204" pitchFamily="18" charset="0"/>
                                </a:rPr>
                                <m:t>𝒊</m:t>
                              </m:r>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smtClean="0">
                              <a:solidFill>
                                <a:srgbClr val="C00000"/>
                              </a:solidFill>
                              <a:latin typeface="Cambria Math" panose="02040503050406030204" pitchFamily="18" charset="0"/>
                              <a:ea typeface="Cambria Math" panose="02040503050406030204" pitchFamily="18" charset="0"/>
                            </a:rPr>
                            <m:t>  − </m:t>
                          </m:r>
                          <m:sSub>
                            <m:sSubPr>
                              <m:ctrlPr>
                                <a:rPr lang="en-NZ" altLang="ja-JP" sz="2200" b="1" i="1">
                                  <a:solidFill>
                                    <a:srgbClr val="C00000"/>
                                  </a:solidFill>
                                  <a:latin typeface="Cambria Math" panose="02040503050406030204" pitchFamily="18" charset="0"/>
                                </a:rPr>
                              </m:ctrlPr>
                            </m:sSubPr>
                            <m:e>
                              <m:acc>
                                <m:accPr>
                                  <m:chr m:val="̅"/>
                                  <m:ctrlPr>
                                    <a:rPr lang="en-NZ" altLang="ja-JP" sz="2200" b="1" i="1">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smtClean="0">
                              <a:solidFill>
                                <a:srgbClr val="C00000"/>
                              </a:solidFill>
                              <a:latin typeface="Cambria Math" panose="02040503050406030204" pitchFamily="18" charset="0"/>
                              <a:ea typeface="Cambria Math" panose="02040503050406030204" pitchFamily="18" charset="0"/>
                            </a:rPr>
                            <m:t> </m:t>
                          </m:r>
                        </m:e>
                      </m:d>
                      <m:r>
                        <a:rPr lang="en-NZ" altLang="ja-JP" sz="2200" b="1" i="1" smtClean="0">
                          <a:solidFill>
                            <a:srgbClr val="C00000"/>
                          </a:solidFill>
                          <a:latin typeface="Cambria Math" panose="02040503050406030204" pitchFamily="18" charset="0"/>
                          <a:ea typeface="Cambria Math" panose="02040503050406030204" pitchFamily="18" charset="0"/>
                        </a:rPr>
                        <m:t> + </m:t>
                      </m:r>
                      <m:d>
                        <m:dPr>
                          <m:ctrlPr>
                            <a:rPr lang="en-NZ" altLang="ja-JP" sz="2200" b="1" i="1">
                              <a:solidFill>
                                <a:srgbClr val="C00000"/>
                              </a:solidFill>
                              <a:latin typeface="Cambria Math" panose="02040503050406030204" pitchFamily="18" charset="0"/>
                            </a:rPr>
                          </m:ctrlPr>
                        </m:dPr>
                        <m:e>
                          <m:sSub>
                            <m:sSubPr>
                              <m:ctrlPr>
                                <a:rPr lang="en-NZ" altLang="ja-JP" sz="2200" b="1" i="1">
                                  <a:solidFill>
                                    <a:srgbClr val="C00000"/>
                                  </a:solidFill>
                                  <a:latin typeface="Cambria Math" panose="02040503050406030204" pitchFamily="18" charset="0"/>
                                </a:rPr>
                              </m:ctrlPr>
                            </m:sSubPr>
                            <m:e>
                              <m:r>
                                <a:rPr lang="en-NZ" altLang="ja-JP" sz="2200" b="1" i="1">
                                  <a:solidFill>
                                    <a:srgbClr val="C00000"/>
                                  </a:solidFill>
                                  <a:latin typeface="Cambria Math" panose="02040503050406030204" pitchFamily="18" charset="0"/>
                                </a:rPr>
                                <m:t> </m:t>
                              </m:r>
                              <m:acc>
                                <m:accPr>
                                  <m:chr m:val="̅"/>
                                  <m:ctrlPr>
                                    <a:rPr lang="en-NZ" altLang="ja-JP" sz="2200" b="1" i="1">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a:solidFill>
                                    <a:srgbClr val="C00000"/>
                                  </a:solidFill>
                                  <a:latin typeface="Cambria Math" panose="02040503050406030204" pitchFamily="18" charset="0"/>
                                  <a:ea typeface="Cambria Math" panose="02040503050406030204" pitchFamily="18" charset="0"/>
                                </a:rPr>
                                <m:t>∙</m:t>
                              </m:r>
                              <m:r>
                                <a:rPr lang="en-NZ" altLang="ja-JP" sz="2200" b="1" i="1" smtClean="0">
                                  <a:solidFill>
                                    <a:srgbClr val="C00000"/>
                                  </a:solidFill>
                                  <a:latin typeface="Cambria Math" panose="02040503050406030204" pitchFamily="18" charset="0"/>
                                  <a:ea typeface="Cambria Math" panose="02040503050406030204" pitchFamily="18" charset="0"/>
                                </a:rPr>
                                <m:t>𝒋</m:t>
                              </m:r>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a:solidFill>
                                <a:srgbClr val="C00000"/>
                              </a:solidFill>
                              <a:latin typeface="Cambria Math" panose="02040503050406030204" pitchFamily="18" charset="0"/>
                              <a:ea typeface="Cambria Math" panose="02040503050406030204" pitchFamily="18" charset="0"/>
                            </a:rPr>
                            <m:t>  − </m:t>
                          </m:r>
                          <m:sSub>
                            <m:sSubPr>
                              <m:ctrlPr>
                                <a:rPr lang="en-NZ" altLang="ja-JP" sz="2200" b="1" i="1">
                                  <a:solidFill>
                                    <a:srgbClr val="C00000"/>
                                  </a:solidFill>
                                  <a:latin typeface="Cambria Math" panose="02040503050406030204" pitchFamily="18" charset="0"/>
                                </a:rPr>
                              </m:ctrlPr>
                            </m:sSubPr>
                            <m:e>
                              <m:acc>
                                <m:accPr>
                                  <m:chr m:val="̅"/>
                                  <m:ctrlPr>
                                    <a:rPr lang="en-NZ" altLang="ja-JP" sz="2200" b="1" i="1">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a:solidFill>
                                <a:srgbClr val="C00000"/>
                              </a:solidFill>
                              <a:latin typeface="Cambria Math" panose="02040503050406030204" pitchFamily="18" charset="0"/>
                              <a:ea typeface="Cambria Math" panose="02040503050406030204" pitchFamily="18" charset="0"/>
                            </a:rPr>
                            <m:t> </m:t>
                          </m:r>
                        </m:e>
                      </m:d>
                      <m:r>
                        <a:rPr lang="en-NZ" altLang="ja-JP" sz="2200" b="1" i="1" smtClean="0">
                          <a:solidFill>
                            <a:srgbClr val="C00000"/>
                          </a:solidFill>
                          <a:latin typeface="Cambria Math" panose="02040503050406030204" pitchFamily="18" charset="0"/>
                          <a:ea typeface="Cambria Math" panose="02040503050406030204" pitchFamily="18" charset="0"/>
                        </a:rPr>
                        <m:t>  +  </m:t>
                      </m:r>
                      <m:d>
                        <m:dPr>
                          <m:ctrlPr>
                            <a:rPr lang="en-NZ" altLang="ja-JP" sz="2200" b="1" i="1">
                              <a:solidFill>
                                <a:srgbClr val="C00000"/>
                              </a:solidFill>
                              <a:latin typeface="Cambria Math" panose="02040503050406030204" pitchFamily="18" charset="0"/>
                            </a:rPr>
                          </m:ctrlPr>
                        </m:dPr>
                        <m:e>
                          <m:sSub>
                            <m:sSubPr>
                              <m:ctrlPr>
                                <a:rPr lang="en-NZ" altLang="ja-JP" sz="2200" b="1" i="1">
                                  <a:solidFill>
                                    <a:srgbClr val="C00000"/>
                                  </a:solidFill>
                                  <a:latin typeface="Cambria Math" panose="02040503050406030204" pitchFamily="18" charset="0"/>
                                </a:rPr>
                              </m:ctrlPr>
                            </m:sSubPr>
                            <m:e>
                              <m:r>
                                <a:rPr lang="en-NZ" altLang="ja-JP" sz="2200" b="1" i="1">
                                  <a:solidFill>
                                    <a:srgbClr val="C00000"/>
                                  </a:solidFill>
                                  <a:latin typeface="Cambria Math" panose="02040503050406030204" pitchFamily="18" charset="0"/>
                                </a:rPr>
                                <m:t>𝒀</m:t>
                              </m:r>
                            </m:e>
                            <m:sub>
                              <m:r>
                                <a:rPr lang="en-NZ" altLang="ja-JP" sz="2200" b="1" i="1">
                                  <a:solidFill>
                                    <a:srgbClr val="C00000"/>
                                  </a:solidFill>
                                  <a:latin typeface="Cambria Math" panose="02040503050406030204" pitchFamily="18" charset="0"/>
                                </a:rPr>
                                <m:t>𝒊𝒋𝒌</m:t>
                              </m:r>
                            </m:sub>
                          </m:sSub>
                          <m:r>
                            <a:rPr lang="en-NZ" altLang="ja-JP" sz="2200" b="1" i="1" smtClean="0">
                              <a:solidFill>
                                <a:srgbClr val="C00000"/>
                              </a:solidFill>
                              <a:latin typeface="Cambria Math" panose="02040503050406030204" pitchFamily="18" charset="0"/>
                            </a:rPr>
                            <m:t> −</m:t>
                          </m:r>
                          <m:sSub>
                            <m:sSubPr>
                              <m:ctrlPr>
                                <a:rPr lang="en-NZ" altLang="ja-JP" sz="2200" b="1" i="1">
                                  <a:solidFill>
                                    <a:srgbClr val="C00000"/>
                                  </a:solidFill>
                                  <a:latin typeface="Cambria Math" panose="02040503050406030204" pitchFamily="18" charset="0"/>
                                </a:rPr>
                              </m:ctrlPr>
                            </m:sSubPr>
                            <m:e>
                              <m:r>
                                <a:rPr lang="en-NZ" altLang="ja-JP" sz="2200" b="1" i="1" smtClean="0">
                                  <a:solidFill>
                                    <a:srgbClr val="C00000"/>
                                  </a:solidFill>
                                  <a:latin typeface="Cambria Math" panose="02040503050406030204" pitchFamily="18" charset="0"/>
                                </a:rPr>
                                <m:t> </m:t>
                              </m:r>
                              <m:acc>
                                <m:accPr>
                                  <m:chr m:val="̅"/>
                                  <m:ctrlPr>
                                    <a:rPr lang="en-NZ" altLang="ja-JP" sz="2200" b="1" i="1">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smtClean="0">
                                  <a:solidFill>
                                    <a:srgbClr val="C00000"/>
                                  </a:solidFill>
                                  <a:latin typeface="Cambria Math" panose="02040503050406030204" pitchFamily="18" charset="0"/>
                                </a:rPr>
                                <m:t>𝒊</m:t>
                              </m:r>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a:solidFill>
                                <a:srgbClr val="C00000"/>
                              </a:solidFill>
                              <a:latin typeface="Cambria Math" panose="02040503050406030204" pitchFamily="18" charset="0"/>
                            </a:rPr>
                            <m:t>−</m:t>
                          </m:r>
                          <m:sSub>
                            <m:sSubPr>
                              <m:ctrlPr>
                                <a:rPr lang="en-NZ" altLang="ja-JP" sz="2200" b="1" i="1">
                                  <a:solidFill>
                                    <a:srgbClr val="C00000"/>
                                  </a:solidFill>
                                  <a:latin typeface="Cambria Math" panose="02040503050406030204" pitchFamily="18" charset="0"/>
                                </a:rPr>
                              </m:ctrlPr>
                            </m:sSubPr>
                            <m:e>
                              <m:r>
                                <a:rPr lang="en-NZ" altLang="ja-JP" sz="2200" b="1" i="1">
                                  <a:solidFill>
                                    <a:srgbClr val="C00000"/>
                                  </a:solidFill>
                                  <a:latin typeface="Cambria Math" panose="02040503050406030204" pitchFamily="18" charset="0"/>
                                </a:rPr>
                                <m:t> </m:t>
                              </m:r>
                              <m:acc>
                                <m:accPr>
                                  <m:chr m:val="̅"/>
                                  <m:ctrlPr>
                                    <a:rPr lang="en-NZ" altLang="ja-JP" sz="2200" b="1" i="1">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a:solidFill>
                                    <a:srgbClr val="C00000"/>
                                  </a:solidFill>
                                  <a:latin typeface="Cambria Math" panose="02040503050406030204" pitchFamily="18" charset="0"/>
                                  <a:ea typeface="Cambria Math" panose="02040503050406030204" pitchFamily="18" charset="0"/>
                                </a:rPr>
                                <m:t>∙</m:t>
                              </m:r>
                              <m:r>
                                <a:rPr lang="en-NZ" altLang="ja-JP" sz="2200" b="1" i="1" smtClean="0">
                                  <a:solidFill>
                                    <a:srgbClr val="C00000"/>
                                  </a:solidFill>
                                  <a:latin typeface="Cambria Math" panose="02040503050406030204" pitchFamily="18" charset="0"/>
                                  <a:ea typeface="Cambria Math" panose="02040503050406030204" pitchFamily="18" charset="0"/>
                                </a:rPr>
                                <m:t>𝒋</m:t>
                              </m:r>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smtClean="0">
                              <a:solidFill>
                                <a:srgbClr val="C00000"/>
                              </a:solidFill>
                              <a:latin typeface="Cambria Math" panose="02040503050406030204" pitchFamily="18" charset="0"/>
                              <a:ea typeface="Cambria Math" panose="02040503050406030204" pitchFamily="18" charset="0"/>
                            </a:rPr>
                            <m:t>+</m:t>
                          </m:r>
                          <m:r>
                            <a:rPr lang="en-NZ" altLang="ja-JP" sz="2200" b="1" i="1">
                              <a:solidFill>
                                <a:srgbClr val="C00000"/>
                              </a:solidFill>
                              <a:latin typeface="Cambria Math" panose="02040503050406030204" pitchFamily="18" charset="0"/>
                              <a:ea typeface="Cambria Math" panose="02040503050406030204" pitchFamily="18" charset="0"/>
                            </a:rPr>
                            <m:t> </m:t>
                          </m:r>
                          <m:sSub>
                            <m:sSubPr>
                              <m:ctrlPr>
                                <a:rPr lang="en-NZ" altLang="ja-JP" sz="2200" b="1" i="1">
                                  <a:solidFill>
                                    <a:srgbClr val="C00000"/>
                                  </a:solidFill>
                                  <a:latin typeface="Cambria Math" panose="02040503050406030204" pitchFamily="18" charset="0"/>
                                </a:rPr>
                              </m:ctrlPr>
                            </m:sSubPr>
                            <m:e>
                              <m:acc>
                                <m:accPr>
                                  <m:chr m:val="̅"/>
                                  <m:ctrlPr>
                                    <a:rPr lang="en-NZ" altLang="ja-JP" sz="2200" b="1" i="1">
                                      <a:solidFill>
                                        <a:srgbClr val="C00000"/>
                                      </a:solidFill>
                                      <a:latin typeface="Cambria Math" panose="02040503050406030204" pitchFamily="18" charset="0"/>
                                    </a:rPr>
                                  </m:ctrlPr>
                                </m:accPr>
                                <m:e>
                                  <m:r>
                                    <a:rPr lang="en-NZ" altLang="ja-JP" sz="2200" b="1" i="1">
                                      <a:solidFill>
                                        <a:srgbClr val="C00000"/>
                                      </a:solidFill>
                                      <a:latin typeface="Cambria Math" panose="02040503050406030204" pitchFamily="18" charset="0"/>
                                    </a:rPr>
                                    <m:t>𝒀</m:t>
                                  </m:r>
                                </m:e>
                              </m:acc>
                            </m:e>
                            <m:sub>
                              <m:r>
                                <a:rPr lang="en-NZ" altLang="ja-JP" sz="2200" b="1" i="1">
                                  <a:solidFill>
                                    <a:srgbClr val="C00000"/>
                                  </a:solidFill>
                                  <a:latin typeface="Cambria Math" panose="02040503050406030204" pitchFamily="18" charset="0"/>
                                  <a:ea typeface="Cambria Math" panose="02040503050406030204" pitchFamily="18" charset="0"/>
                                </a:rPr>
                                <m:t>∙∙∙</m:t>
                              </m:r>
                            </m:sub>
                          </m:sSub>
                          <m:r>
                            <a:rPr lang="en-NZ" altLang="ja-JP" sz="2200" b="1" i="1">
                              <a:solidFill>
                                <a:srgbClr val="C00000"/>
                              </a:solidFill>
                              <a:latin typeface="Cambria Math" panose="02040503050406030204" pitchFamily="18" charset="0"/>
                              <a:ea typeface="Cambria Math" panose="02040503050406030204" pitchFamily="18" charset="0"/>
                            </a:rPr>
                            <m:t> </m:t>
                          </m:r>
                        </m:e>
                      </m:d>
                    </m:oMath>
                  </m:oMathPara>
                </a14:m>
                <a:endParaRPr lang="en-NZ" altLang="ja-JP" sz="2200" dirty="0">
                  <a:solidFill>
                    <a:schemeClr val="tx1"/>
                  </a:solidFill>
                </a:endParaRPr>
              </a:p>
            </p:txBody>
          </p:sp>
        </mc:Choice>
        <mc:Fallback xmlns="">
          <p:sp>
            <p:nvSpPr>
              <p:cNvPr id="12" name="Text Placeholder 5">
                <a:extLst>
                  <a:ext uri="{FF2B5EF4-FFF2-40B4-BE49-F238E27FC236}">
                    <a16:creationId xmlns:a16="http://schemas.microsoft.com/office/drawing/2014/main" id="{0DA71500-3235-4377-F6BD-642DD4103582}"/>
                  </a:ext>
                </a:extLst>
              </p:cNvPr>
              <p:cNvSpPr txBox="1">
                <a:spLocks noRot="1" noChangeAspect="1" noMove="1" noResize="1" noEditPoints="1" noAdjustHandles="1" noChangeArrowheads="1" noChangeShapeType="1" noTextEdit="1"/>
              </p:cNvSpPr>
              <p:nvPr/>
            </p:nvSpPr>
            <p:spPr>
              <a:xfrm>
                <a:off x="251223" y="1035263"/>
                <a:ext cx="11232109" cy="607201"/>
              </a:xfrm>
              <a:prstGeom prst="rect">
                <a:avLst/>
              </a:prstGeom>
              <a:blipFill>
                <a:blip r:embed="rId2"/>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4" name="Text Placeholder 5">
                <a:extLst>
                  <a:ext uri="{FF2B5EF4-FFF2-40B4-BE49-F238E27FC236}">
                    <a16:creationId xmlns:a16="http://schemas.microsoft.com/office/drawing/2014/main" id="{385BFC57-A454-EE89-1FC6-139AB0F07351}"/>
                  </a:ext>
                </a:extLst>
              </p:cNvPr>
              <p:cNvSpPr txBox="1">
                <a:spLocks/>
              </p:cNvSpPr>
              <p:nvPr/>
            </p:nvSpPr>
            <p:spPr>
              <a:xfrm>
                <a:off x="600501" y="2226463"/>
                <a:ext cx="3493827" cy="121049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left"/>
                    </m:oMathParaPr>
                    <m:oMath xmlns:m="http://schemas.openxmlformats.org/officeDocument/2006/math">
                      <m:nary>
                        <m:naryPr>
                          <m:chr m:val="∑"/>
                          <m:ctrlPr>
                            <a:rPr lang="en-NZ" altLang="ja-JP" sz="2200" b="1" i="1" smtClean="0">
                              <a:solidFill>
                                <a:schemeClr val="tx1"/>
                              </a:solidFill>
                              <a:latin typeface="Cambria Math" panose="02040503050406030204" pitchFamily="18" charset="0"/>
                            </a:rPr>
                          </m:ctrlPr>
                        </m:naryPr>
                        <m:sub>
                          <m:r>
                            <m:rPr>
                              <m:brk m:alnAt="23"/>
                            </m:rPr>
                            <a:rPr lang="en-NZ" altLang="ja-JP" sz="2200" b="1" i="1" smtClean="0">
                              <a:solidFill>
                                <a:schemeClr val="tx1"/>
                              </a:solidFill>
                              <a:latin typeface="Cambria Math" panose="02040503050406030204" pitchFamily="18" charset="0"/>
                            </a:rPr>
                            <m:t>𝒊</m:t>
                          </m:r>
                          <m:r>
                            <a:rPr lang="en-NZ" altLang="ja-JP" sz="2200" b="1" i="1" smtClean="0">
                              <a:solidFill>
                                <a:schemeClr val="tx1"/>
                              </a:solidFill>
                              <a:latin typeface="Cambria Math" panose="02040503050406030204" pitchFamily="18" charset="0"/>
                            </a:rPr>
                            <m:t>=</m:t>
                          </m:r>
                          <m:r>
                            <a:rPr lang="en-NZ" altLang="ja-JP" sz="2200" b="1" i="1" smtClean="0">
                              <a:solidFill>
                                <a:schemeClr val="tx1"/>
                              </a:solidFill>
                              <a:latin typeface="Cambria Math" panose="02040503050406030204" pitchFamily="18" charset="0"/>
                            </a:rPr>
                            <m:t>𝟏</m:t>
                          </m:r>
                        </m:sub>
                        <m:sup>
                          <m:r>
                            <a:rPr lang="en-NZ" altLang="ja-JP" sz="2200" b="1" i="1" smtClean="0">
                              <a:solidFill>
                                <a:schemeClr val="tx1"/>
                              </a:solidFill>
                              <a:latin typeface="Cambria Math" panose="02040503050406030204" pitchFamily="18" charset="0"/>
                            </a:rPr>
                            <m:t>𝒂</m:t>
                          </m:r>
                        </m:sup>
                        <m:e>
                          <m:nary>
                            <m:naryPr>
                              <m:chr m:val="∑"/>
                              <m:ctrlPr>
                                <a:rPr lang="en-NZ" altLang="ja-JP" sz="2200" b="1" i="1" smtClean="0">
                                  <a:solidFill>
                                    <a:schemeClr val="tx1"/>
                                  </a:solidFill>
                                  <a:latin typeface="Cambria Math" panose="02040503050406030204" pitchFamily="18" charset="0"/>
                                </a:rPr>
                              </m:ctrlPr>
                            </m:naryPr>
                            <m:sub>
                              <m:r>
                                <m:rPr>
                                  <m:brk m:alnAt="23"/>
                                </m:rPr>
                                <a:rPr lang="en-NZ" altLang="ja-JP" sz="2200" b="1" i="1" smtClean="0">
                                  <a:solidFill>
                                    <a:schemeClr val="tx1"/>
                                  </a:solidFill>
                                  <a:latin typeface="Cambria Math" panose="02040503050406030204" pitchFamily="18" charset="0"/>
                                </a:rPr>
                                <m:t>𝒋</m:t>
                              </m:r>
                              <m:r>
                                <a:rPr lang="en-NZ" altLang="ja-JP" sz="2200" b="1" i="1" smtClean="0">
                                  <a:solidFill>
                                    <a:schemeClr val="tx1"/>
                                  </a:solidFill>
                                  <a:latin typeface="Cambria Math" panose="02040503050406030204" pitchFamily="18" charset="0"/>
                                </a:rPr>
                                <m:t>=</m:t>
                              </m:r>
                              <m:r>
                                <a:rPr lang="en-NZ" altLang="ja-JP" sz="2200" b="1" i="1" smtClean="0">
                                  <a:solidFill>
                                    <a:schemeClr val="tx1"/>
                                  </a:solidFill>
                                  <a:latin typeface="Cambria Math" panose="02040503050406030204" pitchFamily="18" charset="0"/>
                                </a:rPr>
                                <m:t>𝟏</m:t>
                              </m:r>
                            </m:sub>
                            <m:sup>
                              <m:r>
                                <a:rPr lang="en-NZ" altLang="ja-JP" sz="2200" b="1" i="1" smtClean="0">
                                  <a:solidFill>
                                    <a:schemeClr val="tx1"/>
                                  </a:solidFill>
                                  <a:latin typeface="Cambria Math" panose="02040503050406030204" pitchFamily="18" charset="0"/>
                                </a:rPr>
                                <m:t>𝒃</m:t>
                              </m:r>
                            </m:sup>
                            <m:e>
                              <m:nary>
                                <m:naryPr>
                                  <m:chr m:val="∑"/>
                                  <m:ctrlPr>
                                    <a:rPr lang="en-NZ" altLang="ja-JP" sz="2200" b="1" i="1" smtClean="0">
                                      <a:solidFill>
                                        <a:schemeClr val="tx1"/>
                                      </a:solidFill>
                                      <a:latin typeface="Cambria Math" panose="02040503050406030204" pitchFamily="18" charset="0"/>
                                    </a:rPr>
                                  </m:ctrlPr>
                                </m:naryPr>
                                <m:sub>
                                  <m:r>
                                    <m:rPr>
                                      <m:brk m:alnAt="23"/>
                                    </m:rPr>
                                    <a:rPr lang="en-NZ" altLang="ja-JP" sz="2200" b="1" i="1" smtClean="0">
                                      <a:solidFill>
                                        <a:schemeClr val="tx1"/>
                                      </a:solidFill>
                                      <a:latin typeface="Cambria Math" panose="02040503050406030204" pitchFamily="18" charset="0"/>
                                    </a:rPr>
                                    <m:t>𝒌</m:t>
                                  </m:r>
                                  <m:r>
                                    <a:rPr lang="en-NZ" altLang="ja-JP" sz="2200" b="1" i="1" smtClean="0">
                                      <a:solidFill>
                                        <a:schemeClr val="tx1"/>
                                      </a:solidFill>
                                      <a:latin typeface="Cambria Math" panose="02040503050406030204" pitchFamily="18" charset="0"/>
                                    </a:rPr>
                                    <m:t>=</m:t>
                                  </m:r>
                                  <m:r>
                                    <a:rPr lang="en-NZ" altLang="ja-JP" sz="2200" b="1" i="1" smtClean="0">
                                      <a:solidFill>
                                        <a:schemeClr val="tx1"/>
                                      </a:solidFill>
                                      <a:latin typeface="Cambria Math" panose="02040503050406030204" pitchFamily="18" charset="0"/>
                                    </a:rPr>
                                    <m:t>𝟏</m:t>
                                  </m:r>
                                </m:sub>
                                <m:sup>
                                  <m:r>
                                    <a:rPr lang="en-NZ" altLang="ja-JP" sz="2200" b="1" i="1" smtClean="0">
                                      <a:solidFill>
                                        <a:schemeClr val="tx1"/>
                                      </a:solidFill>
                                      <a:latin typeface="Cambria Math" panose="02040503050406030204" pitchFamily="18" charset="0"/>
                                    </a:rPr>
                                    <m:t>𝒏</m:t>
                                  </m:r>
                                </m:sup>
                                <m:e>
                                  <m:sSup>
                                    <m:sSupPr>
                                      <m:ctrlPr>
                                        <a:rPr lang="en-NZ" altLang="ja-JP" sz="2200" b="1" i="1" smtClean="0">
                                          <a:solidFill>
                                            <a:schemeClr val="tx1"/>
                                          </a:solidFill>
                                          <a:latin typeface="Cambria Math" panose="02040503050406030204" pitchFamily="18" charset="0"/>
                                        </a:rPr>
                                      </m:ctrlPr>
                                    </m:sSupPr>
                                    <m:e>
                                      <m:d>
                                        <m:dPr>
                                          <m:ctrlPr>
                                            <a:rPr lang="en-NZ" altLang="ja-JP" sz="2200" b="1" i="1" smtClean="0">
                                              <a:solidFill>
                                                <a:schemeClr val="tx1"/>
                                              </a:solidFill>
                                              <a:latin typeface="Cambria Math" panose="02040503050406030204" pitchFamily="18" charset="0"/>
                                            </a:rPr>
                                          </m:ctrlPr>
                                        </m:dPr>
                                        <m:e>
                                          <m:sSub>
                                            <m:sSubPr>
                                              <m:ctrlPr>
                                                <a:rPr lang="en-NZ" altLang="ja-JP" sz="2200" b="1" i="1">
                                                  <a:solidFill>
                                                    <a:schemeClr val="tx1"/>
                                                  </a:solidFill>
                                                  <a:latin typeface="Cambria Math" panose="02040503050406030204" pitchFamily="18" charset="0"/>
                                                </a:rPr>
                                              </m:ctrlPr>
                                            </m:sSubPr>
                                            <m:e>
                                              <m:r>
                                                <a:rPr lang="en-NZ" altLang="ja-JP" sz="2200" b="1" i="1">
                                                  <a:solidFill>
                                                    <a:schemeClr val="tx1"/>
                                                  </a:solidFill>
                                                  <a:latin typeface="Cambria Math" panose="02040503050406030204" pitchFamily="18" charset="0"/>
                                                </a:rPr>
                                                <m:t>𝒀</m:t>
                                              </m:r>
                                            </m:e>
                                            <m:sub>
                                              <m:r>
                                                <a:rPr lang="en-NZ" altLang="ja-JP" sz="2200" b="1" i="1">
                                                  <a:solidFill>
                                                    <a:schemeClr val="tx1"/>
                                                  </a:solidFill>
                                                  <a:latin typeface="Cambria Math" panose="02040503050406030204" pitchFamily="18" charset="0"/>
                                                </a:rPr>
                                                <m:t>𝒊𝒋𝒌</m:t>
                                              </m:r>
                                            </m:sub>
                                          </m:sSub>
                                          <m:r>
                                            <a:rPr lang="en-NZ" altLang="ja-JP" sz="2200" b="1" i="1">
                                              <a:solidFill>
                                                <a:schemeClr val="tx1"/>
                                              </a:solidFill>
                                              <a:latin typeface="Cambria Math" panose="02040503050406030204" pitchFamily="18" charset="0"/>
                                            </a:rPr>
                                            <m:t>  −  </m:t>
                                          </m:r>
                                          <m:sSub>
                                            <m:sSubPr>
                                              <m:ctrlPr>
                                                <a:rPr lang="en-NZ" altLang="ja-JP" sz="2200" b="1" i="1">
                                                  <a:solidFill>
                                                    <a:schemeClr val="tx1"/>
                                                  </a:solidFill>
                                                  <a:latin typeface="Cambria Math" panose="02040503050406030204" pitchFamily="18" charset="0"/>
                                                </a:rPr>
                                              </m:ctrlPr>
                                            </m:sSubPr>
                                            <m:e>
                                              <m:acc>
                                                <m:accPr>
                                                  <m:chr m:val="̅"/>
                                                  <m:ctrlPr>
                                                    <a:rPr lang="en-NZ" altLang="ja-JP" sz="2200" b="1" i="1">
                                                      <a:solidFill>
                                                        <a:schemeClr val="tx1"/>
                                                      </a:solidFill>
                                                      <a:latin typeface="Cambria Math" panose="02040503050406030204" pitchFamily="18" charset="0"/>
                                                    </a:rPr>
                                                  </m:ctrlPr>
                                                </m:accPr>
                                                <m:e>
                                                  <m:r>
                                                    <a:rPr lang="en-NZ" altLang="ja-JP" sz="2200" b="1" i="1">
                                                      <a:solidFill>
                                                        <a:schemeClr val="tx1"/>
                                                      </a:solidFill>
                                                      <a:latin typeface="Cambria Math" panose="02040503050406030204" pitchFamily="18" charset="0"/>
                                                    </a:rPr>
                                                    <m:t>𝒀</m:t>
                                                  </m:r>
                                                </m:e>
                                              </m:acc>
                                            </m:e>
                                            <m:sub>
                                              <m:r>
                                                <a:rPr lang="en-NZ" altLang="ja-JP" sz="2200" b="1" i="1">
                                                  <a:solidFill>
                                                    <a:schemeClr val="tx1"/>
                                                  </a:solidFill>
                                                  <a:latin typeface="Cambria Math" panose="02040503050406030204" pitchFamily="18" charset="0"/>
                                                  <a:ea typeface="Cambria Math" panose="02040503050406030204" pitchFamily="18" charset="0"/>
                                                </a:rPr>
                                                <m:t>∙∙∙</m:t>
                                              </m:r>
                                            </m:sub>
                                          </m:sSub>
                                        </m:e>
                                      </m:d>
                                    </m:e>
                                    <m:sup>
                                      <m:r>
                                        <a:rPr lang="en-NZ" altLang="ja-JP" sz="2200" b="1" i="1" smtClean="0">
                                          <a:solidFill>
                                            <a:schemeClr val="tx1"/>
                                          </a:solidFill>
                                          <a:latin typeface="Cambria Math" panose="02040503050406030204" pitchFamily="18" charset="0"/>
                                        </a:rPr>
                                        <m:t>𝟐</m:t>
                                      </m:r>
                                    </m:sup>
                                  </m:sSup>
                                </m:e>
                              </m:nary>
                            </m:e>
                          </m:nary>
                        </m:e>
                      </m:nary>
                    </m:oMath>
                  </m:oMathPara>
                </a14:m>
                <a:endParaRPr lang="en-NZ" altLang="ja-JP" sz="2200" dirty="0">
                  <a:solidFill>
                    <a:schemeClr val="tx1"/>
                  </a:solidFill>
                </a:endParaRPr>
              </a:p>
            </p:txBody>
          </p:sp>
        </mc:Choice>
        <mc:Fallback xmlns="">
          <p:sp>
            <p:nvSpPr>
              <p:cNvPr id="14" name="Text Placeholder 5">
                <a:extLst>
                  <a:ext uri="{FF2B5EF4-FFF2-40B4-BE49-F238E27FC236}">
                    <a16:creationId xmlns:a16="http://schemas.microsoft.com/office/drawing/2014/main" id="{385BFC57-A454-EE89-1FC6-139AB0F07351}"/>
                  </a:ext>
                </a:extLst>
              </p:cNvPr>
              <p:cNvSpPr txBox="1">
                <a:spLocks noRot="1" noChangeAspect="1" noMove="1" noResize="1" noEditPoints="1" noAdjustHandles="1" noChangeArrowheads="1" noChangeShapeType="1" noTextEdit="1"/>
              </p:cNvSpPr>
              <p:nvPr/>
            </p:nvSpPr>
            <p:spPr>
              <a:xfrm>
                <a:off x="600501" y="2226463"/>
                <a:ext cx="3493827" cy="1210498"/>
              </a:xfrm>
              <a:prstGeom prst="rect">
                <a:avLst/>
              </a:prstGeom>
              <a:blipFill>
                <a:blip r:embed="rId3"/>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5" name="Text Placeholder 5">
                <a:extLst>
                  <a:ext uri="{FF2B5EF4-FFF2-40B4-BE49-F238E27FC236}">
                    <a16:creationId xmlns:a16="http://schemas.microsoft.com/office/drawing/2014/main" id="{7457E12E-1DDE-B35E-B071-A30E08325B10}"/>
                  </a:ext>
                </a:extLst>
              </p:cNvPr>
              <p:cNvSpPr txBox="1">
                <a:spLocks/>
              </p:cNvSpPr>
              <p:nvPr/>
            </p:nvSpPr>
            <p:spPr>
              <a:xfrm>
                <a:off x="2444432" y="3137264"/>
                <a:ext cx="3624272" cy="109049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left"/>
                    </m:oMathParaPr>
                    <m:oMath xmlns:m="http://schemas.openxmlformats.org/officeDocument/2006/math">
                      <m:r>
                        <a:rPr lang="en-NZ" altLang="ja-JP" sz="2200" b="1" i="1" smtClean="0">
                          <a:solidFill>
                            <a:schemeClr val="tx1"/>
                          </a:solidFill>
                          <a:latin typeface="Cambria Math" panose="02040503050406030204" pitchFamily="18" charset="0"/>
                        </a:rPr>
                        <m:t>=   </m:t>
                      </m:r>
                      <m:r>
                        <a:rPr lang="en-NZ" altLang="ja-JP" sz="2200" b="1" i="1" smtClean="0">
                          <a:solidFill>
                            <a:schemeClr val="tx1"/>
                          </a:solidFill>
                          <a:latin typeface="Cambria Math" panose="02040503050406030204" pitchFamily="18" charset="0"/>
                        </a:rPr>
                        <m:t>𝒃𝒏</m:t>
                      </m:r>
                      <m:r>
                        <a:rPr lang="en-NZ" altLang="ja-JP" sz="2200" b="1" i="1" smtClean="0">
                          <a:solidFill>
                            <a:schemeClr val="tx1"/>
                          </a:solidFill>
                          <a:latin typeface="Cambria Math" panose="02040503050406030204" pitchFamily="18" charset="0"/>
                        </a:rPr>
                        <m:t> </m:t>
                      </m:r>
                      <m:nary>
                        <m:naryPr>
                          <m:chr m:val="∑"/>
                          <m:ctrlPr>
                            <a:rPr lang="en-NZ" altLang="ja-JP" sz="2200" b="1" i="1" smtClean="0">
                              <a:solidFill>
                                <a:schemeClr val="tx1"/>
                              </a:solidFill>
                              <a:latin typeface="Cambria Math" panose="02040503050406030204" pitchFamily="18" charset="0"/>
                            </a:rPr>
                          </m:ctrlPr>
                        </m:naryPr>
                        <m:sub>
                          <m:r>
                            <m:rPr>
                              <m:brk m:alnAt="23"/>
                            </m:rPr>
                            <a:rPr lang="en-NZ" altLang="ja-JP" sz="2200" b="1" i="1" smtClean="0">
                              <a:solidFill>
                                <a:schemeClr val="tx1"/>
                              </a:solidFill>
                              <a:latin typeface="Cambria Math" panose="02040503050406030204" pitchFamily="18" charset="0"/>
                            </a:rPr>
                            <m:t>𝒊</m:t>
                          </m:r>
                          <m:r>
                            <a:rPr lang="en-NZ" altLang="ja-JP" sz="2200" b="1" i="1" smtClean="0">
                              <a:solidFill>
                                <a:schemeClr val="tx1"/>
                              </a:solidFill>
                              <a:latin typeface="Cambria Math" panose="02040503050406030204" pitchFamily="18" charset="0"/>
                            </a:rPr>
                            <m:t>=</m:t>
                          </m:r>
                          <m:r>
                            <a:rPr lang="en-NZ" altLang="ja-JP" sz="2200" b="1" i="1" smtClean="0">
                              <a:solidFill>
                                <a:schemeClr val="tx1"/>
                              </a:solidFill>
                              <a:latin typeface="Cambria Math" panose="02040503050406030204" pitchFamily="18" charset="0"/>
                            </a:rPr>
                            <m:t>𝟏</m:t>
                          </m:r>
                        </m:sub>
                        <m:sup>
                          <m:r>
                            <a:rPr lang="en-NZ" altLang="ja-JP" sz="2200" b="1" i="1" smtClean="0">
                              <a:solidFill>
                                <a:schemeClr val="tx1"/>
                              </a:solidFill>
                              <a:latin typeface="Cambria Math" panose="02040503050406030204" pitchFamily="18" charset="0"/>
                            </a:rPr>
                            <m:t>𝒂</m:t>
                          </m:r>
                        </m:sup>
                        <m:e>
                          <m:sSup>
                            <m:sSupPr>
                              <m:ctrlPr>
                                <a:rPr lang="en-NZ" altLang="ja-JP" sz="2200" b="1" i="1" smtClean="0">
                                  <a:solidFill>
                                    <a:schemeClr val="tx1"/>
                                  </a:solidFill>
                                  <a:latin typeface="Cambria Math" panose="02040503050406030204" pitchFamily="18" charset="0"/>
                                  <a:ea typeface="Cambria Math" panose="02040503050406030204" pitchFamily="18" charset="0"/>
                                </a:rPr>
                              </m:ctrlPr>
                            </m:sSupPr>
                            <m:e>
                              <m:d>
                                <m:dPr>
                                  <m:ctrlPr>
                                    <a:rPr lang="en-NZ" altLang="ja-JP" sz="2200" b="1" i="1">
                                      <a:solidFill>
                                        <a:schemeClr val="tx1"/>
                                      </a:solidFill>
                                      <a:latin typeface="Cambria Math" panose="02040503050406030204" pitchFamily="18" charset="0"/>
                                    </a:rPr>
                                  </m:ctrlPr>
                                </m:dPr>
                                <m:e>
                                  <m:sSub>
                                    <m:sSubPr>
                                      <m:ctrlPr>
                                        <a:rPr lang="en-NZ" altLang="ja-JP" sz="2200" b="1" i="1">
                                          <a:solidFill>
                                            <a:schemeClr val="tx1"/>
                                          </a:solidFill>
                                          <a:latin typeface="Cambria Math" panose="02040503050406030204" pitchFamily="18" charset="0"/>
                                        </a:rPr>
                                      </m:ctrlPr>
                                    </m:sSubPr>
                                    <m:e>
                                      <m:r>
                                        <a:rPr lang="en-NZ" altLang="ja-JP" sz="2200" b="1" i="1">
                                          <a:solidFill>
                                            <a:schemeClr val="tx1"/>
                                          </a:solidFill>
                                          <a:latin typeface="Cambria Math" panose="02040503050406030204" pitchFamily="18" charset="0"/>
                                        </a:rPr>
                                        <m:t> </m:t>
                                      </m:r>
                                      <m:acc>
                                        <m:accPr>
                                          <m:chr m:val="̅"/>
                                          <m:ctrlPr>
                                            <a:rPr lang="en-NZ" altLang="ja-JP" sz="2200" b="1" i="1">
                                              <a:solidFill>
                                                <a:schemeClr val="tx1"/>
                                              </a:solidFill>
                                              <a:latin typeface="Cambria Math" panose="02040503050406030204" pitchFamily="18" charset="0"/>
                                            </a:rPr>
                                          </m:ctrlPr>
                                        </m:accPr>
                                        <m:e>
                                          <m:r>
                                            <a:rPr lang="en-NZ" altLang="ja-JP" sz="2200" b="1" i="1">
                                              <a:solidFill>
                                                <a:schemeClr val="tx1"/>
                                              </a:solidFill>
                                              <a:latin typeface="Cambria Math" panose="02040503050406030204" pitchFamily="18" charset="0"/>
                                            </a:rPr>
                                            <m:t>𝒀</m:t>
                                          </m:r>
                                        </m:e>
                                      </m:acc>
                                    </m:e>
                                    <m:sub>
                                      <m:r>
                                        <a:rPr lang="en-NZ" altLang="ja-JP" sz="2200" b="1" i="1">
                                          <a:solidFill>
                                            <a:schemeClr val="tx1"/>
                                          </a:solidFill>
                                          <a:latin typeface="Cambria Math" panose="02040503050406030204" pitchFamily="18" charset="0"/>
                                        </a:rPr>
                                        <m:t>𝒊</m:t>
                                      </m:r>
                                      <m:r>
                                        <a:rPr lang="en-NZ" altLang="ja-JP" sz="2200" b="1" i="1">
                                          <a:solidFill>
                                            <a:schemeClr val="tx1"/>
                                          </a:solidFill>
                                          <a:latin typeface="Cambria Math" panose="02040503050406030204" pitchFamily="18" charset="0"/>
                                          <a:ea typeface="Cambria Math" panose="02040503050406030204" pitchFamily="18" charset="0"/>
                                        </a:rPr>
                                        <m:t>∙∙</m:t>
                                      </m:r>
                                    </m:sub>
                                  </m:sSub>
                                  <m:r>
                                    <a:rPr lang="en-NZ" altLang="ja-JP" sz="2200" b="1" i="1">
                                      <a:solidFill>
                                        <a:schemeClr val="tx1"/>
                                      </a:solidFill>
                                      <a:latin typeface="Cambria Math" panose="02040503050406030204" pitchFamily="18" charset="0"/>
                                      <a:ea typeface="Cambria Math" panose="02040503050406030204" pitchFamily="18" charset="0"/>
                                    </a:rPr>
                                    <m:t>  − </m:t>
                                  </m:r>
                                  <m:sSub>
                                    <m:sSubPr>
                                      <m:ctrlPr>
                                        <a:rPr lang="en-NZ" altLang="ja-JP" sz="2200" b="1" i="1">
                                          <a:solidFill>
                                            <a:schemeClr val="tx1"/>
                                          </a:solidFill>
                                          <a:latin typeface="Cambria Math" panose="02040503050406030204" pitchFamily="18" charset="0"/>
                                        </a:rPr>
                                      </m:ctrlPr>
                                    </m:sSubPr>
                                    <m:e>
                                      <m:acc>
                                        <m:accPr>
                                          <m:chr m:val="̅"/>
                                          <m:ctrlPr>
                                            <a:rPr lang="en-NZ" altLang="ja-JP" sz="2200" b="1" i="1">
                                              <a:solidFill>
                                                <a:schemeClr val="tx1"/>
                                              </a:solidFill>
                                              <a:latin typeface="Cambria Math" panose="02040503050406030204" pitchFamily="18" charset="0"/>
                                            </a:rPr>
                                          </m:ctrlPr>
                                        </m:accPr>
                                        <m:e>
                                          <m:r>
                                            <a:rPr lang="en-NZ" altLang="ja-JP" sz="2200" b="1" i="1">
                                              <a:solidFill>
                                                <a:schemeClr val="tx1"/>
                                              </a:solidFill>
                                              <a:latin typeface="Cambria Math" panose="02040503050406030204" pitchFamily="18" charset="0"/>
                                            </a:rPr>
                                            <m:t>𝒀</m:t>
                                          </m:r>
                                        </m:e>
                                      </m:acc>
                                    </m:e>
                                    <m:sub>
                                      <m:r>
                                        <a:rPr lang="en-NZ" altLang="ja-JP" sz="2200" b="1" i="1">
                                          <a:solidFill>
                                            <a:schemeClr val="tx1"/>
                                          </a:solidFill>
                                          <a:latin typeface="Cambria Math" panose="02040503050406030204" pitchFamily="18" charset="0"/>
                                          <a:ea typeface="Cambria Math" panose="02040503050406030204" pitchFamily="18" charset="0"/>
                                        </a:rPr>
                                        <m:t>∙∙∙</m:t>
                                      </m:r>
                                    </m:sub>
                                  </m:sSub>
                                  <m:r>
                                    <a:rPr lang="en-NZ" altLang="ja-JP" sz="2200" b="1" i="1">
                                      <a:solidFill>
                                        <a:schemeClr val="tx1"/>
                                      </a:solidFill>
                                      <a:latin typeface="Cambria Math" panose="02040503050406030204" pitchFamily="18" charset="0"/>
                                      <a:ea typeface="Cambria Math" panose="02040503050406030204" pitchFamily="18" charset="0"/>
                                    </a:rPr>
                                    <m:t> </m:t>
                                  </m:r>
                                </m:e>
                              </m:d>
                            </m:e>
                            <m:sup>
                              <m:r>
                                <a:rPr lang="en-NZ" altLang="ja-JP" sz="2200" b="1" i="1" smtClean="0">
                                  <a:solidFill>
                                    <a:schemeClr val="tx1"/>
                                  </a:solidFill>
                                  <a:latin typeface="Cambria Math" panose="02040503050406030204" pitchFamily="18" charset="0"/>
                                  <a:ea typeface="Cambria Math" panose="02040503050406030204" pitchFamily="18" charset="0"/>
                                </a:rPr>
                                <m:t>𝟐</m:t>
                              </m:r>
                            </m:sup>
                          </m:sSup>
                        </m:e>
                      </m:nary>
                    </m:oMath>
                  </m:oMathPara>
                </a14:m>
                <a:endParaRPr lang="en-NZ" altLang="ja-JP" sz="2200" dirty="0">
                  <a:solidFill>
                    <a:schemeClr val="tx1"/>
                  </a:solidFill>
                </a:endParaRPr>
              </a:p>
            </p:txBody>
          </p:sp>
        </mc:Choice>
        <mc:Fallback xmlns="">
          <p:sp>
            <p:nvSpPr>
              <p:cNvPr id="15" name="Text Placeholder 5">
                <a:extLst>
                  <a:ext uri="{FF2B5EF4-FFF2-40B4-BE49-F238E27FC236}">
                    <a16:creationId xmlns:a16="http://schemas.microsoft.com/office/drawing/2014/main" id="{7457E12E-1DDE-B35E-B071-A30E08325B10}"/>
                  </a:ext>
                </a:extLst>
              </p:cNvPr>
              <p:cNvSpPr txBox="1">
                <a:spLocks noRot="1" noChangeAspect="1" noMove="1" noResize="1" noEditPoints="1" noAdjustHandles="1" noChangeArrowheads="1" noChangeShapeType="1" noTextEdit="1"/>
              </p:cNvSpPr>
              <p:nvPr/>
            </p:nvSpPr>
            <p:spPr>
              <a:xfrm>
                <a:off x="2444432" y="3137264"/>
                <a:ext cx="3624272" cy="1090498"/>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9193D673-4FF4-D3A3-0497-F34A236BD247}"/>
                  </a:ext>
                </a:extLst>
              </p:cNvPr>
              <p:cNvSpPr txBox="1">
                <a:spLocks/>
              </p:cNvSpPr>
              <p:nvPr/>
            </p:nvSpPr>
            <p:spPr>
              <a:xfrm>
                <a:off x="2444432" y="4174712"/>
                <a:ext cx="3624272" cy="109049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left"/>
                    </m:oMathParaPr>
                    <m:oMath xmlns:m="http://schemas.openxmlformats.org/officeDocument/2006/math">
                      <m:r>
                        <a:rPr lang="en-NZ" altLang="ja-JP" sz="2200" b="1" i="1" smtClean="0">
                          <a:solidFill>
                            <a:schemeClr val="tx1"/>
                          </a:solidFill>
                          <a:latin typeface="Cambria Math" panose="02040503050406030204" pitchFamily="18" charset="0"/>
                        </a:rPr>
                        <m:t>+    </m:t>
                      </m:r>
                      <m:r>
                        <a:rPr lang="en-NZ" altLang="ja-JP" sz="2200" b="1" i="1" smtClean="0">
                          <a:solidFill>
                            <a:schemeClr val="tx1"/>
                          </a:solidFill>
                          <a:latin typeface="Cambria Math" panose="02040503050406030204" pitchFamily="18" charset="0"/>
                        </a:rPr>
                        <m:t>𝒂𝒏</m:t>
                      </m:r>
                      <m:r>
                        <a:rPr lang="en-NZ" altLang="ja-JP" sz="2200" b="1" i="1" smtClean="0">
                          <a:solidFill>
                            <a:schemeClr val="tx1"/>
                          </a:solidFill>
                          <a:latin typeface="Cambria Math" panose="02040503050406030204" pitchFamily="18" charset="0"/>
                        </a:rPr>
                        <m:t> </m:t>
                      </m:r>
                      <m:nary>
                        <m:naryPr>
                          <m:chr m:val="∑"/>
                          <m:ctrlPr>
                            <a:rPr lang="en-NZ" altLang="ja-JP" sz="2200" b="1" i="1" smtClean="0">
                              <a:solidFill>
                                <a:schemeClr val="tx1"/>
                              </a:solidFill>
                              <a:latin typeface="Cambria Math" panose="02040503050406030204" pitchFamily="18" charset="0"/>
                            </a:rPr>
                          </m:ctrlPr>
                        </m:naryPr>
                        <m:sub>
                          <m:r>
                            <m:rPr>
                              <m:brk m:alnAt="23"/>
                            </m:rPr>
                            <a:rPr lang="en-NZ" altLang="ja-JP" sz="2200" b="1" i="1" smtClean="0">
                              <a:solidFill>
                                <a:schemeClr val="tx1"/>
                              </a:solidFill>
                              <a:latin typeface="Cambria Math" panose="02040503050406030204" pitchFamily="18" charset="0"/>
                            </a:rPr>
                            <m:t>𝒋</m:t>
                          </m:r>
                          <m:r>
                            <a:rPr lang="en-NZ" altLang="ja-JP" sz="2200" b="1" i="1" smtClean="0">
                              <a:solidFill>
                                <a:schemeClr val="tx1"/>
                              </a:solidFill>
                              <a:latin typeface="Cambria Math" panose="02040503050406030204" pitchFamily="18" charset="0"/>
                            </a:rPr>
                            <m:t>=</m:t>
                          </m:r>
                          <m:r>
                            <a:rPr lang="en-NZ" altLang="ja-JP" sz="2200" b="1" i="1" smtClean="0">
                              <a:solidFill>
                                <a:schemeClr val="tx1"/>
                              </a:solidFill>
                              <a:latin typeface="Cambria Math" panose="02040503050406030204" pitchFamily="18" charset="0"/>
                            </a:rPr>
                            <m:t>𝟏</m:t>
                          </m:r>
                        </m:sub>
                        <m:sup>
                          <m:r>
                            <a:rPr lang="en-NZ" altLang="ja-JP" sz="2200" b="1" i="1" smtClean="0">
                              <a:solidFill>
                                <a:schemeClr val="tx1"/>
                              </a:solidFill>
                              <a:latin typeface="Cambria Math" panose="02040503050406030204" pitchFamily="18" charset="0"/>
                            </a:rPr>
                            <m:t>𝒃</m:t>
                          </m:r>
                        </m:sup>
                        <m:e>
                          <m:sSup>
                            <m:sSupPr>
                              <m:ctrlPr>
                                <a:rPr lang="en-NZ" altLang="ja-JP" sz="2200" b="1" i="1" smtClean="0">
                                  <a:solidFill>
                                    <a:schemeClr val="tx1"/>
                                  </a:solidFill>
                                  <a:latin typeface="Cambria Math" panose="02040503050406030204" pitchFamily="18" charset="0"/>
                                  <a:ea typeface="Cambria Math" panose="02040503050406030204" pitchFamily="18" charset="0"/>
                                </a:rPr>
                              </m:ctrlPr>
                            </m:sSupPr>
                            <m:e>
                              <m:d>
                                <m:dPr>
                                  <m:ctrlPr>
                                    <a:rPr lang="en-NZ" altLang="ja-JP" sz="2200" b="1" i="1">
                                      <a:solidFill>
                                        <a:schemeClr val="tx1"/>
                                      </a:solidFill>
                                      <a:latin typeface="Cambria Math" panose="02040503050406030204" pitchFamily="18" charset="0"/>
                                    </a:rPr>
                                  </m:ctrlPr>
                                </m:dPr>
                                <m:e>
                                  <m:sSub>
                                    <m:sSubPr>
                                      <m:ctrlPr>
                                        <a:rPr lang="en-NZ" altLang="ja-JP" sz="2200" b="1" i="1">
                                          <a:solidFill>
                                            <a:schemeClr val="tx1"/>
                                          </a:solidFill>
                                          <a:latin typeface="Cambria Math" panose="02040503050406030204" pitchFamily="18" charset="0"/>
                                        </a:rPr>
                                      </m:ctrlPr>
                                    </m:sSubPr>
                                    <m:e>
                                      <m:r>
                                        <a:rPr lang="en-NZ" altLang="ja-JP" sz="2200" b="1" i="1">
                                          <a:solidFill>
                                            <a:schemeClr val="tx1"/>
                                          </a:solidFill>
                                          <a:latin typeface="Cambria Math" panose="02040503050406030204" pitchFamily="18" charset="0"/>
                                        </a:rPr>
                                        <m:t> </m:t>
                                      </m:r>
                                      <m:acc>
                                        <m:accPr>
                                          <m:chr m:val="̅"/>
                                          <m:ctrlPr>
                                            <a:rPr lang="en-NZ" altLang="ja-JP" sz="2200" b="1" i="1">
                                              <a:solidFill>
                                                <a:schemeClr val="tx1"/>
                                              </a:solidFill>
                                              <a:latin typeface="Cambria Math" panose="02040503050406030204" pitchFamily="18" charset="0"/>
                                            </a:rPr>
                                          </m:ctrlPr>
                                        </m:accPr>
                                        <m:e>
                                          <m:r>
                                            <a:rPr lang="en-NZ" altLang="ja-JP" sz="2200" b="1" i="1">
                                              <a:solidFill>
                                                <a:schemeClr val="tx1"/>
                                              </a:solidFill>
                                              <a:latin typeface="Cambria Math" panose="02040503050406030204" pitchFamily="18" charset="0"/>
                                            </a:rPr>
                                            <m:t>𝒀</m:t>
                                          </m:r>
                                        </m:e>
                                      </m:acc>
                                    </m:e>
                                    <m:sub>
                                      <m:r>
                                        <a:rPr lang="en-NZ" altLang="ja-JP" sz="2200" b="1" i="1">
                                          <a:solidFill>
                                            <a:schemeClr val="tx1"/>
                                          </a:solidFill>
                                          <a:latin typeface="Cambria Math" panose="02040503050406030204" pitchFamily="18" charset="0"/>
                                          <a:ea typeface="Cambria Math" panose="02040503050406030204" pitchFamily="18" charset="0"/>
                                        </a:rPr>
                                        <m:t>∙</m:t>
                                      </m:r>
                                      <m:r>
                                        <a:rPr lang="en-NZ" altLang="ja-JP" sz="2200" b="1" i="1" smtClean="0">
                                          <a:solidFill>
                                            <a:schemeClr val="tx1"/>
                                          </a:solidFill>
                                          <a:latin typeface="Cambria Math" panose="02040503050406030204" pitchFamily="18" charset="0"/>
                                          <a:ea typeface="Cambria Math" panose="02040503050406030204" pitchFamily="18" charset="0"/>
                                        </a:rPr>
                                        <m:t>𝒋</m:t>
                                      </m:r>
                                      <m:r>
                                        <a:rPr lang="en-NZ" altLang="ja-JP" sz="2200" b="1" i="1">
                                          <a:solidFill>
                                            <a:schemeClr val="tx1"/>
                                          </a:solidFill>
                                          <a:latin typeface="Cambria Math" panose="02040503050406030204" pitchFamily="18" charset="0"/>
                                          <a:ea typeface="Cambria Math" panose="02040503050406030204" pitchFamily="18" charset="0"/>
                                        </a:rPr>
                                        <m:t>∙</m:t>
                                      </m:r>
                                    </m:sub>
                                  </m:sSub>
                                  <m:r>
                                    <a:rPr lang="en-NZ" altLang="ja-JP" sz="2200" b="1" i="1">
                                      <a:solidFill>
                                        <a:schemeClr val="tx1"/>
                                      </a:solidFill>
                                      <a:latin typeface="Cambria Math" panose="02040503050406030204" pitchFamily="18" charset="0"/>
                                      <a:ea typeface="Cambria Math" panose="02040503050406030204" pitchFamily="18" charset="0"/>
                                    </a:rPr>
                                    <m:t>  − </m:t>
                                  </m:r>
                                  <m:sSub>
                                    <m:sSubPr>
                                      <m:ctrlPr>
                                        <a:rPr lang="en-NZ" altLang="ja-JP" sz="2200" b="1" i="1">
                                          <a:solidFill>
                                            <a:schemeClr val="tx1"/>
                                          </a:solidFill>
                                          <a:latin typeface="Cambria Math" panose="02040503050406030204" pitchFamily="18" charset="0"/>
                                        </a:rPr>
                                      </m:ctrlPr>
                                    </m:sSubPr>
                                    <m:e>
                                      <m:acc>
                                        <m:accPr>
                                          <m:chr m:val="̅"/>
                                          <m:ctrlPr>
                                            <a:rPr lang="en-NZ" altLang="ja-JP" sz="2200" b="1" i="1">
                                              <a:solidFill>
                                                <a:schemeClr val="tx1"/>
                                              </a:solidFill>
                                              <a:latin typeface="Cambria Math" panose="02040503050406030204" pitchFamily="18" charset="0"/>
                                            </a:rPr>
                                          </m:ctrlPr>
                                        </m:accPr>
                                        <m:e>
                                          <m:r>
                                            <a:rPr lang="en-NZ" altLang="ja-JP" sz="2200" b="1" i="1">
                                              <a:solidFill>
                                                <a:schemeClr val="tx1"/>
                                              </a:solidFill>
                                              <a:latin typeface="Cambria Math" panose="02040503050406030204" pitchFamily="18" charset="0"/>
                                            </a:rPr>
                                            <m:t>𝒀</m:t>
                                          </m:r>
                                        </m:e>
                                      </m:acc>
                                    </m:e>
                                    <m:sub>
                                      <m:r>
                                        <a:rPr lang="en-NZ" altLang="ja-JP" sz="2200" b="1" i="1">
                                          <a:solidFill>
                                            <a:schemeClr val="tx1"/>
                                          </a:solidFill>
                                          <a:latin typeface="Cambria Math" panose="02040503050406030204" pitchFamily="18" charset="0"/>
                                          <a:ea typeface="Cambria Math" panose="02040503050406030204" pitchFamily="18" charset="0"/>
                                        </a:rPr>
                                        <m:t>∙∙∙</m:t>
                                      </m:r>
                                    </m:sub>
                                  </m:sSub>
                                  <m:r>
                                    <a:rPr lang="en-NZ" altLang="ja-JP" sz="2200" b="1" i="1">
                                      <a:solidFill>
                                        <a:schemeClr val="tx1"/>
                                      </a:solidFill>
                                      <a:latin typeface="Cambria Math" panose="02040503050406030204" pitchFamily="18" charset="0"/>
                                      <a:ea typeface="Cambria Math" panose="02040503050406030204" pitchFamily="18" charset="0"/>
                                    </a:rPr>
                                    <m:t> </m:t>
                                  </m:r>
                                </m:e>
                              </m:d>
                            </m:e>
                            <m:sup>
                              <m:r>
                                <a:rPr lang="en-NZ" altLang="ja-JP" sz="2200" b="1" i="1" smtClean="0">
                                  <a:solidFill>
                                    <a:schemeClr val="tx1"/>
                                  </a:solidFill>
                                  <a:latin typeface="Cambria Math" panose="02040503050406030204" pitchFamily="18" charset="0"/>
                                  <a:ea typeface="Cambria Math" panose="02040503050406030204" pitchFamily="18" charset="0"/>
                                </a:rPr>
                                <m:t>𝟐</m:t>
                              </m:r>
                            </m:sup>
                          </m:sSup>
                        </m:e>
                      </m:nary>
                    </m:oMath>
                  </m:oMathPara>
                </a14:m>
                <a:endParaRPr lang="en-NZ" altLang="ja-JP" sz="2200" dirty="0">
                  <a:solidFill>
                    <a:schemeClr val="tx1"/>
                  </a:solidFill>
                </a:endParaRPr>
              </a:p>
            </p:txBody>
          </p:sp>
        </mc:Choice>
        <mc:Fallback xmlns="">
          <p:sp>
            <p:nvSpPr>
              <p:cNvPr id="16" name="Text Placeholder 5">
                <a:extLst>
                  <a:ext uri="{FF2B5EF4-FFF2-40B4-BE49-F238E27FC236}">
                    <a16:creationId xmlns:a16="http://schemas.microsoft.com/office/drawing/2014/main" id="{9193D673-4FF4-D3A3-0497-F34A236BD247}"/>
                  </a:ext>
                </a:extLst>
              </p:cNvPr>
              <p:cNvSpPr txBox="1">
                <a:spLocks noRot="1" noChangeAspect="1" noMove="1" noResize="1" noEditPoints="1" noAdjustHandles="1" noChangeArrowheads="1" noChangeShapeType="1" noTextEdit="1"/>
              </p:cNvSpPr>
              <p:nvPr/>
            </p:nvSpPr>
            <p:spPr>
              <a:xfrm>
                <a:off x="2444432" y="4174712"/>
                <a:ext cx="3624272" cy="1090498"/>
              </a:xfrm>
              <a:prstGeom prst="rect">
                <a:avLst/>
              </a:prstGeom>
              <a:blipFill>
                <a:blip r:embed="rId5"/>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B263A0D2-5DCE-9CB1-6BB8-E6914ECB5A45}"/>
                  </a:ext>
                </a:extLst>
              </p:cNvPr>
              <p:cNvSpPr txBox="1">
                <a:spLocks/>
              </p:cNvSpPr>
              <p:nvPr/>
            </p:nvSpPr>
            <p:spPr>
              <a:xfrm>
                <a:off x="2444432" y="5259723"/>
                <a:ext cx="5061836" cy="121049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left"/>
                    </m:oMathParaPr>
                    <m:oMath xmlns:m="http://schemas.openxmlformats.org/officeDocument/2006/math">
                      <m:r>
                        <a:rPr lang="en-NZ" altLang="ja-JP" sz="2200" b="1" i="1" smtClean="0">
                          <a:solidFill>
                            <a:schemeClr val="tx1"/>
                          </a:solidFill>
                          <a:latin typeface="Cambria Math" panose="02040503050406030204" pitchFamily="18" charset="0"/>
                        </a:rPr>
                        <m:t>+  </m:t>
                      </m:r>
                      <m:nary>
                        <m:naryPr>
                          <m:chr m:val="∑"/>
                          <m:ctrlPr>
                            <a:rPr lang="en-NZ" altLang="ja-JP" sz="2200" b="1" i="1" smtClean="0">
                              <a:solidFill>
                                <a:schemeClr val="tx1"/>
                              </a:solidFill>
                              <a:latin typeface="Cambria Math" panose="02040503050406030204" pitchFamily="18" charset="0"/>
                            </a:rPr>
                          </m:ctrlPr>
                        </m:naryPr>
                        <m:sub>
                          <m:r>
                            <m:rPr>
                              <m:brk m:alnAt="23"/>
                            </m:rPr>
                            <a:rPr lang="en-NZ" altLang="ja-JP" sz="2200" b="1" i="1" smtClean="0">
                              <a:solidFill>
                                <a:schemeClr val="tx1"/>
                              </a:solidFill>
                              <a:latin typeface="Cambria Math" panose="02040503050406030204" pitchFamily="18" charset="0"/>
                            </a:rPr>
                            <m:t>𝒊</m:t>
                          </m:r>
                          <m:r>
                            <a:rPr lang="en-NZ" altLang="ja-JP" sz="2200" b="1" i="1" smtClean="0">
                              <a:solidFill>
                                <a:schemeClr val="tx1"/>
                              </a:solidFill>
                              <a:latin typeface="Cambria Math" panose="02040503050406030204" pitchFamily="18" charset="0"/>
                            </a:rPr>
                            <m:t>=</m:t>
                          </m:r>
                          <m:r>
                            <a:rPr lang="en-NZ" altLang="ja-JP" sz="2200" b="1" i="1" smtClean="0">
                              <a:solidFill>
                                <a:schemeClr val="tx1"/>
                              </a:solidFill>
                              <a:latin typeface="Cambria Math" panose="02040503050406030204" pitchFamily="18" charset="0"/>
                            </a:rPr>
                            <m:t>𝟏</m:t>
                          </m:r>
                        </m:sub>
                        <m:sup>
                          <m:r>
                            <a:rPr lang="en-NZ" altLang="ja-JP" sz="2200" b="1" i="1" smtClean="0">
                              <a:solidFill>
                                <a:schemeClr val="tx1"/>
                              </a:solidFill>
                              <a:latin typeface="Cambria Math" panose="02040503050406030204" pitchFamily="18" charset="0"/>
                            </a:rPr>
                            <m:t>𝒂</m:t>
                          </m:r>
                        </m:sup>
                        <m:e>
                          <m:nary>
                            <m:naryPr>
                              <m:chr m:val="∑"/>
                              <m:ctrlPr>
                                <a:rPr lang="en-NZ" altLang="ja-JP" sz="2200" b="1" i="1" smtClean="0">
                                  <a:solidFill>
                                    <a:schemeClr val="tx1"/>
                                  </a:solidFill>
                                  <a:latin typeface="Cambria Math" panose="02040503050406030204" pitchFamily="18" charset="0"/>
                                </a:rPr>
                              </m:ctrlPr>
                            </m:naryPr>
                            <m:sub>
                              <m:r>
                                <m:rPr>
                                  <m:brk m:alnAt="23"/>
                                </m:rPr>
                                <a:rPr lang="en-NZ" altLang="ja-JP" sz="2200" b="1" i="1" smtClean="0">
                                  <a:solidFill>
                                    <a:schemeClr val="tx1"/>
                                  </a:solidFill>
                                  <a:latin typeface="Cambria Math" panose="02040503050406030204" pitchFamily="18" charset="0"/>
                                </a:rPr>
                                <m:t>𝒋</m:t>
                              </m:r>
                              <m:r>
                                <a:rPr lang="en-NZ" altLang="ja-JP" sz="2200" b="1" i="1" smtClean="0">
                                  <a:solidFill>
                                    <a:schemeClr val="tx1"/>
                                  </a:solidFill>
                                  <a:latin typeface="Cambria Math" panose="02040503050406030204" pitchFamily="18" charset="0"/>
                                </a:rPr>
                                <m:t>=</m:t>
                              </m:r>
                              <m:r>
                                <a:rPr lang="en-NZ" altLang="ja-JP" sz="2200" b="1" i="1" smtClean="0">
                                  <a:solidFill>
                                    <a:schemeClr val="tx1"/>
                                  </a:solidFill>
                                  <a:latin typeface="Cambria Math" panose="02040503050406030204" pitchFamily="18" charset="0"/>
                                </a:rPr>
                                <m:t>𝟏</m:t>
                              </m:r>
                            </m:sub>
                            <m:sup>
                              <m:r>
                                <a:rPr lang="en-NZ" altLang="ja-JP" sz="2200" b="1" i="1" smtClean="0">
                                  <a:solidFill>
                                    <a:schemeClr val="tx1"/>
                                  </a:solidFill>
                                  <a:latin typeface="Cambria Math" panose="02040503050406030204" pitchFamily="18" charset="0"/>
                                </a:rPr>
                                <m:t>𝒃</m:t>
                              </m:r>
                            </m:sup>
                            <m:e>
                              <m:nary>
                                <m:naryPr>
                                  <m:chr m:val="∑"/>
                                  <m:ctrlPr>
                                    <a:rPr lang="en-NZ" altLang="ja-JP" sz="2200" b="1" i="1" smtClean="0">
                                      <a:solidFill>
                                        <a:schemeClr val="tx1"/>
                                      </a:solidFill>
                                      <a:latin typeface="Cambria Math" panose="02040503050406030204" pitchFamily="18" charset="0"/>
                                    </a:rPr>
                                  </m:ctrlPr>
                                </m:naryPr>
                                <m:sub>
                                  <m:r>
                                    <m:rPr>
                                      <m:brk m:alnAt="23"/>
                                    </m:rPr>
                                    <a:rPr lang="en-NZ" altLang="ja-JP" sz="2200" b="1" i="1" smtClean="0">
                                      <a:solidFill>
                                        <a:schemeClr val="tx1"/>
                                      </a:solidFill>
                                      <a:latin typeface="Cambria Math" panose="02040503050406030204" pitchFamily="18" charset="0"/>
                                    </a:rPr>
                                    <m:t>𝒌</m:t>
                                  </m:r>
                                  <m:r>
                                    <a:rPr lang="en-NZ" altLang="ja-JP" sz="2200" b="1" i="1" smtClean="0">
                                      <a:solidFill>
                                        <a:schemeClr val="tx1"/>
                                      </a:solidFill>
                                      <a:latin typeface="Cambria Math" panose="02040503050406030204" pitchFamily="18" charset="0"/>
                                    </a:rPr>
                                    <m:t>=</m:t>
                                  </m:r>
                                  <m:r>
                                    <a:rPr lang="en-NZ" altLang="ja-JP" sz="2200" b="1" i="1" smtClean="0">
                                      <a:solidFill>
                                        <a:schemeClr val="tx1"/>
                                      </a:solidFill>
                                      <a:latin typeface="Cambria Math" panose="02040503050406030204" pitchFamily="18" charset="0"/>
                                    </a:rPr>
                                    <m:t>𝟏</m:t>
                                  </m:r>
                                </m:sub>
                                <m:sup>
                                  <m:r>
                                    <a:rPr lang="en-NZ" altLang="ja-JP" sz="2200" b="1" i="1" smtClean="0">
                                      <a:solidFill>
                                        <a:schemeClr val="tx1"/>
                                      </a:solidFill>
                                      <a:latin typeface="Cambria Math" panose="02040503050406030204" pitchFamily="18" charset="0"/>
                                    </a:rPr>
                                    <m:t>𝒏</m:t>
                                  </m:r>
                                </m:sup>
                                <m:e>
                                  <m:sSup>
                                    <m:sSupPr>
                                      <m:ctrlPr>
                                        <a:rPr lang="en-NZ" altLang="ja-JP" sz="2200" b="1" i="1" smtClean="0">
                                          <a:solidFill>
                                            <a:schemeClr val="tx1"/>
                                          </a:solidFill>
                                          <a:latin typeface="Cambria Math" panose="02040503050406030204" pitchFamily="18" charset="0"/>
                                        </a:rPr>
                                      </m:ctrlPr>
                                    </m:sSupPr>
                                    <m:e>
                                      <m:d>
                                        <m:dPr>
                                          <m:ctrlPr>
                                            <a:rPr lang="en-NZ" altLang="ja-JP" sz="2200" b="1" i="1">
                                              <a:solidFill>
                                                <a:schemeClr val="tx1"/>
                                              </a:solidFill>
                                              <a:latin typeface="Cambria Math" panose="02040503050406030204" pitchFamily="18" charset="0"/>
                                            </a:rPr>
                                          </m:ctrlPr>
                                        </m:dPr>
                                        <m:e>
                                          <m:sSub>
                                            <m:sSubPr>
                                              <m:ctrlPr>
                                                <a:rPr lang="en-NZ" altLang="ja-JP" sz="2200" b="1" i="1">
                                                  <a:solidFill>
                                                    <a:schemeClr val="tx1"/>
                                                  </a:solidFill>
                                                  <a:latin typeface="Cambria Math" panose="02040503050406030204" pitchFamily="18" charset="0"/>
                                                </a:rPr>
                                              </m:ctrlPr>
                                            </m:sSubPr>
                                            <m:e>
                                              <m:r>
                                                <a:rPr lang="en-NZ" altLang="ja-JP" sz="2200" b="1" i="1">
                                                  <a:solidFill>
                                                    <a:schemeClr val="tx1"/>
                                                  </a:solidFill>
                                                  <a:latin typeface="Cambria Math" panose="02040503050406030204" pitchFamily="18" charset="0"/>
                                                </a:rPr>
                                                <m:t>𝒀</m:t>
                                              </m:r>
                                            </m:e>
                                            <m:sub>
                                              <m:r>
                                                <a:rPr lang="en-NZ" altLang="ja-JP" sz="2200" b="1" i="1">
                                                  <a:solidFill>
                                                    <a:schemeClr val="tx1"/>
                                                  </a:solidFill>
                                                  <a:latin typeface="Cambria Math" panose="02040503050406030204" pitchFamily="18" charset="0"/>
                                                </a:rPr>
                                                <m:t>𝒊𝒋𝒌</m:t>
                                              </m:r>
                                            </m:sub>
                                          </m:sSub>
                                          <m:r>
                                            <a:rPr lang="en-NZ" altLang="ja-JP" sz="2200" b="1" i="1">
                                              <a:solidFill>
                                                <a:schemeClr val="tx1"/>
                                              </a:solidFill>
                                              <a:latin typeface="Cambria Math" panose="02040503050406030204" pitchFamily="18" charset="0"/>
                                            </a:rPr>
                                            <m:t> −</m:t>
                                          </m:r>
                                          <m:sSub>
                                            <m:sSubPr>
                                              <m:ctrlPr>
                                                <a:rPr lang="en-NZ" altLang="ja-JP" sz="2200" b="1" i="1">
                                                  <a:solidFill>
                                                    <a:schemeClr val="tx1"/>
                                                  </a:solidFill>
                                                  <a:latin typeface="Cambria Math" panose="02040503050406030204" pitchFamily="18" charset="0"/>
                                                </a:rPr>
                                              </m:ctrlPr>
                                            </m:sSubPr>
                                            <m:e>
                                              <m:r>
                                                <a:rPr lang="en-NZ" altLang="ja-JP" sz="2200" b="1" i="1">
                                                  <a:solidFill>
                                                    <a:schemeClr val="tx1"/>
                                                  </a:solidFill>
                                                  <a:latin typeface="Cambria Math" panose="02040503050406030204" pitchFamily="18" charset="0"/>
                                                </a:rPr>
                                                <m:t> </m:t>
                                              </m:r>
                                              <m:acc>
                                                <m:accPr>
                                                  <m:chr m:val="̅"/>
                                                  <m:ctrlPr>
                                                    <a:rPr lang="en-NZ" altLang="ja-JP" sz="2200" b="1" i="1">
                                                      <a:solidFill>
                                                        <a:schemeClr val="tx1"/>
                                                      </a:solidFill>
                                                      <a:latin typeface="Cambria Math" panose="02040503050406030204" pitchFamily="18" charset="0"/>
                                                    </a:rPr>
                                                  </m:ctrlPr>
                                                </m:accPr>
                                                <m:e>
                                                  <m:r>
                                                    <a:rPr lang="en-NZ" altLang="ja-JP" sz="2200" b="1" i="1">
                                                      <a:solidFill>
                                                        <a:schemeClr val="tx1"/>
                                                      </a:solidFill>
                                                      <a:latin typeface="Cambria Math" panose="02040503050406030204" pitchFamily="18" charset="0"/>
                                                    </a:rPr>
                                                    <m:t>𝒀</m:t>
                                                  </m:r>
                                                </m:e>
                                              </m:acc>
                                            </m:e>
                                            <m:sub>
                                              <m:r>
                                                <a:rPr lang="en-NZ" altLang="ja-JP" sz="2200" b="1" i="1">
                                                  <a:solidFill>
                                                    <a:schemeClr val="tx1"/>
                                                  </a:solidFill>
                                                  <a:latin typeface="Cambria Math" panose="02040503050406030204" pitchFamily="18" charset="0"/>
                                                </a:rPr>
                                                <m:t>𝒊</m:t>
                                              </m:r>
                                              <m:r>
                                                <a:rPr lang="en-NZ" altLang="ja-JP" sz="2200" b="1" i="1">
                                                  <a:solidFill>
                                                    <a:schemeClr val="tx1"/>
                                                  </a:solidFill>
                                                  <a:latin typeface="Cambria Math" panose="02040503050406030204" pitchFamily="18" charset="0"/>
                                                  <a:ea typeface="Cambria Math" panose="02040503050406030204" pitchFamily="18" charset="0"/>
                                                </a:rPr>
                                                <m:t>∙∙</m:t>
                                              </m:r>
                                            </m:sub>
                                          </m:sSub>
                                          <m:r>
                                            <a:rPr lang="en-NZ" altLang="ja-JP" sz="2200" b="1" i="1">
                                              <a:solidFill>
                                                <a:schemeClr val="tx1"/>
                                              </a:solidFill>
                                              <a:latin typeface="Cambria Math" panose="02040503050406030204" pitchFamily="18" charset="0"/>
                                            </a:rPr>
                                            <m:t>−</m:t>
                                          </m:r>
                                          <m:sSub>
                                            <m:sSubPr>
                                              <m:ctrlPr>
                                                <a:rPr lang="en-NZ" altLang="ja-JP" sz="2200" b="1" i="1">
                                                  <a:solidFill>
                                                    <a:schemeClr val="tx1"/>
                                                  </a:solidFill>
                                                  <a:latin typeface="Cambria Math" panose="02040503050406030204" pitchFamily="18" charset="0"/>
                                                </a:rPr>
                                              </m:ctrlPr>
                                            </m:sSubPr>
                                            <m:e>
                                              <m:r>
                                                <a:rPr lang="en-NZ" altLang="ja-JP" sz="2200" b="1" i="1">
                                                  <a:solidFill>
                                                    <a:schemeClr val="tx1"/>
                                                  </a:solidFill>
                                                  <a:latin typeface="Cambria Math" panose="02040503050406030204" pitchFamily="18" charset="0"/>
                                                </a:rPr>
                                                <m:t> </m:t>
                                              </m:r>
                                              <m:acc>
                                                <m:accPr>
                                                  <m:chr m:val="̅"/>
                                                  <m:ctrlPr>
                                                    <a:rPr lang="en-NZ" altLang="ja-JP" sz="2200" b="1" i="1">
                                                      <a:solidFill>
                                                        <a:schemeClr val="tx1"/>
                                                      </a:solidFill>
                                                      <a:latin typeface="Cambria Math" panose="02040503050406030204" pitchFamily="18" charset="0"/>
                                                    </a:rPr>
                                                  </m:ctrlPr>
                                                </m:accPr>
                                                <m:e>
                                                  <m:r>
                                                    <a:rPr lang="en-NZ" altLang="ja-JP" sz="2200" b="1" i="1">
                                                      <a:solidFill>
                                                        <a:schemeClr val="tx1"/>
                                                      </a:solidFill>
                                                      <a:latin typeface="Cambria Math" panose="02040503050406030204" pitchFamily="18" charset="0"/>
                                                    </a:rPr>
                                                    <m:t>𝒀</m:t>
                                                  </m:r>
                                                </m:e>
                                              </m:acc>
                                            </m:e>
                                            <m:sub>
                                              <m:r>
                                                <a:rPr lang="en-NZ" altLang="ja-JP" sz="2200" b="1" i="1">
                                                  <a:solidFill>
                                                    <a:schemeClr val="tx1"/>
                                                  </a:solidFill>
                                                  <a:latin typeface="Cambria Math" panose="02040503050406030204" pitchFamily="18" charset="0"/>
                                                  <a:ea typeface="Cambria Math" panose="02040503050406030204" pitchFamily="18" charset="0"/>
                                                </a:rPr>
                                                <m:t>∙</m:t>
                                              </m:r>
                                              <m:r>
                                                <a:rPr lang="en-NZ" altLang="ja-JP" sz="2200" b="1" i="1">
                                                  <a:solidFill>
                                                    <a:schemeClr val="tx1"/>
                                                  </a:solidFill>
                                                  <a:latin typeface="Cambria Math" panose="02040503050406030204" pitchFamily="18" charset="0"/>
                                                  <a:ea typeface="Cambria Math" panose="02040503050406030204" pitchFamily="18" charset="0"/>
                                                </a:rPr>
                                                <m:t>𝒋</m:t>
                                              </m:r>
                                              <m:r>
                                                <a:rPr lang="en-NZ" altLang="ja-JP" sz="2200" b="1" i="1">
                                                  <a:solidFill>
                                                    <a:schemeClr val="tx1"/>
                                                  </a:solidFill>
                                                  <a:latin typeface="Cambria Math" panose="02040503050406030204" pitchFamily="18" charset="0"/>
                                                  <a:ea typeface="Cambria Math" panose="02040503050406030204" pitchFamily="18" charset="0"/>
                                                </a:rPr>
                                                <m:t>∙</m:t>
                                              </m:r>
                                            </m:sub>
                                          </m:sSub>
                                          <m:r>
                                            <a:rPr lang="en-NZ" altLang="ja-JP" sz="2200" b="1" i="1">
                                              <a:solidFill>
                                                <a:schemeClr val="tx1"/>
                                              </a:solidFill>
                                              <a:latin typeface="Cambria Math" panose="02040503050406030204" pitchFamily="18" charset="0"/>
                                              <a:ea typeface="Cambria Math" panose="02040503050406030204" pitchFamily="18" charset="0"/>
                                            </a:rPr>
                                            <m:t>+ </m:t>
                                          </m:r>
                                          <m:sSub>
                                            <m:sSubPr>
                                              <m:ctrlPr>
                                                <a:rPr lang="en-NZ" altLang="ja-JP" sz="2200" b="1" i="1">
                                                  <a:solidFill>
                                                    <a:schemeClr val="tx1"/>
                                                  </a:solidFill>
                                                  <a:latin typeface="Cambria Math" panose="02040503050406030204" pitchFamily="18" charset="0"/>
                                                </a:rPr>
                                              </m:ctrlPr>
                                            </m:sSubPr>
                                            <m:e>
                                              <m:acc>
                                                <m:accPr>
                                                  <m:chr m:val="̅"/>
                                                  <m:ctrlPr>
                                                    <a:rPr lang="en-NZ" altLang="ja-JP" sz="2200" b="1" i="1">
                                                      <a:solidFill>
                                                        <a:schemeClr val="tx1"/>
                                                      </a:solidFill>
                                                      <a:latin typeface="Cambria Math" panose="02040503050406030204" pitchFamily="18" charset="0"/>
                                                    </a:rPr>
                                                  </m:ctrlPr>
                                                </m:accPr>
                                                <m:e>
                                                  <m:r>
                                                    <a:rPr lang="en-NZ" altLang="ja-JP" sz="2200" b="1" i="1">
                                                      <a:solidFill>
                                                        <a:schemeClr val="tx1"/>
                                                      </a:solidFill>
                                                      <a:latin typeface="Cambria Math" panose="02040503050406030204" pitchFamily="18" charset="0"/>
                                                    </a:rPr>
                                                    <m:t>𝒀</m:t>
                                                  </m:r>
                                                </m:e>
                                              </m:acc>
                                            </m:e>
                                            <m:sub>
                                              <m:r>
                                                <a:rPr lang="en-NZ" altLang="ja-JP" sz="2200" b="1" i="1">
                                                  <a:solidFill>
                                                    <a:schemeClr val="tx1"/>
                                                  </a:solidFill>
                                                  <a:latin typeface="Cambria Math" panose="02040503050406030204" pitchFamily="18" charset="0"/>
                                                  <a:ea typeface="Cambria Math" panose="02040503050406030204" pitchFamily="18" charset="0"/>
                                                </a:rPr>
                                                <m:t>∙∙∙</m:t>
                                              </m:r>
                                            </m:sub>
                                          </m:sSub>
                                          <m:r>
                                            <a:rPr lang="en-NZ" altLang="ja-JP" sz="2200" b="1" i="1">
                                              <a:solidFill>
                                                <a:schemeClr val="tx1"/>
                                              </a:solidFill>
                                              <a:latin typeface="Cambria Math" panose="02040503050406030204" pitchFamily="18" charset="0"/>
                                              <a:ea typeface="Cambria Math" panose="02040503050406030204" pitchFamily="18" charset="0"/>
                                            </a:rPr>
                                            <m:t> </m:t>
                                          </m:r>
                                        </m:e>
                                      </m:d>
                                    </m:e>
                                    <m:sup>
                                      <m:r>
                                        <a:rPr lang="en-NZ" altLang="ja-JP" sz="2200" b="1" i="1" smtClean="0">
                                          <a:solidFill>
                                            <a:schemeClr val="tx1"/>
                                          </a:solidFill>
                                          <a:latin typeface="Cambria Math" panose="02040503050406030204" pitchFamily="18" charset="0"/>
                                        </a:rPr>
                                        <m:t>𝟐</m:t>
                                      </m:r>
                                    </m:sup>
                                  </m:sSup>
                                </m:e>
                              </m:nary>
                            </m:e>
                          </m:nary>
                        </m:e>
                      </m:nary>
                    </m:oMath>
                  </m:oMathPara>
                </a14:m>
                <a:endParaRPr lang="en-NZ" altLang="ja-JP" sz="2200" dirty="0">
                  <a:solidFill>
                    <a:schemeClr val="tx1"/>
                  </a:solidFill>
                </a:endParaRPr>
              </a:p>
            </p:txBody>
          </p:sp>
        </mc:Choice>
        <mc:Fallback xmlns="">
          <p:sp>
            <p:nvSpPr>
              <p:cNvPr id="18" name="Text Placeholder 5">
                <a:extLst>
                  <a:ext uri="{FF2B5EF4-FFF2-40B4-BE49-F238E27FC236}">
                    <a16:creationId xmlns:a16="http://schemas.microsoft.com/office/drawing/2014/main" id="{B263A0D2-5DCE-9CB1-6BB8-E6914ECB5A45}"/>
                  </a:ext>
                </a:extLst>
              </p:cNvPr>
              <p:cNvSpPr txBox="1">
                <a:spLocks noRot="1" noChangeAspect="1" noMove="1" noResize="1" noEditPoints="1" noAdjustHandles="1" noChangeArrowheads="1" noChangeShapeType="1" noTextEdit="1"/>
              </p:cNvSpPr>
              <p:nvPr/>
            </p:nvSpPr>
            <p:spPr>
              <a:xfrm>
                <a:off x="2444432" y="5259723"/>
                <a:ext cx="5061836" cy="1210498"/>
              </a:xfrm>
              <a:prstGeom prst="rect">
                <a:avLst/>
              </a:prstGeom>
              <a:blipFill>
                <a:blip r:embed="rId6"/>
                <a:stretch>
                  <a:fillRect/>
                </a:stretch>
              </a:blipFill>
            </p:spPr>
            <p:txBody>
              <a:bodyPr/>
              <a:lstStyle/>
              <a:p>
                <a:r>
                  <a:rPr lang="en-NZ">
                    <a:noFill/>
                  </a:rPr>
                  <a:t> </a:t>
                </a:r>
              </a:p>
            </p:txBody>
          </p:sp>
        </mc:Fallback>
      </mc:AlternateContent>
      <p:sp>
        <p:nvSpPr>
          <p:cNvPr id="24" name="Text Placeholder 5">
            <a:extLst>
              <a:ext uri="{FF2B5EF4-FFF2-40B4-BE49-F238E27FC236}">
                <a16:creationId xmlns:a16="http://schemas.microsoft.com/office/drawing/2014/main" id="{2EAF4393-8043-3340-1D57-D9F83D38BB6A}"/>
              </a:ext>
            </a:extLst>
          </p:cNvPr>
          <p:cNvSpPr txBox="1">
            <a:spLocks/>
          </p:cNvSpPr>
          <p:nvPr/>
        </p:nvSpPr>
        <p:spPr>
          <a:xfrm>
            <a:off x="4165172" y="2644552"/>
            <a:ext cx="2549527" cy="41823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600" i="1" dirty="0">
                <a:solidFill>
                  <a:srgbClr val="E7E6E6">
                    <a:lumMod val="50000"/>
                  </a:srgbClr>
                </a:solidFill>
              </a:rPr>
              <a:t>Total Sum of Squares (TSS)</a:t>
            </a:r>
            <a:endParaRPr kumimoji="1" lang="en-NZ" altLang="ja-JP" sz="160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endParaRP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endParaRPr>
          </a:p>
        </p:txBody>
      </p:sp>
      <p:sp>
        <p:nvSpPr>
          <p:cNvPr id="25" name="Text Placeholder 5">
            <a:extLst>
              <a:ext uri="{FF2B5EF4-FFF2-40B4-BE49-F238E27FC236}">
                <a16:creationId xmlns:a16="http://schemas.microsoft.com/office/drawing/2014/main" id="{9A44D84D-D45C-4873-B219-DECBB882EE26}"/>
              </a:ext>
            </a:extLst>
          </p:cNvPr>
          <p:cNvSpPr txBox="1">
            <a:spLocks/>
          </p:cNvSpPr>
          <p:nvPr/>
        </p:nvSpPr>
        <p:spPr>
          <a:xfrm>
            <a:off x="5867277" y="3455799"/>
            <a:ext cx="3880291" cy="41823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600" i="1" dirty="0">
                <a:solidFill>
                  <a:srgbClr val="E7E6E6">
                    <a:lumMod val="50000"/>
                  </a:srgbClr>
                </a:solidFill>
              </a:rPr>
              <a:t>Sum of Squares for treatments (SST)</a:t>
            </a:r>
            <a:endParaRPr kumimoji="1" lang="en-NZ" altLang="ja-JP" sz="160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endParaRP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endParaRPr>
          </a:p>
        </p:txBody>
      </p:sp>
      <p:sp>
        <p:nvSpPr>
          <p:cNvPr id="26" name="Text Placeholder 5">
            <a:extLst>
              <a:ext uri="{FF2B5EF4-FFF2-40B4-BE49-F238E27FC236}">
                <a16:creationId xmlns:a16="http://schemas.microsoft.com/office/drawing/2014/main" id="{1239D5DF-98AE-CD9C-B930-A030929AEF90}"/>
              </a:ext>
            </a:extLst>
          </p:cNvPr>
          <p:cNvSpPr txBox="1">
            <a:spLocks/>
          </p:cNvSpPr>
          <p:nvPr/>
        </p:nvSpPr>
        <p:spPr>
          <a:xfrm>
            <a:off x="5867276" y="4547279"/>
            <a:ext cx="3880291" cy="41823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600" i="1" dirty="0">
                <a:solidFill>
                  <a:srgbClr val="E7E6E6">
                    <a:lumMod val="50000"/>
                  </a:srgbClr>
                </a:solidFill>
              </a:rPr>
              <a:t>Sum of Squares for blocks (SSB)</a:t>
            </a:r>
            <a:endParaRPr kumimoji="1" lang="en-NZ" altLang="ja-JP" sz="160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endParaRP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endParaRPr>
          </a:p>
        </p:txBody>
      </p:sp>
      <p:sp>
        <p:nvSpPr>
          <p:cNvPr id="27" name="Text Placeholder 5">
            <a:extLst>
              <a:ext uri="{FF2B5EF4-FFF2-40B4-BE49-F238E27FC236}">
                <a16:creationId xmlns:a16="http://schemas.microsoft.com/office/drawing/2014/main" id="{2A663D17-ADBA-51C2-F988-0371A933B31B}"/>
              </a:ext>
            </a:extLst>
          </p:cNvPr>
          <p:cNvSpPr txBox="1">
            <a:spLocks/>
          </p:cNvSpPr>
          <p:nvPr/>
        </p:nvSpPr>
        <p:spPr>
          <a:xfrm>
            <a:off x="7603041" y="5395802"/>
            <a:ext cx="3880291" cy="41823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600" i="1" dirty="0">
                <a:solidFill>
                  <a:srgbClr val="E7E6E6">
                    <a:lumMod val="50000"/>
                  </a:srgbClr>
                </a:solidFill>
              </a:rPr>
              <a:t>Sum of Squares for Errors (SSE)</a:t>
            </a:r>
          </a:p>
          <a:p>
            <a:pPr lvl="0">
              <a:lnSpc>
                <a:spcPct val="100000"/>
              </a:lnSpc>
              <a:defRPr/>
            </a:pPr>
            <a:r>
              <a:rPr kumimoji="1" lang="en-NZ" altLang="ja-JP" sz="160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rPr>
              <a:t>This is the residual variation after accounting for treatments and blocks</a:t>
            </a: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endParaRPr>
          </a:p>
        </p:txBody>
      </p:sp>
      <p:sp>
        <p:nvSpPr>
          <p:cNvPr id="28" name="Text Placeholder 5">
            <a:extLst>
              <a:ext uri="{FF2B5EF4-FFF2-40B4-BE49-F238E27FC236}">
                <a16:creationId xmlns:a16="http://schemas.microsoft.com/office/drawing/2014/main" id="{835A186D-F7AC-FD9D-487A-947BED03E6FE}"/>
              </a:ext>
            </a:extLst>
          </p:cNvPr>
          <p:cNvSpPr txBox="1">
            <a:spLocks/>
          </p:cNvSpPr>
          <p:nvPr/>
        </p:nvSpPr>
        <p:spPr>
          <a:xfrm>
            <a:off x="251223" y="6501665"/>
            <a:ext cx="10585098" cy="33739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200" dirty="0">
                <a:solidFill>
                  <a:schemeClr val="tx1"/>
                </a:solidFill>
              </a:rPr>
              <a:t>*The proof of this statement is not required for Stat 293 but is available as supplementary material on the intranet.</a:t>
            </a:r>
          </a:p>
        </p:txBody>
      </p:sp>
      <p:sp>
        <p:nvSpPr>
          <p:cNvPr id="29" name="Text Placeholder 5">
            <a:extLst>
              <a:ext uri="{FF2B5EF4-FFF2-40B4-BE49-F238E27FC236}">
                <a16:creationId xmlns:a16="http://schemas.microsoft.com/office/drawing/2014/main" id="{B0F87360-044F-AAF8-3CB6-75A106BB3B1A}"/>
              </a:ext>
            </a:extLst>
          </p:cNvPr>
          <p:cNvSpPr txBox="1">
            <a:spLocks/>
          </p:cNvSpPr>
          <p:nvPr/>
        </p:nvSpPr>
        <p:spPr>
          <a:xfrm>
            <a:off x="251223" y="4084879"/>
            <a:ext cx="1940146" cy="1292063"/>
          </a:xfrm>
          <a:prstGeom prst="rect">
            <a:avLst/>
          </a:prstGeom>
          <a:ln>
            <a:solidFill>
              <a:schemeClr val="bg2">
                <a:lumMod val="50000"/>
              </a:schemeClr>
            </a:solidFill>
          </a:ln>
        </p:spPr>
        <p:txBody>
          <a:bodyPr anchor="ct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600" b="1" i="1" dirty="0">
                <a:solidFill>
                  <a:srgbClr val="C00000"/>
                </a:solidFill>
              </a:rPr>
              <a:t>TSS = SST + SSB + SSE</a:t>
            </a:r>
            <a:endParaRPr kumimoji="1" lang="en-NZ" altLang="ja-JP" sz="16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p:sp>
        <p:nvSpPr>
          <p:cNvPr id="17" name="Footer Placeholder 2">
            <a:extLst>
              <a:ext uri="{FF2B5EF4-FFF2-40B4-BE49-F238E27FC236}">
                <a16:creationId xmlns:a16="http://schemas.microsoft.com/office/drawing/2014/main" id="{E56B6918-EE8F-37A7-A0A8-240CA7634F9F}"/>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4.3 – </a:t>
            </a:r>
            <a:r>
              <a:rPr kumimoji="1" lang="en-US" altLang="ja-JP" sz="1600" dirty="0">
                <a:solidFill>
                  <a:srgbClr val="DEDDDD"/>
                </a:solidFill>
                <a:latin typeface="Gidole"/>
                <a:ea typeface="游ゴシック" panose="020B0400000000000000" pitchFamily="34" charset="-128"/>
              </a:rPr>
              <a:t>Fixed Effects Model</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1982313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8" grpId="0"/>
      <p:bldP spid="24" grpId="0"/>
      <p:bldP spid="25" grpId="0"/>
      <p:bldP spid="26" grpId="0"/>
      <p:bldP spid="27" grpId="0"/>
      <p:bldP spid="28" grpId="0"/>
      <p:bldP spid="2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3" name="Title 6">
            <a:extLst>
              <a:ext uri="{FF2B5EF4-FFF2-40B4-BE49-F238E27FC236}">
                <a16:creationId xmlns:a16="http://schemas.microsoft.com/office/drawing/2014/main" id="{539E1FA8-24B4-FFD9-7C26-8B31D6C98125}"/>
              </a:ext>
            </a:extLst>
          </p:cNvPr>
          <p:cNvSpPr txBox="1">
            <a:spLocks/>
          </p:cNvSpPr>
          <p:nvPr/>
        </p:nvSpPr>
        <p:spPr>
          <a:xfrm>
            <a:off x="251223" y="237833"/>
            <a:ext cx="9197577" cy="607201"/>
          </a:xfrm>
          <a:prstGeom prst="rect">
            <a:avLst/>
          </a:prstGeom>
        </p:spPr>
        <p:txBody>
          <a:bodyPr anchor="t">
            <a:normAutofit fontScale="85000" lnSpcReduction="100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4.3c – Hypothesis Testing for the Fixed Effects Model</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20" name="Text Placeholder 5">
            <a:extLst>
              <a:ext uri="{FF2B5EF4-FFF2-40B4-BE49-F238E27FC236}">
                <a16:creationId xmlns:a16="http://schemas.microsoft.com/office/drawing/2014/main" id="{645ADC35-9826-E030-B40E-92F636A9B524}"/>
              </a:ext>
            </a:extLst>
          </p:cNvPr>
          <p:cNvSpPr txBox="1">
            <a:spLocks/>
          </p:cNvSpPr>
          <p:nvPr/>
        </p:nvSpPr>
        <p:spPr>
          <a:xfrm>
            <a:off x="251222" y="805650"/>
            <a:ext cx="4330237" cy="67160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We want to test whether or not there is an effect of treatment on the response variable.    </a:t>
            </a:r>
          </a:p>
          <a:p>
            <a:pPr algn="just">
              <a:lnSpc>
                <a:spcPct val="100000"/>
              </a:lnSpc>
            </a:pPr>
            <a:endParaRPr lang="en-NZ" altLang="ja-JP" sz="1800" dirty="0">
              <a:solidFill>
                <a:schemeClr val="tx1"/>
              </a:solidFill>
            </a:endParaRPr>
          </a:p>
        </p:txBody>
      </p:sp>
      <mc:AlternateContent xmlns:mc="http://schemas.openxmlformats.org/markup-compatibility/2006" xmlns:a14="http://schemas.microsoft.com/office/drawing/2010/main">
        <mc:Choice Requires="a14">
          <p:sp>
            <p:nvSpPr>
              <p:cNvPr id="22" name="Text Placeholder 5">
                <a:extLst>
                  <a:ext uri="{FF2B5EF4-FFF2-40B4-BE49-F238E27FC236}">
                    <a16:creationId xmlns:a16="http://schemas.microsoft.com/office/drawing/2014/main" id="{9D9799E0-A307-0D49-2819-EFA783728A81}"/>
                  </a:ext>
                </a:extLst>
              </p:cNvPr>
              <p:cNvSpPr txBox="1">
                <a:spLocks/>
              </p:cNvSpPr>
              <p:nvPr/>
            </p:nvSpPr>
            <p:spPr>
              <a:xfrm>
                <a:off x="4850011" y="839270"/>
                <a:ext cx="3507477" cy="70946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𝑯</m:t>
                        </m:r>
                      </m:e>
                      <m:sub>
                        <m:r>
                          <a:rPr lang="en-NZ" altLang="ja-JP" sz="1800" b="1" i="1" smtClean="0">
                            <a:solidFill>
                              <a:schemeClr val="tx1"/>
                            </a:solidFill>
                            <a:latin typeface="Cambria Math" panose="02040503050406030204" pitchFamily="18" charset="0"/>
                          </a:rPr>
                          <m:t>𝟎</m:t>
                        </m:r>
                      </m:sub>
                    </m:sSub>
                    <m:r>
                      <a:rPr lang="en-NZ" altLang="ja-JP" sz="1800" b="1" i="1" smtClean="0">
                        <a:solidFill>
                          <a:schemeClr val="tx1"/>
                        </a:solidFill>
                        <a:latin typeface="Cambria Math" panose="02040503050406030204" pitchFamily="18" charset="0"/>
                      </a:rPr>
                      <m:t> :  </m:t>
                    </m:r>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𝜶</m:t>
                        </m:r>
                      </m:e>
                      <m:sub>
                        <m:r>
                          <a:rPr lang="en-NZ" altLang="ja-JP" sz="1800" b="1" i="1" smtClean="0">
                            <a:solidFill>
                              <a:schemeClr val="tx1"/>
                            </a:solidFill>
                            <a:latin typeface="Cambria Math" panose="02040503050406030204" pitchFamily="18" charset="0"/>
                          </a:rPr>
                          <m:t>𝒊</m:t>
                        </m:r>
                      </m:sub>
                    </m:sSub>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𝟎</m:t>
                    </m:r>
                  </m:oMath>
                </a14:m>
                <a:r>
                  <a:rPr lang="en-NZ" altLang="ja-JP" sz="18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for all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=1, …, </m:t>
                    </m:r>
                    <m:r>
                      <a:rPr lang="en-NZ" altLang="ja-JP" sz="1600" b="0" i="1" smtClean="0">
                        <a:solidFill>
                          <a:schemeClr val="tx1"/>
                        </a:solidFill>
                        <a:latin typeface="Cambria Math" panose="02040503050406030204" pitchFamily="18" charset="0"/>
                      </a:rPr>
                      <m:t>𝑎</m:t>
                    </m:r>
                  </m:oMath>
                </a14:m>
                <a:r>
                  <a:rPr lang="en-NZ" altLang="ja-JP" sz="1600" dirty="0">
                    <a:solidFill>
                      <a:schemeClr val="tx1"/>
                    </a:solidFill>
                    <a:latin typeface="Cambria Math" panose="02040503050406030204" pitchFamily="18" charset="0"/>
                  </a:rPr>
                  <a:t> </a:t>
                </a:r>
                <a:br>
                  <a:rPr lang="en-NZ" altLang="ja-JP" sz="2000" b="1" i="1" dirty="0">
                    <a:solidFill>
                      <a:schemeClr val="tx1"/>
                    </a:solidFill>
                    <a:latin typeface="Cambria Math" panose="02040503050406030204" pitchFamily="18" charset="0"/>
                  </a:rPr>
                </a:br>
                <a14:m>
                  <m:oMath xmlns:m="http://schemas.openxmlformats.org/officeDocument/2006/math">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𝑯</m:t>
                        </m:r>
                      </m:e>
                      <m:sub>
                        <m:r>
                          <a:rPr lang="en-NZ" altLang="ja-JP" sz="1800" b="1" i="1" smtClean="0">
                            <a:solidFill>
                              <a:schemeClr val="tx1"/>
                            </a:solidFill>
                            <a:latin typeface="Cambria Math" panose="02040503050406030204" pitchFamily="18" charset="0"/>
                          </a:rPr>
                          <m:t>𝟏</m:t>
                        </m:r>
                      </m:sub>
                    </m:sSub>
                    <m:r>
                      <a:rPr lang="en-NZ" altLang="ja-JP" sz="1800" b="1" i="1">
                        <a:solidFill>
                          <a:schemeClr val="tx1"/>
                        </a:solidFill>
                        <a:latin typeface="Cambria Math" panose="02040503050406030204" pitchFamily="18" charset="0"/>
                      </a:rPr>
                      <m:t> :  </m:t>
                    </m:r>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𝜶</m:t>
                        </m:r>
                      </m:e>
                      <m:sub>
                        <m:r>
                          <a:rPr lang="en-NZ" altLang="ja-JP" sz="1800" b="1" i="1" smtClean="0">
                            <a:solidFill>
                              <a:schemeClr val="tx1"/>
                            </a:solidFill>
                            <a:latin typeface="Cambria Math" panose="02040503050406030204" pitchFamily="18" charset="0"/>
                          </a:rPr>
                          <m:t>𝒊</m:t>
                        </m:r>
                      </m:sub>
                    </m:sSub>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𝟎</m:t>
                    </m:r>
                  </m:oMath>
                </a14:m>
                <a:r>
                  <a:rPr lang="en-NZ" altLang="ja-JP" sz="1800" b="1" dirty="0">
                    <a:solidFill>
                      <a:schemeClr val="tx1"/>
                    </a:solidFill>
                  </a:rPr>
                  <a:t>  </a:t>
                </a:r>
                <a:r>
                  <a:rPr lang="en-NZ" altLang="ja-JP" sz="1600" dirty="0">
                    <a:solidFill>
                      <a:schemeClr val="tx1"/>
                    </a:solidFill>
                  </a:rPr>
                  <a:t>for some </a:t>
                </a:r>
                <a14:m>
                  <m:oMath xmlns:m="http://schemas.openxmlformats.org/officeDocument/2006/math">
                    <m:r>
                      <a:rPr lang="en-NZ" altLang="ja-JP" sz="1600" b="0" i="1" smtClean="0">
                        <a:solidFill>
                          <a:schemeClr val="tx1"/>
                        </a:solidFill>
                        <a:latin typeface="Cambria Math" panose="02040503050406030204" pitchFamily="18" charset="0"/>
                      </a:rPr>
                      <m:t>𝑖</m:t>
                    </m:r>
                  </m:oMath>
                </a14:m>
                <a:endParaRPr lang="en-NZ" altLang="ja-JP" sz="1600" dirty="0">
                  <a:solidFill>
                    <a:schemeClr val="tx1"/>
                  </a:solidFill>
                </a:endParaRPr>
              </a:p>
            </p:txBody>
          </p:sp>
        </mc:Choice>
        <mc:Fallback xmlns="">
          <p:sp>
            <p:nvSpPr>
              <p:cNvPr id="22" name="Text Placeholder 5">
                <a:extLst>
                  <a:ext uri="{FF2B5EF4-FFF2-40B4-BE49-F238E27FC236}">
                    <a16:creationId xmlns:a16="http://schemas.microsoft.com/office/drawing/2014/main" id="{9D9799E0-A307-0D49-2819-EFA783728A81}"/>
                  </a:ext>
                </a:extLst>
              </p:cNvPr>
              <p:cNvSpPr txBox="1">
                <a:spLocks noRot="1" noChangeAspect="1" noMove="1" noResize="1" noEditPoints="1" noAdjustHandles="1" noChangeArrowheads="1" noChangeShapeType="1" noTextEdit="1"/>
              </p:cNvSpPr>
              <p:nvPr/>
            </p:nvSpPr>
            <p:spPr>
              <a:xfrm>
                <a:off x="4850011" y="839270"/>
                <a:ext cx="3507477" cy="709469"/>
              </a:xfrm>
              <a:prstGeom prst="rect">
                <a:avLst/>
              </a:prstGeom>
              <a:blipFill>
                <a:blip r:embed="rId2"/>
                <a:stretch>
                  <a:fillRect b="-862"/>
                </a:stretch>
              </a:blipFill>
            </p:spPr>
            <p:txBody>
              <a:bodyPr/>
              <a:lstStyle/>
              <a:p>
                <a:r>
                  <a:rPr lang="en-NZ">
                    <a:noFill/>
                  </a:rPr>
                  <a:t> </a:t>
                </a:r>
              </a:p>
            </p:txBody>
          </p:sp>
        </mc:Fallback>
      </mc:AlternateContent>
      <p:sp>
        <p:nvSpPr>
          <p:cNvPr id="11" name="Text Placeholder 5">
            <a:extLst>
              <a:ext uri="{FF2B5EF4-FFF2-40B4-BE49-F238E27FC236}">
                <a16:creationId xmlns:a16="http://schemas.microsoft.com/office/drawing/2014/main" id="{7E7A8B0B-25DA-1474-CB37-F42D497A1EF6}"/>
              </a:ext>
            </a:extLst>
          </p:cNvPr>
          <p:cNvSpPr txBox="1">
            <a:spLocks/>
          </p:cNvSpPr>
          <p:nvPr/>
        </p:nvSpPr>
        <p:spPr>
          <a:xfrm>
            <a:off x="251222" y="1682267"/>
            <a:ext cx="11621464" cy="4182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The ANOVA table below shows all the relevant sums of squares, degrees of freedom and mean squares for a RBD:    </a:t>
            </a:r>
          </a:p>
          <a:p>
            <a:pPr algn="just">
              <a:lnSpc>
                <a:spcPct val="100000"/>
              </a:lnSpc>
            </a:pPr>
            <a:endParaRPr lang="en-NZ" altLang="ja-JP" sz="1800" dirty="0">
              <a:solidFill>
                <a:schemeClr val="tx1"/>
              </a:solidFill>
            </a:endParaRPr>
          </a:p>
        </p:txBody>
      </p:sp>
      <p:graphicFrame>
        <p:nvGraphicFramePr>
          <p:cNvPr id="12" name="Table 2">
            <a:extLst>
              <a:ext uri="{FF2B5EF4-FFF2-40B4-BE49-F238E27FC236}">
                <a16:creationId xmlns:a16="http://schemas.microsoft.com/office/drawing/2014/main" id="{AC09C63B-DEDA-11CA-1297-AF6E4CB7A985}"/>
              </a:ext>
            </a:extLst>
          </p:cNvPr>
          <p:cNvGraphicFramePr>
            <a:graphicFrameLocks noGrp="1"/>
          </p:cNvGraphicFramePr>
          <p:nvPr>
            <p:extLst>
              <p:ext uri="{D42A27DB-BD31-4B8C-83A1-F6EECF244321}">
                <p14:modId xmlns:p14="http://schemas.microsoft.com/office/powerpoint/2010/main" val="1998063947"/>
              </p:ext>
            </p:extLst>
          </p:nvPr>
        </p:nvGraphicFramePr>
        <p:xfrm>
          <a:off x="1009427" y="2112453"/>
          <a:ext cx="10173145" cy="1854200"/>
        </p:xfrm>
        <a:graphic>
          <a:graphicData uri="http://schemas.openxmlformats.org/drawingml/2006/table">
            <a:tbl>
              <a:tblPr firstRow="1" bandRow="1">
                <a:tableStyleId>{5C22544A-7EE6-4342-B048-85BDC9FD1C3A}</a:tableStyleId>
              </a:tblPr>
              <a:tblGrid>
                <a:gridCol w="2154687">
                  <a:extLst>
                    <a:ext uri="{9D8B030D-6E8A-4147-A177-3AD203B41FA5}">
                      <a16:colId xmlns:a16="http://schemas.microsoft.com/office/drawing/2014/main" val="4198110682"/>
                    </a:ext>
                  </a:extLst>
                </a:gridCol>
                <a:gridCol w="1074057">
                  <a:extLst>
                    <a:ext uri="{9D8B030D-6E8A-4147-A177-3AD203B41FA5}">
                      <a16:colId xmlns:a16="http://schemas.microsoft.com/office/drawing/2014/main" val="292302729"/>
                    </a:ext>
                  </a:extLst>
                </a:gridCol>
                <a:gridCol w="1538515">
                  <a:extLst>
                    <a:ext uri="{9D8B030D-6E8A-4147-A177-3AD203B41FA5}">
                      <a16:colId xmlns:a16="http://schemas.microsoft.com/office/drawing/2014/main" val="126256495"/>
                    </a:ext>
                  </a:extLst>
                </a:gridCol>
                <a:gridCol w="3116464">
                  <a:extLst>
                    <a:ext uri="{9D8B030D-6E8A-4147-A177-3AD203B41FA5}">
                      <a16:colId xmlns:a16="http://schemas.microsoft.com/office/drawing/2014/main" val="477450593"/>
                    </a:ext>
                  </a:extLst>
                </a:gridCol>
                <a:gridCol w="2289422">
                  <a:extLst>
                    <a:ext uri="{9D8B030D-6E8A-4147-A177-3AD203B41FA5}">
                      <a16:colId xmlns:a16="http://schemas.microsoft.com/office/drawing/2014/main" val="1101540161"/>
                    </a:ext>
                  </a:extLst>
                </a:gridCol>
              </a:tblGrid>
              <a:tr h="370840">
                <a:tc>
                  <a:txBody>
                    <a:bodyPr/>
                    <a:lstStyle/>
                    <a:p>
                      <a:pPr algn="ctr"/>
                      <a:r>
                        <a:rPr lang="en-NZ" dirty="0"/>
                        <a:t>Source of Variation</a:t>
                      </a:r>
                    </a:p>
                  </a:txBody>
                  <a:tcPr anchor="ctr"/>
                </a:tc>
                <a:tc>
                  <a:txBody>
                    <a:bodyPr/>
                    <a:lstStyle/>
                    <a:p>
                      <a:pPr algn="ctr"/>
                      <a:r>
                        <a:rPr lang="en-NZ" dirty="0" err="1"/>
                        <a:t>df</a:t>
                      </a:r>
                      <a:endParaRPr lang="en-NZ" dirty="0"/>
                    </a:p>
                  </a:txBody>
                  <a:tcPr anchor="ctr"/>
                </a:tc>
                <a:tc>
                  <a:txBody>
                    <a:bodyPr/>
                    <a:lstStyle/>
                    <a:p>
                      <a:pPr algn="ctr"/>
                      <a:r>
                        <a:rPr lang="en-NZ" dirty="0"/>
                        <a:t>SS</a:t>
                      </a:r>
                    </a:p>
                  </a:txBody>
                  <a:tcPr anchor="ctr"/>
                </a:tc>
                <a:tc>
                  <a:txBody>
                    <a:bodyPr/>
                    <a:lstStyle/>
                    <a:p>
                      <a:pPr algn="ctr"/>
                      <a:r>
                        <a:rPr lang="en-NZ" dirty="0"/>
                        <a:t>Mean Square</a:t>
                      </a:r>
                    </a:p>
                  </a:txBody>
                  <a:tcPr anchor="ctr"/>
                </a:tc>
                <a:tc>
                  <a:txBody>
                    <a:bodyPr/>
                    <a:lstStyle/>
                    <a:p>
                      <a:pPr algn="ctr"/>
                      <a:r>
                        <a:rPr lang="en-NZ" dirty="0"/>
                        <a:t>F-Statistic</a:t>
                      </a:r>
                    </a:p>
                  </a:txBody>
                  <a:tcPr anchor="ctr"/>
                </a:tc>
                <a:extLst>
                  <a:ext uri="{0D108BD9-81ED-4DB2-BD59-A6C34878D82A}">
                    <a16:rowId xmlns:a16="http://schemas.microsoft.com/office/drawing/2014/main" val="3666350365"/>
                  </a:ext>
                </a:extLst>
              </a:tr>
              <a:tr h="370840">
                <a:tc>
                  <a:txBody>
                    <a:bodyPr/>
                    <a:lstStyle/>
                    <a:p>
                      <a:pPr algn="ctr"/>
                      <a:r>
                        <a:rPr lang="en-NZ" dirty="0"/>
                        <a:t>Total</a:t>
                      </a:r>
                    </a:p>
                  </a:txBody>
                  <a:tcPr anchor="ctr"/>
                </a:tc>
                <a:tc>
                  <a:txBody>
                    <a:bodyPr/>
                    <a:lstStyle/>
                    <a:p>
                      <a:pPr algn="ctr"/>
                      <a:r>
                        <a:rPr lang="en-NZ" dirty="0"/>
                        <a:t>N-1</a:t>
                      </a:r>
                    </a:p>
                  </a:txBody>
                  <a:tcPr anchor="ctr"/>
                </a:tc>
                <a:tc>
                  <a:txBody>
                    <a:bodyPr/>
                    <a:lstStyle/>
                    <a:p>
                      <a:pPr algn="ctr"/>
                      <a:r>
                        <a:rPr lang="en-NZ" dirty="0"/>
                        <a:t>TSS</a:t>
                      </a:r>
                    </a:p>
                  </a:txBody>
                  <a:tcPr anchor="ctr"/>
                </a:tc>
                <a:tc>
                  <a:txBody>
                    <a:bodyPr/>
                    <a:lstStyle/>
                    <a:p>
                      <a:pPr algn="ctr"/>
                      <a:endParaRPr lang="en-NZ" dirty="0"/>
                    </a:p>
                  </a:txBody>
                  <a:tcPr anchor="ctr"/>
                </a:tc>
                <a:tc>
                  <a:txBody>
                    <a:bodyPr/>
                    <a:lstStyle/>
                    <a:p>
                      <a:pPr algn="ctr"/>
                      <a:endParaRPr lang="en-NZ" dirty="0"/>
                    </a:p>
                  </a:txBody>
                  <a:tcPr anchor="ctr"/>
                </a:tc>
                <a:extLst>
                  <a:ext uri="{0D108BD9-81ED-4DB2-BD59-A6C34878D82A}">
                    <a16:rowId xmlns:a16="http://schemas.microsoft.com/office/drawing/2014/main" val="334148595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NZ" dirty="0"/>
                        <a:t>Treatment</a:t>
                      </a:r>
                    </a:p>
                  </a:txBody>
                  <a:tcPr anchor="ctr"/>
                </a:tc>
                <a:tc>
                  <a:txBody>
                    <a:bodyPr/>
                    <a:lstStyle/>
                    <a:p>
                      <a:pPr algn="ctr"/>
                      <a:r>
                        <a:rPr lang="en-NZ" dirty="0"/>
                        <a:t>a-1</a:t>
                      </a:r>
                    </a:p>
                  </a:txBody>
                  <a:tcPr anchor="ctr"/>
                </a:tc>
                <a:tc>
                  <a:txBody>
                    <a:bodyPr/>
                    <a:lstStyle/>
                    <a:p>
                      <a:pPr algn="ctr"/>
                      <a:r>
                        <a:rPr lang="en-NZ" dirty="0"/>
                        <a:t>SST</a:t>
                      </a:r>
                    </a:p>
                  </a:txBody>
                  <a:tcPr anchor="ctr"/>
                </a:tc>
                <a:tc>
                  <a:txBody>
                    <a:bodyPr/>
                    <a:lstStyle/>
                    <a:p>
                      <a:pPr algn="ctr"/>
                      <a:r>
                        <a:rPr lang="en-NZ" dirty="0"/>
                        <a:t>MST = SST / (a-1)</a:t>
                      </a:r>
                    </a:p>
                  </a:txBody>
                  <a:tcPr anchor="ctr"/>
                </a:tc>
                <a:tc>
                  <a:txBody>
                    <a:bodyPr/>
                    <a:lstStyle/>
                    <a:p>
                      <a:pPr algn="ctr"/>
                      <a:r>
                        <a:rPr lang="en-NZ" dirty="0"/>
                        <a:t>MST / MSE</a:t>
                      </a:r>
                    </a:p>
                  </a:txBody>
                  <a:tcPr anchor="ctr"/>
                </a:tc>
                <a:extLst>
                  <a:ext uri="{0D108BD9-81ED-4DB2-BD59-A6C34878D82A}">
                    <a16:rowId xmlns:a16="http://schemas.microsoft.com/office/drawing/2014/main" val="443198030"/>
                  </a:ext>
                </a:extLst>
              </a:tr>
              <a:tr h="370840">
                <a:tc>
                  <a:txBody>
                    <a:bodyPr/>
                    <a:lstStyle/>
                    <a:p>
                      <a:pPr algn="ctr"/>
                      <a:r>
                        <a:rPr lang="en-NZ" dirty="0"/>
                        <a:t>Blocks</a:t>
                      </a:r>
                    </a:p>
                  </a:txBody>
                  <a:tcPr anchor="ctr"/>
                </a:tc>
                <a:tc>
                  <a:txBody>
                    <a:bodyPr/>
                    <a:lstStyle/>
                    <a:p>
                      <a:pPr algn="ctr"/>
                      <a:r>
                        <a:rPr lang="en-NZ" dirty="0"/>
                        <a:t>b-1</a:t>
                      </a:r>
                    </a:p>
                  </a:txBody>
                  <a:tcPr anchor="ctr"/>
                </a:tc>
                <a:tc>
                  <a:txBody>
                    <a:bodyPr/>
                    <a:lstStyle/>
                    <a:p>
                      <a:pPr algn="ctr"/>
                      <a:r>
                        <a:rPr lang="en-NZ" dirty="0"/>
                        <a:t>SSB</a:t>
                      </a:r>
                    </a:p>
                  </a:txBody>
                  <a:tcPr anchor="ctr"/>
                </a:tc>
                <a:tc>
                  <a:txBody>
                    <a:bodyPr/>
                    <a:lstStyle/>
                    <a:p>
                      <a:pPr algn="ctr"/>
                      <a:r>
                        <a:rPr lang="en-NZ" dirty="0"/>
                        <a:t>MSB = SSB / (b-1)</a:t>
                      </a:r>
                    </a:p>
                  </a:txBody>
                  <a:tcPr anchor="ctr"/>
                </a:tc>
                <a:tc>
                  <a:txBody>
                    <a:bodyPr/>
                    <a:lstStyle/>
                    <a:p>
                      <a:pPr algn="ctr"/>
                      <a:r>
                        <a:rPr lang="en-NZ" dirty="0"/>
                        <a:t>MSB / MSE</a:t>
                      </a:r>
                    </a:p>
                  </a:txBody>
                  <a:tcPr anchor="ctr"/>
                </a:tc>
                <a:extLst>
                  <a:ext uri="{0D108BD9-81ED-4DB2-BD59-A6C34878D82A}">
                    <a16:rowId xmlns:a16="http://schemas.microsoft.com/office/drawing/2014/main" val="3427382577"/>
                  </a:ext>
                </a:extLst>
              </a:tr>
              <a:tr h="370840">
                <a:tc>
                  <a:txBody>
                    <a:bodyPr/>
                    <a:lstStyle/>
                    <a:p>
                      <a:pPr algn="ctr"/>
                      <a:r>
                        <a:rPr lang="en-NZ" dirty="0"/>
                        <a:t>Residual</a:t>
                      </a:r>
                    </a:p>
                  </a:txBody>
                  <a:tcPr anchor="ctr"/>
                </a:tc>
                <a:tc>
                  <a:txBody>
                    <a:bodyPr/>
                    <a:lstStyle/>
                    <a:p>
                      <a:pPr algn="ctr"/>
                      <a:r>
                        <a:rPr lang="en-NZ" dirty="0"/>
                        <a:t>N-a-b+1</a:t>
                      </a:r>
                    </a:p>
                  </a:txBody>
                  <a:tcPr anchor="ctr"/>
                </a:tc>
                <a:tc>
                  <a:txBody>
                    <a:bodyPr/>
                    <a:lstStyle/>
                    <a:p>
                      <a:pPr algn="ctr"/>
                      <a:r>
                        <a:rPr lang="en-NZ" dirty="0"/>
                        <a:t>SSE</a:t>
                      </a:r>
                    </a:p>
                  </a:txBody>
                  <a:tcPr anchor="ctr"/>
                </a:tc>
                <a:tc>
                  <a:txBody>
                    <a:bodyPr/>
                    <a:lstStyle/>
                    <a:p>
                      <a:pPr algn="ctr"/>
                      <a:r>
                        <a:rPr lang="en-NZ" dirty="0"/>
                        <a:t>MSE = SSE / (N-a-b+1)</a:t>
                      </a:r>
                    </a:p>
                  </a:txBody>
                  <a:tcPr anchor="ctr"/>
                </a:tc>
                <a:tc>
                  <a:txBody>
                    <a:bodyPr/>
                    <a:lstStyle/>
                    <a:p>
                      <a:pPr algn="ctr"/>
                      <a:endParaRPr lang="en-NZ" dirty="0"/>
                    </a:p>
                  </a:txBody>
                  <a:tcPr anchor="ctr"/>
                </a:tc>
                <a:extLst>
                  <a:ext uri="{0D108BD9-81ED-4DB2-BD59-A6C34878D82A}">
                    <a16:rowId xmlns:a16="http://schemas.microsoft.com/office/drawing/2014/main" val="3328376915"/>
                  </a:ext>
                </a:extLst>
              </a:tr>
            </a:tbl>
          </a:graphicData>
        </a:graphic>
      </p:graphicFrame>
      <p:sp>
        <p:nvSpPr>
          <p:cNvPr id="14" name="Text Placeholder 5">
            <a:extLst>
              <a:ext uri="{FF2B5EF4-FFF2-40B4-BE49-F238E27FC236}">
                <a16:creationId xmlns:a16="http://schemas.microsoft.com/office/drawing/2014/main" id="{D14F9A0D-0B40-54A0-90AE-9A692F2C5878}"/>
              </a:ext>
            </a:extLst>
          </p:cNvPr>
          <p:cNvSpPr txBox="1">
            <a:spLocks/>
          </p:cNvSpPr>
          <p:nvPr/>
        </p:nvSpPr>
        <p:spPr>
          <a:xfrm>
            <a:off x="251222" y="4298483"/>
            <a:ext cx="4030492" cy="4182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The F-statistic for our hypothesis test is:    </a:t>
            </a:r>
          </a:p>
          <a:p>
            <a:pPr algn="just">
              <a:lnSpc>
                <a:spcPct val="100000"/>
              </a:lnSpc>
            </a:pPr>
            <a:endParaRPr lang="en-NZ" altLang="ja-JP" sz="1800" dirty="0">
              <a:solidFill>
                <a:schemeClr val="tx1"/>
              </a:solidFill>
            </a:endParaRPr>
          </a:p>
        </p:txBody>
      </p:sp>
      <mc:AlternateContent xmlns:mc="http://schemas.openxmlformats.org/markup-compatibility/2006" xmlns:a14="http://schemas.microsoft.com/office/drawing/2010/main">
        <mc:Choice Requires="a14">
          <p:sp>
            <p:nvSpPr>
              <p:cNvPr id="15" name="Text Placeholder 5">
                <a:extLst>
                  <a:ext uri="{FF2B5EF4-FFF2-40B4-BE49-F238E27FC236}">
                    <a16:creationId xmlns:a16="http://schemas.microsoft.com/office/drawing/2014/main" id="{ED15D1FC-6D62-64CE-3A22-6458D16833C2}"/>
                  </a:ext>
                </a:extLst>
              </p:cNvPr>
              <p:cNvSpPr txBox="1">
                <a:spLocks/>
              </p:cNvSpPr>
              <p:nvPr/>
            </p:nvSpPr>
            <p:spPr>
              <a:xfrm>
                <a:off x="450793" y="4584434"/>
                <a:ext cx="11222321" cy="96007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1800" b="1" i="1" smtClean="0">
                          <a:solidFill>
                            <a:schemeClr val="tx1"/>
                          </a:solidFill>
                          <a:latin typeface="Cambria Math" panose="02040503050406030204" pitchFamily="18" charset="0"/>
                        </a:rPr>
                        <m:t>𝑭</m:t>
                      </m:r>
                      <m:r>
                        <a:rPr lang="en-NZ" altLang="ja-JP" sz="1800" b="1" i="1" smtClean="0">
                          <a:solidFill>
                            <a:schemeClr val="tx1"/>
                          </a:solidFill>
                          <a:latin typeface="Cambria Math" panose="02040503050406030204" pitchFamily="18" charset="0"/>
                        </a:rPr>
                        <m:t> =  </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𝑴𝑺𝑻</m:t>
                          </m:r>
                        </m:num>
                        <m:den>
                          <m:r>
                            <a:rPr lang="en-NZ" altLang="ja-JP" sz="1800" b="1" i="1" smtClean="0">
                              <a:solidFill>
                                <a:schemeClr val="tx1"/>
                              </a:solidFill>
                              <a:latin typeface="Cambria Math" panose="02040503050406030204" pitchFamily="18" charset="0"/>
                            </a:rPr>
                            <m:t>𝑴𝑺𝑬</m:t>
                          </m:r>
                        </m:den>
                      </m:f>
                      <m:r>
                        <a:rPr lang="en-NZ" altLang="ja-JP" sz="1800" b="1" i="1" smtClean="0">
                          <a:solidFill>
                            <a:schemeClr val="tx1"/>
                          </a:solidFill>
                          <a:latin typeface="Cambria Math" panose="02040503050406030204" pitchFamily="18" charset="0"/>
                        </a:rPr>
                        <m:t>  =   </m:t>
                      </m:r>
                      <m:f>
                        <m:fPr>
                          <m:ctrlPr>
                            <a:rPr lang="en-NZ" altLang="ja-JP" sz="1800" b="1" i="1" smtClean="0">
                              <a:solidFill>
                                <a:schemeClr val="tx1"/>
                              </a:solidFill>
                              <a:latin typeface="Cambria Math" panose="02040503050406030204" pitchFamily="18" charset="0"/>
                            </a:rPr>
                          </m:ctrlPr>
                        </m:fPr>
                        <m:num>
                          <m:f>
                            <m:fPr>
                              <m:type m:val="lin"/>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𝑺𝑺𝑻</m:t>
                              </m:r>
                            </m:num>
                            <m:den>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𝒂</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r>
                                <a:rPr lang="en-NZ" altLang="ja-JP" sz="1800" b="1" i="1" smtClean="0">
                                  <a:solidFill>
                                    <a:schemeClr val="tx1"/>
                                  </a:solidFill>
                                  <a:latin typeface="Cambria Math" panose="02040503050406030204" pitchFamily="18" charset="0"/>
                                </a:rPr>
                                <m:t>)</m:t>
                              </m:r>
                            </m:den>
                          </m:f>
                        </m:num>
                        <m:den>
                          <m:f>
                            <m:fPr>
                              <m:type m:val="lin"/>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𝑺𝑺𝑬</m:t>
                              </m:r>
                            </m:num>
                            <m:den>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𝑵</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𝒂</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𝒃</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r>
                                <a:rPr lang="en-NZ" altLang="ja-JP" sz="1800" b="1" i="1" smtClean="0">
                                  <a:solidFill>
                                    <a:schemeClr val="tx1"/>
                                  </a:solidFill>
                                  <a:latin typeface="Cambria Math" panose="02040503050406030204" pitchFamily="18" charset="0"/>
                                </a:rPr>
                                <m:t>)</m:t>
                              </m:r>
                            </m:den>
                          </m:f>
                        </m:den>
                      </m:f>
                      <m:r>
                        <a:rPr lang="en-NZ" altLang="ja-JP" sz="1800" b="1" i="1" smtClean="0">
                          <a:solidFill>
                            <a:schemeClr val="tx1"/>
                          </a:solidFill>
                          <a:latin typeface="Cambria Math" panose="02040503050406030204" pitchFamily="18" charset="0"/>
                        </a:rPr>
                        <m:t>  =   </m:t>
                      </m:r>
                      <m:f>
                        <m:fPr>
                          <m:ctrlPr>
                            <a:rPr lang="en-NZ" altLang="ja-JP" sz="1800" b="1" i="1">
                              <a:solidFill>
                                <a:schemeClr val="tx1"/>
                              </a:solidFill>
                              <a:latin typeface="Cambria Math" panose="02040503050406030204" pitchFamily="18" charset="0"/>
                            </a:rPr>
                          </m:ctrlPr>
                        </m:fPr>
                        <m:num>
                          <m:f>
                            <m:fPr>
                              <m:type m:val="lin"/>
                              <m:ctrlPr>
                                <a:rPr lang="en-NZ" altLang="ja-JP" sz="1800" b="1" i="1">
                                  <a:solidFill>
                                    <a:schemeClr val="tx1"/>
                                  </a:solidFill>
                                  <a:latin typeface="Cambria Math" panose="02040503050406030204" pitchFamily="18" charset="0"/>
                                </a:rPr>
                              </m:ctrlPr>
                            </m:fPr>
                            <m:num>
                              <m:r>
                                <a:rPr lang="en-NZ" altLang="ja-JP" sz="1800" b="1" i="1">
                                  <a:solidFill>
                                    <a:schemeClr val="tx1"/>
                                  </a:solidFill>
                                  <a:latin typeface="Cambria Math" panose="02040503050406030204" pitchFamily="18" charset="0"/>
                                </a:rPr>
                                <m:t>𝒃𝒏</m:t>
                              </m:r>
                              <m:r>
                                <a:rPr lang="en-NZ" altLang="ja-JP" sz="1800" b="1" i="1">
                                  <a:solidFill>
                                    <a:schemeClr val="tx1"/>
                                  </a:solidFill>
                                  <a:latin typeface="Cambria Math" panose="02040503050406030204" pitchFamily="18" charset="0"/>
                                </a:rPr>
                                <m:t> </m:t>
                              </m:r>
                              <m:nary>
                                <m:naryPr>
                                  <m:chr m:val="∑"/>
                                  <m:ctrlPr>
                                    <a:rPr lang="en-NZ" altLang="ja-JP" sz="1800" b="1" i="1">
                                      <a:solidFill>
                                        <a:schemeClr val="tx1"/>
                                      </a:solidFill>
                                      <a:latin typeface="Cambria Math" panose="02040503050406030204" pitchFamily="18" charset="0"/>
                                    </a:rPr>
                                  </m:ctrlPr>
                                </m:naryPr>
                                <m:sub>
                                  <m:r>
                                    <m:rPr>
                                      <m:brk m:alnAt="23"/>
                                    </m:rPr>
                                    <a:rPr lang="en-NZ" altLang="ja-JP" sz="1800" b="1" i="1">
                                      <a:solidFill>
                                        <a:schemeClr val="tx1"/>
                                      </a:solidFill>
                                      <a:latin typeface="Cambria Math" panose="02040503050406030204" pitchFamily="18" charset="0"/>
                                    </a:rPr>
                                    <m:t>𝒊</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sub>
                                <m:sup>
                                  <m:r>
                                    <a:rPr lang="en-NZ" altLang="ja-JP" sz="1800" b="1" i="1">
                                      <a:solidFill>
                                        <a:schemeClr val="tx1"/>
                                      </a:solidFill>
                                      <a:latin typeface="Cambria Math" panose="02040503050406030204" pitchFamily="18" charset="0"/>
                                    </a:rPr>
                                    <m:t>𝒂</m:t>
                                  </m:r>
                                </m:sup>
                                <m:e>
                                  <m:sSup>
                                    <m:sSupPr>
                                      <m:ctrlPr>
                                        <a:rPr lang="en-NZ" altLang="ja-JP" sz="1800" b="1" i="1">
                                          <a:solidFill>
                                            <a:schemeClr val="tx1"/>
                                          </a:solidFill>
                                          <a:latin typeface="Cambria Math" panose="02040503050406030204" pitchFamily="18" charset="0"/>
                                          <a:ea typeface="Cambria Math" panose="02040503050406030204" pitchFamily="18" charset="0"/>
                                        </a:rPr>
                                      </m:ctrlPr>
                                    </m:sSupPr>
                                    <m:e>
                                      <m:d>
                                        <m:dPr>
                                          <m:ctrlPr>
                                            <a:rPr lang="en-NZ" altLang="ja-JP" sz="1800" b="1" i="1">
                                              <a:solidFill>
                                                <a:schemeClr val="tx1"/>
                                              </a:solidFill>
                                              <a:latin typeface="Cambria Math" panose="02040503050406030204" pitchFamily="18" charset="0"/>
                                            </a:rPr>
                                          </m:ctrlPr>
                                        </m:dPr>
                                        <m:e>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 </m:t>
                                              </m:r>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𝒀</m:t>
                                                  </m:r>
                                                </m:e>
                                              </m:acc>
                                            </m:e>
                                            <m:sub>
                                              <m:r>
                                                <a:rPr lang="en-NZ" altLang="ja-JP" sz="1800" b="1" i="1">
                                                  <a:solidFill>
                                                    <a:schemeClr val="tx1"/>
                                                  </a:solidFill>
                                                  <a:latin typeface="Cambria Math" panose="02040503050406030204" pitchFamily="18" charset="0"/>
                                                </a:rPr>
                                                <m:t>𝒊</m:t>
                                              </m:r>
                                              <m:r>
                                                <a:rPr lang="en-NZ" altLang="ja-JP" sz="1800" b="1" i="1">
                                                  <a:solidFill>
                                                    <a:schemeClr val="tx1"/>
                                                  </a:solidFill>
                                                  <a:latin typeface="Cambria Math" panose="02040503050406030204" pitchFamily="18" charset="0"/>
                                                  <a:ea typeface="Cambria Math" panose="02040503050406030204" pitchFamily="18" charset="0"/>
                                                </a:rPr>
                                                <m:t>∙∙</m:t>
                                              </m:r>
                                            </m:sub>
                                          </m:sSub>
                                          <m:r>
                                            <a:rPr lang="en-NZ" altLang="ja-JP" sz="1800" b="1" i="1">
                                              <a:solidFill>
                                                <a:schemeClr val="tx1"/>
                                              </a:solidFill>
                                              <a:latin typeface="Cambria Math" panose="02040503050406030204" pitchFamily="18" charset="0"/>
                                              <a:ea typeface="Cambria Math" panose="02040503050406030204" pitchFamily="18" charset="0"/>
                                            </a:rPr>
                                            <m:t>  − </m:t>
                                          </m:r>
                                          <m:sSub>
                                            <m:sSubPr>
                                              <m:ctrlPr>
                                                <a:rPr lang="en-NZ" altLang="ja-JP" sz="1800" b="1" i="1">
                                                  <a:solidFill>
                                                    <a:schemeClr val="tx1"/>
                                                  </a:solidFill>
                                                  <a:latin typeface="Cambria Math" panose="02040503050406030204" pitchFamily="18" charset="0"/>
                                                </a:rPr>
                                              </m:ctrlPr>
                                            </m:sSub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𝒀</m:t>
                                                  </m:r>
                                                </m:e>
                                              </m:acc>
                                            </m:e>
                                            <m:sub>
                                              <m:r>
                                                <a:rPr lang="en-NZ" altLang="ja-JP" sz="1800" b="1" i="1">
                                                  <a:solidFill>
                                                    <a:schemeClr val="tx1"/>
                                                  </a:solidFill>
                                                  <a:latin typeface="Cambria Math" panose="02040503050406030204" pitchFamily="18" charset="0"/>
                                                  <a:ea typeface="Cambria Math" panose="02040503050406030204" pitchFamily="18" charset="0"/>
                                                </a:rPr>
                                                <m:t>∙∙∙</m:t>
                                              </m:r>
                                            </m:sub>
                                          </m:sSub>
                                          <m:r>
                                            <a:rPr lang="en-NZ" altLang="ja-JP" sz="1800" b="1" i="1">
                                              <a:solidFill>
                                                <a:schemeClr val="tx1"/>
                                              </a:solidFill>
                                              <a:latin typeface="Cambria Math" panose="02040503050406030204" pitchFamily="18" charset="0"/>
                                              <a:ea typeface="Cambria Math" panose="02040503050406030204" pitchFamily="18" charset="0"/>
                                            </a:rPr>
                                            <m:t> </m:t>
                                          </m:r>
                                        </m:e>
                                      </m:d>
                                    </m:e>
                                    <m:sup>
                                      <m:r>
                                        <a:rPr lang="en-NZ" altLang="ja-JP" sz="1800" b="1" i="1">
                                          <a:solidFill>
                                            <a:schemeClr val="tx1"/>
                                          </a:solidFill>
                                          <a:latin typeface="Cambria Math" panose="02040503050406030204" pitchFamily="18" charset="0"/>
                                          <a:ea typeface="Cambria Math" panose="02040503050406030204" pitchFamily="18" charset="0"/>
                                        </a:rPr>
                                        <m:t>𝟐</m:t>
                                      </m:r>
                                    </m:sup>
                                  </m:sSup>
                                </m:e>
                              </m:nary>
                            </m:num>
                            <m:den>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𝒂</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r>
                                <a:rPr lang="en-NZ" altLang="ja-JP" sz="1800" b="1" i="1">
                                  <a:solidFill>
                                    <a:schemeClr val="tx1"/>
                                  </a:solidFill>
                                  <a:latin typeface="Cambria Math" panose="02040503050406030204" pitchFamily="18" charset="0"/>
                                </a:rPr>
                                <m:t>)</m:t>
                              </m:r>
                            </m:den>
                          </m:f>
                        </m:num>
                        <m:den>
                          <m:f>
                            <m:fPr>
                              <m:type m:val="lin"/>
                              <m:ctrlPr>
                                <a:rPr lang="en-NZ" altLang="ja-JP" sz="1800" b="1" i="1">
                                  <a:solidFill>
                                    <a:schemeClr val="tx1"/>
                                  </a:solidFill>
                                  <a:latin typeface="Cambria Math" panose="02040503050406030204" pitchFamily="18" charset="0"/>
                                </a:rPr>
                              </m:ctrlPr>
                            </m:fPr>
                            <m:num>
                              <m:nary>
                                <m:naryPr>
                                  <m:chr m:val="∑"/>
                                  <m:ctrlPr>
                                    <a:rPr lang="en-NZ" altLang="ja-JP" sz="1800" b="1" i="1">
                                      <a:solidFill>
                                        <a:schemeClr val="tx1"/>
                                      </a:solidFill>
                                      <a:latin typeface="Cambria Math" panose="02040503050406030204" pitchFamily="18" charset="0"/>
                                    </a:rPr>
                                  </m:ctrlPr>
                                </m:naryPr>
                                <m:sub>
                                  <m:r>
                                    <m:rPr>
                                      <m:brk m:alnAt="23"/>
                                    </m:rPr>
                                    <a:rPr lang="en-NZ" altLang="ja-JP" sz="1800" b="1" i="1">
                                      <a:solidFill>
                                        <a:schemeClr val="tx1"/>
                                      </a:solidFill>
                                      <a:latin typeface="Cambria Math" panose="02040503050406030204" pitchFamily="18" charset="0"/>
                                    </a:rPr>
                                    <m:t>𝒊</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sub>
                                <m:sup>
                                  <m:r>
                                    <a:rPr lang="en-NZ" altLang="ja-JP" sz="1800" b="1" i="1">
                                      <a:solidFill>
                                        <a:schemeClr val="tx1"/>
                                      </a:solidFill>
                                      <a:latin typeface="Cambria Math" panose="02040503050406030204" pitchFamily="18" charset="0"/>
                                    </a:rPr>
                                    <m:t>𝒂</m:t>
                                  </m:r>
                                </m:sup>
                                <m:e>
                                  <m:nary>
                                    <m:naryPr>
                                      <m:chr m:val="∑"/>
                                      <m:ctrlPr>
                                        <a:rPr lang="en-NZ" altLang="ja-JP" sz="1800" b="1" i="1">
                                          <a:solidFill>
                                            <a:schemeClr val="tx1"/>
                                          </a:solidFill>
                                          <a:latin typeface="Cambria Math" panose="02040503050406030204" pitchFamily="18" charset="0"/>
                                        </a:rPr>
                                      </m:ctrlPr>
                                    </m:naryPr>
                                    <m:sub>
                                      <m:r>
                                        <m:rPr>
                                          <m:brk m:alnAt="23"/>
                                        </m:rPr>
                                        <a:rPr lang="en-NZ" altLang="ja-JP" sz="1800" b="1" i="1">
                                          <a:solidFill>
                                            <a:schemeClr val="tx1"/>
                                          </a:solidFill>
                                          <a:latin typeface="Cambria Math" panose="02040503050406030204" pitchFamily="18" charset="0"/>
                                        </a:rPr>
                                        <m:t>𝒋</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sub>
                                    <m:sup>
                                      <m:r>
                                        <a:rPr lang="en-NZ" altLang="ja-JP" sz="1800" b="1" i="1">
                                          <a:solidFill>
                                            <a:schemeClr val="tx1"/>
                                          </a:solidFill>
                                          <a:latin typeface="Cambria Math" panose="02040503050406030204" pitchFamily="18" charset="0"/>
                                        </a:rPr>
                                        <m:t>𝒃</m:t>
                                      </m:r>
                                    </m:sup>
                                    <m:e>
                                      <m:nary>
                                        <m:naryPr>
                                          <m:chr m:val="∑"/>
                                          <m:ctrlPr>
                                            <a:rPr lang="en-NZ" altLang="ja-JP" sz="1800" b="1" i="1">
                                              <a:solidFill>
                                                <a:schemeClr val="tx1"/>
                                              </a:solidFill>
                                              <a:latin typeface="Cambria Math" panose="02040503050406030204" pitchFamily="18" charset="0"/>
                                            </a:rPr>
                                          </m:ctrlPr>
                                        </m:naryPr>
                                        <m:sub>
                                          <m:r>
                                            <m:rPr>
                                              <m:brk m:alnAt="23"/>
                                            </m:rPr>
                                            <a:rPr lang="en-NZ" altLang="ja-JP" sz="1800" b="1" i="1">
                                              <a:solidFill>
                                                <a:schemeClr val="tx1"/>
                                              </a:solidFill>
                                              <a:latin typeface="Cambria Math" panose="02040503050406030204" pitchFamily="18" charset="0"/>
                                            </a:rPr>
                                            <m:t>𝒌</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sub>
                                        <m:sup>
                                          <m:r>
                                            <a:rPr lang="en-NZ" altLang="ja-JP" sz="1800" b="1" i="1">
                                              <a:solidFill>
                                                <a:schemeClr val="tx1"/>
                                              </a:solidFill>
                                              <a:latin typeface="Cambria Math" panose="02040503050406030204" pitchFamily="18" charset="0"/>
                                            </a:rPr>
                                            <m:t>𝒏</m:t>
                                          </m:r>
                                        </m:sup>
                                        <m:e>
                                          <m:sSup>
                                            <m:sSupPr>
                                              <m:ctrlPr>
                                                <a:rPr lang="en-NZ" altLang="ja-JP" sz="1800" b="1" i="1">
                                                  <a:solidFill>
                                                    <a:schemeClr val="tx1"/>
                                                  </a:solidFill>
                                                  <a:latin typeface="Cambria Math" panose="02040503050406030204" pitchFamily="18" charset="0"/>
                                                </a:rPr>
                                              </m:ctrlPr>
                                            </m:sSupPr>
                                            <m:e>
                                              <m:d>
                                                <m:dPr>
                                                  <m:ctrlPr>
                                                    <a:rPr lang="en-NZ" altLang="ja-JP" sz="1800" b="1" i="1">
                                                      <a:solidFill>
                                                        <a:schemeClr val="tx1"/>
                                                      </a:solidFill>
                                                      <a:latin typeface="Cambria Math" panose="02040503050406030204" pitchFamily="18" charset="0"/>
                                                    </a:rPr>
                                                  </m:ctrlPr>
                                                </m:dPr>
                                                <m:e>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𝒀</m:t>
                                                      </m:r>
                                                    </m:e>
                                                    <m:sub>
                                                      <m:r>
                                                        <a:rPr lang="en-NZ" altLang="ja-JP" sz="1800" b="1" i="1">
                                                          <a:solidFill>
                                                            <a:schemeClr val="tx1"/>
                                                          </a:solidFill>
                                                          <a:latin typeface="Cambria Math" panose="02040503050406030204" pitchFamily="18" charset="0"/>
                                                        </a:rPr>
                                                        <m:t>𝒊𝒋𝒌</m:t>
                                                      </m:r>
                                                    </m:sub>
                                                  </m:sSub>
                                                  <m:r>
                                                    <a:rPr lang="en-NZ" altLang="ja-JP" sz="1800" b="1" i="1">
                                                      <a:solidFill>
                                                        <a:schemeClr val="tx1"/>
                                                      </a:solidFill>
                                                      <a:latin typeface="Cambria Math" panose="02040503050406030204" pitchFamily="18" charset="0"/>
                                                    </a:rPr>
                                                    <m:t> −</m:t>
                                                  </m:r>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 </m:t>
                                                      </m:r>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𝒀</m:t>
                                                          </m:r>
                                                        </m:e>
                                                      </m:acc>
                                                    </m:e>
                                                    <m:sub>
                                                      <m:r>
                                                        <a:rPr lang="en-NZ" altLang="ja-JP" sz="1800" b="1" i="1">
                                                          <a:solidFill>
                                                            <a:schemeClr val="tx1"/>
                                                          </a:solidFill>
                                                          <a:latin typeface="Cambria Math" panose="02040503050406030204" pitchFamily="18" charset="0"/>
                                                        </a:rPr>
                                                        <m:t>𝒊</m:t>
                                                      </m:r>
                                                      <m:r>
                                                        <a:rPr lang="en-NZ" altLang="ja-JP" sz="1800" b="1" i="1">
                                                          <a:solidFill>
                                                            <a:schemeClr val="tx1"/>
                                                          </a:solidFill>
                                                          <a:latin typeface="Cambria Math" panose="02040503050406030204" pitchFamily="18" charset="0"/>
                                                          <a:ea typeface="Cambria Math" panose="02040503050406030204" pitchFamily="18" charset="0"/>
                                                        </a:rPr>
                                                        <m:t>∙∙</m:t>
                                                      </m:r>
                                                    </m:sub>
                                                  </m:sSub>
                                                  <m:r>
                                                    <a:rPr lang="en-NZ" altLang="ja-JP" sz="1800" b="1" i="1">
                                                      <a:solidFill>
                                                        <a:schemeClr val="tx1"/>
                                                      </a:solidFill>
                                                      <a:latin typeface="Cambria Math" panose="02040503050406030204" pitchFamily="18" charset="0"/>
                                                    </a:rPr>
                                                    <m:t>−</m:t>
                                                  </m:r>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 </m:t>
                                                      </m:r>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𝒀</m:t>
                                                          </m:r>
                                                        </m:e>
                                                      </m:acc>
                                                    </m:e>
                                                    <m:sub>
                                                      <m:r>
                                                        <a:rPr lang="en-NZ" altLang="ja-JP" sz="1800" b="1" i="1">
                                                          <a:solidFill>
                                                            <a:schemeClr val="tx1"/>
                                                          </a:solidFill>
                                                          <a:latin typeface="Cambria Math" panose="02040503050406030204" pitchFamily="18" charset="0"/>
                                                          <a:ea typeface="Cambria Math" panose="02040503050406030204" pitchFamily="18" charset="0"/>
                                                        </a:rPr>
                                                        <m:t>∙</m:t>
                                                      </m:r>
                                                      <m:r>
                                                        <a:rPr lang="en-NZ" altLang="ja-JP" sz="1800" b="1" i="1">
                                                          <a:solidFill>
                                                            <a:schemeClr val="tx1"/>
                                                          </a:solidFill>
                                                          <a:latin typeface="Cambria Math" panose="02040503050406030204" pitchFamily="18" charset="0"/>
                                                          <a:ea typeface="Cambria Math" panose="02040503050406030204" pitchFamily="18" charset="0"/>
                                                        </a:rPr>
                                                        <m:t>𝒋</m:t>
                                                      </m:r>
                                                      <m:r>
                                                        <a:rPr lang="en-NZ" altLang="ja-JP" sz="1800" b="1" i="1">
                                                          <a:solidFill>
                                                            <a:schemeClr val="tx1"/>
                                                          </a:solidFill>
                                                          <a:latin typeface="Cambria Math" panose="02040503050406030204" pitchFamily="18" charset="0"/>
                                                          <a:ea typeface="Cambria Math" panose="02040503050406030204" pitchFamily="18" charset="0"/>
                                                        </a:rPr>
                                                        <m:t>∙</m:t>
                                                      </m:r>
                                                    </m:sub>
                                                  </m:sSub>
                                                  <m:r>
                                                    <a:rPr lang="en-NZ" altLang="ja-JP" sz="1800" b="1" i="1">
                                                      <a:solidFill>
                                                        <a:schemeClr val="tx1"/>
                                                      </a:solidFill>
                                                      <a:latin typeface="Cambria Math" panose="02040503050406030204" pitchFamily="18" charset="0"/>
                                                      <a:ea typeface="Cambria Math" panose="02040503050406030204" pitchFamily="18" charset="0"/>
                                                    </a:rPr>
                                                    <m:t>+ </m:t>
                                                  </m:r>
                                                  <m:sSub>
                                                    <m:sSubPr>
                                                      <m:ctrlPr>
                                                        <a:rPr lang="en-NZ" altLang="ja-JP" sz="1800" b="1" i="1">
                                                          <a:solidFill>
                                                            <a:schemeClr val="tx1"/>
                                                          </a:solidFill>
                                                          <a:latin typeface="Cambria Math" panose="02040503050406030204" pitchFamily="18" charset="0"/>
                                                        </a:rPr>
                                                      </m:ctrlPr>
                                                    </m:sSub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𝒀</m:t>
                                                          </m:r>
                                                        </m:e>
                                                      </m:acc>
                                                    </m:e>
                                                    <m:sub>
                                                      <m:r>
                                                        <a:rPr lang="en-NZ" altLang="ja-JP" sz="1800" b="1" i="1">
                                                          <a:solidFill>
                                                            <a:schemeClr val="tx1"/>
                                                          </a:solidFill>
                                                          <a:latin typeface="Cambria Math" panose="02040503050406030204" pitchFamily="18" charset="0"/>
                                                          <a:ea typeface="Cambria Math" panose="02040503050406030204" pitchFamily="18" charset="0"/>
                                                        </a:rPr>
                                                        <m:t>∙∙∙</m:t>
                                                      </m:r>
                                                    </m:sub>
                                                  </m:sSub>
                                                  <m:r>
                                                    <a:rPr lang="en-NZ" altLang="ja-JP" sz="1800" b="1" i="1">
                                                      <a:solidFill>
                                                        <a:schemeClr val="tx1"/>
                                                      </a:solidFill>
                                                      <a:latin typeface="Cambria Math" panose="02040503050406030204" pitchFamily="18" charset="0"/>
                                                      <a:ea typeface="Cambria Math" panose="02040503050406030204" pitchFamily="18" charset="0"/>
                                                    </a:rPr>
                                                    <m:t> </m:t>
                                                  </m:r>
                                                </m:e>
                                              </m:d>
                                            </m:e>
                                            <m:sup>
                                              <m:r>
                                                <a:rPr lang="en-NZ" altLang="ja-JP" sz="1800" b="1" i="1">
                                                  <a:solidFill>
                                                    <a:schemeClr val="tx1"/>
                                                  </a:solidFill>
                                                  <a:latin typeface="Cambria Math" panose="02040503050406030204" pitchFamily="18" charset="0"/>
                                                </a:rPr>
                                                <m:t>𝟐</m:t>
                                              </m:r>
                                            </m:sup>
                                          </m:sSup>
                                        </m:e>
                                      </m:nary>
                                    </m:e>
                                  </m:nary>
                                </m:e>
                              </m:nary>
                            </m:num>
                            <m:den>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𝑵</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𝒂</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𝒃</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r>
                                <a:rPr lang="en-NZ" altLang="ja-JP" sz="1800" b="1" i="1">
                                  <a:solidFill>
                                    <a:schemeClr val="tx1"/>
                                  </a:solidFill>
                                  <a:latin typeface="Cambria Math" panose="02040503050406030204" pitchFamily="18" charset="0"/>
                                </a:rPr>
                                <m:t>)</m:t>
                              </m:r>
                            </m:den>
                          </m:f>
                        </m:den>
                      </m:f>
                    </m:oMath>
                  </m:oMathPara>
                </a14:m>
                <a:endParaRPr lang="en-NZ" altLang="ja-JP" sz="1800" b="1" dirty="0">
                  <a:solidFill>
                    <a:schemeClr val="tx1"/>
                  </a:solidFill>
                </a:endParaRPr>
              </a:p>
              <a:p>
                <a:pPr algn="just">
                  <a:lnSpc>
                    <a:spcPct val="100000"/>
                  </a:lnSpc>
                </a:pPr>
                <a:endParaRPr lang="en-NZ" altLang="ja-JP" sz="1800" b="1" dirty="0">
                  <a:solidFill>
                    <a:schemeClr val="tx1"/>
                  </a:solidFill>
                </a:endParaRPr>
              </a:p>
            </p:txBody>
          </p:sp>
        </mc:Choice>
        <mc:Fallback xmlns="">
          <p:sp>
            <p:nvSpPr>
              <p:cNvPr id="15" name="Text Placeholder 5">
                <a:extLst>
                  <a:ext uri="{FF2B5EF4-FFF2-40B4-BE49-F238E27FC236}">
                    <a16:creationId xmlns:a16="http://schemas.microsoft.com/office/drawing/2014/main" id="{ED15D1FC-6D62-64CE-3A22-6458D16833C2}"/>
                  </a:ext>
                </a:extLst>
              </p:cNvPr>
              <p:cNvSpPr txBox="1">
                <a:spLocks noRot="1" noChangeAspect="1" noMove="1" noResize="1" noEditPoints="1" noAdjustHandles="1" noChangeArrowheads="1" noChangeShapeType="1" noTextEdit="1"/>
              </p:cNvSpPr>
              <p:nvPr/>
            </p:nvSpPr>
            <p:spPr>
              <a:xfrm>
                <a:off x="450793" y="4584434"/>
                <a:ext cx="11222321" cy="960076"/>
              </a:xfrm>
              <a:prstGeom prst="rect">
                <a:avLst/>
              </a:prstGeom>
              <a:blipFill>
                <a:blip r:embed="rId3"/>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59B57512-77DD-89AC-D69A-D7AD82E1799C}"/>
                  </a:ext>
                </a:extLst>
              </p:cNvPr>
              <p:cNvSpPr txBox="1">
                <a:spLocks/>
              </p:cNvSpPr>
              <p:nvPr/>
            </p:nvSpPr>
            <p:spPr>
              <a:xfrm>
                <a:off x="251222" y="5590099"/>
                <a:ext cx="11222321" cy="4182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b="1" dirty="0">
                    <a:solidFill>
                      <a:srgbClr val="C00000"/>
                    </a:solidFill>
                  </a:rPr>
                  <a:t>If</a:t>
                </a:r>
                <a:r>
                  <a:rPr lang="en-NZ" altLang="ja-JP" sz="1800" dirty="0">
                    <a:solidFill>
                      <a:schemeClr val="tx1"/>
                    </a:solidFill>
                  </a:rPr>
                  <a:t> the ANOVA conditions of independence, normality and constant variance hold </a:t>
                </a:r>
                <a:r>
                  <a:rPr lang="en-NZ" altLang="ja-JP" sz="1800" b="1" dirty="0">
                    <a:solidFill>
                      <a:srgbClr val="C00000"/>
                    </a:solidFill>
                  </a:rPr>
                  <a:t>in each cell </a:t>
                </a:r>
                <a:r>
                  <a:rPr lang="en-NZ" altLang="ja-JP" sz="1800" dirty="0">
                    <a:solidFill>
                      <a:schemeClr val="tx1"/>
                    </a:solidFill>
                  </a:rPr>
                  <a:t>then </a:t>
                </a:r>
                <a14:m>
                  <m:oMath xmlns:m="http://schemas.openxmlformats.org/officeDocument/2006/math">
                    <m:r>
                      <a:rPr lang="en-NZ" altLang="ja-JP" sz="1800" b="1" i="1" smtClean="0">
                        <a:solidFill>
                          <a:schemeClr val="tx1"/>
                        </a:solidFill>
                        <a:latin typeface="Cambria Math" panose="02040503050406030204" pitchFamily="18" charset="0"/>
                      </a:rPr>
                      <m:t>𝑭</m:t>
                    </m:r>
                    <m:r>
                      <a:rPr lang="en-NZ" altLang="ja-JP" sz="1800" b="1" i="1" smtClean="0">
                        <a:solidFill>
                          <a:schemeClr val="tx1"/>
                        </a:solidFill>
                        <a:latin typeface="Cambria Math" panose="02040503050406030204" pitchFamily="18" charset="0"/>
                      </a:rPr>
                      <m:t> ~ </m:t>
                    </m:r>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𝑭</m:t>
                        </m:r>
                      </m:e>
                      <m:sub>
                        <m:r>
                          <a:rPr lang="en-NZ" altLang="ja-JP" sz="1800" b="1" i="1" smtClean="0">
                            <a:solidFill>
                              <a:schemeClr val="tx1"/>
                            </a:solidFill>
                            <a:latin typeface="Cambria Math" panose="02040503050406030204" pitchFamily="18" charset="0"/>
                          </a:rPr>
                          <m:t>𝒂</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r>
                          <a:rPr lang="en-NZ" altLang="ja-JP" sz="1800" b="1" i="1" smtClean="0">
                            <a:solidFill>
                              <a:schemeClr val="tx1"/>
                            </a:solidFill>
                            <a:latin typeface="Cambria Math" panose="02040503050406030204" pitchFamily="18" charset="0"/>
                          </a:rPr>
                          <m:t> ,   </m:t>
                        </m:r>
                        <m:r>
                          <a:rPr lang="en-NZ" altLang="ja-JP" sz="1800" b="1" i="1" smtClean="0">
                            <a:solidFill>
                              <a:schemeClr val="tx1"/>
                            </a:solidFill>
                            <a:latin typeface="Cambria Math" panose="02040503050406030204" pitchFamily="18" charset="0"/>
                          </a:rPr>
                          <m:t>𝑵</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𝒂</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𝒃</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b>
                    </m:sSub>
                  </m:oMath>
                </a14:m>
                <a:r>
                  <a:rPr lang="en-NZ" altLang="ja-JP" sz="1800" dirty="0">
                    <a:solidFill>
                      <a:schemeClr val="tx1"/>
                    </a:solidFill>
                  </a:rPr>
                  <a:t> </a:t>
                </a:r>
              </a:p>
              <a:p>
                <a:pPr algn="just">
                  <a:lnSpc>
                    <a:spcPct val="100000"/>
                  </a:lnSpc>
                </a:pPr>
                <a:endParaRPr lang="en-NZ" altLang="ja-JP" sz="1800" dirty="0">
                  <a:solidFill>
                    <a:schemeClr val="tx1"/>
                  </a:solidFill>
                </a:endParaRPr>
              </a:p>
            </p:txBody>
          </p:sp>
        </mc:Choice>
        <mc:Fallback xmlns="">
          <p:sp>
            <p:nvSpPr>
              <p:cNvPr id="16" name="Text Placeholder 5">
                <a:extLst>
                  <a:ext uri="{FF2B5EF4-FFF2-40B4-BE49-F238E27FC236}">
                    <a16:creationId xmlns:a16="http://schemas.microsoft.com/office/drawing/2014/main" id="{59B57512-77DD-89AC-D69A-D7AD82E1799C}"/>
                  </a:ext>
                </a:extLst>
              </p:cNvPr>
              <p:cNvSpPr txBox="1">
                <a:spLocks noRot="1" noChangeAspect="1" noMove="1" noResize="1" noEditPoints="1" noAdjustHandles="1" noChangeArrowheads="1" noChangeShapeType="1" noTextEdit="1"/>
              </p:cNvSpPr>
              <p:nvPr/>
            </p:nvSpPr>
            <p:spPr>
              <a:xfrm>
                <a:off x="251222" y="5590099"/>
                <a:ext cx="11222321" cy="418233"/>
              </a:xfrm>
              <a:prstGeom prst="rect">
                <a:avLst/>
              </a:prstGeom>
              <a:blipFill>
                <a:blip r:embed="rId4"/>
                <a:stretch>
                  <a:fillRect l="-435" t="-5797" b="-11594"/>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7" name="Text Placeholder 5">
                <a:extLst>
                  <a:ext uri="{FF2B5EF4-FFF2-40B4-BE49-F238E27FC236}">
                    <a16:creationId xmlns:a16="http://schemas.microsoft.com/office/drawing/2014/main" id="{B3D7CEF5-8DF8-2D4F-404F-CB2E93090627}"/>
                  </a:ext>
                </a:extLst>
              </p:cNvPr>
              <p:cNvSpPr txBox="1">
                <a:spLocks/>
              </p:cNvSpPr>
              <p:nvPr/>
            </p:nvSpPr>
            <p:spPr>
              <a:xfrm>
                <a:off x="251222" y="6020826"/>
                <a:ext cx="11222321" cy="77280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We calculate the value of </a:t>
                </a:r>
                <a:r>
                  <a:rPr lang="en-NZ" altLang="ja-JP" sz="1800" b="1" i="1" dirty="0">
                    <a:solidFill>
                      <a:schemeClr val="tx1"/>
                    </a:solidFill>
                  </a:rPr>
                  <a:t>F</a:t>
                </a:r>
                <a:r>
                  <a:rPr lang="en-NZ" altLang="ja-JP" sz="1800" b="1" i="1" baseline="-25000" dirty="0">
                    <a:solidFill>
                      <a:schemeClr val="tx1"/>
                    </a:solidFill>
                  </a:rPr>
                  <a:t>obs</a:t>
                </a:r>
                <a:r>
                  <a:rPr lang="en-NZ" altLang="ja-JP" sz="1800" dirty="0">
                    <a:solidFill>
                      <a:schemeClr val="tx1"/>
                    </a:solidFill>
                  </a:rPr>
                  <a:t> and see where this lies in the distribution of </a:t>
                </a:r>
                <a14:m>
                  <m:oMath xmlns:m="http://schemas.openxmlformats.org/officeDocument/2006/math">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𝑭</m:t>
                        </m:r>
                      </m:e>
                      <m:sub>
                        <m:r>
                          <a:rPr lang="en-NZ" altLang="ja-JP" sz="1800" b="1" i="1">
                            <a:solidFill>
                              <a:schemeClr val="tx1"/>
                            </a:solidFill>
                            <a:latin typeface="Cambria Math" panose="02040503050406030204" pitchFamily="18" charset="0"/>
                          </a:rPr>
                          <m:t>𝒂</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r>
                          <a:rPr lang="en-NZ" altLang="ja-JP" sz="1800" b="1" i="1">
                            <a:solidFill>
                              <a:schemeClr val="tx1"/>
                            </a:solidFill>
                            <a:latin typeface="Cambria Math" panose="02040503050406030204" pitchFamily="18" charset="0"/>
                          </a:rPr>
                          <m:t> , </m:t>
                        </m:r>
                        <m:r>
                          <a:rPr lang="en-NZ" altLang="ja-JP" sz="1800" b="1" i="1">
                            <a:solidFill>
                              <a:schemeClr val="tx1"/>
                            </a:solidFill>
                            <a:latin typeface="Cambria Math" panose="02040503050406030204" pitchFamily="18" charset="0"/>
                          </a:rPr>
                          <m:t>𝑵</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𝒂</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𝒃</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sub>
                    </m:sSub>
                  </m:oMath>
                </a14:m>
                <a:r>
                  <a:rPr lang="en-NZ" altLang="ja-JP" sz="1800" dirty="0">
                    <a:solidFill>
                      <a:schemeClr val="tx1"/>
                    </a:solidFill>
                  </a:rPr>
                  <a:t>.</a:t>
                </a:r>
              </a:p>
              <a:p>
                <a:pPr algn="just">
                  <a:lnSpc>
                    <a:spcPct val="100000"/>
                  </a:lnSpc>
                </a:pPr>
                <a:r>
                  <a:rPr lang="en-NZ" altLang="ja-JP" sz="1800" dirty="0">
                    <a:solidFill>
                      <a:schemeClr val="tx1"/>
                    </a:solidFill>
                  </a:rPr>
                  <a:t>The smaller the p-value </a:t>
                </a:r>
                <a14:m>
                  <m:oMath xmlns:m="http://schemas.openxmlformats.org/officeDocument/2006/math">
                    <m:r>
                      <a:rPr lang="en-NZ" altLang="ja-JP" sz="1800" b="1" i="1" smtClean="0">
                        <a:solidFill>
                          <a:schemeClr val="tx1"/>
                        </a:solidFill>
                        <a:latin typeface="Cambria Math" panose="02040503050406030204" pitchFamily="18" charset="0"/>
                      </a:rPr>
                      <m:t>𝑷</m:t>
                    </m:r>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𝑭</m:t>
                    </m:r>
                    <m:r>
                      <a:rPr lang="en-NZ" altLang="ja-JP" sz="1800" b="1" i="1" smtClean="0">
                        <a:solidFill>
                          <a:schemeClr val="tx1"/>
                        </a:solidFill>
                        <a:latin typeface="Cambria Math" panose="02040503050406030204" pitchFamily="18" charset="0"/>
                      </a:rPr>
                      <m:t>≥</m:t>
                    </m:r>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𝑭</m:t>
                        </m:r>
                      </m:e>
                      <m:sub>
                        <m:r>
                          <a:rPr lang="en-NZ" altLang="ja-JP" sz="1800" b="1" i="1" smtClean="0">
                            <a:solidFill>
                              <a:schemeClr val="tx1"/>
                            </a:solidFill>
                            <a:latin typeface="Cambria Math" panose="02040503050406030204" pitchFamily="18" charset="0"/>
                          </a:rPr>
                          <m:t>𝒐𝒃𝒔</m:t>
                        </m:r>
                      </m:sub>
                    </m:sSub>
                    <m:r>
                      <a:rPr lang="en-NZ" altLang="ja-JP" sz="1800" b="1" i="1" smtClean="0">
                        <a:solidFill>
                          <a:schemeClr val="tx1"/>
                        </a:solidFill>
                        <a:latin typeface="Cambria Math" panose="02040503050406030204" pitchFamily="18" charset="0"/>
                      </a:rPr>
                      <m:t>)</m:t>
                    </m:r>
                  </m:oMath>
                </a14:m>
                <a:r>
                  <a:rPr lang="en-NZ" altLang="ja-JP" sz="1800" b="1" dirty="0">
                    <a:solidFill>
                      <a:schemeClr val="tx1"/>
                    </a:solidFill>
                  </a:rPr>
                  <a:t> </a:t>
                </a:r>
                <a:r>
                  <a:rPr lang="en-NZ" altLang="ja-JP" sz="1800" dirty="0">
                    <a:solidFill>
                      <a:schemeClr val="tx1"/>
                    </a:solidFill>
                  </a:rPr>
                  <a:t>the more evidence we have against the null hypothesis. </a:t>
                </a:r>
              </a:p>
              <a:p>
                <a:pPr algn="just">
                  <a:lnSpc>
                    <a:spcPct val="100000"/>
                  </a:lnSpc>
                </a:pPr>
                <a:endParaRPr lang="en-NZ" altLang="ja-JP" sz="1800" dirty="0">
                  <a:solidFill>
                    <a:schemeClr val="tx1"/>
                  </a:solidFill>
                </a:endParaRPr>
              </a:p>
            </p:txBody>
          </p:sp>
        </mc:Choice>
        <mc:Fallback xmlns="">
          <p:sp>
            <p:nvSpPr>
              <p:cNvPr id="17" name="Text Placeholder 5">
                <a:extLst>
                  <a:ext uri="{FF2B5EF4-FFF2-40B4-BE49-F238E27FC236}">
                    <a16:creationId xmlns:a16="http://schemas.microsoft.com/office/drawing/2014/main" id="{B3D7CEF5-8DF8-2D4F-404F-CB2E93090627}"/>
                  </a:ext>
                </a:extLst>
              </p:cNvPr>
              <p:cNvSpPr txBox="1">
                <a:spLocks noRot="1" noChangeAspect="1" noMove="1" noResize="1" noEditPoints="1" noAdjustHandles="1" noChangeArrowheads="1" noChangeShapeType="1" noTextEdit="1"/>
              </p:cNvSpPr>
              <p:nvPr/>
            </p:nvSpPr>
            <p:spPr>
              <a:xfrm>
                <a:off x="251222" y="6020826"/>
                <a:ext cx="11222321" cy="772806"/>
              </a:xfrm>
              <a:prstGeom prst="rect">
                <a:avLst/>
              </a:prstGeom>
              <a:blipFill>
                <a:blip r:embed="rId5"/>
                <a:stretch>
                  <a:fillRect l="-435" t="-3968"/>
                </a:stretch>
              </a:blipFill>
            </p:spPr>
            <p:txBody>
              <a:bodyPr/>
              <a:lstStyle/>
              <a:p>
                <a:r>
                  <a:rPr lang="en-NZ">
                    <a:noFill/>
                  </a:rPr>
                  <a:t> </a:t>
                </a:r>
              </a:p>
            </p:txBody>
          </p:sp>
        </mc:Fallback>
      </mc:AlternateContent>
      <p:sp>
        <p:nvSpPr>
          <p:cNvPr id="18" name="Footer Placeholder 2">
            <a:extLst>
              <a:ext uri="{FF2B5EF4-FFF2-40B4-BE49-F238E27FC236}">
                <a16:creationId xmlns:a16="http://schemas.microsoft.com/office/drawing/2014/main" id="{954FD4C5-9137-5CEF-85F7-B4BAABFAA832}"/>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4.3 – </a:t>
            </a:r>
            <a:r>
              <a:rPr kumimoji="1" lang="en-US" altLang="ja-JP" sz="1600" dirty="0">
                <a:solidFill>
                  <a:srgbClr val="DEDDDD"/>
                </a:solidFill>
                <a:latin typeface="Gidole"/>
                <a:ea typeface="游ゴシック" panose="020B0400000000000000" pitchFamily="34" charset="-128"/>
              </a:rPr>
              <a:t>Fixed Effects Model</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4291700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3" name="Title 6">
            <a:extLst>
              <a:ext uri="{FF2B5EF4-FFF2-40B4-BE49-F238E27FC236}">
                <a16:creationId xmlns:a16="http://schemas.microsoft.com/office/drawing/2014/main" id="{539E1FA8-24B4-FFD9-7C26-8B31D6C98125}"/>
              </a:ext>
            </a:extLst>
          </p:cNvPr>
          <p:cNvSpPr txBox="1">
            <a:spLocks/>
          </p:cNvSpPr>
          <p:nvPr/>
        </p:nvSpPr>
        <p:spPr>
          <a:xfrm>
            <a:off x="251223" y="237833"/>
            <a:ext cx="8617005" cy="607201"/>
          </a:xfrm>
          <a:prstGeom prst="rect">
            <a:avLst/>
          </a:prstGeom>
        </p:spPr>
        <p:txBody>
          <a:bodyPr anchor="t">
            <a:normAutofit fontScale="925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4.3d – Clotting Time of Blood Plasma Example</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20" name="Text Placeholder 5">
            <a:extLst>
              <a:ext uri="{FF2B5EF4-FFF2-40B4-BE49-F238E27FC236}">
                <a16:creationId xmlns:a16="http://schemas.microsoft.com/office/drawing/2014/main" id="{645ADC35-9826-E030-B40E-92F636A9B524}"/>
              </a:ext>
            </a:extLst>
          </p:cNvPr>
          <p:cNvSpPr txBox="1">
            <a:spLocks/>
          </p:cNvSpPr>
          <p:nvPr/>
        </p:nvSpPr>
        <p:spPr>
          <a:xfrm>
            <a:off x="251223" y="941503"/>
            <a:ext cx="11432776" cy="121920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rgbClr val="0070C0"/>
                </a:solidFill>
              </a:rPr>
              <a:t>The overall effects of four different treatments on the clotting time of blood plasma are to be investigated. To control for underlying differences in clotting rates among individuals, a </a:t>
            </a:r>
            <a:r>
              <a:rPr lang="en-NZ" altLang="ja-JP" sz="1800" b="1" dirty="0">
                <a:solidFill>
                  <a:srgbClr val="0070C0"/>
                </a:solidFill>
              </a:rPr>
              <a:t>fixed effects</a:t>
            </a:r>
            <a:r>
              <a:rPr lang="en-NZ" altLang="ja-JP" sz="1800" dirty="0">
                <a:solidFill>
                  <a:srgbClr val="0070C0"/>
                </a:solidFill>
              </a:rPr>
              <a:t> randomised block design was used with Subjects as blocks. Four samples of plasma were collected from each of eight subjects (the 'blocks’). The four treatments were then were assigned in random order to the four samples of each subject, </a:t>
            </a:r>
            <a:r>
              <a:rPr lang="en-NZ" altLang="ja-JP" sz="1800" dirty="0" err="1">
                <a:solidFill>
                  <a:srgbClr val="0070C0"/>
                </a:solidFill>
              </a:rPr>
              <a:t>ie</a:t>
            </a:r>
            <a:r>
              <a:rPr lang="en-NZ" altLang="ja-JP" sz="1800" dirty="0">
                <a:solidFill>
                  <a:srgbClr val="0070C0"/>
                </a:solidFill>
              </a:rPr>
              <a:t> each subject received all four treatments. </a:t>
            </a:r>
          </a:p>
        </p:txBody>
      </p:sp>
      <p:graphicFrame>
        <p:nvGraphicFramePr>
          <p:cNvPr id="2" name="Table 1">
            <a:extLst>
              <a:ext uri="{FF2B5EF4-FFF2-40B4-BE49-F238E27FC236}">
                <a16:creationId xmlns:a16="http://schemas.microsoft.com/office/drawing/2014/main" id="{B4D5750E-BCC3-8306-7AE0-EAE3FE7320B6}"/>
              </a:ext>
            </a:extLst>
          </p:cNvPr>
          <p:cNvGraphicFramePr>
            <a:graphicFrameLocks noGrp="1"/>
          </p:cNvGraphicFramePr>
          <p:nvPr>
            <p:extLst>
              <p:ext uri="{D42A27DB-BD31-4B8C-83A1-F6EECF244321}">
                <p14:modId xmlns:p14="http://schemas.microsoft.com/office/powerpoint/2010/main" val="3480197803"/>
              </p:ext>
            </p:extLst>
          </p:nvPr>
        </p:nvGraphicFramePr>
        <p:xfrm>
          <a:off x="348342" y="2485282"/>
          <a:ext cx="5747658" cy="3109260"/>
        </p:xfrm>
        <a:graphic>
          <a:graphicData uri="http://schemas.openxmlformats.org/drawingml/2006/table">
            <a:tbl>
              <a:tblPr/>
              <a:tblGrid>
                <a:gridCol w="957943">
                  <a:extLst>
                    <a:ext uri="{9D8B030D-6E8A-4147-A177-3AD203B41FA5}">
                      <a16:colId xmlns:a16="http://schemas.microsoft.com/office/drawing/2014/main" val="732741230"/>
                    </a:ext>
                  </a:extLst>
                </a:gridCol>
                <a:gridCol w="957943">
                  <a:extLst>
                    <a:ext uri="{9D8B030D-6E8A-4147-A177-3AD203B41FA5}">
                      <a16:colId xmlns:a16="http://schemas.microsoft.com/office/drawing/2014/main" val="3294000327"/>
                    </a:ext>
                  </a:extLst>
                </a:gridCol>
                <a:gridCol w="957943">
                  <a:extLst>
                    <a:ext uri="{9D8B030D-6E8A-4147-A177-3AD203B41FA5}">
                      <a16:colId xmlns:a16="http://schemas.microsoft.com/office/drawing/2014/main" val="973354691"/>
                    </a:ext>
                  </a:extLst>
                </a:gridCol>
                <a:gridCol w="957943">
                  <a:extLst>
                    <a:ext uri="{9D8B030D-6E8A-4147-A177-3AD203B41FA5}">
                      <a16:colId xmlns:a16="http://schemas.microsoft.com/office/drawing/2014/main" val="1371302634"/>
                    </a:ext>
                  </a:extLst>
                </a:gridCol>
                <a:gridCol w="957943">
                  <a:extLst>
                    <a:ext uri="{9D8B030D-6E8A-4147-A177-3AD203B41FA5}">
                      <a16:colId xmlns:a16="http://schemas.microsoft.com/office/drawing/2014/main" val="3927509496"/>
                    </a:ext>
                  </a:extLst>
                </a:gridCol>
                <a:gridCol w="957943">
                  <a:extLst>
                    <a:ext uri="{9D8B030D-6E8A-4147-A177-3AD203B41FA5}">
                      <a16:colId xmlns:a16="http://schemas.microsoft.com/office/drawing/2014/main" val="4124748458"/>
                    </a:ext>
                  </a:extLst>
                </a:gridCol>
              </a:tblGrid>
              <a:tr h="310926">
                <a:tc>
                  <a:txBody>
                    <a:bodyPr/>
                    <a:lstStyle/>
                    <a:p>
                      <a:pPr algn="ctr" fontAlgn="ctr"/>
                      <a:r>
                        <a:rPr lang="en-NZ" sz="1600" b="1" i="0" u="none" strike="noStrike">
                          <a:solidFill>
                            <a:srgbClr val="FFFFFF"/>
                          </a:solidFill>
                          <a:effectLst/>
                          <a:latin typeface="Calibri" panose="020F0502020204030204" pitchFamily="34" charset="0"/>
                        </a:rPr>
                        <a:t>Subject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1" i="0" u="none" strike="noStrike">
                          <a:solidFill>
                            <a:srgbClr val="FFFFFF"/>
                          </a:solidFill>
                          <a:effectLst/>
                          <a:latin typeface="Calibri" panose="020F0502020204030204" pitchFamily="34" charset="0"/>
                        </a:rPr>
                        <a:t>T1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1" i="0" u="none" strike="noStrike">
                          <a:solidFill>
                            <a:srgbClr val="FFFFFF"/>
                          </a:solidFill>
                          <a:effectLst/>
                          <a:latin typeface="Calibri" panose="020F0502020204030204" pitchFamily="34" charset="0"/>
                        </a:rPr>
                        <a:t>T2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1" i="0" u="none" strike="noStrike">
                          <a:solidFill>
                            <a:srgbClr val="FFFFFF"/>
                          </a:solidFill>
                          <a:effectLst/>
                          <a:latin typeface="Calibri" panose="020F0502020204030204" pitchFamily="34" charset="0"/>
                        </a:rPr>
                        <a:t>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1" i="0" u="none" strike="noStrike">
                          <a:solidFill>
                            <a:srgbClr val="FFFFFF"/>
                          </a:solidFill>
                          <a:effectLst/>
                          <a:latin typeface="Calibri" panose="020F0502020204030204" pitchFamily="34" charset="0"/>
                        </a:rPr>
                        <a:t>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1" i="0" u="none" strike="noStrike">
                          <a:solidFill>
                            <a:srgbClr val="FFFFFF"/>
                          </a:solidFill>
                          <a:effectLst/>
                          <a:latin typeface="Calibri" panose="020F0502020204030204" pitchFamily="34" charset="0"/>
                        </a:rPr>
                        <a:t>Means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extLst>
                  <a:ext uri="{0D108BD9-81ED-4DB2-BD59-A6C34878D82A}">
                    <a16:rowId xmlns:a16="http://schemas.microsoft.com/office/drawing/2014/main" val="89502602"/>
                  </a:ext>
                </a:extLst>
              </a:tr>
              <a:tr h="310926">
                <a:tc>
                  <a:txBody>
                    <a:bodyPr/>
                    <a:lstStyle/>
                    <a:p>
                      <a:pPr algn="ctr" fontAlgn="ctr"/>
                      <a:r>
                        <a:rPr lang="en-NZ" sz="1600" b="0" i="0" u="none" strike="noStrike">
                          <a:solidFill>
                            <a:srgbClr val="000000"/>
                          </a:solidFill>
                          <a:effectLst/>
                          <a:latin typeface="Calibri" panose="020F0502020204030204" pitchFamily="34" charset="0"/>
                        </a:rPr>
                        <a:t>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8.4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12.2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3047782756"/>
                  </a:ext>
                </a:extLst>
              </a:tr>
              <a:tr h="310926">
                <a:tc>
                  <a:txBody>
                    <a:bodyPr/>
                    <a:lstStyle/>
                    <a:p>
                      <a:pPr algn="ctr" fontAlgn="ctr"/>
                      <a:r>
                        <a:rPr lang="en-NZ" sz="1600" b="0" i="0" u="none" strike="noStrike">
                          <a:solidFill>
                            <a:srgbClr val="000000"/>
                          </a:solidFill>
                          <a:effectLst/>
                          <a:latin typeface="Calibri" panose="020F0502020204030204" pitchFamily="34" charset="0"/>
                        </a:rPr>
                        <a:t>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12.8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15.2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000000"/>
                          </a:solidFill>
                          <a:effectLst/>
                          <a:latin typeface="Calibri" panose="020F0502020204030204" pitchFamily="34" charset="0"/>
                        </a:rPr>
                        <a:t>12.9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000000"/>
                          </a:solidFill>
                          <a:effectLst/>
                          <a:latin typeface="Calibri" panose="020F0502020204030204" pitchFamily="34" charset="0"/>
                        </a:rPr>
                        <a:t>14.4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13.83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1931984307"/>
                  </a:ext>
                </a:extLst>
              </a:tr>
              <a:tr h="310926">
                <a:tc>
                  <a:txBody>
                    <a:bodyPr/>
                    <a:lstStyle/>
                    <a:p>
                      <a:pPr algn="ctr" fontAlgn="ctr"/>
                      <a:r>
                        <a:rPr lang="en-NZ" sz="1600" b="0" i="0" u="none" strike="noStrike">
                          <a:solidFill>
                            <a:srgbClr val="000000"/>
                          </a:solidFill>
                          <a:effectLst/>
                          <a:latin typeface="Calibri" panose="020F0502020204030204" pitchFamily="34" charset="0"/>
                        </a:rPr>
                        <a: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9.93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3488285600"/>
                  </a:ext>
                </a:extLst>
              </a:tr>
              <a:tr h="310926">
                <a:tc>
                  <a:txBody>
                    <a:bodyPr/>
                    <a:lstStyle/>
                    <a:p>
                      <a:pPr algn="ctr" fontAlgn="ctr"/>
                      <a:r>
                        <a:rPr lang="en-NZ" sz="16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8.8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10.13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2293474124"/>
                  </a:ext>
                </a:extLst>
              </a:tr>
              <a:tr h="310926">
                <a:tc>
                  <a:txBody>
                    <a:bodyPr/>
                    <a:lstStyle/>
                    <a:p>
                      <a:pPr algn="ctr" fontAlgn="ctr"/>
                      <a:r>
                        <a:rPr lang="en-NZ" sz="1600" b="0" i="0" u="none" strike="noStrike">
                          <a:solidFill>
                            <a:srgbClr val="000000"/>
                          </a:solidFill>
                          <a:effectLst/>
                          <a:latin typeface="Calibri" panose="020F0502020204030204" pitchFamily="34" charset="0"/>
                        </a:rPr>
                        <a: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8.4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8.2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8.5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8.5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8.4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2996884694"/>
                  </a:ext>
                </a:extLst>
              </a:tr>
              <a:tr h="310926">
                <a:tc>
                  <a:txBody>
                    <a:bodyPr/>
                    <a:lstStyle/>
                    <a:p>
                      <a:pPr algn="ctr" fontAlgn="ctr"/>
                      <a:r>
                        <a:rPr lang="en-NZ" sz="16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8.6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10.9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1165941705"/>
                  </a:ext>
                </a:extLst>
              </a:tr>
              <a:tr h="310926">
                <a:tc>
                  <a:txBody>
                    <a:bodyPr/>
                    <a:lstStyle/>
                    <a:p>
                      <a:pPr algn="ctr" fontAlgn="ctr"/>
                      <a:r>
                        <a:rPr lang="en-NZ" sz="1600" b="0" i="0" u="none" strike="noStrike">
                          <a:solidFill>
                            <a:srgbClr val="000000"/>
                          </a:solidFill>
                          <a:effectLst/>
                          <a:latin typeface="Calibri" panose="020F0502020204030204" pitchFamily="34" charset="0"/>
                        </a:rPr>
                        <a:t>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8.9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9.38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1313872470"/>
                  </a:ext>
                </a:extLst>
              </a:tr>
              <a:tr h="310926">
                <a:tc>
                  <a:txBody>
                    <a:bodyPr/>
                    <a:lstStyle/>
                    <a:p>
                      <a:pPr algn="ctr" fontAlgn="ctr"/>
                      <a:r>
                        <a:rPr lang="en-NZ" sz="1600" b="0" i="0" u="none" strike="noStrike">
                          <a:solidFill>
                            <a:srgbClr val="000000"/>
                          </a:solidFill>
                          <a:effectLst/>
                          <a:latin typeface="Calibri" panose="020F0502020204030204" pitchFamily="34" charset="0"/>
                        </a:rPr>
                        <a:t>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7.9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8.1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8.2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8.55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3042056422"/>
                  </a:ext>
                </a:extLst>
              </a:tr>
              <a:tr h="310926">
                <a:tc>
                  <a:txBody>
                    <a:bodyPr/>
                    <a:lstStyle/>
                    <a:p>
                      <a:pPr algn="ctr" fontAlgn="ctr"/>
                      <a:r>
                        <a:rPr lang="en-NZ" sz="1600" b="1" i="0" u="none" strike="noStrike">
                          <a:solidFill>
                            <a:srgbClr val="FFFFFF"/>
                          </a:solidFill>
                          <a:effectLst/>
                          <a:latin typeface="Calibri" panose="020F0502020204030204" pitchFamily="34" charset="0"/>
                        </a:rPr>
                        <a:t>Means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ctr"/>
                      <a:r>
                        <a:rPr lang="en-NZ" sz="1600" b="0" i="0" u="none" strike="noStrike">
                          <a:solidFill>
                            <a:srgbClr val="000000"/>
                          </a:solidFill>
                          <a:effectLst/>
                          <a:latin typeface="Calibri" panose="020F0502020204030204" pitchFamily="34" charset="0"/>
                        </a:rPr>
                        <a:t>9.3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600" b="0" i="0" u="none" strike="noStrike">
                          <a:solidFill>
                            <a:srgbClr val="000000"/>
                          </a:solidFill>
                          <a:effectLst/>
                          <a:latin typeface="Calibri" panose="020F0502020204030204" pitchFamily="34" charset="0"/>
                        </a:rPr>
                        <a:t>9.7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600" b="0" i="0" u="none" strike="noStrike">
                          <a:solidFill>
                            <a:srgbClr val="000000"/>
                          </a:solidFill>
                          <a:effectLst/>
                          <a:latin typeface="Calibri" panose="020F0502020204030204" pitchFamily="34" charset="0"/>
                        </a:rPr>
                        <a:t>9.9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600" b="0" i="0" u="none" strike="noStrike">
                          <a:solidFill>
                            <a:srgbClr val="000000"/>
                          </a:solidFill>
                          <a:effectLst/>
                          <a:latin typeface="Calibri" panose="020F0502020204030204" pitchFamily="34" charset="0"/>
                        </a:rPr>
                        <a:t>11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600" b="0" i="0" u="none" strike="noStrike" dirty="0">
                          <a:solidFill>
                            <a:srgbClr val="000000"/>
                          </a:solidFill>
                          <a:effectLst/>
                          <a:latin typeface="Calibri" panose="020F0502020204030204" pitchFamily="34" charset="0"/>
                        </a:rPr>
                        <a:t>9.99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3616700095"/>
                  </a:ext>
                </a:extLst>
              </a:tr>
            </a:tbl>
          </a:graphicData>
        </a:graphic>
      </p:graphicFrame>
      <p:sp>
        <p:nvSpPr>
          <p:cNvPr id="18" name="Text Placeholder 5">
            <a:extLst>
              <a:ext uri="{FF2B5EF4-FFF2-40B4-BE49-F238E27FC236}">
                <a16:creationId xmlns:a16="http://schemas.microsoft.com/office/drawing/2014/main" id="{D8B8520C-39E2-E027-BE80-E80F3B32311D}"/>
              </a:ext>
            </a:extLst>
          </p:cNvPr>
          <p:cNvSpPr txBox="1">
            <a:spLocks/>
          </p:cNvSpPr>
          <p:nvPr/>
        </p:nvSpPr>
        <p:spPr>
          <a:xfrm>
            <a:off x="6560456" y="2203483"/>
            <a:ext cx="5123543" cy="121920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rgbClr val="0070C0"/>
                </a:solidFill>
              </a:rPr>
              <a:t>The adjacent table shows the data (clotting time in minutes) pertaining to this experiment in ‘wide’ format. The csv data set entitled ‘plasma’ shows the same data in ‘thin’ format.</a:t>
            </a:r>
          </a:p>
        </p:txBody>
      </p:sp>
      <p:sp>
        <p:nvSpPr>
          <p:cNvPr id="19" name="Text Placeholder 5">
            <a:extLst>
              <a:ext uri="{FF2B5EF4-FFF2-40B4-BE49-F238E27FC236}">
                <a16:creationId xmlns:a16="http://schemas.microsoft.com/office/drawing/2014/main" id="{8EF4C5F9-AC55-72E2-A79F-C6E52C8D95C1}"/>
              </a:ext>
            </a:extLst>
          </p:cNvPr>
          <p:cNvSpPr txBox="1">
            <a:spLocks/>
          </p:cNvSpPr>
          <p:nvPr/>
        </p:nvSpPr>
        <p:spPr>
          <a:xfrm>
            <a:off x="6560456" y="3472520"/>
            <a:ext cx="5123543" cy="50522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rgbClr val="0070C0"/>
                </a:solidFill>
              </a:rPr>
              <a:t>Is there an effect of treatment on clotting time?</a:t>
            </a:r>
          </a:p>
        </p:txBody>
      </p:sp>
      <p:sp>
        <p:nvSpPr>
          <p:cNvPr id="21" name="Text Placeholder 5">
            <a:extLst>
              <a:ext uri="{FF2B5EF4-FFF2-40B4-BE49-F238E27FC236}">
                <a16:creationId xmlns:a16="http://schemas.microsoft.com/office/drawing/2014/main" id="{77572E38-1A00-ED71-E694-686A1BE7A026}"/>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4.3 - Clotting Time of Blood Plasma (Fixed Effects RBD Example)</a:t>
            </a:r>
            <a:endParaRPr lang="en-US" altLang="ja-JP" sz="1200" b="1" i="1" dirty="0">
              <a:solidFill>
                <a:srgbClr val="C00000"/>
              </a:solidFill>
            </a:endParaRPr>
          </a:p>
        </p:txBody>
      </p:sp>
      <mc:AlternateContent xmlns:mc="http://schemas.openxmlformats.org/markup-compatibility/2006" xmlns:a14="http://schemas.microsoft.com/office/drawing/2010/main">
        <mc:Choice Requires="a14">
          <p:sp>
            <p:nvSpPr>
              <p:cNvPr id="23" name="Text Placeholder 5">
                <a:extLst>
                  <a:ext uri="{FF2B5EF4-FFF2-40B4-BE49-F238E27FC236}">
                    <a16:creationId xmlns:a16="http://schemas.microsoft.com/office/drawing/2014/main" id="{839DC56E-3C24-8450-B40A-716E43F33C06}"/>
                  </a:ext>
                </a:extLst>
              </p:cNvPr>
              <p:cNvSpPr txBox="1">
                <a:spLocks/>
              </p:cNvSpPr>
              <p:nvPr/>
            </p:nvSpPr>
            <p:spPr>
              <a:xfrm>
                <a:off x="6998375" y="5449028"/>
                <a:ext cx="3507477" cy="80144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𝟎</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𝟎</m:t>
                    </m:r>
                  </m:oMath>
                </a14:m>
                <a:r>
                  <a:rPr lang="en-NZ" altLang="ja-JP" sz="20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for all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=1, …, </m:t>
                    </m:r>
                    <m:r>
                      <a:rPr lang="en-NZ" altLang="ja-JP" sz="1600" b="0" i="1" smtClean="0">
                        <a:solidFill>
                          <a:schemeClr val="tx1"/>
                        </a:solidFill>
                        <a:latin typeface="Cambria Math" panose="02040503050406030204" pitchFamily="18" charset="0"/>
                      </a:rPr>
                      <m:t>𝑎</m:t>
                    </m:r>
                  </m:oMath>
                </a14:m>
                <a:r>
                  <a:rPr lang="en-NZ" altLang="ja-JP" sz="1600" dirty="0">
                    <a:solidFill>
                      <a:schemeClr val="tx1"/>
                    </a:solidFill>
                    <a:latin typeface="Cambria Math" panose="02040503050406030204" pitchFamily="18" charset="0"/>
                  </a:rPr>
                  <a:t> </a:t>
                </a:r>
                <a:br>
                  <a:rPr lang="en-NZ" altLang="ja-JP" sz="2000" b="1" i="1" dirty="0">
                    <a:solidFill>
                      <a:schemeClr val="tx1"/>
                    </a:solidFill>
                    <a:latin typeface="Cambria Math" panose="02040503050406030204" pitchFamily="18" charset="0"/>
                  </a:rPr>
                </a:br>
                <a14:m>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𝟏</m:t>
                        </m:r>
                      </m:sub>
                    </m:sSub>
                    <m:r>
                      <a:rPr lang="en-NZ" altLang="ja-JP" sz="2000" b="1" i="1">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𝟎</m:t>
                    </m:r>
                  </m:oMath>
                </a14:m>
                <a:r>
                  <a:rPr lang="en-NZ" altLang="ja-JP" sz="2000" b="1" dirty="0">
                    <a:solidFill>
                      <a:schemeClr val="tx1"/>
                    </a:solidFill>
                  </a:rPr>
                  <a:t>  </a:t>
                </a:r>
                <a:r>
                  <a:rPr lang="en-NZ" altLang="ja-JP" sz="1600" dirty="0">
                    <a:solidFill>
                      <a:schemeClr val="tx1"/>
                    </a:solidFill>
                  </a:rPr>
                  <a:t>for some </a:t>
                </a:r>
                <a14:m>
                  <m:oMath xmlns:m="http://schemas.openxmlformats.org/officeDocument/2006/math">
                    <m:r>
                      <a:rPr lang="en-NZ" altLang="ja-JP" sz="1600" b="0" i="1" smtClean="0">
                        <a:solidFill>
                          <a:schemeClr val="tx1"/>
                        </a:solidFill>
                        <a:latin typeface="Cambria Math" panose="02040503050406030204" pitchFamily="18" charset="0"/>
                      </a:rPr>
                      <m:t>𝑖</m:t>
                    </m:r>
                  </m:oMath>
                </a14:m>
                <a:endParaRPr lang="en-NZ" altLang="ja-JP" sz="1600" dirty="0">
                  <a:solidFill>
                    <a:schemeClr val="tx1"/>
                  </a:solidFill>
                </a:endParaRPr>
              </a:p>
            </p:txBody>
          </p:sp>
        </mc:Choice>
        <mc:Fallback xmlns="">
          <p:sp>
            <p:nvSpPr>
              <p:cNvPr id="23" name="Text Placeholder 5">
                <a:extLst>
                  <a:ext uri="{FF2B5EF4-FFF2-40B4-BE49-F238E27FC236}">
                    <a16:creationId xmlns:a16="http://schemas.microsoft.com/office/drawing/2014/main" id="{839DC56E-3C24-8450-B40A-716E43F33C06}"/>
                  </a:ext>
                </a:extLst>
              </p:cNvPr>
              <p:cNvSpPr txBox="1">
                <a:spLocks noRot="1" noChangeAspect="1" noMove="1" noResize="1" noEditPoints="1" noAdjustHandles="1" noChangeArrowheads="1" noChangeShapeType="1" noTextEdit="1"/>
              </p:cNvSpPr>
              <p:nvPr/>
            </p:nvSpPr>
            <p:spPr>
              <a:xfrm>
                <a:off x="6998375" y="5449028"/>
                <a:ext cx="3507477" cy="801442"/>
              </a:xfrm>
              <a:prstGeom prst="rect">
                <a:avLst/>
              </a:prstGeom>
              <a:blipFill>
                <a:blip r:embed="rId2"/>
                <a:stretch>
                  <a:fillRect/>
                </a:stretch>
              </a:blipFill>
            </p:spPr>
            <p:txBody>
              <a:bodyPr/>
              <a:lstStyle/>
              <a:p>
                <a:r>
                  <a:rPr lang="en-NZ">
                    <a:noFill/>
                  </a:rPr>
                  <a:t> </a:t>
                </a:r>
              </a:p>
            </p:txBody>
          </p:sp>
        </mc:Fallback>
      </mc:AlternateContent>
      <p:sp>
        <p:nvSpPr>
          <p:cNvPr id="24" name="Text Placeholder 5">
            <a:extLst>
              <a:ext uri="{FF2B5EF4-FFF2-40B4-BE49-F238E27FC236}">
                <a16:creationId xmlns:a16="http://schemas.microsoft.com/office/drawing/2014/main" id="{9256E7FD-6058-3E9E-27D6-49D082036158}"/>
              </a:ext>
            </a:extLst>
          </p:cNvPr>
          <p:cNvSpPr txBox="1">
            <a:spLocks/>
          </p:cNvSpPr>
          <p:nvPr/>
        </p:nvSpPr>
        <p:spPr>
          <a:xfrm>
            <a:off x="6560456" y="3940382"/>
            <a:ext cx="5007430" cy="170255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Response Variable </a:t>
            </a: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Clotting Time</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700" b="1" dirty="0">
                <a:solidFill>
                  <a:prstClr val="black"/>
                </a:solidFill>
                <a:latin typeface="Calibri" panose="020F0502020204030204"/>
                <a:ea typeface="游ゴシック" panose="020B0400000000000000" pitchFamily="34" charset="-128"/>
              </a:rPr>
              <a:t>Treatment Factor (A)</a:t>
            </a:r>
            <a:r>
              <a:rPr lang="en-NZ" altLang="ja-JP" sz="1700" dirty="0">
                <a:solidFill>
                  <a:prstClr val="black"/>
                </a:solidFill>
                <a:latin typeface="Calibri" panose="020F0502020204030204"/>
                <a:ea typeface="游ゴシック" panose="020B0400000000000000" pitchFamily="34" charset="-128"/>
              </a:rPr>
              <a:t>    Treatment</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Treatment Levels </a:t>
            </a:r>
            <a:r>
              <a:rPr kumimoji="1" lang="en-NZ" altLang="ja-JP" sz="1700" b="1"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     </a:t>
            </a: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r>
              <a:rPr lang="en-NZ" altLang="ja-JP" sz="1700" i="0" dirty="0">
                <a:solidFill>
                  <a:prstClr val="black"/>
                </a:solidFill>
                <a:latin typeface="Calibri" panose="020F0502020204030204"/>
                <a:ea typeface="游ゴシック" panose="020B0400000000000000" pitchFamily="34" charset="-128"/>
              </a:rPr>
              <a:t>T1, T2, T3, T4</a:t>
            </a:r>
            <a:endParaRPr kumimoji="1" lang="en-NZ" altLang="ja-JP" sz="1700" b="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700" b="1" dirty="0">
                <a:solidFill>
                  <a:prstClr val="black"/>
                </a:solidFill>
                <a:latin typeface="Calibri" panose="020F0502020204030204"/>
                <a:ea typeface="游ゴシック" panose="020B0400000000000000" pitchFamily="34" charset="-128"/>
              </a:rPr>
              <a:t>Blocking Factor (B)</a:t>
            </a:r>
            <a:r>
              <a:rPr lang="en-NZ" altLang="ja-JP" sz="1700" dirty="0">
                <a:solidFill>
                  <a:prstClr val="black"/>
                </a:solidFill>
                <a:latin typeface="Calibri" panose="020F0502020204030204"/>
                <a:ea typeface="游ゴシック" panose="020B0400000000000000" pitchFamily="34" charset="-128"/>
              </a:rPr>
              <a:t>	     Subject</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700" b="1" dirty="0">
                <a:solidFill>
                  <a:prstClr val="black"/>
                </a:solidFill>
                <a:latin typeface="Calibri" panose="020F0502020204030204"/>
                <a:ea typeface="游ゴシック" panose="020B0400000000000000" pitchFamily="34" charset="-128"/>
              </a:rPr>
              <a:t>Blocking Levels </a:t>
            </a:r>
            <a:r>
              <a:rPr lang="en-NZ" altLang="ja-JP" sz="1700" dirty="0">
                <a:solidFill>
                  <a:prstClr val="black"/>
                </a:solidFill>
                <a:latin typeface="Calibri" panose="020F0502020204030204"/>
                <a:ea typeface="游ゴシック" panose="020B0400000000000000" pitchFamily="34" charset="-128"/>
              </a:rPr>
              <a:t>	     1, 2, 3, 4, 5, 6, 7, 8</a:t>
            </a:r>
            <a:endParaRPr kumimoji="1" lang="en-NZ" altLang="ja-JP" sz="1700" b="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p:sp>
        <p:nvSpPr>
          <p:cNvPr id="12" name="Footer Placeholder 2">
            <a:extLst>
              <a:ext uri="{FF2B5EF4-FFF2-40B4-BE49-F238E27FC236}">
                <a16:creationId xmlns:a16="http://schemas.microsoft.com/office/drawing/2014/main" id="{0470691A-C44B-EE84-09AC-866ADA53BEE6}"/>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4.3 – </a:t>
            </a:r>
            <a:r>
              <a:rPr kumimoji="1" lang="en-US" altLang="ja-JP" sz="1600" dirty="0">
                <a:solidFill>
                  <a:srgbClr val="DEDDDD"/>
                </a:solidFill>
                <a:latin typeface="Gidole"/>
                <a:ea typeface="游ゴシック" panose="020B0400000000000000" pitchFamily="34" charset="-128"/>
              </a:rPr>
              <a:t>Fixed Effects Model</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2376335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6319F5E-204D-E888-60D7-44E78698CB11}"/>
              </a:ext>
            </a:extLst>
          </p:cNvPr>
          <p:cNvPicPr>
            <a:picLocks noChangeAspect="1"/>
          </p:cNvPicPr>
          <p:nvPr/>
        </p:nvPicPr>
        <p:blipFill>
          <a:blip r:embed="rId2"/>
          <a:stretch>
            <a:fillRect/>
          </a:stretch>
        </p:blipFill>
        <p:spPr>
          <a:xfrm>
            <a:off x="163773" y="2955310"/>
            <a:ext cx="5419212" cy="3664857"/>
          </a:xfrm>
          <a:prstGeom prst="rect">
            <a:avLst/>
          </a:prstGeom>
        </p:spPr>
      </p:pic>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3" name="Title 6">
            <a:extLst>
              <a:ext uri="{FF2B5EF4-FFF2-40B4-BE49-F238E27FC236}">
                <a16:creationId xmlns:a16="http://schemas.microsoft.com/office/drawing/2014/main" id="{539E1FA8-24B4-FFD9-7C26-8B31D6C98125}"/>
              </a:ext>
            </a:extLst>
          </p:cNvPr>
          <p:cNvSpPr txBox="1">
            <a:spLocks/>
          </p:cNvSpPr>
          <p:nvPr/>
        </p:nvSpPr>
        <p:spPr>
          <a:xfrm>
            <a:off x="251223" y="237833"/>
            <a:ext cx="8617005" cy="607201"/>
          </a:xfrm>
          <a:prstGeom prst="rect">
            <a:avLst/>
          </a:prstGeom>
        </p:spPr>
        <p:txBody>
          <a:bodyPr anchor="t">
            <a:normAutofit fontScale="925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4.3d – Clotting Time of Blood Plasma Example</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pic>
        <p:nvPicPr>
          <p:cNvPr id="4" name="Picture 3">
            <a:extLst>
              <a:ext uri="{FF2B5EF4-FFF2-40B4-BE49-F238E27FC236}">
                <a16:creationId xmlns:a16="http://schemas.microsoft.com/office/drawing/2014/main" id="{DA26755A-166A-C64B-B0AD-8C75FB30C8BD}"/>
              </a:ext>
            </a:extLst>
          </p:cNvPr>
          <p:cNvPicPr>
            <a:picLocks noChangeAspect="1"/>
          </p:cNvPicPr>
          <p:nvPr/>
        </p:nvPicPr>
        <p:blipFill>
          <a:blip r:embed="rId3"/>
          <a:stretch>
            <a:fillRect/>
          </a:stretch>
        </p:blipFill>
        <p:spPr>
          <a:xfrm>
            <a:off x="306497" y="996728"/>
            <a:ext cx="7861261" cy="2366963"/>
          </a:xfrm>
          <a:prstGeom prst="rect">
            <a:avLst/>
          </a:prstGeom>
        </p:spPr>
      </p:pic>
      <p:sp>
        <p:nvSpPr>
          <p:cNvPr id="14" name="Text Placeholder 5">
            <a:extLst>
              <a:ext uri="{FF2B5EF4-FFF2-40B4-BE49-F238E27FC236}">
                <a16:creationId xmlns:a16="http://schemas.microsoft.com/office/drawing/2014/main" id="{3B086651-2F31-4084-83CC-911CA7D50A42}"/>
              </a:ext>
            </a:extLst>
          </p:cNvPr>
          <p:cNvSpPr txBox="1">
            <a:spLocks/>
          </p:cNvSpPr>
          <p:nvPr/>
        </p:nvSpPr>
        <p:spPr>
          <a:xfrm>
            <a:off x="6733005" y="3878772"/>
            <a:ext cx="5104304" cy="213419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800" dirty="0">
                <a:solidFill>
                  <a:schemeClr val="tx1"/>
                </a:solidFill>
              </a:rPr>
              <a:t>Plot of residuals vs fitted values </a:t>
            </a:r>
            <a:r>
              <a:rPr lang="en-NZ" altLang="ja-JP" sz="1800" i="1" dirty="0">
                <a:solidFill>
                  <a:schemeClr val="tx1"/>
                </a:solidFill>
              </a:rPr>
              <a:t>suggests</a:t>
            </a:r>
            <a:r>
              <a:rPr lang="en-NZ" altLang="ja-JP" sz="1800" dirty="0">
                <a:solidFill>
                  <a:schemeClr val="tx1"/>
                </a:solidFill>
              </a:rPr>
              <a:t> non-constant variance (but doesn’t really tell you much).</a:t>
            </a:r>
          </a:p>
          <a:p>
            <a:pPr>
              <a:lnSpc>
                <a:spcPct val="100000"/>
              </a:lnSpc>
            </a:pPr>
            <a:endParaRPr lang="en-NZ" altLang="ja-JP" sz="1800" dirty="0">
              <a:solidFill>
                <a:schemeClr val="tx1"/>
              </a:solidFill>
            </a:endParaRPr>
          </a:p>
          <a:p>
            <a:pPr>
              <a:lnSpc>
                <a:spcPct val="100000"/>
              </a:lnSpc>
            </a:pPr>
            <a:r>
              <a:rPr lang="en-NZ" altLang="ja-JP" sz="1800" dirty="0">
                <a:solidFill>
                  <a:schemeClr val="tx1"/>
                </a:solidFill>
              </a:rPr>
              <a:t>QQ Plot suggests non-normality at the top end of the distribution.</a:t>
            </a:r>
          </a:p>
          <a:p>
            <a:pPr algn="just">
              <a:lnSpc>
                <a:spcPct val="100000"/>
              </a:lnSpc>
            </a:pPr>
            <a:endParaRPr lang="en-NZ" altLang="ja-JP" sz="1800" b="1" dirty="0">
              <a:solidFill>
                <a:schemeClr val="tx1"/>
              </a:solidFill>
            </a:endParaRPr>
          </a:p>
          <a:p>
            <a:pPr marL="285750" indent="-285750" algn="just">
              <a:lnSpc>
                <a:spcPct val="100000"/>
              </a:lnSpc>
              <a:buFont typeface="Symbol" panose="05050102010706020507" pitchFamily="18" charset="2"/>
              <a:buChar char="Þ"/>
            </a:pPr>
            <a:r>
              <a:rPr lang="en-NZ" altLang="ja-JP" sz="1800" b="1" dirty="0">
                <a:solidFill>
                  <a:schemeClr val="tx1"/>
                </a:solidFill>
              </a:rPr>
              <a:t>ANOVA conditions unlikely to be satisfied</a:t>
            </a:r>
          </a:p>
          <a:p>
            <a:pPr marL="285750" indent="-285750" algn="just">
              <a:lnSpc>
                <a:spcPct val="100000"/>
              </a:lnSpc>
              <a:buFont typeface="Symbol" panose="05050102010706020507" pitchFamily="18" charset="2"/>
              <a:buChar char="Þ"/>
            </a:pPr>
            <a:r>
              <a:rPr lang="en-NZ" altLang="ja-JP" sz="1800" b="1" dirty="0">
                <a:solidFill>
                  <a:schemeClr val="tx1"/>
                </a:solidFill>
              </a:rPr>
              <a:t>ANOVA results likely to be invalid</a:t>
            </a:r>
          </a:p>
          <a:p>
            <a:pPr algn="just">
              <a:lnSpc>
                <a:spcPct val="100000"/>
              </a:lnSpc>
            </a:pPr>
            <a:endParaRPr lang="en-NZ" altLang="ja-JP" sz="1800" b="1" dirty="0">
              <a:solidFill>
                <a:schemeClr val="tx1"/>
              </a:solidFill>
            </a:endParaRPr>
          </a:p>
        </p:txBody>
      </p:sp>
      <p:sp>
        <p:nvSpPr>
          <p:cNvPr id="15" name="Text Placeholder 5">
            <a:extLst>
              <a:ext uri="{FF2B5EF4-FFF2-40B4-BE49-F238E27FC236}">
                <a16:creationId xmlns:a16="http://schemas.microsoft.com/office/drawing/2014/main" id="{7033071A-551D-7734-D7BA-23F029D4CE40}"/>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4.3 - Clotting Time of Blood Plasma (Fixed Effects RBD Example)</a:t>
            </a:r>
            <a:endParaRPr lang="en-US" altLang="ja-JP" sz="1200" b="1" i="1" dirty="0">
              <a:solidFill>
                <a:srgbClr val="C00000"/>
              </a:solidFill>
            </a:endParaRPr>
          </a:p>
        </p:txBody>
      </p:sp>
      <p:sp>
        <p:nvSpPr>
          <p:cNvPr id="9" name="Footer Placeholder 2">
            <a:extLst>
              <a:ext uri="{FF2B5EF4-FFF2-40B4-BE49-F238E27FC236}">
                <a16:creationId xmlns:a16="http://schemas.microsoft.com/office/drawing/2014/main" id="{D3A048AC-B729-D2D1-B5F4-441E598F74F6}"/>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4.3 – </a:t>
            </a:r>
            <a:r>
              <a:rPr kumimoji="1" lang="en-US" altLang="ja-JP" sz="1600" dirty="0">
                <a:solidFill>
                  <a:srgbClr val="DEDDDD"/>
                </a:solidFill>
                <a:latin typeface="Gidole"/>
                <a:ea typeface="游ゴシック" panose="020B0400000000000000" pitchFamily="34" charset="-128"/>
              </a:rPr>
              <a:t>Fixed Effects Model</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1377405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3" name="Title 6">
            <a:extLst>
              <a:ext uri="{FF2B5EF4-FFF2-40B4-BE49-F238E27FC236}">
                <a16:creationId xmlns:a16="http://schemas.microsoft.com/office/drawing/2014/main" id="{539E1FA8-24B4-FFD9-7C26-8B31D6C98125}"/>
              </a:ext>
            </a:extLst>
          </p:cNvPr>
          <p:cNvSpPr txBox="1">
            <a:spLocks/>
          </p:cNvSpPr>
          <p:nvPr/>
        </p:nvSpPr>
        <p:spPr>
          <a:xfrm>
            <a:off x="251223" y="237833"/>
            <a:ext cx="8617005" cy="607201"/>
          </a:xfrm>
          <a:prstGeom prst="rect">
            <a:avLst/>
          </a:prstGeom>
        </p:spPr>
        <p:txBody>
          <a:bodyPr anchor="t">
            <a:normAutofit fontScale="925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4.3d – Clotting Time of Blood Plasma Example</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pic>
        <p:nvPicPr>
          <p:cNvPr id="3" name="Picture 2">
            <a:extLst>
              <a:ext uri="{FF2B5EF4-FFF2-40B4-BE49-F238E27FC236}">
                <a16:creationId xmlns:a16="http://schemas.microsoft.com/office/drawing/2014/main" id="{7A922F55-554E-02BA-3B00-B1F0F9923698}"/>
              </a:ext>
            </a:extLst>
          </p:cNvPr>
          <p:cNvPicPr>
            <a:picLocks noChangeAspect="1"/>
          </p:cNvPicPr>
          <p:nvPr/>
        </p:nvPicPr>
        <p:blipFill>
          <a:blip r:embed="rId2"/>
          <a:stretch>
            <a:fillRect/>
          </a:stretch>
        </p:blipFill>
        <p:spPr>
          <a:xfrm>
            <a:off x="285268" y="1322568"/>
            <a:ext cx="3871726" cy="565533"/>
          </a:xfrm>
          <a:prstGeom prst="rect">
            <a:avLst/>
          </a:prstGeom>
        </p:spPr>
      </p:pic>
      <p:sp>
        <p:nvSpPr>
          <p:cNvPr id="12" name="Text Placeholder 5">
            <a:extLst>
              <a:ext uri="{FF2B5EF4-FFF2-40B4-BE49-F238E27FC236}">
                <a16:creationId xmlns:a16="http://schemas.microsoft.com/office/drawing/2014/main" id="{25AF4A04-BE9D-38E4-FBEB-2DF63A141F88}"/>
              </a:ext>
            </a:extLst>
          </p:cNvPr>
          <p:cNvSpPr txBox="1">
            <a:spLocks/>
          </p:cNvSpPr>
          <p:nvPr/>
        </p:nvSpPr>
        <p:spPr>
          <a:xfrm>
            <a:off x="598176" y="2381005"/>
            <a:ext cx="7085749" cy="253542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u="sng" dirty="0">
                <a:solidFill>
                  <a:schemeClr val="bg2">
                    <a:lumMod val="25000"/>
                  </a:schemeClr>
                </a:solidFill>
              </a:rPr>
              <a:t>Analysis of Variance Table</a:t>
            </a:r>
          </a:p>
          <a:p>
            <a:pPr algn="just">
              <a:lnSpc>
                <a:spcPct val="100000"/>
              </a:lnSpc>
            </a:pPr>
            <a:endParaRPr lang="en-NZ" altLang="ja-JP" sz="1800" dirty="0">
              <a:solidFill>
                <a:schemeClr val="bg2">
                  <a:lumMod val="25000"/>
                </a:schemeClr>
              </a:solidFill>
            </a:endParaRPr>
          </a:p>
          <a:p>
            <a:pPr algn="just">
              <a:lnSpc>
                <a:spcPct val="100000"/>
              </a:lnSpc>
            </a:pPr>
            <a:r>
              <a:rPr lang="en-NZ" altLang="ja-JP" sz="1800" dirty="0">
                <a:solidFill>
                  <a:schemeClr val="bg2">
                    <a:lumMod val="25000"/>
                  </a:schemeClr>
                </a:solidFill>
              </a:rPr>
              <a:t>Response: </a:t>
            </a:r>
            <a:r>
              <a:rPr lang="en-NZ" altLang="ja-JP" sz="1800" dirty="0" err="1">
                <a:solidFill>
                  <a:schemeClr val="bg2">
                    <a:lumMod val="25000"/>
                  </a:schemeClr>
                </a:solidFill>
              </a:rPr>
              <a:t>Clottime</a:t>
            </a:r>
            <a:endParaRPr lang="en-NZ" altLang="ja-JP" sz="1800" dirty="0">
              <a:solidFill>
                <a:schemeClr val="bg2">
                  <a:lumMod val="25000"/>
                </a:schemeClr>
              </a:solidFill>
            </a:endParaRPr>
          </a:p>
          <a:p>
            <a:pPr algn="just">
              <a:lnSpc>
                <a:spcPct val="100000"/>
              </a:lnSpc>
            </a:pPr>
            <a:r>
              <a:rPr lang="en-NZ" altLang="ja-JP" sz="1800" dirty="0">
                <a:solidFill>
                  <a:schemeClr val="bg2">
                    <a:lumMod val="25000"/>
                  </a:schemeClr>
                </a:solidFill>
              </a:rPr>
              <a:t>                     	   </a:t>
            </a:r>
            <a:r>
              <a:rPr lang="en-NZ" altLang="ja-JP" sz="1800" dirty="0" err="1">
                <a:solidFill>
                  <a:schemeClr val="bg2">
                    <a:lumMod val="25000"/>
                  </a:schemeClr>
                </a:solidFill>
              </a:rPr>
              <a:t>Df</a:t>
            </a:r>
            <a:r>
              <a:rPr lang="en-NZ" altLang="ja-JP" sz="1800" dirty="0">
                <a:solidFill>
                  <a:schemeClr val="bg2">
                    <a:lumMod val="25000"/>
                  </a:schemeClr>
                </a:solidFill>
              </a:rPr>
              <a:t> 	Sum </a:t>
            </a:r>
            <a:r>
              <a:rPr lang="en-NZ" altLang="ja-JP" sz="1800" dirty="0" err="1">
                <a:solidFill>
                  <a:schemeClr val="bg2">
                    <a:lumMod val="25000"/>
                  </a:schemeClr>
                </a:solidFill>
              </a:rPr>
              <a:t>Sq</a:t>
            </a:r>
            <a:r>
              <a:rPr lang="en-NZ" altLang="ja-JP" sz="1800" dirty="0">
                <a:solidFill>
                  <a:schemeClr val="bg2">
                    <a:lumMod val="25000"/>
                  </a:schemeClr>
                </a:solidFill>
              </a:rPr>
              <a:t> 	Mean </a:t>
            </a:r>
            <a:r>
              <a:rPr lang="en-NZ" altLang="ja-JP" sz="1800" dirty="0" err="1">
                <a:solidFill>
                  <a:schemeClr val="bg2">
                    <a:lumMod val="25000"/>
                  </a:schemeClr>
                </a:solidFill>
              </a:rPr>
              <a:t>Sq</a:t>
            </a:r>
            <a:r>
              <a:rPr lang="en-NZ" altLang="ja-JP" sz="1800" dirty="0">
                <a:solidFill>
                  <a:schemeClr val="bg2">
                    <a:lumMod val="25000"/>
                  </a:schemeClr>
                </a:solidFill>
              </a:rPr>
              <a:t> 	F value    	</a:t>
            </a:r>
            <a:r>
              <a:rPr lang="en-NZ" altLang="ja-JP" sz="1800" dirty="0" err="1">
                <a:solidFill>
                  <a:schemeClr val="bg2">
                    <a:lumMod val="25000"/>
                  </a:schemeClr>
                </a:solidFill>
              </a:rPr>
              <a:t>Pr</a:t>
            </a:r>
            <a:r>
              <a:rPr lang="en-NZ" altLang="ja-JP" sz="1800" dirty="0">
                <a:solidFill>
                  <a:schemeClr val="bg2">
                    <a:lumMod val="25000"/>
                  </a:schemeClr>
                </a:solidFill>
              </a:rPr>
              <a:t>(&gt;F)    </a:t>
            </a:r>
          </a:p>
          <a:p>
            <a:pPr algn="just">
              <a:lnSpc>
                <a:spcPct val="100000"/>
              </a:lnSpc>
            </a:pPr>
            <a:r>
              <a:rPr lang="en-NZ" altLang="ja-JP" sz="1800" dirty="0" err="1">
                <a:solidFill>
                  <a:schemeClr val="bg2">
                    <a:lumMod val="25000"/>
                  </a:schemeClr>
                </a:solidFill>
              </a:rPr>
              <a:t>as.factor</a:t>
            </a:r>
            <a:r>
              <a:rPr lang="en-NZ" altLang="ja-JP" sz="1800" dirty="0">
                <a:solidFill>
                  <a:schemeClr val="bg2">
                    <a:lumMod val="25000"/>
                  </a:schemeClr>
                </a:solidFill>
              </a:rPr>
              <a:t>(Subject)       7 	78.989 	11.2841  	17.204 	2.197e-07 ***</a:t>
            </a:r>
          </a:p>
          <a:p>
            <a:pPr algn="just">
              <a:lnSpc>
                <a:spcPct val="100000"/>
              </a:lnSpc>
            </a:pPr>
            <a:r>
              <a:rPr lang="en-NZ" altLang="ja-JP" sz="1800" dirty="0" err="1">
                <a:solidFill>
                  <a:schemeClr val="bg2">
                    <a:lumMod val="25000"/>
                  </a:schemeClr>
                </a:solidFill>
              </a:rPr>
              <a:t>as.factor</a:t>
            </a:r>
            <a:r>
              <a:rPr lang="en-NZ" altLang="ja-JP" sz="1800" dirty="0">
                <a:solidFill>
                  <a:schemeClr val="bg2">
                    <a:lumMod val="25000"/>
                  </a:schemeClr>
                </a:solidFill>
              </a:rPr>
              <a:t>(Treatment)  3 	13.016  	4.3388   	6.615   	0.00255 ** </a:t>
            </a:r>
          </a:p>
          <a:p>
            <a:pPr algn="just">
              <a:lnSpc>
                <a:spcPct val="100000"/>
              </a:lnSpc>
            </a:pPr>
            <a:r>
              <a:rPr lang="en-NZ" altLang="ja-JP" sz="1800" dirty="0">
                <a:solidFill>
                  <a:schemeClr val="bg2">
                    <a:lumMod val="25000"/>
                  </a:schemeClr>
                </a:solidFill>
              </a:rPr>
              <a:t>Residuals            	   21 	13.774  	0.6559 </a:t>
            </a:r>
          </a:p>
          <a:p>
            <a:pPr algn="just">
              <a:lnSpc>
                <a:spcPct val="100000"/>
              </a:lnSpc>
            </a:pPr>
            <a:endParaRPr lang="en-NZ" altLang="ja-JP" sz="1800" dirty="0">
              <a:solidFill>
                <a:schemeClr val="bg2">
                  <a:lumMod val="25000"/>
                </a:schemeClr>
              </a:solidFill>
            </a:endParaRPr>
          </a:p>
        </p:txBody>
      </p:sp>
      <p:sp>
        <p:nvSpPr>
          <p:cNvPr id="15" name="Text Placeholder 5">
            <a:extLst>
              <a:ext uri="{FF2B5EF4-FFF2-40B4-BE49-F238E27FC236}">
                <a16:creationId xmlns:a16="http://schemas.microsoft.com/office/drawing/2014/main" id="{3543E36E-8489-E38A-326C-ACA1964A7E9E}"/>
              </a:ext>
            </a:extLst>
          </p:cNvPr>
          <p:cNvSpPr txBox="1">
            <a:spLocks/>
          </p:cNvSpPr>
          <p:nvPr/>
        </p:nvSpPr>
        <p:spPr>
          <a:xfrm>
            <a:off x="285268" y="4990477"/>
            <a:ext cx="11621464" cy="108991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Very strong evidence against the null hypothesis</a:t>
            </a:r>
          </a:p>
          <a:p>
            <a:pPr algn="just">
              <a:lnSpc>
                <a:spcPct val="100000"/>
              </a:lnSpc>
            </a:pPr>
            <a:endParaRPr lang="en-NZ" altLang="ja-JP" sz="1800" dirty="0">
              <a:solidFill>
                <a:schemeClr val="tx1"/>
              </a:solidFill>
            </a:endParaRPr>
          </a:p>
          <a:p>
            <a:pPr algn="just">
              <a:lnSpc>
                <a:spcPct val="100000"/>
              </a:lnSpc>
            </a:pPr>
            <a:r>
              <a:rPr lang="en-NZ" altLang="ja-JP" sz="1800" dirty="0">
                <a:solidFill>
                  <a:schemeClr val="tx1"/>
                </a:solidFill>
              </a:rPr>
              <a:t>=&gt; Very strong evidence that treatment effects differ after controlling for subject-to-subject variation in clotting time</a:t>
            </a:r>
          </a:p>
          <a:p>
            <a:pPr algn="just">
              <a:lnSpc>
                <a:spcPct val="100000"/>
              </a:lnSpc>
            </a:pPr>
            <a:endParaRPr lang="en-NZ" altLang="ja-JP" sz="1800" dirty="0">
              <a:solidFill>
                <a:schemeClr val="tx1"/>
              </a:solidFill>
            </a:endParaRPr>
          </a:p>
        </p:txBody>
      </p:sp>
      <p:sp>
        <p:nvSpPr>
          <p:cNvPr id="5" name="Oval 4">
            <a:extLst>
              <a:ext uri="{FF2B5EF4-FFF2-40B4-BE49-F238E27FC236}">
                <a16:creationId xmlns:a16="http://schemas.microsoft.com/office/drawing/2014/main" id="{A616F03D-84AA-A0AF-96AE-327852FDEE7B}"/>
              </a:ext>
            </a:extLst>
          </p:cNvPr>
          <p:cNvSpPr/>
          <p:nvPr/>
        </p:nvSpPr>
        <p:spPr>
          <a:xfrm>
            <a:off x="285268" y="3731224"/>
            <a:ext cx="7398657" cy="38825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cxnSp>
        <p:nvCxnSpPr>
          <p:cNvPr id="9" name="Straight Arrow Connector 8">
            <a:extLst>
              <a:ext uri="{FF2B5EF4-FFF2-40B4-BE49-F238E27FC236}">
                <a16:creationId xmlns:a16="http://schemas.microsoft.com/office/drawing/2014/main" id="{B27D87EC-F960-739B-1599-4E798314EB0B}"/>
              </a:ext>
            </a:extLst>
          </p:cNvPr>
          <p:cNvCxnSpPr>
            <a:cxnSpLocks/>
          </p:cNvCxnSpPr>
          <p:nvPr/>
        </p:nvCxnSpPr>
        <p:spPr>
          <a:xfrm>
            <a:off x="1983440" y="4119481"/>
            <a:ext cx="0" cy="870996"/>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 Placeholder 5">
            <a:extLst>
              <a:ext uri="{FF2B5EF4-FFF2-40B4-BE49-F238E27FC236}">
                <a16:creationId xmlns:a16="http://schemas.microsoft.com/office/drawing/2014/main" id="{05A08528-41A5-5D4E-65B7-5178010609A4}"/>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4.3 - Clotting Time of Blood Plasma (Fixed Effects RBD Example)</a:t>
            </a:r>
            <a:endParaRPr lang="en-US" altLang="ja-JP" sz="1200" b="1" i="1" dirty="0">
              <a:solidFill>
                <a:srgbClr val="C00000"/>
              </a:solidFill>
            </a:endParaRPr>
          </a:p>
        </p:txBody>
      </p:sp>
      <p:sp>
        <p:nvSpPr>
          <p:cNvPr id="11" name="Footer Placeholder 2">
            <a:extLst>
              <a:ext uri="{FF2B5EF4-FFF2-40B4-BE49-F238E27FC236}">
                <a16:creationId xmlns:a16="http://schemas.microsoft.com/office/drawing/2014/main" id="{FC578915-93F2-4080-5DEB-6FB51F9A3A09}"/>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4.3 – </a:t>
            </a:r>
            <a:r>
              <a:rPr kumimoji="1" lang="en-US" altLang="ja-JP" sz="1600" dirty="0">
                <a:solidFill>
                  <a:srgbClr val="DEDDDD"/>
                </a:solidFill>
                <a:latin typeface="Gidole"/>
                <a:ea typeface="游ゴシック" panose="020B0400000000000000" pitchFamily="34" charset="-128"/>
              </a:rPr>
              <a:t>Fixed Effects Model</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graphicFrame>
        <p:nvGraphicFramePr>
          <p:cNvPr id="14" name="Table 2">
            <a:extLst>
              <a:ext uri="{FF2B5EF4-FFF2-40B4-BE49-F238E27FC236}">
                <a16:creationId xmlns:a16="http://schemas.microsoft.com/office/drawing/2014/main" id="{7834F273-EFAC-9AE6-4466-7492E8E60539}"/>
              </a:ext>
            </a:extLst>
          </p:cNvPr>
          <p:cNvGraphicFramePr>
            <a:graphicFrameLocks noGrp="1"/>
          </p:cNvGraphicFramePr>
          <p:nvPr>
            <p:extLst>
              <p:ext uri="{D42A27DB-BD31-4B8C-83A1-F6EECF244321}">
                <p14:modId xmlns:p14="http://schemas.microsoft.com/office/powerpoint/2010/main" val="2176628692"/>
              </p:ext>
            </p:extLst>
          </p:nvPr>
        </p:nvGraphicFramePr>
        <p:xfrm>
          <a:off x="5472753" y="977136"/>
          <a:ext cx="6121071" cy="1890886"/>
        </p:xfrm>
        <a:graphic>
          <a:graphicData uri="http://schemas.openxmlformats.org/drawingml/2006/table">
            <a:tbl>
              <a:tblPr firstRow="1" bandRow="1">
                <a:tableStyleId>{5C22544A-7EE6-4342-B048-85BDC9FD1C3A}</a:tableStyleId>
              </a:tblPr>
              <a:tblGrid>
                <a:gridCol w="1296452">
                  <a:extLst>
                    <a:ext uri="{9D8B030D-6E8A-4147-A177-3AD203B41FA5}">
                      <a16:colId xmlns:a16="http://schemas.microsoft.com/office/drawing/2014/main" val="4198110682"/>
                    </a:ext>
                  </a:extLst>
                </a:gridCol>
                <a:gridCol w="832598">
                  <a:extLst>
                    <a:ext uri="{9D8B030D-6E8A-4147-A177-3AD203B41FA5}">
                      <a16:colId xmlns:a16="http://schemas.microsoft.com/office/drawing/2014/main" val="292302729"/>
                    </a:ext>
                  </a:extLst>
                </a:gridCol>
                <a:gridCol w="739358">
                  <a:extLst>
                    <a:ext uri="{9D8B030D-6E8A-4147-A177-3AD203B41FA5}">
                      <a16:colId xmlns:a16="http://schemas.microsoft.com/office/drawing/2014/main" val="126256495"/>
                    </a:ext>
                  </a:extLst>
                </a:gridCol>
                <a:gridCol w="2106179">
                  <a:extLst>
                    <a:ext uri="{9D8B030D-6E8A-4147-A177-3AD203B41FA5}">
                      <a16:colId xmlns:a16="http://schemas.microsoft.com/office/drawing/2014/main" val="477450593"/>
                    </a:ext>
                  </a:extLst>
                </a:gridCol>
                <a:gridCol w="1146484">
                  <a:extLst>
                    <a:ext uri="{9D8B030D-6E8A-4147-A177-3AD203B41FA5}">
                      <a16:colId xmlns:a16="http://schemas.microsoft.com/office/drawing/2014/main" val="1101540161"/>
                    </a:ext>
                  </a:extLst>
                </a:gridCol>
              </a:tblGrid>
              <a:tr h="458326">
                <a:tc>
                  <a:txBody>
                    <a:bodyPr/>
                    <a:lstStyle/>
                    <a:p>
                      <a:pPr algn="ctr"/>
                      <a:r>
                        <a:rPr lang="en-NZ" sz="1400" dirty="0"/>
                        <a:t>Source of Variation</a:t>
                      </a:r>
                    </a:p>
                  </a:txBody>
                  <a:tcPr anchor="ctr"/>
                </a:tc>
                <a:tc>
                  <a:txBody>
                    <a:bodyPr/>
                    <a:lstStyle/>
                    <a:p>
                      <a:pPr algn="ctr"/>
                      <a:r>
                        <a:rPr lang="en-NZ" sz="1400" dirty="0" err="1"/>
                        <a:t>df</a:t>
                      </a:r>
                      <a:endParaRPr lang="en-NZ" sz="1400" dirty="0"/>
                    </a:p>
                  </a:txBody>
                  <a:tcPr anchor="ctr"/>
                </a:tc>
                <a:tc>
                  <a:txBody>
                    <a:bodyPr/>
                    <a:lstStyle/>
                    <a:p>
                      <a:pPr algn="ctr"/>
                      <a:r>
                        <a:rPr lang="en-NZ" sz="1400" dirty="0"/>
                        <a:t>SS</a:t>
                      </a:r>
                    </a:p>
                  </a:txBody>
                  <a:tcPr anchor="ctr"/>
                </a:tc>
                <a:tc>
                  <a:txBody>
                    <a:bodyPr/>
                    <a:lstStyle/>
                    <a:p>
                      <a:pPr algn="ctr"/>
                      <a:r>
                        <a:rPr lang="en-NZ" sz="1400" dirty="0"/>
                        <a:t>Mean Square</a:t>
                      </a:r>
                    </a:p>
                  </a:txBody>
                  <a:tcPr anchor="ctr"/>
                </a:tc>
                <a:tc>
                  <a:txBody>
                    <a:bodyPr/>
                    <a:lstStyle/>
                    <a:p>
                      <a:pPr algn="ctr"/>
                      <a:r>
                        <a:rPr lang="en-NZ" sz="1400" dirty="0"/>
                        <a:t>F-Statistic</a:t>
                      </a:r>
                    </a:p>
                  </a:txBody>
                  <a:tcPr anchor="ctr"/>
                </a:tc>
                <a:extLst>
                  <a:ext uri="{0D108BD9-81ED-4DB2-BD59-A6C34878D82A}">
                    <a16:rowId xmlns:a16="http://schemas.microsoft.com/office/drawing/2014/main" val="3666350365"/>
                  </a:ext>
                </a:extLst>
              </a:tr>
              <a:tr h="269603">
                <a:tc>
                  <a:txBody>
                    <a:bodyPr/>
                    <a:lstStyle/>
                    <a:p>
                      <a:pPr algn="ctr"/>
                      <a:r>
                        <a:rPr lang="en-NZ" sz="1400" dirty="0"/>
                        <a:t>Total</a:t>
                      </a:r>
                    </a:p>
                  </a:txBody>
                  <a:tcPr anchor="ctr"/>
                </a:tc>
                <a:tc>
                  <a:txBody>
                    <a:bodyPr/>
                    <a:lstStyle/>
                    <a:p>
                      <a:pPr algn="ctr"/>
                      <a:r>
                        <a:rPr lang="en-NZ" sz="1400" dirty="0"/>
                        <a:t>N-1</a:t>
                      </a:r>
                    </a:p>
                  </a:txBody>
                  <a:tcPr anchor="ctr"/>
                </a:tc>
                <a:tc>
                  <a:txBody>
                    <a:bodyPr/>
                    <a:lstStyle/>
                    <a:p>
                      <a:pPr algn="ctr"/>
                      <a:r>
                        <a:rPr lang="en-NZ" sz="1400" dirty="0"/>
                        <a:t>TSS</a:t>
                      </a:r>
                    </a:p>
                  </a:txBody>
                  <a:tcPr anchor="ctr"/>
                </a:tc>
                <a:tc>
                  <a:txBody>
                    <a:bodyPr/>
                    <a:lstStyle/>
                    <a:p>
                      <a:pPr algn="ctr"/>
                      <a:endParaRPr lang="en-NZ" sz="1400" dirty="0"/>
                    </a:p>
                  </a:txBody>
                  <a:tcPr anchor="ctr"/>
                </a:tc>
                <a:tc>
                  <a:txBody>
                    <a:bodyPr/>
                    <a:lstStyle/>
                    <a:p>
                      <a:pPr algn="ctr"/>
                      <a:endParaRPr lang="en-NZ" sz="1400" dirty="0"/>
                    </a:p>
                  </a:txBody>
                  <a:tcPr anchor="ctr"/>
                </a:tc>
                <a:extLst>
                  <a:ext uri="{0D108BD9-81ED-4DB2-BD59-A6C34878D82A}">
                    <a16:rowId xmlns:a16="http://schemas.microsoft.com/office/drawing/2014/main" val="3341485952"/>
                  </a:ext>
                </a:extLst>
              </a:tr>
              <a:tr h="2696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NZ" sz="1400" dirty="0"/>
                        <a:t>Treatment</a:t>
                      </a:r>
                    </a:p>
                  </a:txBody>
                  <a:tcPr anchor="ctr"/>
                </a:tc>
                <a:tc>
                  <a:txBody>
                    <a:bodyPr/>
                    <a:lstStyle/>
                    <a:p>
                      <a:pPr algn="ctr"/>
                      <a:r>
                        <a:rPr lang="en-NZ" sz="1400" dirty="0"/>
                        <a:t>a-1</a:t>
                      </a:r>
                    </a:p>
                  </a:txBody>
                  <a:tcPr anchor="ctr"/>
                </a:tc>
                <a:tc>
                  <a:txBody>
                    <a:bodyPr/>
                    <a:lstStyle/>
                    <a:p>
                      <a:pPr algn="ctr"/>
                      <a:r>
                        <a:rPr lang="en-NZ" sz="1400" dirty="0"/>
                        <a:t>SST</a:t>
                      </a:r>
                    </a:p>
                  </a:txBody>
                  <a:tcPr anchor="ctr"/>
                </a:tc>
                <a:tc>
                  <a:txBody>
                    <a:bodyPr/>
                    <a:lstStyle/>
                    <a:p>
                      <a:pPr algn="ctr"/>
                      <a:r>
                        <a:rPr lang="en-NZ" sz="1400" dirty="0"/>
                        <a:t>MST = SST / (a-1)</a:t>
                      </a:r>
                    </a:p>
                  </a:txBody>
                  <a:tcPr anchor="ctr"/>
                </a:tc>
                <a:tc>
                  <a:txBody>
                    <a:bodyPr/>
                    <a:lstStyle/>
                    <a:p>
                      <a:pPr algn="ctr"/>
                      <a:r>
                        <a:rPr lang="en-NZ" sz="1400" dirty="0"/>
                        <a:t>MST / MSE</a:t>
                      </a:r>
                    </a:p>
                  </a:txBody>
                  <a:tcPr anchor="ctr"/>
                </a:tc>
                <a:extLst>
                  <a:ext uri="{0D108BD9-81ED-4DB2-BD59-A6C34878D82A}">
                    <a16:rowId xmlns:a16="http://schemas.microsoft.com/office/drawing/2014/main" val="443198030"/>
                  </a:ext>
                </a:extLst>
              </a:tr>
              <a:tr h="269603">
                <a:tc>
                  <a:txBody>
                    <a:bodyPr/>
                    <a:lstStyle/>
                    <a:p>
                      <a:pPr algn="ctr"/>
                      <a:r>
                        <a:rPr lang="en-NZ" sz="1400" dirty="0"/>
                        <a:t>Blocks</a:t>
                      </a:r>
                    </a:p>
                  </a:txBody>
                  <a:tcPr anchor="ctr"/>
                </a:tc>
                <a:tc>
                  <a:txBody>
                    <a:bodyPr/>
                    <a:lstStyle/>
                    <a:p>
                      <a:pPr algn="ctr"/>
                      <a:r>
                        <a:rPr lang="en-NZ" sz="1400" dirty="0"/>
                        <a:t>b-1</a:t>
                      </a:r>
                    </a:p>
                  </a:txBody>
                  <a:tcPr anchor="ctr"/>
                </a:tc>
                <a:tc>
                  <a:txBody>
                    <a:bodyPr/>
                    <a:lstStyle/>
                    <a:p>
                      <a:pPr algn="ctr"/>
                      <a:r>
                        <a:rPr lang="en-NZ" sz="1400" dirty="0"/>
                        <a:t>SSB</a:t>
                      </a:r>
                    </a:p>
                  </a:txBody>
                  <a:tcPr anchor="ctr"/>
                </a:tc>
                <a:tc>
                  <a:txBody>
                    <a:bodyPr/>
                    <a:lstStyle/>
                    <a:p>
                      <a:pPr algn="ctr"/>
                      <a:r>
                        <a:rPr lang="en-NZ" sz="1400" dirty="0"/>
                        <a:t>MSB = SSB / (b-1)</a:t>
                      </a:r>
                    </a:p>
                  </a:txBody>
                  <a:tcPr anchor="ctr"/>
                </a:tc>
                <a:tc>
                  <a:txBody>
                    <a:bodyPr/>
                    <a:lstStyle/>
                    <a:p>
                      <a:pPr algn="ctr"/>
                      <a:r>
                        <a:rPr lang="en-NZ" sz="1400" dirty="0"/>
                        <a:t>MSB / MSE</a:t>
                      </a:r>
                    </a:p>
                  </a:txBody>
                  <a:tcPr anchor="ctr"/>
                </a:tc>
                <a:extLst>
                  <a:ext uri="{0D108BD9-81ED-4DB2-BD59-A6C34878D82A}">
                    <a16:rowId xmlns:a16="http://schemas.microsoft.com/office/drawing/2014/main" val="3427382577"/>
                  </a:ext>
                </a:extLst>
              </a:tr>
              <a:tr h="458326">
                <a:tc>
                  <a:txBody>
                    <a:bodyPr/>
                    <a:lstStyle/>
                    <a:p>
                      <a:pPr algn="ctr"/>
                      <a:r>
                        <a:rPr lang="en-NZ" sz="1400" dirty="0"/>
                        <a:t>Residual</a:t>
                      </a:r>
                    </a:p>
                  </a:txBody>
                  <a:tcPr anchor="ctr"/>
                </a:tc>
                <a:tc>
                  <a:txBody>
                    <a:bodyPr/>
                    <a:lstStyle/>
                    <a:p>
                      <a:pPr algn="ctr"/>
                      <a:r>
                        <a:rPr lang="en-NZ" sz="1400" dirty="0"/>
                        <a:t>N-a-b+1</a:t>
                      </a:r>
                    </a:p>
                  </a:txBody>
                  <a:tcPr anchor="ctr"/>
                </a:tc>
                <a:tc>
                  <a:txBody>
                    <a:bodyPr/>
                    <a:lstStyle/>
                    <a:p>
                      <a:pPr algn="ctr"/>
                      <a:r>
                        <a:rPr lang="en-NZ" sz="1400" dirty="0"/>
                        <a:t>SSE</a:t>
                      </a:r>
                    </a:p>
                  </a:txBody>
                  <a:tcPr anchor="ctr"/>
                </a:tc>
                <a:tc>
                  <a:txBody>
                    <a:bodyPr/>
                    <a:lstStyle/>
                    <a:p>
                      <a:pPr algn="ctr"/>
                      <a:r>
                        <a:rPr lang="en-NZ" sz="1400" dirty="0"/>
                        <a:t>MSE = SSE / (N-a-b+1)</a:t>
                      </a:r>
                    </a:p>
                  </a:txBody>
                  <a:tcPr anchor="ctr"/>
                </a:tc>
                <a:tc>
                  <a:txBody>
                    <a:bodyPr/>
                    <a:lstStyle/>
                    <a:p>
                      <a:pPr algn="ctr"/>
                      <a:endParaRPr lang="en-NZ" sz="1400" dirty="0"/>
                    </a:p>
                  </a:txBody>
                  <a:tcPr anchor="ctr"/>
                </a:tc>
                <a:extLst>
                  <a:ext uri="{0D108BD9-81ED-4DB2-BD59-A6C34878D82A}">
                    <a16:rowId xmlns:a16="http://schemas.microsoft.com/office/drawing/2014/main" val="3328376915"/>
                  </a:ext>
                </a:extLst>
              </a:tr>
            </a:tbl>
          </a:graphicData>
        </a:graphic>
      </p:graphicFrame>
    </p:spTree>
    <p:extLst>
      <p:ext uri="{BB962C8B-B14F-4D97-AF65-F5344CB8AC3E}">
        <p14:creationId xmlns:p14="http://schemas.microsoft.com/office/powerpoint/2010/main" val="605668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3" name="Title 6">
            <a:extLst>
              <a:ext uri="{FF2B5EF4-FFF2-40B4-BE49-F238E27FC236}">
                <a16:creationId xmlns:a16="http://schemas.microsoft.com/office/drawing/2014/main" id="{539E1FA8-24B4-FFD9-7C26-8B31D6C98125}"/>
              </a:ext>
            </a:extLst>
          </p:cNvPr>
          <p:cNvSpPr txBox="1">
            <a:spLocks/>
          </p:cNvSpPr>
          <p:nvPr/>
        </p:nvSpPr>
        <p:spPr>
          <a:xfrm>
            <a:off x="251223" y="237833"/>
            <a:ext cx="8617005" cy="607201"/>
          </a:xfrm>
          <a:prstGeom prst="rect">
            <a:avLst/>
          </a:prstGeom>
        </p:spPr>
        <p:txBody>
          <a:bodyPr anchor="t">
            <a:normAutofit fontScale="925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4.3d – Clotting Time of Blood Plasma Example</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5" name="Text Placeholder 5">
            <a:extLst>
              <a:ext uri="{FF2B5EF4-FFF2-40B4-BE49-F238E27FC236}">
                <a16:creationId xmlns:a16="http://schemas.microsoft.com/office/drawing/2014/main" id="{3543E36E-8489-E38A-326C-ACA1964A7E9E}"/>
              </a:ext>
            </a:extLst>
          </p:cNvPr>
          <p:cNvSpPr txBox="1">
            <a:spLocks/>
          </p:cNvSpPr>
          <p:nvPr/>
        </p:nvSpPr>
        <p:spPr>
          <a:xfrm>
            <a:off x="224017" y="2209336"/>
            <a:ext cx="4158346" cy="330519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3200" dirty="0">
                <a:solidFill>
                  <a:schemeClr val="tx1"/>
                </a:solidFill>
              </a:rPr>
              <a:t>What would have happened if we ignored subject to subject variation and treated this as a one-way ANOVA?</a:t>
            </a:r>
          </a:p>
          <a:p>
            <a:pPr algn="ctr">
              <a:lnSpc>
                <a:spcPct val="100000"/>
              </a:lnSpc>
            </a:pPr>
            <a:endParaRPr lang="en-NZ" altLang="ja-JP" sz="3200" dirty="0">
              <a:solidFill>
                <a:schemeClr val="tx1"/>
              </a:solidFill>
            </a:endParaRPr>
          </a:p>
        </p:txBody>
      </p:sp>
      <mc:AlternateContent xmlns:mc="http://schemas.openxmlformats.org/markup-compatibility/2006" xmlns:a14="http://schemas.microsoft.com/office/drawing/2010/main">
        <mc:Choice Requires="a14">
          <p:sp>
            <p:nvSpPr>
              <p:cNvPr id="11" name="Rectangle: Rounded Corners 10">
                <a:extLst>
                  <a:ext uri="{FF2B5EF4-FFF2-40B4-BE49-F238E27FC236}">
                    <a16:creationId xmlns:a16="http://schemas.microsoft.com/office/drawing/2014/main" id="{861B0FF9-C008-3F26-D2C5-2C373E5BD419}"/>
                  </a:ext>
                </a:extLst>
              </p:cNvPr>
              <p:cNvSpPr/>
              <p:nvPr/>
            </p:nvSpPr>
            <p:spPr>
              <a:xfrm>
                <a:off x="7878764" y="1922676"/>
                <a:ext cx="1978926" cy="832514"/>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b="1" dirty="0">
                    <a:solidFill>
                      <a:schemeClr val="bg1"/>
                    </a:solidFill>
                  </a:rPr>
                  <a:t>TSS</a:t>
                </a:r>
              </a:p>
              <a:p>
                <a:pPr algn="ctr"/>
                <a14:m>
                  <m:oMathPara xmlns:m="http://schemas.openxmlformats.org/officeDocument/2006/math">
                    <m:oMathParaPr>
                      <m:jc m:val="centerGroup"/>
                    </m:oMathParaPr>
                    <m:oMath xmlns:m="http://schemas.openxmlformats.org/officeDocument/2006/math">
                      <m:r>
                        <a:rPr lang="en-NZ" sz="1600" b="0" i="1" smtClean="0">
                          <a:solidFill>
                            <a:schemeClr val="bg1"/>
                          </a:solidFill>
                          <a:latin typeface="Cambria Math" panose="02040503050406030204" pitchFamily="18" charset="0"/>
                        </a:rPr>
                        <m:t>𝑑</m:t>
                      </m:r>
                      <m:sSub>
                        <m:sSubPr>
                          <m:ctrlPr>
                            <a:rPr lang="en-NZ" sz="1600" b="0" i="1" smtClean="0">
                              <a:solidFill>
                                <a:schemeClr val="bg1"/>
                              </a:solidFill>
                              <a:latin typeface="Cambria Math" panose="02040503050406030204" pitchFamily="18" charset="0"/>
                            </a:rPr>
                          </m:ctrlPr>
                        </m:sSubPr>
                        <m:e>
                          <m:r>
                            <a:rPr lang="en-NZ" sz="1600" b="0" i="1" smtClean="0">
                              <a:solidFill>
                                <a:schemeClr val="bg1"/>
                              </a:solidFill>
                              <a:latin typeface="Cambria Math" panose="02040503050406030204" pitchFamily="18" charset="0"/>
                            </a:rPr>
                            <m:t>𝑓</m:t>
                          </m:r>
                        </m:e>
                        <m:sub>
                          <m:r>
                            <a:rPr lang="en-NZ" sz="1600" b="0" i="1" smtClean="0">
                              <a:solidFill>
                                <a:schemeClr val="bg1"/>
                              </a:solidFill>
                              <a:latin typeface="Cambria Math" panose="02040503050406030204" pitchFamily="18" charset="0"/>
                            </a:rPr>
                            <m:t>𝑇𝑆𝑆</m:t>
                          </m:r>
                        </m:sub>
                      </m:sSub>
                      <m:r>
                        <a:rPr lang="en-NZ" sz="1600" b="0" i="1" smtClean="0">
                          <a:solidFill>
                            <a:schemeClr val="bg1"/>
                          </a:solidFill>
                          <a:latin typeface="Cambria Math" panose="02040503050406030204" pitchFamily="18" charset="0"/>
                        </a:rPr>
                        <m:t>=</m:t>
                      </m:r>
                      <m:r>
                        <a:rPr lang="en-NZ" sz="1600" b="0" i="1" smtClean="0">
                          <a:solidFill>
                            <a:schemeClr val="bg1"/>
                          </a:solidFill>
                          <a:latin typeface="Cambria Math" panose="02040503050406030204" pitchFamily="18" charset="0"/>
                        </a:rPr>
                        <m:t>𝑁</m:t>
                      </m:r>
                      <m:r>
                        <a:rPr lang="en-NZ" sz="1600" b="0" i="1" smtClean="0">
                          <a:solidFill>
                            <a:schemeClr val="bg1"/>
                          </a:solidFill>
                          <a:latin typeface="Cambria Math" panose="02040503050406030204" pitchFamily="18" charset="0"/>
                        </a:rPr>
                        <m:t>−1</m:t>
                      </m:r>
                    </m:oMath>
                  </m:oMathPara>
                </a14:m>
                <a:endParaRPr lang="en-NZ" sz="1600" dirty="0">
                  <a:solidFill>
                    <a:schemeClr val="bg1"/>
                  </a:solidFill>
                </a:endParaRPr>
              </a:p>
            </p:txBody>
          </p:sp>
        </mc:Choice>
        <mc:Fallback xmlns="">
          <p:sp>
            <p:nvSpPr>
              <p:cNvPr id="11" name="Rectangle: Rounded Corners 10">
                <a:extLst>
                  <a:ext uri="{FF2B5EF4-FFF2-40B4-BE49-F238E27FC236}">
                    <a16:creationId xmlns:a16="http://schemas.microsoft.com/office/drawing/2014/main" id="{861B0FF9-C008-3F26-D2C5-2C373E5BD419}"/>
                  </a:ext>
                </a:extLst>
              </p:cNvPr>
              <p:cNvSpPr>
                <a:spLocks noRot="1" noChangeAspect="1" noMove="1" noResize="1" noEditPoints="1" noAdjustHandles="1" noChangeArrowheads="1" noChangeShapeType="1" noTextEdit="1"/>
              </p:cNvSpPr>
              <p:nvPr/>
            </p:nvSpPr>
            <p:spPr>
              <a:xfrm>
                <a:off x="7878764" y="1922676"/>
                <a:ext cx="1978926" cy="832514"/>
              </a:xfrm>
              <a:prstGeom prst="roundRect">
                <a:avLst/>
              </a:prstGeom>
              <a:blipFill>
                <a:blip r:embed="rId2"/>
                <a:stretch>
                  <a:fillRect/>
                </a:stretch>
              </a:blipFill>
              <a:ln>
                <a:solidFill>
                  <a:schemeClr val="tx1"/>
                </a:solidFill>
              </a:ln>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4" name="Rectangle: Rounded Corners 13">
                <a:extLst>
                  <a:ext uri="{FF2B5EF4-FFF2-40B4-BE49-F238E27FC236}">
                    <a16:creationId xmlns:a16="http://schemas.microsoft.com/office/drawing/2014/main" id="{C298A31C-0EDB-B60C-88D5-DA67E0AC6EA1}"/>
                  </a:ext>
                </a:extLst>
              </p:cNvPr>
              <p:cNvSpPr/>
              <p:nvPr/>
            </p:nvSpPr>
            <p:spPr>
              <a:xfrm>
                <a:off x="9011528" y="3459470"/>
                <a:ext cx="1978926" cy="832514"/>
              </a:xfrm>
              <a:prstGeom prst="roundRect">
                <a:avLst/>
              </a:prstGeom>
              <a:solidFill>
                <a:schemeClr val="tx1">
                  <a:lumMod val="75000"/>
                  <a:lumOff val="2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b="1">
                    <a:solidFill>
                      <a:schemeClr val="bg1"/>
                    </a:solidFill>
                  </a:rPr>
                  <a:t>SSE</a:t>
                </a:r>
                <a:r>
                  <a:rPr lang="en-NZ" b="1" baseline="-25000">
                    <a:solidFill>
                      <a:schemeClr val="bg1"/>
                    </a:solidFill>
                  </a:rPr>
                  <a:t>0</a:t>
                </a:r>
                <a:endParaRPr lang="en-NZ" b="1" dirty="0">
                  <a:solidFill>
                    <a:schemeClr val="bg1"/>
                  </a:solidFill>
                </a:endParaRPr>
              </a:p>
              <a:p>
                <a:pPr algn="ctr"/>
                <a14:m>
                  <m:oMathPara xmlns:m="http://schemas.openxmlformats.org/officeDocument/2006/math">
                    <m:oMathParaPr>
                      <m:jc m:val="centerGroup"/>
                    </m:oMathParaPr>
                    <m:oMath xmlns:m="http://schemas.openxmlformats.org/officeDocument/2006/math">
                      <m:r>
                        <a:rPr lang="en-NZ" sz="1600" b="0" i="1" smtClean="0">
                          <a:solidFill>
                            <a:schemeClr val="bg1"/>
                          </a:solidFill>
                          <a:latin typeface="Cambria Math" panose="02040503050406030204" pitchFamily="18" charset="0"/>
                        </a:rPr>
                        <m:t>𝑑</m:t>
                      </m:r>
                      <m:sSub>
                        <m:sSubPr>
                          <m:ctrlPr>
                            <a:rPr lang="en-NZ" sz="1600" b="0" i="1" smtClean="0">
                              <a:solidFill>
                                <a:schemeClr val="bg1"/>
                              </a:solidFill>
                              <a:latin typeface="Cambria Math" panose="02040503050406030204" pitchFamily="18" charset="0"/>
                            </a:rPr>
                          </m:ctrlPr>
                        </m:sSubPr>
                        <m:e>
                          <m:r>
                            <a:rPr lang="en-NZ" sz="1600" b="0" i="1" smtClean="0">
                              <a:solidFill>
                                <a:schemeClr val="bg1"/>
                              </a:solidFill>
                              <a:latin typeface="Cambria Math" panose="02040503050406030204" pitchFamily="18" charset="0"/>
                            </a:rPr>
                            <m:t>𝑓</m:t>
                          </m:r>
                        </m:e>
                        <m:sub>
                          <m:r>
                            <a:rPr lang="en-NZ" sz="1600" b="0" i="1" smtClean="0">
                              <a:solidFill>
                                <a:schemeClr val="bg1"/>
                              </a:solidFill>
                              <a:latin typeface="Cambria Math" panose="02040503050406030204" pitchFamily="18" charset="0"/>
                            </a:rPr>
                            <m:t>𝑆𝑆</m:t>
                          </m:r>
                          <m:sSub>
                            <m:sSubPr>
                              <m:ctrlPr>
                                <a:rPr lang="en-NZ" sz="1600" b="0" i="1" smtClean="0">
                                  <a:solidFill>
                                    <a:schemeClr val="bg1"/>
                                  </a:solidFill>
                                  <a:latin typeface="Cambria Math" panose="02040503050406030204" pitchFamily="18" charset="0"/>
                                </a:rPr>
                              </m:ctrlPr>
                            </m:sSubPr>
                            <m:e>
                              <m:r>
                                <a:rPr lang="en-NZ" sz="1600" b="0" i="1" smtClean="0">
                                  <a:solidFill>
                                    <a:schemeClr val="bg1"/>
                                  </a:solidFill>
                                  <a:latin typeface="Cambria Math" panose="02040503050406030204" pitchFamily="18" charset="0"/>
                                </a:rPr>
                                <m:t>𝐸</m:t>
                              </m:r>
                            </m:e>
                            <m:sub>
                              <m:r>
                                <a:rPr lang="en-NZ" sz="1600" b="0" i="1" smtClean="0">
                                  <a:solidFill>
                                    <a:schemeClr val="bg1"/>
                                  </a:solidFill>
                                  <a:latin typeface="Cambria Math" panose="02040503050406030204" pitchFamily="18" charset="0"/>
                                </a:rPr>
                                <m:t>0</m:t>
                              </m:r>
                            </m:sub>
                          </m:sSub>
                        </m:sub>
                      </m:sSub>
                      <m:r>
                        <a:rPr lang="en-NZ" sz="1600" b="0" i="1" smtClean="0">
                          <a:solidFill>
                            <a:schemeClr val="bg1"/>
                          </a:solidFill>
                          <a:latin typeface="Cambria Math" panose="02040503050406030204" pitchFamily="18" charset="0"/>
                        </a:rPr>
                        <m:t>=</m:t>
                      </m:r>
                      <m:r>
                        <a:rPr lang="en-NZ" sz="1600" b="0" i="1" smtClean="0">
                          <a:solidFill>
                            <a:schemeClr val="bg1"/>
                          </a:solidFill>
                          <a:latin typeface="Cambria Math" panose="02040503050406030204" pitchFamily="18" charset="0"/>
                        </a:rPr>
                        <m:t>𝑁</m:t>
                      </m:r>
                      <m:r>
                        <a:rPr lang="en-NZ" sz="1600" b="0" i="1" smtClean="0">
                          <a:solidFill>
                            <a:schemeClr val="bg1"/>
                          </a:solidFill>
                          <a:latin typeface="Cambria Math" panose="02040503050406030204" pitchFamily="18" charset="0"/>
                        </a:rPr>
                        <m:t>−</m:t>
                      </m:r>
                      <m:r>
                        <a:rPr lang="en-NZ" sz="1600" b="0" i="1" smtClean="0">
                          <a:solidFill>
                            <a:schemeClr val="bg1"/>
                          </a:solidFill>
                          <a:latin typeface="Cambria Math" panose="02040503050406030204" pitchFamily="18" charset="0"/>
                        </a:rPr>
                        <m:t>𝑎</m:t>
                      </m:r>
                    </m:oMath>
                  </m:oMathPara>
                </a14:m>
                <a:endParaRPr lang="en-NZ" sz="1600" dirty="0">
                  <a:solidFill>
                    <a:schemeClr val="bg1"/>
                  </a:solidFill>
                </a:endParaRPr>
              </a:p>
            </p:txBody>
          </p:sp>
        </mc:Choice>
        <mc:Fallback xmlns="">
          <p:sp>
            <p:nvSpPr>
              <p:cNvPr id="14" name="Rectangle: Rounded Corners 13">
                <a:extLst>
                  <a:ext uri="{FF2B5EF4-FFF2-40B4-BE49-F238E27FC236}">
                    <a16:creationId xmlns:a16="http://schemas.microsoft.com/office/drawing/2014/main" id="{C298A31C-0EDB-B60C-88D5-DA67E0AC6EA1}"/>
                  </a:ext>
                </a:extLst>
              </p:cNvPr>
              <p:cNvSpPr>
                <a:spLocks noRot="1" noChangeAspect="1" noMove="1" noResize="1" noEditPoints="1" noAdjustHandles="1" noChangeArrowheads="1" noChangeShapeType="1" noTextEdit="1"/>
              </p:cNvSpPr>
              <p:nvPr/>
            </p:nvSpPr>
            <p:spPr>
              <a:xfrm>
                <a:off x="9011528" y="3459470"/>
                <a:ext cx="1978926" cy="832514"/>
              </a:xfrm>
              <a:prstGeom prst="roundRect">
                <a:avLst/>
              </a:prstGeom>
              <a:blipFill>
                <a:blip r:embed="rId3"/>
                <a:stretch>
                  <a:fillRect/>
                </a:stretch>
              </a:blipFill>
              <a:ln>
                <a:solidFill>
                  <a:schemeClr val="tx1"/>
                </a:solidFill>
              </a:ln>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6" name="Rectangle: Rounded Corners 15">
                <a:extLst>
                  <a:ext uri="{FF2B5EF4-FFF2-40B4-BE49-F238E27FC236}">
                    <a16:creationId xmlns:a16="http://schemas.microsoft.com/office/drawing/2014/main" id="{978E9065-EA71-F895-48E5-C117E0EF31FE}"/>
                  </a:ext>
                </a:extLst>
              </p:cNvPr>
              <p:cNvSpPr/>
              <p:nvPr/>
            </p:nvSpPr>
            <p:spPr>
              <a:xfrm>
                <a:off x="5798757" y="4968675"/>
                <a:ext cx="1978926" cy="832514"/>
              </a:xfrm>
              <a:prstGeom prst="round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b="1" dirty="0">
                    <a:solidFill>
                      <a:schemeClr val="tx1"/>
                    </a:solidFill>
                  </a:rPr>
                  <a:t>SST</a:t>
                </a:r>
              </a:p>
              <a:p>
                <a:pPr algn="ctr"/>
                <a14:m>
                  <m:oMathPara xmlns:m="http://schemas.openxmlformats.org/officeDocument/2006/math">
                    <m:oMathParaPr>
                      <m:jc m:val="centerGroup"/>
                    </m:oMathParaPr>
                    <m:oMath xmlns:m="http://schemas.openxmlformats.org/officeDocument/2006/math">
                      <m:r>
                        <a:rPr lang="en-NZ" sz="1600" b="0" i="1" smtClean="0">
                          <a:solidFill>
                            <a:schemeClr val="tx1"/>
                          </a:solidFill>
                          <a:latin typeface="Cambria Math" panose="02040503050406030204" pitchFamily="18" charset="0"/>
                        </a:rPr>
                        <m:t>𝑑</m:t>
                      </m:r>
                      <m:sSub>
                        <m:sSubPr>
                          <m:ctrlPr>
                            <a:rPr lang="en-NZ" sz="1600" b="0" i="1" smtClean="0">
                              <a:solidFill>
                                <a:schemeClr val="tx1"/>
                              </a:solidFill>
                              <a:latin typeface="Cambria Math" panose="02040503050406030204" pitchFamily="18" charset="0"/>
                            </a:rPr>
                          </m:ctrlPr>
                        </m:sSubPr>
                        <m:e>
                          <m:r>
                            <a:rPr lang="en-NZ" sz="1600" b="0" i="1" smtClean="0">
                              <a:solidFill>
                                <a:schemeClr val="tx1"/>
                              </a:solidFill>
                              <a:latin typeface="Cambria Math" panose="02040503050406030204" pitchFamily="18" charset="0"/>
                            </a:rPr>
                            <m:t>𝑓</m:t>
                          </m:r>
                        </m:e>
                        <m:sub>
                          <m:r>
                            <a:rPr lang="en-NZ" sz="1600" b="0" i="1" smtClean="0">
                              <a:solidFill>
                                <a:schemeClr val="tx1"/>
                              </a:solidFill>
                              <a:latin typeface="Cambria Math" panose="02040503050406030204" pitchFamily="18" charset="0"/>
                            </a:rPr>
                            <m:t>𝑆𝑆𝑇</m:t>
                          </m:r>
                        </m:sub>
                      </m:sSub>
                      <m:r>
                        <a:rPr lang="en-NZ" sz="1600" b="0" i="1" smtClean="0">
                          <a:solidFill>
                            <a:schemeClr val="tx1"/>
                          </a:solidFill>
                          <a:latin typeface="Cambria Math" panose="02040503050406030204" pitchFamily="18" charset="0"/>
                        </a:rPr>
                        <m:t>=</m:t>
                      </m:r>
                      <m:r>
                        <a:rPr lang="en-NZ" sz="1600" b="0" i="1" smtClean="0">
                          <a:solidFill>
                            <a:schemeClr val="tx1"/>
                          </a:solidFill>
                          <a:latin typeface="Cambria Math" panose="02040503050406030204" pitchFamily="18" charset="0"/>
                        </a:rPr>
                        <m:t>𝑎</m:t>
                      </m:r>
                      <m:r>
                        <a:rPr lang="en-NZ" sz="1600" b="0" i="1" smtClean="0">
                          <a:solidFill>
                            <a:schemeClr val="tx1"/>
                          </a:solidFill>
                          <a:latin typeface="Cambria Math" panose="02040503050406030204" pitchFamily="18" charset="0"/>
                        </a:rPr>
                        <m:t>−1</m:t>
                      </m:r>
                    </m:oMath>
                  </m:oMathPara>
                </a14:m>
                <a:endParaRPr lang="en-NZ" sz="1600" dirty="0">
                  <a:solidFill>
                    <a:schemeClr val="tx1"/>
                  </a:solidFill>
                </a:endParaRPr>
              </a:p>
            </p:txBody>
          </p:sp>
        </mc:Choice>
        <mc:Fallback xmlns="">
          <p:sp>
            <p:nvSpPr>
              <p:cNvPr id="16" name="Rectangle: Rounded Corners 15">
                <a:extLst>
                  <a:ext uri="{FF2B5EF4-FFF2-40B4-BE49-F238E27FC236}">
                    <a16:creationId xmlns:a16="http://schemas.microsoft.com/office/drawing/2014/main" id="{978E9065-EA71-F895-48E5-C117E0EF31FE}"/>
                  </a:ext>
                </a:extLst>
              </p:cNvPr>
              <p:cNvSpPr>
                <a:spLocks noRot="1" noChangeAspect="1" noMove="1" noResize="1" noEditPoints="1" noAdjustHandles="1" noChangeArrowheads="1" noChangeShapeType="1" noTextEdit="1"/>
              </p:cNvSpPr>
              <p:nvPr/>
            </p:nvSpPr>
            <p:spPr>
              <a:xfrm>
                <a:off x="5798757" y="4968675"/>
                <a:ext cx="1978926" cy="832514"/>
              </a:xfrm>
              <a:prstGeom prst="roundRect">
                <a:avLst/>
              </a:prstGeom>
              <a:blipFill>
                <a:blip r:embed="rId4"/>
                <a:stretch>
                  <a:fillRect/>
                </a:stretch>
              </a:blipFill>
              <a:ln>
                <a:solidFill>
                  <a:schemeClr val="tx1"/>
                </a:solidFill>
              </a:ln>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7" name="Rectangle: Rounded Corners 16">
                <a:extLst>
                  <a:ext uri="{FF2B5EF4-FFF2-40B4-BE49-F238E27FC236}">
                    <a16:creationId xmlns:a16="http://schemas.microsoft.com/office/drawing/2014/main" id="{B25D8F98-4207-BEE1-76CA-119B34E33E28}"/>
                  </a:ext>
                </a:extLst>
              </p:cNvPr>
              <p:cNvSpPr/>
              <p:nvPr/>
            </p:nvSpPr>
            <p:spPr>
              <a:xfrm>
                <a:off x="7878764" y="4968675"/>
                <a:ext cx="1978926" cy="832514"/>
              </a:xfrm>
              <a:prstGeom prst="roundRect">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b="1" dirty="0">
                    <a:solidFill>
                      <a:schemeClr val="bg1"/>
                    </a:solidFill>
                  </a:rPr>
                  <a:t>SSB</a:t>
                </a:r>
              </a:p>
              <a:p>
                <a:pPr algn="ctr"/>
                <a14:m>
                  <m:oMathPara xmlns:m="http://schemas.openxmlformats.org/officeDocument/2006/math">
                    <m:oMathParaPr>
                      <m:jc m:val="centerGroup"/>
                    </m:oMathParaPr>
                    <m:oMath xmlns:m="http://schemas.openxmlformats.org/officeDocument/2006/math">
                      <m:r>
                        <a:rPr lang="en-NZ" sz="1600" b="0" i="1" smtClean="0">
                          <a:solidFill>
                            <a:schemeClr val="bg1"/>
                          </a:solidFill>
                          <a:latin typeface="Cambria Math" panose="02040503050406030204" pitchFamily="18" charset="0"/>
                        </a:rPr>
                        <m:t>𝑑</m:t>
                      </m:r>
                      <m:sSub>
                        <m:sSubPr>
                          <m:ctrlPr>
                            <a:rPr lang="en-NZ" sz="1600" b="0" i="1" smtClean="0">
                              <a:solidFill>
                                <a:schemeClr val="bg1"/>
                              </a:solidFill>
                              <a:latin typeface="Cambria Math" panose="02040503050406030204" pitchFamily="18" charset="0"/>
                            </a:rPr>
                          </m:ctrlPr>
                        </m:sSubPr>
                        <m:e>
                          <m:r>
                            <a:rPr lang="en-NZ" sz="1600" b="0" i="1" smtClean="0">
                              <a:solidFill>
                                <a:schemeClr val="bg1"/>
                              </a:solidFill>
                              <a:latin typeface="Cambria Math" panose="02040503050406030204" pitchFamily="18" charset="0"/>
                            </a:rPr>
                            <m:t>𝑓</m:t>
                          </m:r>
                        </m:e>
                        <m:sub>
                          <m:r>
                            <a:rPr lang="en-NZ" sz="1600" b="0" i="1" smtClean="0">
                              <a:solidFill>
                                <a:schemeClr val="bg1"/>
                              </a:solidFill>
                              <a:latin typeface="Cambria Math" panose="02040503050406030204" pitchFamily="18" charset="0"/>
                            </a:rPr>
                            <m:t>𝑆𝑆𝐵</m:t>
                          </m:r>
                        </m:sub>
                      </m:sSub>
                      <m:r>
                        <a:rPr lang="en-NZ" sz="1600" b="0" i="1" smtClean="0">
                          <a:solidFill>
                            <a:schemeClr val="bg1"/>
                          </a:solidFill>
                          <a:latin typeface="Cambria Math" panose="02040503050406030204" pitchFamily="18" charset="0"/>
                        </a:rPr>
                        <m:t>=</m:t>
                      </m:r>
                      <m:r>
                        <a:rPr lang="en-NZ" sz="1600" b="0" i="1" smtClean="0">
                          <a:solidFill>
                            <a:schemeClr val="bg1"/>
                          </a:solidFill>
                          <a:latin typeface="Cambria Math" panose="02040503050406030204" pitchFamily="18" charset="0"/>
                        </a:rPr>
                        <m:t>𝑏</m:t>
                      </m:r>
                      <m:r>
                        <a:rPr lang="en-NZ" sz="1600" b="0" i="1" smtClean="0">
                          <a:solidFill>
                            <a:schemeClr val="bg1"/>
                          </a:solidFill>
                          <a:latin typeface="Cambria Math" panose="02040503050406030204" pitchFamily="18" charset="0"/>
                        </a:rPr>
                        <m:t>−1</m:t>
                      </m:r>
                    </m:oMath>
                  </m:oMathPara>
                </a14:m>
                <a:endParaRPr lang="en-NZ" sz="1600" dirty="0">
                  <a:solidFill>
                    <a:schemeClr val="bg1"/>
                  </a:solidFill>
                </a:endParaRPr>
              </a:p>
            </p:txBody>
          </p:sp>
        </mc:Choice>
        <mc:Fallback xmlns="">
          <p:sp>
            <p:nvSpPr>
              <p:cNvPr id="17" name="Rectangle: Rounded Corners 16">
                <a:extLst>
                  <a:ext uri="{FF2B5EF4-FFF2-40B4-BE49-F238E27FC236}">
                    <a16:creationId xmlns:a16="http://schemas.microsoft.com/office/drawing/2014/main" id="{B25D8F98-4207-BEE1-76CA-119B34E33E28}"/>
                  </a:ext>
                </a:extLst>
              </p:cNvPr>
              <p:cNvSpPr>
                <a:spLocks noRot="1" noChangeAspect="1" noMove="1" noResize="1" noEditPoints="1" noAdjustHandles="1" noChangeArrowheads="1" noChangeShapeType="1" noTextEdit="1"/>
              </p:cNvSpPr>
              <p:nvPr/>
            </p:nvSpPr>
            <p:spPr>
              <a:xfrm>
                <a:off x="7878764" y="4968675"/>
                <a:ext cx="1978926" cy="832514"/>
              </a:xfrm>
              <a:prstGeom prst="roundRect">
                <a:avLst/>
              </a:prstGeom>
              <a:blipFill>
                <a:blip r:embed="rId5"/>
                <a:stretch>
                  <a:fillRect/>
                </a:stretch>
              </a:blipFill>
              <a:ln>
                <a:solidFill>
                  <a:schemeClr val="tx1"/>
                </a:solidFill>
              </a:ln>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8" name="Rectangle: Rounded Corners 17">
                <a:extLst>
                  <a:ext uri="{FF2B5EF4-FFF2-40B4-BE49-F238E27FC236}">
                    <a16:creationId xmlns:a16="http://schemas.microsoft.com/office/drawing/2014/main" id="{8BBB9A90-1D43-AA8C-2BB0-21ECD208A5B1}"/>
                  </a:ext>
                </a:extLst>
              </p:cNvPr>
              <p:cNvSpPr/>
              <p:nvPr/>
            </p:nvSpPr>
            <p:spPr>
              <a:xfrm>
                <a:off x="9958772" y="4968675"/>
                <a:ext cx="1978926" cy="832514"/>
              </a:xfrm>
              <a:prstGeom prst="roundRect">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b="1">
                    <a:solidFill>
                      <a:schemeClr val="bg1"/>
                    </a:solidFill>
                  </a:rPr>
                  <a:t>SSE</a:t>
                </a:r>
                <a:endParaRPr lang="en-NZ" b="1" dirty="0">
                  <a:solidFill>
                    <a:schemeClr val="bg1"/>
                  </a:solidFill>
                </a:endParaRPr>
              </a:p>
              <a:p>
                <a:pPr algn="ctr"/>
                <a14:m>
                  <m:oMathPara xmlns:m="http://schemas.openxmlformats.org/officeDocument/2006/math">
                    <m:oMathParaPr>
                      <m:jc m:val="centerGroup"/>
                    </m:oMathParaPr>
                    <m:oMath xmlns:m="http://schemas.openxmlformats.org/officeDocument/2006/math">
                      <m:r>
                        <a:rPr lang="en-NZ" sz="1200" b="0" i="1" smtClean="0">
                          <a:solidFill>
                            <a:schemeClr val="bg1"/>
                          </a:solidFill>
                          <a:latin typeface="Cambria Math" panose="02040503050406030204" pitchFamily="18" charset="0"/>
                        </a:rPr>
                        <m:t>𝑑</m:t>
                      </m:r>
                      <m:sSub>
                        <m:sSubPr>
                          <m:ctrlPr>
                            <a:rPr lang="en-NZ" sz="1200" b="0" i="1" smtClean="0">
                              <a:solidFill>
                                <a:schemeClr val="bg1"/>
                              </a:solidFill>
                              <a:latin typeface="Cambria Math" panose="02040503050406030204" pitchFamily="18" charset="0"/>
                            </a:rPr>
                          </m:ctrlPr>
                        </m:sSubPr>
                        <m:e>
                          <m:r>
                            <a:rPr lang="en-NZ" sz="1200" b="0" i="1" smtClean="0">
                              <a:solidFill>
                                <a:schemeClr val="bg1"/>
                              </a:solidFill>
                              <a:latin typeface="Cambria Math" panose="02040503050406030204" pitchFamily="18" charset="0"/>
                            </a:rPr>
                            <m:t>𝑓</m:t>
                          </m:r>
                        </m:e>
                        <m:sub>
                          <m:r>
                            <a:rPr lang="en-NZ" sz="1200" b="0" i="1" smtClean="0">
                              <a:solidFill>
                                <a:schemeClr val="bg1"/>
                              </a:solidFill>
                              <a:latin typeface="Cambria Math" panose="02040503050406030204" pitchFamily="18" charset="0"/>
                            </a:rPr>
                            <m:t>𝑆𝑆𝐸</m:t>
                          </m:r>
                        </m:sub>
                      </m:sSub>
                      <m:r>
                        <a:rPr lang="en-NZ" sz="1200" b="0" i="1" smtClean="0">
                          <a:solidFill>
                            <a:schemeClr val="bg1"/>
                          </a:solidFill>
                          <a:latin typeface="Cambria Math" panose="02040503050406030204" pitchFamily="18" charset="0"/>
                        </a:rPr>
                        <m:t>=</m:t>
                      </m:r>
                      <m:r>
                        <a:rPr lang="en-NZ" sz="1200" b="0" i="1" smtClean="0">
                          <a:solidFill>
                            <a:schemeClr val="bg1"/>
                          </a:solidFill>
                          <a:latin typeface="Cambria Math" panose="02040503050406030204" pitchFamily="18" charset="0"/>
                        </a:rPr>
                        <m:t>𝑁</m:t>
                      </m:r>
                      <m:r>
                        <a:rPr lang="en-NZ" sz="1200" b="0" i="1" smtClean="0">
                          <a:solidFill>
                            <a:schemeClr val="bg1"/>
                          </a:solidFill>
                          <a:latin typeface="Cambria Math" panose="02040503050406030204" pitchFamily="18" charset="0"/>
                        </a:rPr>
                        <m:t>−</m:t>
                      </m:r>
                      <m:r>
                        <a:rPr lang="en-NZ" sz="1200" b="0" i="1" smtClean="0">
                          <a:solidFill>
                            <a:schemeClr val="bg1"/>
                          </a:solidFill>
                          <a:latin typeface="Cambria Math" panose="02040503050406030204" pitchFamily="18" charset="0"/>
                        </a:rPr>
                        <m:t>𝑎</m:t>
                      </m:r>
                      <m:r>
                        <a:rPr lang="en-NZ" sz="1200" b="0" i="1" smtClean="0">
                          <a:solidFill>
                            <a:schemeClr val="bg1"/>
                          </a:solidFill>
                          <a:latin typeface="Cambria Math" panose="02040503050406030204" pitchFamily="18" charset="0"/>
                        </a:rPr>
                        <m:t>−</m:t>
                      </m:r>
                      <m:r>
                        <a:rPr lang="en-NZ" sz="1200" b="0" i="1" smtClean="0">
                          <a:solidFill>
                            <a:schemeClr val="bg1"/>
                          </a:solidFill>
                          <a:latin typeface="Cambria Math" panose="02040503050406030204" pitchFamily="18" charset="0"/>
                        </a:rPr>
                        <m:t>𝑏</m:t>
                      </m:r>
                      <m:r>
                        <a:rPr lang="en-NZ" sz="1200" b="0" i="1" smtClean="0">
                          <a:solidFill>
                            <a:schemeClr val="bg1"/>
                          </a:solidFill>
                          <a:latin typeface="Cambria Math" panose="02040503050406030204" pitchFamily="18" charset="0"/>
                        </a:rPr>
                        <m:t>+1</m:t>
                      </m:r>
                    </m:oMath>
                  </m:oMathPara>
                </a14:m>
                <a:endParaRPr lang="en-NZ" sz="1200" dirty="0">
                  <a:solidFill>
                    <a:schemeClr val="bg1"/>
                  </a:solidFill>
                </a:endParaRPr>
              </a:p>
            </p:txBody>
          </p:sp>
        </mc:Choice>
        <mc:Fallback xmlns="">
          <p:sp>
            <p:nvSpPr>
              <p:cNvPr id="18" name="Rectangle: Rounded Corners 17">
                <a:extLst>
                  <a:ext uri="{FF2B5EF4-FFF2-40B4-BE49-F238E27FC236}">
                    <a16:creationId xmlns:a16="http://schemas.microsoft.com/office/drawing/2014/main" id="{8BBB9A90-1D43-AA8C-2BB0-21ECD208A5B1}"/>
                  </a:ext>
                </a:extLst>
              </p:cNvPr>
              <p:cNvSpPr>
                <a:spLocks noRot="1" noChangeAspect="1" noMove="1" noResize="1" noEditPoints="1" noAdjustHandles="1" noChangeArrowheads="1" noChangeShapeType="1" noTextEdit="1"/>
              </p:cNvSpPr>
              <p:nvPr/>
            </p:nvSpPr>
            <p:spPr>
              <a:xfrm>
                <a:off x="9958772" y="4968675"/>
                <a:ext cx="1978926" cy="832514"/>
              </a:xfrm>
              <a:prstGeom prst="roundRect">
                <a:avLst/>
              </a:prstGeom>
              <a:blipFill>
                <a:blip r:embed="rId6"/>
                <a:stretch>
                  <a:fillRect/>
                </a:stretch>
              </a:blipFill>
              <a:ln>
                <a:solidFill>
                  <a:schemeClr val="tx1"/>
                </a:solidFill>
              </a:ln>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9" name="Rectangle: Rounded Corners 18">
                <a:extLst>
                  <a:ext uri="{FF2B5EF4-FFF2-40B4-BE49-F238E27FC236}">
                    <a16:creationId xmlns:a16="http://schemas.microsoft.com/office/drawing/2014/main" id="{F6876BC7-BE35-7208-58F0-DBE08BB1DE71}"/>
                  </a:ext>
                </a:extLst>
              </p:cNvPr>
              <p:cNvSpPr/>
              <p:nvPr/>
            </p:nvSpPr>
            <p:spPr>
              <a:xfrm>
                <a:off x="5798757" y="3445676"/>
                <a:ext cx="1978926" cy="832514"/>
              </a:xfrm>
              <a:prstGeom prst="round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b="1" dirty="0">
                    <a:solidFill>
                      <a:schemeClr val="tx1"/>
                    </a:solidFill>
                  </a:rPr>
                  <a:t>SST</a:t>
                </a:r>
              </a:p>
              <a:p>
                <a:pPr algn="ctr"/>
                <a14:m>
                  <m:oMathPara xmlns:m="http://schemas.openxmlformats.org/officeDocument/2006/math">
                    <m:oMathParaPr>
                      <m:jc m:val="centerGroup"/>
                    </m:oMathParaPr>
                    <m:oMath xmlns:m="http://schemas.openxmlformats.org/officeDocument/2006/math">
                      <m:r>
                        <a:rPr lang="en-NZ" sz="1600" b="0" i="1" smtClean="0">
                          <a:solidFill>
                            <a:schemeClr val="tx1"/>
                          </a:solidFill>
                          <a:latin typeface="Cambria Math" panose="02040503050406030204" pitchFamily="18" charset="0"/>
                        </a:rPr>
                        <m:t>𝑑</m:t>
                      </m:r>
                      <m:sSub>
                        <m:sSubPr>
                          <m:ctrlPr>
                            <a:rPr lang="en-NZ" sz="1600" b="0" i="1" smtClean="0">
                              <a:solidFill>
                                <a:schemeClr val="tx1"/>
                              </a:solidFill>
                              <a:latin typeface="Cambria Math" panose="02040503050406030204" pitchFamily="18" charset="0"/>
                            </a:rPr>
                          </m:ctrlPr>
                        </m:sSubPr>
                        <m:e>
                          <m:r>
                            <a:rPr lang="en-NZ" sz="1600" b="0" i="1" smtClean="0">
                              <a:solidFill>
                                <a:schemeClr val="tx1"/>
                              </a:solidFill>
                              <a:latin typeface="Cambria Math" panose="02040503050406030204" pitchFamily="18" charset="0"/>
                            </a:rPr>
                            <m:t>𝑓</m:t>
                          </m:r>
                        </m:e>
                        <m:sub>
                          <m:r>
                            <a:rPr lang="en-NZ" sz="1600" b="0" i="1" smtClean="0">
                              <a:solidFill>
                                <a:schemeClr val="tx1"/>
                              </a:solidFill>
                              <a:latin typeface="Cambria Math" panose="02040503050406030204" pitchFamily="18" charset="0"/>
                            </a:rPr>
                            <m:t>𝑆𝑆𝑇</m:t>
                          </m:r>
                        </m:sub>
                      </m:sSub>
                      <m:r>
                        <a:rPr lang="en-NZ" sz="1600" b="0" i="1" smtClean="0">
                          <a:solidFill>
                            <a:schemeClr val="tx1"/>
                          </a:solidFill>
                          <a:latin typeface="Cambria Math" panose="02040503050406030204" pitchFamily="18" charset="0"/>
                        </a:rPr>
                        <m:t>=</m:t>
                      </m:r>
                      <m:r>
                        <a:rPr lang="en-NZ" sz="1600" b="0" i="1" smtClean="0">
                          <a:solidFill>
                            <a:schemeClr val="tx1"/>
                          </a:solidFill>
                          <a:latin typeface="Cambria Math" panose="02040503050406030204" pitchFamily="18" charset="0"/>
                        </a:rPr>
                        <m:t>𝑎</m:t>
                      </m:r>
                      <m:r>
                        <a:rPr lang="en-NZ" sz="1600" b="0" i="1" smtClean="0">
                          <a:solidFill>
                            <a:schemeClr val="tx1"/>
                          </a:solidFill>
                          <a:latin typeface="Cambria Math" panose="02040503050406030204" pitchFamily="18" charset="0"/>
                        </a:rPr>
                        <m:t>−1</m:t>
                      </m:r>
                    </m:oMath>
                  </m:oMathPara>
                </a14:m>
                <a:endParaRPr lang="en-NZ" sz="1600" dirty="0">
                  <a:solidFill>
                    <a:schemeClr val="tx1"/>
                  </a:solidFill>
                </a:endParaRPr>
              </a:p>
            </p:txBody>
          </p:sp>
        </mc:Choice>
        <mc:Fallback xmlns="">
          <p:sp>
            <p:nvSpPr>
              <p:cNvPr id="19" name="Rectangle: Rounded Corners 18">
                <a:extLst>
                  <a:ext uri="{FF2B5EF4-FFF2-40B4-BE49-F238E27FC236}">
                    <a16:creationId xmlns:a16="http://schemas.microsoft.com/office/drawing/2014/main" id="{F6876BC7-BE35-7208-58F0-DBE08BB1DE71}"/>
                  </a:ext>
                </a:extLst>
              </p:cNvPr>
              <p:cNvSpPr>
                <a:spLocks noRot="1" noChangeAspect="1" noMove="1" noResize="1" noEditPoints="1" noAdjustHandles="1" noChangeArrowheads="1" noChangeShapeType="1" noTextEdit="1"/>
              </p:cNvSpPr>
              <p:nvPr/>
            </p:nvSpPr>
            <p:spPr>
              <a:xfrm>
                <a:off x="5798757" y="3445676"/>
                <a:ext cx="1978926" cy="832514"/>
              </a:xfrm>
              <a:prstGeom prst="roundRect">
                <a:avLst/>
              </a:prstGeom>
              <a:blipFill>
                <a:blip r:embed="rId7"/>
                <a:stretch>
                  <a:fillRect/>
                </a:stretch>
              </a:blipFill>
              <a:ln>
                <a:solidFill>
                  <a:schemeClr val="tx1"/>
                </a:solidFill>
              </a:ln>
            </p:spPr>
            <p:txBody>
              <a:bodyPr/>
              <a:lstStyle/>
              <a:p>
                <a:r>
                  <a:rPr lang="en-NZ">
                    <a:noFill/>
                  </a:rPr>
                  <a:t> </a:t>
                </a:r>
              </a:p>
            </p:txBody>
          </p:sp>
        </mc:Fallback>
      </mc:AlternateContent>
      <p:cxnSp>
        <p:nvCxnSpPr>
          <p:cNvPr id="20" name="Straight Connector 19">
            <a:extLst>
              <a:ext uri="{FF2B5EF4-FFF2-40B4-BE49-F238E27FC236}">
                <a16:creationId xmlns:a16="http://schemas.microsoft.com/office/drawing/2014/main" id="{C33F9402-E0EA-60A6-2AA4-AB3F75C1F0B5}"/>
              </a:ext>
            </a:extLst>
          </p:cNvPr>
          <p:cNvCxnSpPr>
            <a:cxnSpLocks/>
            <a:stCxn id="11" idx="2"/>
          </p:cNvCxnSpPr>
          <p:nvPr/>
        </p:nvCxnSpPr>
        <p:spPr>
          <a:xfrm>
            <a:off x="8868227" y="2755190"/>
            <a:ext cx="0" cy="361803"/>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FA29A68-C12C-05C7-D2B2-5B7067E0731D}"/>
              </a:ext>
            </a:extLst>
          </p:cNvPr>
          <p:cNvCxnSpPr>
            <a:cxnSpLocks/>
          </p:cNvCxnSpPr>
          <p:nvPr/>
        </p:nvCxnSpPr>
        <p:spPr>
          <a:xfrm flipH="1">
            <a:off x="6770370" y="3116993"/>
            <a:ext cx="3230621"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C17A6BB-DFB2-F1F1-7196-5322B7E3ACC1}"/>
              </a:ext>
            </a:extLst>
          </p:cNvPr>
          <p:cNvCxnSpPr>
            <a:cxnSpLocks/>
          </p:cNvCxnSpPr>
          <p:nvPr/>
        </p:nvCxnSpPr>
        <p:spPr>
          <a:xfrm>
            <a:off x="6770370" y="3116992"/>
            <a:ext cx="0" cy="361803"/>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50EF814-DD1C-8FF9-0E66-E0F736F5D95F}"/>
              </a:ext>
            </a:extLst>
          </p:cNvPr>
          <p:cNvCxnSpPr>
            <a:cxnSpLocks/>
          </p:cNvCxnSpPr>
          <p:nvPr/>
        </p:nvCxnSpPr>
        <p:spPr>
          <a:xfrm>
            <a:off x="9988342" y="3116992"/>
            <a:ext cx="0" cy="361803"/>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ED7F89F-F070-0E1F-9F1A-4B4D0AA385D4}"/>
              </a:ext>
            </a:extLst>
          </p:cNvPr>
          <p:cNvCxnSpPr>
            <a:cxnSpLocks/>
          </p:cNvCxnSpPr>
          <p:nvPr/>
        </p:nvCxnSpPr>
        <p:spPr>
          <a:xfrm>
            <a:off x="10002988" y="4291984"/>
            <a:ext cx="0" cy="361803"/>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FF1E42C-F854-B401-41BD-55A447755498}"/>
              </a:ext>
            </a:extLst>
          </p:cNvPr>
          <p:cNvCxnSpPr>
            <a:cxnSpLocks/>
            <a:stCxn id="19" idx="2"/>
          </p:cNvCxnSpPr>
          <p:nvPr/>
        </p:nvCxnSpPr>
        <p:spPr>
          <a:xfrm>
            <a:off x="6788220" y="4278190"/>
            <a:ext cx="0" cy="682456"/>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2FC1CE2-186A-32FA-EE16-0B5DF77C607C}"/>
              </a:ext>
            </a:extLst>
          </p:cNvPr>
          <p:cNvCxnSpPr>
            <a:cxnSpLocks/>
          </p:cNvCxnSpPr>
          <p:nvPr/>
        </p:nvCxnSpPr>
        <p:spPr>
          <a:xfrm flipH="1">
            <a:off x="8868227" y="4653787"/>
            <a:ext cx="2080008"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175FBAA-AF89-9F2D-3BBA-6D351684471C}"/>
              </a:ext>
            </a:extLst>
          </p:cNvPr>
          <p:cNvCxnSpPr>
            <a:cxnSpLocks/>
            <a:endCxn id="17" idx="0"/>
          </p:cNvCxnSpPr>
          <p:nvPr/>
        </p:nvCxnSpPr>
        <p:spPr>
          <a:xfrm>
            <a:off x="8867949" y="4653786"/>
            <a:ext cx="278" cy="314889"/>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B6E6314-E046-18D2-8E1B-7708BB2FAD67}"/>
              </a:ext>
            </a:extLst>
          </p:cNvPr>
          <p:cNvCxnSpPr>
            <a:cxnSpLocks/>
            <a:endCxn id="18" idx="0"/>
          </p:cNvCxnSpPr>
          <p:nvPr/>
        </p:nvCxnSpPr>
        <p:spPr>
          <a:xfrm>
            <a:off x="10948235" y="4653786"/>
            <a:ext cx="0" cy="314889"/>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9" name="Title 6">
            <a:extLst>
              <a:ext uri="{FF2B5EF4-FFF2-40B4-BE49-F238E27FC236}">
                <a16:creationId xmlns:a16="http://schemas.microsoft.com/office/drawing/2014/main" id="{CAD6720D-2F00-3E95-18B3-F13262BAD034}"/>
              </a:ext>
            </a:extLst>
          </p:cNvPr>
          <p:cNvSpPr txBox="1">
            <a:spLocks/>
          </p:cNvSpPr>
          <p:nvPr/>
        </p:nvSpPr>
        <p:spPr>
          <a:xfrm>
            <a:off x="5767914" y="1381669"/>
            <a:ext cx="6200069" cy="374256"/>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ctr" defTabSz="914324" rtl="0" eaLnBrk="1" fontAlgn="auto" latinLnBrk="0" hangingPunct="1">
              <a:lnSpc>
                <a:spcPct val="90000"/>
              </a:lnSpc>
              <a:spcBef>
                <a:spcPct val="0"/>
              </a:spcBef>
              <a:spcAft>
                <a:spcPts val="0"/>
              </a:spcAft>
              <a:buClrTx/>
              <a:buSzTx/>
              <a:buFontTx/>
              <a:buNone/>
              <a:tabLst/>
              <a:defRPr/>
            </a:pPr>
            <a:r>
              <a:rPr kumimoji="1" lang="en-US" altLang="ja-JP" sz="18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Sums of Squares Decomposition</a:t>
            </a:r>
            <a:endParaRPr kumimoji="1" lang="ja-JP" altLang="en-US" sz="18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31" name="Text Placeholder 5">
            <a:extLst>
              <a:ext uri="{FF2B5EF4-FFF2-40B4-BE49-F238E27FC236}">
                <a16:creationId xmlns:a16="http://schemas.microsoft.com/office/drawing/2014/main" id="{4C8E36B4-59B3-E7E6-6B22-990725D13ED5}"/>
              </a:ext>
            </a:extLst>
          </p:cNvPr>
          <p:cNvSpPr txBox="1">
            <a:spLocks/>
          </p:cNvSpPr>
          <p:nvPr/>
        </p:nvSpPr>
        <p:spPr>
          <a:xfrm>
            <a:off x="4382354" y="3553147"/>
            <a:ext cx="1416403" cy="6824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dirty="0">
                <a:solidFill>
                  <a:srgbClr val="C00000"/>
                </a:solidFill>
              </a:rPr>
              <a:t>One-Way ANOVA</a:t>
            </a:r>
          </a:p>
          <a:p>
            <a:pPr algn="ctr">
              <a:lnSpc>
                <a:spcPct val="100000"/>
              </a:lnSpc>
            </a:pPr>
            <a:endParaRPr lang="en-NZ" altLang="ja-JP" sz="1800" dirty="0">
              <a:solidFill>
                <a:srgbClr val="C00000"/>
              </a:solidFill>
            </a:endParaRPr>
          </a:p>
        </p:txBody>
      </p:sp>
      <p:sp>
        <p:nvSpPr>
          <p:cNvPr id="32" name="Text Placeholder 5">
            <a:extLst>
              <a:ext uri="{FF2B5EF4-FFF2-40B4-BE49-F238E27FC236}">
                <a16:creationId xmlns:a16="http://schemas.microsoft.com/office/drawing/2014/main" id="{F934D8E0-30E6-C6AC-D1E1-E18E63243A20}"/>
              </a:ext>
            </a:extLst>
          </p:cNvPr>
          <p:cNvSpPr txBox="1">
            <a:spLocks/>
          </p:cNvSpPr>
          <p:nvPr/>
        </p:nvSpPr>
        <p:spPr>
          <a:xfrm>
            <a:off x="4382354" y="5043704"/>
            <a:ext cx="1416403" cy="6824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dirty="0">
                <a:solidFill>
                  <a:srgbClr val="C00000"/>
                </a:solidFill>
              </a:rPr>
              <a:t>Randomised Block Design</a:t>
            </a:r>
          </a:p>
          <a:p>
            <a:pPr algn="ctr">
              <a:lnSpc>
                <a:spcPct val="100000"/>
              </a:lnSpc>
            </a:pPr>
            <a:endParaRPr lang="en-NZ" altLang="ja-JP" sz="1800" dirty="0">
              <a:solidFill>
                <a:srgbClr val="C00000"/>
              </a:solidFill>
            </a:endParaRPr>
          </a:p>
        </p:txBody>
      </p:sp>
      <p:cxnSp>
        <p:nvCxnSpPr>
          <p:cNvPr id="7" name="Straight Connector 6">
            <a:extLst>
              <a:ext uri="{FF2B5EF4-FFF2-40B4-BE49-F238E27FC236}">
                <a16:creationId xmlns:a16="http://schemas.microsoft.com/office/drawing/2014/main" id="{020CAE93-33F7-335C-2444-B98D27F43E46}"/>
              </a:ext>
            </a:extLst>
          </p:cNvPr>
          <p:cNvCxnSpPr>
            <a:cxnSpLocks/>
          </p:cNvCxnSpPr>
          <p:nvPr/>
        </p:nvCxnSpPr>
        <p:spPr>
          <a:xfrm>
            <a:off x="4559725" y="3426427"/>
            <a:ext cx="7408258" cy="33043"/>
          </a:xfrm>
          <a:prstGeom prst="line">
            <a:avLst/>
          </a:prstGeom>
          <a:ln>
            <a:solidFill>
              <a:srgbClr val="C00000"/>
            </a:solidFill>
            <a:prstDash val="lgDash"/>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C482412-FFE9-9490-038E-CBB93ED4952B}"/>
              </a:ext>
            </a:extLst>
          </p:cNvPr>
          <p:cNvCxnSpPr>
            <a:cxnSpLocks/>
          </p:cNvCxnSpPr>
          <p:nvPr/>
        </p:nvCxnSpPr>
        <p:spPr>
          <a:xfrm>
            <a:off x="4559725" y="4277589"/>
            <a:ext cx="7408258" cy="33043"/>
          </a:xfrm>
          <a:prstGeom prst="line">
            <a:avLst/>
          </a:prstGeom>
          <a:ln>
            <a:solidFill>
              <a:srgbClr val="C00000"/>
            </a:solidFill>
            <a:prstDash val="lgDash"/>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0A284ED-BDA0-48B7-76A2-19D9EB575BB8}"/>
              </a:ext>
            </a:extLst>
          </p:cNvPr>
          <p:cNvCxnSpPr>
            <a:cxnSpLocks/>
          </p:cNvCxnSpPr>
          <p:nvPr/>
        </p:nvCxnSpPr>
        <p:spPr>
          <a:xfrm>
            <a:off x="4511823" y="4927603"/>
            <a:ext cx="7408258" cy="33043"/>
          </a:xfrm>
          <a:prstGeom prst="line">
            <a:avLst/>
          </a:prstGeom>
          <a:ln>
            <a:solidFill>
              <a:srgbClr val="C00000"/>
            </a:solidFill>
            <a:prstDash val="lgDash"/>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9B4AC9E-4F11-49D7-B5E2-5BB0122DDAB3}"/>
              </a:ext>
            </a:extLst>
          </p:cNvPr>
          <p:cNvCxnSpPr>
            <a:cxnSpLocks/>
          </p:cNvCxnSpPr>
          <p:nvPr/>
        </p:nvCxnSpPr>
        <p:spPr>
          <a:xfrm>
            <a:off x="4511823" y="5771752"/>
            <a:ext cx="7408258" cy="33043"/>
          </a:xfrm>
          <a:prstGeom prst="line">
            <a:avLst/>
          </a:prstGeom>
          <a:ln>
            <a:solidFill>
              <a:srgbClr val="C00000"/>
            </a:solidFill>
            <a:prstDash val="lgDash"/>
          </a:ln>
        </p:spPr>
        <p:style>
          <a:lnRef idx="1">
            <a:schemeClr val="accent1"/>
          </a:lnRef>
          <a:fillRef idx="0">
            <a:schemeClr val="accent1"/>
          </a:fillRef>
          <a:effectRef idx="0">
            <a:schemeClr val="accent1"/>
          </a:effectRef>
          <a:fontRef idx="minor">
            <a:schemeClr val="tx1"/>
          </a:fontRef>
        </p:style>
      </p:cxnSp>
      <p:sp>
        <p:nvSpPr>
          <p:cNvPr id="30" name="Footer Placeholder 2">
            <a:extLst>
              <a:ext uri="{FF2B5EF4-FFF2-40B4-BE49-F238E27FC236}">
                <a16:creationId xmlns:a16="http://schemas.microsoft.com/office/drawing/2014/main" id="{2A5A5CDD-D3DA-7A5B-A57F-D15A7F2ADE9F}"/>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4.3 – </a:t>
            </a:r>
            <a:r>
              <a:rPr kumimoji="1" lang="en-US" altLang="ja-JP" sz="1600" dirty="0">
                <a:solidFill>
                  <a:srgbClr val="DEDDDD"/>
                </a:solidFill>
                <a:latin typeface="Gidole"/>
                <a:ea typeface="游ゴシック" panose="020B0400000000000000" pitchFamily="34" charset="-128"/>
              </a:rPr>
              <a:t>Fixed Effects Model</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33" name="Text Placeholder 5">
                <a:extLst>
                  <a:ext uri="{FF2B5EF4-FFF2-40B4-BE49-F238E27FC236}">
                    <a16:creationId xmlns:a16="http://schemas.microsoft.com/office/drawing/2014/main" id="{D06D1517-0C29-1B8C-49A2-02F914E44DD3}"/>
                  </a:ext>
                </a:extLst>
              </p:cNvPr>
              <p:cNvSpPr txBox="1">
                <a:spLocks/>
              </p:cNvSpPr>
              <p:nvPr/>
            </p:nvSpPr>
            <p:spPr>
              <a:xfrm>
                <a:off x="5491778" y="2008735"/>
                <a:ext cx="1338057" cy="83251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Para xmlns:m="http://schemas.openxmlformats.org/officeDocument/2006/math">
                    <m:oMathParaPr>
                      <m:jc m:val="center"/>
                    </m:oMathParaPr>
                    <m:oMath xmlns:m="http://schemas.openxmlformats.org/officeDocument/2006/math">
                      <m:r>
                        <a:rPr lang="en-NZ" altLang="ja-JP" sz="1700" b="1" i="1" smtClean="0">
                          <a:solidFill>
                            <a:srgbClr val="C00000"/>
                          </a:solidFill>
                          <a:latin typeface="Cambria Math" panose="02040503050406030204" pitchFamily="18" charset="0"/>
                        </a:rPr>
                        <m:t>𝑭</m:t>
                      </m:r>
                      <m:r>
                        <a:rPr lang="en-NZ" altLang="ja-JP" sz="1700" b="1" i="1" smtClean="0">
                          <a:solidFill>
                            <a:srgbClr val="C00000"/>
                          </a:solidFill>
                          <a:latin typeface="Cambria Math" panose="02040503050406030204" pitchFamily="18" charset="0"/>
                        </a:rPr>
                        <m:t> =  </m:t>
                      </m:r>
                      <m:f>
                        <m:fPr>
                          <m:ctrlPr>
                            <a:rPr lang="en-NZ" altLang="ja-JP" sz="1700" b="1" i="1" smtClean="0">
                              <a:solidFill>
                                <a:srgbClr val="C00000"/>
                              </a:solidFill>
                              <a:latin typeface="Cambria Math" panose="02040503050406030204" pitchFamily="18" charset="0"/>
                            </a:rPr>
                          </m:ctrlPr>
                        </m:fPr>
                        <m:num>
                          <m:r>
                            <a:rPr lang="en-NZ" altLang="ja-JP" sz="1700" b="1" i="1" smtClean="0">
                              <a:solidFill>
                                <a:srgbClr val="C00000"/>
                              </a:solidFill>
                              <a:latin typeface="Cambria Math" panose="02040503050406030204" pitchFamily="18" charset="0"/>
                            </a:rPr>
                            <m:t>𝑴𝑺𝑻</m:t>
                          </m:r>
                        </m:num>
                        <m:den>
                          <m:r>
                            <a:rPr lang="en-NZ" altLang="ja-JP" sz="1700" b="1" i="1" smtClean="0">
                              <a:solidFill>
                                <a:srgbClr val="C00000"/>
                              </a:solidFill>
                              <a:latin typeface="Cambria Math" panose="02040503050406030204" pitchFamily="18" charset="0"/>
                            </a:rPr>
                            <m:t>𝑴𝑺𝑬</m:t>
                          </m:r>
                        </m:den>
                      </m:f>
                    </m:oMath>
                  </m:oMathPara>
                </a14:m>
                <a:endParaRPr lang="en-NZ" altLang="ja-JP" sz="1700" b="1" dirty="0">
                  <a:solidFill>
                    <a:srgbClr val="C00000"/>
                  </a:solidFill>
                </a:endParaRPr>
              </a:p>
            </p:txBody>
          </p:sp>
        </mc:Choice>
        <mc:Fallback xmlns="">
          <p:sp>
            <p:nvSpPr>
              <p:cNvPr id="33" name="Text Placeholder 5">
                <a:extLst>
                  <a:ext uri="{FF2B5EF4-FFF2-40B4-BE49-F238E27FC236}">
                    <a16:creationId xmlns:a16="http://schemas.microsoft.com/office/drawing/2014/main" id="{D06D1517-0C29-1B8C-49A2-02F914E44DD3}"/>
                  </a:ext>
                </a:extLst>
              </p:cNvPr>
              <p:cNvSpPr txBox="1">
                <a:spLocks noRot="1" noChangeAspect="1" noMove="1" noResize="1" noEditPoints="1" noAdjustHandles="1" noChangeArrowheads="1" noChangeShapeType="1" noTextEdit="1"/>
              </p:cNvSpPr>
              <p:nvPr/>
            </p:nvSpPr>
            <p:spPr>
              <a:xfrm>
                <a:off x="5491778" y="2008735"/>
                <a:ext cx="1338057" cy="832514"/>
              </a:xfrm>
              <a:prstGeom prst="rect">
                <a:avLst/>
              </a:prstGeom>
              <a:blipFill>
                <a:blip r:embed="rId8"/>
                <a:stretch>
                  <a:fillRect/>
                </a:stretch>
              </a:blipFill>
            </p:spPr>
            <p:txBody>
              <a:bodyPr/>
              <a:lstStyle/>
              <a:p>
                <a:r>
                  <a:rPr lang="en-NZ">
                    <a:noFill/>
                  </a:rPr>
                  <a:t> </a:t>
                </a:r>
              </a:p>
            </p:txBody>
          </p:sp>
        </mc:Fallback>
      </mc:AlternateContent>
    </p:spTree>
    <p:extLst>
      <p:ext uri="{BB962C8B-B14F-4D97-AF65-F5344CB8AC3E}">
        <p14:creationId xmlns:p14="http://schemas.microsoft.com/office/powerpoint/2010/main" val="15936074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3" name="Title 6">
            <a:extLst>
              <a:ext uri="{FF2B5EF4-FFF2-40B4-BE49-F238E27FC236}">
                <a16:creationId xmlns:a16="http://schemas.microsoft.com/office/drawing/2014/main" id="{539E1FA8-24B4-FFD9-7C26-8B31D6C98125}"/>
              </a:ext>
            </a:extLst>
          </p:cNvPr>
          <p:cNvSpPr txBox="1">
            <a:spLocks/>
          </p:cNvSpPr>
          <p:nvPr/>
        </p:nvSpPr>
        <p:spPr>
          <a:xfrm>
            <a:off x="251223" y="237833"/>
            <a:ext cx="8617005" cy="607201"/>
          </a:xfrm>
          <a:prstGeom prst="rect">
            <a:avLst/>
          </a:prstGeom>
        </p:spPr>
        <p:txBody>
          <a:bodyPr anchor="t">
            <a:normAutofit fontScale="925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4.3d – Clotting Time of Blood Plasma Example</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pic>
        <p:nvPicPr>
          <p:cNvPr id="3" name="Picture 2">
            <a:extLst>
              <a:ext uri="{FF2B5EF4-FFF2-40B4-BE49-F238E27FC236}">
                <a16:creationId xmlns:a16="http://schemas.microsoft.com/office/drawing/2014/main" id="{7A922F55-554E-02BA-3B00-B1F0F9923698}"/>
              </a:ext>
            </a:extLst>
          </p:cNvPr>
          <p:cNvPicPr>
            <a:picLocks noChangeAspect="1"/>
          </p:cNvPicPr>
          <p:nvPr/>
        </p:nvPicPr>
        <p:blipFill>
          <a:blip r:embed="rId2"/>
          <a:stretch>
            <a:fillRect/>
          </a:stretch>
        </p:blipFill>
        <p:spPr>
          <a:xfrm>
            <a:off x="251223" y="2114916"/>
            <a:ext cx="3151402" cy="460316"/>
          </a:xfrm>
          <a:prstGeom prst="rect">
            <a:avLst/>
          </a:prstGeom>
        </p:spPr>
      </p:pic>
      <p:sp>
        <p:nvSpPr>
          <p:cNvPr id="12" name="Text Placeholder 5">
            <a:extLst>
              <a:ext uri="{FF2B5EF4-FFF2-40B4-BE49-F238E27FC236}">
                <a16:creationId xmlns:a16="http://schemas.microsoft.com/office/drawing/2014/main" id="{25AF4A04-BE9D-38E4-FBEB-2DF63A141F88}"/>
              </a:ext>
            </a:extLst>
          </p:cNvPr>
          <p:cNvSpPr txBox="1">
            <a:spLocks/>
          </p:cNvSpPr>
          <p:nvPr/>
        </p:nvSpPr>
        <p:spPr>
          <a:xfrm>
            <a:off x="121035" y="2758438"/>
            <a:ext cx="6030627" cy="191516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600" u="sng" dirty="0">
                <a:solidFill>
                  <a:schemeClr val="bg2">
                    <a:lumMod val="25000"/>
                  </a:schemeClr>
                </a:solidFill>
              </a:rPr>
              <a:t>Analysis of Variance Table</a:t>
            </a:r>
          </a:p>
          <a:p>
            <a:pPr>
              <a:lnSpc>
                <a:spcPct val="100000"/>
              </a:lnSpc>
            </a:pPr>
            <a:endParaRPr lang="en-NZ" altLang="ja-JP" sz="1600" dirty="0">
              <a:solidFill>
                <a:schemeClr val="bg2">
                  <a:lumMod val="25000"/>
                </a:schemeClr>
              </a:solidFill>
            </a:endParaRPr>
          </a:p>
          <a:p>
            <a:pPr>
              <a:lnSpc>
                <a:spcPct val="100000"/>
              </a:lnSpc>
            </a:pPr>
            <a:r>
              <a:rPr lang="en-NZ" altLang="ja-JP" sz="1600" dirty="0">
                <a:solidFill>
                  <a:schemeClr val="bg2">
                    <a:lumMod val="25000"/>
                  </a:schemeClr>
                </a:solidFill>
              </a:rPr>
              <a:t>Response: </a:t>
            </a:r>
            <a:r>
              <a:rPr lang="en-NZ" altLang="ja-JP" sz="1600" dirty="0" err="1">
                <a:solidFill>
                  <a:schemeClr val="bg2">
                    <a:lumMod val="25000"/>
                  </a:schemeClr>
                </a:solidFill>
              </a:rPr>
              <a:t>Clottime</a:t>
            </a:r>
            <a:endParaRPr lang="en-NZ" altLang="ja-JP" sz="1600" dirty="0">
              <a:solidFill>
                <a:schemeClr val="bg2">
                  <a:lumMod val="25000"/>
                </a:schemeClr>
              </a:solidFill>
            </a:endParaRPr>
          </a:p>
          <a:p>
            <a:pPr>
              <a:lnSpc>
                <a:spcPct val="100000"/>
              </a:lnSpc>
            </a:pPr>
            <a:r>
              <a:rPr lang="en-NZ" altLang="ja-JP" sz="1600" dirty="0">
                <a:solidFill>
                  <a:schemeClr val="bg2">
                    <a:lumMod val="25000"/>
                  </a:schemeClr>
                </a:solidFill>
              </a:rPr>
              <a:t>                     	   </a:t>
            </a:r>
            <a:r>
              <a:rPr lang="en-NZ" altLang="ja-JP" sz="1600" dirty="0" err="1">
                <a:solidFill>
                  <a:schemeClr val="bg2">
                    <a:lumMod val="25000"/>
                  </a:schemeClr>
                </a:solidFill>
              </a:rPr>
              <a:t>Df</a:t>
            </a:r>
            <a:r>
              <a:rPr lang="en-NZ" altLang="ja-JP" sz="1600" dirty="0">
                <a:solidFill>
                  <a:schemeClr val="bg2">
                    <a:lumMod val="25000"/>
                  </a:schemeClr>
                </a:solidFill>
              </a:rPr>
              <a:t>     Sum </a:t>
            </a:r>
            <a:r>
              <a:rPr lang="en-NZ" altLang="ja-JP" sz="1600" dirty="0" err="1">
                <a:solidFill>
                  <a:schemeClr val="bg2">
                    <a:lumMod val="25000"/>
                  </a:schemeClr>
                </a:solidFill>
              </a:rPr>
              <a:t>Sq</a:t>
            </a:r>
            <a:r>
              <a:rPr lang="en-NZ" altLang="ja-JP" sz="1600" dirty="0">
                <a:solidFill>
                  <a:schemeClr val="bg2">
                    <a:lumMod val="25000"/>
                  </a:schemeClr>
                </a:solidFill>
              </a:rPr>
              <a:t>     Mean </a:t>
            </a:r>
            <a:r>
              <a:rPr lang="en-NZ" altLang="ja-JP" sz="1600" dirty="0" err="1">
                <a:solidFill>
                  <a:schemeClr val="bg2">
                    <a:lumMod val="25000"/>
                  </a:schemeClr>
                </a:solidFill>
              </a:rPr>
              <a:t>Sq</a:t>
            </a:r>
            <a:r>
              <a:rPr lang="en-NZ" altLang="ja-JP" sz="1600" dirty="0">
                <a:solidFill>
                  <a:schemeClr val="bg2">
                    <a:lumMod val="25000"/>
                  </a:schemeClr>
                </a:solidFill>
              </a:rPr>
              <a:t>     F value    </a:t>
            </a:r>
            <a:r>
              <a:rPr lang="en-NZ" altLang="ja-JP" sz="1600" dirty="0" err="1">
                <a:solidFill>
                  <a:schemeClr val="bg2">
                    <a:lumMod val="25000"/>
                  </a:schemeClr>
                </a:solidFill>
              </a:rPr>
              <a:t>Pr</a:t>
            </a:r>
            <a:r>
              <a:rPr lang="en-NZ" altLang="ja-JP" sz="1600" dirty="0">
                <a:solidFill>
                  <a:schemeClr val="bg2">
                    <a:lumMod val="25000"/>
                  </a:schemeClr>
                </a:solidFill>
              </a:rPr>
              <a:t>(&gt;F)    </a:t>
            </a:r>
          </a:p>
          <a:p>
            <a:pPr>
              <a:lnSpc>
                <a:spcPct val="100000"/>
              </a:lnSpc>
            </a:pPr>
            <a:r>
              <a:rPr lang="en-NZ" altLang="ja-JP" sz="1600" dirty="0" err="1">
                <a:solidFill>
                  <a:schemeClr val="bg2">
                    <a:lumMod val="25000"/>
                  </a:schemeClr>
                </a:solidFill>
              </a:rPr>
              <a:t>as.factor</a:t>
            </a:r>
            <a:r>
              <a:rPr lang="en-NZ" altLang="ja-JP" sz="1600" dirty="0">
                <a:solidFill>
                  <a:schemeClr val="bg2">
                    <a:lumMod val="25000"/>
                  </a:schemeClr>
                </a:solidFill>
              </a:rPr>
              <a:t>(Subject)           7       78.989     11.2841       17.204    2.197e-07 </a:t>
            </a:r>
            <a:r>
              <a:rPr lang="en-NZ" altLang="ja-JP" sz="1600" dirty="0" err="1">
                <a:solidFill>
                  <a:schemeClr val="bg2">
                    <a:lumMod val="25000"/>
                  </a:schemeClr>
                </a:solidFill>
              </a:rPr>
              <a:t>as.factor</a:t>
            </a:r>
            <a:r>
              <a:rPr lang="en-NZ" altLang="ja-JP" sz="1600" dirty="0">
                <a:solidFill>
                  <a:schemeClr val="bg2">
                    <a:lumMod val="25000"/>
                  </a:schemeClr>
                </a:solidFill>
              </a:rPr>
              <a:t>(Treatment)      3      13.016      4.3388         6.615      0.00255  </a:t>
            </a:r>
          </a:p>
          <a:p>
            <a:pPr>
              <a:lnSpc>
                <a:spcPct val="100000"/>
              </a:lnSpc>
            </a:pPr>
            <a:r>
              <a:rPr lang="en-NZ" altLang="ja-JP" sz="1600" dirty="0">
                <a:solidFill>
                  <a:schemeClr val="bg2">
                    <a:lumMod val="25000"/>
                  </a:schemeClr>
                </a:solidFill>
              </a:rPr>
              <a:t>Residuals            	   21    13.774      0.6559</a:t>
            </a:r>
          </a:p>
        </p:txBody>
      </p:sp>
      <p:pic>
        <p:nvPicPr>
          <p:cNvPr id="4" name="Picture 3">
            <a:extLst>
              <a:ext uri="{FF2B5EF4-FFF2-40B4-BE49-F238E27FC236}">
                <a16:creationId xmlns:a16="http://schemas.microsoft.com/office/drawing/2014/main" id="{788ECF07-9AD5-46F9-CE05-48E51667B355}"/>
              </a:ext>
            </a:extLst>
          </p:cNvPr>
          <p:cNvPicPr>
            <a:picLocks noChangeAspect="1"/>
          </p:cNvPicPr>
          <p:nvPr/>
        </p:nvPicPr>
        <p:blipFill>
          <a:blip r:embed="rId3"/>
          <a:stretch>
            <a:fillRect/>
          </a:stretch>
        </p:blipFill>
        <p:spPr>
          <a:xfrm>
            <a:off x="213961" y="1413237"/>
            <a:ext cx="5844777" cy="654541"/>
          </a:xfrm>
          <a:prstGeom prst="rect">
            <a:avLst/>
          </a:prstGeom>
        </p:spPr>
      </p:pic>
      <p:pic>
        <p:nvPicPr>
          <p:cNvPr id="7" name="Picture 6">
            <a:extLst>
              <a:ext uri="{FF2B5EF4-FFF2-40B4-BE49-F238E27FC236}">
                <a16:creationId xmlns:a16="http://schemas.microsoft.com/office/drawing/2014/main" id="{09A91138-5ECF-B242-464A-CDDAE11EBAA9}"/>
              </a:ext>
            </a:extLst>
          </p:cNvPr>
          <p:cNvPicPr>
            <a:picLocks noChangeAspect="1"/>
          </p:cNvPicPr>
          <p:nvPr/>
        </p:nvPicPr>
        <p:blipFill>
          <a:blip r:embed="rId4"/>
          <a:stretch>
            <a:fillRect/>
          </a:stretch>
        </p:blipFill>
        <p:spPr>
          <a:xfrm>
            <a:off x="6244588" y="1345098"/>
            <a:ext cx="5844777" cy="790817"/>
          </a:xfrm>
          <a:prstGeom prst="rect">
            <a:avLst/>
          </a:prstGeom>
        </p:spPr>
      </p:pic>
      <p:sp>
        <p:nvSpPr>
          <p:cNvPr id="17" name="Text Placeholder 5">
            <a:extLst>
              <a:ext uri="{FF2B5EF4-FFF2-40B4-BE49-F238E27FC236}">
                <a16:creationId xmlns:a16="http://schemas.microsoft.com/office/drawing/2014/main" id="{46933C45-4AE1-55D3-D418-820D6ABE2B26}"/>
              </a:ext>
            </a:extLst>
          </p:cNvPr>
          <p:cNvSpPr txBox="1">
            <a:spLocks/>
          </p:cNvSpPr>
          <p:nvPr/>
        </p:nvSpPr>
        <p:spPr>
          <a:xfrm>
            <a:off x="6244589" y="2816800"/>
            <a:ext cx="5497468" cy="190528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600" u="sng" dirty="0">
                <a:solidFill>
                  <a:schemeClr val="bg2">
                    <a:lumMod val="25000"/>
                  </a:schemeClr>
                </a:solidFill>
              </a:rPr>
              <a:t>Analysis of Variance Table</a:t>
            </a:r>
          </a:p>
          <a:p>
            <a:pPr>
              <a:lnSpc>
                <a:spcPct val="100000"/>
              </a:lnSpc>
            </a:pPr>
            <a:endParaRPr lang="en-NZ" altLang="ja-JP" sz="1600" dirty="0">
              <a:solidFill>
                <a:schemeClr val="bg2">
                  <a:lumMod val="25000"/>
                </a:schemeClr>
              </a:solidFill>
            </a:endParaRPr>
          </a:p>
          <a:p>
            <a:pPr>
              <a:lnSpc>
                <a:spcPct val="100000"/>
              </a:lnSpc>
            </a:pPr>
            <a:r>
              <a:rPr lang="en-NZ" altLang="ja-JP" sz="1600" dirty="0">
                <a:solidFill>
                  <a:schemeClr val="bg2">
                    <a:lumMod val="25000"/>
                  </a:schemeClr>
                </a:solidFill>
              </a:rPr>
              <a:t>Response: </a:t>
            </a:r>
            <a:r>
              <a:rPr lang="en-NZ" altLang="ja-JP" sz="1600" dirty="0" err="1">
                <a:solidFill>
                  <a:schemeClr val="bg2">
                    <a:lumMod val="25000"/>
                  </a:schemeClr>
                </a:solidFill>
              </a:rPr>
              <a:t>Clottime</a:t>
            </a:r>
            <a:endParaRPr lang="en-NZ" altLang="ja-JP" sz="1600" dirty="0">
              <a:solidFill>
                <a:schemeClr val="bg2">
                  <a:lumMod val="25000"/>
                </a:schemeClr>
              </a:solidFill>
            </a:endParaRPr>
          </a:p>
          <a:p>
            <a:pPr>
              <a:lnSpc>
                <a:spcPct val="100000"/>
              </a:lnSpc>
            </a:pPr>
            <a:r>
              <a:rPr lang="en-NZ" altLang="ja-JP" sz="1600" dirty="0">
                <a:solidFill>
                  <a:schemeClr val="bg2">
                    <a:lumMod val="25000"/>
                  </a:schemeClr>
                </a:solidFill>
              </a:rPr>
              <a:t>                     	</a:t>
            </a:r>
            <a:r>
              <a:rPr lang="en-NZ" altLang="ja-JP" sz="1600" dirty="0" err="1">
                <a:solidFill>
                  <a:schemeClr val="bg2">
                    <a:lumMod val="25000"/>
                  </a:schemeClr>
                </a:solidFill>
              </a:rPr>
              <a:t>Df</a:t>
            </a:r>
            <a:r>
              <a:rPr lang="en-NZ" altLang="ja-JP" sz="1600" dirty="0">
                <a:solidFill>
                  <a:schemeClr val="bg2">
                    <a:lumMod val="25000"/>
                  </a:schemeClr>
                </a:solidFill>
              </a:rPr>
              <a:t>   Sum </a:t>
            </a:r>
            <a:r>
              <a:rPr lang="en-NZ" altLang="ja-JP" sz="1600" dirty="0" err="1">
                <a:solidFill>
                  <a:schemeClr val="bg2">
                    <a:lumMod val="25000"/>
                  </a:schemeClr>
                </a:solidFill>
              </a:rPr>
              <a:t>Sq</a:t>
            </a:r>
            <a:r>
              <a:rPr lang="en-NZ" altLang="ja-JP" sz="1600" dirty="0">
                <a:solidFill>
                  <a:schemeClr val="bg2">
                    <a:lumMod val="25000"/>
                  </a:schemeClr>
                </a:solidFill>
              </a:rPr>
              <a:t>     Mean </a:t>
            </a:r>
            <a:r>
              <a:rPr lang="en-NZ" altLang="ja-JP" sz="1600" dirty="0" err="1">
                <a:solidFill>
                  <a:schemeClr val="bg2">
                    <a:lumMod val="25000"/>
                  </a:schemeClr>
                </a:solidFill>
              </a:rPr>
              <a:t>Sq</a:t>
            </a:r>
            <a:r>
              <a:rPr lang="en-NZ" altLang="ja-JP" sz="1600" dirty="0">
                <a:solidFill>
                  <a:schemeClr val="bg2">
                    <a:lumMod val="25000"/>
                  </a:schemeClr>
                </a:solidFill>
              </a:rPr>
              <a:t>   F value    </a:t>
            </a:r>
            <a:r>
              <a:rPr lang="en-NZ" altLang="ja-JP" sz="1600" dirty="0" err="1">
                <a:solidFill>
                  <a:schemeClr val="bg2">
                    <a:lumMod val="25000"/>
                  </a:schemeClr>
                </a:solidFill>
              </a:rPr>
              <a:t>Pr</a:t>
            </a:r>
            <a:r>
              <a:rPr lang="en-NZ" altLang="ja-JP" sz="1600" dirty="0">
                <a:solidFill>
                  <a:schemeClr val="bg2">
                    <a:lumMod val="25000"/>
                  </a:schemeClr>
                </a:solidFill>
              </a:rPr>
              <a:t>(&gt;F)</a:t>
            </a:r>
          </a:p>
          <a:p>
            <a:pPr>
              <a:lnSpc>
                <a:spcPct val="100000"/>
              </a:lnSpc>
            </a:pPr>
            <a:r>
              <a:rPr lang="en-NZ" altLang="ja-JP" sz="1600" dirty="0" err="1">
                <a:solidFill>
                  <a:schemeClr val="bg2">
                    <a:lumMod val="25000"/>
                  </a:schemeClr>
                </a:solidFill>
              </a:rPr>
              <a:t>as.factor</a:t>
            </a:r>
            <a:r>
              <a:rPr lang="en-NZ" altLang="ja-JP" sz="1600" dirty="0">
                <a:solidFill>
                  <a:schemeClr val="bg2">
                    <a:lumMod val="25000"/>
                  </a:schemeClr>
                </a:solidFill>
              </a:rPr>
              <a:t>(Treatment)  	3     13.016      4.3388      1.3096     0.2909</a:t>
            </a:r>
          </a:p>
          <a:p>
            <a:pPr>
              <a:lnSpc>
                <a:spcPct val="100000"/>
              </a:lnSpc>
            </a:pPr>
            <a:r>
              <a:rPr lang="en-NZ" altLang="ja-JP" sz="1600" dirty="0">
                <a:solidFill>
                  <a:schemeClr val="bg2">
                    <a:lumMod val="25000"/>
                  </a:schemeClr>
                </a:solidFill>
              </a:rPr>
              <a:t>Residuals            	28   92.762      3.3129</a:t>
            </a:r>
          </a:p>
          <a:p>
            <a:pPr>
              <a:lnSpc>
                <a:spcPct val="100000"/>
              </a:lnSpc>
            </a:pPr>
            <a:endParaRPr lang="en-NZ" altLang="ja-JP" sz="1600" dirty="0">
              <a:solidFill>
                <a:schemeClr val="bg2">
                  <a:lumMod val="25000"/>
                </a:schemeClr>
              </a:solidFill>
            </a:endParaRPr>
          </a:p>
        </p:txBody>
      </p:sp>
      <p:sp>
        <p:nvSpPr>
          <p:cNvPr id="18" name="Oval 17">
            <a:extLst>
              <a:ext uri="{FF2B5EF4-FFF2-40B4-BE49-F238E27FC236}">
                <a16:creationId xmlns:a16="http://schemas.microsoft.com/office/drawing/2014/main" id="{25AE8817-62E5-3794-2A57-86262AA5E80D}"/>
              </a:ext>
            </a:extLst>
          </p:cNvPr>
          <p:cNvSpPr/>
          <p:nvPr/>
        </p:nvSpPr>
        <p:spPr>
          <a:xfrm>
            <a:off x="2351314" y="3965158"/>
            <a:ext cx="1843316" cy="33107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9" name="Oval 18">
            <a:extLst>
              <a:ext uri="{FF2B5EF4-FFF2-40B4-BE49-F238E27FC236}">
                <a16:creationId xmlns:a16="http://schemas.microsoft.com/office/drawing/2014/main" id="{7849DF22-F2A2-7955-25C9-668B93D501BB}"/>
              </a:ext>
            </a:extLst>
          </p:cNvPr>
          <p:cNvSpPr/>
          <p:nvPr/>
        </p:nvSpPr>
        <p:spPr>
          <a:xfrm>
            <a:off x="8309342" y="3762187"/>
            <a:ext cx="1843316" cy="33107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20" name="Oval 19">
            <a:extLst>
              <a:ext uri="{FF2B5EF4-FFF2-40B4-BE49-F238E27FC236}">
                <a16:creationId xmlns:a16="http://schemas.microsoft.com/office/drawing/2014/main" id="{0559EC68-B7ED-B3EB-2F71-4BCFE412C128}"/>
              </a:ext>
            </a:extLst>
          </p:cNvPr>
          <p:cNvSpPr/>
          <p:nvPr/>
        </p:nvSpPr>
        <p:spPr>
          <a:xfrm>
            <a:off x="2351314" y="4296230"/>
            <a:ext cx="1843316" cy="196128"/>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21" name="Oval 20">
            <a:extLst>
              <a:ext uri="{FF2B5EF4-FFF2-40B4-BE49-F238E27FC236}">
                <a16:creationId xmlns:a16="http://schemas.microsoft.com/office/drawing/2014/main" id="{824FFD29-7594-4630-77B6-5CE866629FD1}"/>
              </a:ext>
            </a:extLst>
          </p:cNvPr>
          <p:cNvSpPr/>
          <p:nvPr/>
        </p:nvSpPr>
        <p:spPr>
          <a:xfrm>
            <a:off x="8377278" y="4093259"/>
            <a:ext cx="1843316" cy="196128"/>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cxnSp>
        <p:nvCxnSpPr>
          <p:cNvPr id="22" name="Straight Connector 21">
            <a:extLst>
              <a:ext uri="{FF2B5EF4-FFF2-40B4-BE49-F238E27FC236}">
                <a16:creationId xmlns:a16="http://schemas.microsoft.com/office/drawing/2014/main" id="{8E78D13E-1CCA-34B1-B351-32B5CF93E859}"/>
              </a:ext>
            </a:extLst>
          </p:cNvPr>
          <p:cNvCxnSpPr/>
          <p:nvPr/>
        </p:nvCxnSpPr>
        <p:spPr>
          <a:xfrm>
            <a:off x="6058738" y="1190171"/>
            <a:ext cx="0" cy="3483429"/>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23" name="Text Placeholder 5">
            <a:extLst>
              <a:ext uri="{FF2B5EF4-FFF2-40B4-BE49-F238E27FC236}">
                <a16:creationId xmlns:a16="http://schemas.microsoft.com/office/drawing/2014/main" id="{60C8EC60-06C3-9C73-A47D-474F7E79B79F}"/>
              </a:ext>
            </a:extLst>
          </p:cNvPr>
          <p:cNvSpPr txBox="1">
            <a:spLocks/>
          </p:cNvSpPr>
          <p:nvPr/>
        </p:nvSpPr>
        <p:spPr>
          <a:xfrm>
            <a:off x="344149" y="883846"/>
            <a:ext cx="5807513" cy="40429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b="1" dirty="0">
                <a:solidFill>
                  <a:schemeClr val="tx1"/>
                </a:solidFill>
              </a:rPr>
              <a:t>RANDOMISED BLOCK DESIGN</a:t>
            </a:r>
          </a:p>
        </p:txBody>
      </p:sp>
      <p:sp>
        <p:nvSpPr>
          <p:cNvPr id="24" name="Text Placeholder 5">
            <a:extLst>
              <a:ext uri="{FF2B5EF4-FFF2-40B4-BE49-F238E27FC236}">
                <a16:creationId xmlns:a16="http://schemas.microsoft.com/office/drawing/2014/main" id="{0EF3C45F-BD64-9973-0AB8-A39221B2F390}"/>
              </a:ext>
            </a:extLst>
          </p:cNvPr>
          <p:cNvSpPr txBox="1">
            <a:spLocks/>
          </p:cNvSpPr>
          <p:nvPr/>
        </p:nvSpPr>
        <p:spPr>
          <a:xfrm>
            <a:off x="6151662" y="883846"/>
            <a:ext cx="5807513" cy="40429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b="1" dirty="0">
                <a:solidFill>
                  <a:schemeClr val="tx1"/>
                </a:solidFill>
              </a:rPr>
              <a:t>ONE WAY ANOVA</a:t>
            </a:r>
          </a:p>
        </p:txBody>
      </p:sp>
      <p:sp>
        <p:nvSpPr>
          <p:cNvPr id="25" name="Text Placeholder 5">
            <a:extLst>
              <a:ext uri="{FF2B5EF4-FFF2-40B4-BE49-F238E27FC236}">
                <a16:creationId xmlns:a16="http://schemas.microsoft.com/office/drawing/2014/main" id="{8DA291FD-388E-7DD2-88CB-DD46E6C9F9BB}"/>
              </a:ext>
            </a:extLst>
          </p:cNvPr>
          <p:cNvSpPr txBox="1">
            <a:spLocks/>
          </p:cNvSpPr>
          <p:nvPr/>
        </p:nvSpPr>
        <p:spPr>
          <a:xfrm>
            <a:off x="213963" y="4699913"/>
            <a:ext cx="5807513" cy="40429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800" dirty="0">
                <a:solidFill>
                  <a:srgbClr val="C00000"/>
                </a:solidFill>
              </a:rPr>
              <a:t>The SST and MST is the same under both approaches</a:t>
            </a:r>
          </a:p>
        </p:txBody>
      </p:sp>
      <p:sp>
        <p:nvSpPr>
          <p:cNvPr id="26" name="Text Placeholder 5">
            <a:extLst>
              <a:ext uri="{FF2B5EF4-FFF2-40B4-BE49-F238E27FC236}">
                <a16:creationId xmlns:a16="http://schemas.microsoft.com/office/drawing/2014/main" id="{11586494-D018-BAA7-792F-81FC35E05378}"/>
              </a:ext>
            </a:extLst>
          </p:cNvPr>
          <p:cNvSpPr txBox="1">
            <a:spLocks/>
          </p:cNvSpPr>
          <p:nvPr/>
        </p:nvSpPr>
        <p:spPr>
          <a:xfrm>
            <a:off x="213963" y="5077215"/>
            <a:ext cx="11689548" cy="135106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800" dirty="0">
                <a:solidFill>
                  <a:srgbClr val="0070C0"/>
                </a:solidFill>
              </a:rPr>
              <a:t>However, the SSE is much smaller under the RBD compared to one-way ANOVA.</a:t>
            </a:r>
            <a:br>
              <a:rPr lang="en-NZ" altLang="ja-JP" sz="1800" dirty="0">
                <a:solidFill>
                  <a:srgbClr val="0070C0"/>
                </a:solidFill>
              </a:rPr>
            </a:br>
            <a:r>
              <a:rPr lang="en-NZ" altLang="ja-JP" sz="1800" dirty="0">
                <a:solidFill>
                  <a:srgbClr val="0070C0"/>
                </a:solidFill>
              </a:rPr>
              <a:t>This is because in one-way ANOVA the variance caused by the blocking factor (Subject) has not been accounted for.</a:t>
            </a:r>
            <a:br>
              <a:rPr lang="en-NZ" altLang="ja-JP" sz="1800" dirty="0">
                <a:solidFill>
                  <a:srgbClr val="0070C0"/>
                </a:solidFill>
              </a:rPr>
            </a:br>
            <a:r>
              <a:rPr lang="en-NZ" altLang="ja-JP" sz="1800" dirty="0">
                <a:solidFill>
                  <a:srgbClr val="0070C0"/>
                </a:solidFill>
              </a:rPr>
              <a:t>This variation has been incorporated in the SSE inflating it considerably</a:t>
            </a:r>
          </a:p>
        </p:txBody>
      </p:sp>
      <mc:AlternateContent xmlns:mc="http://schemas.openxmlformats.org/markup-compatibility/2006" xmlns:a14="http://schemas.microsoft.com/office/drawing/2010/main">
        <mc:Choice Requires="a14">
          <p:sp>
            <p:nvSpPr>
              <p:cNvPr id="27" name="Text Placeholder 5">
                <a:extLst>
                  <a:ext uri="{FF2B5EF4-FFF2-40B4-BE49-F238E27FC236}">
                    <a16:creationId xmlns:a16="http://schemas.microsoft.com/office/drawing/2014/main" id="{091FE83C-7FD0-D675-F6F7-C27A66CE9321}"/>
                  </a:ext>
                </a:extLst>
              </p:cNvPr>
              <p:cNvSpPr txBox="1">
                <a:spLocks/>
              </p:cNvSpPr>
              <p:nvPr/>
            </p:nvSpPr>
            <p:spPr>
              <a:xfrm>
                <a:off x="213961" y="5988967"/>
                <a:ext cx="11838142" cy="56212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800" dirty="0">
                    <a:solidFill>
                      <a:srgbClr val="7030A0"/>
                    </a:solidFill>
                  </a:rPr>
                  <a:t>Consequently, </a:t>
                </a:r>
                <a14:m>
                  <m:oMath xmlns:m="http://schemas.openxmlformats.org/officeDocument/2006/math">
                    <m:sSub>
                      <m:sSubPr>
                        <m:ctrlPr>
                          <a:rPr lang="en-NZ" altLang="ja-JP" sz="1800" b="0" i="1" smtClean="0">
                            <a:solidFill>
                              <a:srgbClr val="7030A0"/>
                            </a:solidFill>
                            <a:latin typeface="Cambria Math" panose="02040503050406030204" pitchFamily="18" charset="0"/>
                          </a:rPr>
                        </m:ctrlPr>
                      </m:sSubPr>
                      <m:e>
                        <m:r>
                          <a:rPr lang="en-NZ" altLang="ja-JP" sz="1800" b="0" i="1" smtClean="0">
                            <a:solidFill>
                              <a:srgbClr val="7030A0"/>
                            </a:solidFill>
                            <a:latin typeface="Cambria Math" panose="02040503050406030204" pitchFamily="18" charset="0"/>
                          </a:rPr>
                          <m:t>𝐹</m:t>
                        </m:r>
                      </m:e>
                      <m:sub>
                        <m:r>
                          <a:rPr lang="en-NZ" altLang="ja-JP" sz="1800" b="0" i="1" smtClean="0">
                            <a:solidFill>
                              <a:srgbClr val="7030A0"/>
                            </a:solidFill>
                            <a:latin typeface="Cambria Math" panose="02040503050406030204" pitchFamily="18" charset="0"/>
                          </a:rPr>
                          <m:t>𝑜𝑏𝑠</m:t>
                        </m:r>
                      </m:sub>
                    </m:sSub>
                  </m:oMath>
                </a14:m>
                <a:r>
                  <a:rPr lang="en-NZ" altLang="ja-JP" sz="1800" dirty="0">
                    <a:solidFill>
                      <a:srgbClr val="7030A0"/>
                    </a:solidFill>
                  </a:rPr>
                  <a:t> is much bigger under the RBD and the p-value is much smaller.</a:t>
                </a:r>
              </a:p>
            </p:txBody>
          </p:sp>
        </mc:Choice>
        <mc:Fallback xmlns="">
          <p:sp>
            <p:nvSpPr>
              <p:cNvPr id="27" name="Text Placeholder 5">
                <a:extLst>
                  <a:ext uri="{FF2B5EF4-FFF2-40B4-BE49-F238E27FC236}">
                    <a16:creationId xmlns:a16="http://schemas.microsoft.com/office/drawing/2014/main" id="{091FE83C-7FD0-D675-F6F7-C27A66CE9321}"/>
                  </a:ext>
                </a:extLst>
              </p:cNvPr>
              <p:cNvSpPr txBox="1">
                <a:spLocks noRot="1" noChangeAspect="1" noMove="1" noResize="1" noEditPoints="1" noAdjustHandles="1" noChangeArrowheads="1" noChangeShapeType="1" noTextEdit="1"/>
              </p:cNvSpPr>
              <p:nvPr/>
            </p:nvSpPr>
            <p:spPr>
              <a:xfrm>
                <a:off x="213961" y="5988967"/>
                <a:ext cx="11838142" cy="562127"/>
              </a:xfrm>
              <a:prstGeom prst="rect">
                <a:avLst/>
              </a:prstGeom>
              <a:blipFill>
                <a:blip r:embed="rId5"/>
                <a:stretch>
                  <a:fillRect l="-412" t="-5376"/>
                </a:stretch>
              </a:blipFill>
            </p:spPr>
            <p:txBody>
              <a:bodyPr/>
              <a:lstStyle/>
              <a:p>
                <a:r>
                  <a:rPr lang="en-NZ">
                    <a:noFill/>
                  </a:rPr>
                  <a:t> </a:t>
                </a:r>
              </a:p>
            </p:txBody>
          </p:sp>
        </mc:Fallback>
      </mc:AlternateContent>
      <p:sp>
        <p:nvSpPr>
          <p:cNvPr id="28" name="Oval 27">
            <a:extLst>
              <a:ext uri="{FF2B5EF4-FFF2-40B4-BE49-F238E27FC236}">
                <a16:creationId xmlns:a16="http://schemas.microsoft.com/office/drawing/2014/main" id="{532A3565-7186-B7D3-FC3B-D622A0D04217}"/>
              </a:ext>
            </a:extLst>
          </p:cNvPr>
          <p:cNvSpPr/>
          <p:nvPr/>
        </p:nvSpPr>
        <p:spPr>
          <a:xfrm>
            <a:off x="10097457" y="3829659"/>
            <a:ext cx="1644600" cy="263600"/>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solidFill>
                <a:srgbClr val="7030A0"/>
              </a:solidFill>
            </a:endParaRPr>
          </a:p>
        </p:txBody>
      </p:sp>
      <p:sp>
        <p:nvSpPr>
          <p:cNvPr id="29" name="Oval 28">
            <a:extLst>
              <a:ext uri="{FF2B5EF4-FFF2-40B4-BE49-F238E27FC236}">
                <a16:creationId xmlns:a16="http://schemas.microsoft.com/office/drawing/2014/main" id="{7DF3FDB5-04FB-7E78-B42E-EBF1F8266012}"/>
              </a:ext>
            </a:extLst>
          </p:cNvPr>
          <p:cNvSpPr/>
          <p:nvPr/>
        </p:nvSpPr>
        <p:spPr>
          <a:xfrm>
            <a:off x="4250295" y="3965178"/>
            <a:ext cx="1771181" cy="331052"/>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solidFill>
                <a:srgbClr val="7030A0"/>
              </a:solidFill>
            </a:endParaRPr>
          </a:p>
        </p:txBody>
      </p:sp>
      <p:sp>
        <p:nvSpPr>
          <p:cNvPr id="30" name="Text Placeholder 5">
            <a:extLst>
              <a:ext uri="{FF2B5EF4-FFF2-40B4-BE49-F238E27FC236}">
                <a16:creationId xmlns:a16="http://schemas.microsoft.com/office/drawing/2014/main" id="{B53089D3-548A-7536-678E-62B00702389C}"/>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4.3 - Clotting Time of Blood Plasma (Fixed Effects RBD Example)</a:t>
            </a:r>
            <a:endParaRPr lang="en-US" altLang="ja-JP" sz="1200" b="1" i="1" dirty="0">
              <a:solidFill>
                <a:srgbClr val="C00000"/>
              </a:solidFill>
            </a:endParaRPr>
          </a:p>
        </p:txBody>
      </p:sp>
      <p:sp>
        <p:nvSpPr>
          <p:cNvPr id="31" name="Footer Placeholder 2">
            <a:extLst>
              <a:ext uri="{FF2B5EF4-FFF2-40B4-BE49-F238E27FC236}">
                <a16:creationId xmlns:a16="http://schemas.microsoft.com/office/drawing/2014/main" id="{1F3DA9C6-1ABF-5CB3-979B-E2BEBA8E1533}"/>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4.3 – </a:t>
            </a:r>
            <a:r>
              <a:rPr kumimoji="1" lang="en-US" altLang="ja-JP" sz="1600" dirty="0">
                <a:solidFill>
                  <a:srgbClr val="DEDDDD"/>
                </a:solidFill>
                <a:latin typeface="Gidole"/>
                <a:ea typeface="游ゴシック" panose="020B0400000000000000" pitchFamily="34" charset="-128"/>
              </a:rPr>
              <a:t>Fixed Effects Model</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2130826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5" grpId="0"/>
      <p:bldP spid="26" grpId="0"/>
      <p:bldP spid="27" grpId="0"/>
      <p:bldP spid="28" grpId="0" animBg="1"/>
      <p:bldP spid="2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3" name="Title 6">
            <a:extLst>
              <a:ext uri="{FF2B5EF4-FFF2-40B4-BE49-F238E27FC236}">
                <a16:creationId xmlns:a16="http://schemas.microsoft.com/office/drawing/2014/main" id="{539E1FA8-24B4-FFD9-7C26-8B31D6C98125}"/>
              </a:ext>
            </a:extLst>
          </p:cNvPr>
          <p:cNvSpPr txBox="1">
            <a:spLocks/>
          </p:cNvSpPr>
          <p:nvPr/>
        </p:nvSpPr>
        <p:spPr>
          <a:xfrm>
            <a:off x="251223" y="237833"/>
            <a:ext cx="8617005" cy="607201"/>
          </a:xfrm>
          <a:prstGeom prst="rect">
            <a:avLst/>
          </a:prstGeom>
        </p:spPr>
        <p:txBody>
          <a:bodyPr anchor="t">
            <a:normAutofit fontScale="925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4.3d – Clotting Time of Blood Plasma Example</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5" name="Text Placeholder 5">
            <a:extLst>
              <a:ext uri="{FF2B5EF4-FFF2-40B4-BE49-F238E27FC236}">
                <a16:creationId xmlns:a16="http://schemas.microsoft.com/office/drawing/2014/main" id="{3543E36E-8489-E38A-326C-ACA1964A7E9E}"/>
              </a:ext>
            </a:extLst>
          </p:cNvPr>
          <p:cNvSpPr txBox="1">
            <a:spLocks/>
          </p:cNvSpPr>
          <p:nvPr/>
        </p:nvSpPr>
        <p:spPr>
          <a:xfrm>
            <a:off x="251223" y="2583006"/>
            <a:ext cx="3858982" cy="3305194"/>
          </a:xfrm>
          <a:prstGeom prst="rect">
            <a:avLst/>
          </a:prstGeom>
          <a:ln>
            <a:solidFill>
              <a:schemeClr val="bg2">
                <a:lumMod val="50000"/>
              </a:schemeClr>
            </a:solidFill>
          </a:ln>
        </p:spPr>
        <p:txBody>
          <a:bodyPr anchor="ct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2800" dirty="0">
                <a:solidFill>
                  <a:srgbClr val="C00000"/>
                </a:solidFill>
              </a:rPr>
              <a:t>The process of blocking within a RBD accounts for a substantial source of variance giving greater power to test for the effect of a treatment</a:t>
            </a:r>
            <a:endParaRPr lang="en-NZ" altLang="ja-JP" sz="2800" dirty="0">
              <a:solidFill>
                <a:schemeClr val="tx1"/>
              </a:solidFill>
            </a:endParaRPr>
          </a:p>
        </p:txBody>
      </p:sp>
      <mc:AlternateContent xmlns:mc="http://schemas.openxmlformats.org/markup-compatibility/2006" xmlns:a14="http://schemas.microsoft.com/office/drawing/2010/main">
        <mc:Choice Requires="a14">
          <p:sp>
            <p:nvSpPr>
              <p:cNvPr id="11" name="Rectangle: Rounded Corners 10">
                <a:extLst>
                  <a:ext uri="{FF2B5EF4-FFF2-40B4-BE49-F238E27FC236}">
                    <a16:creationId xmlns:a16="http://schemas.microsoft.com/office/drawing/2014/main" id="{861B0FF9-C008-3F26-D2C5-2C373E5BD419}"/>
                  </a:ext>
                </a:extLst>
              </p:cNvPr>
              <p:cNvSpPr/>
              <p:nvPr/>
            </p:nvSpPr>
            <p:spPr>
              <a:xfrm>
                <a:off x="7878764" y="1922676"/>
                <a:ext cx="1978926" cy="832514"/>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b="1" dirty="0">
                    <a:solidFill>
                      <a:schemeClr val="bg1"/>
                    </a:solidFill>
                  </a:rPr>
                  <a:t>TSS</a:t>
                </a:r>
              </a:p>
              <a:p>
                <a:pPr algn="ctr"/>
                <a14:m>
                  <m:oMathPara xmlns:m="http://schemas.openxmlformats.org/officeDocument/2006/math">
                    <m:oMathParaPr>
                      <m:jc m:val="centerGroup"/>
                    </m:oMathParaPr>
                    <m:oMath xmlns:m="http://schemas.openxmlformats.org/officeDocument/2006/math">
                      <m:r>
                        <a:rPr lang="en-NZ" sz="1600" b="0" i="1" smtClean="0">
                          <a:solidFill>
                            <a:schemeClr val="bg1"/>
                          </a:solidFill>
                          <a:latin typeface="Cambria Math" panose="02040503050406030204" pitchFamily="18" charset="0"/>
                        </a:rPr>
                        <m:t>𝑑</m:t>
                      </m:r>
                      <m:sSub>
                        <m:sSubPr>
                          <m:ctrlPr>
                            <a:rPr lang="en-NZ" sz="1600" b="0" i="1" smtClean="0">
                              <a:solidFill>
                                <a:schemeClr val="bg1"/>
                              </a:solidFill>
                              <a:latin typeface="Cambria Math" panose="02040503050406030204" pitchFamily="18" charset="0"/>
                            </a:rPr>
                          </m:ctrlPr>
                        </m:sSubPr>
                        <m:e>
                          <m:r>
                            <a:rPr lang="en-NZ" sz="1600" b="0" i="1" smtClean="0">
                              <a:solidFill>
                                <a:schemeClr val="bg1"/>
                              </a:solidFill>
                              <a:latin typeface="Cambria Math" panose="02040503050406030204" pitchFamily="18" charset="0"/>
                            </a:rPr>
                            <m:t>𝑓</m:t>
                          </m:r>
                        </m:e>
                        <m:sub>
                          <m:r>
                            <a:rPr lang="en-NZ" sz="1600" b="0" i="1" smtClean="0">
                              <a:solidFill>
                                <a:schemeClr val="bg1"/>
                              </a:solidFill>
                              <a:latin typeface="Cambria Math" panose="02040503050406030204" pitchFamily="18" charset="0"/>
                            </a:rPr>
                            <m:t>𝑇𝑆𝑆</m:t>
                          </m:r>
                        </m:sub>
                      </m:sSub>
                      <m:r>
                        <a:rPr lang="en-NZ" sz="1600" b="0" i="1" smtClean="0">
                          <a:solidFill>
                            <a:schemeClr val="bg1"/>
                          </a:solidFill>
                          <a:latin typeface="Cambria Math" panose="02040503050406030204" pitchFamily="18" charset="0"/>
                        </a:rPr>
                        <m:t>=</m:t>
                      </m:r>
                      <m:r>
                        <a:rPr lang="en-NZ" sz="1600" b="0" i="1" smtClean="0">
                          <a:solidFill>
                            <a:schemeClr val="bg1"/>
                          </a:solidFill>
                          <a:latin typeface="Cambria Math" panose="02040503050406030204" pitchFamily="18" charset="0"/>
                        </a:rPr>
                        <m:t>𝑁</m:t>
                      </m:r>
                      <m:r>
                        <a:rPr lang="en-NZ" sz="1600" b="0" i="1" smtClean="0">
                          <a:solidFill>
                            <a:schemeClr val="bg1"/>
                          </a:solidFill>
                          <a:latin typeface="Cambria Math" panose="02040503050406030204" pitchFamily="18" charset="0"/>
                        </a:rPr>
                        <m:t>−1</m:t>
                      </m:r>
                    </m:oMath>
                  </m:oMathPara>
                </a14:m>
                <a:endParaRPr lang="en-NZ" sz="1600" dirty="0">
                  <a:solidFill>
                    <a:schemeClr val="bg1"/>
                  </a:solidFill>
                </a:endParaRPr>
              </a:p>
            </p:txBody>
          </p:sp>
        </mc:Choice>
        <mc:Fallback xmlns="">
          <p:sp>
            <p:nvSpPr>
              <p:cNvPr id="11" name="Rectangle: Rounded Corners 10">
                <a:extLst>
                  <a:ext uri="{FF2B5EF4-FFF2-40B4-BE49-F238E27FC236}">
                    <a16:creationId xmlns:a16="http://schemas.microsoft.com/office/drawing/2014/main" id="{861B0FF9-C008-3F26-D2C5-2C373E5BD419}"/>
                  </a:ext>
                </a:extLst>
              </p:cNvPr>
              <p:cNvSpPr>
                <a:spLocks noRot="1" noChangeAspect="1" noMove="1" noResize="1" noEditPoints="1" noAdjustHandles="1" noChangeArrowheads="1" noChangeShapeType="1" noTextEdit="1"/>
              </p:cNvSpPr>
              <p:nvPr/>
            </p:nvSpPr>
            <p:spPr>
              <a:xfrm>
                <a:off x="7878764" y="1922676"/>
                <a:ext cx="1978926" cy="832514"/>
              </a:xfrm>
              <a:prstGeom prst="roundRect">
                <a:avLst/>
              </a:prstGeom>
              <a:blipFill>
                <a:blip r:embed="rId2"/>
                <a:stretch>
                  <a:fillRect/>
                </a:stretch>
              </a:blipFill>
              <a:ln>
                <a:solidFill>
                  <a:schemeClr val="tx1"/>
                </a:solidFill>
              </a:ln>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4" name="Rectangle: Rounded Corners 13">
                <a:extLst>
                  <a:ext uri="{FF2B5EF4-FFF2-40B4-BE49-F238E27FC236}">
                    <a16:creationId xmlns:a16="http://schemas.microsoft.com/office/drawing/2014/main" id="{C298A31C-0EDB-B60C-88D5-DA67E0AC6EA1}"/>
                  </a:ext>
                </a:extLst>
              </p:cNvPr>
              <p:cNvSpPr/>
              <p:nvPr/>
            </p:nvSpPr>
            <p:spPr>
              <a:xfrm>
                <a:off x="9011528" y="3459470"/>
                <a:ext cx="1978926" cy="832514"/>
              </a:xfrm>
              <a:prstGeom prst="roundRect">
                <a:avLst/>
              </a:prstGeom>
              <a:solidFill>
                <a:schemeClr val="tx1">
                  <a:lumMod val="75000"/>
                  <a:lumOff val="2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b="1">
                    <a:solidFill>
                      <a:schemeClr val="bg1"/>
                    </a:solidFill>
                  </a:rPr>
                  <a:t>SSE</a:t>
                </a:r>
                <a:r>
                  <a:rPr lang="en-NZ" b="1" baseline="-25000">
                    <a:solidFill>
                      <a:schemeClr val="bg1"/>
                    </a:solidFill>
                  </a:rPr>
                  <a:t>0</a:t>
                </a:r>
                <a:endParaRPr lang="en-NZ" b="1" dirty="0">
                  <a:solidFill>
                    <a:schemeClr val="bg1"/>
                  </a:solidFill>
                </a:endParaRPr>
              </a:p>
              <a:p>
                <a:pPr algn="ctr"/>
                <a14:m>
                  <m:oMathPara xmlns:m="http://schemas.openxmlformats.org/officeDocument/2006/math">
                    <m:oMathParaPr>
                      <m:jc m:val="centerGroup"/>
                    </m:oMathParaPr>
                    <m:oMath xmlns:m="http://schemas.openxmlformats.org/officeDocument/2006/math">
                      <m:r>
                        <a:rPr lang="en-NZ" sz="1600" b="0" i="1" smtClean="0">
                          <a:solidFill>
                            <a:schemeClr val="bg1"/>
                          </a:solidFill>
                          <a:latin typeface="Cambria Math" panose="02040503050406030204" pitchFamily="18" charset="0"/>
                        </a:rPr>
                        <m:t>𝑑</m:t>
                      </m:r>
                      <m:sSub>
                        <m:sSubPr>
                          <m:ctrlPr>
                            <a:rPr lang="en-NZ" sz="1600" b="0" i="1" smtClean="0">
                              <a:solidFill>
                                <a:schemeClr val="bg1"/>
                              </a:solidFill>
                              <a:latin typeface="Cambria Math" panose="02040503050406030204" pitchFamily="18" charset="0"/>
                            </a:rPr>
                          </m:ctrlPr>
                        </m:sSubPr>
                        <m:e>
                          <m:r>
                            <a:rPr lang="en-NZ" sz="1600" b="0" i="1" smtClean="0">
                              <a:solidFill>
                                <a:schemeClr val="bg1"/>
                              </a:solidFill>
                              <a:latin typeface="Cambria Math" panose="02040503050406030204" pitchFamily="18" charset="0"/>
                            </a:rPr>
                            <m:t>𝑓</m:t>
                          </m:r>
                        </m:e>
                        <m:sub>
                          <m:r>
                            <a:rPr lang="en-NZ" sz="1600" b="0" i="1" smtClean="0">
                              <a:solidFill>
                                <a:schemeClr val="bg1"/>
                              </a:solidFill>
                              <a:latin typeface="Cambria Math" panose="02040503050406030204" pitchFamily="18" charset="0"/>
                            </a:rPr>
                            <m:t>𝑆𝑆</m:t>
                          </m:r>
                          <m:sSub>
                            <m:sSubPr>
                              <m:ctrlPr>
                                <a:rPr lang="en-NZ" sz="1600" b="0" i="1" smtClean="0">
                                  <a:solidFill>
                                    <a:schemeClr val="bg1"/>
                                  </a:solidFill>
                                  <a:latin typeface="Cambria Math" panose="02040503050406030204" pitchFamily="18" charset="0"/>
                                </a:rPr>
                              </m:ctrlPr>
                            </m:sSubPr>
                            <m:e>
                              <m:r>
                                <a:rPr lang="en-NZ" sz="1600" b="0" i="1" smtClean="0">
                                  <a:solidFill>
                                    <a:schemeClr val="bg1"/>
                                  </a:solidFill>
                                  <a:latin typeface="Cambria Math" panose="02040503050406030204" pitchFamily="18" charset="0"/>
                                </a:rPr>
                                <m:t>𝐸</m:t>
                              </m:r>
                            </m:e>
                            <m:sub>
                              <m:r>
                                <a:rPr lang="en-NZ" sz="1600" b="0" i="1" smtClean="0">
                                  <a:solidFill>
                                    <a:schemeClr val="bg1"/>
                                  </a:solidFill>
                                  <a:latin typeface="Cambria Math" panose="02040503050406030204" pitchFamily="18" charset="0"/>
                                </a:rPr>
                                <m:t>0</m:t>
                              </m:r>
                            </m:sub>
                          </m:sSub>
                        </m:sub>
                      </m:sSub>
                      <m:r>
                        <a:rPr lang="en-NZ" sz="1600" b="0" i="1" smtClean="0">
                          <a:solidFill>
                            <a:schemeClr val="bg1"/>
                          </a:solidFill>
                          <a:latin typeface="Cambria Math" panose="02040503050406030204" pitchFamily="18" charset="0"/>
                        </a:rPr>
                        <m:t>=</m:t>
                      </m:r>
                      <m:r>
                        <a:rPr lang="en-NZ" sz="1600" b="0" i="1" smtClean="0">
                          <a:solidFill>
                            <a:schemeClr val="bg1"/>
                          </a:solidFill>
                          <a:latin typeface="Cambria Math" panose="02040503050406030204" pitchFamily="18" charset="0"/>
                        </a:rPr>
                        <m:t>𝑁</m:t>
                      </m:r>
                      <m:r>
                        <a:rPr lang="en-NZ" sz="1600" b="0" i="1" smtClean="0">
                          <a:solidFill>
                            <a:schemeClr val="bg1"/>
                          </a:solidFill>
                          <a:latin typeface="Cambria Math" panose="02040503050406030204" pitchFamily="18" charset="0"/>
                        </a:rPr>
                        <m:t>−</m:t>
                      </m:r>
                      <m:r>
                        <a:rPr lang="en-NZ" sz="1600" b="0" i="1" smtClean="0">
                          <a:solidFill>
                            <a:schemeClr val="bg1"/>
                          </a:solidFill>
                          <a:latin typeface="Cambria Math" panose="02040503050406030204" pitchFamily="18" charset="0"/>
                        </a:rPr>
                        <m:t>𝑎</m:t>
                      </m:r>
                    </m:oMath>
                  </m:oMathPara>
                </a14:m>
                <a:endParaRPr lang="en-NZ" sz="1600" dirty="0">
                  <a:solidFill>
                    <a:schemeClr val="bg1"/>
                  </a:solidFill>
                </a:endParaRPr>
              </a:p>
            </p:txBody>
          </p:sp>
        </mc:Choice>
        <mc:Fallback xmlns="">
          <p:sp>
            <p:nvSpPr>
              <p:cNvPr id="14" name="Rectangle: Rounded Corners 13">
                <a:extLst>
                  <a:ext uri="{FF2B5EF4-FFF2-40B4-BE49-F238E27FC236}">
                    <a16:creationId xmlns:a16="http://schemas.microsoft.com/office/drawing/2014/main" id="{C298A31C-0EDB-B60C-88D5-DA67E0AC6EA1}"/>
                  </a:ext>
                </a:extLst>
              </p:cNvPr>
              <p:cNvSpPr>
                <a:spLocks noRot="1" noChangeAspect="1" noMove="1" noResize="1" noEditPoints="1" noAdjustHandles="1" noChangeArrowheads="1" noChangeShapeType="1" noTextEdit="1"/>
              </p:cNvSpPr>
              <p:nvPr/>
            </p:nvSpPr>
            <p:spPr>
              <a:xfrm>
                <a:off x="9011528" y="3459470"/>
                <a:ext cx="1978926" cy="832514"/>
              </a:xfrm>
              <a:prstGeom prst="roundRect">
                <a:avLst/>
              </a:prstGeom>
              <a:blipFill>
                <a:blip r:embed="rId3"/>
                <a:stretch>
                  <a:fillRect/>
                </a:stretch>
              </a:blipFill>
              <a:ln>
                <a:solidFill>
                  <a:schemeClr val="tx1"/>
                </a:solidFill>
              </a:ln>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6" name="Rectangle: Rounded Corners 15">
                <a:extLst>
                  <a:ext uri="{FF2B5EF4-FFF2-40B4-BE49-F238E27FC236}">
                    <a16:creationId xmlns:a16="http://schemas.microsoft.com/office/drawing/2014/main" id="{978E9065-EA71-F895-48E5-C117E0EF31FE}"/>
                  </a:ext>
                </a:extLst>
              </p:cNvPr>
              <p:cNvSpPr/>
              <p:nvPr/>
            </p:nvSpPr>
            <p:spPr>
              <a:xfrm>
                <a:off x="5798757" y="4968675"/>
                <a:ext cx="1978926" cy="832514"/>
              </a:xfrm>
              <a:prstGeom prst="round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b="1" dirty="0">
                    <a:solidFill>
                      <a:schemeClr val="tx1"/>
                    </a:solidFill>
                  </a:rPr>
                  <a:t>SST</a:t>
                </a:r>
              </a:p>
              <a:p>
                <a:pPr algn="ctr"/>
                <a14:m>
                  <m:oMathPara xmlns:m="http://schemas.openxmlformats.org/officeDocument/2006/math">
                    <m:oMathParaPr>
                      <m:jc m:val="centerGroup"/>
                    </m:oMathParaPr>
                    <m:oMath xmlns:m="http://schemas.openxmlformats.org/officeDocument/2006/math">
                      <m:r>
                        <a:rPr lang="en-NZ" sz="1600" b="0" i="1" smtClean="0">
                          <a:solidFill>
                            <a:schemeClr val="tx1"/>
                          </a:solidFill>
                          <a:latin typeface="Cambria Math" panose="02040503050406030204" pitchFamily="18" charset="0"/>
                        </a:rPr>
                        <m:t>𝑑</m:t>
                      </m:r>
                      <m:sSub>
                        <m:sSubPr>
                          <m:ctrlPr>
                            <a:rPr lang="en-NZ" sz="1600" b="0" i="1" smtClean="0">
                              <a:solidFill>
                                <a:schemeClr val="tx1"/>
                              </a:solidFill>
                              <a:latin typeface="Cambria Math" panose="02040503050406030204" pitchFamily="18" charset="0"/>
                            </a:rPr>
                          </m:ctrlPr>
                        </m:sSubPr>
                        <m:e>
                          <m:r>
                            <a:rPr lang="en-NZ" sz="1600" b="0" i="1" smtClean="0">
                              <a:solidFill>
                                <a:schemeClr val="tx1"/>
                              </a:solidFill>
                              <a:latin typeface="Cambria Math" panose="02040503050406030204" pitchFamily="18" charset="0"/>
                            </a:rPr>
                            <m:t>𝑓</m:t>
                          </m:r>
                        </m:e>
                        <m:sub>
                          <m:r>
                            <a:rPr lang="en-NZ" sz="1600" b="0" i="1" smtClean="0">
                              <a:solidFill>
                                <a:schemeClr val="tx1"/>
                              </a:solidFill>
                              <a:latin typeface="Cambria Math" panose="02040503050406030204" pitchFamily="18" charset="0"/>
                            </a:rPr>
                            <m:t>𝑆𝑆𝑇</m:t>
                          </m:r>
                        </m:sub>
                      </m:sSub>
                      <m:r>
                        <a:rPr lang="en-NZ" sz="1600" b="0" i="1" smtClean="0">
                          <a:solidFill>
                            <a:schemeClr val="tx1"/>
                          </a:solidFill>
                          <a:latin typeface="Cambria Math" panose="02040503050406030204" pitchFamily="18" charset="0"/>
                        </a:rPr>
                        <m:t>=</m:t>
                      </m:r>
                      <m:r>
                        <a:rPr lang="en-NZ" sz="1600" b="0" i="1" smtClean="0">
                          <a:solidFill>
                            <a:schemeClr val="tx1"/>
                          </a:solidFill>
                          <a:latin typeface="Cambria Math" panose="02040503050406030204" pitchFamily="18" charset="0"/>
                        </a:rPr>
                        <m:t>𝑎</m:t>
                      </m:r>
                      <m:r>
                        <a:rPr lang="en-NZ" sz="1600" b="0" i="1" smtClean="0">
                          <a:solidFill>
                            <a:schemeClr val="tx1"/>
                          </a:solidFill>
                          <a:latin typeface="Cambria Math" panose="02040503050406030204" pitchFamily="18" charset="0"/>
                        </a:rPr>
                        <m:t>−1</m:t>
                      </m:r>
                    </m:oMath>
                  </m:oMathPara>
                </a14:m>
                <a:endParaRPr lang="en-NZ" sz="1600" dirty="0">
                  <a:solidFill>
                    <a:schemeClr val="tx1"/>
                  </a:solidFill>
                </a:endParaRPr>
              </a:p>
            </p:txBody>
          </p:sp>
        </mc:Choice>
        <mc:Fallback xmlns="">
          <p:sp>
            <p:nvSpPr>
              <p:cNvPr id="16" name="Rectangle: Rounded Corners 15">
                <a:extLst>
                  <a:ext uri="{FF2B5EF4-FFF2-40B4-BE49-F238E27FC236}">
                    <a16:creationId xmlns:a16="http://schemas.microsoft.com/office/drawing/2014/main" id="{978E9065-EA71-F895-48E5-C117E0EF31FE}"/>
                  </a:ext>
                </a:extLst>
              </p:cNvPr>
              <p:cNvSpPr>
                <a:spLocks noRot="1" noChangeAspect="1" noMove="1" noResize="1" noEditPoints="1" noAdjustHandles="1" noChangeArrowheads="1" noChangeShapeType="1" noTextEdit="1"/>
              </p:cNvSpPr>
              <p:nvPr/>
            </p:nvSpPr>
            <p:spPr>
              <a:xfrm>
                <a:off x="5798757" y="4968675"/>
                <a:ext cx="1978926" cy="832514"/>
              </a:xfrm>
              <a:prstGeom prst="roundRect">
                <a:avLst/>
              </a:prstGeom>
              <a:blipFill>
                <a:blip r:embed="rId4"/>
                <a:stretch>
                  <a:fillRect/>
                </a:stretch>
              </a:blipFill>
              <a:ln>
                <a:solidFill>
                  <a:schemeClr val="tx1"/>
                </a:solidFill>
              </a:ln>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7" name="Rectangle: Rounded Corners 16">
                <a:extLst>
                  <a:ext uri="{FF2B5EF4-FFF2-40B4-BE49-F238E27FC236}">
                    <a16:creationId xmlns:a16="http://schemas.microsoft.com/office/drawing/2014/main" id="{B25D8F98-4207-BEE1-76CA-119B34E33E28}"/>
                  </a:ext>
                </a:extLst>
              </p:cNvPr>
              <p:cNvSpPr/>
              <p:nvPr/>
            </p:nvSpPr>
            <p:spPr>
              <a:xfrm>
                <a:off x="7878764" y="4968675"/>
                <a:ext cx="1978926" cy="832514"/>
              </a:xfrm>
              <a:prstGeom prst="roundRect">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b="1" dirty="0">
                    <a:solidFill>
                      <a:schemeClr val="bg1"/>
                    </a:solidFill>
                  </a:rPr>
                  <a:t>SSB</a:t>
                </a:r>
              </a:p>
              <a:p>
                <a:pPr algn="ctr"/>
                <a14:m>
                  <m:oMathPara xmlns:m="http://schemas.openxmlformats.org/officeDocument/2006/math">
                    <m:oMathParaPr>
                      <m:jc m:val="centerGroup"/>
                    </m:oMathParaPr>
                    <m:oMath xmlns:m="http://schemas.openxmlformats.org/officeDocument/2006/math">
                      <m:r>
                        <a:rPr lang="en-NZ" sz="1600" b="0" i="1" smtClean="0">
                          <a:solidFill>
                            <a:schemeClr val="bg1"/>
                          </a:solidFill>
                          <a:latin typeface="Cambria Math" panose="02040503050406030204" pitchFamily="18" charset="0"/>
                        </a:rPr>
                        <m:t>𝑑</m:t>
                      </m:r>
                      <m:sSub>
                        <m:sSubPr>
                          <m:ctrlPr>
                            <a:rPr lang="en-NZ" sz="1600" b="0" i="1" smtClean="0">
                              <a:solidFill>
                                <a:schemeClr val="bg1"/>
                              </a:solidFill>
                              <a:latin typeface="Cambria Math" panose="02040503050406030204" pitchFamily="18" charset="0"/>
                            </a:rPr>
                          </m:ctrlPr>
                        </m:sSubPr>
                        <m:e>
                          <m:r>
                            <a:rPr lang="en-NZ" sz="1600" b="0" i="1" smtClean="0">
                              <a:solidFill>
                                <a:schemeClr val="bg1"/>
                              </a:solidFill>
                              <a:latin typeface="Cambria Math" panose="02040503050406030204" pitchFamily="18" charset="0"/>
                            </a:rPr>
                            <m:t>𝑓</m:t>
                          </m:r>
                        </m:e>
                        <m:sub>
                          <m:r>
                            <a:rPr lang="en-NZ" sz="1600" b="0" i="1" smtClean="0">
                              <a:solidFill>
                                <a:schemeClr val="bg1"/>
                              </a:solidFill>
                              <a:latin typeface="Cambria Math" panose="02040503050406030204" pitchFamily="18" charset="0"/>
                            </a:rPr>
                            <m:t>𝑆𝑆𝐵</m:t>
                          </m:r>
                        </m:sub>
                      </m:sSub>
                      <m:r>
                        <a:rPr lang="en-NZ" sz="1600" b="0" i="1" smtClean="0">
                          <a:solidFill>
                            <a:schemeClr val="bg1"/>
                          </a:solidFill>
                          <a:latin typeface="Cambria Math" panose="02040503050406030204" pitchFamily="18" charset="0"/>
                        </a:rPr>
                        <m:t>=</m:t>
                      </m:r>
                      <m:r>
                        <a:rPr lang="en-NZ" sz="1600" b="0" i="1" smtClean="0">
                          <a:solidFill>
                            <a:schemeClr val="bg1"/>
                          </a:solidFill>
                          <a:latin typeface="Cambria Math" panose="02040503050406030204" pitchFamily="18" charset="0"/>
                        </a:rPr>
                        <m:t>𝑏</m:t>
                      </m:r>
                      <m:r>
                        <a:rPr lang="en-NZ" sz="1600" b="0" i="1" smtClean="0">
                          <a:solidFill>
                            <a:schemeClr val="bg1"/>
                          </a:solidFill>
                          <a:latin typeface="Cambria Math" panose="02040503050406030204" pitchFamily="18" charset="0"/>
                        </a:rPr>
                        <m:t>−1</m:t>
                      </m:r>
                    </m:oMath>
                  </m:oMathPara>
                </a14:m>
                <a:endParaRPr lang="en-NZ" sz="1600" dirty="0">
                  <a:solidFill>
                    <a:schemeClr val="bg1"/>
                  </a:solidFill>
                </a:endParaRPr>
              </a:p>
            </p:txBody>
          </p:sp>
        </mc:Choice>
        <mc:Fallback xmlns="">
          <p:sp>
            <p:nvSpPr>
              <p:cNvPr id="17" name="Rectangle: Rounded Corners 16">
                <a:extLst>
                  <a:ext uri="{FF2B5EF4-FFF2-40B4-BE49-F238E27FC236}">
                    <a16:creationId xmlns:a16="http://schemas.microsoft.com/office/drawing/2014/main" id="{B25D8F98-4207-BEE1-76CA-119B34E33E28}"/>
                  </a:ext>
                </a:extLst>
              </p:cNvPr>
              <p:cNvSpPr>
                <a:spLocks noRot="1" noChangeAspect="1" noMove="1" noResize="1" noEditPoints="1" noAdjustHandles="1" noChangeArrowheads="1" noChangeShapeType="1" noTextEdit="1"/>
              </p:cNvSpPr>
              <p:nvPr/>
            </p:nvSpPr>
            <p:spPr>
              <a:xfrm>
                <a:off x="7878764" y="4968675"/>
                <a:ext cx="1978926" cy="832514"/>
              </a:xfrm>
              <a:prstGeom prst="roundRect">
                <a:avLst/>
              </a:prstGeom>
              <a:blipFill>
                <a:blip r:embed="rId5"/>
                <a:stretch>
                  <a:fillRect/>
                </a:stretch>
              </a:blipFill>
              <a:ln>
                <a:solidFill>
                  <a:schemeClr val="tx1"/>
                </a:solidFill>
              </a:ln>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8" name="Rectangle: Rounded Corners 17">
                <a:extLst>
                  <a:ext uri="{FF2B5EF4-FFF2-40B4-BE49-F238E27FC236}">
                    <a16:creationId xmlns:a16="http://schemas.microsoft.com/office/drawing/2014/main" id="{8BBB9A90-1D43-AA8C-2BB0-21ECD208A5B1}"/>
                  </a:ext>
                </a:extLst>
              </p:cNvPr>
              <p:cNvSpPr/>
              <p:nvPr/>
            </p:nvSpPr>
            <p:spPr>
              <a:xfrm>
                <a:off x="9958772" y="4968675"/>
                <a:ext cx="1978926" cy="832514"/>
              </a:xfrm>
              <a:prstGeom prst="roundRect">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b="1">
                    <a:solidFill>
                      <a:schemeClr val="bg1"/>
                    </a:solidFill>
                  </a:rPr>
                  <a:t>SSE</a:t>
                </a:r>
                <a:endParaRPr lang="en-NZ" b="1" dirty="0">
                  <a:solidFill>
                    <a:schemeClr val="bg1"/>
                  </a:solidFill>
                </a:endParaRPr>
              </a:p>
              <a:p>
                <a:pPr algn="ctr"/>
                <a14:m>
                  <m:oMathPara xmlns:m="http://schemas.openxmlformats.org/officeDocument/2006/math">
                    <m:oMathParaPr>
                      <m:jc m:val="centerGroup"/>
                    </m:oMathParaPr>
                    <m:oMath xmlns:m="http://schemas.openxmlformats.org/officeDocument/2006/math">
                      <m:r>
                        <a:rPr lang="en-NZ" sz="1200" b="0" i="1" smtClean="0">
                          <a:solidFill>
                            <a:schemeClr val="bg1"/>
                          </a:solidFill>
                          <a:latin typeface="Cambria Math" panose="02040503050406030204" pitchFamily="18" charset="0"/>
                        </a:rPr>
                        <m:t>𝑑</m:t>
                      </m:r>
                      <m:sSub>
                        <m:sSubPr>
                          <m:ctrlPr>
                            <a:rPr lang="en-NZ" sz="1200" b="0" i="1" smtClean="0">
                              <a:solidFill>
                                <a:schemeClr val="bg1"/>
                              </a:solidFill>
                              <a:latin typeface="Cambria Math" panose="02040503050406030204" pitchFamily="18" charset="0"/>
                            </a:rPr>
                          </m:ctrlPr>
                        </m:sSubPr>
                        <m:e>
                          <m:r>
                            <a:rPr lang="en-NZ" sz="1200" b="0" i="1" smtClean="0">
                              <a:solidFill>
                                <a:schemeClr val="bg1"/>
                              </a:solidFill>
                              <a:latin typeface="Cambria Math" panose="02040503050406030204" pitchFamily="18" charset="0"/>
                            </a:rPr>
                            <m:t>𝑓</m:t>
                          </m:r>
                        </m:e>
                        <m:sub>
                          <m:r>
                            <a:rPr lang="en-NZ" sz="1200" b="0" i="1" smtClean="0">
                              <a:solidFill>
                                <a:schemeClr val="bg1"/>
                              </a:solidFill>
                              <a:latin typeface="Cambria Math" panose="02040503050406030204" pitchFamily="18" charset="0"/>
                            </a:rPr>
                            <m:t>𝑆𝑆𝐸</m:t>
                          </m:r>
                        </m:sub>
                      </m:sSub>
                      <m:r>
                        <a:rPr lang="en-NZ" sz="1200" b="0" i="1" smtClean="0">
                          <a:solidFill>
                            <a:schemeClr val="bg1"/>
                          </a:solidFill>
                          <a:latin typeface="Cambria Math" panose="02040503050406030204" pitchFamily="18" charset="0"/>
                        </a:rPr>
                        <m:t>=</m:t>
                      </m:r>
                      <m:r>
                        <a:rPr lang="en-NZ" sz="1200" b="0" i="1" smtClean="0">
                          <a:solidFill>
                            <a:schemeClr val="bg1"/>
                          </a:solidFill>
                          <a:latin typeface="Cambria Math" panose="02040503050406030204" pitchFamily="18" charset="0"/>
                        </a:rPr>
                        <m:t>𝑁</m:t>
                      </m:r>
                      <m:r>
                        <a:rPr lang="en-NZ" sz="1200" b="0" i="1" smtClean="0">
                          <a:solidFill>
                            <a:schemeClr val="bg1"/>
                          </a:solidFill>
                          <a:latin typeface="Cambria Math" panose="02040503050406030204" pitchFamily="18" charset="0"/>
                        </a:rPr>
                        <m:t>−</m:t>
                      </m:r>
                      <m:r>
                        <a:rPr lang="en-NZ" sz="1200" b="0" i="1" smtClean="0">
                          <a:solidFill>
                            <a:schemeClr val="bg1"/>
                          </a:solidFill>
                          <a:latin typeface="Cambria Math" panose="02040503050406030204" pitchFamily="18" charset="0"/>
                        </a:rPr>
                        <m:t>𝑎</m:t>
                      </m:r>
                      <m:r>
                        <a:rPr lang="en-NZ" sz="1200" b="0" i="1" smtClean="0">
                          <a:solidFill>
                            <a:schemeClr val="bg1"/>
                          </a:solidFill>
                          <a:latin typeface="Cambria Math" panose="02040503050406030204" pitchFamily="18" charset="0"/>
                        </a:rPr>
                        <m:t>−</m:t>
                      </m:r>
                      <m:r>
                        <a:rPr lang="en-NZ" sz="1200" b="0" i="1" smtClean="0">
                          <a:solidFill>
                            <a:schemeClr val="bg1"/>
                          </a:solidFill>
                          <a:latin typeface="Cambria Math" panose="02040503050406030204" pitchFamily="18" charset="0"/>
                        </a:rPr>
                        <m:t>𝑏</m:t>
                      </m:r>
                      <m:r>
                        <a:rPr lang="en-NZ" sz="1200" b="0" i="1" smtClean="0">
                          <a:solidFill>
                            <a:schemeClr val="bg1"/>
                          </a:solidFill>
                          <a:latin typeface="Cambria Math" panose="02040503050406030204" pitchFamily="18" charset="0"/>
                        </a:rPr>
                        <m:t>+1</m:t>
                      </m:r>
                    </m:oMath>
                  </m:oMathPara>
                </a14:m>
                <a:endParaRPr lang="en-NZ" sz="1200" dirty="0">
                  <a:solidFill>
                    <a:schemeClr val="bg1"/>
                  </a:solidFill>
                </a:endParaRPr>
              </a:p>
            </p:txBody>
          </p:sp>
        </mc:Choice>
        <mc:Fallback xmlns="">
          <p:sp>
            <p:nvSpPr>
              <p:cNvPr id="18" name="Rectangle: Rounded Corners 17">
                <a:extLst>
                  <a:ext uri="{FF2B5EF4-FFF2-40B4-BE49-F238E27FC236}">
                    <a16:creationId xmlns:a16="http://schemas.microsoft.com/office/drawing/2014/main" id="{8BBB9A90-1D43-AA8C-2BB0-21ECD208A5B1}"/>
                  </a:ext>
                </a:extLst>
              </p:cNvPr>
              <p:cNvSpPr>
                <a:spLocks noRot="1" noChangeAspect="1" noMove="1" noResize="1" noEditPoints="1" noAdjustHandles="1" noChangeArrowheads="1" noChangeShapeType="1" noTextEdit="1"/>
              </p:cNvSpPr>
              <p:nvPr/>
            </p:nvSpPr>
            <p:spPr>
              <a:xfrm>
                <a:off x="9958772" y="4968675"/>
                <a:ext cx="1978926" cy="832514"/>
              </a:xfrm>
              <a:prstGeom prst="roundRect">
                <a:avLst/>
              </a:prstGeom>
              <a:blipFill>
                <a:blip r:embed="rId6"/>
                <a:stretch>
                  <a:fillRect/>
                </a:stretch>
              </a:blipFill>
              <a:ln>
                <a:solidFill>
                  <a:schemeClr val="tx1"/>
                </a:solidFill>
              </a:ln>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9" name="Rectangle: Rounded Corners 18">
                <a:extLst>
                  <a:ext uri="{FF2B5EF4-FFF2-40B4-BE49-F238E27FC236}">
                    <a16:creationId xmlns:a16="http://schemas.microsoft.com/office/drawing/2014/main" id="{F6876BC7-BE35-7208-58F0-DBE08BB1DE71}"/>
                  </a:ext>
                </a:extLst>
              </p:cNvPr>
              <p:cNvSpPr/>
              <p:nvPr/>
            </p:nvSpPr>
            <p:spPr>
              <a:xfrm>
                <a:off x="5798757" y="3445676"/>
                <a:ext cx="1978926" cy="832514"/>
              </a:xfrm>
              <a:prstGeom prst="round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b="1" dirty="0">
                    <a:solidFill>
                      <a:schemeClr val="tx1"/>
                    </a:solidFill>
                  </a:rPr>
                  <a:t>SST</a:t>
                </a:r>
              </a:p>
              <a:p>
                <a:pPr algn="ctr"/>
                <a14:m>
                  <m:oMathPara xmlns:m="http://schemas.openxmlformats.org/officeDocument/2006/math">
                    <m:oMathParaPr>
                      <m:jc m:val="centerGroup"/>
                    </m:oMathParaPr>
                    <m:oMath xmlns:m="http://schemas.openxmlformats.org/officeDocument/2006/math">
                      <m:r>
                        <a:rPr lang="en-NZ" sz="1600" b="0" i="1" smtClean="0">
                          <a:solidFill>
                            <a:schemeClr val="tx1"/>
                          </a:solidFill>
                          <a:latin typeface="Cambria Math" panose="02040503050406030204" pitchFamily="18" charset="0"/>
                        </a:rPr>
                        <m:t>𝑑</m:t>
                      </m:r>
                      <m:sSub>
                        <m:sSubPr>
                          <m:ctrlPr>
                            <a:rPr lang="en-NZ" sz="1600" b="0" i="1" smtClean="0">
                              <a:solidFill>
                                <a:schemeClr val="tx1"/>
                              </a:solidFill>
                              <a:latin typeface="Cambria Math" panose="02040503050406030204" pitchFamily="18" charset="0"/>
                            </a:rPr>
                          </m:ctrlPr>
                        </m:sSubPr>
                        <m:e>
                          <m:r>
                            <a:rPr lang="en-NZ" sz="1600" b="0" i="1" smtClean="0">
                              <a:solidFill>
                                <a:schemeClr val="tx1"/>
                              </a:solidFill>
                              <a:latin typeface="Cambria Math" panose="02040503050406030204" pitchFamily="18" charset="0"/>
                            </a:rPr>
                            <m:t>𝑓</m:t>
                          </m:r>
                        </m:e>
                        <m:sub>
                          <m:r>
                            <a:rPr lang="en-NZ" sz="1600" b="0" i="1" smtClean="0">
                              <a:solidFill>
                                <a:schemeClr val="tx1"/>
                              </a:solidFill>
                              <a:latin typeface="Cambria Math" panose="02040503050406030204" pitchFamily="18" charset="0"/>
                            </a:rPr>
                            <m:t>𝑆𝑆𝑇</m:t>
                          </m:r>
                        </m:sub>
                      </m:sSub>
                      <m:r>
                        <a:rPr lang="en-NZ" sz="1600" b="0" i="1" smtClean="0">
                          <a:solidFill>
                            <a:schemeClr val="tx1"/>
                          </a:solidFill>
                          <a:latin typeface="Cambria Math" panose="02040503050406030204" pitchFamily="18" charset="0"/>
                        </a:rPr>
                        <m:t>=</m:t>
                      </m:r>
                      <m:r>
                        <a:rPr lang="en-NZ" sz="1600" b="0" i="1" smtClean="0">
                          <a:solidFill>
                            <a:schemeClr val="tx1"/>
                          </a:solidFill>
                          <a:latin typeface="Cambria Math" panose="02040503050406030204" pitchFamily="18" charset="0"/>
                        </a:rPr>
                        <m:t>𝑎</m:t>
                      </m:r>
                      <m:r>
                        <a:rPr lang="en-NZ" sz="1600" b="0" i="1" smtClean="0">
                          <a:solidFill>
                            <a:schemeClr val="tx1"/>
                          </a:solidFill>
                          <a:latin typeface="Cambria Math" panose="02040503050406030204" pitchFamily="18" charset="0"/>
                        </a:rPr>
                        <m:t>−1</m:t>
                      </m:r>
                    </m:oMath>
                  </m:oMathPara>
                </a14:m>
                <a:endParaRPr lang="en-NZ" sz="1600" dirty="0">
                  <a:solidFill>
                    <a:schemeClr val="tx1"/>
                  </a:solidFill>
                </a:endParaRPr>
              </a:p>
            </p:txBody>
          </p:sp>
        </mc:Choice>
        <mc:Fallback xmlns="">
          <p:sp>
            <p:nvSpPr>
              <p:cNvPr id="19" name="Rectangle: Rounded Corners 18">
                <a:extLst>
                  <a:ext uri="{FF2B5EF4-FFF2-40B4-BE49-F238E27FC236}">
                    <a16:creationId xmlns:a16="http://schemas.microsoft.com/office/drawing/2014/main" id="{F6876BC7-BE35-7208-58F0-DBE08BB1DE71}"/>
                  </a:ext>
                </a:extLst>
              </p:cNvPr>
              <p:cNvSpPr>
                <a:spLocks noRot="1" noChangeAspect="1" noMove="1" noResize="1" noEditPoints="1" noAdjustHandles="1" noChangeArrowheads="1" noChangeShapeType="1" noTextEdit="1"/>
              </p:cNvSpPr>
              <p:nvPr/>
            </p:nvSpPr>
            <p:spPr>
              <a:xfrm>
                <a:off x="5798757" y="3445676"/>
                <a:ext cx="1978926" cy="832514"/>
              </a:xfrm>
              <a:prstGeom prst="roundRect">
                <a:avLst/>
              </a:prstGeom>
              <a:blipFill>
                <a:blip r:embed="rId7"/>
                <a:stretch>
                  <a:fillRect/>
                </a:stretch>
              </a:blipFill>
              <a:ln>
                <a:solidFill>
                  <a:schemeClr val="tx1"/>
                </a:solidFill>
              </a:ln>
            </p:spPr>
            <p:txBody>
              <a:bodyPr/>
              <a:lstStyle/>
              <a:p>
                <a:r>
                  <a:rPr lang="en-NZ">
                    <a:noFill/>
                  </a:rPr>
                  <a:t> </a:t>
                </a:r>
              </a:p>
            </p:txBody>
          </p:sp>
        </mc:Fallback>
      </mc:AlternateContent>
      <p:cxnSp>
        <p:nvCxnSpPr>
          <p:cNvPr id="20" name="Straight Connector 19">
            <a:extLst>
              <a:ext uri="{FF2B5EF4-FFF2-40B4-BE49-F238E27FC236}">
                <a16:creationId xmlns:a16="http://schemas.microsoft.com/office/drawing/2014/main" id="{C33F9402-E0EA-60A6-2AA4-AB3F75C1F0B5}"/>
              </a:ext>
            </a:extLst>
          </p:cNvPr>
          <p:cNvCxnSpPr>
            <a:cxnSpLocks/>
            <a:stCxn id="11" idx="2"/>
          </p:cNvCxnSpPr>
          <p:nvPr/>
        </p:nvCxnSpPr>
        <p:spPr>
          <a:xfrm>
            <a:off x="8868227" y="2755190"/>
            <a:ext cx="0" cy="361803"/>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FA29A68-C12C-05C7-D2B2-5B7067E0731D}"/>
              </a:ext>
            </a:extLst>
          </p:cNvPr>
          <p:cNvCxnSpPr>
            <a:cxnSpLocks/>
          </p:cNvCxnSpPr>
          <p:nvPr/>
        </p:nvCxnSpPr>
        <p:spPr>
          <a:xfrm flipH="1">
            <a:off x="6770370" y="3116993"/>
            <a:ext cx="3230621"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C17A6BB-DFB2-F1F1-7196-5322B7E3ACC1}"/>
              </a:ext>
            </a:extLst>
          </p:cNvPr>
          <p:cNvCxnSpPr>
            <a:cxnSpLocks/>
          </p:cNvCxnSpPr>
          <p:nvPr/>
        </p:nvCxnSpPr>
        <p:spPr>
          <a:xfrm>
            <a:off x="6770370" y="3116992"/>
            <a:ext cx="0" cy="361803"/>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50EF814-DD1C-8FF9-0E66-E0F736F5D95F}"/>
              </a:ext>
            </a:extLst>
          </p:cNvPr>
          <p:cNvCxnSpPr>
            <a:cxnSpLocks/>
          </p:cNvCxnSpPr>
          <p:nvPr/>
        </p:nvCxnSpPr>
        <p:spPr>
          <a:xfrm>
            <a:off x="9988342" y="3116992"/>
            <a:ext cx="0" cy="361803"/>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ED7F89F-F070-0E1F-9F1A-4B4D0AA385D4}"/>
              </a:ext>
            </a:extLst>
          </p:cNvPr>
          <p:cNvCxnSpPr>
            <a:cxnSpLocks/>
          </p:cNvCxnSpPr>
          <p:nvPr/>
        </p:nvCxnSpPr>
        <p:spPr>
          <a:xfrm>
            <a:off x="10002988" y="4291984"/>
            <a:ext cx="0" cy="361803"/>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FF1E42C-F854-B401-41BD-55A447755498}"/>
              </a:ext>
            </a:extLst>
          </p:cNvPr>
          <p:cNvCxnSpPr>
            <a:cxnSpLocks/>
            <a:stCxn id="19" idx="2"/>
          </p:cNvCxnSpPr>
          <p:nvPr/>
        </p:nvCxnSpPr>
        <p:spPr>
          <a:xfrm>
            <a:off x="6788220" y="4278190"/>
            <a:ext cx="0" cy="682456"/>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2FC1CE2-186A-32FA-EE16-0B5DF77C607C}"/>
              </a:ext>
            </a:extLst>
          </p:cNvPr>
          <p:cNvCxnSpPr>
            <a:cxnSpLocks/>
          </p:cNvCxnSpPr>
          <p:nvPr/>
        </p:nvCxnSpPr>
        <p:spPr>
          <a:xfrm flipH="1">
            <a:off x="8868227" y="4653787"/>
            <a:ext cx="2080008"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175FBAA-AF89-9F2D-3BBA-6D351684471C}"/>
              </a:ext>
            </a:extLst>
          </p:cNvPr>
          <p:cNvCxnSpPr>
            <a:cxnSpLocks/>
            <a:endCxn id="17" idx="0"/>
          </p:cNvCxnSpPr>
          <p:nvPr/>
        </p:nvCxnSpPr>
        <p:spPr>
          <a:xfrm>
            <a:off x="8867949" y="4653786"/>
            <a:ext cx="278" cy="314889"/>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B6E6314-E046-18D2-8E1B-7708BB2FAD67}"/>
              </a:ext>
            </a:extLst>
          </p:cNvPr>
          <p:cNvCxnSpPr>
            <a:cxnSpLocks/>
            <a:endCxn id="18" idx="0"/>
          </p:cNvCxnSpPr>
          <p:nvPr/>
        </p:nvCxnSpPr>
        <p:spPr>
          <a:xfrm>
            <a:off x="10948235" y="4653786"/>
            <a:ext cx="0" cy="314889"/>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9" name="Title 6">
            <a:extLst>
              <a:ext uri="{FF2B5EF4-FFF2-40B4-BE49-F238E27FC236}">
                <a16:creationId xmlns:a16="http://schemas.microsoft.com/office/drawing/2014/main" id="{CAD6720D-2F00-3E95-18B3-F13262BAD034}"/>
              </a:ext>
            </a:extLst>
          </p:cNvPr>
          <p:cNvSpPr txBox="1">
            <a:spLocks/>
          </p:cNvSpPr>
          <p:nvPr/>
        </p:nvSpPr>
        <p:spPr>
          <a:xfrm>
            <a:off x="5767914" y="1381669"/>
            <a:ext cx="6200069" cy="374256"/>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ctr" defTabSz="914324" rtl="0" eaLnBrk="1" fontAlgn="auto" latinLnBrk="0" hangingPunct="1">
              <a:lnSpc>
                <a:spcPct val="90000"/>
              </a:lnSpc>
              <a:spcBef>
                <a:spcPct val="0"/>
              </a:spcBef>
              <a:spcAft>
                <a:spcPts val="0"/>
              </a:spcAft>
              <a:buClrTx/>
              <a:buSzTx/>
              <a:buFontTx/>
              <a:buNone/>
              <a:tabLst/>
              <a:defRPr/>
            </a:pPr>
            <a:r>
              <a:rPr kumimoji="1" lang="en-US" altLang="ja-JP" sz="18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Sums of Squares Decomposition</a:t>
            </a:r>
            <a:endParaRPr kumimoji="1" lang="ja-JP" altLang="en-US" sz="18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31" name="Text Placeholder 5">
            <a:extLst>
              <a:ext uri="{FF2B5EF4-FFF2-40B4-BE49-F238E27FC236}">
                <a16:creationId xmlns:a16="http://schemas.microsoft.com/office/drawing/2014/main" id="{4C8E36B4-59B3-E7E6-6B22-990725D13ED5}"/>
              </a:ext>
            </a:extLst>
          </p:cNvPr>
          <p:cNvSpPr txBox="1">
            <a:spLocks/>
          </p:cNvSpPr>
          <p:nvPr/>
        </p:nvSpPr>
        <p:spPr>
          <a:xfrm>
            <a:off x="4382354" y="3553147"/>
            <a:ext cx="1416403" cy="6824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dirty="0">
                <a:solidFill>
                  <a:srgbClr val="C00000"/>
                </a:solidFill>
              </a:rPr>
              <a:t>One-Way ANOVA</a:t>
            </a:r>
          </a:p>
          <a:p>
            <a:pPr algn="ctr">
              <a:lnSpc>
                <a:spcPct val="100000"/>
              </a:lnSpc>
            </a:pPr>
            <a:endParaRPr lang="en-NZ" altLang="ja-JP" sz="1800" dirty="0">
              <a:solidFill>
                <a:srgbClr val="C00000"/>
              </a:solidFill>
            </a:endParaRPr>
          </a:p>
        </p:txBody>
      </p:sp>
      <p:sp>
        <p:nvSpPr>
          <p:cNvPr id="32" name="Text Placeholder 5">
            <a:extLst>
              <a:ext uri="{FF2B5EF4-FFF2-40B4-BE49-F238E27FC236}">
                <a16:creationId xmlns:a16="http://schemas.microsoft.com/office/drawing/2014/main" id="{F934D8E0-30E6-C6AC-D1E1-E18E63243A20}"/>
              </a:ext>
            </a:extLst>
          </p:cNvPr>
          <p:cNvSpPr txBox="1">
            <a:spLocks/>
          </p:cNvSpPr>
          <p:nvPr/>
        </p:nvSpPr>
        <p:spPr>
          <a:xfrm>
            <a:off x="4382354" y="5043704"/>
            <a:ext cx="1416403" cy="6824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dirty="0">
                <a:solidFill>
                  <a:srgbClr val="C00000"/>
                </a:solidFill>
              </a:rPr>
              <a:t>Randomised Block Design</a:t>
            </a:r>
          </a:p>
          <a:p>
            <a:pPr algn="ctr">
              <a:lnSpc>
                <a:spcPct val="100000"/>
              </a:lnSpc>
            </a:pPr>
            <a:endParaRPr lang="en-NZ" altLang="ja-JP" sz="1800" dirty="0">
              <a:solidFill>
                <a:srgbClr val="C00000"/>
              </a:solidFill>
            </a:endParaRPr>
          </a:p>
        </p:txBody>
      </p:sp>
      <p:cxnSp>
        <p:nvCxnSpPr>
          <p:cNvPr id="7" name="Straight Connector 6">
            <a:extLst>
              <a:ext uri="{FF2B5EF4-FFF2-40B4-BE49-F238E27FC236}">
                <a16:creationId xmlns:a16="http://schemas.microsoft.com/office/drawing/2014/main" id="{020CAE93-33F7-335C-2444-B98D27F43E46}"/>
              </a:ext>
            </a:extLst>
          </p:cNvPr>
          <p:cNvCxnSpPr>
            <a:cxnSpLocks/>
          </p:cNvCxnSpPr>
          <p:nvPr/>
        </p:nvCxnSpPr>
        <p:spPr>
          <a:xfrm>
            <a:off x="4559725" y="3426427"/>
            <a:ext cx="7408258" cy="33043"/>
          </a:xfrm>
          <a:prstGeom prst="line">
            <a:avLst/>
          </a:prstGeom>
          <a:ln>
            <a:solidFill>
              <a:srgbClr val="C00000"/>
            </a:solidFill>
            <a:prstDash val="lgDash"/>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C482412-FFE9-9490-038E-CBB93ED4952B}"/>
              </a:ext>
            </a:extLst>
          </p:cNvPr>
          <p:cNvCxnSpPr>
            <a:cxnSpLocks/>
          </p:cNvCxnSpPr>
          <p:nvPr/>
        </p:nvCxnSpPr>
        <p:spPr>
          <a:xfrm>
            <a:off x="4559725" y="4277589"/>
            <a:ext cx="7408258" cy="33043"/>
          </a:xfrm>
          <a:prstGeom prst="line">
            <a:avLst/>
          </a:prstGeom>
          <a:ln>
            <a:solidFill>
              <a:srgbClr val="C00000"/>
            </a:solidFill>
            <a:prstDash val="lgDash"/>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0A284ED-BDA0-48B7-76A2-19D9EB575BB8}"/>
              </a:ext>
            </a:extLst>
          </p:cNvPr>
          <p:cNvCxnSpPr>
            <a:cxnSpLocks/>
          </p:cNvCxnSpPr>
          <p:nvPr/>
        </p:nvCxnSpPr>
        <p:spPr>
          <a:xfrm>
            <a:off x="4511823" y="4927603"/>
            <a:ext cx="7408258" cy="33043"/>
          </a:xfrm>
          <a:prstGeom prst="line">
            <a:avLst/>
          </a:prstGeom>
          <a:ln>
            <a:solidFill>
              <a:srgbClr val="C00000"/>
            </a:solidFill>
            <a:prstDash val="lgDash"/>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9B4AC9E-4F11-49D7-B5E2-5BB0122DDAB3}"/>
              </a:ext>
            </a:extLst>
          </p:cNvPr>
          <p:cNvCxnSpPr>
            <a:cxnSpLocks/>
          </p:cNvCxnSpPr>
          <p:nvPr/>
        </p:nvCxnSpPr>
        <p:spPr>
          <a:xfrm>
            <a:off x="4511823" y="5771752"/>
            <a:ext cx="7408258" cy="33043"/>
          </a:xfrm>
          <a:prstGeom prst="line">
            <a:avLst/>
          </a:prstGeom>
          <a:ln>
            <a:solidFill>
              <a:srgbClr val="C00000"/>
            </a:solidFill>
            <a:prstDash val="lgDash"/>
          </a:ln>
        </p:spPr>
        <p:style>
          <a:lnRef idx="1">
            <a:schemeClr val="accent1"/>
          </a:lnRef>
          <a:fillRef idx="0">
            <a:schemeClr val="accent1"/>
          </a:fillRef>
          <a:effectRef idx="0">
            <a:schemeClr val="accent1"/>
          </a:effectRef>
          <a:fontRef idx="minor">
            <a:schemeClr val="tx1"/>
          </a:fontRef>
        </p:style>
      </p:cxnSp>
      <p:sp>
        <p:nvSpPr>
          <p:cNvPr id="33" name="Footer Placeholder 2">
            <a:extLst>
              <a:ext uri="{FF2B5EF4-FFF2-40B4-BE49-F238E27FC236}">
                <a16:creationId xmlns:a16="http://schemas.microsoft.com/office/drawing/2014/main" id="{21282DE4-7D3A-BA74-D96E-8EFCA389592C}"/>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4.3 – </a:t>
            </a:r>
            <a:r>
              <a:rPr kumimoji="1" lang="en-US" altLang="ja-JP" sz="1600" dirty="0">
                <a:solidFill>
                  <a:srgbClr val="DEDDDD"/>
                </a:solidFill>
                <a:latin typeface="Gidole"/>
                <a:ea typeface="游ゴシック" panose="020B0400000000000000" pitchFamily="34" charset="-128"/>
              </a:rPr>
              <a:t>Fixed Effects Model</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37" name="Text Placeholder 5">
                <a:extLst>
                  <a:ext uri="{FF2B5EF4-FFF2-40B4-BE49-F238E27FC236}">
                    <a16:creationId xmlns:a16="http://schemas.microsoft.com/office/drawing/2014/main" id="{49F487C5-C13D-24C7-6877-45A092B7E04D}"/>
                  </a:ext>
                </a:extLst>
              </p:cNvPr>
              <p:cNvSpPr txBox="1">
                <a:spLocks/>
              </p:cNvSpPr>
              <p:nvPr/>
            </p:nvSpPr>
            <p:spPr>
              <a:xfrm>
                <a:off x="5491778" y="2008735"/>
                <a:ext cx="1338057" cy="83251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Para xmlns:m="http://schemas.openxmlformats.org/officeDocument/2006/math">
                    <m:oMathParaPr>
                      <m:jc m:val="center"/>
                    </m:oMathParaPr>
                    <m:oMath xmlns:m="http://schemas.openxmlformats.org/officeDocument/2006/math">
                      <m:r>
                        <a:rPr lang="en-NZ" altLang="ja-JP" sz="1700" b="1" i="1" smtClean="0">
                          <a:solidFill>
                            <a:srgbClr val="C00000"/>
                          </a:solidFill>
                          <a:latin typeface="Cambria Math" panose="02040503050406030204" pitchFamily="18" charset="0"/>
                        </a:rPr>
                        <m:t>𝑭</m:t>
                      </m:r>
                      <m:r>
                        <a:rPr lang="en-NZ" altLang="ja-JP" sz="1700" b="1" i="1" smtClean="0">
                          <a:solidFill>
                            <a:srgbClr val="C00000"/>
                          </a:solidFill>
                          <a:latin typeface="Cambria Math" panose="02040503050406030204" pitchFamily="18" charset="0"/>
                        </a:rPr>
                        <m:t> =  </m:t>
                      </m:r>
                      <m:f>
                        <m:fPr>
                          <m:ctrlPr>
                            <a:rPr lang="en-NZ" altLang="ja-JP" sz="1700" b="1" i="1" smtClean="0">
                              <a:solidFill>
                                <a:srgbClr val="C00000"/>
                              </a:solidFill>
                              <a:latin typeface="Cambria Math" panose="02040503050406030204" pitchFamily="18" charset="0"/>
                            </a:rPr>
                          </m:ctrlPr>
                        </m:fPr>
                        <m:num>
                          <m:r>
                            <a:rPr lang="en-NZ" altLang="ja-JP" sz="1700" b="1" i="1" smtClean="0">
                              <a:solidFill>
                                <a:srgbClr val="C00000"/>
                              </a:solidFill>
                              <a:latin typeface="Cambria Math" panose="02040503050406030204" pitchFamily="18" charset="0"/>
                            </a:rPr>
                            <m:t>𝑴𝑺𝑻</m:t>
                          </m:r>
                        </m:num>
                        <m:den>
                          <m:r>
                            <a:rPr lang="en-NZ" altLang="ja-JP" sz="1700" b="1" i="1" smtClean="0">
                              <a:solidFill>
                                <a:srgbClr val="C00000"/>
                              </a:solidFill>
                              <a:latin typeface="Cambria Math" panose="02040503050406030204" pitchFamily="18" charset="0"/>
                            </a:rPr>
                            <m:t>𝑴𝑺𝑬</m:t>
                          </m:r>
                        </m:den>
                      </m:f>
                    </m:oMath>
                  </m:oMathPara>
                </a14:m>
                <a:endParaRPr lang="en-NZ" altLang="ja-JP" sz="1700" b="1" dirty="0">
                  <a:solidFill>
                    <a:srgbClr val="C00000"/>
                  </a:solidFill>
                </a:endParaRPr>
              </a:p>
            </p:txBody>
          </p:sp>
        </mc:Choice>
        <mc:Fallback xmlns="">
          <p:sp>
            <p:nvSpPr>
              <p:cNvPr id="37" name="Text Placeholder 5">
                <a:extLst>
                  <a:ext uri="{FF2B5EF4-FFF2-40B4-BE49-F238E27FC236}">
                    <a16:creationId xmlns:a16="http://schemas.microsoft.com/office/drawing/2014/main" id="{49F487C5-C13D-24C7-6877-45A092B7E04D}"/>
                  </a:ext>
                </a:extLst>
              </p:cNvPr>
              <p:cNvSpPr txBox="1">
                <a:spLocks noRot="1" noChangeAspect="1" noMove="1" noResize="1" noEditPoints="1" noAdjustHandles="1" noChangeArrowheads="1" noChangeShapeType="1" noTextEdit="1"/>
              </p:cNvSpPr>
              <p:nvPr/>
            </p:nvSpPr>
            <p:spPr>
              <a:xfrm>
                <a:off x="5491778" y="2008735"/>
                <a:ext cx="1338057" cy="832514"/>
              </a:xfrm>
              <a:prstGeom prst="rect">
                <a:avLst/>
              </a:prstGeom>
              <a:blipFill>
                <a:blip r:embed="rId8"/>
                <a:stretch>
                  <a:fillRect/>
                </a:stretch>
              </a:blipFill>
            </p:spPr>
            <p:txBody>
              <a:bodyPr/>
              <a:lstStyle/>
              <a:p>
                <a:r>
                  <a:rPr lang="en-NZ">
                    <a:noFill/>
                  </a:rPr>
                  <a:t> </a:t>
                </a:r>
              </a:p>
            </p:txBody>
          </p:sp>
        </mc:Fallback>
      </mc:AlternateContent>
    </p:spTree>
    <p:extLst>
      <p:ext uri="{BB962C8B-B14F-4D97-AF65-F5344CB8AC3E}">
        <p14:creationId xmlns:p14="http://schemas.microsoft.com/office/powerpoint/2010/main" val="36213772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7F14062D-E1C1-4F63-B0FD-D013BDA5782B}"/>
              </a:ext>
            </a:extLst>
          </p:cNvPr>
          <p:cNvSpPr txBox="1"/>
          <p:nvPr/>
        </p:nvSpPr>
        <p:spPr>
          <a:xfrm>
            <a:off x="43707" y="2844225"/>
            <a:ext cx="12104586" cy="7848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4.4 </a:t>
            </a:r>
            <a:r>
              <a:rPr kumimoji="0" lang="en-NZ" sz="4500" b="1" i="0" u="none" strike="noStrike" kern="1200" cap="none" spc="0" normalizeH="0" baseline="0" noProof="0">
                <a:ln>
                  <a:noFill/>
                </a:ln>
                <a:solidFill>
                  <a:srgbClr val="FFC000"/>
                </a:solidFill>
                <a:effectLst/>
                <a:uLnTx/>
                <a:uFillTx/>
                <a:latin typeface="Calibri" panose="020F0502020204030204"/>
                <a:ea typeface="+mn-ea"/>
                <a:cs typeface="+mn-cs"/>
              </a:rPr>
              <a:t>– Mixed</a:t>
            </a:r>
            <a:r>
              <a:rPr lang="en-NZ" sz="4500" b="1">
                <a:solidFill>
                  <a:srgbClr val="FFC000"/>
                </a:solidFill>
                <a:latin typeface="Calibri" panose="020F0502020204030204"/>
              </a:rPr>
              <a:t> Effects Model</a:t>
            </a:r>
            <a:endPar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68966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3" name="Title 6">
            <a:extLst>
              <a:ext uri="{FF2B5EF4-FFF2-40B4-BE49-F238E27FC236}">
                <a16:creationId xmlns:a16="http://schemas.microsoft.com/office/drawing/2014/main" id="{539E1FA8-24B4-FFD9-7C26-8B31D6C98125}"/>
              </a:ext>
            </a:extLst>
          </p:cNvPr>
          <p:cNvSpPr txBox="1">
            <a:spLocks/>
          </p:cNvSpPr>
          <p:nvPr/>
        </p:nvSpPr>
        <p:spPr>
          <a:xfrm>
            <a:off x="251224" y="237833"/>
            <a:ext cx="4684334"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Recap of Last Lecture</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5" name="Text Placeholder 5">
            <a:extLst>
              <a:ext uri="{FF2B5EF4-FFF2-40B4-BE49-F238E27FC236}">
                <a16:creationId xmlns:a16="http://schemas.microsoft.com/office/drawing/2014/main" id="{3543E36E-8489-E38A-326C-ACA1964A7E9E}"/>
              </a:ext>
            </a:extLst>
          </p:cNvPr>
          <p:cNvSpPr txBox="1">
            <a:spLocks/>
          </p:cNvSpPr>
          <p:nvPr/>
        </p:nvSpPr>
        <p:spPr>
          <a:xfrm>
            <a:off x="251223" y="2583006"/>
            <a:ext cx="3858982" cy="3305194"/>
          </a:xfrm>
          <a:prstGeom prst="rect">
            <a:avLst/>
          </a:prstGeom>
          <a:ln>
            <a:solidFill>
              <a:schemeClr val="bg2">
                <a:lumMod val="50000"/>
              </a:schemeClr>
            </a:solidFill>
          </a:ln>
        </p:spPr>
        <p:txBody>
          <a:bodyPr anchor="ct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2800" dirty="0">
                <a:solidFill>
                  <a:srgbClr val="C00000"/>
                </a:solidFill>
              </a:rPr>
              <a:t>The process of blocking within a RBD accounts for a substantial source of variance giving greater power to test for the effect of a treatment</a:t>
            </a:r>
            <a:endParaRPr lang="en-NZ" altLang="ja-JP" sz="2800" dirty="0">
              <a:solidFill>
                <a:schemeClr val="tx1"/>
              </a:solidFill>
            </a:endParaRPr>
          </a:p>
        </p:txBody>
      </p:sp>
      <mc:AlternateContent xmlns:mc="http://schemas.openxmlformats.org/markup-compatibility/2006" xmlns:a14="http://schemas.microsoft.com/office/drawing/2010/main">
        <mc:Choice Requires="a14">
          <p:sp>
            <p:nvSpPr>
              <p:cNvPr id="11" name="Rectangle: Rounded Corners 10">
                <a:extLst>
                  <a:ext uri="{FF2B5EF4-FFF2-40B4-BE49-F238E27FC236}">
                    <a16:creationId xmlns:a16="http://schemas.microsoft.com/office/drawing/2014/main" id="{861B0FF9-C008-3F26-D2C5-2C373E5BD419}"/>
                  </a:ext>
                </a:extLst>
              </p:cNvPr>
              <p:cNvSpPr/>
              <p:nvPr/>
            </p:nvSpPr>
            <p:spPr>
              <a:xfrm>
                <a:off x="7878764" y="1922676"/>
                <a:ext cx="1978926" cy="832514"/>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b="1" dirty="0">
                    <a:solidFill>
                      <a:schemeClr val="bg1"/>
                    </a:solidFill>
                  </a:rPr>
                  <a:t>TSS</a:t>
                </a:r>
              </a:p>
              <a:p>
                <a:pPr algn="ctr"/>
                <a14:m>
                  <m:oMathPara xmlns:m="http://schemas.openxmlformats.org/officeDocument/2006/math">
                    <m:oMathParaPr>
                      <m:jc m:val="centerGroup"/>
                    </m:oMathParaPr>
                    <m:oMath xmlns:m="http://schemas.openxmlformats.org/officeDocument/2006/math">
                      <m:r>
                        <a:rPr lang="en-NZ" sz="1600" b="0" i="1" smtClean="0">
                          <a:solidFill>
                            <a:schemeClr val="bg1"/>
                          </a:solidFill>
                          <a:latin typeface="Cambria Math" panose="02040503050406030204" pitchFamily="18" charset="0"/>
                        </a:rPr>
                        <m:t>𝑑</m:t>
                      </m:r>
                      <m:sSub>
                        <m:sSubPr>
                          <m:ctrlPr>
                            <a:rPr lang="en-NZ" sz="1600" b="0" i="1" smtClean="0">
                              <a:solidFill>
                                <a:schemeClr val="bg1"/>
                              </a:solidFill>
                              <a:latin typeface="Cambria Math" panose="02040503050406030204" pitchFamily="18" charset="0"/>
                            </a:rPr>
                          </m:ctrlPr>
                        </m:sSubPr>
                        <m:e>
                          <m:r>
                            <a:rPr lang="en-NZ" sz="1600" b="0" i="1" smtClean="0">
                              <a:solidFill>
                                <a:schemeClr val="bg1"/>
                              </a:solidFill>
                              <a:latin typeface="Cambria Math" panose="02040503050406030204" pitchFamily="18" charset="0"/>
                            </a:rPr>
                            <m:t>𝑓</m:t>
                          </m:r>
                        </m:e>
                        <m:sub>
                          <m:r>
                            <a:rPr lang="en-NZ" sz="1600" b="0" i="1" smtClean="0">
                              <a:solidFill>
                                <a:schemeClr val="bg1"/>
                              </a:solidFill>
                              <a:latin typeface="Cambria Math" panose="02040503050406030204" pitchFamily="18" charset="0"/>
                            </a:rPr>
                            <m:t>𝑇𝑆𝑆</m:t>
                          </m:r>
                        </m:sub>
                      </m:sSub>
                      <m:r>
                        <a:rPr lang="en-NZ" sz="1600" b="0" i="1" smtClean="0">
                          <a:solidFill>
                            <a:schemeClr val="bg1"/>
                          </a:solidFill>
                          <a:latin typeface="Cambria Math" panose="02040503050406030204" pitchFamily="18" charset="0"/>
                        </a:rPr>
                        <m:t>=</m:t>
                      </m:r>
                      <m:r>
                        <a:rPr lang="en-NZ" sz="1600" b="0" i="1" smtClean="0">
                          <a:solidFill>
                            <a:schemeClr val="bg1"/>
                          </a:solidFill>
                          <a:latin typeface="Cambria Math" panose="02040503050406030204" pitchFamily="18" charset="0"/>
                        </a:rPr>
                        <m:t>𝑁</m:t>
                      </m:r>
                      <m:r>
                        <a:rPr lang="en-NZ" sz="1600" b="0" i="1" smtClean="0">
                          <a:solidFill>
                            <a:schemeClr val="bg1"/>
                          </a:solidFill>
                          <a:latin typeface="Cambria Math" panose="02040503050406030204" pitchFamily="18" charset="0"/>
                        </a:rPr>
                        <m:t>−1</m:t>
                      </m:r>
                    </m:oMath>
                  </m:oMathPara>
                </a14:m>
                <a:endParaRPr lang="en-NZ" sz="1600" dirty="0">
                  <a:solidFill>
                    <a:schemeClr val="bg1"/>
                  </a:solidFill>
                </a:endParaRPr>
              </a:p>
            </p:txBody>
          </p:sp>
        </mc:Choice>
        <mc:Fallback xmlns="">
          <p:sp>
            <p:nvSpPr>
              <p:cNvPr id="11" name="Rectangle: Rounded Corners 10">
                <a:extLst>
                  <a:ext uri="{FF2B5EF4-FFF2-40B4-BE49-F238E27FC236}">
                    <a16:creationId xmlns:a16="http://schemas.microsoft.com/office/drawing/2014/main" id="{861B0FF9-C008-3F26-D2C5-2C373E5BD419}"/>
                  </a:ext>
                </a:extLst>
              </p:cNvPr>
              <p:cNvSpPr>
                <a:spLocks noRot="1" noChangeAspect="1" noMove="1" noResize="1" noEditPoints="1" noAdjustHandles="1" noChangeArrowheads="1" noChangeShapeType="1" noTextEdit="1"/>
              </p:cNvSpPr>
              <p:nvPr/>
            </p:nvSpPr>
            <p:spPr>
              <a:xfrm>
                <a:off x="7878764" y="1922676"/>
                <a:ext cx="1978926" cy="832514"/>
              </a:xfrm>
              <a:prstGeom prst="roundRect">
                <a:avLst/>
              </a:prstGeom>
              <a:blipFill>
                <a:blip r:embed="rId2"/>
                <a:stretch>
                  <a:fillRect/>
                </a:stretch>
              </a:blipFill>
              <a:ln>
                <a:solidFill>
                  <a:schemeClr val="tx1"/>
                </a:solidFill>
              </a:ln>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4" name="Rectangle: Rounded Corners 13">
                <a:extLst>
                  <a:ext uri="{FF2B5EF4-FFF2-40B4-BE49-F238E27FC236}">
                    <a16:creationId xmlns:a16="http://schemas.microsoft.com/office/drawing/2014/main" id="{C298A31C-0EDB-B60C-88D5-DA67E0AC6EA1}"/>
                  </a:ext>
                </a:extLst>
              </p:cNvPr>
              <p:cNvSpPr/>
              <p:nvPr/>
            </p:nvSpPr>
            <p:spPr>
              <a:xfrm>
                <a:off x="9011528" y="3459470"/>
                <a:ext cx="1978926" cy="832514"/>
              </a:xfrm>
              <a:prstGeom prst="roundRect">
                <a:avLst/>
              </a:prstGeom>
              <a:solidFill>
                <a:schemeClr val="tx1">
                  <a:lumMod val="75000"/>
                  <a:lumOff val="2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b="1">
                    <a:solidFill>
                      <a:schemeClr val="bg1"/>
                    </a:solidFill>
                  </a:rPr>
                  <a:t>SSE</a:t>
                </a:r>
                <a:r>
                  <a:rPr lang="en-NZ" b="1" baseline="-25000">
                    <a:solidFill>
                      <a:schemeClr val="bg1"/>
                    </a:solidFill>
                  </a:rPr>
                  <a:t>0</a:t>
                </a:r>
                <a:endParaRPr lang="en-NZ" b="1" dirty="0">
                  <a:solidFill>
                    <a:schemeClr val="bg1"/>
                  </a:solidFill>
                </a:endParaRPr>
              </a:p>
              <a:p>
                <a:pPr algn="ctr"/>
                <a14:m>
                  <m:oMathPara xmlns:m="http://schemas.openxmlformats.org/officeDocument/2006/math">
                    <m:oMathParaPr>
                      <m:jc m:val="centerGroup"/>
                    </m:oMathParaPr>
                    <m:oMath xmlns:m="http://schemas.openxmlformats.org/officeDocument/2006/math">
                      <m:r>
                        <a:rPr lang="en-NZ" sz="1600" b="0" i="1" smtClean="0">
                          <a:solidFill>
                            <a:schemeClr val="bg1"/>
                          </a:solidFill>
                          <a:latin typeface="Cambria Math" panose="02040503050406030204" pitchFamily="18" charset="0"/>
                        </a:rPr>
                        <m:t>𝑑</m:t>
                      </m:r>
                      <m:sSub>
                        <m:sSubPr>
                          <m:ctrlPr>
                            <a:rPr lang="en-NZ" sz="1600" b="0" i="1" smtClean="0">
                              <a:solidFill>
                                <a:schemeClr val="bg1"/>
                              </a:solidFill>
                              <a:latin typeface="Cambria Math" panose="02040503050406030204" pitchFamily="18" charset="0"/>
                            </a:rPr>
                          </m:ctrlPr>
                        </m:sSubPr>
                        <m:e>
                          <m:r>
                            <a:rPr lang="en-NZ" sz="1600" b="0" i="1" smtClean="0">
                              <a:solidFill>
                                <a:schemeClr val="bg1"/>
                              </a:solidFill>
                              <a:latin typeface="Cambria Math" panose="02040503050406030204" pitchFamily="18" charset="0"/>
                            </a:rPr>
                            <m:t>𝑓</m:t>
                          </m:r>
                        </m:e>
                        <m:sub>
                          <m:r>
                            <a:rPr lang="en-NZ" sz="1600" b="0" i="1" smtClean="0">
                              <a:solidFill>
                                <a:schemeClr val="bg1"/>
                              </a:solidFill>
                              <a:latin typeface="Cambria Math" panose="02040503050406030204" pitchFamily="18" charset="0"/>
                            </a:rPr>
                            <m:t>𝑆𝑆</m:t>
                          </m:r>
                          <m:sSub>
                            <m:sSubPr>
                              <m:ctrlPr>
                                <a:rPr lang="en-NZ" sz="1600" b="0" i="1" smtClean="0">
                                  <a:solidFill>
                                    <a:schemeClr val="bg1"/>
                                  </a:solidFill>
                                  <a:latin typeface="Cambria Math" panose="02040503050406030204" pitchFamily="18" charset="0"/>
                                </a:rPr>
                              </m:ctrlPr>
                            </m:sSubPr>
                            <m:e>
                              <m:r>
                                <a:rPr lang="en-NZ" sz="1600" b="0" i="1" smtClean="0">
                                  <a:solidFill>
                                    <a:schemeClr val="bg1"/>
                                  </a:solidFill>
                                  <a:latin typeface="Cambria Math" panose="02040503050406030204" pitchFamily="18" charset="0"/>
                                </a:rPr>
                                <m:t>𝐸</m:t>
                              </m:r>
                            </m:e>
                            <m:sub>
                              <m:r>
                                <a:rPr lang="en-NZ" sz="1600" b="0" i="1" smtClean="0">
                                  <a:solidFill>
                                    <a:schemeClr val="bg1"/>
                                  </a:solidFill>
                                  <a:latin typeface="Cambria Math" panose="02040503050406030204" pitchFamily="18" charset="0"/>
                                </a:rPr>
                                <m:t>0</m:t>
                              </m:r>
                            </m:sub>
                          </m:sSub>
                        </m:sub>
                      </m:sSub>
                      <m:r>
                        <a:rPr lang="en-NZ" sz="1600" b="0" i="1" smtClean="0">
                          <a:solidFill>
                            <a:schemeClr val="bg1"/>
                          </a:solidFill>
                          <a:latin typeface="Cambria Math" panose="02040503050406030204" pitchFamily="18" charset="0"/>
                        </a:rPr>
                        <m:t>=</m:t>
                      </m:r>
                      <m:r>
                        <a:rPr lang="en-NZ" sz="1600" b="0" i="1" smtClean="0">
                          <a:solidFill>
                            <a:schemeClr val="bg1"/>
                          </a:solidFill>
                          <a:latin typeface="Cambria Math" panose="02040503050406030204" pitchFamily="18" charset="0"/>
                        </a:rPr>
                        <m:t>𝑁</m:t>
                      </m:r>
                      <m:r>
                        <a:rPr lang="en-NZ" sz="1600" b="0" i="1" smtClean="0">
                          <a:solidFill>
                            <a:schemeClr val="bg1"/>
                          </a:solidFill>
                          <a:latin typeface="Cambria Math" panose="02040503050406030204" pitchFamily="18" charset="0"/>
                        </a:rPr>
                        <m:t>−</m:t>
                      </m:r>
                      <m:r>
                        <a:rPr lang="en-NZ" sz="1600" b="0" i="1" smtClean="0">
                          <a:solidFill>
                            <a:schemeClr val="bg1"/>
                          </a:solidFill>
                          <a:latin typeface="Cambria Math" panose="02040503050406030204" pitchFamily="18" charset="0"/>
                        </a:rPr>
                        <m:t>𝑎</m:t>
                      </m:r>
                    </m:oMath>
                  </m:oMathPara>
                </a14:m>
                <a:endParaRPr lang="en-NZ" sz="1600" dirty="0">
                  <a:solidFill>
                    <a:schemeClr val="bg1"/>
                  </a:solidFill>
                </a:endParaRPr>
              </a:p>
            </p:txBody>
          </p:sp>
        </mc:Choice>
        <mc:Fallback xmlns="">
          <p:sp>
            <p:nvSpPr>
              <p:cNvPr id="14" name="Rectangle: Rounded Corners 13">
                <a:extLst>
                  <a:ext uri="{FF2B5EF4-FFF2-40B4-BE49-F238E27FC236}">
                    <a16:creationId xmlns:a16="http://schemas.microsoft.com/office/drawing/2014/main" id="{C298A31C-0EDB-B60C-88D5-DA67E0AC6EA1}"/>
                  </a:ext>
                </a:extLst>
              </p:cNvPr>
              <p:cNvSpPr>
                <a:spLocks noRot="1" noChangeAspect="1" noMove="1" noResize="1" noEditPoints="1" noAdjustHandles="1" noChangeArrowheads="1" noChangeShapeType="1" noTextEdit="1"/>
              </p:cNvSpPr>
              <p:nvPr/>
            </p:nvSpPr>
            <p:spPr>
              <a:xfrm>
                <a:off x="9011528" y="3459470"/>
                <a:ext cx="1978926" cy="832514"/>
              </a:xfrm>
              <a:prstGeom prst="roundRect">
                <a:avLst/>
              </a:prstGeom>
              <a:blipFill>
                <a:blip r:embed="rId3"/>
                <a:stretch>
                  <a:fillRect/>
                </a:stretch>
              </a:blipFill>
              <a:ln>
                <a:solidFill>
                  <a:schemeClr val="tx1"/>
                </a:solidFill>
              </a:ln>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6" name="Rectangle: Rounded Corners 15">
                <a:extLst>
                  <a:ext uri="{FF2B5EF4-FFF2-40B4-BE49-F238E27FC236}">
                    <a16:creationId xmlns:a16="http://schemas.microsoft.com/office/drawing/2014/main" id="{978E9065-EA71-F895-48E5-C117E0EF31FE}"/>
                  </a:ext>
                </a:extLst>
              </p:cNvPr>
              <p:cNvSpPr/>
              <p:nvPr/>
            </p:nvSpPr>
            <p:spPr>
              <a:xfrm>
                <a:off x="5798757" y="4968675"/>
                <a:ext cx="1978926" cy="832514"/>
              </a:xfrm>
              <a:prstGeom prst="round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b="1" dirty="0">
                    <a:solidFill>
                      <a:schemeClr val="tx1"/>
                    </a:solidFill>
                  </a:rPr>
                  <a:t>SST</a:t>
                </a:r>
              </a:p>
              <a:p>
                <a:pPr algn="ctr"/>
                <a14:m>
                  <m:oMathPara xmlns:m="http://schemas.openxmlformats.org/officeDocument/2006/math">
                    <m:oMathParaPr>
                      <m:jc m:val="centerGroup"/>
                    </m:oMathParaPr>
                    <m:oMath xmlns:m="http://schemas.openxmlformats.org/officeDocument/2006/math">
                      <m:r>
                        <a:rPr lang="en-NZ" sz="1600" b="0" i="1" smtClean="0">
                          <a:solidFill>
                            <a:schemeClr val="tx1"/>
                          </a:solidFill>
                          <a:latin typeface="Cambria Math" panose="02040503050406030204" pitchFamily="18" charset="0"/>
                        </a:rPr>
                        <m:t>𝑑</m:t>
                      </m:r>
                      <m:sSub>
                        <m:sSubPr>
                          <m:ctrlPr>
                            <a:rPr lang="en-NZ" sz="1600" b="0" i="1" smtClean="0">
                              <a:solidFill>
                                <a:schemeClr val="tx1"/>
                              </a:solidFill>
                              <a:latin typeface="Cambria Math" panose="02040503050406030204" pitchFamily="18" charset="0"/>
                            </a:rPr>
                          </m:ctrlPr>
                        </m:sSubPr>
                        <m:e>
                          <m:r>
                            <a:rPr lang="en-NZ" sz="1600" b="0" i="1" smtClean="0">
                              <a:solidFill>
                                <a:schemeClr val="tx1"/>
                              </a:solidFill>
                              <a:latin typeface="Cambria Math" panose="02040503050406030204" pitchFamily="18" charset="0"/>
                            </a:rPr>
                            <m:t>𝑓</m:t>
                          </m:r>
                        </m:e>
                        <m:sub>
                          <m:r>
                            <a:rPr lang="en-NZ" sz="1600" b="0" i="1" smtClean="0">
                              <a:solidFill>
                                <a:schemeClr val="tx1"/>
                              </a:solidFill>
                              <a:latin typeface="Cambria Math" panose="02040503050406030204" pitchFamily="18" charset="0"/>
                            </a:rPr>
                            <m:t>𝑆𝑆𝑇</m:t>
                          </m:r>
                        </m:sub>
                      </m:sSub>
                      <m:r>
                        <a:rPr lang="en-NZ" sz="1600" b="0" i="1" smtClean="0">
                          <a:solidFill>
                            <a:schemeClr val="tx1"/>
                          </a:solidFill>
                          <a:latin typeface="Cambria Math" panose="02040503050406030204" pitchFamily="18" charset="0"/>
                        </a:rPr>
                        <m:t>=</m:t>
                      </m:r>
                      <m:r>
                        <a:rPr lang="en-NZ" sz="1600" b="0" i="1" smtClean="0">
                          <a:solidFill>
                            <a:schemeClr val="tx1"/>
                          </a:solidFill>
                          <a:latin typeface="Cambria Math" panose="02040503050406030204" pitchFamily="18" charset="0"/>
                        </a:rPr>
                        <m:t>𝑎</m:t>
                      </m:r>
                      <m:r>
                        <a:rPr lang="en-NZ" sz="1600" b="0" i="1" smtClean="0">
                          <a:solidFill>
                            <a:schemeClr val="tx1"/>
                          </a:solidFill>
                          <a:latin typeface="Cambria Math" panose="02040503050406030204" pitchFamily="18" charset="0"/>
                        </a:rPr>
                        <m:t>−1</m:t>
                      </m:r>
                    </m:oMath>
                  </m:oMathPara>
                </a14:m>
                <a:endParaRPr lang="en-NZ" sz="1600" dirty="0">
                  <a:solidFill>
                    <a:schemeClr val="tx1"/>
                  </a:solidFill>
                </a:endParaRPr>
              </a:p>
            </p:txBody>
          </p:sp>
        </mc:Choice>
        <mc:Fallback xmlns="">
          <p:sp>
            <p:nvSpPr>
              <p:cNvPr id="16" name="Rectangle: Rounded Corners 15">
                <a:extLst>
                  <a:ext uri="{FF2B5EF4-FFF2-40B4-BE49-F238E27FC236}">
                    <a16:creationId xmlns:a16="http://schemas.microsoft.com/office/drawing/2014/main" id="{978E9065-EA71-F895-48E5-C117E0EF31FE}"/>
                  </a:ext>
                </a:extLst>
              </p:cNvPr>
              <p:cNvSpPr>
                <a:spLocks noRot="1" noChangeAspect="1" noMove="1" noResize="1" noEditPoints="1" noAdjustHandles="1" noChangeArrowheads="1" noChangeShapeType="1" noTextEdit="1"/>
              </p:cNvSpPr>
              <p:nvPr/>
            </p:nvSpPr>
            <p:spPr>
              <a:xfrm>
                <a:off x="5798757" y="4968675"/>
                <a:ext cx="1978926" cy="832514"/>
              </a:xfrm>
              <a:prstGeom prst="roundRect">
                <a:avLst/>
              </a:prstGeom>
              <a:blipFill>
                <a:blip r:embed="rId4"/>
                <a:stretch>
                  <a:fillRect/>
                </a:stretch>
              </a:blipFill>
              <a:ln>
                <a:solidFill>
                  <a:schemeClr val="tx1"/>
                </a:solidFill>
              </a:ln>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7" name="Rectangle: Rounded Corners 16">
                <a:extLst>
                  <a:ext uri="{FF2B5EF4-FFF2-40B4-BE49-F238E27FC236}">
                    <a16:creationId xmlns:a16="http://schemas.microsoft.com/office/drawing/2014/main" id="{B25D8F98-4207-BEE1-76CA-119B34E33E28}"/>
                  </a:ext>
                </a:extLst>
              </p:cNvPr>
              <p:cNvSpPr/>
              <p:nvPr/>
            </p:nvSpPr>
            <p:spPr>
              <a:xfrm>
                <a:off x="7878764" y="4968675"/>
                <a:ext cx="1978926" cy="832514"/>
              </a:xfrm>
              <a:prstGeom prst="roundRect">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b="1" dirty="0">
                    <a:solidFill>
                      <a:schemeClr val="bg1"/>
                    </a:solidFill>
                  </a:rPr>
                  <a:t>SSB</a:t>
                </a:r>
              </a:p>
              <a:p>
                <a:pPr algn="ctr"/>
                <a14:m>
                  <m:oMathPara xmlns:m="http://schemas.openxmlformats.org/officeDocument/2006/math">
                    <m:oMathParaPr>
                      <m:jc m:val="centerGroup"/>
                    </m:oMathParaPr>
                    <m:oMath xmlns:m="http://schemas.openxmlformats.org/officeDocument/2006/math">
                      <m:r>
                        <a:rPr lang="en-NZ" sz="1600" b="0" i="1" smtClean="0">
                          <a:solidFill>
                            <a:schemeClr val="bg1"/>
                          </a:solidFill>
                          <a:latin typeface="Cambria Math" panose="02040503050406030204" pitchFamily="18" charset="0"/>
                        </a:rPr>
                        <m:t>𝑑</m:t>
                      </m:r>
                      <m:sSub>
                        <m:sSubPr>
                          <m:ctrlPr>
                            <a:rPr lang="en-NZ" sz="1600" b="0" i="1" smtClean="0">
                              <a:solidFill>
                                <a:schemeClr val="bg1"/>
                              </a:solidFill>
                              <a:latin typeface="Cambria Math" panose="02040503050406030204" pitchFamily="18" charset="0"/>
                            </a:rPr>
                          </m:ctrlPr>
                        </m:sSubPr>
                        <m:e>
                          <m:r>
                            <a:rPr lang="en-NZ" sz="1600" b="0" i="1" smtClean="0">
                              <a:solidFill>
                                <a:schemeClr val="bg1"/>
                              </a:solidFill>
                              <a:latin typeface="Cambria Math" panose="02040503050406030204" pitchFamily="18" charset="0"/>
                            </a:rPr>
                            <m:t>𝑓</m:t>
                          </m:r>
                        </m:e>
                        <m:sub>
                          <m:r>
                            <a:rPr lang="en-NZ" sz="1600" b="0" i="1" smtClean="0">
                              <a:solidFill>
                                <a:schemeClr val="bg1"/>
                              </a:solidFill>
                              <a:latin typeface="Cambria Math" panose="02040503050406030204" pitchFamily="18" charset="0"/>
                            </a:rPr>
                            <m:t>𝑆𝑆𝐵</m:t>
                          </m:r>
                        </m:sub>
                      </m:sSub>
                      <m:r>
                        <a:rPr lang="en-NZ" sz="1600" b="0" i="1" smtClean="0">
                          <a:solidFill>
                            <a:schemeClr val="bg1"/>
                          </a:solidFill>
                          <a:latin typeface="Cambria Math" panose="02040503050406030204" pitchFamily="18" charset="0"/>
                        </a:rPr>
                        <m:t>=</m:t>
                      </m:r>
                      <m:r>
                        <a:rPr lang="en-NZ" sz="1600" b="0" i="1" smtClean="0">
                          <a:solidFill>
                            <a:schemeClr val="bg1"/>
                          </a:solidFill>
                          <a:latin typeface="Cambria Math" panose="02040503050406030204" pitchFamily="18" charset="0"/>
                        </a:rPr>
                        <m:t>𝑏</m:t>
                      </m:r>
                      <m:r>
                        <a:rPr lang="en-NZ" sz="1600" b="0" i="1" smtClean="0">
                          <a:solidFill>
                            <a:schemeClr val="bg1"/>
                          </a:solidFill>
                          <a:latin typeface="Cambria Math" panose="02040503050406030204" pitchFamily="18" charset="0"/>
                        </a:rPr>
                        <m:t>−1</m:t>
                      </m:r>
                    </m:oMath>
                  </m:oMathPara>
                </a14:m>
                <a:endParaRPr lang="en-NZ" sz="1600" dirty="0">
                  <a:solidFill>
                    <a:schemeClr val="bg1"/>
                  </a:solidFill>
                </a:endParaRPr>
              </a:p>
            </p:txBody>
          </p:sp>
        </mc:Choice>
        <mc:Fallback xmlns="">
          <p:sp>
            <p:nvSpPr>
              <p:cNvPr id="17" name="Rectangle: Rounded Corners 16">
                <a:extLst>
                  <a:ext uri="{FF2B5EF4-FFF2-40B4-BE49-F238E27FC236}">
                    <a16:creationId xmlns:a16="http://schemas.microsoft.com/office/drawing/2014/main" id="{B25D8F98-4207-BEE1-76CA-119B34E33E28}"/>
                  </a:ext>
                </a:extLst>
              </p:cNvPr>
              <p:cNvSpPr>
                <a:spLocks noRot="1" noChangeAspect="1" noMove="1" noResize="1" noEditPoints="1" noAdjustHandles="1" noChangeArrowheads="1" noChangeShapeType="1" noTextEdit="1"/>
              </p:cNvSpPr>
              <p:nvPr/>
            </p:nvSpPr>
            <p:spPr>
              <a:xfrm>
                <a:off x="7878764" y="4968675"/>
                <a:ext cx="1978926" cy="832514"/>
              </a:xfrm>
              <a:prstGeom prst="roundRect">
                <a:avLst/>
              </a:prstGeom>
              <a:blipFill>
                <a:blip r:embed="rId5"/>
                <a:stretch>
                  <a:fillRect/>
                </a:stretch>
              </a:blipFill>
              <a:ln>
                <a:solidFill>
                  <a:schemeClr val="tx1"/>
                </a:solidFill>
              </a:ln>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8" name="Rectangle: Rounded Corners 17">
                <a:extLst>
                  <a:ext uri="{FF2B5EF4-FFF2-40B4-BE49-F238E27FC236}">
                    <a16:creationId xmlns:a16="http://schemas.microsoft.com/office/drawing/2014/main" id="{8BBB9A90-1D43-AA8C-2BB0-21ECD208A5B1}"/>
                  </a:ext>
                </a:extLst>
              </p:cNvPr>
              <p:cNvSpPr/>
              <p:nvPr/>
            </p:nvSpPr>
            <p:spPr>
              <a:xfrm>
                <a:off x="9958772" y="4968675"/>
                <a:ext cx="1978926" cy="832514"/>
              </a:xfrm>
              <a:prstGeom prst="roundRect">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b="1">
                    <a:solidFill>
                      <a:schemeClr val="bg1"/>
                    </a:solidFill>
                  </a:rPr>
                  <a:t>SSE</a:t>
                </a:r>
                <a:endParaRPr lang="en-NZ" b="1" dirty="0">
                  <a:solidFill>
                    <a:schemeClr val="bg1"/>
                  </a:solidFill>
                </a:endParaRPr>
              </a:p>
              <a:p>
                <a:pPr algn="ctr"/>
                <a14:m>
                  <m:oMathPara xmlns:m="http://schemas.openxmlformats.org/officeDocument/2006/math">
                    <m:oMathParaPr>
                      <m:jc m:val="centerGroup"/>
                    </m:oMathParaPr>
                    <m:oMath xmlns:m="http://schemas.openxmlformats.org/officeDocument/2006/math">
                      <m:r>
                        <a:rPr lang="en-NZ" sz="1200" b="0" i="1" smtClean="0">
                          <a:solidFill>
                            <a:schemeClr val="bg1"/>
                          </a:solidFill>
                          <a:latin typeface="Cambria Math" panose="02040503050406030204" pitchFamily="18" charset="0"/>
                        </a:rPr>
                        <m:t>𝑑</m:t>
                      </m:r>
                      <m:sSub>
                        <m:sSubPr>
                          <m:ctrlPr>
                            <a:rPr lang="en-NZ" sz="1200" b="0" i="1" smtClean="0">
                              <a:solidFill>
                                <a:schemeClr val="bg1"/>
                              </a:solidFill>
                              <a:latin typeface="Cambria Math" panose="02040503050406030204" pitchFamily="18" charset="0"/>
                            </a:rPr>
                          </m:ctrlPr>
                        </m:sSubPr>
                        <m:e>
                          <m:r>
                            <a:rPr lang="en-NZ" sz="1200" b="0" i="1" smtClean="0">
                              <a:solidFill>
                                <a:schemeClr val="bg1"/>
                              </a:solidFill>
                              <a:latin typeface="Cambria Math" panose="02040503050406030204" pitchFamily="18" charset="0"/>
                            </a:rPr>
                            <m:t>𝑓</m:t>
                          </m:r>
                        </m:e>
                        <m:sub>
                          <m:r>
                            <a:rPr lang="en-NZ" sz="1200" b="0" i="1" smtClean="0">
                              <a:solidFill>
                                <a:schemeClr val="bg1"/>
                              </a:solidFill>
                              <a:latin typeface="Cambria Math" panose="02040503050406030204" pitchFamily="18" charset="0"/>
                            </a:rPr>
                            <m:t>𝑆𝑆𝐸</m:t>
                          </m:r>
                        </m:sub>
                      </m:sSub>
                      <m:r>
                        <a:rPr lang="en-NZ" sz="1200" b="0" i="1" smtClean="0">
                          <a:solidFill>
                            <a:schemeClr val="bg1"/>
                          </a:solidFill>
                          <a:latin typeface="Cambria Math" panose="02040503050406030204" pitchFamily="18" charset="0"/>
                        </a:rPr>
                        <m:t>=</m:t>
                      </m:r>
                      <m:r>
                        <a:rPr lang="en-NZ" sz="1200" b="0" i="1" smtClean="0">
                          <a:solidFill>
                            <a:schemeClr val="bg1"/>
                          </a:solidFill>
                          <a:latin typeface="Cambria Math" panose="02040503050406030204" pitchFamily="18" charset="0"/>
                        </a:rPr>
                        <m:t>𝑁</m:t>
                      </m:r>
                      <m:r>
                        <a:rPr lang="en-NZ" sz="1200" b="0" i="1" smtClean="0">
                          <a:solidFill>
                            <a:schemeClr val="bg1"/>
                          </a:solidFill>
                          <a:latin typeface="Cambria Math" panose="02040503050406030204" pitchFamily="18" charset="0"/>
                        </a:rPr>
                        <m:t>−</m:t>
                      </m:r>
                      <m:r>
                        <a:rPr lang="en-NZ" sz="1200" b="0" i="1" smtClean="0">
                          <a:solidFill>
                            <a:schemeClr val="bg1"/>
                          </a:solidFill>
                          <a:latin typeface="Cambria Math" panose="02040503050406030204" pitchFamily="18" charset="0"/>
                        </a:rPr>
                        <m:t>𝑎</m:t>
                      </m:r>
                      <m:r>
                        <a:rPr lang="en-NZ" sz="1200" b="0" i="1" smtClean="0">
                          <a:solidFill>
                            <a:schemeClr val="bg1"/>
                          </a:solidFill>
                          <a:latin typeface="Cambria Math" panose="02040503050406030204" pitchFamily="18" charset="0"/>
                        </a:rPr>
                        <m:t>−</m:t>
                      </m:r>
                      <m:r>
                        <a:rPr lang="en-NZ" sz="1200" b="0" i="1" smtClean="0">
                          <a:solidFill>
                            <a:schemeClr val="bg1"/>
                          </a:solidFill>
                          <a:latin typeface="Cambria Math" panose="02040503050406030204" pitchFamily="18" charset="0"/>
                        </a:rPr>
                        <m:t>𝑏</m:t>
                      </m:r>
                      <m:r>
                        <a:rPr lang="en-NZ" sz="1200" b="0" i="1" smtClean="0">
                          <a:solidFill>
                            <a:schemeClr val="bg1"/>
                          </a:solidFill>
                          <a:latin typeface="Cambria Math" panose="02040503050406030204" pitchFamily="18" charset="0"/>
                        </a:rPr>
                        <m:t>+1</m:t>
                      </m:r>
                    </m:oMath>
                  </m:oMathPara>
                </a14:m>
                <a:endParaRPr lang="en-NZ" sz="1200" dirty="0">
                  <a:solidFill>
                    <a:schemeClr val="bg1"/>
                  </a:solidFill>
                </a:endParaRPr>
              </a:p>
            </p:txBody>
          </p:sp>
        </mc:Choice>
        <mc:Fallback xmlns="">
          <p:sp>
            <p:nvSpPr>
              <p:cNvPr id="18" name="Rectangle: Rounded Corners 17">
                <a:extLst>
                  <a:ext uri="{FF2B5EF4-FFF2-40B4-BE49-F238E27FC236}">
                    <a16:creationId xmlns:a16="http://schemas.microsoft.com/office/drawing/2014/main" id="{8BBB9A90-1D43-AA8C-2BB0-21ECD208A5B1}"/>
                  </a:ext>
                </a:extLst>
              </p:cNvPr>
              <p:cNvSpPr>
                <a:spLocks noRot="1" noChangeAspect="1" noMove="1" noResize="1" noEditPoints="1" noAdjustHandles="1" noChangeArrowheads="1" noChangeShapeType="1" noTextEdit="1"/>
              </p:cNvSpPr>
              <p:nvPr/>
            </p:nvSpPr>
            <p:spPr>
              <a:xfrm>
                <a:off x="9958772" y="4968675"/>
                <a:ext cx="1978926" cy="832514"/>
              </a:xfrm>
              <a:prstGeom prst="roundRect">
                <a:avLst/>
              </a:prstGeom>
              <a:blipFill>
                <a:blip r:embed="rId6"/>
                <a:stretch>
                  <a:fillRect/>
                </a:stretch>
              </a:blipFill>
              <a:ln>
                <a:solidFill>
                  <a:schemeClr val="tx1"/>
                </a:solidFill>
              </a:ln>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9" name="Rectangle: Rounded Corners 18">
                <a:extLst>
                  <a:ext uri="{FF2B5EF4-FFF2-40B4-BE49-F238E27FC236}">
                    <a16:creationId xmlns:a16="http://schemas.microsoft.com/office/drawing/2014/main" id="{F6876BC7-BE35-7208-58F0-DBE08BB1DE71}"/>
                  </a:ext>
                </a:extLst>
              </p:cNvPr>
              <p:cNvSpPr/>
              <p:nvPr/>
            </p:nvSpPr>
            <p:spPr>
              <a:xfrm>
                <a:off x="5798757" y="3445676"/>
                <a:ext cx="1978926" cy="832514"/>
              </a:xfrm>
              <a:prstGeom prst="round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b="1" dirty="0">
                    <a:solidFill>
                      <a:schemeClr val="tx1"/>
                    </a:solidFill>
                  </a:rPr>
                  <a:t>SST</a:t>
                </a:r>
              </a:p>
              <a:p>
                <a:pPr algn="ctr"/>
                <a14:m>
                  <m:oMathPara xmlns:m="http://schemas.openxmlformats.org/officeDocument/2006/math">
                    <m:oMathParaPr>
                      <m:jc m:val="centerGroup"/>
                    </m:oMathParaPr>
                    <m:oMath xmlns:m="http://schemas.openxmlformats.org/officeDocument/2006/math">
                      <m:r>
                        <a:rPr lang="en-NZ" sz="1600" b="0" i="1" smtClean="0">
                          <a:solidFill>
                            <a:schemeClr val="tx1"/>
                          </a:solidFill>
                          <a:latin typeface="Cambria Math" panose="02040503050406030204" pitchFamily="18" charset="0"/>
                        </a:rPr>
                        <m:t>𝑑</m:t>
                      </m:r>
                      <m:sSub>
                        <m:sSubPr>
                          <m:ctrlPr>
                            <a:rPr lang="en-NZ" sz="1600" b="0" i="1" smtClean="0">
                              <a:solidFill>
                                <a:schemeClr val="tx1"/>
                              </a:solidFill>
                              <a:latin typeface="Cambria Math" panose="02040503050406030204" pitchFamily="18" charset="0"/>
                            </a:rPr>
                          </m:ctrlPr>
                        </m:sSubPr>
                        <m:e>
                          <m:r>
                            <a:rPr lang="en-NZ" sz="1600" b="0" i="1" smtClean="0">
                              <a:solidFill>
                                <a:schemeClr val="tx1"/>
                              </a:solidFill>
                              <a:latin typeface="Cambria Math" panose="02040503050406030204" pitchFamily="18" charset="0"/>
                            </a:rPr>
                            <m:t>𝑓</m:t>
                          </m:r>
                        </m:e>
                        <m:sub>
                          <m:r>
                            <a:rPr lang="en-NZ" sz="1600" b="0" i="1" smtClean="0">
                              <a:solidFill>
                                <a:schemeClr val="tx1"/>
                              </a:solidFill>
                              <a:latin typeface="Cambria Math" panose="02040503050406030204" pitchFamily="18" charset="0"/>
                            </a:rPr>
                            <m:t>𝑆𝑆𝑇</m:t>
                          </m:r>
                        </m:sub>
                      </m:sSub>
                      <m:r>
                        <a:rPr lang="en-NZ" sz="1600" b="0" i="1" smtClean="0">
                          <a:solidFill>
                            <a:schemeClr val="tx1"/>
                          </a:solidFill>
                          <a:latin typeface="Cambria Math" panose="02040503050406030204" pitchFamily="18" charset="0"/>
                        </a:rPr>
                        <m:t>=</m:t>
                      </m:r>
                      <m:r>
                        <a:rPr lang="en-NZ" sz="1600" b="0" i="1" smtClean="0">
                          <a:solidFill>
                            <a:schemeClr val="tx1"/>
                          </a:solidFill>
                          <a:latin typeface="Cambria Math" panose="02040503050406030204" pitchFamily="18" charset="0"/>
                        </a:rPr>
                        <m:t>𝑎</m:t>
                      </m:r>
                      <m:r>
                        <a:rPr lang="en-NZ" sz="1600" b="0" i="1" smtClean="0">
                          <a:solidFill>
                            <a:schemeClr val="tx1"/>
                          </a:solidFill>
                          <a:latin typeface="Cambria Math" panose="02040503050406030204" pitchFamily="18" charset="0"/>
                        </a:rPr>
                        <m:t>−1</m:t>
                      </m:r>
                    </m:oMath>
                  </m:oMathPara>
                </a14:m>
                <a:endParaRPr lang="en-NZ" sz="1600" dirty="0">
                  <a:solidFill>
                    <a:schemeClr val="tx1"/>
                  </a:solidFill>
                </a:endParaRPr>
              </a:p>
            </p:txBody>
          </p:sp>
        </mc:Choice>
        <mc:Fallback xmlns="">
          <p:sp>
            <p:nvSpPr>
              <p:cNvPr id="19" name="Rectangle: Rounded Corners 18">
                <a:extLst>
                  <a:ext uri="{FF2B5EF4-FFF2-40B4-BE49-F238E27FC236}">
                    <a16:creationId xmlns:a16="http://schemas.microsoft.com/office/drawing/2014/main" id="{F6876BC7-BE35-7208-58F0-DBE08BB1DE71}"/>
                  </a:ext>
                </a:extLst>
              </p:cNvPr>
              <p:cNvSpPr>
                <a:spLocks noRot="1" noChangeAspect="1" noMove="1" noResize="1" noEditPoints="1" noAdjustHandles="1" noChangeArrowheads="1" noChangeShapeType="1" noTextEdit="1"/>
              </p:cNvSpPr>
              <p:nvPr/>
            </p:nvSpPr>
            <p:spPr>
              <a:xfrm>
                <a:off x="5798757" y="3445676"/>
                <a:ext cx="1978926" cy="832514"/>
              </a:xfrm>
              <a:prstGeom prst="roundRect">
                <a:avLst/>
              </a:prstGeom>
              <a:blipFill>
                <a:blip r:embed="rId7"/>
                <a:stretch>
                  <a:fillRect/>
                </a:stretch>
              </a:blipFill>
              <a:ln>
                <a:solidFill>
                  <a:schemeClr val="tx1"/>
                </a:solidFill>
              </a:ln>
            </p:spPr>
            <p:txBody>
              <a:bodyPr/>
              <a:lstStyle/>
              <a:p>
                <a:r>
                  <a:rPr lang="en-NZ">
                    <a:noFill/>
                  </a:rPr>
                  <a:t> </a:t>
                </a:r>
              </a:p>
            </p:txBody>
          </p:sp>
        </mc:Fallback>
      </mc:AlternateContent>
      <p:cxnSp>
        <p:nvCxnSpPr>
          <p:cNvPr id="20" name="Straight Connector 19">
            <a:extLst>
              <a:ext uri="{FF2B5EF4-FFF2-40B4-BE49-F238E27FC236}">
                <a16:creationId xmlns:a16="http://schemas.microsoft.com/office/drawing/2014/main" id="{C33F9402-E0EA-60A6-2AA4-AB3F75C1F0B5}"/>
              </a:ext>
            </a:extLst>
          </p:cNvPr>
          <p:cNvCxnSpPr>
            <a:cxnSpLocks/>
            <a:stCxn id="11" idx="2"/>
          </p:cNvCxnSpPr>
          <p:nvPr/>
        </p:nvCxnSpPr>
        <p:spPr>
          <a:xfrm>
            <a:off x="8868227" y="2755190"/>
            <a:ext cx="0" cy="361803"/>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FA29A68-C12C-05C7-D2B2-5B7067E0731D}"/>
              </a:ext>
            </a:extLst>
          </p:cNvPr>
          <p:cNvCxnSpPr>
            <a:cxnSpLocks/>
          </p:cNvCxnSpPr>
          <p:nvPr/>
        </p:nvCxnSpPr>
        <p:spPr>
          <a:xfrm flipH="1">
            <a:off x="6770370" y="3116993"/>
            <a:ext cx="3230621"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C17A6BB-DFB2-F1F1-7196-5322B7E3ACC1}"/>
              </a:ext>
            </a:extLst>
          </p:cNvPr>
          <p:cNvCxnSpPr>
            <a:cxnSpLocks/>
          </p:cNvCxnSpPr>
          <p:nvPr/>
        </p:nvCxnSpPr>
        <p:spPr>
          <a:xfrm>
            <a:off x="6770370" y="3116992"/>
            <a:ext cx="0" cy="361803"/>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50EF814-DD1C-8FF9-0E66-E0F736F5D95F}"/>
              </a:ext>
            </a:extLst>
          </p:cNvPr>
          <p:cNvCxnSpPr>
            <a:cxnSpLocks/>
          </p:cNvCxnSpPr>
          <p:nvPr/>
        </p:nvCxnSpPr>
        <p:spPr>
          <a:xfrm>
            <a:off x="9988342" y="3116992"/>
            <a:ext cx="0" cy="361803"/>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ED7F89F-F070-0E1F-9F1A-4B4D0AA385D4}"/>
              </a:ext>
            </a:extLst>
          </p:cNvPr>
          <p:cNvCxnSpPr>
            <a:cxnSpLocks/>
          </p:cNvCxnSpPr>
          <p:nvPr/>
        </p:nvCxnSpPr>
        <p:spPr>
          <a:xfrm>
            <a:off x="10002988" y="4291984"/>
            <a:ext cx="0" cy="361803"/>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FF1E42C-F854-B401-41BD-55A447755498}"/>
              </a:ext>
            </a:extLst>
          </p:cNvPr>
          <p:cNvCxnSpPr>
            <a:cxnSpLocks/>
            <a:stCxn id="19" idx="2"/>
          </p:cNvCxnSpPr>
          <p:nvPr/>
        </p:nvCxnSpPr>
        <p:spPr>
          <a:xfrm>
            <a:off x="6788220" y="4278190"/>
            <a:ext cx="0" cy="682456"/>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2FC1CE2-186A-32FA-EE16-0B5DF77C607C}"/>
              </a:ext>
            </a:extLst>
          </p:cNvPr>
          <p:cNvCxnSpPr>
            <a:cxnSpLocks/>
          </p:cNvCxnSpPr>
          <p:nvPr/>
        </p:nvCxnSpPr>
        <p:spPr>
          <a:xfrm flipH="1">
            <a:off x="8868227" y="4653787"/>
            <a:ext cx="2080008"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175FBAA-AF89-9F2D-3BBA-6D351684471C}"/>
              </a:ext>
            </a:extLst>
          </p:cNvPr>
          <p:cNvCxnSpPr>
            <a:cxnSpLocks/>
            <a:endCxn id="17" idx="0"/>
          </p:cNvCxnSpPr>
          <p:nvPr/>
        </p:nvCxnSpPr>
        <p:spPr>
          <a:xfrm>
            <a:off x="8867949" y="4653786"/>
            <a:ext cx="278" cy="314889"/>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B6E6314-E046-18D2-8E1B-7708BB2FAD67}"/>
              </a:ext>
            </a:extLst>
          </p:cNvPr>
          <p:cNvCxnSpPr>
            <a:cxnSpLocks/>
            <a:endCxn id="18" idx="0"/>
          </p:cNvCxnSpPr>
          <p:nvPr/>
        </p:nvCxnSpPr>
        <p:spPr>
          <a:xfrm>
            <a:off x="10948235" y="4653786"/>
            <a:ext cx="0" cy="314889"/>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9" name="Title 6">
            <a:extLst>
              <a:ext uri="{FF2B5EF4-FFF2-40B4-BE49-F238E27FC236}">
                <a16:creationId xmlns:a16="http://schemas.microsoft.com/office/drawing/2014/main" id="{CAD6720D-2F00-3E95-18B3-F13262BAD034}"/>
              </a:ext>
            </a:extLst>
          </p:cNvPr>
          <p:cNvSpPr txBox="1">
            <a:spLocks/>
          </p:cNvSpPr>
          <p:nvPr/>
        </p:nvSpPr>
        <p:spPr>
          <a:xfrm>
            <a:off x="5767914" y="1381669"/>
            <a:ext cx="6200069" cy="374256"/>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ctr" defTabSz="914324" rtl="0" eaLnBrk="1" fontAlgn="auto" latinLnBrk="0" hangingPunct="1">
              <a:lnSpc>
                <a:spcPct val="90000"/>
              </a:lnSpc>
              <a:spcBef>
                <a:spcPct val="0"/>
              </a:spcBef>
              <a:spcAft>
                <a:spcPts val="0"/>
              </a:spcAft>
              <a:buClrTx/>
              <a:buSzTx/>
              <a:buFontTx/>
              <a:buNone/>
              <a:tabLst/>
              <a:defRPr/>
            </a:pPr>
            <a:r>
              <a:rPr kumimoji="1" lang="en-US" altLang="ja-JP" sz="18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Sums of Squares Decomposition</a:t>
            </a:r>
            <a:endParaRPr kumimoji="1" lang="ja-JP" altLang="en-US" sz="18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31" name="Text Placeholder 5">
            <a:extLst>
              <a:ext uri="{FF2B5EF4-FFF2-40B4-BE49-F238E27FC236}">
                <a16:creationId xmlns:a16="http://schemas.microsoft.com/office/drawing/2014/main" id="{4C8E36B4-59B3-E7E6-6B22-990725D13ED5}"/>
              </a:ext>
            </a:extLst>
          </p:cNvPr>
          <p:cNvSpPr txBox="1">
            <a:spLocks/>
          </p:cNvSpPr>
          <p:nvPr/>
        </p:nvSpPr>
        <p:spPr>
          <a:xfrm>
            <a:off x="4382354" y="3553147"/>
            <a:ext cx="1416403" cy="6824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dirty="0">
                <a:solidFill>
                  <a:srgbClr val="C00000"/>
                </a:solidFill>
              </a:rPr>
              <a:t>One-Way ANOVA</a:t>
            </a:r>
          </a:p>
          <a:p>
            <a:pPr algn="ctr">
              <a:lnSpc>
                <a:spcPct val="100000"/>
              </a:lnSpc>
            </a:pPr>
            <a:endParaRPr lang="en-NZ" altLang="ja-JP" sz="1800" dirty="0">
              <a:solidFill>
                <a:srgbClr val="C00000"/>
              </a:solidFill>
            </a:endParaRPr>
          </a:p>
        </p:txBody>
      </p:sp>
      <p:sp>
        <p:nvSpPr>
          <p:cNvPr id="32" name="Text Placeholder 5">
            <a:extLst>
              <a:ext uri="{FF2B5EF4-FFF2-40B4-BE49-F238E27FC236}">
                <a16:creationId xmlns:a16="http://schemas.microsoft.com/office/drawing/2014/main" id="{F934D8E0-30E6-C6AC-D1E1-E18E63243A20}"/>
              </a:ext>
            </a:extLst>
          </p:cNvPr>
          <p:cNvSpPr txBox="1">
            <a:spLocks/>
          </p:cNvSpPr>
          <p:nvPr/>
        </p:nvSpPr>
        <p:spPr>
          <a:xfrm>
            <a:off x="4382354" y="5043704"/>
            <a:ext cx="1416403" cy="6824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dirty="0">
                <a:solidFill>
                  <a:srgbClr val="C00000"/>
                </a:solidFill>
              </a:rPr>
              <a:t>Randomised Block Design</a:t>
            </a:r>
          </a:p>
          <a:p>
            <a:pPr algn="ctr">
              <a:lnSpc>
                <a:spcPct val="100000"/>
              </a:lnSpc>
            </a:pPr>
            <a:endParaRPr lang="en-NZ" altLang="ja-JP" sz="1800" dirty="0">
              <a:solidFill>
                <a:srgbClr val="C00000"/>
              </a:solidFill>
            </a:endParaRPr>
          </a:p>
        </p:txBody>
      </p:sp>
      <p:cxnSp>
        <p:nvCxnSpPr>
          <p:cNvPr id="7" name="Straight Connector 6">
            <a:extLst>
              <a:ext uri="{FF2B5EF4-FFF2-40B4-BE49-F238E27FC236}">
                <a16:creationId xmlns:a16="http://schemas.microsoft.com/office/drawing/2014/main" id="{020CAE93-33F7-335C-2444-B98D27F43E46}"/>
              </a:ext>
            </a:extLst>
          </p:cNvPr>
          <p:cNvCxnSpPr>
            <a:cxnSpLocks/>
          </p:cNvCxnSpPr>
          <p:nvPr/>
        </p:nvCxnSpPr>
        <p:spPr>
          <a:xfrm>
            <a:off x="4559725" y="3426427"/>
            <a:ext cx="7408258" cy="33043"/>
          </a:xfrm>
          <a:prstGeom prst="line">
            <a:avLst/>
          </a:prstGeom>
          <a:ln>
            <a:solidFill>
              <a:srgbClr val="C00000"/>
            </a:solidFill>
            <a:prstDash val="lgDash"/>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C482412-FFE9-9490-038E-CBB93ED4952B}"/>
              </a:ext>
            </a:extLst>
          </p:cNvPr>
          <p:cNvCxnSpPr>
            <a:cxnSpLocks/>
          </p:cNvCxnSpPr>
          <p:nvPr/>
        </p:nvCxnSpPr>
        <p:spPr>
          <a:xfrm>
            <a:off x="4559725" y="4277589"/>
            <a:ext cx="7408258" cy="33043"/>
          </a:xfrm>
          <a:prstGeom prst="line">
            <a:avLst/>
          </a:prstGeom>
          <a:ln>
            <a:solidFill>
              <a:srgbClr val="C00000"/>
            </a:solidFill>
            <a:prstDash val="lgDash"/>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0A284ED-BDA0-48B7-76A2-19D9EB575BB8}"/>
              </a:ext>
            </a:extLst>
          </p:cNvPr>
          <p:cNvCxnSpPr>
            <a:cxnSpLocks/>
          </p:cNvCxnSpPr>
          <p:nvPr/>
        </p:nvCxnSpPr>
        <p:spPr>
          <a:xfrm>
            <a:off x="4511823" y="4927603"/>
            <a:ext cx="7408258" cy="33043"/>
          </a:xfrm>
          <a:prstGeom prst="line">
            <a:avLst/>
          </a:prstGeom>
          <a:ln>
            <a:solidFill>
              <a:srgbClr val="C00000"/>
            </a:solidFill>
            <a:prstDash val="lgDash"/>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9B4AC9E-4F11-49D7-B5E2-5BB0122DDAB3}"/>
              </a:ext>
            </a:extLst>
          </p:cNvPr>
          <p:cNvCxnSpPr>
            <a:cxnSpLocks/>
          </p:cNvCxnSpPr>
          <p:nvPr/>
        </p:nvCxnSpPr>
        <p:spPr>
          <a:xfrm>
            <a:off x="4511823" y="5771752"/>
            <a:ext cx="7408258" cy="33043"/>
          </a:xfrm>
          <a:prstGeom prst="line">
            <a:avLst/>
          </a:prstGeom>
          <a:ln>
            <a:solidFill>
              <a:srgbClr val="C00000"/>
            </a:solidFill>
            <a:prstDash val="lgDash"/>
          </a:ln>
        </p:spPr>
        <p:style>
          <a:lnRef idx="1">
            <a:schemeClr val="accent1"/>
          </a:lnRef>
          <a:fillRef idx="0">
            <a:schemeClr val="accent1"/>
          </a:fillRef>
          <a:effectRef idx="0">
            <a:schemeClr val="accent1"/>
          </a:effectRef>
          <a:fontRef idx="minor">
            <a:schemeClr val="tx1"/>
          </a:fontRef>
        </p:style>
      </p:cxnSp>
      <p:sp>
        <p:nvSpPr>
          <p:cNvPr id="33" name="Footer Placeholder 2">
            <a:extLst>
              <a:ext uri="{FF2B5EF4-FFF2-40B4-BE49-F238E27FC236}">
                <a16:creationId xmlns:a16="http://schemas.microsoft.com/office/drawing/2014/main" id="{21282DE4-7D3A-BA74-D96E-8EFCA389592C}"/>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Recap of Last Lecture</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37" name="Text Placeholder 5">
                <a:extLst>
                  <a:ext uri="{FF2B5EF4-FFF2-40B4-BE49-F238E27FC236}">
                    <a16:creationId xmlns:a16="http://schemas.microsoft.com/office/drawing/2014/main" id="{49F487C5-C13D-24C7-6877-45A092B7E04D}"/>
                  </a:ext>
                </a:extLst>
              </p:cNvPr>
              <p:cNvSpPr txBox="1">
                <a:spLocks/>
              </p:cNvSpPr>
              <p:nvPr/>
            </p:nvSpPr>
            <p:spPr>
              <a:xfrm>
                <a:off x="5491778" y="2008735"/>
                <a:ext cx="1338057" cy="83251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Para xmlns:m="http://schemas.openxmlformats.org/officeDocument/2006/math">
                    <m:oMathParaPr>
                      <m:jc m:val="center"/>
                    </m:oMathParaPr>
                    <m:oMath xmlns:m="http://schemas.openxmlformats.org/officeDocument/2006/math">
                      <m:r>
                        <a:rPr lang="en-NZ" altLang="ja-JP" sz="1700" b="1" i="1" smtClean="0">
                          <a:solidFill>
                            <a:srgbClr val="C00000"/>
                          </a:solidFill>
                          <a:latin typeface="Cambria Math" panose="02040503050406030204" pitchFamily="18" charset="0"/>
                        </a:rPr>
                        <m:t>𝑭</m:t>
                      </m:r>
                      <m:r>
                        <a:rPr lang="en-NZ" altLang="ja-JP" sz="1700" b="1" i="1" smtClean="0">
                          <a:solidFill>
                            <a:srgbClr val="C00000"/>
                          </a:solidFill>
                          <a:latin typeface="Cambria Math" panose="02040503050406030204" pitchFamily="18" charset="0"/>
                        </a:rPr>
                        <m:t> =  </m:t>
                      </m:r>
                      <m:f>
                        <m:fPr>
                          <m:ctrlPr>
                            <a:rPr lang="en-NZ" altLang="ja-JP" sz="1700" b="1" i="1" smtClean="0">
                              <a:solidFill>
                                <a:srgbClr val="C00000"/>
                              </a:solidFill>
                              <a:latin typeface="Cambria Math" panose="02040503050406030204" pitchFamily="18" charset="0"/>
                            </a:rPr>
                          </m:ctrlPr>
                        </m:fPr>
                        <m:num>
                          <m:r>
                            <a:rPr lang="en-NZ" altLang="ja-JP" sz="1700" b="1" i="1" smtClean="0">
                              <a:solidFill>
                                <a:srgbClr val="C00000"/>
                              </a:solidFill>
                              <a:latin typeface="Cambria Math" panose="02040503050406030204" pitchFamily="18" charset="0"/>
                            </a:rPr>
                            <m:t>𝑴𝑺𝑻</m:t>
                          </m:r>
                        </m:num>
                        <m:den>
                          <m:r>
                            <a:rPr lang="en-NZ" altLang="ja-JP" sz="1700" b="1" i="1" smtClean="0">
                              <a:solidFill>
                                <a:srgbClr val="C00000"/>
                              </a:solidFill>
                              <a:latin typeface="Cambria Math" panose="02040503050406030204" pitchFamily="18" charset="0"/>
                            </a:rPr>
                            <m:t>𝑴𝑺𝑬</m:t>
                          </m:r>
                        </m:den>
                      </m:f>
                    </m:oMath>
                  </m:oMathPara>
                </a14:m>
                <a:endParaRPr lang="en-NZ" altLang="ja-JP" sz="1700" b="1" dirty="0">
                  <a:solidFill>
                    <a:srgbClr val="C00000"/>
                  </a:solidFill>
                </a:endParaRPr>
              </a:p>
            </p:txBody>
          </p:sp>
        </mc:Choice>
        <mc:Fallback xmlns="">
          <p:sp>
            <p:nvSpPr>
              <p:cNvPr id="37" name="Text Placeholder 5">
                <a:extLst>
                  <a:ext uri="{FF2B5EF4-FFF2-40B4-BE49-F238E27FC236}">
                    <a16:creationId xmlns:a16="http://schemas.microsoft.com/office/drawing/2014/main" id="{49F487C5-C13D-24C7-6877-45A092B7E04D}"/>
                  </a:ext>
                </a:extLst>
              </p:cNvPr>
              <p:cNvSpPr txBox="1">
                <a:spLocks noRot="1" noChangeAspect="1" noMove="1" noResize="1" noEditPoints="1" noAdjustHandles="1" noChangeArrowheads="1" noChangeShapeType="1" noTextEdit="1"/>
              </p:cNvSpPr>
              <p:nvPr/>
            </p:nvSpPr>
            <p:spPr>
              <a:xfrm>
                <a:off x="5491778" y="2008735"/>
                <a:ext cx="1338057" cy="832514"/>
              </a:xfrm>
              <a:prstGeom prst="rect">
                <a:avLst/>
              </a:prstGeom>
              <a:blipFill>
                <a:blip r:embed="rId8"/>
                <a:stretch>
                  <a:fillRect/>
                </a:stretch>
              </a:blipFill>
            </p:spPr>
            <p:txBody>
              <a:bodyPr/>
              <a:lstStyle/>
              <a:p>
                <a:r>
                  <a:rPr lang="en-NZ">
                    <a:noFill/>
                  </a:rPr>
                  <a:t> </a:t>
                </a:r>
              </a:p>
            </p:txBody>
          </p:sp>
        </mc:Fallback>
      </mc:AlternateContent>
    </p:spTree>
    <p:extLst>
      <p:ext uri="{BB962C8B-B14F-4D97-AF65-F5344CB8AC3E}">
        <p14:creationId xmlns:p14="http://schemas.microsoft.com/office/powerpoint/2010/main" val="38624420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7" name="Title 6">
            <a:extLst>
              <a:ext uri="{FF2B5EF4-FFF2-40B4-BE49-F238E27FC236}">
                <a16:creationId xmlns:a16="http://schemas.microsoft.com/office/drawing/2014/main" id="{4ACB7FAA-E9E1-4274-A8D0-489528A3C0F6}"/>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4.4a – The Mixed Effects Model</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8" name="Footer Placeholder 2">
            <a:extLst>
              <a:ext uri="{FF2B5EF4-FFF2-40B4-BE49-F238E27FC236}">
                <a16:creationId xmlns:a16="http://schemas.microsoft.com/office/drawing/2014/main" id="{6C441BC2-97B1-40FC-901B-6774EA8C8C25}"/>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4.4 – </a:t>
            </a:r>
            <a:r>
              <a:rPr kumimoji="1" lang="en-US" altLang="ja-JP" sz="1600" dirty="0">
                <a:solidFill>
                  <a:srgbClr val="DEDDDD"/>
                </a:solidFill>
                <a:latin typeface="Gidole"/>
                <a:ea typeface="游ゴシック" panose="020B0400000000000000" pitchFamily="34" charset="-128"/>
              </a:rPr>
              <a:t>Mixed Effects Model</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mc:AlternateContent xmlns:mc="http://schemas.openxmlformats.org/markup-compatibility/2006">
        <mc:Choice xmlns:a14="http://schemas.microsoft.com/office/drawing/2010/main" Requires="a14">
          <p:sp>
            <p:nvSpPr>
              <p:cNvPr id="11" name="Text Placeholder 5">
                <a:extLst>
                  <a:ext uri="{FF2B5EF4-FFF2-40B4-BE49-F238E27FC236}">
                    <a16:creationId xmlns:a16="http://schemas.microsoft.com/office/drawing/2014/main" id="{679607A7-05BF-41B9-B50A-7352824E974B}"/>
                  </a:ext>
                </a:extLst>
              </p:cNvPr>
              <p:cNvSpPr txBox="1">
                <a:spLocks/>
              </p:cNvSpPr>
              <p:nvPr/>
            </p:nvSpPr>
            <p:spPr>
              <a:xfrm>
                <a:off x="312361" y="1176827"/>
                <a:ext cx="11383769" cy="129817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2200" dirty="0">
                    <a:solidFill>
                      <a:prstClr val="black"/>
                    </a:solidFill>
                    <a:latin typeface="Calibri" panose="020F0502020204030204"/>
                    <a:ea typeface="游ゴシック" panose="020B0400000000000000" pitchFamily="34" charset="-128"/>
                  </a:rPr>
                  <a:t>In a </a:t>
                </a:r>
                <a:r>
                  <a:rPr lang="en-NZ" altLang="ja-JP" sz="2200" b="1" dirty="0">
                    <a:solidFill>
                      <a:prstClr val="black"/>
                    </a:solidFill>
                    <a:latin typeface="Calibri" panose="020F0502020204030204"/>
                    <a:ea typeface="游ゴシック" panose="020B0400000000000000" pitchFamily="34" charset="-128"/>
                  </a:rPr>
                  <a:t>fixed</a:t>
                </a:r>
                <a:r>
                  <a:rPr lang="en-NZ" altLang="ja-JP" sz="2200" dirty="0">
                    <a:solidFill>
                      <a:prstClr val="black"/>
                    </a:solidFill>
                    <a:latin typeface="Calibri" panose="020F0502020204030204"/>
                    <a:ea typeface="游ゴシック" panose="020B0400000000000000" pitchFamily="34" charset="-128"/>
                  </a:rPr>
                  <a:t> effects model, both the treatment factor </a:t>
                </a:r>
                <a:r>
                  <a:rPr lang="en-NZ" altLang="ja-JP" sz="2200" b="1" i="1" dirty="0">
                    <a:solidFill>
                      <a:prstClr val="black"/>
                    </a:solidFill>
                    <a:latin typeface="Calibri" panose="020F0502020204030204"/>
                    <a:ea typeface="游ゴシック" panose="020B0400000000000000" pitchFamily="34" charset="-128"/>
                  </a:rPr>
                  <a:t>A</a:t>
                </a:r>
                <a:r>
                  <a:rPr lang="en-NZ" altLang="ja-JP" sz="2200" dirty="0">
                    <a:solidFill>
                      <a:prstClr val="black"/>
                    </a:solidFill>
                    <a:latin typeface="Calibri" panose="020F0502020204030204"/>
                    <a:ea typeface="游ゴシック" panose="020B0400000000000000" pitchFamily="34" charset="-128"/>
                  </a:rPr>
                  <a:t> and the blocking factor </a:t>
                </a:r>
                <a:r>
                  <a:rPr lang="en-NZ" altLang="ja-JP" sz="2200" b="1" i="1" dirty="0">
                    <a:solidFill>
                      <a:prstClr val="black"/>
                    </a:solidFill>
                    <a:latin typeface="Calibri" panose="020F0502020204030204"/>
                    <a:ea typeface="游ゴシック" panose="020B0400000000000000" pitchFamily="34" charset="-128"/>
                  </a:rPr>
                  <a:t>B</a:t>
                </a:r>
                <a:r>
                  <a:rPr lang="en-NZ" altLang="ja-JP" sz="2200" dirty="0">
                    <a:solidFill>
                      <a:prstClr val="black"/>
                    </a:solidFill>
                    <a:latin typeface="Calibri" panose="020F0502020204030204"/>
                    <a:ea typeface="游ゴシック" panose="020B0400000000000000" pitchFamily="34" charset="-128"/>
                  </a:rPr>
                  <a:t> are assumed to have fixed effects </a:t>
                </a: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𝜶</m:t>
                        </m:r>
                      </m:e>
                      <m:sub>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sub>
                    </m:sSub>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  </m:t>
                    </m:r>
                    <m:sSub>
                      <m:sSubPr>
                        <m:ctrlP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𝝁</m:t>
                        </m:r>
                      </m:e>
                      <m:sub>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sub>
                    </m:sSub>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𝝁</m:t>
                    </m:r>
                  </m:oMath>
                </a14:m>
                <a:r>
                  <a:rPr kumimoji="1" lang="en-NZ" altLang="ja-JP" sz="22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and    </a:t>
                </a:r>
                <a14:m>
                  <m:oMath xmlns:m="http://schemas.openxmlformats.org/officeDocument/2006/math">
                    <m:sSub>
                      <m:sSubPr>
                        <m:ctrlPr>
                          <a:rPr kumimoji="1" lang="en-NZ" altLang="ja-JP" sz="2200" b="1"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2200" b="1"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cs typeface="+mn-cs"/>
                          </a:rPr>
                          <m:t>𝜷</m:t>
                        </m:r>
                      </m:e>
                      <m:sub>
                        <m:r>
                          <a:rPr kumimoji="1" lang="en-NZ" altLang="ja-JP" sz="2200" b="1"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𝒋</m:t>
                        </m:r>
                      </m:sub>
                    </m:sSub>
                    <m:r>
                      <a:rPr kumimoji="1" lang="en-NZ" altLang="ja-JP" sz="2200" b="1"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cs typeface="+mn-cs"/>
                      </a:rPr>
                      <m:t> =  </m:t>
                    </m:r>
                    <m:sSub>
                      <m:sSubPr>
                        <m:ctrlPr>
                          <a:rPr kumimoji="1" lang="en-NZ" altLang="ja-JP" sz="2200" b="1"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2200" b="1"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cs typeface="+mn-cs"/>
                          </a:rPr>
                          <m:t>𝝁</m:t>
                        </m:r>
                      </m:e>
                      <m:sub>
                        <m:r>
                          <a:rPr kumimoji="1" lang="en-NZ" altLang="ja-JP" sz="2200" b="1"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2200" b="1"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𝒋</m:t>
                        </m:r>
                      </m:sub>
                    </m:sSub>
                    <m:r>
                      <a:rPr kumimoji="1" lang="en-NZ" altLang="ja-JP" sz="2200" b="1"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2200" b="1"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cs typeface="+mn-cs"/>
                      </a:rPr>
                      <m:t>𝝁</m:t>
                    </m:r>
                    <m:r>
                      <a:rPr kumimoji="1" lang="en-NZ" altLang="ja-JP" sz="2200" b="1"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oMath>
                </a14:m>
                <a:r>
                  <a:rPr kumimoji="1" lang="en-NZ"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p:txBody>
          </p:sp>
        </mc:Choice>
        <mc:Fallback>
          <p:sp>
            <p:nvSpPr>
              <p:cNvPr id="11" name="Text Placeholder 5">
                <a:extLst>
                  <a:ext uri="{FF2B5EF4-FFF2-40B4-BE49-F238E27FC236}">
                    <a16:creationId xmlns:a16="http://schemas.microsoft.com/office/drawing/2014/main" id="{679607A7-05BF-41B9-B50A-7352824E974B}"/>
                  </a:ext>
                </a:extLst>
              </p:cNvPr>
              <p:cNvSpPr txBox="1">
                <a:spLocks noRot="1" noChangeAspect="1" noMove="1" noResize="1" noEditPoints="1" noAdjustHandles="1" noChangeArrowheads="1" noChangeShapeType="1" noTextEdit="1"/>
              </p:cNvSpPr>
              <p:nvPr/>
            </p:nvSpPr>
            <p:spPr>
              <a:xfrm>
                <a:off x="312361" y="1176827"/>
                <a:ext cx="11383769" cy="1298174"/>
              </a:xfrm>
              <a:prstGeom prst="rect">
                <a:avLst/>
              </a:prstGeom>
              <a:blipFill>
                <a:blip r:embed="rId2"/>
                <a:stretch>
                  <a:fillRect l="-696" t="-3286" r="-642"/>
                </a:stretch>
              </a:blipFill>
            </p:spPr>
            <p:txBody>
              <a:bodyPr/>
              <a:lstStyle/>
              <a:p>
                <a:r>
                  <a:rPr lang="en-NZ">
                    <a:noFill/>
                  </a:rPr>
                  <a:t> </a:t>
                </a:r>
              </a:p>
            </p:txBody>
          </p:sp>
        </mc:Fallback>
      </mc:AlternateContent>
      <mc:AlternateContent xmlns:mc="http://schemas.openxmlformats.org/markup-compatibility/2006">
        <mc:Choice xmlns:a14="http://schemas.microsoft.com/office/drawing/2010/main" Requires="a14">
          <p:sp>
            <p:nvSpPr>
              <p:cNvPr id="18" name="Text Placeholder 5">
                <a:extLst>
                  <a:ext uri="{FF2B5EF4-FFF2-40B4-BE49-F238E27FC236}">
                    <a16:creationId xmlns:a16="http://schemas.microsoft.com/office/drawing/2014/main" id="{68F77C7D-3C6F-A952-4A1A-A4F52EBF9B96}"/>
                  </a:ext>
                </a:extLst>
              </p:cNvPr>
              <p:cNvSpPr txBox="1">
                <a:spLocks/>
              </p:cNvSpPr>
              <p:nvPr/>
            </p:nvSpPr>
            <p:spPr>
              <a:xfrm>
                <a:off x="312361" y="2812108"/>
                <a:ext cx="11383769" cy="19172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2200" dirty="0">
                    <a:solidFill>
                      <a:prstClr val="black"/>
                    </a:solidFill>
                    <a:latin typeface="Calibri" panose="020F0502020204030204"/>
                    <a:ea typeface="游ゴシック" panose="020B0400000000000000" pitchFamily="34" charset="-128"/>
                  </a:rPr>
                  <a:t>In some instances it is more realistic to view the blocks as a random sample from all possible blocks, i.e. to view the effect of the blocks on the response variable as random variables with a prescribed mean and variance. In which case, we fit a </a:t>
                </a:r>
                <a:r>
                  <a:rPr lang="en-NZ" altLang="ja-JP" sz="2200" b="1" dirty="0">
                    <a:solidFill>
                      <a:prstClr val="black"/>
                    </a:solidFill>
                    <a:latin typeface="Calibri" panose="020F0502020204030204"/>
                    <a:ea typeface="游ゴシック" panose="020B0400000000000000" pitchFamily="34" charset="-128"/>
                  </a:rPr>
                  <a:t>mixed</a:t>
                </a:r>
                <a:r>
                  <a:rPr lang="en-NZ" altLang="ja-JP" sz="2200" dirty="0">
                    <a:solidFill>
                      <a:prstClr val="black"/>
                    </a:solidFill>
                    <a:latin typeface="Calibri" panose="020F0502020204030204"/>
                    <a:ea typeface="游ゴシック" panose="020B0400000000000000" pitchFamily="34" charset="-128"/>
                  </a:rPr>
                  <a:t> effects model </a:t>
                </a:r>
                <a:br>
                  <a:rPr lang="en-NZ" altLang="ja-JP" sz="2200" dirty="0">
                    <a:solidFill>
                      <a:prstClr val="black"/>
                    </a:solidFill>
                    <a:latin typeface="Calibri" panose="020F0502020204030204"/>
                    <a:ea typeface="游ゴシック" panose="020B0400000000000000" pitchFamily="34" charset="-128"/>
                  </a:rPr>
                </a:br>
                <a:r>
                  <a:rPr lang="en-NZ" altLang="ja-JP" sz="1800" dirty="0">
                    <a:solidFill>
                      <a:schemeClr val="bg2">
                        <a:lumMod val="50000"/>
                      </a:schemeClr>
                    </a:solidFill>
                    <a:latin typeface="Calibri" panose="020F0502020204030204"/>
                    <a:ea typeface="游ゴシック" panose="020B0400000000000000" pitchFamily="34" charset="-128"/>
                  </a:rPr>
                  <a:t>(so called because the treatment factor is fixed but the blocking factor is a random variable</a:t>
                </a:r>
                <a:r>
                  <a:rPr lang="en-NZ" altLang="ja-JP" sz="2200" dirty="0">
                    <a:solidFill>
                      <a:prstClr val="black"/>
                    </a:solidFill>
                    <a:latin typeface="Calibri" panose="020F0502020204030204"/>
                    <a:ea typeface="游ゴシック" panose="020B0400000000000000" pitchFamily="34" charset="-128"/>
                  </a:rPr>
                  <a:t>)</a:t>
                </a:r>
              </a:p>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NZ" altLang="ja-JP" sz="200" dirty="0">
                  <a:solidFill>
                    <a:prstClr val="black"/>
                  </a:solidFill>
                  <a:latin typeface="Calibri" panose="020F0502020204030204"/>
                  <a:ea typeface="游ゴシック" panose="020B0400000000000000" pitchFamily="34" charset="-128"/>
                </a:endParaRPr>
              </a:p>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NZ" altLang="ja-JP" sz="200" dirty="0">
                  <a:solidFill>
                    <a:prstClr val="black"/>
                  </a:solidFill>
                  <a:latin typeface="Calibri" panose="020F0502020204030204"/>
                  <a:ea typeface="游ゴシック" panose="020B0400000000000000" pitchFamily="34" charset="-128"/>
                </a:endParaRPr>
              </a:p>
              <a:p>
                <a:pPr lvl="0" algn="ctr">
                  <a:lnSpc>
                    <a:spcPct val="100000"/>
                  </a:lnSpc>
                  <a:defRPr/>
                </a:pPr>
                <a14:m>
                  <m:oMath xmlns:m="http://schemas.openxmlformats.org/officeDocument/2006/math">
                    <m:sSub>
                      <m:sSubPr>
                        <m:ctrlPr>
                          <a:rPr lang="en-NZ" altLang="ja-JP" sz="2200" b="1" i="1">
                            <a:solidFill>
                              <a:prstClr val="black"/>
                            </a:solidFill>
                            <a:latin typeface="Cambria Math" panose="02040503050406030204" pitchFamily="18" charset="0"/>
                          </a:rPr>
                        </m:ctrlPr>
                      </m:sSubPr>
                      <m:e>
                        <m:r>
                          <a:rPr lang="en-NZ" altLang="ja-JP" sz="2200" b="1" i="1">
                            <a:solidFill>
                              <a:prstClr val="black"/>
                            </a:solidFill>
                            <a:latin typeface="Cambria Math" panose="02040503050406030204" pitchFamily="18" charset="0"/>
                          </a:rPr>
                          <m:t> </m:t>
                        </m:r>
                        <m:r>
                          <a:rPr lang="en-NZ" altLang="ja-JP" sz="2200" b="1" i="1">
                            <a:solidFill>
                              <a:prstClr val="black"/>
                            </a:solidFill>
                            <a:latin typeface="Cambria Math" panose="02040503050406030204" pitchFamily="18" charset="0"/>
                          </a:rPr>
                          <m:t>𝜶</m:t>
                        </m:r>
                      </m:e>
                      <m:sub>
                        <m:r>
                          <a:rPr lang="en-NZ" altLang="ja-JP" sz="2200" b="1" i="1">
                            <a:solidFill>
                              <a:prstClr val="black"/>
                            </a:solidFill>
                            <a:latin typeface="Cambria Math" panose="02040503050406030204" pitchFamily="18" charset="0"/>
                          </a:rPr>
                          <m:t>𝒊</m:t>
                        </m:r>
                      </m:sub>
                    </m:sSub>
                    <m:r>
                      <a:rPr lang="en-NZ" altLang="ja-JP" sz="2200" b="1" i="1">
                        <a:solidFill>
                          <a:prstClr val="black"/>
                        </a:solidFill>
                        <a:latin typeface="Cambria Math" panose="02040503050406030204" pitchFamily="18" charset="0"/>
                      </a:rPr>
                      <m:t> =  </m:t>
                    </m:r>
                    <m:sSub>
                      <m:sSubPr>
                        <m:ctrlPr>
                          <a:rPr lang="en-NZ" altLang="ja-JP" sz="2200" b="1" i="1">
                            <a:solidFill>
                              <a:prstClr val="black"/>
                            </a:solidFill>
                            <a:latin typeface="Cambria Math" panose="02040503050406030204" pitchFamily="18" charset="0"/>
                          </a:rPr>
                        </m:ctrlPr>
                      </m:sSubPr>
                      <m:e>
                        <m:r>
                          <a:rPr lang="en-NZ" altLang="ja-JP" sz="2200" b="1" i="1">
                            <a:solidFill>
                              <a:prstClr val="black"/>
                            </a:solidFill>
                            <a:latin typeface="Cambria Math" panose="02040503050406030204" pitchFamily="18" charset="0"/>
                          </a:rPr>
                          <m:t>𝝁</m:t>
                        </m:r>
                      </m:e>
                      <m:sub>
                        <m:r>
                          <a:rPr lang="en-NZ" altLang="ja-JP" sz="2200" b="1" i="1">
                            <a:solidFill>
                              <a:prstClr val="black"/>
                            </a:solidFill>
                            <a:latin typeface="Cambria Math" panose="02040503050406030204" pitchFamily="18" charset="0"/>
                          </a:rPr>
                          <m:t>𝒊</m:t>
                        </m:r>
                        <m:r>
                          <a:rPr lang="en-NZ" altLang="ja-JP" sz="2200" b="1" i="1">
                            <a:solidFill>
                              <a:prstClr val="black"/>
                            </a:solidFill>
                            <a:latin typeface="Cambria Math" panose="02040503050406030204" pitchFamily="18" charset="0"/>
                          </a:rPr>
                          <m:t>.</m:t>
                        </m:r>
                      </m:sub>
                    </m:sSub>
                    <m:r>
                      <a:rPr lang="en-NZ" altLang="ja-JP" sz="2200" b="1" i="1">
                        <a:solidFill>
                          <a:prstClr val="black"/>
                        </a:solidFill>
                        <a:latin typeface="Cambria Math" panose="02040503050406030204" pitchFamily="18" charset="0"/>
                      </a:rPr>
                      <m:t> −</m:t>
                    </m:r>
                    <m:r>
                      <a:rPr lang="en-NZ" altLang="ja-JP" sz="2200" b="1" i="1">
                        <a:solidFill>
                          <a:prstClr val="black"/>
                        </a:solidFill>
                        <a:latin typeface="Cambria Math" panose="02040503050406030204" pitchFamily="18" charset="0"/>
                      </a:rPr>
                      <m:t>𝝁</m:t>
                    </m:r>
                  </m:oMath>
                </a14:m>
                <a:r>
                  <a:rPr lang="en-NZ" altLang="ja-JP" sz="2200" b="1" dirty="0">
                    <a:solidFill>
                      <a:prstClr val="black"/>
                    </a:solidFill>
                  </a:rPr>
                  <a:t>     </a:t>
                </a:r>
                <a:r>
                  <a:rPr lang="en-NZ" altLang="ja-JP" sz="2200" dirty="0">
                    <a:solidFill>
                      <a:prstClr val="black"/>
                    </a:solidFill>
                  </a:rPr>
                  <a:t>and    </a:t>
                </a:r>
                <a14:m>
                  <m:oMath xmlns:m="http://schemas.openxmlformats.org/officeDocument/2006/math">
                    <m:sSub>
                      <m:sSubPr>
                        <m:ctrlPr>
                          <a:rPr lang="en-NZ" altLang="ja-JP" sz="2200" b="1" i="1">
                            <a:solidFill>
                              <a:prstClr val="black"/>
                            </a:solidFill>
                            <a:latin typeface="Cambria Math" panose="02040503050406030204" pitchFamily="18" charset="0"/>
                          </a:rPr>
                        </m:ctrlPr>
                      </m:sSubPr>
                      <m:e>
                        <m:r>
                          <a:rPr lang="en-NZ" altLang="ja-JP" sz="2200" b="1" i="1">
                            <a:solidFill>
                              <a:prstClr val="black"/>
                            </a:solidFill>
                            <a:latin typeface="Cambria Math" panose="02040503050406030204" pitchFamily="18" charset="0"/>
                          </a:rPr>
                          <m:t>𝑩</m:t>
                        </m:r>
                      </m:e>
                      <m:sub>
                        <m:r>
                          <a:rPr lang="en-NZ" altLang="ja-JP" sz="2200" b="1" i="1">
                            <a:solidFill>
                              <a:prstClr val="black"/>
                            </a:solidFill>
                            <a:latin typeface="Cambria Math" panose="02040503050406030204" pitchFamily="18" charset="0"/>
                          </a:rPr>
                          <m:t>𝒋</m:t>
                        </m:r>
                      </m:sub>
                    </m:sSub>
                    <m:r>
                      <a:rPr lang="en-NZ" altLang="ja-JP" sz="2200" b="1" i="1">
                        <a:solidFill>
                          <a:prstClr val="black"/>
                        </a:solidFill>
                        <a:latin typeface="Cambria Math" panose="02040503050406030204" pitchFamily="18" charset="0"/>
                      </a:rPr>
                      <m:t> ~ </m:t>
                    </m:r>
                    <m:r>
                      <a:rPr lang="en-NZ" altLang="ja-JP" sz="2200" b="1" i="1">
                        <a:solidFill>
                          <a:prstClr val="black"/>
                        </a:solidFill>
                        <a:latin typeface="Cambria Math" panose="02040503050406030204" pitchFamily="18" charset="0"/>
                      </a:rPr>
                      <m:t>𝒊𝒊𝒅</m:t>
                    </m:r>
                    <m:r>
                      <a:rPr lang="en-NZ" altLang="ja-JP" sz="2200" b="1" i="1">
                        <a:solidFill>
                          <a:prstClr val="black"/>
                        </a:solidFill>
                        <a:latin typeface="Cambria Math" panose="02040503050406030204" pitchFamily="18" charset="0"/>
                      </a:rPr>
                      <m:t>( </m:t>
                    </m:r>
                    <m:sSub>
                      <m:sSubPr>
                        <m:ctrlPr>
                          <a:rPr lang="en-NZ" altLang="ja-JP" sz="2200" b="1" i="1">
                            <a:solidFill>
                              <a:prstClr val="black"/>
                            </a:solidFill>
                            <a:latin typeface="Cambria Math" panose="02040503050406030204" pitchFamily="18" charset="0"/>
                          </a:rPr>
                        </m:ctrlPr>
                      </m:sSubPr>
                      <m:e>
                        <m:r>
                          <a:rPr lang="en-NZ" altLang="ja-JP" sz="2200" b="1" i="1">
                            <a:solidFill>
                              <a:prstClr val="black"/>
                            </a:solidFill>
                            <a:latin typeface="Cambria Math" panose="02040503050406030204" pitchFamily="18" charset="0"/>
                          </a:rPr>
                          <m:t>𝝁</m:t>
                        </m:r>
                      </m:e>
                      <m:sub>
                        <m:r>
                          <a:rPr lang="en-NZ" altLang="ja-JP" sz="2200" b="1" i="1">
                            <a:solidFill>
                              <a:prstClr val="black"/>
                            </a:solidFill>
                            <a:latin typeface="Cambria Math" panose="02040503050406030204" pitchFamily="18" charset="0"/>
                          </a:rPr>
                          <m:t>𝑩</m:t>
                        </m:r>
                      </m:sub>
                    </m:sSub>
                    <m:r>
                      <a:rPr lang="en-NZ" altLang="ja-JP" sz="2200" b="1" i="1">
                        <a:solidFill>
                          <a:prstClr val="black"/>
                        </a:solidFill>
                        <a:latin typeface="Cambria Math" panose="02040503050406030204" pitchFamily="18" charset="0"/>
                      </a:rPr>
                      <m:t> , </m:t>
                    </m:r>
                    <m:sSubSup>
                      <m:sSubSupPr>
                        <m:ctrlPr>
                          <a:rPr lang="en-NZ" altLang="ja-JP" sz="2200" b="1" i="1">
                            <a:solidFill>
                              <a:prstClr val="black"/>
                            </a:solidFill>
                            <a:latin typeface="Cambria Math" panose="02040503050406030204" pitchFamily="18" charset="0"/>
                          </a:rPr>
                        </m:ctrlPr>
                      </m:sSubSupPr>
                      <m:e>
                        <m:r>
                          <a:rPr lang="en-NZ" altLang="ja-JP" sz="2200" b="1" i="1">
                            <a:solidFill>
                              <a:prstClr val="black"/>
                            </a:solidFill>
                            <a:latin typeface="Cambria Math" panose="02040503050406030204" pitchFamily="18" charset="0"/>
                          </a:rPr>
                          <m:t>𝝈</m:t>
                        </m:r>
                      </m:e>
                      <m:sub>
                        <m:r>
                          <a:rPr lang="en-NZ" altLang="ja-JP" sz="2200" b="1" i="1">
                            <a:solidFill>
                              <a:prstClr val="black"/>
                            </a:solidFill>
                            <a:latin typeface="Cambria Math" panose="02040503050406030204" pitchFamily="18" charset="0"/>
                          </a:rPr>
                          <m:t>𝑩</m:t>
                        </m:r>
                      </m:sub>
                      <m:sup>
                        <m:r>
                          <a:rPr lang="en-NZ" altLang="ja-JP" sz="2200" b="1" i="1">
                            <a:solidFill>
                              <a:prstClr val="black"/>
                            </a:solidFill>
                            <a:latin typeface="Cambria Math" panose="02040503050406030204" pitchFamily="18" charset="0"/>
                          </a:rPr>
                          <m:t>𝟐</m:t>
                        </m:r>
                      </m:sup>
                    </m:sSubSup>
                    <m:r>
                      <a:rPr lang="en-NZ" altLang="ja-JP" sz="2200" b="1" i="1">
                        <a:solidFill>
                          <a:prstClr val="black"/>
                        </a:solidFill>
                        <a:latin typeface="Cambria Math" panose="02040503050406030204" pitchFamily="18" charset="0"/>
                      </a:rPr>
                      <m:t> )</m:t>
                    </m:r>
                  </m:oMath>
                </a14:m>
                <a:endParaRPr kumimoji="1" lang="en-NZ" altLang="ja-JP" sz="22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mc:Choice>
        <mc:Fallback>
          <p:sp>
            <p:nvSpPr>
              <p:cNvPr id="18" name="Text Placeholder 5">
                <a:extLst>
                  <a:ext uri="{FF2B5EF4-FFF2-40B4-BE49-F238E27FC236}">
                    <a16:creationId xmlns:a16="http://schemas.microsoft.com/office/drawing/2014/main" id="{68F77C7D-3C6F-A952-4A1A-A4F52EBF9B96}"/>
                  </a:ext>
                </a:extLst>
              </p:cNvPr>
              <p:cNvSpPr txBox="1">
                <a:spLocks noRot="1" noChangeAspect="1" noMove="1" noResize="1" noEditPoints="1" noAdjustHandles="1" noChangeArrowheads="1" noChangeShapeType="1" noTextEdit="1"/>
              </p:cNvSpPr>
              <p:nvPr/>
            </p:nvSpPr>
            <p:spPr>
              <a:xfrm>
                <a:off x="312361" y="2812108"/>
                <a:ext cx="11383769" cy="1917225"/>
              </a:xfrm>
              <a:prstGeom prst="rect">
                <a:avLst/>
              </a:prstGeom>
              <a:blipFill>
                <a:blip r:embed="rId3"/>
                <a:stretch>
                  <a:fillRect l="-696" t="-1905" b="-3492"/>
                </a:stretch>
              </a:blipFill>
            </p:spPr>
            <p:txBody>
              <a:bodyPr/>
              <a:lstStyle/>
              <a:p>
                <a:r>
                  <a:rPr lang="en-NZ">
                    <a:noFill/>
                  </a:rPr>
                  <a:t> </a:t>
                </a:r>
              </a:p>
            </p:txBody>
          </p:sp>
        </mc:Fallback>
      </mc:AlternateContent>
      <p:sp>
        <p:nvSpPr>
          <p:cNvPr id="19" name="Text Placeholder 5">
            <a:extLst>
              <a:ext uri="{FF2B5EF4-FFF2-40B4-BE49-F238E27FC236}">
                <a16:creationId xmlns:a16="http://schemas.microsoft.com/office/drawing/2014/main" id="{C8444099-2509-76B0-EBEA-989F0AA03425}"/>
              </a:ext>
            </a:extLst>
          </p:cNvPr>
          <p:cNvSpPr txBox="1">
            <a:spLocks/>
          </p:cNvSpPr>
          <p:nvPr/>
        </p:nvSpPr>
        <p:spPr>
          <a:xfrm>
            <a:off x="251224" y="5287442"/>
            <a:ext cx="11383769" cy="106911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2200" dirty="0">
                <a:solidFill>
                  <a:prstClr val="black"/>
                </a:solidFill>
                <a:latin typeface="Calibri" panose="020F0502020204030204"/>
                <a:ea typeface="游ゴシック" panose="020B0400000000000000" pitchFamily="34" charset="-128"/>
              </a:rPr>
              <a:t>As a general rule for Stat 293… </a:t>
            </a: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2200" i="1" dirty="0">
                <a:solidFill>
                  <a:prstClr val="black"/>
                </a:solidFill>
                <a:latin typeface="Calibri" panose="020F0502020204030204"/>
                <a:ea typeface="游ゴシック" panose="020B0400000000000000" pitchFamily="34" charset="-128"/>
              </a:rPr>
              <a:t>if we say that the blocking factor is “randomly selected”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2200" dirty="0">
                <a:solidFill>
                  <a:prstClr val="black"/>
                </a:solidFill>
                <a:latin typeface="Calibri" panose="020F0502020204030204"/>
                <a:ea typeface="游ゴシック" panose="020B0400000000000000" pitchFamily="34" charset="-128"/>
              </a:rPr>
              <a:t>…then we are talking about a mixed effects model.</a:t>
            </a:r>
            <a:endParaRPr kumimoji="1" lang="en-NZ" altLang="ja-JP" sz="22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4263102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7" name="Title 6">
            <a:extLst>
              <a:ext uri="{FF2B5EF4-FFF2-40B4-BE49-F238E27FC236}">
                <a16:creationId xmlns:a16="http://schemas.microsoft.com/office/drawing/2014/main" id="{4ACB7FAA-E9E1-4274-A8D0-489528A3C0F6}"/>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4.4a – The Mixed Effects Model</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1" name="Text Placeholder 5">
            <a:extLst>
              <a:ext uri="{FF2B5EF4-FFF2-40B4-BE49-F238E27FC236}">
                <a16:creationId xmlns:a16="http://schemas.microsoft.com/office/drawing/2014/main" id="{679607A7-05BF-41B9-B50A-7352824E974B}"/>
              </a:ext>
            </a:extLst>
          </p:cNvPr>
          <p:cNvSpPr txBox="1">
            <a:spLocks/>
          </p:cNvSpPr>
          <p:nvPr/>
        </p:nvSpPr>
        <p:spPr>
          <a:xfrm>
            <a:off x="312362" y="996728"/>
            <a:ext cx="11879638" cy="125515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prstClr val="black"/>
                </a:solidFill>
                <a:latin typeface="Calibri" panose="020F0502020204030204"/>
                <a:ea typeface="游ゴシック" panose="020B0400000000000000" pitchFamily="34" charset="-128"/>
              </a:rPr>
              <a:t>In an RBD with </a:t>
            </a:r>
            <a:r>
              <a:rPr lang="en-NZ" altLang="ja-JP" sz="1800" b="1" dirty="0">
                <a:solidFill>
                  <a:prstClr val="black"/>
                </a:solidFill>
                <a:latin typeface="Calibri" panose="020F0502020204030204"/>
                <a:ea typeface="游ゴシック" panose="020B0400000000000000" pitchFamily="34" charset="-128"/>
              </a:rPr>
              <a:t>mixed effects</a:t>
            </a:r>
            <a:r>
              <a:rPr lang="en-NZ" altLang="ja-JP" sz="1800" dirty="0">
                <a:solidFill>
                  <a:prstClr val="black"/>
                </a:solidFill>
                <a:latin typeface="Calibri" panose="020F0502020204030204"/>
                <a:ea typeface="游ゴシック" panose="020B0400000000000000" pitchFamily="34" charset="-128"/>
              </a:rPr>
              <a:t>, the response variable </a:t>
            </a:r>
            <a:r>
              <a:rPr lang="en-NZ" altLang="ja-JP" sz="1800" b="1" i="1" dirty="0">
                <a:solidFill>
                  <a:prstClr val="black"/>
                </a:solidFill>
                <a:latin typeface="Calibri" panose="020F0502020204030204"/>
                <a:ea typeface="游ゴシック" panose="020B0400000000000000" pitchFamily="34" charset="-128"/>
              </a:rPr>
              <a:t>Y</a:t>
            </a:r>
            <a:r>
              <a:rPr lang="en-NZ" altLang="ja-JP" sz="1800" dirty="0">
                <a:solidFill>
                  <a:prstClr val="black"/>
                </a:solidFill>
                <a:latin typeface="Calibri" panose="020F0502020204030204"/>
                <a:ea typeface="游ゴシック" panose="020B0400000000000000" pitchFamily="34" charset="-128"/>
              </a:rPr>
              <a:t> is modelled as a function of…</a:t>
            </a:r>
          </a:p>
          <a:p>
            <a:pPr marL="971493" lvl="1" indent="-285750" algn="just">
              <a:lnSpc>
                <a:spcPct val="100000"/>
              </a:lnSpc>
              <a:spcBef>
                <a:spcPts val="0"/>
              </a:spcBef>
              <a:buFontTx/>
              <a:buChar char="-"/>
              <a:defRPr/>
            </a:pPr>
            <a:r>
              <a:rPr lang="en-NZ" altLang="ja-JP" sz="1800" dirty="0">
                <a:solidFill>
                  <a:prstClr val="black"/>
                </a:solidFill>
                <a:latin typeface="Calibri" panose="020F0502020204030204"/>
                <a:ea typeface="游ゴシック" panose="020B0400000000000000" pitchFamily="34" charset="-128"/>
              </a:rPr>
              <a:t>a treatment factor </a:t>
            </a:r>
            <a:r>
              <a:rPr lang="en-NZ" altLang="ja-JP" sz="1800" b="1" i="1" dirty="0">
                <a:solidFill>
                  <a:prstClr val="black"/>
                </a:solidFill>
                <a:latin typeface="Calibri" panose="020F0502020204030204"/>
                <a:ea typeface="游ゴシック" panose="020B0400000000000000" pitchFamily="34" charset="-128"/>
              </a:rPr>
              <a:t>A</a:t>
            </a:r>
            <a:r>
              <a:rPr lang="en-NZ" altLang="ja-JP" sz="1800" dirty="0">
                <a:solidFill>
                  <a:prstClr val="black"/>
                </a:solidFill>
                <a:latin typeface="Calibri" panose="020F0502020204030204"/>
                <a:ea typeface="游ゴシック" panose="020B0400000000000000" pitchFamily="34" charset="-128"/>
              </a:rPr>
              <a:t> with </a:t>
            </a:r>
            <a:r>
              <a:rPr lang="en-NZ" altLang="ja-JP" sz="1800" b="1" i="1" dirty="0">
                <a:solidFill>
                  <a:prstClr val="black"/>
                </a:solidFill>
                <a:latin typeface="Calibri" panose="020F0502020204030204"/>
                <a:ea typeface="游ゴシック" panose="020B0400000000000000" pitchFamily="34" charset="-128"/>
              </a:rPr>
              <a:t>a</a:t>
            </a:r>
            <a:r>
              <a:rPr lang="en-NZ" altLang="ja-JP" sz="1800" dirty="0">
                <a:solidFill>
                  <a:prstClr val="black"/>
                </a:solidFill>
                <a:latin typeface="Calibri" panose="020F0502020204030204"/>
                <a:ea typeface="游ゴシック" panose="020B0400000000000000" pitchFamily="34" charset="-128"/>
              </a:rPr>
              <a:t> levels</a:t>
            </a:r>
          </a:p>
          <a:p>
            <a:pPr marL="971493" lvl="1" indent="-285750" algn="just">
              <a:lnSpc>
                <a:spcPct val="100000"/>
              </a:lnSpc>
              <a:spcBef>
                <a:spcPts val="0"/>
              </a:spcBef>
              <a:buFontTx/>
              <a:buChar char="-"/>
              <a:defRPr/>
            </a:pPr>
            <a:r>
              <a:rPr lang="en-NZ" altLang="ja-JP" sz="1800" dirty="0">
                <a:solidFill>
                  <a:prstClr val="black"/>
                </a:solidFill>
                <a:latin typeface="Calibri" panose="020F0502020204030204"/>
                <a:ea typeface="游ゴシック" panose="020B0400000000000000" pitchFamily="34" charset="-128"/>
              </a:rPr>
              <a:t>a random variable </a:t>
            </a:r>
            <a:r>
              <a:rPr lang="en-NZ" altLang="ja-JP" sz="1800" b="1" i="1" dirty="0">
                <a:solidFill>
                  <a:prstClr val="black"/>
                </a:solidFill>
                <a:latin typeface="Calibri" panose="020F0502020204030204"/>
                <a:ea typeface="游ゴシック" panose="020B0400000000000000" pitchFamily="34" charset="-128"/>
              </a:rPr>
              <a:t>B</a:t>
            </a:r>
            <a:r>
              <a:rPr lang="en-NZ" altLang="ja-JP" sz="1800" dirty="0">
                <a:solidFill>
                  <a:prstClr val="black"/>
                </a:solidFill>
                <a:latin typeface="Calibri" panose="020F0502020204030204"/>
                <a:ea typeface="游ゴシック" panose="020B0400000000000000" pitchFamily="34" charset="-128"/>
              </a:rPr>
              <a:t> included in the model to account for a recognised source of variation in </a:t>
            </a:r>
            <a:r>
              <a:rPr lang="en-NZ" altLang="ja-JP" sz="1800" b="1" i="1" dirty="0">
                <a:solidFill>
                  <a:prstClr val="black"/>
                </a:solidFill>
                <a:latin typeface="Calibri" panose="020F0502020204030204"/>
                <a:ea typeface="游ゴシック" panose="020B0400000000000000" pitchFamily="34" charset="-128"/>
              </a:rPr>
              <a:t>Y</a:t>
            </a:r>
            <a:r>
              <a:rPr lang="en-NZ" altLang="ja-JP" sz="1800" dirty="0">
                <a:solidFill>
                  <a:prstClr val="black"/>
                </a:solidFill>
                <a:latin typeface="Calibri" panose="020F0502020204030204"/>
                <a:ea typeface="游ゴシック" panose="020B0400000000000000" pitchFamily="34" charset="-128"/>
              </a:rPr>
              <a:t>.</a:t>
            </a:r>
          </a:p>
          <a:p>
            <a:pPr marR="0" lvl="0" algn="just" defTabSz="914324" rtl="0" eaLnBrk="1" fontAlgn="auto" latinLnBrk="0" hangingPunct="1">
              <a:lnSpc>
                <a:spcPct val="100000"/>
              </a:lnSpc>
              <a:spcBef>
                <a:spcPts val="0"/>
              </a:spcBef>
              <a:spcAft>
                <a:spcPts val="0"/>
              </a:spcAft>
              <a:buClrTx/>
              <a:buSzTx/>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factor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represents the effect of interest. The random variable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B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represents the nuisance variable we wish to control for.</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2" name="Text Placeholder 5">
                <a:extLst>
                  <a:ext uri="{FF2B5EF4-FFF2-40B4-BE49-F238E27FC236}">
                    <a16:creationId xmlns:a16="http://schemas.microsoft.com/office/drawing/2014/main" id="{502B0575-B1C4-560F-F88E-B77A92CD04C2}"/>
                  </a:ext>
                </a:extLst>
              </p:cNvPr>
              <p:cNvSpPr txBox="1">
                <a:spLocks/>
              </p:cNvSpPr>
              <p:nvPr/>
            </p:nvSpPr>
            <p:spPr>
              <a:xfrm>
                <a:off x="312361" y="2403576"/>
                <a:ext cx="11313581" cy="39377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For a mixed effects model the </a:t>
                </a:r>
                <a14:m>
                  <m:oMath xmlns:m="http://schemas.openxmlformats.org/officeDocument/2006/math">
                    <m:sSup>
                      <m:sSup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p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𝒌</m:t>
                        </m:r>
                      </m:e>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𝒕𝒉</m:t>
                        </m:r>
                      </m:sup>
                    </m:sSup>
                  </m:oMath>
                </a14:m>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observation belonging</a:t>
                </a:r>
                <a:r>
                  <a:rPr kumimoji="1" lang="en-NZ" altLang="ja-JP" sz="18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to the </a:t>
                </a:r>
                <a14:m>
                  <m:oMath xmlns:m="http://schemas.openxmlformats.org/officeDocument/2006/math">
                    <m:sSup>
                      <m:sSupPr>
                        <m:ctrlPr>
                          <a:rPr kumimoji="1" lang="en-NZ" altLang="ja-JP" sz="1800" b="1" i="1" u="none" strike="noStrike" kern="1200" cap="none" spc="0" normalizeH="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pPr>
                      <m:e>
                        <m:r>
                          <a:rPr kumimoji="1" lang="en-NZ" altLang="ja-JP" sz="1800" b="1" i="1" u="none" strike="noStrike" kern="1200" cap="none" spc="0" normalizeH="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e>
                      <m:sup>
                        <m:r>
                          <a:rPr kumimoji="1" lang="en-NZ" altLang="ja-JP" sz="1800" b="1" i="1" u="none" strike="noStrike" kern="1200" cap="none" spc="0" normalizeH="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𝒕𝒉</m:t>
                        </m:r>
                      </m:sup>
                    </m:sSup>
                  </m:oMath>
                </a14:m>
                <a:r>
                  <a:rPr kumimoji="1" lang="en-NZ"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level of factor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a:t>
                </a:r>
                <a:r>
                  <a:rPr kumimoji="1" lang="en-NZ"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and the</a:t>
                </a:r>
                <a:r>
                  <a:rPr kumimoji="1" lang="en-NZ" altLang="ja-JP" sz="18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800" b="1" i="1" u="none" strike="noStrike" kern="1200" cap="none" spc="0" normalizeH="0" noProof="0" dirty="0" err="1">
                    <a:ln>
                      <a:noFill/>
                    </a:ln>
                    <a:solidFill>
                      <a:prstClr val="black"/>
                    </a:solidFill>
                    <a:effectLst/>
                    <a:uLnTx/>
                    <a:uFillTx/>
                    <a:latin typeface="Calibri" panose="020F0502020204030204"/>
                    <a:ea typeface="游ゴシック" panose="020B0400000000000000" pitchFamily="34" charset="-128"/>
                    <a:cs typeface="+mn-cs"/>
                  </a:rPr>
                  <a:t>j</a:t>
                </a:r>
                <a:r>
                  <a:rPr kumimoji="1" lang="en-NZ" altLang="ja-JP" sz="1800" b="1" i="1" u="none" strike="noStrike" kern="1200" cap="none" spc="0" normalizeH="0" baseline="30000" noProof="0" dirty="0" err="1">
                    <a:ln>
                      <a:noFill/>
                    </a:ln>
                    <a:solidFill>
                      <a:prstClr val="black"/>
                    </a:solidFill>
                    <a:effectLst/>
                    <a:uLnTx/>
                    <a:uFillTx/>
                    <a:latin typeface="Calibri" panose="020F0502020204030204"/>
                    <a:ea typeface="游ゴシック" panose="020B0400000000000000" pitchFamily="34" charset="-128"/>
                    <a:cs typeface="+mn-cs"/>
                  </a:rPr>
                  <a:t>th</a:t>
                </a:r>
                <a:r>
                  <a:rPr kumimoji="1" lang="en-NZ" altLang="ja-JP" sz="18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block</a:t>
                </a:r>
                <a:r>
                  <a:rPr kumimoji="1" lang="en-NZ"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is modelled as:</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2" name="Text Placeholder 5">
                <a:extLst>
                  <a:ext uri="{FF2B5EF4-FFF2-40B4-BE49-F238E27FC236}">
                    <a16:creationId xmlns:a16="http://schemas.microsoft.com/office/drawing/2014/main" id="{502B0575-B1C4-560F-F88E-B77A92CD04C2}"/>
                  </a:ext>
                </a:extLst>
              </p:cNvPr>
              <p:cNvSpPr txBox="1">
                <a:spLocks noRot="1" noChangeAspect="1" noMove="1" noResize="1" noEditPoints="1" noAdjustHandles="1" noChangeArrowheads="1" noChangeShapeType="1" noTextEdit="1"/>
              </p:cNvSpPr>
              <p:nvPr/>
            </p:nvSpPr>
            <p:spPr>
              <a:xfrm>
                <a:off x="312361" y="2403576"/>
                <a:ext cx="11313581" cy="393770"/>
              </a:xfrm>
              <a:prstGeom prst="rect">
                <a:avLst/>
              </a:prstGeom>
              <a:blipFill>
                <a:blip r:embed="rId2"/>
                <a:stretch>
                  <a:fillRect l="-431" t="-4615" b="-20000"/>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3" name="Text Placeholder 5">
                <a:extLst>
                  <a:ext uri="{FF2B5EF4-FFF2-40B4-BE49-F238E27FC236}">
                    <a16:creationId xmlns:a16="http://schemas.microsoft.com/office/drawing/2014/main" id="{863CBACB-70C0-B580-E667-1098198A9DE1}"/>
                  </a:ext>
                </a:extLst>
              </p:cNvPr>
              <p:cNvSpPr txBox="1">
                <a:spLocks/>
              </p:cNvSpPr>
              <p:nvPr/>
            </p:nvSpPr>
            <p:spPr>
              <a:xfrm>
                <a:off x="3364681" y="2797346"/>
                <a:ext cx="5462638"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
                    </m:oMathParaPr>
                    <m:oMath xmlns:m="http://schemas.openxmlformats.org/officeDocument/2006/math">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𝒀</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𝒊𝒋𝒌</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𝝁</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𝜶</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𝑩</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𝒋</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𝝐</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𝒊𝒋𝒌</m:t>
                          </m:r>
                        </m:sub>
                      </m:sSub>
                    </m:oMath>
                  </m:oMathPara>
                </a14:m>
                <a:endParaRPr kumimoji="1" lang="en-NZ" altLang="ja-JP" sz="18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3" name="Text Placeholder 5">
                <a:extLst>
                  <a:ext uri="{FF2B5EF4-FFF2-40B4-BE49-F238E27FC236}">
                    <a16:creationId xmlns:a16="http://schemas.microsoft.com/office/drawing/2014/main" id="{863CBACB-70C0-B580-E667-1098198A9DE1}"/>
                  </a:ext>
                </a:extLst>
              </p:cNvPr>
              <p:cNvSpPr txBox="1">
                <a:spLocks noRot="1" noChangeAspect="1" noMove="1" noResize="1" noEditPoints="1" noAdjustHandles="1" noChangeArrowheads="1" noChangeShapeType="1" noTextEdit="1"/>
              </p:cNvSpPr>
              <p:nvPr/>
            </p:nvSpPr>
            <p:spPr>
              <a:xfrm>
                <a:off x="3364681" y="2797346"/>
                <a:ext cx="5462638" cy="474953"/>
              </a:xfrm>
              <a:prstGeom prst="rect">
                <a:avLst/>
              </a:prstGeom>
              <a:blipFill>
                <a:blip r:embed="rId3"/>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4" name="Text Placeholder 5">
                <a:extLst>
                  <a:ext uri="{FF2B5EF4-FFF2-40B4-BE49-F238E27FC236}">
                    <a16:creationId xmlns:a16="http://schemas.microsoft.com/office/drawing/2014/main" id="{F7BC54B3-FA14-E51E-F595-02B90B5A0E1C}"/>
                  </a:ext>
                </a:extLst>
              </p:cNvPr>
              <p:cNvSpPr txBox="1">
                <a:spLocks/>
              </p:cNvSpPr>
              <p:nvPr/>
            </p:nvSpPr>
            <p:spPr>
              <a:xfrm>
                <a:off x="566058" y="3233563"/>
                <a:ext cx="6755626" cy="131867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l-GR"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μ</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is the population mean</a:t>
                </a:r>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oMath>
                </a14:m>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is the effect of the </a:t>
                </a:r>
                <a:r>
                  <a:rPr kumimoji="1" lang="en-NZ" altLang="ja-JP" sz="16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i</a:t>
                </a:r>
                <a:r>
                  <a:rPr kumimoji="1" lang="en-NZ" altLang="ja-JP" sz="1600" b="1" i="1" u="none" strike="noStrike" kern="1200" cap="none" spc="0" normalizeH="0" baseline="30000" noProof="0" dirty="0" err="1">
                    <a:ln>
                      <a:noFill/>
                    </a:ln>
                    <a:solidFill>
                      <a:prstClr val="black"/>
                    </a:solidFill>
                    <a:effectLst/>
                    <a:uLnTx/>
                    <a:uFillTx/>
                    <a:latin typeface="Calibri" panose="020F0502020204030204"/>
                    <a:ea typeface="游ゴシック" panose="020B0400000000000000" pitchFamily="34" charset="-128"/>
                    <a:cs typeface="+mn-cs"/>
                  </a:rPr>
                  <a:t>th</a:t>
                </a:r>
                <a:r>
                  <a:rPr kumimoji="1" lang="en-NZ" altLang="ja-JP" sz="1600" b="0"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level of factor A</a:t>
                </a:r>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lvl="0" algn="just">
                  <a:lnSpc>
                    <a:spcPct val="100000"/>
                  </a:lnSpc>
                  <a:defRPr/>
                </a:pPr>
                <a14:m>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𝑩</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𝒊𝒊𝒅</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𝑩</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Sup>
                      <m:sSubSup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𝝈</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𝑩</m:t>
                        </m:r>
                      </m:sub>
                      <m:sup>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𝟐</m:t>
                        </m:r>
                      </m:sup>
                    </m:sSubSup>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oMath>
                </a14:m>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 Stat 293 we will always assume </a:t>
                </a:r>
                <a14:m>
                  <m:oMath xmlns:m="http://schemas.openxmlformats.org/officeDocument/2006/math">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𝑩</m:t>
                        </m:r>
                      </m:e>
                      <m:sub>
                        <m:r>
                          <a:rPr lang="en-NZ" altLang="ja-JP" sz="1600" b="1" i="1">
                            <a:solidFill>
                              <a:prstClr val="black"/>
                            </a:solidFill>
                            <a:latin typeface="Cambria Math" panose="02040503050406030204" pitchFamily="18" charset="0"/>
                          </a:rPr>
                          <m:t>𝒋</m:t>
                        </m:r>
                      </m:sub>
                    </m:sSub>
                    <m:r>
                      <a:rPr lang="en-NZ" altLang="ja-JP" sz="1600" b="1" i="1">
                        <a:solidFill>
                          <a:prstClr val="black"/>
                        </a:solidFill>
                        <a:latin typeface="Cambria Math" panose="02040503050406030204" pitchFamily="18" charset="0"/>
                      </a:rPr>
                      <m:t> ~ </m:t>
                    </m:r>
                    <m:r>
                      <a:rPr lang="en-NZ" altLang="ja-JP" sz="1600" b="1" i="1" smtClean="0">
                        <a:solidFill>
                          <a:prstClr val="black"/>
                        </a:solidFill>
                        <a:latin typeface="Cambria Math" panose="02040503050406030204" pitchFamily="18" charset="0"/>
                      </a:rPr>
                      <m:t>𝑵</m:t>
                    </m:r>
                    <m:r>
                      <a:rPr lang="en-NZ" altLang="ja-JP" sz="1600" b="1" i="1">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 </m:t>
                    </m:r>
                    <m:r>
                      <a:rPr lang="en-NZ" altLang="ja-JP" sz="1600" b="1" i="1" smtClean="0">
                        <a:solidFill>
                          <a:prstClr val="black"/>
                        </a:solidFill>
                        <a:latin typeface="Cambria Math" panose="02040503050406030204" pitchFamily="18" charset="0"/>
                      </a:rPr>
                      <m:t>𝟎</m:t>
                    </m:r>
                    <m:r>
                      <a:rPr lang="en-NZ" altLang="ja-JP" sz="1600" b="1" i="1">
                        <a:solidFill>
                          <a:prstClr val="black"/>
                        </a:solidFill>
                        <a:latin typeface="Cambria Math" panose="02040503050406030204" pitchFamily="18" charset="0"/>
                      </a:rPr>
                      <m:t>, </m:t>
                    </m:r>
                    <m:sSubSup>
                      <m:sSubSupPr>
                        <m:ctrlPr>
                          <a:rPr lang="en-NZ" altLang="ja-JP" sz="1600" b="1" i="1">
                            <a:solidFill>
                              <a:prstClr val="black"/>
                            </a:solidFill>
                            <a:latin typeface="Cambria Math" panose="02040503050406030204" pitchFamily="18" charset="0"/>
                          </a:rPr>
                        </m:ctrlPr>
                      </m:sSubSupPr>
                      <m:e>
                        <m:r>
                          <a:rPr lang="en-NZ" altLang="ja-JP" sz="1600" b="1" i="1">
                            <a:solidFill>
                              <a:prstClr val="black"/>
                            </a:solidFill>
                            <a:latin typeface="Cambria Math" panose="02040503050406030204" pitchFamily="18" charset="0"/>
                          </a:rPr>
                          <m:t>𝝈</m:t>
                        </m:r>
                      </m:e>
                      <m:sub>
                        <m:r>
                          <a:rPr lang="en-NZ" altLang="ja-JP" sz="1600" b="1" i="1">
                            <a:solidFill>
                              <a:prstClr val="black"/>
                            </a:solidFill>
                            <a:latin typeface="Cambria Math" panose="02040503050406030204" pitchFamily="18" charset="0"/>
                          </a:rPr>
                          <m:t>𝑩</m:t>
                        </m:r>
                      </m:sub>
                      <m:sup>
                        <m:r>
                          <a:rPr lang="en-NZ" altLang="ja-JP" sz="1600" b="1" i="1">
                            <a:solidFill>
                              <a:prstClr val="black"/>
                            </a:solidFill>
                            <a:latin typeface="Cambria Math" panose="02040503050406030204" pitchFamily="18" charset="0"/>
                          </a:rPr>
                          <m:t>𝟐</m:t>
                        </m:r>
                      </m:sup>
                    </m:sSubSup>
                    <m:r>
                      <a:rPr lang="en-NZ" altLang="ja-JP" sz="1600" b="1" i="1">
                        <a:solidFill>
                          <a:prstClr val="black"/>
                        </a:solidFill>
                        <a:latin typeface="Cambria Math" panose="02040503050406030204" pitchFamily="18" charset="0"/>
                      </a:rPr>
                      <m:t> )</m:t>
                    </m:r>
                  </m:oMath>
                </a14:m>
                <a:r>
                  <a:rPr kumimoji="1" lang="en-NZ" altLang="ja-JP" sz="16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endParaRPr kumimoji="1" lang="en-NZ" altLang="ja-JP" sz="1600" u="none" strike="noStrike" kern="1200" cap="none" spc="0" normalizeH="0" baseline="0" noProof="0" dirty="0">
                  <a:ln>
                    <a:noFill/>
                  </a:ln>
                  <a:solidFill>
                    <a:prstClr val="black"/>
                  </a:solidFill>
                  <a:effectLst/>
                  <a:uLnTx/>
                  <a:uFillTx/>
                  <a:latin typeface="Cambria Math" panose="02040503050406030204" pitchFamily="18" charset="0"/>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left"/>
                    </m:oMathParaPr>
                    <m:oMath xmlns:m="http://schemas.openxmlformats.org/officeDocument/2006/math">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𝝐</m:t>
                          </m:r>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𝒊𝒋</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𝒌</m:t>
                          </m:r>
                        </m:sub>
                      </m:s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 </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𝑵</m:t>
                      </m:r>
                      <m:d>
                        <m:d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𝟎</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sSup>
                            <m:sSup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𝝈</m:t>
                              </m:r>
                            </m:e>
                            <m:sup>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𝟐</m:t>
                              </m:r>
                            </m:sup>
                          </m:sSup>
                        </m:e>
                      </m:d>
                    </m:oMath>
                  </m:oMathPara>
                </a14:m>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lvl="0" algn="just">
                  <a:lnSpc>
                    <a:spcPct val="100000"/>
                  </a:lnSpc>
                  <a:defRPr/>
                </a:pPr>
                <a14:m>
                  <m:oMath xmlns:m="http://schemas.openxmlformats.org/officeDocument/2006/math">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𝑩</m:t>
                        </m:r>
                      </m:e>
                      <m:sub>
                        <m:r>
                          <a:rPr lang="en-NZ" altLang="ja-JP" sz="1600" b="1" i="1">
                            <a:solidFill>
                              <a:prstClr val="black"/>
                            </a:solidFill>
                            <a:latin typeface="Cambria Math" panose="02040503050406030204" pitchFamily="18" charset="0"/>
                          </a:rPr>
                          <m:t>𝒋</m:t>
                        </m:r>
                      </m:sub>
                    </m:sSub>
                  </m:oMath>
                </a14:m>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and</a:t>
                </a:r>
                <a:r>
                  <a:rPr kumimoji="1" lang="en-NZ" altLang="ja-JP" sz="1600" b="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14:m>
                  <m:oMath xmlns:m="http://schemas.openxmlformats.org/officeDocument/2006/math">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𝝐</m:t>
                        </m:r>
                      </m:e>
                      <m:sub>
                        <m:r>
                          <a:rPr lang="en-NZ" altLang="ja-JP" sz="1600" b="1" i="1">
                            <a:solidFill>
                              <a:prstClr val="black"/>
                            </a:solidFill>
                            <a:latin typeface="Cambria Math" panose="02040503050406030204" pitchFamily="18" charset="0"/>
                          </a:rPr>
                          <m:t>𝒊𝒋</m:t>
                        </m:r>
                        <m:r>
                          <a:rPr lang="en-NZ" altLang="ja-JP" sz="1600" b="1" i="1" smtClean="0">
                            <a:solidFill>
                              <a:prstClr val="black"/>
                            </a:solidFill>
                            <a:latin typeface="Cambria Math" panose="02040503050406030204" pitchFamily="18" charset="0"/>
                          </a:rPr>
                          <m:t>𝒌</m:t>
                        </m:r>
                      </m:sub>
                    </m:sSub>
                    <m:r>
                      <a:rPr lang="en-NZ" altLang="ja-JP" sz="1600" b="1" i="1">
                        <a:solidFill>
                          <a:prstClr val="black"/>
                        </a:solidFill>
                        <a:latin typeface="Cambria Math" panose="02040503050406030204" pitchFamily="18" charset="0"/>
                      </a:rPr>
                      <m:t> </m:t>
                    </m:r>
                  </m:oMath>
                </a14:m>
                <a:r>
                  <a:rPr kumimoji="1" lang="en-NZ" altLang="ja-JP" sz="16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are independent</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4" name="Text Placeholder 5">
                <a:extLst>
                  <a:ext uri="{FF2B5EF4-FFF2-40B4-BE49-F238E27FC236}">
                    <a16:creationId xmlns:a16="http://schemas.microsoft.com/office/drawing/2014/main" id="{F7BC54B3-FA14-E51E-F595-02B90B5A0E1C}"/>
                  </a:ext>
                </a:extLst>
              </p:cNvPr>
              <p:cNvSpPr txBox="1">
                <a:spLocks noRot="1" noChangeAspect="1" noMove="1" noResize="1" noEditPoints="1" noAdjustHandles="1" noChangeArrowheads="1" noChangeShapeType="1" noTextEdit="1"/>
              </p:cNvSpPr>
              <p:nvPr/>
            </p:nvSpPr>
            <p:spPr>
              <a:xfrm>
                <a:off x="566058" y="3233563"/>
                <a:ext cx="6755626" cy="1318675"/>
              </a:xfrm>
              <a:prstGeom prst="rect">
                <a:avLst/>
              </a:prstGeom>
              <a:blipFill>
                <a:blip r:embed="rId4"/>
                <a:stretch>
                  <a:fillRect l="-542" t="-1382" b="-11521"/>
                </a:stretch>
              </a:blipFill>
            </p:spPr>
            <p:txBody>
              <a:bodyPr/>
              <a:lstStyle/>
              <a:p>
                <a:r>
                  <a:rPr lang="en-NZ">
                    <a:noFill/>
                  </a:rPr>
                  <a:t> </a:t>
                </a:r>
              </a:p>
            </p:txBody>
          </p:sp>
        </mc:Fallback>
      </mc:AlternateContent>
      <p:sp>
        <p:nvSpPr>
          <p:cNvPr id="25" name="Text Placeholder 5">
            <a:extLst>
              <a:ext uri="{FF2B5EF4-FFF2-40B4-BE49-F238E27FC236}">
                <a16:creationId xmlns:a16="http://schemas.microsoft.com/office/drawing/2014/main" id="{C4F8923F-5514-9E2A-F760-D4B967F9DB2D}"/>
              </a:ext>
            </a:extLst>
          </p:cNvPr>
          <p:cNvSpPr txBox="1">
            <a:spLocks/>
          </p:cNvSpPr>
          <p:nvPr/>
        </p:nvSpPr>
        <p:spPr>
          <a:xfrm>
            <a:off x="312361" y="5067640"/>
            <a:ext cx="4579200" cy="4449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also have the usual constraint:</a:t>
            </a:r>
            <a:endPar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37" name="Text Placeholder 5">
                <a:extLst>
                  <a:ext uri="{FF2B5EF4-FFF2-40B4-BE49-F238E27FC236}">
                    <a16:creationId xmlns:a16="http://schemas.microsoft.com/office/drawing/2014/main" id="{03B79D00-DE2A-440D-673C-D7B03D9D193E}"/>
                  </a:ext>
                </a:extLst>
              </p:cNvPr>
              <p:cNvSpPr txBox="1">
                <a:spLocks/>
              </p:cNvSpPr>
              <p:nvPr/>
            </p:nvSpPr>
            <p:spPr>
              <a:xfrm>
                <a:off x="745425" y="5611675"/>
                <a:ext cx="1405094" cy="4449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nary>
                      <m:naryPr>
                        <m:chr m:val="∑"/>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naryPr>
                      <m:sub>
                        <m:r>
                          <m:rPr>
                            <m:brk m:alnAt="23"/>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𝒂</m:t>
                        </m:r>
                      </m:sup>
                      <m:e>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𝜶</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𝟎</m:t>
                        </m:r>
                      </m:e>
                    </m:nary>
                  </m:oMath>
                </a14:m>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37" name="Text Placeholder 5">
                <a:extLst>
                  <a:ext uri="{FF2B5EF4-FFF2-40B4-BE49-F238E27FC236}">
                    <a16:creationId xmlns:a16="http://schemas.microsoft.com/office/drawing/2014/main" id="{03B79D00-DE2A-440D-673C-D7B03D9D193E}"/>
                  </a:ext>
                </a:extLst>
              </p:cNvPr>
              <p:cNvSpPr txBox="1">
                <a:spLocks noRot="1" noChangeAspect="1" noMove="1" noResize="1" noEditPoints="1" noAdjustHandles="1" noChangeArrowheads="1" noChangeShapeType="1" noTextEdit="1"/>
              </p:cNvSpPr>
              <p:nvPr/>
            </p:nvSpPr>
            <p:spPr>
              <a:xfrm>
                <a:off x="745425" y="5611675"/>
                <a:ext cx="1405094" cy="444936"/>
              </a:xfrm>
              <a:prstGeom prst="rect">
                <a:avLst/>
              </a:prstGeom>
              <a:blipFill>
                <a:blip r:embed="rId5"/>
                <a:stretch>
                  <a:fillRect l="-23810" t="-100000" b="-136986"/>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8" name="Text Placeholder 5">
                <a:extLst>
                  <a:ext uri="{FF2B5EF4-FFF2-40B4-BE49-F238E27FC236}">
                    <a16:creationId xmlns:a16="http://schemas.microsoft.com/office/drawing/2014/main" id="{E54B9864-AA91-554A-FBFF-DDA0AAC16AD9}"/>
                  </a:ext>
                </a:extLst>
              </p:cNvPr>
              <p:cNvSpPr txBox="1">
                <a:spLocks/>
              </p:cNvSpPr>
              <p:nvPr/>
            </p:nvSpPr>
            <p:spPr>
              <a:xfrm>
                <a:off x="3374325" y="5611675"/>
                <a:ext cx="2230812" cy="4449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nary>
                      <m:naryPr>
                        <m:chr m:val="∑"/>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naryPr>
                      <m:sub>
                        <m:r>
                          <m:rPr>
                            <m:brk m:alnAt="23"/>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𝒂</m:t>
                        </m:r>
                      </m:sup>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𝝁</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𝝁</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𝟎</m:t>
                        </m:r>
                      </m:e>
                    </m:nary>
                  </m:oMath>
                </a14:m>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38" name="Text Placeholder 5">
                <a:extLst>
                  <a:ext uri="{FF2B5EF4-FFF2-40B4-BE49-F238E27FC236}">
                    <a16:creationId xmlns:a16="http://schemas.microsoft.com/office/drawing/2014/main" id="{E54B9864-AA91-554A-FBFF-DDA0AAC16AD9}"/>
                  </a:ext>
                </a:extLst>
              </p:cNvPr>
              <p:cNvSpPr txBox="1">
                <a:spLocks noRot="1" noChangeAspect="1" noMove="1" noResize="1" noEditPoints="1" noAdjustHandles="1" noChangeArrowheads="1" noChangeShapeType="1" noTextEdit="1"/>
              </p:cNvSpPr>
              <p:nvPr/>
            </p:nvSpPr>
            <p:spPr>
              <a:xfrm>
                <a:off x="3374325" y="5611675"/>
                <a:ext cx="2230812" cy="444936"/>
              </a:xfrm>
              <a:prstGeom prst="rect">
                <a:avLst/>
              </a:prstGeom>
              <a:blipFill>
                <a:blip r:embed="rId6"/>
                <a:stretch>
                  <a:fillRect l="-15342" t="-100000" b="-136986"/>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9" name="Text Placeholder 5">
                <a:extLst>
                  <a:ext uri="{FF2B5EF4-FFF2-40B4-BE49-F238E27FC236}">
                    <a16:creationId xmlns:a16="http://schemas.microsoft.com/office/drawing/2014/main" id="{2AFDEE53-5572-A4C2-EE47-A91D1C740250}"/>
                  </a:ext>
                </a:extLst>
              </p:cNvPr>
              <p:cNvSpPr txBox="1">
                <a:spLocks/>
              </p:cNvSpPr>
              <p:nvPr/>
            </p:nvSpPr>
            <p:spPr>
              <a:xfrm>
                <a:off x="6332749" y="5512576"/>
                <a:ext cx="2230812" cy="4449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f>
                      <m:f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fPr>
                      <m:num>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num>
                      <m:den>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𝒂</m:t>
                        </m:r>
                      </m:den>
                    </m:f>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nary>
                      <m:naryPr>
                        <m:chr m:val="∑"/>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naryPr>
                      <m:sub>
                        <m:r>
                          <m:rPr>
                            <m:brk m:alnAt="23"/>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𝒂</m:t>
                        </m:r>
                      </m:sup>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𝝁</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𝝁</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e>
                    </m:nary>
                  </m:oMath>
                </a14:m>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39" name="Text Placeholder 5">
                <a:extLst>
                  <a:ext uri="{FF2B5EF4-FFF2-40B4-BE49-F238E27FC236}">
                    <a16:creationId xmlns:a16="http://schemas.microsoft.com/office/drawing/2014/main" id="{2AFDEE53-5572-A4C2-EE47-A91D1C740250}"/>
                  </a:ext>
                </a:extLst>
              </p:cNvPr>
              <p:cNvSpPr txBox="1">
                <a:spLocks noRot="1" noChangeAspect="1" noMove="1" noResize="1" noEditPoints="1" noAdjustHandles="1" noChangeArrowheads="1" noChangeShapeType="1" noTextEdit="1"/>
              </p:cNvSpPr>
              <p:nvPr/>
            </p:nvSpPr>
            <p:spPr>
              <a:xfrm>
                <a:off x="6332749" y="5512576"/>
                <a:ext cx="2230812" cy="444936"/>
              </a:xfrm>
              <a:prstGeom prst="rect">
                <a:avLst/>
              </a:prstGeom>
              <a:blipFill>
                <a:blip r:embed="rId7"/>
                <a:stretch>
                  <a:fillRect l="-6557" t="-84932" b="-152055"/>
                </a:stretch>
              </a:blipFill>
            </p:spPr>
            <p:txBody>
              <a:bodyPr/>
              <a:lstStyle/>
              <a:p>
                <a:r>
                  <a:rPr lang="en-NZ">
                    <a:noFill/>
                  </a:rPr>
                  <a:t> </a:t>
                </a:r>
              </a:p>
            </p:txBody>
          </p:sp>
        </mc:Fallback>
      </mc:AlternateContent>
      <p:sp>
        <p:nvSpPr>
          <p:cNvPr id="40" name="Text Placeholder 5">
            <a:extLst>
              <a:ext uri="{FF2B5EF4-FFF2-40B4-BE49-F238E27FC236}">
                <a16:creationId xmlns:a16="http://schemas.microsoft.com/office/drawing/2014/main" id="{745C906E-8817-46D4-40AE-86B99521EB21}"/>
              </a:ext>
            </a:extLst>
          </p:cNvPr>
          <p:cNvSpPr txBox="1">
            <a:spLocks/>
          </p:cNvSpPr>
          <p:nvPr/>
        </p:nvSpPr>
        <p:spPr>
          <a:xfrm>
            <a:off x="8816580" y="5382357"/>
            <a:ext cx="2808027"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600">
                <a:solidFill>
                  <a:schemeClr val="bg2">
                    <a:lumMod val="50000"/>
                  </a:schemeClr>
                </a:solidFill>
                <a:latin typeface="Calibri" panose="020F0502020204030204"/>
                <a:ea typeface="游ゴシック" panose="020B0400000000000000" pitchFamily="34" charset="-128"/>
              </a:rPr>
              <a:t>The </a:t>
            </a:r>
            <a:r>
              <a:rPr lang="en-NZ" altLang="ja-JP" sz="1600" dirty="0" err="1">
                <a:solidFill>
                  <a:schemeClr val="bg2">
                    <a:lumMod val="50000"/>
                  </a:schemeClr>
                </a:solidFill>
                <a:latin typeface="Calibri" panose="020F0502020204030204"/>
                <a:ea typeface="游ゴシック" panose="020B0400000000000000" pitchFamily="34" charset="-128"/>
              </a:rPr>
              <a:t>avg</a:t>
            </a:r>
            <a:r>
              <a:rPr lang="en-NZ" altLang="ja-JP" sz="1600" dirty="0">
                <a:solidFill>
                  <a:schemeClr val="bg2">
                    <a:lumMod val="50000"/>
                  </a:schemeClr>
                </a:solidFill>
                <a:latin typeface="Calibri" panose="020F0502020204030204"/>
                <a:ea typeface="游ゴシック" panose="020B0400000000000000" pitchFamily="34" charset="-128"/>
              </a:rPr>
              <a:t> </a:t>
            </a:r>
            <a:r>
              <a:rPr lang="en-NZ" altLang="ja-JP" sz="1600">
                <a:solidFill>
                  <a:schemeClr val="bg2">
                    <a:lumMod val="50000"/>
                  </a:schemeClr>
                </a:solidFill>
                <a:latin typeface="Calibri" panose="020F0502020204030204"/>
                <a:ea typeface="游ゴシック" panose="020B0400000000000000" pitchFamily="34" charset="-128"/>
              </a:rPr>
              <a:t>of the factor level means is equal to the population mean</a:t>
            </a:r>
            <a:endParaRPr kumimoji="1" lang="en-NZ" altLang="ja-JP" sz="1600" b="0" i="1"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endParaRPr>
          </a:p>
        </p:txBody>
      </p:sp>
      <p:sp>
        <p:nvSpPr>
          <p:cNvPr id="41" name="Text Placeholder 5">
            <a:extLst>
              <a:ext uri="{FF2B5EF4-FFF2-40B4-BE49-F238E27FC236}">
                <a16:creationId xmlns:a16="http://schemas.microsoft.com/office/drawing/2014/main" id="{0C54B834-97C7-EB3C-2200-FBC0FCA42D47}"/>
              </a:ext>
            </a:extLst>
          </p:cNvPr>
          <p:cNvSpPr txBox="1">
            <a:spLocks/>
          </p:cNvSpPr>
          <p:nvPr/>
        </p:nvSpPr>
        <p:spPr>
          <a:xfrm>
            <a:off x="2520460" y="5633612"/>
            <a:ext cx="465511"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prstClr val="black"/>
                </a:solidFill>
                <a:latin typeface="Calibri" panose="020F0502020204030204"/>
                <a:ea typeface="游ゴシック" panose="020B0400000000000000" pitchFamily="34" charset="-128"/>
                <a:sym typeface="Wingdings" panose="05000000000000000000" pitchFamily="2" charset="2"/>
              </a:rPr>
              <a:t></a:t>
            </a: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42" name="Text Placeholder 5">
            <a:extLst>
              <a:ext uri="{FF2B5EF4-FFF2-40B4-BE49-F238E27FC236}">
                <a16:creationId xmlns:a16="http://schemas.microsoft.com/office/drawing/2014/main" id="{00A4BDDD-3FA6-A135-0225-44164E82D469}"/>
              </a:ext>
            </a:extLst>
          </p:cNvPr>
          <p:cNvSpPr txBox="1">
            <a:spLocks/>
          </p:cNvSpPr>
          <p:nvPr/>
        </p:nvSpPr>
        <p:spPr>
          <a:xfrm>
            <a:off x="5736187" y="5633612"/>
            <a:ext cx="465511"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prstClr val="black"/>
                </a:solidFill>
                <a:latin typeface="Calibri" panose="020F0502020204030204"/>
                <a:ea typeface="游ゴシック" panose="020B0400000000000000" pitchFamily="34" charset="-128"/>
                <a:sym typeface="Wingdings" panose="05000000000000000000" pitchFamily="2" charset="2"/>
              </a:rPr>
              <a:t></a:t>
            </a: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43" name="Text Placeholder 5">
            <a:extLst>
              <a:ext uri="{FF2B5EF4-FFF2-40B4-BE49-F238E27FC236}">
                <a16:creationId xmlns:a16="http://schemas.microsoft.com/office/drawing/2014/main" id="{43E593D1-EF4A-759D-4F69-73A46D3B3769}"/>
              </a:ext>
            </a:extLst>
          </p:cNvPr>
          <p:cNvSpPr txBox="1">
            <a:spLocks/>
          </p:cNvSpPr>
          <p:nvPr/>
        </p:nvSpPr>
        <p:spPr>
          <a:xfrm>
            <a:off x="8217124" y="5611675"/>
            <a:ext cx="465511"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prstClr val="black"/>
                </a:solidFill>
                <a:latin typeface="Calibri" panose="020F0502020204030204"/>
                <a:ea typeface="游ゴシック" panose="020B0400000000000000" pitchFamily="34" charset="-128"/>
                <a:sym typeface="Wingdings" panose="05000000000000000000" pitchFamily="2" charset="2"/>
              </a:rPr>
              <a:t></a:t>
            </a: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8" name="Footer Placeholder 2">
            <a:extLst>
              <a:ext uri="{FF2B5EF4-FFF2-40B4-BE49-F238E27FC236}">
                <a16:creationId xmlns:a16="http://schemas.microsoft.com/office/drawing/2014/main" id="{CEA6103C-DD92-5AB5-C6A6-0EFD83DF6117}"/>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4.4 – </a:t>
            </a:r>
            <a:r>
              <a:rPr kumimoji="1" lang="en-US" altLang="ja-JP" sz="1600" dirty="0">
                <a:solidFill>
                  <a:srgbClr val="DEDDDD"/>
                </a:solidFill>
                <a:latin typeface="Gidole"/>
                <a:ea typeface="游ゴシック" panose="020B0400000000000000" pitchFamily="34" charset="-128"/>
              </a:rPr>
              <a:t>Mixed Effects Model</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102027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37" grpId="0"/>
      <p:bldP spid="38" grpId="0"/>
      <p:bldP spid="39" grpId="0"/>
      <p:bldP spid="40" grpId="0"/>
      <p:bldP spid="41" grpId="0"/>
      <p:bldP spid="42" grpId="0"/>
      <p:bldP spid="4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Venn diagram&#10;&#10;Description automatically generated with low confidence">
            <a:extLst>
              <a:ext uri="{FF2B5EF4-FFF2-40B4-BE49-F238E27FC236}">
                <a16:creationId xmlns:a16="http://schemas.microsoft.com/office/drawing/2014/main" id="{81A165B1-06E1-3CE1-1FC6-9575C7F746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4523" y="2747927"/>
            <a:ext cx="3776452" cy="1323975"/>
          </a:xfrm>
          <a:prstGeom prst="rect">
            <a:avLst/>
          </a:prstGeom>
        </p:spPr>
      </p:pic>
      <p:pic>
        <p:nvPicPr>
          <p:cNvPr id="36" name="Picture 35" descr="Venn diagram&#10;&#10;Description automatically generated with low confidence">
            <a:extLst>
              <a:ext uri="{FF2B5EF4-FFF2-40B4-BE49-F238E27FC236}">
                <a16:creationId xmlns:a16="http://schemas.microsoft.com/office/drawing/2014/main" id="{A78AD4AF-DAB5-3705-382E-1A1A2A1762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35487" y="2781965"/>
            <a:ext cx="3776452" cy="1323975"/>
          </a:xfrm>
          <a:prstGeom prst="rect">
            <a:avLst/>
          </a:prstGeom>
        </p:spPr>
      </p:pic>
      <mc:AlternateContent xmlns:mc="http://schemas.openxmlformats.org/markup-compatibility/2006" xmlns:a14="http://schemas.microsoft.com/office/drawing/2010/main">
        <mc:Choice Requires="a14">
          <p:sp>
            <p:nvSpPr>
              <p:cNvPr id="17" name="Text Placeholder 5">
                <a:extLst>
                  <a:ext uri="{FF2B5EF4-FFF2-40B4-BE49-F238E27FC236}">
                    <a16:creationId xmlns:a16="http://schemas.microsoft.com/office/drawing/2014/main" id="{0147D05C-3746-46B2-96A4-6929D39D5E9E}"/>
                  </a:ext>
                </a:extLst>
              </p:cNvPr>
              <p:cNvSpPr txBox="1">
                <a:spLocks/>
              </p:cNvSpPr>
              <p:nvPr/>
            </p:nvSpPr>
            <p:spPr>
              <a:xfrm>
                <a:off x="2097204" y="1087900"/>
                <a:ext cx="7997592"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pPr>
                <a14:m>
                  <m:oMathPara xmlns:m="http://schemas.openxmlformats.org/officeDocument/2006/math">
                    <m:oMathParaPr>
                      <m:jc m:val="centerGroup"/>
                    </m:oMathParaPr>
                    <m:oMath xmlns:m="http://schemas.openxmlformats.org/officeDocument/2006/math">
                      <m:sSub>
                        <m:sSubPr>
                          <m:ctrlPr>
                            <a:rPr lang="en-NZ" altLang="ja-JP" sz="2000" b="1" i="1" smtClean="0">
                              <a:solidFill>
                                <a:srgbClr val="C00000"/>
                              </a:solidFill>
                              <a:latin typeface="Cambria Math" panose="02040503050406030204" pitchFamily="18" charset="0"/>
                            </a:rPr>
                          </m:ctrlPr>
                        </m:sSubPr>
                        <m:e>
                          <m:r>
                            <a:rPr lang="en-NZ" altLang="ja-JP" sz="2000" b="1" i="1">
                              <a:solidFill>
                                <a:srgbClr val="C00000"/>
                              </a:solidFill>
                              <a:latin typeface="Cambria Math" panose="02040503050406030204" pitchFamily="18" charset="0"/>
                            </a:rPr>
                            <m:t>𝒀</m:t>
                          </m:r>
                        </m:e>
                        <m:sub>
                          <m:r>
                            <a:rPr lang="en-NZ" altLang="ja-JP" sz="2000" b="1" i="1">
                              <a:solidFill>
                                <a:srgbClr val="C00000"/>
                              </a:solidFill>
                              <a:latin typeface="Cambria Math" panose="02040503050406030204" pitchFamily="18" charset="0"/>
                            </a:rPr>
                            <m:t>𝒊𝒋𝒌</m:t>
                          </m:r>
                        </m:sub>
                      </m:sSub>
                      <m:r>
                        <a:rPr lang="en-NZ" altLang="ja-JP" sz="2000" b="1" i="1">
                          <a:solidFill>
                            <a:srgbClr val="C00000"/>
                          </a:solidFill>
                          <a:latin typeface="Cambria Math" panose="02040503050406030204" pitchFamily="18" charset="0"/>
                        </a:rPr>
                        <m:t>   =     </m:t>
                      </m:r>
                      <m:r>
                        <a:rPr lang="en-NZ" altLang="ja-JP" sz="2000" b="1" i="1">
                          <a:solidFill>
                            <a:srgbClr val="C00000"/>
                          </a:solidFill>
                          <a:latin typeface="Cambria Math" panose="02040503050406030204" pitchFamily="18" charset="0"/>
                        </a:rPr>
                        <m:t>𝝁</m:t>
                      </m:r>
                      <m:r>
                        <a:rPr lang="en-NZ" altLang="ja-JP" sz="2000" b="1" i="1">
                          <a:solidFill>
                            <a:srgbClr val="C00000"/>
                          </a:solidFill>
                          <a:latin typeface="Cambria Math" panose="02040503050406030204" pitchFamily="18" charset="0"/>
                        </a:rPr>
                        <m:t>  +   </m:t>
                      </m:r>
                      <m:sSub>
                        <m:sSubPr>
                          <m:ctrlPr>
                            <a:rPr lang="en-NZ" altLang="ja-JP" sz="2000" b="1" i="1">
                              <a:solidFill>
                                <a:srgbClr val="C00000"/>
                              </a:solidFill>
                              <a:latin typeface="Cambria Math" panose="02040503050406030204" pitchFamily="18" charset="0"/>
                            </a:rPr>
                          </m:ctrlPr>
                        </m:sSubPr>
                        <m:e>
                          <m:r>
                            <a:rPr lang="en-NZ" altLang="ja-JP" sz="2000" b="1" i="1">
                              <a:solidFill>
                                <a:srgbClr val="C00000"/>
                              </a:solidFill>
                              <a:latin typeface="Cambria Math" panose="02040503050406030204" pitchFamily="18" charset="0"/>
                            </a:rPr>
                            <m:t>𝜶</m:t>
                          </m:r>
                        </m:e>
                        <m:sub>
                          <m:r>
                            <a:rPr lang="en-NZ" altLang="ja-JP" sz="2000" b="1" i="1">
                              <a:solidFill>
                                <a:srgbClr val="C00000"/>
                              </a:solidFill>
                              <a:latin typeface="Cambria Math" panose="02040503050406030204" pitchFamily="18" charset="0"/>
                            </a:rPr>
                            <m:t>𝒊</m:t>
                          </m:r>
                        </m:sub>
                      </m:sSub>
                      <m:r>
                        <a:rPr lang="en-NZ" altLang="ja-JP" sz="2000" b="1" i="1">
                          <a:solidFill>
                            <a:srgbClr val="C00000"/>
                          </a:solidFill>
                          <a:latin typeface="Cambria Math" panose="02040503050406030204" pitchFamily="18" charset="0"/>
                        </a:rPr>
                        <m:t>  +   </m:t>
                      </m:r>
                      <m:sSub>
                        <m:sSubPr>
                          <m:ctrlPr>
                            <a:rPr lang="en-NZ" altLang="ja-JP" sz="2000" b="1" i="1">
                              <a:solidFill>
                                <a:srgbClr val="C00000"/>
                              </a:solidFill>
                              <a:latin typeface="Cambria Math" panose="02040503050406030204" pitchFamily="18" charset="0"/>
                            </a:rPr>
                          </m:ctrlPr>
                        </m:sSubPr>
                        <m:e>
                          <m:r>
                            <a:rPr lang="en-NZ" altLang="ja-JP" sz="2000" b="1" i="1" smtClean="0">
                              <a:solidFill>
                                <a:srgbClr val="C00000"/>
                              </a:solidFill>
                              <a:latin typeface="Cambria Math" panose="02040503050406030204" pitchFamily="18" charset="0"/>
                            </a:rPr>
                            <m:t>𝑩</m:t>
                          </m:r>
                        </m:e>
                        <m:sub>
                          <m:r>
                            <a:rPr lang="en-NZ" altLang="ja-JP" sz="2000" b="1" i="1">
                              <a:solidFill>
                                <a:srgbClr val="C00000"/>
                              </a:solidFill>
                              <a:latin typeface="Cambria Math" panose="02040503050406030204" pitchFamily="18" charset="0"/>
                            </a:rPr>
                            <m:t>𝒋</m:t>
                          </m:r>
                        </m:sub>
                      </m:sSub>
                      <m:r>
                        <a:rPr lang="en-NZ" altLang="ja-JP" sz="2000" b="1" i="1">
                          <a:solidFill>
                            <a:srgbClr val="C00000"/>
                          </a:solidFill>
                          <a:latin typeface="Cambria Math" panose="02040503050406030204" pitchFamily="18" charset="0"/>
                        </a:rPr>
                        <m:t>  +   </m:t>
                      </m:r>
                      <m:sSub>
                        <m:sSubPr>
                          <m:ctrlPr>
                            <a:rPr lang="en-NZ" altLang="ja-JP" sz="2000" b="1" i="1">
                              <a:solidFill>
                                <a:srgbClr val="C00000"/>
                              </a:solidFill>
                              <a:latin typeface="Cambria Math" panose="02040503050406030204" pitchFamily="18" charset="0"/>
                            </a:rPr>
                          </m:ctrlPr>
                        </m:sSubPr>
                        <m:e>
                          <m:r>
                            <a:rPr lang="en-NZ" altLang="ja-JP" sz="2000" b="1" i="1">
                              <a:solidFill>
                                <a:srgbClr val="C00000"/>
                              </a:solidFill>
                              <a:latin typeface="Cambria Math" panose="02040503050406030204" pitchFamily="18" charset="0"/>
                            </a:rPr>
                            <m:t>𝝐</m:t>
                          </m:r>
                        </m:e>
                        <m:sub>
                          <m:r>
                            <a:rPr lang="en-NZ" altLang="ja-JP" sz="2000" b="1" i="1">
                              <a:solidFill>
                                <a:srgbClr val="C00000"/>
                              </a:solidFill>
                              <a:latin typeface="Cambria Math" panose="02040503050406030204" pitchFamily="18" charset="0"/>
                            </a:rPr>
                            <m:t>𝒊𝒋𝒌</m:t>
                          </m:r>
                        </m:sub>
                      </m:sSub>
                    </m:oMath>
                  </m:oMathPara>
                </a14:m>
                <a:endPar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7" name="Text Placeholder 5">
                <a:extLst>
                  <a:ext uri="{FF2B5EF4-FFF2-40B4-BE49-F238E27FC236}">
                    <a16:creationId xmlns:a16="http://schemas.microsoft.com/office/drawing/2014/main" id="{0147D05C-3746-46B2-96A4-6929D39D5E9E}"/>
                  </a:ext>
                </a:extLst>
              </p:cNvPr>
              <p:cNvSpPr txBox="1">
                <a:spLocks noRot="1" noChangeAspect="1" noMove="1" noResize="1" noEditPoints="1" noAdjustHandles="1" noChangeArrowheads="1" noChangeShapeType="1" noTextEdit="1"/>
              </p:cNvSpPr>
              <p:nvPr/>
            </p:nvSpPr>
            <p:spPr>
              <a:xfrm>
                <a:off x="2097204" y="1087900"/>
                <a:ext cx="7997592" cy="474953"/>
              </a:xfrm>
              <a:prstGeom prst="rect">
                <a:avLst/>
              </a:prstGeom>
              <a:blipFill>
                <a:blip r:embed="rId3"/>
                <a:stretch>
                  <a:fillRect b="-1282"/>
                </a:stretch>
              </a:blipFill>
            </p:spPr>
            <p:txBody>
              <a:bodyPr/>
              <a:lstStyle/>
              <a:p>
                <a:r>
                  <a:rPr lang="en-NZ">
                    <a:noFill/>
                  </a:rPr>
                  <a:t> </a:t>
                </a:r>
              </a:p>
            </p:txBody>
          </p:sp>
        </mc:Fallback>
      </mc:AlternateContent>
      <p:sp>
        <p:nvSpPr>
          <p:cNvPr id="22" name="Slide Number Placeholder 3">
            <a:extLst>
              <a:ext uri="{FF2B5EF4-FFF2-40B4-BE49-F238E27FC236}">
                <a16:creationId xmlns:a16="http://schemas.microsoft.com/office/drawing/2014/main" id="{2A4E77AE-A8F4-4CFE-A7E4-1FE18F612B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cxnSp>
        <p:nvCxnSpPr>
          <p:cNvPr id="3" name="Straight Connector 2">
            <a:extLst>
              <a:ext uri="{FF2B5EF4-FFF2-40B4-BE49-F238E27FC236}">
                <a16:creationId xmlns:a16="http://schemas.microsoft.com/office/drawing/2014/main" id="{3C6821EE-A317-E049-8E5E-F4D8A0FCFDA0}"/>
              </a:ext>
            </a:extLst>
          </p:cNvPr>
          <p:cNvCxnSpPr>
            <a:cxnSpLocks/>
          </p:cNvCxnSpPr>
          <p:nvPr/>
        </p:nvCxnSpPr>
        <p:spPr>
          <a:xfrm>
            <a:off x="1114568" y="4094329"/>
            <a:ext cx="99628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D433551E-78AB-B4D3-763A-BC455D1D8B1A}"/>
              </a:ext>
            </a:extLst>
          </p:cNvPr>
          <p:cNvSpPr/>
          <p:nvPr/>
        </p:nvSpPr>
        <p:spPr>
          <a:xfrm>
            <a:off x="1448938" y="3928602"/>
            <a:ext cx="286603" cy="2866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Oval 19">
            <a:extLst>
              <a:ext uri="{FF2B5EF4-FFF2-40B4-BE49-F238E27FC236}">
                <a16:creationId xmlns:a16="http://schemas.microsoft.com/office/drawing/2014/main" id="{76C023CB-14E6-4370-A9FD-6461C4CDB7E5}"/>
              </a:ext>
            </a:extLst>
          </p:cNvPr>
          <p:cNvSpPr/>
          <p:nvPr/>
        </p:nvSpPr>
        <p:spPr>
          <a:xfrm>
            <a:off x="5329449" y="3928601"/>
            <a:ext cx="286603" cy="2866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6" name="Straight Arrow Connector 5">
            <a:extLst>
              <a:ext uri="{FF2B5EF4-FFF2-40B4-BE49-F238E27FC236}">
                <a16:creationId xmlns:a16="http://schemas.microsoft.com/office/drawing/2014/main" id="{BD7B6A4F-569D-955C-161B-7196F86CE059}"/>
              </a:ext>
            </a:extLst>
          </p:cNvPr>
          <p:cNvCxnSpPr>
            <a:cxnSpLocks/>
          </p:cNvCxnSpPr>
          <p:nvPr/>
        </p:nvCxnSpPr>
        <p:spPr>
          <a:xfrm>
            <a:off x="1855313" y="4442242"/>
            <a:ext cx="3617438" cy="49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 Placeholder 5">
                <a:extLst>
                  <a:ext uri="{FF2B5EF4-FFF2-40B4-BE49-F238E27FC236}">
                    <a16:creationId xmlns:a16="http://schemas.microsoft.com/office/drawing/2014/main" id="{0DEF057B-7393-208D-3722-9C1B2D677044}"/>
                  </a:ext>
                </a:extLst>
              </p:cNvPr>
              <p:cNvSpPr txBox="1">
                <a:spLocks/>
              </p:cNvSpPr>
              <p:nvPr/>
            </p:nvSpPr>
            <p:spPr>
              <a:xfrm>
                <a:off x="1349775" y="4226778"/>
                <a:ext cx="543636"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oMath>
                  </m:oMathPara>
                </a14:m>
                <a:endPar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5" name="Text Placeholder 5">
                <a:extLst>
                  <a:ext uri="{FF2B5EF4-FFF2-40B4-BE49-F238E27FC236}">
                    <a16:creationId xmlns:a16="http://schemas.microsoft.com/office/drawing/2014/main" id="{0DEF057B-7393-208D-3722-9C1B2D677044}"/>
                  </a:ext>
                </a:extLst>
              </p:cNvPr>
              <p:cNvSpPr txBox="1">
                <a:spLocks noRot="1" noChangeAspect="1" noMove="1" noResize="1" noEditPoints="1" noAdjustHandles="1" noChangeArrowheads="1" noChangeShapeType="1" noTextEdit="1"/>
              </p:cNvSpPr>
              <p:nvPr/>
            </p:nvSpPr>
            <p:spPr>
              <a:xfrm>
                <a:off x="1349775" y="4226778"/>
                <a:ext cx="543636" cy="474953"/>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6" name="Text Placeholder 5">
                <a:extLst>
                  <a:ext uri="{FF2B5EF4-FFF2-40B4-BE49-F238E27FC236}">
                    <a16:creationId xmlns:a16="http://schemas.microsoft.com/office/drawing/2014/main" id="{75F3BB90-89BC-5219-0CD7-2C7B4D97A5F2}"/>
                  </a:ext>
                </a:extLst>
              </p:cNvPr>
              <p:cNvSpPr txBox="1">
                <a:spLocks/>
              </p:cNvSpPr>
              <p:nvPr/>
            </p:nvSpPr>
            <p:spPr>
              <a:xfrm>
                <a:off x="4981430" y="4548917"/>
                <a:ext cx="982639" cy="45378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
                    </m:oMathParaPr>
                    <m:oMath xmlns:m="http://schemas.openxmlformats.org/officeDocument/2006/math">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r>
                        <a:rPr kumimoji="1" lang="en-NZ" altLang="ja-JP" sz="2000" b="1" i="0"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oMath>
                  </m:oMathPara>
                </a14:m>
                <a:br>
                  <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br>
                <a:endPar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6" name="Text Placeholder 5">
                <a:extLst>
                  <a:ext uri="{FF2B5EF4-FFF2-40B4-BE49-F238E27FC236}">
                    <a16:creationId xmlns:a16="http://schemas.microsoft.com/office/drawing/2014/main" id="{75F3BB90-89BC-5219-0CD7-2C7B4D97A5F2}"/>
                  </a:ext>
                </a:extLst>
              </p:cNvPr>
              <p:cNvSpPr txBox="1">
                <a:spLocks noRot="1" noChangeAspect="1" noMove="1" noResize="1" noEditPoints="1" noAdjustHandles="1" noChangeArrowheads="1" noChangeShapeType="1" noTextEdit="1"/>
              </p:cNvSpPr>
              <p:nvPr/>
            </p:nvSpPr>
            <p:spPr>
              <a:xfrm>
                <a:off x="4981430" y="4548917"/>
                <a:ext cx="982639" cy="453788"/>
              </a:xfrm>
              <a:prstGeom prst="rect">
                <a:avLst/>
              </a:prstGeom>
              <a:blipFill>
                <a:blip r:embed="rId5"/>
                <a:stretch>
                  <a:fillRect/>
                </a:stretch>
              </a:blipFill>
            </p:spPr>
            <p:txBody>
              <a:bodyPr/>
              <a:lstStyle/>
              <a:p>
                <a:r>
                  <a:rPr lang="en-NZ">
                    <a:noFill/>
                  </a:rPr>
                  <a:t> </a:t>
                </a:r>
              </a:p>
            </p:txBody>
          </p:sp>
        </mc:Fallback>
      </mc:AlternateContent>
      <p:cxnSp>
        <p:nvCxnSpPr>
          <p:cNvPr id="30" name="Straight Connector 29">
            <a:extLst>
              <a:ext uri="{FF2B5EF4-FFF2-40B4-BE49-F238E27FC236}">
                <a16:creationId xmlns:a16="http://schemas.microsoft.com/office/drawing/2014/main" id="{C936937E-8A93-790E-5B50-ECA6F9CB0A9B}"/>
              </a:ext>
            </a:extLst>
          </p:cNvPr>
          <p:cNvCxnSpPr/>
          <p:nvPr/>
        </p:nvCxnSpPr>
        <p:spPr>
          <a:xfrm>
            <a:off x="6623714" y="3698542"/>
            <a:ext cx="0" cy="395786"/>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Text Placeholder 5">
                <a:extLst>
                  <a:ext uri="{FF2B5EF4-FFF2-40B4-BE49-F238E27FC236}">
                    <a16:creationId xmlns:a16="http://schemas.microsoft.com/office/drawing/2014/main" id="{F2858A14-69D9-BAE8-A179-A6351391BD07}"/>
                  </a:ext>
                </a:extLst>
              </p:cNvPr>
              <p:cNvSpPr txBox="1">
                <a:spLocks/>
              </p:cNvSpPr>
              <p:nvPr/>
            </p:nvSpPr>
            <p:spPr>
              <a:xfrm>
                <a:off x="570010" y="1779107"/>
                <a:ext cx="3305954" cy="45378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0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Consider modelling </a:t>
                </a:r>
                <a14:m>
                  <m:oMath xmlns:m="http://schemas.openxmlformats.org/officeDocument/2006/math">
                    <m:sSub>
                      <m:sSubPr>
                        <m:ctrlPr>
                          <a:rPr kumimoji="1" lang="en-NZ" altLang="ja-JP" sz="2000" b="1" i="1" u="none" strike="noStrike" kern="1200" cap="none" spc="0" normalizeH="0" baseline="0" noProof="0" smtClean="0">
                            <a:ln>
                              <a:noFill/>
                            </a:ln>
                            <a:solidFill>
                              <a:srgbClr val="0070C0"/>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𝒀</m:t>
                        </m:r>
                      </m:e>
                      <m:sub>
                        <m:r>
                          <a:rPr kumimoji="1" lang="en-NZ" altLang="ja-JP" sz="20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𝒊𝒋𝒌</m:t>
                        </m:r>
                      </m:sub>
                    </m:sSub>
                  </m:oMath>
                </a14:m>
                <a:endPar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32" name="Text Placeholder 5">
                <a:extLst>
                  <a:ext uri="{FF2B5EF4-FFF2-40B4-BE49-F238E27FC236}">
                    <a16:creationId xmlns:a16="http://schemas.microsoft.com/office/drawing/2014/main" id="{F2858A14-69D9-BAE8-A179-A6351391BD07}"/>
                  </a:ext>
                </a:extLst>
              </p:cNvPr>
              <p:cNvSpPr txBox="1">
                <a:spLocks noRot="1" noChangeAspect="1" noMove="1" noResize="1" noEditPoints="1" noAdjustHandles="1" noChangeArrowheads="1" noChangeShapeType="1" noTextEdit="1"/>
              </p:cNvSpPr>
              <p:nvPr/>
            </p:nvSpPr>
            <p:spPr>
              <a:xfrm>
                <a:off x="570010" y="1779107"/>
                <a:ext cx="3305954" cy="453789"/>
              </a:xfrm>
              <a:prstGeom prst="rect">
                <a:avLst/>
              </a:prstGeom>
              <a:blipFill>
                <a:blip r:embed="rId6"/>
                <a:stretch>
                  <a:fillRect t="-6757" b="-13514"/>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3" name="Text Placeholder 5">
                <a:extLst>
                  <a:ext uri="{FF2B5EF4-FFF2-40B4-BE49-F238E27FC236}">
                    <a16:creationId xmlns:a16="http://schemas.microsoft.com/office/drawing/2014/main" id="{9C6DFD2C-B76D-C299-2F43-2D11D0E8B0B7}"/>
                  </a:ext>
                </a:extLst>
              </p:cNvPr>
              <p:cNvSpPr txBox="1">
                <a:spLocks/>
              </p:cNvSpPr>
              <p:nvPr/>
            </p:nvSpPr>
            <p:spPr>
              <a:xfrm>
                <a:off x="2966005" y="4051726"/>
                <a:ext cx="1132980" cy="53864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
                    </m:oMathParaPr>
                    <m:oMath xmlns:m="http://schemas.openxmlformats.org/officeDocument/2006/math">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&gt;</m:t>
                      </m:r>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oMath>
                  </m:oMathPara>
                </a14:m>
                <a:br>
                  <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br>
                <a:endParaRPr kumimoji="1" lang="en-NZ" altLang="ja-JP" sz="20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33" name="Text Placeholder 5">
                <a:extLst>
                  <a:ext uri="{FF2B5EF4-FFF2-40B4-BE49-F238E27FC236}">
                    <a16:creationId xmlns:a16="http://schemas.microsoft.com/office/drawing/2014/main" id="{9C6DFD2C-B76D-C299-2F43-2D11D0E8B0B7}"/>
                  </a:ext>
                </a:extLst>
              </p:cNvPr>
              <p:cNvSpPr txBox="1">
                <a:spLocks noRot="1" noChangeAspect="1" noMove="1" noResize="1" noEditPoints="1" noAdjustHandles="1" noChangeArrowheads="1" noChangeShapeType="1" noTextEdit="1"/>
              </p:cNvSpPr>
              <p:nvPr/>
            </p:nvSpPr>
            <p:spPr>
              <a:xfrm>
                <a:off x="2966005" y="4051726"/>
                <a:ext cx="1132980" cy="538640"/>
              </a:xfrm>
              <a:prstGeom prst="rect">
                <a:avLst/>
              </a:prstGeom>
              <a:blipFill>
                <a:blip r:embed="rId7"/>
                <a:stretch>
                  <a:fillRect/>
                </a:stretch>
              </a:blipFill>
            </p:spPr>
            <p:txBody>
              <a:bodyPr/>
              <a:lstStyle/>
              <a:p>
                <a:r>
                  <a:rPr lang="en-NZ">
                    <a:noFill/>
                  </a:rPr>
                  <a:t> </a:t>
                </a:r>
              </a:p>
            </p:txBody>
          </p:sp>
        </mc:Fallback>
      </mc:AlternateContent>
      <p:sp>
        <p:nvSpPr>
          <p:cNvPr id="40" name="Oval 39">
            <a:extLst>
              <a:ext uri="{FF2B5EF4-FFF2-40B4-BE49-F238E27FC236}">
                <a16:creationId xmlns:a16="http://schemas.microsoft.com/office/drawing/2014/main" id="{ADCC2713-9204-9B91-B72C-C6D54FDE039E}"/>
              </a:ext>
            </a:extLst>
          </p:cNvPr>
          <p:cNvSpPr/>
          <p:nvPr/>
        </p:nvSpPr>
        <p:spPr>
          <a:xfrm>
            <a:off x="6480412" y="3951027"/>
            <a:ext cx="286603" cy="2866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47" name="Text Placeholder 5">
                <a:extLst>
                  <a:ext uri="{FF2B5EF4-FFF2-40B4-BE49-F238E27FC236}">
                    <a16:creationId xmlns:a16="http://schemas.microsoft.com/office/drawing/2014/main" id="{B17BB661-69C0-600C-BF7B-39620CA75921}"/>
                  </a:ext>
                </a:extLst>
              </p:cNvPr>
              <p:cNvSpPr txBox="1">
                <a:spLocks/>
              </p:cNvSpPr>
              <p:nvPr/>
            </p:nvSpPr>
            <p:spPr>
              <a:xfrm>
                <a:off x="6096000" y="4538726"/>
                <a:ext cx="1599402" cy="45378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
                    </m:oMathParaPr>
                    <m:oMath xmlns:m="http://schemas.openxmlformats.org/officeDocument/2006/math">
                      <m:r>
                        <a:rPr kumimoji="1" lang="en-NZ" altLang="ja-JP" sz="20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𝝁</m:t>
                      </m:r>
                      <m:r>
                        <a:rPr kumimoji="1" lang="en-NZ" altLang="ja-JP" sz="2000" b="1" i="0" u="none" strike="noStrike" kern="1200" cap="none" spc="0" normalizeH="0" baseline="0" noProof="0" smtClean="0">
                          <a:ln>
                            <a:noFill/>
                          </a:ln>
                          <a:solidFill>
                            <a:schemeClr val="tx1"/>
                          </a:solidFill>
                          <a:effectLst/>
                          <a:uLnTx/>
                          <a:uFillTx/>
                          <a:latin typeface="Cambria Math" panose="02040503050406030204" pitchFamily="18" charset="0"/>
                          <a:cs typeface="+mn-cs"/>
                        </a:rPr>
                        <m:t>+</m:t>
                      </m:r>
                      <m:sSub>
                        <m:sSubPr>
                          <m:ctrlPr>
                            <a:rPr kumimoji="1" lang="en-NZ" altLang="ja-JP" sz="2000" b="1"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𝜶</m:t>
                          </m:r>
                        </m:e>
                        <m:sub>
                          <m:r>
                            <a:rPr kumimoji="1" lang="en-NZ" altLang="ja-JP" sz="20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schemeClr val="tx1"/>
                          </a:solidFill>
                          <a:effectLst/>
                          <a:uLnTx/>
                          <a:uFillTx/>
                          <a:latin typeface="Cambria Math" panose="02040503050406030204" pitchFamily="18" charset="0"/>
                          <a:cs typeface="+mn-cs"/>
                        </a:rPr>
                        <m:t>+</m:t>
                      </m:r>
                      <m:sSub>
                        <m:sSubPr>
                          <m:ctrlPr>
                            <a:rPr kumimoji="1" lang="en-NZ" altLang="ja-JP" sz="2000" b="1"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𝑩</m:t>
                          </m:r>
                        </m:e>
                        <m:sub>
                          <m:r>
                            <a:rPr kumimoji="1" lang="en-NZ" altLang="ja-JP" sz="20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𝒋</m:t>
                          </m:r>
                        </m:sub>
                      </m:sSub>
                    </m:oMath>
                  </m:oMathPara>
                </a14:m>
                <a:endParaRPr kumimoji="1" lang="en-NZ" altLang="ja-JP" sz="2000" b="1"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p:txBody>
          </p:sp>
        </mc:Choice>
        <mc:Fallback xmlns="">
          <p:sp>
            <p:nvSpPr>
              <p:cNvPr id="47" name="Text Placeholder 5">
                <a:extLst>
                  <a:ext uri="{FF2B5EF4-FFF2-40B4-BE49-F238E27FC236}">
                    <a16:creationId xmlns:a16="http://schemas.microsoft.com/office/drawing/2014/main" id="{B17BB661-69C0-600C-BF7B-39620CA75921}"/>
                  </a:ext>
                </a:extLst>
              </p:cNvPr>
              <p:cNvSpPr txBox="1">
                <a:spLocks noRot="1" noChangeAspect="1" noMove="1" noResize="1" noEditPoints="1" noAdjustHandles="1" noChangeArrowheads="1" noChangeShapeType="1" noTextEdit="1"/>
              </p:cNvSpPr>
              <p:nvPr/>
            </p:nvSpPr>
            <p:spPr>
              <a:xfrm>
                <a:off x="6096000" y="4538726"/>
                <a:ext cx="1599402" cy="453788"/>
              </a:xfrm>
              <a:prstGeom prst="rect">
                <a:avLst/>
              </a:prstGeom>
              <a:blipFill>
                <a:blip r:embed="rId8"/>
                <a:stretch>
                  <a:fillRect b="-5405"/>
                </a:stretch>
              </a:blipFill>
            </p:spPr>
            <p:txBody>
              <a:bodyPr/>
              <a:lstStyle/>
              <a:p>
                <a:r>
                  <a:rPr lang="en-NZ">
                    <a:noFill/>
                  </a:rPr>
                  <a:t> </a:t>
                </a:r>
              </a:p>
            </p:txBody>
          </p:sp>
        </mc:Fallback>
      </mc:AlternateContent>
      <p:sp>
        <p:nvSpPr>
          <p:cNvPr id="27" name="Title 6">
            <a:extLst>
              <a:ext uri="{FF2B5EF4-FFF2-40B4-BE49-F238E27FC236}">
                <a16:creationId xmlns:a16="http://schemas.microsoft.com/office/drawing/2014/main" id="{B056B39D-E6D3-1E3C-3E66-70CD2511B606}"/>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4.4a – The Mixed Effects Model</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28" name="Footer Placeholder 2">
            <a:extLst>
              <a:ext uri="{FF2B5EF4-FFF2-40B4-BE49-F238E27FC236}">
                <a16:creationId xmlns:a16="http://schemas.microsoft.com/office/drawing/2014/main" id="{F1420571-85AD-A0BA-E51B-B850B326B987}"/>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4.4 – </a:t>
            </a:r>
            <a:r>
              <a:rPr kumimoji="1" lang="en-US" altLang="ja-JP" sz="1600" dirty="0">
                <a:solidFill>
                  <a:srgbClr val="DEDDDD"/>
                </a:solidFill>
                <a:latin typeface="Gidole"/>
                <a:ea typeface="游ゴシック" panose="020B0400000000000000" pitchFamily="34" charset="-128"/>
              </a:rPr>
              <a:t>Mixed Effects Model</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35" name="Text Placeholder 5">
                <a:extLst>
                  <a:ext uri="{FF2B5EF4-FFF2-40B4-BE49-F238E27FC236}">
                    <a16:creationId xmlns:a16="http://schemas.microsoft.com/office/drawing/2014/main" id="{507E413F-BDEE-D35C-5AA3-66AE977C499A}"/>
                  </a:ext>
                </a:extLst>
              </p:cNvPr>
              <p:cNvSpPr txBox="1">
                <a:spLocks/>
              </p:cNvSpPr>
              <p:nvPr/>
            </p:nvSpPr>
            <p:spPr>
              <a:xfrm>
                <a:off x="9162252" y="988681"/>
                <a:ext cx="1865087" cy="7635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𝑩</m:t>
                        </m:r>
                      </m:e>
                      <m:sub>
                        <m:r>
                          <a:rPr lang="en-NZ" altLang="ja-JP" sz="1600" b="1" i="1">
                            <a:solidFill>
                              <a:prstClr val="black"/>
                            </a:solidFill>
                            <a:latin typeface="Cambria Math" panose="02040503050406030204" pitchFamily="18" charset="0"/>
                          </a:rPr>
                          <m:t>𝒋</m:t>
                        </m:r>
                      </m:sub>
                    </m:sSub>
                    <m:r>
                      <a:rPr lang="en-NZ" altLang="ja-JP" sz="1600" b="1" i="1">
                        <a:solidFill>
                          <a:prstClr val="black"/>
                        </a:solidFill>
                        <a:latin typeface="Cambria Math" panose="02040503050406030204" pitchFamily="18" charset="0"/>
                      </a:rPr>
                      <m:t> ~ </m:t>
                    </m:r>
                    <m:r>
                      <a:rPr lang="en-NZ" altLang="ja-JP" sz="1600" b="1" i="1" smtClean="0">
                        <a:solidFill>
                          <a:prstClr val="black"/>
                        </a:solidFill>
                        <a:latin typeface="Cambria Math" panose="02040503050406030204" pitchFamily="18" charset="0"/>
                      </a:rPr>
                      <m:t>𝑵</m:t>
                    </m:r>
                    <m:r>
                      <a:rPr lang="en-NZ" altLang="ja-JP" sz="1600" b="1" i="1">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 </m:t>
                    </m:r>
                    <m:r>
                      <a:rPr lang="en-NZ" altLang="ja-JP" sz="1600" b="1" i="1" smtClean="0">
                        <a:solidFill>
                          <a:prstClr val="black"/>
                        </a:solidFill>
                        <a:latin typeface="Cambria Math" panose="02040503050406030204" pitchFamily="18" charset="0"/>
                      </a:rPr>
                      <m:t>𝟎</m:t>
                    </m:r>
                    <m:r>
                      <a:rPr lang="en-NZ" altLang="ja-JP" sz="1600" b="1" i="1">
                        <a:solidFill>
                          <a:prstClr val="black"/>
                        </a:solidFill>
                        <a:latin typeface="Cambria Math" panose="02040503050406030204" pitchFamily="18" charset="0"/>
                      </a:rPr>
                      <m:t>, </m:t>
                    </m:r>
                    <m:sSubSup>
                      <m:sSubSupPr>
                        <m:ctrlPr>
                          <a:rPr lang="en-NZ" altLang="ja-JP" sz="1600" b="1" i="1">
                            <a:solidFill>
                              <a:prstClr val="black"/>
                            </a:solidFill>
                            <a:latin typeface="Cambria Math" panose="02040503050406030204" pitchFamily="18" charset="0"/>
                          </a:rPr>
                        </m:ctrlPr>
                      </m:sSubSupPr>
                      <m:e>
                        <m:r>
                          <a:rPr lang="en-NZ" altLang="ja-JP" sz="1600" b="1" i="1">
                            <a:solidFill>
                              <a:prstClr val="black"/>
                            </a:solidFill>
                            <a:latin typeface="Cambria Math" panose="02040503050406030204" pitchFamily="18" charset="0"/>
                          </a:rPr>
                          <m:t>𝝈</m:t>
                        </m:r>
                      </m:e>
                      <m:sub>
                        <m:r>
                          <a:rPr lang="en-NZ" altLang="ja-JP" sz="1600" b="1" i="1">
                            <a:solidFill>
                              <a:prstClr val="black"/>
                            </a:solidFill>
                            <a:latin typeface="Cambria Math" panose="02040503050406030204" pitchFamily="18" charset="0"/>
                          </a:rPr>
                          <m:t>𝑩</m:t>
                        </m:r>
                      </m:sub>
                      <m:sup>
                        <m:r>
                          <a:rPr lang="en-NZ" altLang="ja-JP" sz="1600" b="1" i="1">
                            <a:solidFill>
                              <a:prstClr val="black"/>
                            </a:solidFill>
                            <a:latin typeface="Cambria Math" panose="02040503050406030204" pitchFamily="18" charset="0"/>
                          </a:rPr>
                          <m:t>𝟐</m:t>
                        </m:r>
                      </m:sup>
                    </m:sSubSup>
                    <m:r>
                      <a:rPr lang="en-NZ" altLang="ja-JP" sz="1600" b="1" i="1">
                        <a:solidFill>
                          <a:prstClr val="black"/>
                        </a:solidFill>
                        <a:latin typeface="Cambria Math" panose="02040503050406030204" pitchFamily="18" charset="0"/>
                      </a:rPr>
                      <m:t> )</m:t>
                    </m:r>
                  </m:oMath>
                </a14:m>
                <a:r>
                  <a:rPr kumimoji="1" lang="en-NZ" altLang="ja-JP" sz="16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endParaRPr kumimoji="1" lang="en-NZ" altLang="ja-JP" sz="1600" b="1" i="1" u="none" strike="noStrike" kern="1200" cap="none" spc="0" normalizeH="0" baseline="0" noProof="0" dirty="0">
                  <a:ln>
                    <a:noFill/>
                  </a:ln>
                  <a:solidFill>
                    <a:prstClr val="black"/>
                  </a:solidFill>
                  <a:effectLst/>
                  <a:uLnTx/>
                  <a:uFillTx/>
                  <a:latin typeface="Cambria Math" panose="02040503050406030204" pitchFamily="18" charset="0"/>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𝝐</m:t>
                          </m:r>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𝒊𝒋</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𝒌</m:t>
                          </m:r>
                        </m:sub>
                      </m:s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 </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𝑵</m:t>
                      </m:r>
                      <m:d>
                        <m:d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𝟎</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sSup>
                            <m:sSup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𝝈</m:t>
                              </m:r>
                            </m:e>
                            <m:sup>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𝟐</m:t>
                              </m:r>
                            </m:sup>
                          </m:sSup>
                        </m:e>
                      </m:d>
                    </m:oMath>
                  </m:oMathPara>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35" name="Text Placeholder 5">
                <a:extLst>
                  <a:ext uri="{FF2B5EF4-FFF2-40B4-BE49-F238E27FC236}">
                    <a16:creationId xmlns:a16="http://schemas.microsoft.com/office/drawing/2014/main" id="{507E413F-BDEE-D35C-5AA3-66AE977C499A}"/>
                  </a:ext>
                </a:extLst>
              </p:cNvPr>
              <p:cNvSpPr txBox="1">
                <a:spLocks noRot="1" noChangeAspect="1" noMove="1" noResize="1" noEditPoints="1" noAdjustHandles="1" noChangeArrowheads="1" noChangeShapeType="1" noTextEdit="1"/>
              </p:cNvSpPr>
              <p:nvPr/>
            </p:nvSpPr>
            <p:spPr>
              <a:xfrm>
                <a:off x="9162252" y="988681"/>
                <a:ext cx="1865087" cy="763543"/>
              </a:xfrm>
              <a:prstGeom prst="rect">
                <a:avLst/>
              </a:prstGeom>
              <a:blipFill>
                <a:blip r:embed="rId9"/>
                <a:stretch>
                  <a:fillRect/>
                </a:stretch>
              </a:blipFill>
            </p:spPr>
            <p:txBody>
              <a:bodyPr/>
              <a:lstStyle/>
              <a:p>
                <a:r>
                  <a:rPr lang="en-NZ">
                    <a:noFill/>
                  </a:rPr>
                  <a:t> </a:t>
                </a:r>
              </a:p>
            </p:txBody>
          </p:sp>
        </mc:Fallback>
      </mc:AlternateContent>
      <p:cxnSp>
        <p:nvCxnSpPr>
          <p:cNvPr id="37" name="Straight Connector 36">
            <a:extLst>
              <a:ext uri="{FF2B5EF4-FFF2-40B4-BE49-F238E27FC236}">
                <a16:creationId xmlns:a16="http://schemas.microsoft.com/office/drawing/2014/main" id="{134CFEA9-0856-7F15-07B3-1B1E620C0986}"/>
              </a:ext>
            </a:extLst>
          </p:cNvPr>
          <p:cNvCxnSpPr>
            <a:cxnSpLocks/>
          </p:cNvCxnSpPr>
          <p:nvPr/>
        </p:nvCxnSpPr>
        <p:spPr>
          <a:xfrm>
            <a:off x="7854287" y="3794078"/>
            <a:ext cx="0" cy="311862"/>
          </a:xfrm>
          <a:prstGeom prst="line">
            <a:avLst/>
          </a:prstGeom>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BE69E0CA-414F-6BC2-6B1B-0888572EC144}"/>
              </a:ext>
            </a:extLst>
          </p:cNvPr>
          <p:cNvSpPr/>
          <p:nvPr/>
        </p:nvSpPr>
        <p:spPr>
          <a:xfrm>
            <a:off x="7710985" y="3928600"/>
            <a:ext cx="286603" cy="2866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39" name="Text Placeholder 5">
                <a:extLst>
                  <a:ext uri="{FF2B5EF4-FFF2-40B4-BE49-F238E27FC236}">
                    <a16:creationId xmlns:a16="http://schemas.microsoft.com/office/drawing/2014/main" id="{7DAB5208-0265-E8B5-40A2-AEE347353E9D}"/>
                  </a:ext>
                </a:extLst>
              </p:cNvPr>
              <p:cNvSpPr txBox="1">
                <a:spLocks/>
              </p:cNvSpPr>
              <p:nvPr/>
            </p:nvSpPr>
            <p:spPr>
              <a:xfrm>
                <a:off x="7854287" y="3376511"/>
                <a:ext cx="760649" cy="38151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2000" b="1" i="1" u="none" strike="noStrike" kern="1200" cap="none" spc="0" normalizeH="0" baseline="0" noProof="0" smtClean="0">
                              <a:ln>
                                <a:noFill/>
                              </a:ln>
                              <a:solidFill>
                                <a:srgbClr val="0070C0"/>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𝒀</m:t>
                          </m:r>
                        </m:e>
                        <m:sub>
                          <m:r>
                            <a:rPr kumimoji="1" lang="en-NZ" altLang="ja-JP" sz="20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𝒊𝒋𝒌</m:t>
                          </m:r>
                        </m:sub>
                      </m:sSub>
                    </m:oMath>
                  </m:oMathPara>
                </a14:m>
                <a:endPar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39" name="Text Placeholder 5">
                <a:extLst>
                  <a:ext uri="{FF2B5EF4-FFF2-40B4-BE49-F238E27FC236}">
                    <a16:creationId xmlns:a16="http://schemas.microsoft.com/office/drawing/2014/main" id="{7DAB5208-0265-E8B5-40A2-AEE347353E9D}"/>
                  </a:ext>
                </a:extLst>
              </p:cNvPr>
              <p:cNvSpPr txBox="1">
                <a:spLocks noRot="1" noChangeAspect="1" noMove="1" noResize="1" noEditPoints="1" noAdjustHandles="1" noChangeArrowheads="1" noChangeShapeType="1" noTextEdit="1"/>
              </p:cNvSpPr>
              <p:nvPr/>
            </p:nvSpPr>
            <p:spPr>
              <a:xfrm>
                <a:off x="7854287" y="3376511"/>
                <a:ext cx="760649" cy="381516"/>
              </a:xfrm>
              <a:prstGeom prst="rect">
                <a:avLst/>
              </a:prstGeom>
              <a:blipFill>
                <a:blip r:embed="rId10"/>
                <a:stretch>
                  <a:fillRect b="-27419"/>
                </a:stretch>
              </a:blipFill>
            </p:spPr>
            <p:txBody>
              <a:bodyPr/>
              <a:lstStyle/>
              <a:p>
                <a:r>
                  <a:rPr lang="en-NZ">
                    <a:noFill/>
                  </a:rPr>
                  <a:t> </a:t>
                </a:r>
              </a:p>
            </p:txBody>
          </p:sp>
        </mc:Fallback>
      </mc:AlternateContent>
    </p:spTree>
    <p:extLst>
      <p:ext uri="{BB962C8B-B14F-4D97-AF65-F5344CB8AC3E}">
        <p14:creationId xmlns:p14="http://schemas.microsoft.com/office/powerpoint/2010/main" val="2126322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6" grpId="0"/>
      <p:bldP spid="33" grpId="0"/>
      <p:bldP spid="40" grpId="0" animBg="1"/>
      <p:bldP spid="47" grpId="0"/>
      <p:bldP spid="38" grpId="0" animBg="1"/>
      <p:bldP spid="3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7" name="Title 6">
            <a:extLst>
              <a:ext uri="{FF2B5EF4-FFF2-40B4-BE49-F238E27FC236}">
                <a16:creationId xmlns:a16="http://schemas.microsoft.com/office/drawing/2014/main" id="{4ACB7FAA-E9E1-4274-A8D0-489528A3C0F6}"/>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4.4a – The Mixed Effects Model</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1" name="Text Placeholder 5">
            <a:extLst>
              <a:ext uri="{FF2B5EF4-FFF2-40B4-BE49-F238E27FC236}">
                <a16:creationId xmlns:a16="http://schemas.microsoft.com/office/drawing/2014/main" id="{679607A7-05BF-41B9-B50A-7352824E974B}"/>
              </a:ext>
            </a:extLst>
          </p:cNvPr>
          <p:cNvSpPr txBox="1">
            <a:spLocks/>
          </p:cNvSpPr>
          <p:nvPr/>
        </p:nvSpPr>
        <p:spPr>
          <a:xfrm>
            <a:off x="312362" y="996728"/>
            <a:ext cx="11879638" cy="125515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prstClr val="black"/>
                </a:solidFill>
                <a:latin typeface="Calibri" panose="020F0502020204030204"/>
                <a:ea typeface="游ゴシック" panose="020B0400000000000000" pitchFamily="34" charset="-128"/>
              </a:rPr>
              <a:t>In an RBD with </a:t>
            </a:r>
            <a:r>
              <a:rPr lang="en-NZ" altLang="ja-JP" sz="1800" b="1" dirty="0">
                <a:solidFill>
                  <a:prstClr val="black"/>
                </a:solidFill>
                <a:latin typeface="Calibri" panose="020F0502020204030204"/>
                <a:ea typeface="游ゴシック" panose="020B0400000000000000" pitchFamily="34" charset="-128"/>
              </a:rPr>
              <a:t>mixed effects</a:t>
            </a:r>
            <a:r>
              <a:rPr lang="en-NZ" altLang="ja-JP" sz="1800" dirty="0">
                <a:solidFill>
                  <a:prstClr val="black"/>
                </a:solidFill>
                <a:latin typeface="Calibri" panose="020F0502020204030204"/>
                <a:ea typeface="游ゴシック" panose="020B0400000000000000" pitchFamily="34" charset="-128"/>
              </a:rPr>
              <a:t>, the response variable </a:t>
            </a:r>
            <a:r>
              <a:rPr lang="en-NZ" altLang="ja-JP" sz="1800" b="1" i="1" dirty="0">
                <a:solidFill>
                  <a:prstClr val="black"/>
                </a:solidFill>
                <a:latin typeface="Calibri" panose="020F0502020204030204"/>
                <a:ea typeface="游ゴシック" panose="020B0400000000000000" pitchFamily="34" charset="-128"/>
              </a:rPr>
              <a:t>Y</a:t>
            </a:r>
            <a:r>
              <a:rPr lang="en-NZ" altLang="ja-JP" sz="1800" dirty="0">
                <a:solidFill>
                  <a:prstClr val="black"/>
                </a:solidFill>
                <a:latin typeface="Calibri" panose="020F0502020204030204"/>
                <a:ea typeface="游ゴシック" panose="020B0400000000000000" pitchFamily="34" charset="-128"/>
              </a:rPr>
              <a:t> is modelled as a function of…</a:t>
            </a:r>
          </a:p>
          <a:p>
            <a:pPr marL="971493" lvl="1" indent="-285750" algn="just">
              <a:lnSpc>
                <a:spcPct val="100000"/>
              </a:lnSpc>
              <a:spcBef>
                <a:spcPts val="0"/>
              </a:spcBef>
              <a:buFontTx/>
              <a:buChar char="-"/>
              <a:defRPr/>
            </a:pPr>
            <a:r>
              <a:rPr lang="en-NZ" altLang="ja-JP" sz="1800" dirty="0">
                <a:solidFill>
                  <a:prstClr val="black"/>
                </a:solidFill>
                <a:latin typeface="Calibri" panose="020F0502020204030204"/>
                <a:ea typeface="游ゴシック" panose="020B0400000000000000" pitchFamily="34" charset="-128"/>
              </a:rPr>
              <a:t>a treatment factor </a:t>
            </a:r>
            <a:r>
              <a:rPr lang="en-NZ" altLang="ja-JP" sz="1800" b="1" i="1" dirty="0">
                <a:solidFill>
                  <a:prstClr val="black"/>
                </a:solidFill>
                <a:latin typeface="Calibri" panose="020F0502020204030204"/>
                <a:ea typeface="游ゴシック" panose="020B0400000000000000" pitchFamily="34" charset="-128"/>
              </a:rPr>
              <a:t>A</a:t>
            </a:r>
            <a:r>
              <a:rPr lang="en-NZ" altLang="ja-JP" sz="1800" dirty="0">
                <a:solidFill>
                  <a:prstClr val="black"/>
                </a:solidFill>
                <a:latin typeface="Calibri" panose="020F0502020204030204"/>
                <a:ea typeface="游ゴシック" panose="020B0400000000000000" pitchFamily="34" charset="-128"/>
              </a:rPr>
              <a:t> with </a:t>
            </a:r>
            <a:r>
              <a:rPr lang="en-NZ" altLang="ja-JP" sz="1800" b="1" i="1" dirty="0">
                <a:solidFill>
                  <a:prstClr val="black"/>
                </a:solidFill>
                <a:latin typeface="Calibri" panose="020F0502020204030204"/>
                <a:ea typeface="游ゴシック" panose="020B0400000000000000" pitchFamily="34" charset="-128"/>
              </a:rPr>
              <a:t>a</a:t>
            </a:r>
            <a:r>
              <a:rPr lang="en-NZ" altLang="ja-JP" sz="1800" dirty="0">
                <a:solidFill>
                  <a:prstClr val="black"/>
                </a:solidFill>
                <a:latin typeface="Calibri" panose="020F0502020204030204"/>
                <a:ea typeface="游ゴシック" panose="020B0400000000000000" pitchFamily="34" charset="-128"/>
              </a:rPr>
              <a:t> levels</a:t>
            </a:r>
          </a:p>
          <a:p>
            <a:pPr marL="971493" lvl="1" indent="-285750" algn="just">
              <a:lnSpc>
                <a:spcPct val="100000"/>
              </a:lnSpc>
              <a:spcBef>
                <a:spcPts val="0"/>
              </a:spcBef>
              <a:buFontTx/>
              <a:buChar char="-"/>
              <a:defRPr/>
            </a:pPr>
            <a:r>
              <a:rPr lang="en-NZ" altLang="ja-JP" sz="1800" dirty="0">
                <a:solidFill>
                  <a:prstClr val="black"/>
                </a:solidFill>
                <a:latin typeface="Calibri" panose="020F0502020204030204"/>
                <a:ea typeface="游ゴシック" panose="020B0400000000000000" pitchFamily="34" charset="-128"/>
              </a:rPr>
              <a:t>a random variable </a:t>
            </a:r>
            <a:r>
              <a:rPr lang="en-NZ" altLang="ja-JP" sz="1800" b="1" i="1" dirty="0">
                <a:solidFill>
                  <a:prstClr val="black"/>
                </a:solidFill>
                <a:latin typeface="Calibri" panose="020F0502020204030204"/>
                <a:ea typeface="游ゴシック" panose="020B0400000000000000" pitchFamily="34" charset="-128"/>
              </a:rPr>
              <a:t>B</a:t>
            </a:r>
            <a:r>
              <a:rPr lang="en-NZ" altLang="ja-JP" sz="1800" dirty="0">
                <a:solidFill>
                  <a:prstClr val="black"/>
                </a:solidFill>
                <a:latin typeface="Calibri" panose="020F0502020204030204"/>
                <a:ea typeface="游ゴシック" panose="020B0400000000000000" pitchFamily="34" charset="-128"/>
              </a:rPr>
              <a:t> included in the model to account for a recognised source of variation in </a:t>
            </a:r>
            <a:r>
              <a:rPr lang="en-NZ" altLang="ja-JP" sz="1800" b="1" i="1" dirty="0">
                <a:solidFill>
                  <a:prstClr val="black"/>
                </a:solidFill>
                <a:latin typeface="Calibri" panose="020F0502020204030204"/>
                <a:ea typeface="游ゴシック" panose="020B0400000000000000" pitchFamily="34" charset="-128"/>
              </a:rPr>
              <a:t>Y</a:t>
            </a:r>
            <a:r>
              <a:rPr lang="en-NZ" altLang="ja-JP" sz="1800" dirty="0">
                <a:solidFill>
                  <a:prstClr val="black"/>
                </a:solidFill>
                <a:latin typeface="Calibri" panose="020F0502020204030204"/>
                <a:ea typeface="游ゴシック" panose="020B0400000000000000" pitchFamily="34" charset="-128"/>
              </a:rPr>
              <a:t>.</a:t>
            </a:r>
            <a:endParaRPr kumimoji="1" lang="en-NZ" altLang="ja-JP" sz="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R="0" lvl="0" algn="just" defTabSz="914324" rtl="0" eaLnBrk="1" fontAlgn="auto" latinLnBrk="0" hangingPunct="1">
              <a:lnSpc>
                <a:spcPct val="100000"/>
              </a:lnSpc>
              <a:spcBef>
                <a:spcPts val="0"/>
              </a:spcBef>
              <a:spcAft>
                <a:spcPts val="0"/>
              </a:spcAft>
              <a:buClrTx/>
              <a:buSzTx/>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factor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represents the effect of interest. The random variable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B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represents the nuisance variable we wish to control for.</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33" name="Text Placeholder 5">
                <a:extLst>
                  <a:ext uri="{FF2B5EF4-FFF2-40B4-BE49-F238E27FC236}">
                    <a16:creationId xmlns:a16="http://schemas.microsoft.com/office/drawing/2014/main" id="{5249D365-ACEA-D25B-B424-0EB00AB49518}"/>
                  </a:ext>
                </a:extLst>
              </p:cNvPr>
              <p:cNvSpPr txBox="1">
                <a:spLocks/>
              </p:cNvSpPr>
              <p:nvPr/>
            </p:nvSpPr>
            <p:spPr>
              <a:xfrm>
                <a:off x="251223" y="3741685"/>
                <a:ext cx="11232109" cy="53754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1800" b="1" i="1" smtClean="0">
                          <a:solidFill>
                            <a:schemeClr val="tx1"/>
                          </a:solidFill>
                          <a:latin typeface="Cambria Math" panose="02040503050406030204" pitchFamily="18" charset="0"/>
                        </a:rPr>
                        <m:t>𝑬</m:t>
                      </m:r>
                      <m:d>
                        <m:dPr>
                          <m:begChr m:val="["/>
                          <m:endChr m:val="]"/>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 </m:t>
                          </m:r>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𝒀</m:t>
                              </m:r>
                            </m:e>
                            <m:sub>
                              <m:r>
                                <a:rPr lang="en-NZ" altLang="ja-JP" sz="1800" b="1" i="1" smtClean="0">
                                  <a:solidFill>
                                    <a:schemeClr val="tx1"/>
                                  </a:solidFill>
                                  <a:latin typeface="Cambria Math" panose="02040503050406030204" pitchFamily="18" charset="0"/>
                                </a:rPr>
                                <m:t>𝒊𝒋𝒌</m:t>
                              </m:r>
                            </m:sub>
                          </m:sSub>
                          <m:r>
                            <a:rPr lang="en-NZ" altLang="ja-JP" sz="1800" b="1" i="1" smtClean="0">
                              <a:solidFill>
                                <a:schemeClr val="tx1"/>
                              </a:solidFill>
                              <a:latin typeface="Cambria Math" panose="02040503050406030204" pitchFamily="18" charset="0"/>
                            </a:rPr>
                            <m:t> </m:t>
                          </m:r>
                        </m:e>
                      </m:d>
                      <m:r>
                        <a:rPr lang="en-NZ" altLang="ja-JP" sz="1800" b="1" i="1" smtClean="0">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𝑬</m:t>
                      </m:r>
                      <m:d>
                        <m:dPr>
                          <m:begChr m:val="["/>
                          <m:endChr m:val="]"/>
                          <m:ctrlPr>
                            <a:rPr lang="en-NZ" altLang="ja-JP" sz="1800" b="1" i="1" smtClean="0">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 </m:t>
                          </m:r>
                          <m:r>
                            <a:rPr lang="ja-JP" altLang="en-NZ" sz="1800" b="1" i="1">
                              <a:solidFill>
                                <a:schemeClr val="tx1"/>
                              </a:solidFill>
                              <a:latin typeface="Cambria Math" panose="02040503050406030204" pitchFamily="18" charset="0"/>
                            </a:rPr>
                            <m:t>𝝁</m:t>
                          </m:r>
                          <m:r>
                            <a:rPr lang="en-NZ" altLang="ja-JP" sz="1800" b="1" i="1" smtClean="0">
                              <a:solidFill>
                                <a:schemeClr val="tx1"/>
                              </a:solidFill>
                              <a:latin typeface="Cambria Math" panose="02040503050406030204" pitchFamily="18" charset="0"/>
                            </a:rPr>
                            <m:t> </m:t>
                          </m:r>
                        </m:e>
                      </m:d>
                      <m:r>
                        <a:rPr lang="ja-JP" altLang="en-NZ"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𝑬</m:t>
                      </m:r>
                      <m:d>
                        <m:dPr>
                          <m:begChr m:val="["/>
                          <m:endChr m:val="]"/>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 </m:t>
                          </m:r>
                          <m:sSub>
                            <m:sSubPr>
                              <m:ctrlPr>
                                <a:rPr lang="en-NZ" altLang="ja-JP" sz="1800" b="1" i="1" smtClean="0">
                                  <a:solidFill>
                                    <a:schemeClr val="tx1"/>
                                  </a:solidFill>
                                  <a:latin typeface="Cambria Math" panose="02040503050406030204" pitchFamily="18" charset="0"/>
                                </a:rPr>
                              </m:ctrlPr>
                            </m:sSubPr>
                            <m:e>
                              <m:r>
                                <a:rPr lang="ja-JP" altLang="en-NZ" sz="1800" b="1" i="1">
                                  <a:solidFill>
                                    <a:schemeClr val="tx1"/>
                                  </a:solidFill>
                                  <a:latin typeface="Cambria Math" panose="02040503050406030204" pitchFamily="18" charset="0"/>
                                </a:rPr>
                                <m:t>𝜶</m:t>
                              </m:r>
                            </m:e>
                            <m:sub>
                              <m:r>
                                <a:rPr lang="en-NZ" altLang="ja-JP" sz="1800" b="1" i="1" smtClean="0">
                                  <a:solidFill>
                                    <a:schemeClr val="tx1"/>
                                  </a:solidFill>
                                  <a:latin typeface="Cambria Math" panose="02040503050406030204" pitchFamily="18" charset="0"/>
                                </a:rPr>
                                <m:t>𝒊</m:t>
                              </m:r>
                            </m:sub>
                          </m:sSub>
                          <m:r>
                            <a:rPr lang="en-NZ" altLang="ja-JP" sz="1800" b="1" i="1" smtClean="0">
                              <a:solidFill>
                                <a:schemeClr val="tx1"/>
                              </a:solidFill>
                              <a:latin typeface="Cambria Math" panose="02040503050406030204" pitchFamily="18" charset="0"/>
                            </a:rPr>
                            <m:t> </m:t>
                          </m:r>
                        </m:e>
                      </m:d>
                      <m:r>
                        <a:rPr lang="ja-JP" altLang="en-NZ"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𝑬</m:t>
                      </m:r>
                      <m:d>
                        <m:dPr>
                          <m:begChr m:val="["/>
                          <m:endChr m:val="]"/>
                          <m:ctrlPr>
                            <a:rPr lang="en-NZ" altLang="ja-JP" sz="1800" b="1" i="1" smtClean="0">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 </m:t>
                          </m:r>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𝑩</m:t>
                              </m:r>
                            </m:e>
                            <m:sub>
                              <m:r>
                                <a:rPr lang="en-NZ" altLang="ja-JP" sz="1800" b="1" i="1" smtClean="0">
                                  <a:solidFill>
                                    <a:schemeClr val="tx1"/>
                                  </a:solidFill>
                                  <a:latin typeface="Cambria Math" panose="02040503050406030204" pitchFamily="18" charset="0"/>
                                </a:rPr>
                                <m:t>𝒋</m:t>
                              </m:r>
                            </m:sub>
                          </m:sSub>
                        </m:e>
                      </m:d>
                      <m:r>
                        <a:rPr lang="ja-JP" altLang="en-NZ"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𝑬</m:t>
                      </m:r>
                      <m:d>
                        <m:dPr>
                          <m:begChr m:val="["/>
                          <m:endChr m:val="]"/>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 </m:t>
                          </m:r>
                          <m:sSub>
                            <m:sSubPr>
                              <m:ctrlPr>
                                <a:rPr lang="en-NZ" altLang="ja-JP" sz="1800" b="1" i="1">
                                  <a:solidFill>
                                    <a:schemeClr val="tx1"/>
                                  </a:solidFill>
                                  <a:latin typeface="Cambria Math" panose="02040503050406030204" pitchFamily="18" charset="0"/>
                                </a:rPr>
                              </m:ctrlPr>
                            </m:sSubPr>
                            <m:e>
                              <m:r>
                                <a:rPr lang="ja-JP" altLang="en-NZ" sz="1800" b="1" i="1">
                                  <a:solidFill>
                                    <a:schemeClr val="tx1"/>
                                  </a:solidFill>
                                  <a:latin typeface="Cambria Math" panose="02040503050406030204" pitchFamily="18" charset="0"/>
                                </a:rPr>
                                <m:t>𝝐</m:t>
                              </m:r>
                            </m:e>
                            <m:sub>
                              <m:r>
                                <a:rPr lang="ja-JP" altLang="en-NZ" sz="1800" b="1" i="1">
                                  <a:solidFill>
                                    <a:schemeClr val="tx1"/>
                                  </a:solidFill>
                                  <a:latin typeface="Cambria Math" panose="02040503050406030204" pitchFamily="18" charset="0"/>
                                </a:rPr>
                                <m:t>𝒊𝒋</m:t>
                              </m:r>
                              <m:r>
                                <a:rPr lang="en-NZ" altLang="ja-JP" sz="1800" b="1" i="1" smtClean="0">
                                  <a:solidFill>
                                    <a:schemeClr val="tx1"/>
                                  </a:solidFill>
                                  <a:latin typeface="Cambria Math" panose="02040503050406030204" pitchFamily="18" charset="0"/>
                                </a:rPr>
                                <m:t>𝒌</m:t>
                              </m:r>
                            </m:sub>
                          </m:sSub>
                          <m:r>
                            <a:rPr lang="en-NZ" altLang="ja-JP" sz="1800" b="1" i="1" smtClean="0">
                              <a:solidFill>
                                <a:schemeClr val="tx1"/>
                              </a:solidFill>
                              <a:latin typeface="Cambria Math" panose="02040503050406030204" pitchFamily="18" charset="0"/>
                            </a:rPr>
                            <m:t> </m:t>
                          </m:r>
                        </m:e>
                      </m:d>
                      <m:r>
                        <a:rPr lang="en-NZ" altLang="ja-JP" sz="1800" b="1" i="1" smtClean="0">
                          <a:solidFill>
                            <a:schemeClr val="tx1"/>
                          </a:solidFill>
                          <a:latin typeface="Cambria Math" panose="02040503050406030204" pitchFamily="18" charset="0"/>
                        </a:rPr>
                        <m:t> =  </m:t>
                      </m:r>
                      <m:r>
                        <a:rPr lang="ja-JP" altLang="en-NZ" sz="1800" b="1" i="1">
                          <a:solidFill>
                            <a:schemeClr val="tx1"/>
                          </a:solidFill>
                          <a:latin typeface="Cambria Math" panose="02040503050406030204" pitchFamily="18" charset="0"/>
                        </a:rPr>
                        <m:t>𝝁</m:t>
                      </m:r>
                      <m:r>
                        <a:rPr lang="ja-JP" altLang="en-NZ" sz="1800" b="1" i="1">
                          <a:solidFill>
                            <a:schemeClr val="tx1"/>
                          </a:solidFill>
                          <a:latin typeface="Cambria Math" panose="02040503050406030204" pitchFamily="18" charset="0"/>
                        </a:rPr>
                        <m:t>  +   </m:t>
                      </m:r>
                      <m:sSub>
                        <m:sSubPr>
                          <m:ctrlPr>
                            <a:rPr lang="en-NZ" altLang="ja-JP" sz="1800" b="1" i="1">
                              <a:solidFill>
                                <a:schemeClr val="tx1"/>
                              </a:solidFill>
                              <a:latin typeface="Cambria Math" panose="02040503050406030204" pitchFamily="18" charset="0"/>
                            </a:rPr>
                          </m:ctrlPr>
                        </m:sSubPr>
                        <m:e>
                          <m:r>
                            <a:rPr lang="ja-JP" altLang="en-NZ" sz="1800" b="1" i="1">
                              <a:solidFill>
                                <a:schemeClr val="tx1"/>
                              </a:solidFill>
                              <a:latin typeface="Cambria Math" panose="02040503050406030204" pitchFamily="18" charset="0"/>
                            </a:rPr>
                            <m:t>𝜶</m:t>
                          </m:r>
                        </m:e>
                        <m:sub>
                          <m:r>
                            <a:rPr lang="ja-JP" altLang="en-NZ" sz="1800" b="1" i="1">
                              <a:solidFill>
                                <a:schemeClr val="tx1"/>
                              </a:solidFill>
                              <a:latin typeface="Cambria Math" panose="02040503050406030204" pitchFamily="18" charset="0"/>
                            </a:rPr>
                            <m:t>𝒊</m:t>
                          </m:r>
                        </m:sub>
                      </m:sSub>
                      <m:r>
                        <a:rPr lang="ja-JP" altLang="en-NZ"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𝟎</m:t>
                      </m:r>
                      <m:r>
                        <a:rPr lang="en-NZ" altLang="ja-JP" sz="1800" b="1" i="1" smtClean="0">
                          <a:solidFill>
                            <a:schemeClr val="tx1"/>
                          </a:solidFill>
                          <a:latin typeface="Cambria Math" panose="02040503050406030204" pitchFamily="18" charset="0"/>
                        </a:rPr>
                        <m:t>  +  </m:t>
                      </m:r>
                      <m:r>
                        <a:rPr lang="en-NZ" altLang="ja-JP" sz="1800" b="1" i="1" smtClean="0">
                          <a:solidFill>
                            <a:schemeClr val="tx1"/>
                          </a:solidFill>
                          <a:latin typeface="Cambria Math" panose="02040503050406030204" pitchFamily="18" charset="0"/>
                        </a:rPr>
                        <m:t>𝟎</m:t>
                      </m:r>
                      <m:r>
                        <a:rPr lang="en-NZ" altLang="ja-JP" sz="1800" b="1" i="1" smtClean="0">
                          <a:solidFill>
                            <a:schemeClr val="tx1"/>
                          </a:solidFill>
                          <a:latin typeface="Cambria Math" panose="02040503050406030204" pitchFamily="18" charset="0"/>
                        </a:rPr>
                        <m:t> =  </m:t>
                      </m:r>
                      <m:r>
                        <a:rPr lang="en-NZ" altLang="ja-JP" sz="1800" b="1" i="1" smtClean="0">
                          <a:solidFill>
                            <a:schemeClr val="tx1"/>
                          </a:solidFill>
                          <a:latin typeface="Cambria Math" panose="02040503050406030204" pitchFamily="18" charset="0"/>
                        </a:rPr>
                        <m:t>𝝁</m:t>
                      </m:r>
                      <m:r>
                        <a:rPr lang="en-NZ" altLang="ja-JP" sz="1800" b="1" i="1" smtClean="0">
                          <a:solidFill>
                            <a:schemeClr val="tx1"/>
                          </a:solidFill>
                          <a:latin typeface="Cambria Math" panose="02040503050406030204" pitchFamily="18" charset="0"/>
                        </a:rPr>
                        <m:t>  + </m:t>
                      </m:r>
                      <m:sSub>
                        <m:sSubPr>
                          <m:ctrlPr>
                            <a:rPr lang="en-NZ" sz="1800" b="1" i="1">
                              <a:solidFill>
                                <a:schemeClr val="tx1"/>
                              </a:solidFill>
                              <a:latin typeface="Cambria Math" panose="02040503050406030204" pitchFamily="18" charset="0"/>
                            </a:rPr>
                          </m:ctrlPr>
                        </m:sSubPr>
                        <m:e>
                          <m:r>
                            <a:rPr lang="en-NZ" sz="1800" b="1" i="1">
                              <a:solidFill>
                                <a:schemeClr val="tx1"/>
                              </a:solidFill>
                              <a:latin typeface="Cambria Math" panose="02040503050406030204" pitchFamily="18" charset="0"/>
                            </a:rPr>
                            <m:t>𝝁</m:t>
                          </m:r>
                        </m:e>
                        <m:sub>
                          <m:r>
                            <a:rPr lang="en-NZ" sz="1800" b="1" i="1">
                              <a:solidFill>
                                <a:schemeClr val="tx1"/>
                              </a:solidFill>
                              <a:latin typeface="Cambria Math" panose="02040503050406030204" pitchFamily="18" charset="0"/>
                            </a:rPr>
                            <m:t>𝒊</m:t>
                          </m:r>
                          <m:r>
                            <a:rPr lang="en-NZ" sz="1800" b="1" i="1" smtClean="0">
                              <a:solidFill>
                                <a:schemeClr val="tx1"/>
                              </a:solidFill>
                              <a:latin typeface="Cambria Math" panose="02040503050406030204" pitchFamily="18" charset="0"/>
                              <a:ea typeface="Cambria Math" panose="02040503050406030204" pitchFamily="18" charset="0"/>
                            </a:rPr>
                            <m:t>∙</m:t>
                          </m:r>
                        </m:sub>
                      </m:sSub>
                      <m:r>
                        <a:rPr lang="en-NZ" sz="1800" b="1" i="1" smtClean="0">
                          <a:solidFill>
                            <a:schemeClr val="tx1"/>
                          </a:solidFill>
                          <a:latin typeface="Cambria Math" panose="02040503050406030204" pitchFamily="18" charset="0"/>
                        </a:rPr>
                        <m:t>  −  </m:t>
                      </m:r>
                      <m:r>
                        <a:rPr lang="en-NZ" sz="1800" b="1" i="1" smtClean="0">
                          <a:solidFill>
                            <a:schemeClr val="tx1"/>
                          </a:solidFill>
                          <a:latin typeface="Cambria Math" panose="02040503050406030204" pitchFamily="18" charset="0"/>
                        </a:rPr>
                        <m:t>𝝁</m:t>
                      </m:r>
                      <m:r>
                        <a:rPr lang="en-NZ" sz="1800" b="1" i="1" smtClean="0">
                          <a:solidFill>
                            <a:schemeClr val="tx1"/>
                          </a:solidFill>
                          <a:latin typeface="Cambria Math" panose="02040503050406030204" pitchFamily="18" charset="0"/>
                        </a:rPr>
                        <m:t>  = </m:t>
                      </m:r>
                      <m:sSub>
                        <m:sSubPr>
                          <m:ctrlPr>
                            <a:rPr lang="en-NZ" sz="1800" b="1" i="1">
                              <a:solidFill>
                                <a:schemeClr val="tx1"/>
                              </a:solidFill>
                              <a:latin typeface="Cambria Math" panose="02040503050406030204" pitchFamily="18" charset="0"/>
                            </a:rPr>
                          </m:ctrlPr>
                        </m:sSubPr>
                        <m:e>
                          <m:r>
                            <a:rPr lang="en-NZ" sz="1800" b="1" i="1">
                              <a:solidFill>
                                <a:schemeClr val="tx1"/>
                              </a:solidFill>
                              <a:latin typeface="Cambria Math" panose="02040503050406030204" pitchFamily="18" charset="0"/>
                            </a:rPr>
                            <m:t>𝝁</m:t>
                          </m:r>
                        </m:e>
                        <m:sub>
                          <m:r>
                            <a:rPr lang="en-NZ" sz="1800" b="1" i="1">
                              <a:solidFill>
                                <a:schemeClr val="tx1"/>
                              </a:solidFill>
                              <a:latin typeface="Cambria Math" panose="02040503050406030204" pitchFamily="18" charset="0"/>
                            </a:rPr>
                            <m:t>𝒊</m:t>
                          </m:r>
                          <m:r>
                            <a:rPr lang="en-NZ" sz="1800" b="1" i="1">
                              <a:solidFill>
                                <a:schemeClr val="tx1"/>
                              </a:solidFill>
                              <a:latin typeface="Cambria Math" panose="02040503050406030204" pitchFamily="18" charset="0"/>
                              <a:ea typeface="Cambria Math" panose="02040503050406030204" pitchFamily="18" charset="0"/>
                            </a:rPr>
                            <m:t>∙</m:t>
                          </m:r>
                        </m:sub>
                      </m:sSub>
                    </m:oMath>
                  </m:oMathPara>
                </a14:m>
                <a:endParaRPr lang="en-NZ" altLang="ja-JP" sz="1800" b="1" i="1" dirty="0">
                  <a:solidFill>
                    <a:schemeClr val="tx1"/>
                  </a:solidFill>
                </a:endParaRPr>
              </a:p>
            </p:txBody>
          </p:sp>
        </mc:Choice>
        <mc:Fallback xmlns="">
          <p:sp>
            <p:nvSpPr>
              <p:cNvPr id="33" name="Text Placeholder 5">
                <a:extLst>
                  <a:ext uri="{FF2B5EF4-FFF2-40B4-BE49-F238E27FC236}">
                    <a16:creationId xmlns:a16="http://schemas.microsoft.com/office/drawing/2014/main" id="{5249D365-ACEA-D25B-B424-0EB00AB49518}"/>
                  </a:ext>
                </a:extLst>
              </p:cNvPr>
              <p:cNvSpPr txBox="1">
                <a:spLocks noRot="1" noChangeAspect="1" noMove="1" noResize="1" noEditPoints="1" noAdjustHandles="1" noChangeArrowheads="1" noChangeShapeType="1" noTextEdit="1"/>
              </p:cNvSpPr>
              <p:nvPr/>
            </p:nvSpPr>
            <p:spPr>
              <a:xfrm>
                <a:off x="251223" y="3741685"/>
                <a:ext cx="11232109" cy="537540"/>
              </a:xfrm>
              <a:prstGeom prst="rect">
                <a:avLst/>
              </a:prstGeom>
              <a:blipFill>
                <a:blip r:embed="rId2"/>
                <a:stretch>
                  <a:fillRect/>
                </a:stretch>
              </a:blipFill>
            </p:spPr>
            <p:txBody>
              <a:bodyPr/>
              <a:lstStyle/>
              <a:p>
                <a:r>
                  <a:rPr lang="en-NZ">
                    <a:noFill/>
                  </a:rPr>
                  <a:t> </a:t>
                </a:r>
              </a:p>
            </p:txBody>
          </p:sp>
        </mc:Fallback>
      </mc:AlternateContent>
      <p:sp>
        <p:nvSpPr>
          <p:cNvPr id="34" name="Text Placeholder 5">
            <a:extLst>
              <a:ext uri="{FF2B5EF4-FFF2-40B4-BE49-F238E27FC236}">
                <a16:creationId xmlns:a16="http://schemas.microsoft.com/office/drawing/2014/main" id="{14EBC35F-BF7F-6875-D9C6-9325AB503E49}"/>
              </a:ext>
            </a:extLst>
          </p:cNvPr>
          <p:cNvSpPr txBox="1">
            <a:spLocks/>
          </p:cNvSpPr>
          <p:nvPr/>
        </p:nvSpPr>
        <p:spPr>
          <a:xfrm>
            <a:off x="251224" y="3266732"/>
            <a:ext cx="11232109"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Note that we have that:</a:t>
            </a:r>
          </a:p>
        </p:txBody>
      </p:sp>
      <mc:AlternateContent xmlns:mc="http://schemas.openxmlformats.org/markup-compatibility/2006" xmlns:a14="http://schemas.microsoft.com/office/drawing/2010/main">
        <mc:Choice Requires="a14">
          <p:sp>
            <p:nvSpPr>
              <p:cNvPr id="35" name="Text Placeholder 5">
                <a:extLst>
                  <a:ext uri="{FF2B5EF4-FFF2-40B4-BE49-F238E27FC236}">
                    <a16:creationId xmlns:a16="http://schemas.microsoft.com/office/drawing/2014/main" id="{BBA88332-958B-EF89-DB28-19E84B93DCD4}"/>
                  </a:ext>
                </a:extLst>
              </p:cNvPr>
              <p:cNvSpPr txBox="1">
                <a:spLocks/>
              </p:cNvSpPr>
              <p:nvPr/>
            </p:nvSpPr>
            <p:spPr>
              <a:xfrm>
                <a:off x="251223" y="4229199"/>
                <a:ext cx="11232109" cy="53754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1800" b="1" i="1" smtClean="0">
                          <a:solidFill>
                            <a:schemeClr val="tx1"/>
                          </a:solidFill>
                          <a:latin typeface="Cambria Math" panose="02040503050406030204" pitchFamily="18" charset="0"/>
                        </a:rPr>
                        <m:t>𝑽𝒂𝒓</m:t>
                      </m:r>
                      <m:d>
                        <m:dPr>
                          <m:begChr m:val="["/>
                          <m:endChr m:val="]"/>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 </m:t>
                          </m:r>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𝒀</m:t>
                              </m:r>
                            </m:e>
                            <m:sub>
                              <m:r>
                                <a:rPr lang="en-NZ" altLang="ja-JP" sz="1800" b="1" i="1" smtClean="0">
                                  <a:solidFill>
                                    <a:schemeClr val="tx1"/>
                                  </a:solidFill>
                                  <a:latin typeface="Cambria Math" panose="02040503050406030204" pitchFamily="18" charset="0"/>
                                </a:rPr>
                                <m:t>𝒊𝒋𝒌</m:t>
                              </m:r>
                            </m:sub>
                          </m:sSub>
                          <m:r>
                            <a:rPr lang="en-NZ" altLang="ja-JP" sz="1800" b="1" i="1" smtClean="0">
                              <a:solidFill>
                                <a:schemeClr val="tx1"/>
                              </a:solidFill>
                              <a:latin typeface="Cambria Math" panose="02040503050406030204" pitchFamily="18" charset="0"/>
                            </a:rPr>
                            <m:t> </m:t>
                          </m:r>
                        </m:e>
                      </m:d>
                      <m:r>
                        <a:rPr lang="en-NZ" altLang="ja-JP" sz="1800" b="1" i="1" smtClean="0">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𝑽𝒂𝒓</m:t>
                      </m:r>
                      <m:d>
                        <m:dPr>
                          <m:begChr m:val="["/>
                          <m:endChr m:val="]"/>
                          <m:ctrlPr>
                            <a:rPr lang="en-NZ" altLang="ja-JP" sz="1800" b="1" i="1" smtClean="0">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 </m:t>
                          </m:r>
                          <m:r>
                            <a:rPr lang="ja-JP" altLang="en-NZ" sz="1800" b="1" i="1">
                              <a:solidFill>
                                <a:schemeClr val="tx1"/>
                              </a:solidFill>
                              <a:latin typeface="Cambria Math" panose="02040503050406030204" pitchFamily="18" charset="0"/>
                            </a:rPr>
                            <m:t>𝝁</m:t>
                          </m:r>
                          <m:r>
                            <a:rPr lang="en-NZ" altLang="ja-JP" sz="1800" b="1" i="1" smtClean="0">
                              <a:solidFill>
                                <a:schemeClr val="tx1"/>
                              </a:solidFill>
                              <a:latin typeface="Cambria Math" panose="02040503050406030204" pitchFamily="18" charset="0"/>
                            </a:rPr>
                            <m:t> </m:t>
                          </m:r>
                        </m:e>
                      </m:d>
                      <m:r>
                        <a:rPr lang="ja-JP" altLang="en-NZ"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𝑽𝒂𝒓</m:t>
                      </m:r>
                      <m:d>
                        <m:dPr>
                          <m:begChr m:val="["/>
                          <m:endChr m:val="]"/>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 </m:t>
                          </m:r>
                          <m:sSub>
                            <m:sSubPr>
                              <m:ctrlPr>
                                <a:rPr lang="en-NZ" altLang="ja-JP" sz="1800" b="1" i="1" smtClean="0">
                                  <a:solidFill>
                                    <a:schemeClr val="tx1"/>
                                  </a:solidFill>
                                  <a:latin typeface="Cambria Math" panose="02040503050406030204" pitchFamily="18" charset="0"/>
                                </a:rPr>
                              </m:ctrlPr>
                            </m:sSubPr>
                            <m:e>
                              <m:r>
                                <a:rPr lang="ja-JP" altLang="en-NZ" sz="1800" b="1" i="1">
                                  <a:solidFill>
                                    <a:schemeClr val="tx1"/>
                                  </a:solidFill>
                                  <a:latin typeface="Cambria Math" panose="02040503050406030204" pitchFamily="18" charset="0"/>
                                </a:rPr>
                                <m:t>𝜶</m:t>
                              </m:r>
                            </m:e>
                            <m:sub>
                              <m:r>
                                <a:rPr lang="en-NZ" altLang="ja-JP" sz="1800" b="1" i="1" smtClean="0">
                                  <a:solidFill>
                                    <a:schemeClr val="tx1"/>
                                  </a:solidFill>
                                  <a:latin typeface="Cambria Math" panose="02040503050406030204" pitchFamily="18" charset="0"/>
                                </a:rPr>
                                <m:t>𝒊</m:t>
                              </m:r>
                            </m:sub>
                          </m:sSub>
                          <m:r>
                            <a:rPr lang="en-NZ" altLang="ja-JP" sz="1800" b="1" i="1" smtClean="0">
                              <a:solidFill>
                                <a:schemeClr val="tx1"/>
                              </a:solidFill>
                              <a:latin typeface="Cambria Math" panose="02040503050406030204" pitchFamily="18" charset="0"/>
                            </a:rPr>
                            <m:t> </m:t>
                          </m:r>
                        </m:e>
                      </m:d>
                      <m:r>
                        <a:rPr lang="ja-JP" altLang="en-NZ"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𝑽𝒂𝒓</m:t>
                      </m:r>
                      <m:d>
                        <m:dPr>
                          <m:begChr m:val="["/>
                          <m:endChr m:val="]"/>
                          <m:ctrlPr>
                            <a:rPr lang="en-NZ" altLang="ja-JP" sz="1800" b="1" i="1" smtClean="0">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 </m:t>
                          </m:r>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𝑩</m:t>
                              </m:r>
                            </m:e>
                            <m:sub>
                              <m:r>
                                <a:rPr lang="en-NZ" altLang="ja-JP" sz="1800" b="1" i="1" smtClean="0">
                                  <a:solidFill>
                                    <a:schemeClr val="tx1"/>
                                  </a:solidFill>
                                  <a:latin typeface="Cambria Math" panose="02040503050406030204" pitchFamily="18" charset="0"/>
                                </a:rPr>
                                <m:t>𝒋</m:t>
                              </m:r>
                            </m:sub>
                          </m:sSub>
                        </m:e>
                      </m:d>
                      <m:r>
                        <a:rPr lang="ja-JP" altLang="en-NZ"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𝑽𝒂𝒓</m:t>
                      </m:r>
                      <m:d>
                        <m:dPr>
                          <m:begChr m:val="["/>
                          <m:endChr m:val="]"/>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 </m:t>
                          </m:r>
                          <m:sSub>
                            <m:sSubPr>
                              <m:ctrlPr>
                                <a:rPr lang="en-NZ" altLang="ja-JP" sz="1800" b="1" i="1">
                                  <a:solidFill>
                                    <a:schemeClr val="tx1"/>
                                  </a:solidFill>
                                  <a:latin typeface="Cambria Math" panose="02040503050406030204" pitchFamily="18" charset="0"/>
                                </a:rPr>
                              </m:ctrlPr>
                            </m:sSubPr>
                            <m:e>
                              <m:r>
                                <a:rPr lang="ja-JP" altLang="en-NZ" sz="1800" b="1" i="1">
                                  <a:solidFill>
                                    <a:schemeClr val="tx1"/>
                                  </a:solidFill>
                                  <a:latin typeface="Cambria Math" panose="02040503050406030204" pitchFamily="18" charset="0"/>
                                </a:rPr>
                                <m:t>𝝐</m:t>
                              </m:r>
                            </m:e>
                            <m:sub>
                              <m:r>
                                <a:rPr lang="ja-JP" altLang="en-NZ" sz="1800" b="1" i="1">
                                  <a:solidFill>
                                    <a:schemeClr val="tx1"/>
                                  </a:solidFill>
                                  <a:latin typeface="Cambria Math" panose="02040503050406030204" pitchFamily="18" charset="0"/>
                                </a:rPr>
                                <m:t>𝒊𝒋</m:t>
                              </m:r>
                              <m:r>
                                <a:rPr lang="en-NZ" altLang="ja-JP" sz="1800" b="1" i="1" smtClean="0">
                                  <a:solidFill>
                                    <a:schemeClr val="tx1"/>
                                  </a:solidFill>
                                  <a:latin typeface="Cambria Math" panose="02040503050406030204" pitchFamily="18" charset="0"/>
                                </a:rPr>
                                <m:t>𝒌</m:t>
                              </m:r>
                            </m:sub>
                          </m:sSub>
                          <m:r>
                            <a:rPr lang="en-NZ" altLang="ja-JP" sz="1800" b="1" i="1" smtClean="0">
                              <a:solidFill>
                                <a:schemeClr val="tx1"/>
                              </a:solidFill>
                              <a:latin typeface="Cambria Math" panose="02040503050406030204" pitchFamily="18" charset="0"/>
                            </a:rPr>
                            <m:t> </m:t>
                          </m:r>
                        </m:e>
                      </m:d>
                      <m:r>
                        <a:rPr lang="en-NZ" altLang="ja-JP" sz="1800" b="1" i="1" smtClean="0">
                          <a:solidFill>
                            <a:schemeClr val="tx1"/>
                          </a:solidFill>
                          <a:latin typeface="Cambria Math" panose="02040503050406030204" pitchFamily="18" charset="0"/>
                        </a:rPr>
                        <m:t> =  </m:t>
                      </m:r>
                      <m:r>
                        <a:rPr lang="en-NZ" altLang="ja-JP" sz="1800" b="1" i="1" smtClean="0">
                          <a:solidFill>
                            <a:schemeClr val="tx1"/>
                          </a:solidFill>
                          <a:latin typeface="Cambria Math" panose="02040503050406030204" pitchFamily="18" charset="0"/>
                        </a:rPr>
                        <m:t>𝟎</m:t>
                      </m:r>
                      <m:r>
                        <a:rPr lang="ja-JP" altLang="en-NZ"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𝟎</m:t>
                      </m:r>
                      <m:r>
                        <a:rPr lang="en-NZ" altLang="ja-JP" sz="1800" b="1" i="1" smtClean="0">
                          <a:solidFill>
                            <a:schemeClr val="tx1"/>
                          </a:solidFill>
                          <a:latin typeface="Cambria Math" panose="02040503050406030204" pitchFamily="18" charset="0"/>
                        </a:rPr>
                        <m:t> +   </m:t>
                      </m:r>
                      <m:sSubSup>
                        <m:sSubSupPr>
                          <m:ctrlPr>
                            <a:rPr lang="en-NZ" altLang="ja-JP" sz="1800" b="1" i="1" smtClean="0">
                              <a:solidFill>
                                <a:schemeClr val="tx1"/>
                              </a:solidFill>
                              <a:latin typeface="Cambria Math" panose="02040503050406030204" pitchFamily="18" charset="0"/>
                            </a:rPr>
                          </m:ctrlPr>
                        </m:sSubSupPr>
                        <m:e>
                          <m:r>
                            <a:rPr lang="en-NZ" altLang="ja-JP" sz="1800" b="1" i="1" smtClean="0">
                              <a:solidFill>
                                <a:schemeClr val="tx1"/>
                              </a:solidFill>
                              <a:latin typeface="Cambria Math" panose="02040503050406030204" pitchFamily="18" charset="0"/>
                            </a:rPr>
                            <m:t>𝝈</m:t>
                          </m:r>
                        </m:e>
                        <m:sub>
                          <m:r>
                            <a:rPr lang="en-NZ" altLang="ja-JP" sz="1800" b="1" i="1" smtClean="0">
                              <a:solidFill>
                                <a:schemeClr val="tx1"/>
                              </a:solidFill>
                              <a:latin typeface="Cambria Math" panose="02040503050406030204" pitchFamily="18" charset="0"/>
                            </a:rPr>
                            <m:t>𝑩</m:t>
                          </m:r>
                        </m:sub>
                        <m:sup>
                          <m:r>
                            <a:rPr lang="en-NZ" altLang="ja-JP" sz="1800" b="1" i="1" smtClean="0">
                              <a:solidFill>
                                <a:schemeClr val="tx1"/>
                              </a:solidFill>
                              <a:latin typeface="Cambria Math" panose="02040503050406030204" pitchFamily="18" charset="0"/>
                            </a:rPr>
                            <m:t>𝟐</m:t>
                          </m:r>
                        </m:sup>
                      </m:sSubSup>
                      <m:r>
                        <a:rPr lang="en-NZ" altLang="ja-JP" sz="1800" b="1" i="1" smtClean="0">
                          <a:solidFill>
                            <a:schemeClr val="tx1"/>
                          </a:solidFill>
                          <a:latin typeface="Cambria Math" panose="02040503050406030204" pitchFamily="18" charset="0"/>
                        </a:rPr>
                        <m:t> +  </m:t>
                      </m:r>
                      <m:sSup>
                        <m:sSupPr>
                          <m:ctrlPr>
                            <a:rPr lang="en-NZ" altLang="ja-JP" sz="1800" b="1" i="1" smtClean="0">
                              <a:solidFill>
                                <a:schemeClr val="tx1"/>
                              </a:solidFill>
                              <a:latin typeface="Cambria Math" panose="02040503050406030204" pitchFamily="18" charset="0"/>
                            </a:rPr>
                          </m:ctrlPr>
                        </m:sSupPr>
                        <m:e>
                          <m:r>
                            <a:rPr lang="en-NZ" altLang="ja-JP" sz="1800" b="1" i="1" smtClean="0">
                              <a:solidFill>
                                <a:schemeClr val="tx1"/>
                              </a:solidFill>
                              <a:latin typeface="Cambria Math" panose="02040503050406030204" pitchFamily="18" charset="0"/>
                            </a:rPr>
                            <m:t>𝝈</m:t>
                          </m:r>
                        </m:e>
                        <m:sup>
                          <m:r>
                            <a:rPr lang="en-NZ" altLang="ja-JP" sz="1800" b="1" i="1" smtClean="0">
                              <a:solidFill>
                                <a:schemeClr val="tx1"/>
                              </a:solidFill>
                              <a:latin typeface="Cambria Math" panose="02040503050406030204" pitchFamily="18" charset="0"/>
                            </a:rPr>
                            <m:t>𝟐</m:t>
                          </m:r>
                        </m:sup>
                      </m:sSup>
                      <m:r>
                        <a:rPr lang="en-NZ" altLang="ja-JP" sz="1800" b="1" i="1" smtClean="0">
                          <a:solidFill>
                            <a:schemeClr val="tx1"/>
                          </a:solidFill>
                          <a:latin typeface="Cambria Math" panose="02040503050406030204" pitchFamily="18" charset="0"/>
                        </a:rPr>
                        <m:t>  = </m:t>
                      </m:r>
                      <m:sSubSup>
                        <m:sSubSupPr>
                          <m:ctrlPr>
                            <a:rPr lang="en-NZ" altLang="ja-JP" sz="1800" b="1" i="1">
                              <a:solidFill>
                                <a:schemeClr val="tx1"/>
                              </a:solidFill>
                              <a:latin typeface="Cambria Math" panose="02040503050406030204" pitchFamily="18" charset="0"/>
                            </a:rPr>
                          </m:ctrlPr>
                        </m:sSubSupPr>
                        <m:e>
                          <m:r>
                            <a:rPr lang="en-NZ" altLang="ja-JP" sz="1800" b="1" i="1">
                              <a:solidFill>
                                <a:schemeClr val="tx1"/>
                              </a:solidFill>
                              <a:latin typeface="Cambria Math" panose="02040503050406030204" pitchFamily="18" charset="0"/>
                            </a:rPr>
                            <m:t>𝝈</m:t>
                          </m:r>
                        </m:e>
                        <m:sub>
                          <m:r>
                            <a:rPr lang="en-NZ" altLang="ja-JP" sz="1800" b="1" i="1">
                              <a:solidFill>
                                <a:schemeClr val="tx1"/>
                              </a:solidFill>
                              <a:latin typeface="Cambria Math" panose="02040503050406030204" pitchFamily="18" charset="0"/>
                            </a:rPr>
                            <m:t>𝑩</m:t>
                          </m:r>
                        </m:sub>
                        <m:sup>
                          <m:r>
                            <a:rPr lang="en-NZ" altLang="ja-JP" sz="1800" b="1" i="1">
                              <a:solidFill>
                                <a:schemeClr val="tx1"/>
                              </a:solidFill>
                              <a:latin typeface="Cambria Math" panose="02040503050406030204" pitchFamily="18" charset="0"/>
                            </a:rPr>
                            <m:t>𝟐</m:t>
                          </m:r>
                        </m:sup>
                      </m:sSubSup>
                      <m:r>
                        <a:rPr lang="en-NZ" altLang="ja-JP" sz="1800" b="1" i="1">
                          <a:solidFill>
                            <a:schemeClr val="tx1"/>
                          </a:solidFill>
                          <a:latin typeface="Cambria Math" panose="02040503050406030204" pitchFamily="18" charset="0"/>
                        </a:rPr>
                        <m:t> +  </m:t>
                      </m:r>
                      <m:sSup>
                        <m:sSupPr>
                          <m:ctrlPr>
                            <a:rPr lang="en-NZ" altLang="ja-JP" sz="1800" b="1" i="1">
                              <a:solidFill>
                                <a:schemeClr val="tx1"/>
                              </a:solidFill>
                              <a:latin typeface="Cambria Math" panose="02040503050406030204" pitchFamily="18" charset="0"/>
                            </a:rPr>
                          </m:ctrlPr>
                        </m:sSupPr>
                        <m:e>
                          <m:r>
                            <a:rPr lang="en-NZ" altLang="ja-JP" sz="1800" b="1" i="1">
                              <a:solidFill>
                                <a:schemeClr val="tx1"/>
                              </a:solidFill>
                              <a:latin typeface="Cambria Math" panose="02040503050406030204" pitchFamily="18" charset="0"/>
                            </a:rPr>
                            <m:t>𝝈</m:t>
                          </m:r>
                        </m:e>
                        <m:sup>
                          <m:r>
                            <a:rPr lang="en-NZ" altLang="ja-JP" sz="1800" b="1" i="1">
                              <a:solidFill>
                                <a:schemeClr val="tx1"/>
                              </a:solidFill>
                              <a:latin typeface="Cambria Math" panose="02040503050406030204" pitchFamily="18" charset="0"/>
                            </a:rPr>
                            <m:t>𝟐</m:t>
                          </m:r>
                        </m:sup>
                      </m:sSup>
                    </m:oMath>
                  </m:oMathPara>
                </a14:m>
                <a:endParaRPr lang="en-NZ" altLang="ja-JP" sz="1800" b="1" i="1" dirty="0">
                  <a:solidFill>
                    <a:schemeClr val="tx1"/>
                  </a:solidFill>
                </a:endParaRPr>
              </a:p>
              <a:p>
                <a:pPr algn="just">
                  <a:lnSpc>
                    <a:spcPct val="100000"/>
                  </a:lnSpc>
                </a:pPr>
                <a:endParaRPr lang="en-NZ" altLang="ja-JP" sz="1800" b="1" i="1" dirty="0">
                  <a:solidFill>
                    <a:schemeClr val="tx1"/>
                  </a:solidFill>
                </a:endParaRPr>
              </a:p>
            </p:txBody>
          </p:sp>
        </mc:Choice>
        <mc:Fallback xmlns="">
          <p:sp>
            <p:nvSpPr>
              <p:cNvPr id="35" name="Text Placeholder 5">
                <a:extLst>
                  <a:ext uri="{FF2B5EF4-FFF2-40B4-BE49-F238E27FC236}">
                    <a16:creationId xmlns:a16="http://schemas.microsoft.com/office/drawing/2014/main" id="{BBA88332-958B-EF89-DB28-19E84B93DCD4}"/>
                  </a:ext>
                </a:extLst>
              </p:cNvPr>
              <p:cNvSpPr txBox="1">
                <a:spLocks noRot="1" noChangeAspect="1" noMove="1" noResize="1" noEditPoints="1" noAdjustHandles="1" noChangeArrowheads="1" noChangeShapeType="1" noTextEdit="1"/>
              </p:cNvSpPr>
              <p:nvPr/>
            </p:nvSpPr>
            <p:spPr>
              <a:xfrm>
                <a:off x="251223" y="4229199"/>
                <a:ext cx="11232109" cy="537540"/>
              </a:xfrm>
              <a:prstGeom prst="rect">
                <a:avLst/>
              </a:prstGeom>
              <a:blipFill>
                <a:blip r:embed="rId3"/>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628CCA8F-FBEB-8EB4-6AAE-E7EB91A4740A}"/>
                  </a:ext>
                </a:extLst>
              </p:cNvPr>
              <p:cNvSpPr txBox="1">
                <a:spLocks/>
              </p:cNvSpPr>
              <p:nvPr/>
            </p:nvSpPr>
            <p:spPr>
              <a:xfrm>
                <a:off x="3364681" y="2797346"/>
                <a:ext cx="5462638"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
                    </m:oMathParaPr>
                    <m:oMath xmlns:m="http://schemas.openxmlformats.org/officeDocument/2006/math">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𝒀</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𝒊𝒋𝒌</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𝝁</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𝜶</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𝑩</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𝒋</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𝝐</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𝒊𝒋𝒌</m:t>
                          </m:r>
                        </m:sub>
                      </m:sSub>
                    </m:oMath>
                  </m:oMathPara>
                </a14:m>
                <a:endParaRPr kumimoji="1" lang="en-NZ" altLang="ja-JP" sz="18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18" name="Text Placeholder 5">
                <a:extLst>
                  <a:ext uri="{FF2B5EF4-FFF2-40B4-BE49-F238E27FC236}">
                    <a16:creationId xmlns:a16="http://schemas.microsoft.com/office/drawing/2014/main" id="{628CCA8F-FBEB-8EB4-6AAE-E7EB91A4740A}"/>
                  </a:ext>
                </a:extLst>
              </p:cNvPr>
              <p:cNvSpPr txBox="1">
                <a:spLocks noRot="1" noChangeAspect="1" noMove="1" noResize="1" noEditPoints="1" noAdjustHandles="1" noChangeArrowheads="1" noChangeShapeType="1" noTextEdit="1"/>
              </p:cNvSpPr>
              <p:nvPr/>
            </p:nvSpPr>
            <p:spPr>
              <a:xfrm>
                <a:off x="3364681" y="2797346"/>
                <a:ext cx="5462638" cy="474953"/>
              </a:xfrm>
              <a:prstGeom prst="rect">
                <a:avLst/>
              </a:prstGeom>
              <a:blipFill>
                <a:blip r:embed="rId7"/>
                <a:stretch>
                  <a:fillRect/>
                </a:stretch>
              </a:blipFill>
            </p:spPr>
            <p:txBody>
              <a:bodyPr/>
              <a:lstStyle/>
              <a:p>
                <a:r>
                  <a:rPr lang="en-NZ">
                    <a:noFill/>
                  </a:rPr>
                  <a:t> </a:t>
                </a:r>
              </a:p>
            </p:txBody>
          </p:sp>
        </mc:Fallback>
      </mc:AlternateContent>
      <p:sp>
        <p:nvSpPr>
          <p:cNvPr id="14" name="Footer Placeholder 2">
            <a:extLst>
              <a:ext uri="{FF2B5EF4-FFF2-40B4-BE49-F238E27FC236}">
                <a16:creationId xmlns:a16="http://schemas.microsoft.com/office/drawing/2014/main" id="{3422B619-34DB-8A61-8DBA-323C93615C42}"/>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4.4 – </a:t>
            </a:r>
            <a:r>
              <a:rPr kumimoji="1" lang="en-US" altLang="ja-JP" sz="1600" dirty="0">
                <a:solidFill>
                  <a:srgbClr val="DEDDDD"/>
                </a:solidFill>
                <a:latin typeface="Gidole"/>
                <a:ea typeface="游ゴシック" panose="020B0400000000000000" pitchFamily="34" charset="-128"/>
              </a:rPr>
              <a:t>Mixed Effects Model</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D4722B09-8F95-5099-317B-21891FB8F4E3}"/>
                  </a:ext>
                </a:extLst>
              </p:cNvPr>
              <p:cNvSpPr txBox="1">
                <a:spLocks/>
              </p:cNvSpPr>
              <p:nvPr/>
            </p:nvSpPr>
            <p:spPr>
              <a:xfrm>
                <a:off x="312361" y="2403575"/>
                <a:ext cx="11313581" cy="39421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For a mixed effects model the </a:t>
                </a:r>
                <a14:m>
                  <m:oMath xmlns:m="http://schemas.openxmlformats.org/officeDocument/2006/math">
                    <m:sSup>
                      <m:sSup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p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𝒌</m:t>
                        </m:r>
                      </m:e>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𝒕𝒉</m:t>
                        </m:r>
                      </m:sup>
                    </m:sSup>
                  </m:oMath>
                </a14:m>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observation belonging</a:t>
                </a:r>
                <a:r>
                  <a:rPr kumimoji="1" lang="en-NZ" altLang="ja-JP" sz="18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to the </a:t>
                </a:r>
                <a14:m>
                  <m:oMath xmlns:m="http://schemas.openxmlformats.org/officeDocument/2006/math">
                    <m:sSup>
                      <m:sSupPr>
                        <m:ctrlPr>
                          <a:rPr kumimoji="1" lang="en-NZ" altLang="ja-JP" sz="1800" b="1" i="1" u="none" strike="noStrike" kern="1200" cap="none" spc="0" normalizeH="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pPr>
                      <m:e>
                        <m:r>
                          <a:rPr kumimoji="1" lang="en-NZ" altLang="ja-JP" sz="1800" b="1" i="1" u="none" strike="noStrike" kern="1200" cap="none" spc="0" normalizeH="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e>
                      <m:sup>
                        <m:r>
                          <a:rPr kumimoji="1" lang="en-NZ" altLang="ja-JP" sz="1800" b="1" i="1" u="none" strike="noStrike" kern="1200" cap="none" spc="0" normalizeH="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𝒕𝒉</m:t>
                        </m:r>
                      </m:sup>
                    </m:sSup>
                  </m:oMath>
                </a14:m>
                <a:r>
                  <a:rPr kumimoji="1" lang="en-NZ"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level of factor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a:t>
                </a:r>
                <a:r>
                  <a:rPr kumimoji="1" lang="en-NZ"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and the</a:t>
                </a:r>
                <a:r>
                  <a:rPr kumimoji="1" lang="en-NZ" altLang="ja-JP" sz="18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800" b="1" i="1" u="none" strike="noStrike" kern="1200" cap="none" spc="0" normalizeH="0" noProof="0" dirty="0" err="1">
                    <a:ln>
                      <a:noFill/>
                    </a:ln>
                    <a:solidFill>
                      <a:prstClr val="black"/>
                    </a:solidFill>
                    <a:effectLst/>
                    <a:uLnTx/>
                    <a:uFillTx/>
                    <a:latin typeface="Calibri" panose="020F0502020204030204"/>
                    <a:ea typeface="游ゴシック" panose="020B0400000000000000" pitchFamily="34" charset="-128"/>
                    <a:cs typeface="+mn-cs"/>
                  </a:rPr>
                  <a:t>j</a:t>
                </a:r>
                <a:r>
                  <a:rPr kumimoji="1" lang="en-NZ" altLang="ja-JP" sz="1800" b="1" i="1" u="none" strike="noStrike" kern="1200" cap="none" spc="0" normalizeH="0" baseline="30000" noProof="0" dirty="0" err="1">
                    <a:ln>
                      <a:noFill/>
                    </a:ln>
                    <a:solidFill>
                      <a:prstClr val="black"/>
                    </a:solidFill>
                    <a:effectLst/>
                    <a:uLnTx/>
                    <a:uFillTx/>
                    <a:latin typeface="Calibri" panose="020F0502020204030204"/>
                    <a:ea typeface="游ゴシック" panose="020B0400000000000000" pitchFamily="34" charset="-128"/>
                    <a:cs typeface="+mn-cs"/>
                  </a:rPr>
                  <a:t>th</a:t>
                </a:r>
                <a:r>
                  <a:rPr kumimoji="1" lang="en-NZ" altLang="ja-JP" sz="18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block</a:t>
                </a:r>
                <a:r>
                  <a:rPr kumimoji="1" lang="en-NZ"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is modelled as:</a:t>
                </a: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0" name="Text Placeholder 5">
                <a:extLst>
                  <a:ext uri="{FF2B5EF4-FFF2-40B4-BE49-F238E27FC236}">
                    <a16:creationId xmlns:a16="http://schemas.microsoft.com/office/drawing/2014/main" id="{D4722B09-8F95-5099-317B-21891FB8F4E3}"/>
                  </a:ext>
                </a:extLst>
              </p:cNvPr>
              <p:cNvSpPr txBox="1">
                <a:spLocks noRot="1" noChangeAspect="1" noMove="1" noResize="1" noEditPoints="1" noAdjustHandles="1" noChangeArrowheads="1" noChangeShapeType="1" noTextEdit="1"/>
              </p:cNvSpPr>
              <p:nvPr/>
            </p:nvSpPr>
            <p:spPr>
              <a:xfrm>
                <a:off x="312361" y="2403575"/>
                <a:ext cx="11313581" cy="394215"/>
              </a:xfrm>
              <a:prstGeom prst="rect">
                <a:avLst/>
              </a:prstGeom>
              <a:blipFill>
                <a:blip r:embed="rId8"/>
                <a:stretch>
                  <a:fillRect l="-431" t="-4615" b="-20000"/>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7" name="Text Placeholder 5">
                <a:extLst>
                  <a:ext uri="{FF2B5EF4-FFF2-40B4-BE49-F238E27FC236}">
                    <a16:creationId xmlns:a16="http://schemas.microsoft.com/office/drawing/2014/main" id="{D50D709B-08F5-FB41-83E8-B571801ECD31}"/>
                  </a:ext>
                </a:extLst>
              </p:cNvPr>
              <p:cNvSpPr txBox="1">
                <a:spLocks/>
              </p:cNvSpPr>
              <p:nvPr/>
            </p:nvSpPr>
            <p:spPr>
              <a:xfrm>
                <a:off x="8561750" y="2830047"/>
                <a:ext cx="1865087" cy="7635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lang="en-NZ" altLang="ja-JP" sz="1600" b="1" i="1" smtClean="0">
                            <a:solidFill>
                              <a:schemeClr val="bg2">
                                <a:lumMod val="50000"/>
                              </a:schemeClr>
                            </a:solidFill>
                            <a:latin typeface="Cambria Math" panose="02040503050406030204" pitchFamily="18" charset="0"/>
                          </a:rPr>
                        </m:ctrlPr>
                      </m:sSubPr>
                      <m:e>
                        <m:r>
                          <a:rPr lang="en-NZ" altLang="ja-JP" sz="1600" b="1" i="1">
                            <a:solidFill>
                              <a:schemeClr val="bg2">
                                <a:lumMod val="50000"/>
                              </a:schemeClr>
                            </a:solidFill>
                            <a:latin typeface="Cambria Math" panose="02040503050406030204" pitchFamily="18" charset="0"/>
                          </a:rPr>
                          <m:t>𝑩</m:t>
                        </m:r>
                      </m:e>
                      <m:sub>
                        <m:r>
                          <a:rPr lang="en-NZ" altLang="ja-JP" sz="1600" b="1" i="1">
                            <a:solidFill>
                              <a:schemeClr val="bg2">
                                <a:lumMod val="50000"/>
                              </a:schemeClr>
                            </a:solidFill>
                            <a:latin typeface="Cambria Math" panose="02040503050406030204" pitchFamily="18" charset="0"/>
                          </a:rPr>
                          <m:t>𝒋</m:t>
                        </m:r>
                      </m:sub>
                    </m:sSub>
                    <m:r>
                      <a:rPr lang="en-NZ" altLang="ja-JP" sz="1600" b="1" i="1">
                        <a:solidFill>
                          <a:schemeClr val="bg2">
                            <a:lumMod val="50000"/>
                          </a:schemeClr>
                        </a:solidFill>
                        <a:latin typeface="Cambria Math" panose="02040503050406030204" pitchFamily="18" charset="0"/>
                      </a:rPr>
                      <m:t> ~ </m:t>
                    </m:r>
                    <m:r>
                      <a:rPr lang="en-NZ" altLang="ja-JP" sz="1600" b="1" i="1" smtClean="0">
                        <a:solidFill>
                          <a:schemeClr val="bg2">
                            <a:lumMod val="50000"/>
                          </a:schemeClr>
                        </a:solidFill>
                        <a:latin typeface="Cambria Math" panose="02040503050406030204" pitchFamily="18" charset="0"/>
                      </a:rPr>
                      <m:t>𝑵</m:t>
                    </m:r>
                    <m:r>
                      <a:rPr lang="en-NZ" altLang="ja-JP" sz="1600" b="1" i="1">
                        <a:solidFill>
                          <a:schemeClr val="bg2">
                            <a:lumMod val="50000"/>
                          </a:schemeClr>
                        </a:solidFill>
                        <a:latin typeface="Cambria Math" panose="02040503050406030204" pitchFamily="18" charset="0"/>
                      </a:rPr>
                      <m:t>(</m:t>
                    </m:r>
                    <m:r>
                      <a:rPr lang="en-NZ" altLang="ja-JP" sz="1600" b="1" i="1" smtClean="0">
                        <a:solidFill>
                          <a:schemeClr val="bg2">
                            <a:lumMod val="50000"/>
                          </a:schemeClr>
                        </a:solidFill>
                        <a:latin typeface="Cambria Math" panose="02040503050406030204" pitchFamily="18" charset="0"/>
                      </a:rPr>
                      <m:t> </m:t>
                    </m:r>
                    <m:r>
                      <a:rPr lang="en-NZ" altLang="ja-JP" sz="1600" b="1" i="1" smtClean="0">
                        <a:solidFill>
                          <a:schemeClr val="bg2">
                            <a:lumMod val="50000"/>
                          </a:schemeClr>
                        </a:solidFill>
                        <a:latin typeface="Cambria Math" panose="02040503050406030204" pitchFamily="18" charset="0"/>
                      </a:rPr>
                      <m:t>𝟎</m:t>
                    </m:r>
                    <m:r>
                      <a:rPr lang="en-NZ" altLang="ja-JP" sz="1600" b="1" i="1">
                        <a:solidFill>
                          <a:schemeClr val="bg2">
                            <a:lumMod val="50000"/>
                          </a:schemeClr>
                        </a:solidFill>
                        <a:latin typeface="Cambria Math" panose="02040503050406030204" pitchFamily="18" charset="0"/>
                      </a:rPr>
                      <m:t>, </m:t>
                    </m:r>
                    <m:sSubSup>
                      <m:sSubSupPr>
                        <m:ctrlPr>
                          <a:rPr lang="en-NZ" altLang="ja-JP" sz="1600" b="1" i="1">
                            <a:solidFill>
                              <a:schemeClr val="bg2">
                                <a:lumMod val="50000"/>
                              </a:schemeClr>
                            </a:solidFill>
                            <a:latin typeface="Cambria Math" panose="02040503050406030204" pitchFamily="18" charset="0"/>
                          </a:rPr>
                        </m:ctrlPr>
                      </m:sSubSupPr>
                      <m:e>
                        <m:r>
                          <a:rPr lang="en-NZ" altLang="ja-JP" sz="1600" b="1" i="1">
                            <a:solidFill>
                              <a:schemeClr val="bg2">
                                <a:lumMod val="50000"/>
                              </a:schemeClr>
                            </a:solidFill>
                            <a:latin typeface="Cambria Math" panose="02040503050406030204" pitchFamily="18" charset="0"/>
                          </a:rPr>
                          <m:t>𝝈</m:t>
                        </m:r>
                      </m:e>
                      <m:sub>
                        <m:r>
                          <a:rPr lang="en-NZ" altLang="ja-JP" sz="1600" b="1" i="1">
                            <a:solidFill>
                              <a:schemeClr val="bg2">
                                <a:lumMod val="50000"/>
                              </a:schemeClr>
                            </a:solidFill>
                            <a:latin typeface="Cambria Math" panose="02040503050406030204" pitchFamily="18" charset="0"/>
                          </a:rPr>
                          <m:t>𝑩</m:t>
                        </m:r>
                      </m:sub>
                      <m:sup>
                        <m:r>
                          <a:rPr lang="en-NZ" altLang="ja-JP" sz="1600" b="1" i="1">
                            <a:solidFill>
                              <a:schemeClr val="bg2">
                                <a:lumMod val="50000"/>
                              </a:schemeClr>
                            </a:solidFill>
                            <a:latin typeface="Cambria Math" panose="02040503050406030204" pitchFamily="18" charset="0"/>
                          </a:rPr>
                          <m:t>𝟐</m:t>
                        </m:r>
                      </m:sup>
                    </m:sSubSup>
                    <m:r>
                      <a:rPr lang="en-NZ" altLang="ja-JP" sz="1600" b="1" i="1">
                        <a:solidFill>
                          <a:schemeClr val="bg2">
                            <a:lumMod val="50000"/>
                          </a:schemeClr>
                        </a:solidFill>
                        <a:latin typeface="Cambria Math" panose="02040503050406030204" pitchFamily="18" charset="0"/>
                      </a:rPr>
                      <m:t> )</m:t>
                    </m:r>
                  </m:oMath>
                </a14:m>
                <a:r>
                  <a:rPr kumimoji="1" lang="en-NZ" altLang="ja-JP" sz="160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 </a:t>
                </a:r>
                <a:endParaRPr kumimoji="1" lang="en-NZ" altLang="ja-JP" sz="1600" b="1" i="1" u="none" strike="noStrike" kern="1200" cap="none" spc="0" normalizeH="0" baseline="0" noProof="0" dirty="0">
                  <a:ln>
                    <a:noFill/>
                  </a:ln>
                  <a:solidFill>
                    <a:schemeClr val="bg2">
                      <a:lumMod val="50000"/>
                    </a:schemeClr>
                  </a:solidFill>
                  <a:effectLst/>
                  <a:uLnTx/>
                  <a:uFillTx/>
                  <a:latin typeface="Cambria Math" panose="02040503050406030204" pitchFamily="18" charset="0"/>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600" b="1" i="1" u="none" strike="noStrike" kern="1200" cap="none" spc="0" normalizeH="0" baseline="0" noProof="0">
                              <a:ln>
                                <a:noFill/>
                              </a:ln>
                              <a:solidFill>
                                <a:schemeClr val="bg2">
                                  <a:lumMod val="50000"/>
                                </a:schemeClr>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schemeClr val="bg2">
                                  <a:lumMod val="50000"/>
                                </a:schemeClr>
                              </a:solidFill>
                              <a:effectLst/>
                              <a:uLnTx/>
                              <a:uFillTx/>
                              <a:latin typeface="Cambria Math" panose="02040503050406030204" pitchFamily="18" charset="0"/>
                              <a:cs typeface="+mn-cs"/>
                            </a:rPr>
                            <m:t>𝝐</m:t>
                          </m:r>
                        </m:e>
                        <m:sub>
                          <m:r>
                            <a:rPr kumimoji="1" lang="en-NZ" altLang="ja-JP" sz="1600" b="1" i="1" u="none" strike="noStrike" kern="1200" cap="none" spc="0" normalizeH="0" baseline="0" noProof="0">
                              <a:ln>
                                <a:noFill/>
                              </a:ln>
                              <a:solidFill>
                                <a:schemeClr val="bg2">
                                  <a:lumMod val="50000"/>
                                </a:schemeClr>
                              </a:solidFill>
                              <a:effectLst/>
                              <a:uLnTx/>
                              <a:uFillTx/>
                              <a:latin typeface="Cambria Math" panose="02040503050406030204" pitchFamily="18" charset="0"/>
                              <a:cs typeface="+mn-cs"/>
                            </a:rPr>
                            <m:t>𝒊𝒋</m:t>
                          </m:r>
                          <m:r>
                            <a:rPr kumimoji="1" lang="en-NZ" altLang="ja-JP" sz="16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cs typeface="+mn-cs"/>
                            </a:rPr>
                            <m:t>𝒌</m:t>
                          </m:r>
                        </m:sub>
                      </m:sSub>
                      <m:r>
                        <a:rPr kumimoji="1" lang="en-NZ" altLang="ja-JP" sz="1600" b="1" i="1" u="none" strike="noStrike" kern="1200" cap="none" spc="0" normalizeH="0" baseline="0" noProof="0">
                          <a:ln>
                            <a:noFill/>
                          </a:ln>
                          <a:solidFill>
                            <a:schemeClr val="bg2">
                              <a:lumMod val="50000"/>
                            </a:schemeClr>
                          </a:solidFill>
                          <a:effectLst/>
                          <a:uLnTx/>
                          <a:uFillTx/>
                          <a:latin typeface="Cambria Math" panose="02040503050406030204" pitchFamily="18" charset="0"/>
                          <a:cs typeface="+mn-cs"/>
                        </a:rPr>
                        <m:t> ~ </m:t>
                      </m:r>
                      <m:r>
                        <a:rPr kumimoji="1" lang="en-NZ" altLang="ja-JP" sz="1600" b="1" i="1" u="none" strike="noStrike" kern="1200" cap="none" spc="0" normalizeH="0" baseline="0" noProof="0">
                          <a:ln>
                            <a:noFill/>
                          </a:ln>
                          <a:solidFill>
                            <a:schemeClr val="bg2">
                              <a:lumMod val="50000"/>
                            </a:schemeClr>
                          </a:solidFill>
                          <a:effectLst/>
                          <a:uLnTx/>
                          <a:uFillTx/>
                          <a:latin typeface="Cambria Math" panose="02040503050406030204" pitchFamily="18" charset="0"/>
                          <a:cs typeface="+mn-cs"/>
                        </a:rPr>
                        <m:t>𝑵</m:t>
                      </m:r>
                      <m:d>
                        <m:dPr>
                          <m:ctrlPr>
                            <a:rPr kumimoji="1" lang="en-NZ" altLang="ja-JP" sz="1600" b="1" i="1" u="none" strike="noStrike" kern="1200" cap="none" spc="0" normalizeH="0" baseline="0" noProof="0">
                              <a:ln>
                                <a:noFill/>
                              </a:ln>
                              <a:solidFill>
                                <a:schemeClr val="bg2">
                                  <a:lumMod val="50000"/>
                                </a:schemeClr>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a:ln>
                                <a:noFill/>
                              </a:ln>
                              <a:solidFill>
                                <a:schemeClr val="bg2">
                                  <a:lumMod val="50000"/>
                                </a:schemeClr>
                              </a:solidFill>
                              <a:effectLst/>
                              <a:uLnTx/>
                              <a:uFillTx/>
                              <a:latin typeface="Cambria Math" panose="02040503050406030204" pitchFamily="18" charset="0"/>
                              <a:cs typeface="+mn-cs"/>
                            </a:rPr>
                            <m:t>𝟎</m:t>
                          </m:r>
                          <m:r>
                            <a:rPr kumimoji="1" lang="en-NZ" altLang="ja-JP" sz="1600" b="1" i="1" u="none" strike="noStrike" kern="1200" cap="none" spc="0" normalizeH="0" baseline="0" noProof="0">
                              <a:ln>
                                <a:noFill/>
                              </a:ln>
                              <a:solidFill>
                                <a:schemeClr val="bg2">
                                  <a:lumMod val="50000"/>
                                </a:schemeClr>
                              </a:solidFill>
                              <a:effectLst/>
                              <a:uLnTx/>
                              <a:uFillTx/>
                              <a:latin typeface="Cambria Math" panose="02040503050406030204" pitchFamily="18" charset="0"/>
                              <a:cs typeface="+mn-cs"/>
                            </a:rPr>
                            <m:t>, </m:t>
                          </m:r>
                          <m:sSup>
                            <m:sSupPr>
                              <m:ctrlPr>
                                <a:rPr kumimoji="1" lang="en-NZ" altLang="ja-JP" sz="1600" b="1" i="1" u="none" strike="noStrike" kern="1200" cap="none" spc="0" normalizeH="0" baseline="0" noProof="0">
                                  <a:ln>
                                    <a:noFill/>
                                  </a:ln>
                                  <a:solidFill>
                                    <a:schemeClr val="bg2">
                                      <a:lumMod val="50000"/>
                                    </a:schemeClr>
                                  </a:solidFill>
                                  <a:effectLst/>
                                  <a:uLnTx/>
                                  <a:uFillTx/>
                                  <a:latin typeface="Cambria Math" panose="02040503050406030204" pitchFamily="18" charset="0"/>
                                  <a:cs typeface="+mn-cs"/>
                                </a:rPr>
                              </m:ctrlPr>
                            </m:sSupPr>
                            <m:e>
                              <m:r>
                                <a:rPr kumimoji="1" lang="en-NZ" altLang="ja-JP" sz="1600" b="1" i="1" u="none" strike="noStrike" kern="1200" cap="none" spc="0" normalizeH="0" baseline="0" noProof="0">
                                  <a:ln>
                                    <a:noFill/>
                                  </a:ln>
                                  <a:solidFill>
                                    <a:schemeClr val="bg2">
                                      <a:lumMod val="50000"/>
                                    </a:schemeClr>
                                  </a:solidFill>
                                  <a:effectLst/>
                                  <a:uLnTx/>
                                  <a:uFillTx/>
                                  <a:latin typeface="Cambria Math" panose="02040503050406030204" pitchFamily="18" charset="0"/>
                                  <a:cs typeface="+mn-cs"/>
                                </a:rPr>
                                <m:t>𝝈</m:t>
                              </m:r>
                            </m:e>
                            <m:sup>
                              <m:r>
                                <a:rPr kumimoji="1" lang="en-NZ" altLang="ja-JP" sz="1600" b="1" i="1" u="none" strike="noStrike" kern="1200" cap="none" spc="0" normalizeH="0" baseline="0" noProof="0">
                                  <a:ln>
                                    <a:noFill/>
                                  </a:ln>
                                  <a:solidFill>
                                    <a:schemeClr val="bg2">
                                      <a:lumMod val="50000"/>
                                    </a:schemeClr>
                                  </a:solidFill>
                                  <a:effectLst/>
                                  <a:uLnTx/>
                                  <a:uFillTx/>
                                  <a:latin typeface="Cambria Math" panose="02040503050406030204" pitchFamily="18" charset="0"/>
                                  <a:cs typeface="+mn-cs"/>
                                </a:rPr>
                                <m:t>𝟐</m:t>
                              </m:r>
                            </m:sup>
                          </m:sSup>
                        </m:e>
                      </m:d>
                    </m:oMath>
                  </m:oMathPara>
                </a14:m>
                <a:endParaRPr kumimoji="1" lang="en-NZ" altLang="ja-JP" sz="1600" b="0"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endParaRPr>
              </a:p>
            </p:txBody>
          </p:sp>
        </mc:Choice>
        <mc:Fallback xmlns="">
          <p:sp>
            <p:nvSpPr>
              <p:cNvPr id="17" name="Text Placeholder 5">
                <a:extLst>
                  <a:ext uri="{FF2B5EF4-FFF2-40B4-BE49-F238E27FC236}">
                    <a16:creationId xmlns:a16="http://schemas.microsoft.com/office/drawing/2014/main" id="{D50D709B-08F5-FB41-83E8-B571801ECD31}"/>
                  </a:ext>
                </a:extLst>
              </p:cNvPr>
              <p:cNvSpPr txBox="1">
                <a:spLocks noRot="1" noChangeAspect="1" noMove="1" noResize="1" noEditPoints="1" noAdjustHandles="1" noChangeArrowheads="1" noChangeShapeType="1" noTextEdit="1"/>
              </p:cNvSpPr>
              <p:nvPr/>
            </p:nvSpPr>
            <p:spPr>
              <a:xfrm>
                <a:off x="8561750" y="2830047"/>
                <a:ext cx="1865087" cy="763543"/>
              </a:xfrm>
              <a:prstGeom prst="rect">
                <a:avLst/>
              </a:prstGeom>
              <a:blipFill>
                <a:blip r:embed="rId9"/>
                <a:stretch>
                  <a:fillRect/>
                </a:stretch>
              </a:blipFill>
            </p:spPr>
            <p:txBody>
              <a:bodyPr/>
              <a:lstStyle/>
              <a:p>
                <a:r>
                  <a:rPr lang="en-NZ">
                    <a:noFill/>
                  </a:rPr>
                  <a:t> </a:t>
                </a:r>
              </a:p>
            </p:txBody>
          </p:sp>
        </mc:Fallback>
      </mc:AlternateContent>
      <p:sp>
        <p:nvSpPr>
          <p:cNvPr id="21" name="Text Placeholder 5">
            <a:extLst>
              <a:ext uri="{FF2B5EF4-FFF2-40B4-BE49-F238E27FC236}">
                <a16:creationId xmlns:a16="http://schemas.microsoft.com/office/drawing/2014/main" id="{9E78E01B-EA10-00C2-E594-6B8F8B13BD85}"/>
              </a:ext>
            </a:extLst>
          </p:cNvPr>
          <p:cNvSpPr txBox="1">
            <a:spLocks/>
          </p:cNvSpPr>
          <p:nvPr/>
        </p:nvSpPr>
        <p:spPr>
          <a:xfrm>
            <a:off x="251223" y="5178800"/>
            <a:ext cx="11232109" cy="4182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We want to test whether or not there is an effect of the treatment factor on the response variable.    </a:t>
            </a:r>
          </a:p>
          <a:p>
            <a:pPr algn="just">
              <a:lnSpc>
                <a:spcPct val="100000"/>
              </a:lnSpc>
            </a:pPr>
            <a:endParaRPr lang="en-NZ" altLang="ja-JP" sz="1800" dirty="0">
              <a:solidFill>
                <a:schemeClr val="tx1"/>
              </a:solidFill>
            </a:endParaRPr>
          </a:p>
        </p:txBody>
      </p:sp>
      <mc:AlternateContent xmlns:mc="http://schemas.openxmlformats.org/markup-compatibility/2006" xmlns:a14="http://schemas.microsoft.com/office/drawing/2010/main">
        <mc:Choice Requires="a14">
          <p:sp>
            <p:nvSpPr>
              <p:cNvPr id="22" name="Text Placeholder 5">
                <a:extLst>
                  <a:ext uri="{FF2B5EF4-FFF2-40B4-BE49-F238E27FC236}">
                    <a16:creationId xmlns:a16="http://schemas.microsoft.com/office/drawing/2014/main" id="{5EFD734D-9AAB-4774-6C6E-359D0EBC8F76}"/>
                  </a:ext>
                </a:extLst>
              </p:cNvPr>
              <p:cNvSpPr txBox="1">
                <a:spLocks/>
              </p:cNvSpPr>
              <p:nvPr/>
            </p:nvSpPr>
            <p:spPr>
              <a:xfrm>
                <a:off x="1319280" y="5614567"/>
                <a:ext cx="3507477" cy="80144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𝟎</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𝟎</m:t>
                    </m:r>
                  </m:oMath>
                </a14:m>
                <a:r>
                  <a:rPr lang="en-NZ" altLang="ja-JP" sz="20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for all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=1, …, </m:t>
                    </m:r>
                    <m:r>
                      <a:rPr lang="en-NZ" altLang="ja-JP" sz="1600" b="0" i="1" smtClean="0">
                        <a:solidFill>
                          <a:schemeClr val="tx1"/>
                        </a:solidFill>
                        <a:latin typeface="Cambria Math" panose="02040503050406030204" pitchFamily="18" charset="0"/>
                      </a:rPr>
                      <m:t>𝑎</m:t>
                    </m:r>
                  </m:oMath>
                </a14:m>
                <a:r>
                  <a:rPr lang="en-NZ" altLang="ja-JP" sz="1600" dirty="0">
                    <a:solidFill>
                      <a:schemeClr val="tx1"/>
                    </a:solidFill>
                    <a:latin typeface="Cambria Math" panose="02040503050406030204" pitchFamily="18" charset="0"/>
                  </a:rPr>
                  <a:t> </a:t>
                </a:r>
                <a:br>
                  <a:rPr lang="en-NZ" altLang="ja-JP" sz="2000" b="1" i="1" dirty="0">
                    <a:solidFill>
                      <a:schemeClr val="tx1"/>
                    </a:solidFill>
                    <a:latin typeface="Cambria Math" panose="02040503050406030204" pitchFamily="18" charset="0"/>
                  </a:rPr>
                </a:br>
                <a14:m>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𝟏</m:t>
                        </m:r>
                      </m:sub>
                    </m:sSub>
                    <m:r>
                      <a:rPr lang="en-NZ" altLang="ja-JP" sz="2000" b="1" i="1">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𝟎</m:t>
                    </m:r>
                  </m:oMath>
                </a14:m>
                <a:r>
                  <a:rPr lang="en-NZ" altLang="ja-JP" sz="2000" b="1" dirty="0">
                    <a:solidFill>
                      <a:schemeClr val="tx1"/>
                    </a:solidFill>
                  </a:rPr>
                  <a:t>  </a:t>
                </a:r>
                <a:r>
                  <a:rPr lang="en-NZ" altLang="ja-JP" sz="1600" dirty="0">
                    <a:solidFill>
                      <a:schemeClr val="tx1"/>
                    </a:solidFill>
                  </a:rPr>
                  <a:t>for some </a:t>
                </a:r>
                <a14:m>
                  <m:oMath xmlns:m="http://schemas.openxmlformats.org/officeDocument/2006/math">
                    <m:r>
                      <a:rPr lang="en-NZ" altLang="ja-JP" sz="1600" b="0" i="1" smtClean="0">
                        <a:solidFill>
                          <a:schemeClr val="tx1"/>
                        </a:solidFill>
                        <a:latin typeface="Cambria Math" panose="02040503050406030204" pitchFamily="18" charset="0"/>
                      </a:rPr>
                      <m:t>𝑖</m:t>
                    </m:r>
                  </m:oMath>
                </a14:m>
                <a:endParaRPr lang="en-NZ" altLang="ja-JP" sz="1600" dirty="0">
                  <a:solidFill>
                    <a:schemeClr val="tx1"/>
                  </a:solidFill>
                </a:endParaRPr>
              </a:p>
            </p:txBody>
          </p:sp>
        </mc:Choice>
        <mc:Fallback xmlns="">
          <p:sp>
            <p:nvSpPr>
              <p:cNvPr id="22" name="Text Placeholder 5">
                <a:extLst>
                  <a:ext uri="{FF2B5EF4-FFF2-40B4-BE49-F238E27FC236}">
                    <a16:creationId xmlns:a16="http://schemas.microsoft.com/office/drawing/2014/main" id="{5EFD734D-9AAB-4774-6C6E-359D0EBC8F76}"/>
                  </a:ext>
                </a:extLst>
              </p:cNvPr>
              <p:cNvSpPr txBox="1">
                <a:spLocks noRot="1" noChangeAspect="1" noMove="1" noResize="1" noEditPoints="1" noAdjustHandles="1" noChangeArrowheads="1" noChangeShapeType="1" noTextEdit="1"/>
              </p:cNvSpPr>
              <p:nvPr/>
            </p:nvSpPr>
            <p:spPr>
              <a:xfrm>
                <a:off x="1319280" y="5614567"/>
                <a:ext cx="3507477" cy="801442"/>
              </a:xfrm>
              <a:prstGeom prst="rect">
                <a:avLst/>
              </a:prstGeom>
              <a:blipFill>
                <a:blip r:embed="rId10"/>
                <a:stretch>
                  <a:fillRect/>
                </a:stretch>
              </a:blipFill>
            </p:spPr>
            <p:txBody>
              <a:bodyPr/>
              <a:lstStyle/>
              <a:p>
                <a:r>
                  <a:rPr lang="en-NZ">
                    <a:noFill/>
                  </a:rPr>
                  <a:t> </a:t>
                </a:r>
              </a:p>
            </p:txBody>
          </p:sp>
        </mc:Fallback>
      </mc:AlternateContent>
    </p:spTree>
    <p:extLst>
      <p:ext uri="{BB962C8B-B14F-4D97-AF65-F5344CB8AC3E}">
        <p14:creationId xmlns:p14="http://schemas.microsoft.com/office/powerpoint/2010/main" val="3245067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5" grpId="0"/>
      <p:bldP spid="21" grpId="0"/>
      <p:bldP spid="2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7" name="Title 6">
            <a:extLst>
              <a:ext uri="{FF2B5EF4-FFF2-40B4-BE49-F238E27FC236}">
                <a16:creationId xmlns:a16="http://schemas.microsoft.com/office/drawing/2014/main" id="{4ACB7FAA-E9E1-4274-A8D0-489528A3C0F6}"/>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4.4a – The Mixed Effects Model</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mc:AlternateContent xmlns:mc="http://schemas.openxmlformats.org/markup-compatibility/2006" xmlns:a14="http://schemas.microsoft.com/office/drawing/2010/main">
        <mc:Choice Requires="a14">
          <p:sp>
            <p:nvSpPr>
              <p:cNvPr id="33" name="Text Placeholder 5">
                <a:extLst>
                  <a:ext uri="{FF2B5EF4-FFF2-40B4-BE49-F238E27FC236}">
                    <a16:creationId xmlns:a16="http://schemas.microsoft.com/office/drawing/2014/main" id="{5249D365-ACEA-D25B-B424-0EB00AB49518}"/>
                  </a:ext>
                </a:extLst>
              </p:cNvPr>
              <p:cNvSpPr txBox="1">
                <a:spLocks/>
              </p:cNvSpPr>
              <p:nvPr/>
            </p:nvSpPr>
            <p:spPr>
              <a:xfrm>
                <a:off x="251223" y="3741685"/>
                <a:ext cx="11232109" cy="53754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1800" b="1" i="1" smtClean="0">
                          <a:solidFill>
                            <a:schemeClr val="tx1"/>
                          </a:solidFill>
                          <a:latin typeface="Cambria Math" panose="02040503050406030204" pitchFamily="18" charset="0"/>
                        </a:rPr>
                        <m:t>𝑬</m:t>
                      </m:r>
                      <m:d>
                        <m:dPr>
                          <m:begChr m:val="["/>
                          <m:endChr m:val="]"/>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 </m:t>
                          </m:r>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𝒀</m:t>
                              </m:r>
                            </m:e>
                            <m:sub>
                              <m:r>
                                <a:rPr lang="en-NZ" altLang="ja-JP" sz="1800" b="1" i="1" smtClean="0">
                                  <a:solidFill>
                                    <a:schemeClr val="tx1"/>
                                  </a:solidFill>
                                  <a:latin typeface="Cambria Math" panose="02040503050406030204" pitchFamily="18" charset="0"/>
                                </a:rPr>
                                <m:t>𝒊𝒋𝒌</m:t>
                              </m:r>
                            </m:sub>
                          </m:sSub>
                          <m:r>
                            <a:rPr lang="en-NZ" altLang="ja-JP" sz="1800" b="1" i="1" smtClean="0">
                              <a:solidFill>
                                <a:schemeClr val="tx1"/>
                              </a:solidFill>
                              <a:latin typeface="Cambria Math" panose="02040503050406030204" pitchFamily="18" charset="0"/>
                            </a:rPr>
                            <m:t> </m:t>
                          </m:r>
                        </m:e>
                      </m:d>
                      <m:r>
                        <a:rPr lang="en-NZ" altLang="ja-JP" sz="1800" b="1" i="1" smtClean="0">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𝑬</m:t>
                      </m:r>
                      <m:d>
                        <m:dPr>
                          <m:begChr m:val="["/>
                          <m:endChr m:val="]"/>
                          <m:ctrlPr>
                            <a:rPr lang="en-NZ" altLang="ja-JP" sz="1800" b="1" i="1" smtClean="0">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 </m:t>
                          </m:r>
                          <m:r>
                            <a:rPr lang="ja-JP" altLang="en-NZ" sz="1800" b="1" i="1">
                              <a:solidFill>
                                <a:schemeClr val="tx1"/>
                              </a:solidFill>
                              <a:latin typeface="Cambria Math" panose="02040503050406030204" pitchFamily="18" charset="0"/>
                            </a:rPr>
                            <m:t>𝝁</m:t>
                          </m:r>
                          <m:r>
                            <a:rPr lang="en-NZ" altLang="ja-JP" sz="1800" b="1" i="1" smtClean="0">
                              <a:solidFill>
                                <a:schemeClr val="tx1"/>
                              </a:solidFill>
                              <a:latin typeface="Cambria Math" panose="02040503050406030204" pitchFamily="18" charset="0"/>
                            </a:rPr>
                            <m:t> </m:t>
                          </m:r>
                        </m:e>
                      </m:d>
                      <m:r>
                        <a:rPr lang="ja-JP" altLang="en-NZ"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𝑬</m:t>
                      </m:r>
                      <m:d>
                        <m:dPr>
                          <m:begChr m:val="["/>
                          <m:endChr m:val="]"/>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 </m:t>
                          </m:r>
                          <m:sSub>
                            <m:sSubPr>
                              <m:ctrlPr>
                                <a:rPr lang="en-NZ" altLang="ja-JP" sz="1800" b="1" i="1" smtClean="0">
                                  <a:solidFill>
                                    <a:schemeClr val="tx1"/>
                                  </a:solidFill>
                                  <a:latin typeface="Cambria Math" panose="02040503050406030204" pitchFamily="18" charset="0"/>
                                </a:rPr>
                              </m:ctrlPr>
                            </m:sSubPr>
                            <m:e>
                              <m:r>
                                <a:rPr lang="ja-JP" altLang="en-NZ" sz="1800" b="1" i="1">
                                  <a:solidFill>
                                    <a:schemeClr val="tx1"/>
                                  </a:solidFill>
                                  <a:latin typeface="Cambria Math" panose="02040503050406030204" pitchFamily="18" charset="0"/>
                                </a:rPr>
                                <m:t>𝜶</m:t>
                              </m:r>
                            </m:e>
                            <m:sub>
                              <m:r>
                                <a:rPr lang="en-NZ" altLang="ja-JP" sz="1800" b="1" i="1" smtClean="0">
                                  <a:solidFill>
                                    <a:schemeClr val="tx1"/>
                                  </a:solidFill>
                                  <a:latin typeface="Cambria Math" panose="02040503050406030204" pitchFamily="18" charset="0"/>
                                </a:rPr>
                                <m:t>𝒊</m:t>
                              </m:r>
                            </m:sub>
                          </m:sSub>
                          <m:r>
                            <a:rPr lang="en-NZ" altLang="ja-JP" sz="1800" b="1" i="1" smtClean="0">
                              <a:solidFill>
                                <a:schemeClr val="tx1"/>
                              </a:solidFill>
                              <a:latin typeface="Cambria Math" panose="02040503050406030204" pitchFamily="18" charset="0"/>
                            </a:rPr>
                            <m:t> </m:t>
                          </m:r>
                        </m:e>
                      </m:d>
                      <m:r>
                        <a:rPr lang="ja-JP" altLang="en-NZ"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𝑬</m:t>
                      </m:r>
                      <m:d>
                        <m:dPr>
                          <m:begChr m:val="["/>
                          <m:endChr m:val="]"/>
                          <m:ctrlPr>
                            <a:rPr lang="en-NZ" altLang="ja-JP" sz="1800" b="1" i="1" smtClean="0">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 </m:t>
                          </m:r>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𝑩</m:t>
                              </m:r>
                            </m:e>
                            <m:sub>
                              <m:r>
                                <a:rPr lang="en-NZ" altLang="ja-JP" sz="1800" b="1" i="1" smtClean="0">
                                  <a:solidFill>
                                    <a:schemeClr val="tx1"/>
                                  </a:solidFill>
                                  <a:latin typeface="Cambria Math" panose="02040503050406030204" pitchFamily="18" charset="0"/>
                                </a:rPr>
                                <m:t>𝒋</m:t>
                              </m:r>
                            </m:sub>
                          </m:sSub>
                        </m:e>
                      </m:d>
                      <m:r>
                        <a:rPr lang="ja-JP" altLang="en-NZ"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𝑬</m:t>
                      </m:r>
                      <m:d>
                        <m:dPr>
                          <m:begChr m:val="["/>
                          <m:endChr m:val="]"/>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 </m:t>
                          </m:r>
                          <m:sSub>
                            <m:sSubPr>
                              <m:ctrlPr>
                                <a:rPr lang="en-NZ" altLang="ja-JP" sz="1800" b="1" i="1">
                                  <a:solidFill>
                                    <a:schemeClr val="tx1"/>
                                  </a:solidFill>
                                  <a:latin typeface="Cambria Math" panose="02040503050406030204" pitchFamily="18" charset="0"/>
                                </a:rPr>
                              </m:ctrlPr>
                            </m:sSubPr>
                            <m:e>
                              <m:r>
                                <a:rPr lang="ja-JP" altLang="en-NZ" sz="1800" b="1" i="1">
                                  <a:solidFill>
                                    <a:schemeClr val="tx1"/>
                                  </a:solidFill>
                                  <a:latin typeface="Cambria Math" panose="02040503050406030204" pitchFamily="18" charset="0"/>
                                </a:rPr>
                                <m:t>𝝐</m:t>
                              </m:r>
                            </m:e>
                            <m:sub>
                              <m:r>
                                <a:rPr lang="ja-JP" altLang="en-NZ" sz="1800" b="1" i="1">
                                  <a:solidFill>
                                    <a:schemeClr val="tx1"/>
                                  </a:solidFill>
                                  <a:latin typeface="Cambria Math" panose="02040503050406030204" pitchFamily="18" charset="0"/>
                                </a:rPr>
                                <m:t>𝒊𝒋</m:t>
                              </m:r>
                              <m:r>
                                <a:rPr lang="en-NZ" altLang="ja-JP" sz="1800" b="1" i="1" smtClean="0">
                                  <a:solidFill>
                                    <a:schemeClr val="tx1"/>
                                  </a:solidFill>
                                  <a:latin typeface="Cambria Math" panose="02040503050406030204" pitchFamily="18" charset="0"/>
                                </a:rPr>
                                <m:t>𝒌</m:t>
                              </m:r>
                            </m:sub>
                          </m:sSub>
                          <m:r>
                            <a:rPr lang="en-NZ" altLang="ja-JP" sz="1800" b="1" i="1" smtClean="0">
                              <a:solidFill>
                                <a:schemeClr val="tx1"/>
                              </a:solidFill>
                              <a:latin typeface="Cambria Math" panose="02040503050406030204" pitchFamily="18" charset="0"/>
                            </a:rPr>
                            <m:t> </m:t>
                          </m:r>
                        </m:e>
                      </m:d>
                      <m:r>
                        <a:rPr lang="en-NZ" altLang="ja-JP" sz="1800" b="1" i="1" smtClean="0">
                          <a:solidFill>
                            <a:schemeClr val="tx1"/>
                          </a:solidFill>
                          <a:latin typeface="Cambria Math" panose="02040503050406030204" pitchFamily="18" charset="0"/>
                        </a:rPr>
                        <m:t> =  </m:t>
                      </m:r>
                      <m:r>
                        <a:rPr lang="ja-JP" altLang="en-NZ" sz="1800" b="1" i="1">
                          <a:solidFill>
                            <a:schemeClr val="tx1"/>
                          </a:solidFill>
                          <a:latin typeface="Cambria Math" panose="02040503050406030204" pitchFamily="18" charset="0"/>
                        </a:rPr>
                        <m:t>𝝁</m:t>
                      </m:r>
                      <m:r>
                        <a:rPr lang="ja-JP" altLang="en-NZ" sz="1800" b="1" i="1">
                          <a:solidFill>
                            <a:schemeClr val="tx1"/>
                          </a:solidFill>
                          <a:latin typeface="Cambria Math" panose="02040503050406030204" pitchFamily="18" charset="0"/>
                        </a:rPr>
                        <m:t>  +   </m:t>
                      </m:r>
                      <m:sSub>
                        <m:sSubPr>
                          <m:ctrlPr>
                            <a:rPr lang="en-NZ" altLang="ja-JP" sz="1800" b="1" i="1">
                              <a:solidFill>
                                <a:schemeClr val="tx1"/>
                              </a:solidFill>
                              <a:latin typeface="Cambria Math" panose="02040503050406030204" pitchFamily="18" charset="0"/>
                            </a:rPr>
                          </m:ctrlPr>
                        </m:sSubPr>
                        <m:e>
                          <m:r>
                            <a:rPr lang="ja-JP" altLang="en-NZ" sz="1800" b="1" i="1">
                              <a:solidFill>
                                <a:schemeClr val="tx1"/>
                              </a:solidFill>
                              <a:latin typeface="Cambria Math" panose="02040503050406030204" pitchFamily="18" charset="0"/>
                            </a:rPr>
                            <m:t>𝜶</m:t>
                          </m:r>
                        </m:e>
                        <m:sub>
                          <m:r>
                            <a:rPr lang="ja-JP" altLang="en-NZ" sz="1800" b="1" i="1">
                              <a:solidFill>
                                <a:schemeClr val="tx1"/>
                              </a:solidFill>
                              <a:latin typeface="Cambria Math" panose="02040503050406030204" pitchFamily="18" charset="0"/>
                            </a:rPr>
                            <m:t>𝒊</m:t>
                          </m:r>
                        </m:sub>
                      </m:sSub>
                      <m:r>
                        <a:rPr lang="ja-JP" altLang="en-NZ"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𝟎</m:t>
                      </m:r>
                      <m:r>
                        <a:rPr lang="en-NZ" altLang="ja-JP" sz="1800" b="1" i="1" smtClean="0">
                          <a:solidFill>
                            <a:schemeClr val="tx1"/>
                          </a:solidFill>
                          <a:latin typeface="Cambria Math" panose="02040503050406030204" pitchFamily="18" charset="0"/>
                        </a:rPr>
                        <m:t>  +  </m:t>
                      </m:r>
                      <m:r>
                        <a:rPr lang="en-NZ" altLang="ja-JP" sz="1800" b="1" i="1" smtClean="0">
                          <a:solidFill>
                            <a:schemeClr val="tx1"/>
                          </a:solidFill>
                          <a:latin typeface="Cambria Math" panose="02040503050406030204" pitchFamily="18" charset="0"/>
                        </a:rPr>
                        <m:t>𝟎</m:t>
                      </m:r>
                      <m:r>
                        <a:rPr lang="en-NZ" altLang="ja-JP" sz="1800" b="1" i="1" smtClean="0">
                          <a:solidFill>
                            <a:schemeClr val="tx1"/>
                          </a:solidFill>
                          <a:latin typeface="Cambria Math" panose="02040503050406030204" pitchFamily="18" charset="0"/>
                        </a:rPr>
                        <m:t> =  </m:t>
                      </m:r>
                      <m:r>
                        <a:rPr lang="en-NZ" altLang="ja-JP" sz="1800" b="1" i="1" smtClean="0">
                          <a:solidFill>
                            <a:schemeClr val="tx1"/>
                          </a:solidFill>
                          <a:latin typeface="Cambria Math" panose="02040503050406030204" pitchFamily="18" charset="0"/>
                        </a:rPr>
                        <m:t>𝝁</m:t>
                      </m:r>
                      <m:r>
                        <a:rPr lang="en-NZ" altLang="ja-JP" sz="1800" b="1" i="1" smtClean="0">
                          <a:solidFill>
                            <a:schemeClr val="tx1"/>
                          </a:solidFill>
                          <a:latin typeface="Cambria Math" panose="02040503050406030204" pitchFamily="18" charset="0"/>
                        </a:rPr>
                        <m:t>  + </m:t>
                      </m:r>
                      <m:sSub>
                        <m:sSubPr>
                          <m:ctrlPr>
                            <a:rPr lang="en-NZ" sz="1800" b="1" i="1">
                              <a:solidFill>
                                <a:schemeClr val="tx1"/>
                              </a:solidFill>
                              <a:latin typeface="Cambria Math" panose="02040503050406030204" pitchFamily="18" charset="0"/>
                            </a:rPr>
                          </m:ctrlPr>
                        </m:sSubPr>
                        <m:e>
                          <m:r>
                            <a:rPr lang="en-NZ" sz="1800" b="1" i="1">
                              <a:solidFill>
                                <a:schemeClr val="tx1"/>
                              </a:solidFill>
                              <a:latin typeface="Cambria Math" panose="02040503050406030204" pitchFamily="18" charset="0"/>
                            </a:rPr>
                            <m:t>𝝁</m:t>
                          </m:r>
                        </m:e>
                        <m:sub>
                          <m:r>
                            <a:rPr lang="en-NZ" sz="1800" b="1" i="1">
                              <a:solidFill>
                                <a:schemeClr val="tx1"/>
                              </a:solidFill>
                              <a:latin typeface="Cambria Math" panose="02040503050406030204" pitchFamily="18" charset="0"/>
                            </a:rPr>
                            <m:t>𝒊</m:t>
                          </m:r>
                          <m:r>
                            <a:rPr lang="en-NZ" sz="1800" b="1" i="1" smtClean="0">
                              <a:solidFill>
                                <a:schemeClr val="tx1"/>
                              </a:solidFill>
                              <a:latin typeface="Cambria Math" panose="02040503050406030204" pitchFamily="18" charset="0"/>
                              <a:ea typeface="Cambria Math" panose="02040503050406030204" pitchFamily="18" charset="0"/>
                            </a:rPr>
                            <m:t>∙</m:t>
                          </m:r>
                        </m:sub>
                      </m:sSub>
                      <m:r>
                        <a:rPr lang="en-NZ" sz="1800" b="1" i="1" smtClean="0">
                          <a:solidFill>
                            <a:schemeClr val="tx1"/>
                          </a:solidFill>
                          <a:latin typeface="Cambria Math" panose="02040503050406030204" pitchFamily="18" charset="0"/>
                        </a:rPr>
                        <m:t>  −  </m:t>
                      </m:r>
                      <m:r>
                        <a:rPr lang="en-NZ" sz="1800" b="1" i="1" smtClean="0">
                          <a:solidFill>
                            <a:schemeClr val="tx1"/>
                          </a:solidFill>
                          <a:latin typeface="Cambria Math" panose="02040503050406030204" pitchFamily="18" charset="0"/>
                        </a:rPr>
                        <m:t>𝝁</m:t>
                      </m:r>
                      <m:r>
                        <a:rPr lang="en-NZ" sz="1800" b="1" i="1" smtClean="0">
                          <a:solidFill>
                            <a:schemeClr val="tx1"/>
                          </a:solidFill>
                          <a:latin typeface="Cambria Math" panose="02040503050406030204" pitchFamily="18" charset="0"/>
                        </a:rPr>
                        <m:t>  = </m:t>
                      </m:r>
                      <m:sSub>
                        <m:sSubPr>
                          <m:ctrlPr>
                            <a:rPr lang="en-NZ" sz="1800" b="1" i="1">
                              <a:solidFill>
                                <a:schemeClr val="tx1"/>
                              </a:solidFill>
                              <a:latin typeface="Cambria Math" panose="02040503050406030204" pitchFamily="18" charset="0"/>
                            </a:rPr>
                          </m:ctrlPr>
                        </m:sSubPr>
                        <m:e>
                          <m:r>
                            <a:rPr lang="en-NZ" sz="1800" b="1" i="1">
                              <a:solidFill>
                                <a:schemeClr val="tx1"/>
                              </a:solidFill>
                              <a:latin typeface="Cambria Math" panose="02040503050406030204" pitchFamily="18" charset="0"/>
                            </a:rPr>
                            <m:t>𝝁</m:t>
                          </m:r>
                        </m:e>
                        <m:sub>
                          <m:r>
                            <a:rPr lang="en-NZ" sz="1800" b="1" i="1">
                              <a:solidFill>
                                <a:schemeClr val="tx1"/>
                              </a:solidFill>
                              <a:latin typeface="Cambria Math" panose="02040503050406030204" pitchFamily="18" charset="0"/>
                            </a:rPr>
                            <m:t>𝒊</m:t>
                          </m:r>
                          <m:r>
                            <a:rPr lang="en-NZ" sz="1800" b="1" i="1">
                              <a:solidFill>
                                <a:schemeClr val="tx1"/>
                              </a:solidFill>
                              <a:latin typeface="Cambria Math" panose="02040503050406030204" pitchFamily="18" charset="0"/>
                              <a:ea typeface="Cambria Math" panose="02040503050406030204" pitchFamily="18" charset="0"/>
                            </a:rPr>
                            <m:t>∙</m:t>
                          </m:r>
                        </m:sub>
                      </m:sSub>
                    </m:oMath>
                  </m:oMathPara>
                </a14:m>
                <a:endParaRPr lang="en-NZ" altLang="ja-JP" sz="1800" b="1" i="1" dirty="0">
                  <a:solidFill>
                    <a:schemeClr val="tx1"/>
                  </a:solidFill>
                </a:endParaRPr>
              </a:p>
            </p:txBody>
          </p:sp>
        </mc:Choice>
        <mc:Fallback xmlns="">
          <p:sp>
            <p:nvSpPr>
              <p:cNvPr id="33" name="Text Placeholder 5">
                <a:extLst>
                  <a:ext uri="{FF2B5EF4-FFF2-40B4-BE49-F238E27FC236}">
                    <a16:creationId xmlns:a16="http://schemas.microsoft.com/office/drawing/2014/main" id="{5249D365-ACEA-D25B-B424-0EB00AB49518}"/>
                  </a:ext>
                </a:extLst>
              </p:cNvPr>
              <p:cNvSpPr txBox="1">
                <a:spLocks noRot="1" noChangeAspect="1" noMove="1" noResize="1" noEditPoints="1" noAdjustHandles="1" noChangeArrowheads="1" noChangeShapeType="1" noTextEdit="1"/>
              </p:cNvSpPr>
              <p:nvPr/>
            </p:nvSpPr>
            <p:spPr>
              <a:xfrm>
                <a:off x="251223" y="3741685"/>
                <a:ext cx="11232109" cy="537540"/>
              </a:xfrm>
              <a:prstGeom prst="rect">
                <a:avLst/>
              </a:prstGeom>
              <a:blipFill>
                <a:blip r:embed="rId2"/>
                <a:stretch>
                  <a:fillRect/>
                </a:stretch>
              </a:blipFill>
            </p:spPr>
            <p:txBody>
              <a:bodyPr/>
              <a:lstStyle/>
              <a:p>
                <a:r>
                  <a:rPr lang="en-NZ">
                    <a:noFill/>
                  </a:rPr>
                  <a:t> </a:t>
                </a:r>
              </a:p>
            </p:txBody>
          </p:sp>
        </mc:Fallback>
      </mc:AlternateContent>
      <p:sp>
        <p:nvSpPr>
          <p:cNvPr id="34" name="Text Placeholder 5">
            <a:extLst>
              <a:ext uri="{FF2B5EF4-FFF2-40B4-BE49-F238E27FC236}">
                <a16:creationId xmlns:a16="http://schemas.microsoft.com/office/drawing/2014/main" id="{14EBC35F-BF7F-6875-D9C6-9325AB503E49}"/>
              </a:ext>
            </a:extLst>
          </p:cNvPr>
          <p:cNvSpPr txBox="1">
            <a:spLocks/>
          </p:cNvSpPr>
          <p:nvPr/>
        </p:nvSpPr>
        <p:spPr>
          <a:xfrm>
            <a:off x="251224" y="3266732"/>
            <a:ext cx="11232109"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Note that we have that:</a:t>
            </a:r>
          </a:p>
        </p:txBody>
      </p:sp>
      <mc:AlternateContent xmlns:mc="http://schemas.openxmlformats.org/markup-compatibility/2006" xmlns:a14="http://schemas.microsoft.com/office/drawing/2010/main">
        <mc:Choice Requires="a14">
          <p:sp>
            <p:nvSpPr>
              <p:cNvPr id="35" name="Text Placeholder 5">
                <a:extLst>
                  <a:ext uri="{FF2B5EF4-FFF2-40B4-BE49-F238E27FC236}">
                    <a16:creationId xmlns:a16="http://schemas.microsoft.com/office/drawing/2014/main" id="{BBA88332-958B-EF89-DB28-19E84B93DCD4}"/>
                  </a:ext>
                </a:extLst>
              </p:cNvPr>
              <p:cNvSpPr txBox="1">
                <a:spLocks/>
              </p:cNvSpPr>
              <p:nvPr/>
            </p:nvSpPr>
            <p:spPr>
              <a:xfrm>
                <a:off x="251223" y="4229199"/>
                <a:ext cx="11232109" cy="53754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1800" b="1" i="1" smtClean="0">
                          <a:solidFill>
                            <a:schemeClr val="tx1"/>
                          </a:solidFill>
                          <a:latin typeface="Cambria Math" panose="02040503050406030204" pitchFamily="18" charset="0"/>
                        </a:rPr>
                        <m:t>𝑽𝒂𝒓</m:t>
                      </m:r>
                      <m:d>
                        <m:dPr>
                          <m:begChr m:val="["/>
                          <m:endChr m:val="]"/>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 </m:t>
                          </m:r>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𝒀</m:t>
                              </m:r>
                            </m:e>
                            <m:sub>
                              <m:r>
                                <a:rPr lang="en-NZ" altLang="ja-JP" sz="1800" b="1" i="1" smtClean="0">
                                  <a:solidFill>
                                    <a:schemeClr val="tx1"/>
                                  </a:solidFill>
                                  <a:latin typeface="Cambria Math" panose="02040503050406030204" pitchFamily="18" charset="0"/>
                                </a:rPr>
                                <m:t>𝒊𝒋𝒌</m:t>
                              </m:r>
                            </m:sub>
                          </m:sSub>
                          <m:r>
                            <a:rPr lang="en-NZ" altLang="ja-JP" sz="1800" b="1" i="1" smtClean="0">
                              <a:solidFill>
                                <a:schemeClr val="tx1"/>
                              </a:solidFill>
                              <a:latin typeface="Cambria Math" panose="02040503050406030204" pitchFamily="18" charset="0"/>
                            </a:rPr>
                            <m:t> </m:t>
                          </m:r>
                        </m:e>
                      </m:d>
                      <m:r>
                        <a:rPr lang="en-NZ" altLang="ja-JP" sz="1800" b="1" i="1" smtClean="0">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𝑽𝒂𝒓</m:t>
                      </m:r>
                      <m:d>
                        <m:dPr>
                          <m:begChr m:val="["/>
                          <m:endChr m:val="]"/>
                          <m:ctrlPr>
                            <a:rPr lang="en-NZ" altLang="ja-JP" sz="1800" b="1" i="1" smtClean="0">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 </m:t>
                          </m:r>
                          <m:r>
                            <a:rPr lang="ja-JP" altLang="en-NZ" sz="1800" b="1" i="1">
                              <a:solidFill>
                                <a:schemeClr val="tx1"/>
                              </a:solidFill>
                              <a:latin typeface="Cambria Math" panose="02040503050406030204" pitchFamily="18" charset="0"/>
                            </a:rPr>
                            <m:t>𝝁</m:t>
                          </m:r>
                          <m:r>
                            <a:rPr lang="en-NZ" altLang="ja-JP" sz="1800" b="1" i="1" smtClean="0">
                              <a:solidFill>
                                <a:schemeClr val="tx1"/>
                              </a:solidFill>
                              <a:latin typeface="Cambria Math" panose="02040503050406030204" pitchFamily="18" charset="0"/>
                            </a:rPr>
                            <m:t> </m:t>
                          </m:r>
                        </m:e>
                      </m:d>
                      <m:r>
                        <a:rPr lang="ja-JP" altLang="en-NZ"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𝑽𝒂𝒓</m:t>
                      </m:r>
                      <m:d>
                        <m:dPr>
                          <m:begChr m:val="["/>
                          <m:endChr m:val="]"/>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 </m:t>
                          </m:r>
                          <m:sSub>
                            <m:sSubPr>
                              <m:ctrlPr>
                                <a:rPr lang="en-NZ" altLang="ja-JP" sz="1800" b="1" i="1" smtClean="0">
                                  <a:solidFill>
                                    <a:schemeClr val="tx1"/>
                                  </a:solidFill>
                                  <a:latin typeface="Cambria Math" panose="02040503050406030204" pitchFamily="18" charset="0"/>
                                </a:rPr>
                              </m:ctrlPr>
                            </m:sSubPr>
                            <m:e>
                              <m:r>
                                <a:rPr lang="ja-JP" altLang="en-NZ" sz="1800" b="1" i="1">
                                  <a:solidFill>
                                    <a:schemeClr val="tx1"/>
                                  </a:solidFill>
                                  <a:latin typeface="Cambria Math" panose="02040503050406030204" pitchFamily="18" charset="0"/>
                                </a:rPr>
                                <m:t>𝜶</m:t>
                              </m:r>
                            </m:e>
                            <m:sub>
                              <m:r>
                                <a:rPr lang="en-NZ" altLang="ja-JP" sz="1800" b="1" i="1" smtClean="0">
                                  <a:solidFill>
                                    <a:schemeClr val="tx1"/>
                                  </a:solidFill>
                                  <a:latin typeface="Cambria Math" panose="02040503050406030204" pitchFamily="18" charset="0"/>
                                </a:rPr>
                                <m:t>𝒊</m:t>
                              </m:r>
                            </m:sub>
                          </m:sSub>
                          <m:r>
                            <a:rPr lang="en-NZ" altLang="ja-JP" sz="1800" b="1" i="1" smtClean="0">
                              <a:solidFill>
                                <a:schemeClr val="tx1"/>
                              </a:solidFill>
                              <a:latin typeface="Cambria Math" panose="02040503050406030204" pitchFamily="18" charset="0"/>
                            </a:rPr>
                            <m:t> </m:t>
                          </m:r>
                        </m:e>
                      </m:d>
                      <m:r>
                        <a:rPr lang="ja-JP" altLang="en-NZ"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𝑽𝒂𝒓</m:t>
                      </m:r>
                      <m:d>
                        <m:dPr>
                          <m:begChr m:val="["/>
                          <m:endChr m:val="]"/>
                          <m:ctrlPr>
                            <a:rPr lang="en-NZ" altLang="ja-JP" sz="1800" b="1" i="1" smtClean="0">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 </m:t>
                          </m:r>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𝑩</m:t>
                              </m:r>
                            </m:e>
                            <m:sub>
                              <m:r>
                                <a:rPr lang="en-NZ" altLang="ja-JP" sz="1800" b="1" i="1" smtClean="0">
                                  <a:solidFill>
                                    <a:schemeClr val="tx1"/>
                                  </a:solidFill>
                                  <a:latin typeface="Cambria Math" panose="02040503050406030204" pitchFamily="18" charset="0"/>
                                </a:rPr>
                                <m:t>𝒋</m:t>
                              </m:r>
                            </m:sub>
                          </m:sSub>
                        </m:e>
                      </m:d>
                      <m:r>
                        <a:rPr lang="ja-JP" altLang="en-NZ"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𝑽𝒂𝒓</m:t>
                      </m:r>
                      <m:d>
                        <m:dPr>
                          <m:begChr m:val="["/>
                          <m:endChr m:val="]"/>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 </m:t>
                          </m:r>
                          <m:sSub>
                            <m:sSubPr>
                              <m:ctrlPr>
                                <a:rPr lang="en-NZ" altLang="ja-JP" sz="1800" b="1" i="1">
                                  <a:solidFill>
                                    <a:schemeClr val="tx1"/>
                                  </a:solidFill>
                                  <a:latin typeface="Cambria Math" panose="02040503050406030204" pitchFamily="18" charset="0"/>
                                </a:rPr>
                              </m:ctrlPr>
                            </m:sSubPr>
                            <m:e>
                              <m:r>
                                <a:rPr lang="ja-JP" altLang="en-NZ" sz="1800" b="1" i="1">
                                  <a:solidFill>
                                    <a:schemeClr val="tx1"/>
                                  </a:solidFill>
                                  <a:latin typeface="Cambria Math" panose="02040503050406030204" pitchFamily="18" charset="0"/>
                                </a:rPr>
                                <m:t>𝝐</m:t>
                              </m:r>
                            </m:e>
                            <m:sub>
                              <m:r>
                                <a:rPr lang="ja-JP" altLang="en-NZ" sz="1800" b="1" i="1">
                                  <a:solidFill>
                                    <a:schemeClr val="tx1"/>
                                  </a:solidFill>
                                  <a:latin typeface="Cambria Math" panose="02040503050406030204" pitchFamily="18" charset="0"/>
                                </a:rPr>
                                <m:t>𝒊𝒋</m:t>
                              </m:r>
                              <m:r>
                                <a:rPr lang="en-NZ" altLang="ja-JP" sz="1800" b="1" i="1" smtClean="0">
                                  <a:solidFill>
                                    <a:schemeClr val="tx1"/>
                                  </a:solidFill>
                                  <a:latin typeface="Cambria Math" panose="02040503050406030204" pitchFamily="18" charset="0"/>
                                </a:rPr>
                                <m:t>𝒌</m:t>
                              </m:r>
                            </m:sub>
                          </m:sSub>
                          <m:r>
                            <a:rPr lang="en-NZ" altLang="ja-JP" sz="1800" b="1" i="1" smtClean="0">
                              <a:solidFill>
                                <a:schemeClr val="tx1"/>
                              </a:solidFill>
                              <a:latin typeface="Cambria Math" panose="02040503050406030204" pitchFamily="18" charset="0"/>
                            </a:rPr>
                            <m:t> </m:t>
                          </m:r>
                        </m:e>
                      </m:d>
                      <m:r>
                        <a:rPr lang="en-NZ" altLang="ja-JP" sz="1800" b="1" i="1" smtClean="0">
                          <a:solidFill>
                            <a:schemeClr val="tx1"/>
                          </a:solidFill>
                          <a:latin typeface="Cambria Math" panose="02040503050406030204" pitchFamily="18" charset="0"/>
                        </a:rPr>
                        <m:t> =  </m:t>
                      </m:r>
                      <m:r>
                        <a:rPr lang="en-NZ" altLang="ja-JP" sz="1800" b="1" i="1" smtClean="0">
                          <a:solidFill>
                            <a:schemeClr val="tx1"/>
                          </a:solidFill>
                          <a:latin typeface="Cambria Math" panose="02040503050406030204" pitchFamily="18" charset="0"/>
                        </a:rPr>
                        <m:t>𝟎</m:t>
                      </m:r>
                      <m:r>
                        <a:rPr lang="ja-JP" altLang="en-NZ"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𝟎</m:t>
                      </m:r>
                      <m:r>
                        <a:rPr lang="en-NZ" altLang="ja-JP" sz="1800" b="1" i="1" smtClean="0">
                          <a:solidFill>
                            <a:schemeClr val="tx1"/>
                          </a:solidFill>
                          <a:latin typeface="Cambria Math" panose="02040503050406030204" pitchFamily="18" charset="0"/>
                        </a:rPr>
                        <m:t> +   </m:t>
                      </m:r>
                      <m:sSubSup>
                        <m:sSubSupPr>
                          <m:ctrlPr>
                            <a:rPr lang="en-NZ" altLang="ja-JP" sz="1800" b="1" i="1" smtClean="0">
                              <a:solidFill>
                                <a:schemeClr val="tx1"/>
                              </a:solidFill>
                              <a:latin typeface="Cambria Math" panose="02040503050406030204" pitchFamily="18" charset="0"/>
                            </a:rPr>
                          </m:ctrlPr>
                        </m:sSubSupPr>
                        <m:e>
                          <m:r>
                            <a:rPr lang="en-NZ" altLang="ja-JP" sz="1800" b="1" i="1" smtClean="0">
                              <a:solidFill>
                                <a:schemeClr val="tx1"/>
                              </a:solidFill>
                              <a:latin typeface="Cambria Math" panose="02040503050406030204" pitchFamily="18" charset="0"/>
                            </a:rPr>
                            <m:t>𝝈</m:t>
                          </m:r>
                        </m:e>
                        <m:sub>
                          <m:r>
                            <a:rPr lang="en-NZ" altLang="ja-JP" sz="1800" b="1" i="1" smtClean="0">
                              <a:solidFill>
                                <a:schemeClr val="tx1"/>
                              </a:solidFill>
                              <a:latin typeface="Cambria Math" panose="02040503050406030204" pitchFamily="18" charset="0"/>
                            </a:rPr>
                            <m:t>𝑩</m:t>
                          </m:r>
                        </m:sub>
                        <m:sup>
                          <m:r>
                            <a:rPr lang="en-NZ" altLang="ja-JP" sz="1800" b="1" i="1" smtClean="0">
                              <a:solidFill>
                                <a:schemeClr val="tx1"/>
                              </a:solidFill>
                              <a:latin typeface="Cambria Math" panose="02040503050406030204" pitchFamily="18" charset="0"/>
                            </a:rPr>
                            <m:t>𝟐</m:t>
                          </m:r>
                        </m:sup>
                      </m:sSubSup>
                      <m:r>
                        <a:rPr lang="en-NZ" altLang="ja-JP" sz="1800" b="1" i="1" smtClean="0">
                          <a:solidFill>
                            <a:schemeClr val="tx1"/>
                          </a:solidFill>
                          <a:latin typeface="Cambria Math" panose="02040503050406030204" pitchFamily="18" charset="0"/>
                        </a:rPr>
                        <m:t> +  </m:t>
                      </m:r>
                      <m:sSup>
                        <m:sSupPr>
                          <m:ctrlPr>
                            <a:rPr lang="en-NZ" altLang="ja-JP" sz="1800" b="1" i="1" smtClean="0">
                              <a:solidFill>
                                <a:schemeClr val="tx1"/>
                              </a:solidFill>
                              <a:latin typeface="Cambria Math" panose="02040503050406030204" pitchFamily="18" charset="0"/>
                            </a:rPr>
                          </m:ctrlPr>
                        </m:sSupPr>
                        <m:e>
                          <m:r>
                            <a:rPr lang="en-NZ" altLang="ja-JP" sz="1800" b="1" i="1" smtClean="0">
                              <a:solidFill>
                                <a:schemeClr val="tx1"/>
                              </a:solidFill>
                              <a:latin typeface="Cambria Math" panose="02040503050406030204" pitchFamily="18" charset="0"/>
                            </a:rPr>
                            <m:t>𝝈</m:t>
                          </m:r>
                        </m:e>
                        <m:sup>
                          <m:r>
                            <a:rPr lang="en-NZ" altLang="ja-JP" sz="1800" b="1" i="1" smtClean="0">
                              <a:solidFill>
                                <a:schemeClr val="tx1"/>
                              </a:solidFill>
                              <a:latin typeface="Cambria Math" panose="02040503050406030204" pitchFamily="18" charset="0"/>
                            </a:rPr>
                            <m:t>𝟐</m:t>
                          </m:r>
                        </m:sup>
                      </m:sSup>
                      <m:r>
                        <a:rPr lang="en-NZ" altLang="ja-JP" sz="1800" b="1" i="1" smtClean="0">
                          <a:solidFill>
                            <a:schemeClr val="tx1"/>
                          </a:solidFill>
                          <a:latin typeface="Cambria Math" panose="02040503050406030204" pitchFamily="18" charset="0"/>
                        </a:rPr>
                        <m:t>  = </m:t>
                      </m:r>
                      <m:sSubSup>
                        <m:sSubSupPr>
                          <m:ctrlPr>
                            <a:rPr lang="en-NZ" altLang="ja-JP" sz="1800" b="1" i="1">
                              <a:solidFill>
                                <a:schemeClr val="tx1"/>
                              </a:solidFill>
                              <a:latin typeface="Cambria Math" panose="02040503050406030204" pitchFamily="18" charset="0"/>
                            </a:rPr>
                          </m:ctrlPr>
                        </m:sSubSupPr>
                        <m:e>
                          <m:r>
                            <a:rPr lang="en-NZ" altLang="ja-JP" sz="1800" b="1" i="1">
                              <a:solidFill>
                                <a:schemeClr val="tx1"/>
                              </a:solidFill>
                              <a:latin typeface="Cambria Math" panose="02040503050406030204" pitchFamily="18" charset="0"/>
                            </a:rPr>
                            <m:t>𝝈</m:t>
                          </m:r>
                        </m:e>
                        <m:sub>
                          <m:r>
                            <a:rPr lang="en-NZ" altLang="ja-JP" sz="1800" b="1" i="1">
                              <a:solidFill>
                                <a:schemeClr val="tx1"/>
                              </a:solidFill>
                              <a:latin typeface="Cambria Math" panose="02040503050406030204" pitchFamily="18" charset="0"/>
                            </a:rPr>
                            <m:t>𝑩</m:t>
                          </m:r>
                        </m:sub>
                        <m:sup>
                          <m:r>
                            <a:rPr lang="en-NZ" altLang="ja-JP" sz="1800" b="1" i="1">
                              <a:solidFill>
                                <a:schemeClr val="tx1"/>
                              </a:solidFill>
                              <a:latin typeface="Cambria Math" panose="02040503050406030204" pitchFamily="18" charset="0"/>
                            </a:rPr>
                            <m:t>𝟐</m:t>
                          </m:r>
                        </m:sup>
                      </m:sSubSup>
                      <m:r>
                        <a:rPr lang="en-NZ" altLang="ja-JP" sz="1800" b="1" i="1">
                          <a:solidFill>
                            <a:schemeClr val="tx1"/>
                          </a:solidFill>
                          <a:latin typeface="Cambria Math" panose="02040503050406030204" pitchFamily="18" charset="0"/>
                        </a:rPr>
                        <m:t> +  </m:t>
                      </m:r>
                      <m:sSup>
                        <m:sSupPr>
                          <m:ctrlPr>
                            <a:rPr lang="en-NZ" altLang="ja-JP" sz="1800" b="1" i="1">
                              <a:solidFill>
                                <a:schemeClr val="tx1"/>
                              </a:solidFill>
                              <a:latin typeface="Cambria Math" panose="02040503050406030204" pitchFamily="18" charset="0"/>
                            </a:rPr>
                          </m:ctrlPr>
                        </m:sSupPr>
                        <m:e>
                          <m:r>
                            <a:rPr lang="en-NZ" altLang="ja-JP" sz="1800" b="1" i="1">
                              <a:solidFill>
                                <a:schemeClr val="tx1"/>
                              </a:solidFill>
                              <a:latin typeface="Cambria Math" panose="02040503050406030204" pitchFamily="18" charset="0"/>
                            </a:rPr>
                            <m:t>𝝈</m:t>
                          </m:r>
                        </m:e>
                        <m:sup>
                          <m:r>
                            <a:rPr lang="en-NZ" altLang="ja-JP" sz="1800" b="1" i="1">
                              <a:solidFill>
                                <a:schemeClr val="tx1"/>
                              </a:solidFill>
                              <a:latin typeface="Cambria Math" panose="02040503050406030204" pitchFamily="18" charset="0"/>
                            </a:rPr>
                            <m:t>𝟐</m:t>
                          </m:r>
                        </m:sup>
                      </m:sSup>
                    </m:oMath>
                  </m:oMathPara>
                </a14:m>
                <a:endParaRPr lang="en-NZ" altLang="ja-JP" sz="1800" b="1" i="1" dirty="0">
                  <a:solidFill>
                    <a:schemeClr val="tx1"/>
                  </a:solidFill>
                </a:endParaRPr>
              </a:p>
              <a:p>
                <a:pPr algn="just">
                  <a:lnSpc>
                    <a:spcPct val="100000"/>
                  </a:lnSpc>
                </a:pPr>
                <a:endParaRPr lang="en-NZ" altLang="ja-JP" sz="1800" b="1" i="1" dirty="0">
                  <a:solidFill>
                    <a:schemeClr val="tx1"/>
                  </a:solidFill>
                </a:endParaRPr>
              </a:p>
            </p:txBody>
          </p:sp>
        </mc:Choice>
        <mc:Fallback xmlns="">
          <p:sp>
            <p:nvSpPr>
              <p:cNvPr id="35" name="Text Placeholder 5">
                <a:extLst>
                  <a:ext uri="{FF2B5EF4-FFF2-40B4-BE49-F238E27FC236}">
                    <a16:creationId xmlns:a16="http://schemas.microsoft.com/office/drawing/2014/main" id="{BBA88332-958B-EF89-DB28-19E84B93DCD4}"/>
                  </a:ext>
                </a:extLst>
              </p:cNvPr>
              <p:cNvSpPr txBox="1">
                <a:spLocks noRot="1" noChangeAspect="1" noMove="1" noResize="1" noEditPoints="1" noAdjustHandles="1" noChangeArrowheads="1" noChangeShapeType="1" noTextEdit="1"/>
              </p:cNvSpPr>
              <p:nvPr/>
            </p:nvSpPr>
            <p:spPr>
              <a:xfrm>
                <a:off x="251223" y="4229199"/>
                <a:ext cx="11232109" cy="537540"/>
              </a:xfrm>
              <a:prstGeom prst="rect">
                <a:avLst/>
              </a:prstGeom>
              <a:blipFill>
                <a:blip r:embed="rId3"/>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5" name="Text Placeholder 5">
                <a:extLst>
                  <a:ext uri="{FF2B5EF4-FFF2-40B4-BE49-F238E27FC236}">
                    <a16:creationId xmlns:a16="http://schemas.microsoft.com/office/drawing/2014/main" id="{11941F95-7504-605E-34A4-42AB8DF5B1A4}"/>
                  </a:ext>
                </a:extLst>
              </p:cNvPr>
              <p:cNvSpPr txBox="1">
                <a:spLocks/>
              </p:cNvSpPr>
              <p:nvPr/>
            </p:nvSpPr>
            <p:spPr>
              <a:xfrm>
                <a:off x="251223" y="4973241"/>
                <a:ext cx="11232109" cy="134721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As well as testing for the effect of Factor </a:t>
                </a:r>
                <a:r>
                  <a:rPr lang="en-NZ" altLang="ja-JP" sz="1800" b="1" i="1" dirty="0">
                    <a:solidFill>
                      <a:schemeClr val="tx1"/>
                    </a:solidFill>
                  </a:rPr>
                  <a:t>A</a:t>
                </a:r>
                <a:r>
                  <a:rPr lang="en-NZ" altLang="ja-JP" sz="1800" dirty="0">
                    <a:solidFill>
                      <a:schemeClr val="tx1"/>
                    </a:solidFill>
                  </a:rPr>
                  <a:t>, we are interested in the proportion of variance (after allowing for treatment) that is due to</a:t>
                </a:r>
              </a:p>
              <a:p>
                <a:pPr marL="1085793" lvl="1" indent="-400050" algn="just">
                  <a:lnSpc>
                    <a:spcPct val="100000"/>
                  </a:lnSpc>
                  <a:buFont typeface="+mj-lt"/>
                  <a:buAutoNum type="romanLcPeriod"/>
                </a:pPr>
                <a:r>
                  <a:rPr lang="en-NZ" altLang="ja-JP" sz="1800" dirty="0"/>
                  <a:t>Block effects  </a:t>
                </a:r>
                <a14:m>
                  <m:oMath xmlns:m="http://schemas.openxmlformats.org/officeDocument/2006/math">
                    <m:f>
                      <m:fPr>
                        <m:type m:val="lin"/>
                        <m:ctrlPr>
                          <a:rPr lang="en-NZ" altLang="ja-JP" sz="1800" i="1" smtClean="0">
                            <a:solidFill>
                              <a:srgbClr val="0070C0"/>
                            </a:solidFill>
                            <a:latin typeface="Cambria Math" panose="02040503050406030204" pitchFamily="18" charset="0"/>
                          </a:rPr>
                        </m:ctrlPr>
                      </m:fPr>
                      <m:num>
                        <m:sSubSup>
                          <m:sSubSupPr>
                            <m:ctrlPr>
                              <a:rPr lang="en-NZ" altLang="ja-JP" sz="1800" b="1" i="1">
                                <a:solidFill>
                                  <a:srgbClr val="0070C0"/>
                                </a:solidFill>
                                <a:latin typeface="Cambria Math" panose="02040503050406030204" pitchFamily="18" charset="0"/>
                              </a:rPr>
                            </m:ctrlPr>
                          </m:sSubSupPr>
                          <m:e>
                            <m:r>
                              <a:rPr lang="en-NZ" altLang="ja-JP" sz="1800" b="1" i="1">
                                <a:solidFill>
                                  <a:srgbClr val="0070C0"/>
                                </a:solidFill>
                                <a:latin typeface="Cambria Math" panose="02040503050406030204" pitchFamily="18" charset="0"/>
                              </a:rPr>
                              <m:t>𝝈</m:t>
                            </m:r>
                          </m:e>
                          <m:sub>
                            <m:r>
                              <a:rPr lang="en-NZ" altLang="ja-JP" sz="1800" b="1" i="1">
                                <a:solidFill>
                                  <a:srgbClr val="0070C0"/>
                                </a:solidFill>
                                <a:latin typeface="Cambria Math" panose="02040503050406030204" pitchFamily="18" charset="0"/>
                              </a:rPr>
                              <m:t>𝑩</m:t>
                            </m:r>
                          </m:sub>
                          <m:sup>
                            <m:r>
                              <a:rPr lang="en-NZ" altLang="ja-JP" sz="1800" b="1" i="1">
                                <a:solidFill>
                                  <a:srgbClr val="0070C0"/>
                                </a:solidFill>
                                <a:latin typeface="Cambria Math" panose="02040503050406030204" pitchFamily="18" charset="0"/>
                              </a:rPr>
                              <m:t>𝟐</m:t>
                            </m:r>
                          </m:sup>
                        </m:sSubSup>
                        <m:r>
                          <a:rPr lang="en-NZ" altLang="ja-JP" sz="1800" b="1" i="1">
                            <a:solidFill>
                              <a:srgbClr val="0070C0"/>
                            </a:solidFill>
                            <a:latin typeface="Cambria Math" panose="02040503050406030204" pitchFamily="18" charset="0"/>
                          </a:rPr>
                          <m:t> </m:t>
                        </m:r>
                      </m:num>
                      <m:den>
                        <m:r>
                          <a:rPr lang="en-NZ" altLang="ja-JP" sz="1800" b="0" i="1" smtClean="0">
                            <a:solidFill>
                              <a:srgbClr val="0070C0"/>
                            </a:solidFill>
                            <a:latin typeface="Cambria Math" panose="02040503050406030204" pitchFamily="18" charset="0"/>
                          </a:rPr>
                          <m:t>( </m:t>
                        </m:r>
                        <m:sSubSup>
                          <m:sSubSupPr>
                            <m:ctrlPr>
                              <a:rPr lang="en-NZ" altLang="ja-JP" sz="1800" b="1" i="1">
                                <a:solidFill>
                                  <a:srgbClr val="0070C0"/>
                                </a:solidFill>
                                <a:latin typeface="Cambria Math" panose="02040503050406030204" pitchFamily="18" charset="0"/>
                              </a:rPr>
                            </m:ctrlPr>
                          </m:sSubSupPr>
                          <m:e>
                            <m:r>
                              <a:rPr lang="en-NZ" altLang="ja-JP" sz="1800" b="1" i="1">
                                <a:solidFill>
                                  <a:srgbClr val="0070C0"/>
                                </a:solidFill>
                                <a:latin typeface="Cambria Math" panose="02040503050406030204" pitchFamily="18" charset="0"/>
                              </a:rPr>
                              <m:t>𝝈</m:t>
                            </m:r>
                          </m:e>
                          <m:sub>
                            <m:r>
                              <a:rPr lang="en-NZ" altLang="ja-JP" sz="1800" b="1" i="1">
                                <a:solidFill>
                                  <a:srgbClr val="0070C0"/>
                                </a:solidFill>
                                <a:latin typeface="Cambria Math" panose="02040503050406030204" pitchFamily="18" charset="0"/>
                              </a:rPr>
                              <m:t>𝑩</m:t>
                            </m:r>
                          </m:sub>
                          <m:sup>
                            <m:r>
                              <a:rPr lang="en-NZ" altLang="ja-JP" sz="1800" b="1" i="1">
                                <a:solidFill>
                                  <a:srgbClr val="0070C0"/>
                                </a:solidFill>
                                <a:latin typeface="Cambria Math" panose="02040503050406030204" pitchFamily="18" charset="0"/>
                              </a:rPr>
                              <m:t>𝟐</m:t>
                            </m:r>
                          </m:sup>
                        </m:sSubSup>
                        <m:r>
                          <a:rPr lang="en-NZ" altLang="ja-JP" sz="1800" b="1" i="1">
                            <a:solidFill>
                              <a:srgbClr val="0070C0"/>
                            </a:solidFill>
                            <a:latin typeface="Cambria Math" panose="02040503050406030204" pitchFamily="18" charset="0"/>
                          </a:rPr>
                          <m:t> +  </m:t>
                        </m:r>
                        <m:sSup>
                          <m:sSupPr>
                            <m:ctrlPr>
                              <a:rPr lang="en-NZ" altLang="ja-JP" sz="1800" b="1" i="1">
                                <a:solidFill>
                                  <a:srgbClr val="0070C0"/>
                                </a:solidFill>
                                <a:latin typeface="Cambria Math" panose="02040503050406030204" pitchFamily="18" charset="0"/>
                              </a:rPr>
                            </m:ctrlPr>
                          </m:sSupPr>
                          <m:e>
                            <m:r>
                              <a:rPr lang="en-NZ" altLang="ja-JP" sz="1800" b="1" i="1">
                                <a:solidFill>
                                  <a:srgbClr val="0070C0"/>
                                </a:solidFill>
                                <a:latin typeface="Cambria Math" panose="02040503050406030204" pitchFamily="18" charset="0"/>
                              </a:rPr>
                              <m:t>𝝈</m:t>
                            </m:r>
                          </m:e>
                          <m:sup>
                            <m:r>
                              <a:rPr lang="en-NZ" altLang="ja-JP" sz="1800" b="1" i="1">
                                <a:solidFill>
                                  <a:srgbClr val="0070C0"/>
                                </a:solidFill>
                                <a:latin typeface="Cambria Math" panose="02040503050406030204" pitchFamily="18" charset="0"/>
                              </a:rPr>
                              <m:t>𝟐</m:t>
                            </m:r>
                          </m:sup>
                        </m:sSup>
                        <m:r>
                          <a:rPr lang="en-NZ" altLang="ja-JP" sz="1800" b="1" i="1" smtClean="0">
                            <a:solidFill>
                              <a:srgbClr val="0070C0"/>
                            </a:solidFill>
                            <a:latin typeface="Cambria Math" panose="02040503050406030204" pitchFamily="18" charset="0"/>
                          </a:rPr>
                          <m:t> )</m:t>
                        </m:r>
                      </m:den>
                    </m:f>
                  </m:oMath>
                </a14:m>
                <a:endParaRPr lang="en-NZ" altLang="ja-JP" sz="1800" dirty="0">
                  <a:solidFill>
                    <a:schemeClr val="tx1"/>
                  </a:solidFill>
                </a:endParaRPr>
              </a:p>
              <a:p>
                <a:pPr marL="1085793" lvl="1" indent="-400050" algn="just">
                  <a:lnSpc>
                    <a:spcPct val="100000"/>
                  </a:lnSpc>
                  <a:buFont typeface="+mj-lt"/>
                  <a:buAutoNum type="romanLcPeriod"/>
                </a:pPr>
                <a:r>
                  <a:rPr lang="en-NZ" altLang="ja-JP" sz="1800" dirty="0"/>
                  <a:t>Residual unexplained variation  </a:t>
                </a:r>
                <a14:m>
                  <m:oMath xmlns:m="http://schemas.openxmlformats.org/officeDocument/2006/math">
                    <m:f>
                      <m:fPr>
                        <m:type m:val="lin"/>
                        <m:ctrlPr>
                          <a:rPr lang="en-NZ" altLang="ja-JP" sz="1800" i="1" smtClean="0">
                            <a:solidFill>
                              <a:srgbClr val="0070C0"/>
                            </a:solidFill>
                            <a:latin typeface="Cambria Math" panose="02040503050406030204" pitchFamily="18" charset="0"/>
                          </a:rPr>
                        </m:ctrlPr>
                      </m:fPr>
                      <m:num>
                        <m:sSup>
                          <m:sSupPr>
                            <m:ctrlPr>
                              <a:rPr lang="en-NZ" altLang="ja-JP" sz="1800" b="1" i="1" smtClean="0">
                                <a:solidFill>
                                  <a:srgbClr val="0070C0"/>
                                </a:solidFill>
                                <a:latin typeface="Cambria Math" panose="02040503050406030204" pitchFamily="18" charset="0"/>
                              </a:rPr>
                            </m:ctrlPr>
                          </m:sSupPr>
                          <m:e>
                            <m:r>
                              <a:rPr lang="en-NZ" altLang="ja-JP" sz="1800" b="1" i="1" smtClean="0">
                                <a:solidFill>
                                  <a:srgbClr val="0070C0"/>
                                </a:solidFill>
                                <a:latin typeface="Cambria Math" panose="02040503050406030204" pitchFamily="18" charset="0"/>
                              </a:rPr>
                              <m:t>𝝈</m:t>
                            </m:r>
                          </m:e>
                          <m:sup>
                            <m:r>
                              <a:rPr lang="en-NZ" altLang="ja-JP" sz="1800" b="1" i="1" smtClean="0">
                                <a:solidFill>
                                  <a:srgbClr val="0070C0"/>
                                </a:solidFill>
                                <a:latin typeface="Cambria Math" panose="02040503050406030204" pitchFamily="18" charset="0"/>
                              </a:rPr>
                              <m:t>𝟐</m:t>
                            </m:r>
                          </m:sup>
                        </m:sSup>
                        <m:r>
                          <a:rPr lang="en-NZ" altLang="ja-JP" sz="1800" b="1" i="1">
                            <a:solidFill>
                              <a:srgbClr val="0070C0"/>
                            </a:solidFill>
                            <a:latin typeface="Cambria Math" panose="02040503050406030204" pitchFamily="18" charset="0"/>
                          </a:rPr>
                          <m:t> </m:t>
                        </m:r>
                      </m:num>
                      <m:den>
                        <m:r>
                          <a:rPr lang="en-NZ" altLang="ja-JP" sz="1800" b="0" i="1" smtClean="0">
                            <a:solidFill>
                              <a:srgbClr val="0070C0"/>
                            </a:solidFill>
                            <a:latin typeface="Cambria Math" panose="02040503050406030204" pitchFamily="18" charset="0"/>
                          </a:rPr>
                          <m:t>( </m:t>
                        </m:r>
                        <m:sSubSup>
                          <m:sSubSupPr>
                            <m:ctrlPr>
                              <a:rPr lang="en-NZ" altLang="ja-JP" sz="1800" b="1" i="1">
                                <a:solidFill>
                                  <a:srgbClr val="0070C0"/>
                                </a:solidFill>
                                <a:latin typeface="Cambria Math" panose="02040503050406030204" pitchFamily="18" charset="0"/>
                              </a:rPr>
                            </m:ctrlPr>
                          </m:sSubSupPr>
                          <m:e>
                            <m:r>
                              <a:rPr lang="en-NZ" altLang="ja-JP" sz="1800" b="1" i="1">
                                <a:solidFill>
                                  <a:srgbClr val="0070C0"/>
                                </a:solidFill>
                                <a:latin typeface="Cambria Math" panose="02040503050406030204" pitchFamily="18" charset="0"/>
                              </a:rPr>
                              <m:t>𝝈</m:t>
                            </m:r>
                          </m:e>
                          <m:sub>
                            <m:r>
                              <a:rPr lang="en-NZ" altLang="ja-JP" sz="1800" b="1" i="1">
                                <a:solidFill>
                                  <a:srgbClr val="0070C0"/>
                                </a:solidFill>
                                <a:latin typeface="Cambria Math" panose="02040503050406030204" pitchFamily="18" charset="0"/>
                              </a:rPr>
                              <m:t>𝑩</m:t>
                            </m:r>
                          </m:sub>
                          <m:sup>
                            <m:r>
                              <a:rPr lang="en-NZ" altLang="ja-JP" sz="1800" b="1" i="1">
                                <a:solidFill>
                                  <a:srgbClr val="0070C0"/>
                                </a:solidFill>
                                <a:latin typeface="Cambria Math" panose="02040503050406030204" pitchFamily="18" charset="0"/>
                              </a:rPr>
                              <m:t>𝟐</m:t>
                            </m:r>
                          </m:sup>
                        </m:sSubSup>
                        <m:r>
                          <a:rPr lang="en-NZ" altLang="ja-JP" sz="1800" b="1" i="1">
                            <a:solidFill>
                              <a:srgbClr val="0070C0"/>
                            </a:solidFill>
                            <a:latin typeface="Cambria Math" panose="02040503050406030204" pitchFamily="18" charset="0"/>
                          </a:rPr>
                          <m:t> +  </m:t>
                        </m:r>
                        <m:sSup>
                          <m:sSupPr>
                            <m:ctrlPr>
                              <a:rPr lang="en-NZ" altLang="ja-JP" sz="1800" b="1" i="1">
                                <a:solidFill>
                                  <a:srgbClr val="0070C0"/>
                                </a:solidFill>
                                <a:latin typeface="Cambria Math" panose="02040503050406030204" pitchFamily="18" charset="0"/>
                              </a:rPr>
                            </m:ctrlPr>
                          </m:sSupPr>
                          <m:e>
                            <m:r>
                              <a:rPr lang="en-NZ" altLang="ja-JP" sz="1800" b="1" i="1">
                                <a:solidFill>
                                  <a:srgbClr val="0070C0"/>
                                </a:solidFill>
                                <a:latin typeface="Cambria Math" panose="02040503050406030204" pitchFamily="18" charset="0"/>
                              </a:rPr>
                              <m:t>𝝈</m:t>
                            </m:r>
                          </m:e>
                          <m:sup>
                            <m:r>
                              <a:rPr lang="en-NZ" altLang="ja-JP" sz="1800" b="1" i="1">
                                <a:solidFill>
                                  <a:srgbClr val="0070C0"/>
                                </a:solidFill>
                                <a:latin typeface="Cambria Math" panose="02040503050406030204" pitchFamily="18" charset="0"/>
                              </a:rPr>
                              <m:t>𝟐</m:t>
                            </m:r>
                          </m:sup>
                        </m:sSup>
                        <m:r>
                          <a:rPr lang="en-NZ" altLang="ja-JP" sz="1800" b="1" i="1" smtClean="0">
                            <a:solidFill>
                              <a:srgbClr val="0070C0"/>
                            </a:solidFill>
                            <a:latin typeface="Cambria Math" panose="02040503050406030204" pitchFamily="18" charset="0"/>
                          </a:rPr>
                          <m:t> )</m:t>
                        </m:r>
                      </m:den>
                    </m:f>
                  </m:oMath>
                </a14:m>
                <a:r>
                  <a:rPr lang="en-NZ" altLang="ja-JP" sz="1800" dirty="0">
                    <a:solidFill>
                      <a:srgbClr val="0070C0"/>
                    </a:solidFill>
                  </a:rPr>
                  <a:t> </a:t>
                </a:r>
                <a:endParaRPr lang="en-NZ" altLang="ja-JP" sz="1800" dirty="0"/>
              </a:p>
            </p:txBody>
          </p:sp>
        </mc:Choice>
        <mc:Fallback xmlns="">
          <p:sp>
            <p:nvSpPr>
              <p:cNvPr id="15" name="Text Placeholder 5">
                <a:extLst>
                  <a:ext uri="{FF2B5EF4-FFF2-40B4-BE49-F238E27FC236}">
                    <a16:creationId xmlns:a16="http://schemas.microsoft.com/office/drawing/2014/main" id="{11941F95-7504-605E-34A4-42AB8DF5B1A4}"/>
                  </a:ext>
                </a:extLst>
              </p:cNvPr>
              <p:cNvSpPr txBox="1">
                <a:spLocks noRot="1" noChangeAspect="1" noMove="1" noResize="1" noEditPoints="1" noAdjustHandles="1" noChangeArrowheads="1" noChangeShapeType="1" noTextEdit="1"/>
              </p:cNvSpPr>
              <p:nvPr/>
            </p:nvSpPr>
            <p:spPr>
              <a:xfrm>
                <a:off x="251223" y="4973241"/>
                <a:ext cx="11232109" cy="1347217"/>
              </a:xfrm>
              <a:prstGeom prst="rect">
                <a:avLst/>
              </a:prstGeom>
              <a:blipFill>
                <a:blip r:embed="rId4"/>
                <a:stretch>
                  <a:fillRect l="-434" t="-2715" r="-488" b="-49321"/>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CF299461-2BCA-F7F5-D485-405A03F32A72}"/>
                  </a:ext>
                </a:extLst>
              </p:cNvPr>
              <p:cNvSpPr txBox="1">
                <a:spLocks/>
              </p:cNvSpPr>
              <p:nvPr/>
            </p:nvSpPr>
            <p:spPr>
              <a:xfrm>
                <a:off x="312361" y="6320459"/>
                <a:ext cx="11399692" cy="53754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Naturally, </a:t>
                </a:r>
                <a14:m>
                  <m:oMath xmlns:m="http://schemas.openxmlformats.org/officeDocument/2006/math">
                    <m:sSubSup>
                      <m:sSubSupPr>
                        <m:ctrlPr>
                          <a:rPr lang="en-NZ" altLang="ja-JP" sz="1800" b="1" i="1" smtClean="0">
                            <a:solidFill>
                              <a:schemeClr val="tx1"/>
                            </a:solidFill>
                            <a:latin typeface="Cambria Math" panose="02040503050406030204" pitchFamily="18" charset="0"/>
                          </a:rPr>
                        </m:ctrlPr>
                      </m:sSubSupPr>
                      <m:e>
                        <m:r>
                          <a:rPr lang="en-NZ" altLang="ja-JP" sz="1800" b="1" i="1" smtClean="0">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𝝈</m:t>
                        </m:r>
                      </m:e>
                      <m:sub>
                        <m:r>
                          <a:rPr lang="en-NZ" altLang="ja-JP" sz="1800" b="1" i="1">
                            <a:solidFill>
                              <a:schemeClr val="tx1"/>
                            </a:solidFill>
                            <a:latin typeface="Cambria Math" panose="02040503050406030204" pitchFamily="18" charset="0"/>
                          </a:rPr>
                          <m:t>𝑩</m:t>
                        </m:r>
                      </m:sub>
                      <m:sup>
                        <m:r>
                          <a:rPr lang="en-NZ" altLang="ja-JP" sz="1800" b="1" i="1">
                            <a:solidFill>
                              <a:schemeClr val="tx1"/>
                            </a:solidFill>
                            <a:latin typeface="Cambria Math" panose="02040503050406030204" pitchFamily="18" charset="0"/>
                          </a:rPr>
                          <m:t>𝟐</m:t>
                        </m:r>
                      </m:sup>
                    </m:sSubSup>
                    <m:r>
                      <a:rPr lang="en-NZ" altLang="ja-JP" sz="1800" b="1" i="1">
                        <a:solidFill>
                          <a:schemeClr val="tx1"/>
                        </a:solidFill>
                        <a:latin typeface="Cambria Math" panose="02040503050406030204" pitchFamily="18" charset="0"/>
                      </a:rPr>
                      <m:t> </m:t>
                    </m:r>
                  </m:oMath>
                </a14:m>
                <a:r>
                  <a:rPr lang="en-NZ" altLang="ja-JP" sz="1800" dirty="0">
                    <a:solidFill>
                      <a:schemeClr val="tx1"/>
                    </a:solidFill>
                  </a:rPr>
                  <a:t> and  </a:t>
                </a:r>
                <a14:m>
                  <m:oMath xmlns:m="http://schemas.openxmlformats.org/officeDocument/2006/math">
                    <m:sSup>
                      <m:sSupPr>
                        <m:ctrlPr>
                          <a:rPr lang="en-NZ" altLang="ja-JP" sz="1800" b="1" i="1">
                            <a:solidFill>
                              <a:schemeClr val="tx1"/>
                            </a:solidFill>
                            <a:latin typeface="Cambria Math" panose="02040503050406030204" pitchFamily="18" charset="0"/>
                          </a:rPr>
                        </m:ctrlPr>
                      </m:sSupPr>
                      <m:e>
                        <m:r>
                          <a:rPr lang="en-NZ" altLang="ja-JP" sz="1800" b="1" i="1">
                            <a:solidFill>
                              <a:schemeClr val="tx1"/>
                            </a:solidFill>
                            <a:latin typeface="Cambria Math" panose="02040503050406030204" pitchFamily="18" charset="0"/>
                          </a:rPr>
                          <m:t>𝝈</m:t>
                        </m:r>
                      </m:e>
                      <m:sup>
                        <m:r>
                          <a:rPr lang="en-NZ" altLang="ja-JP" sz="1800" b="1" i="1">
                            <a:solidFill>
                              <a:schemeClr val="tx1"/>
                            </a:solidFill>
                            <a:latin typeface="Cambria Math" panose="02040503050406030204" pitchFamily="18" charset="0"/>
                          </a:rPr>
                          <m:t>𝟐</m:t>
                        </m:r>
                      </m:sup>
                    </m:sSup>
                    <m:r>
                      <a:rPr lang="en-NZ" altLang="ja-JP" sz="1800" b="1" i="1">
                        <a:solidFill>
                          <a:schemeClr val="tx1"/>
                        </a:solidFill>
                        <a:latin typeface="Cambria Math" panose="02040503050406030204" pitchFamily="18" charset="0"/>
                      </a:rPr>
                      <m:t> </m:t>
                    </m:r>
                  </m:oMath>
                </a14:m>
                <a:r>
                  <a:rPr lang="en-NZ" altLang="ja-JP" sz="1800" dirty="0">
                    <a:solidFill>
                      <a:schemeClr val="tx1"/>
                    </a:solidFill>
                  </a:rPr>
                  <a:t> must be estimated from the data.  </a:t>
                </a:r>
                <a:endParaRPr lang="en-NZ" altLang="ja-JP" sz="1800" dirty="0"/>
              </a:p>
            </p:txBody>
          </p:sp>
        </mc:Choice>
        <mc:Fallback xmlns="">
          <p:sp>
            <p:nvSpPr>
              <p:cNvPr id="16" name="Text Placeholder 5">
                <a:extLst>
                  <a:ext uri="{FF2B5EF4-FFF2-40B4-BE49-F238E27FC236}">
                    <a16:creationId xmlns:a16="http://schemas.microsoft.com/office/drawing/2014/main" id="{CF299461-2BCA-F7F5-D485-405A03F32A72}"/>
                  </a:ext>
                </a:extLst>
              </p:cNvPr>
              <p:cNvSpPr txBox="1">
                <a:spLocks noRot="1" noChangeAspect="1" noMove="1" noResize="1" noEditPoints="1" noAdjustHandles="1" noChangeArrowheads="1" noChangeShapeType="1" noTextEdit="1"/>
              </p:cNvSpPr>
              <p:nvPr/>
            </p:nvSpPr>
            <p:spPr>
              <a:xfrm>
                <a:off x="312361" y="6320459"/>
                <a:ext cx="11399692" cy="537541"/>
              </a:xfrm>
              <a:prstGeom prst="rect">
                <a:avLst/>
              </a:prstGeom>
              <a:blipFill>
                <a:blip r:embed="rId5"/>
                <a:stretch>
                  <a:fillRect l="-428" t="-3409"/>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628CCA8F-FBEB-8EB4-6AAE-E7EB91A4740A}"/>
                  </a:ext>
                </a:extLst>
              </p:cNvPr>
              <p:cNvSpPr txBox="1">
                <a:spLocks/>
              </p:cNvSpPr>
              <p:nvPr/>
            </p:nvSpPr>
            <p:spPr>
              <a:xfrm>
                <a:off x="3364681" y="2797346"/>
                <a:ext cx="5462638"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
                    </m:oMathParaPr>
                    <m:oMath xmlns:m="http://schemas.openxmlformats.org/officeDocument/2006/math">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𝒀</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𝒊𝒋𝒌</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𝝁</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𝜶</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𝑩</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𝒋</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𝝐</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𝒊𝒋𝒌</m:t>
                          </m:r>
                        </m:sub>
                      </m:sSub>
                    </m:oMath>
                  </m:oMathPara>
                </a14:m>
                <a:endParaRPr kumimoji="1" lang="en-NZ" altLang="ja-JP" sz="18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18" name="Text Placeholder 5">
                <a:extLst>
                  <a:ext uri="{FF2B5EF4-FFF2-40B4-BE49-F238E27FC236}">
                    <a16:creationId xmlns:a16="http://schemas.microsoft.com/office/drawing/2014/main" id="{628CCA8F-FBEB-8EB4-6AAE-E7EB91A4740A}"/>
                  </a:ext>
                </a:extLst>
              </p:cNvPr>
              <p:cNvSpPr txBox="1">
                <a:spLocks noRot="1" noChangeAspect="1" noMove="1" noResize="1" noEditPoints="1" noAdjustHandles="1" noChangeArrowheads="1" noChangeShapeType="1" noTextEdit="1"/>
              </p:cNvSpPr>
              <p:nvPr/>
            </p:nvSpPr>
            <p:spPr>
              <a:xfrm>
                <a:off x="3364681" y="2797346"/>
                <a:ext cx="5462638" cy="474953"/>
              </a:xfrm>
              <a:prstGeom prst="rect">
                <a:avLst/>
              </a:prstGeom>
              <a:blipFill>
                <a:blip r:embed="rId6"/>
                <a:stretch>
                  <a:fillRect/>
                </a:stretch>
              </a:blipFill>
            </p:spPr>
            <p:txBody>
              <a:bodyPr/>
              <a:lstStyle/>
              <a:p>
                <a:r>
                  <a:rPr lang="en-NZ">
                    <a:noFill/>
                  </a:rPr>
                  <a:t> </a:t>
                </a:r>
              </a:p>
            </p:txBody>
          </p:sp>
        </mc:Fallback>
      </mc:AlternateContent>
      <p:sp>
        <p:nvSpPr>
          <p:cNvPr id="14" name="Footer Placeholder 2">
            <a:extLst>
              <a:ext uri="{FF2B5EF4-FFF2-40B4-BE49-F238E27FC236}">
                <a16:creationId xmlns:a16="http://schemas.microsoft.com/office/drawing/2014/main" id="{3422B619-34DB-8A61-8DBA-323C93615C42}"/>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4.4 – </a:t>
            </a:r>
            <a:r>
              <a:rPr kumimoji="1" lang="en-US" altLang="ja-JP" sz="1600" dirty="0">
                <a:solidFill>
                  <a:srgbClr val="DEDDDD"/>
                </a:solidFill>
                <a:latin typeface="Gidole"/>
                <a:ea typeface="游ゴシック" panose="020B0400000000000000" pitchFamily="34" charset="-128"/>
              </a:rPr>
              <a:t>Mixed Effects Model</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D4722B09-8F95-5099-317B-21891FB8F4E3}"/>
                  </a:ext>
                </a:extLst>
              </p:cNvPr>
              <p:cNvSpPr txBox="1">
                <a:spLocks/>
              </p:cNvSpPr>
              <p:nvPr/>
            </p:nvSpPr>
            <p:spPr>
              <a:xfrm>
                <a:off x="312361" y="2403575"/>
                <a:ext cx="11313581" cy="39421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For a mixed effects model the </a:t>
                </a:r>
                <a14:m>
                  <m:oMath xmlns:m="http://schemas.openxmlformats.org/officeDocument/2006/math">
                    <m:sSup>
                      <m:sSup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p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𝒌</m:t>
                        </m:r>
                      </m:e>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𝒕𝒉</m:t>
                        </m:r>
                      </m:sup>
                    </m:sSup>
                  </m:oMath>
                </a14:m>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observation belonging</a:t>
                </a:r>
                <a:r>
                  <a:rPr kumimoji="1" lang="en-NZ" altLang="ja-JP" sz="18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to the </a:t>
                </a:r>
                <a14:m>
                  <m:oMath xmlns:m="http://schemas.openxmlformats.org/officeDocument/2006/math">
                    <m:sSup>
                      <m:sSupPr>
                        <m:ctrlPr>
                          <a:rPr kumimoji="1" lang="en-NZ" altLang="ja-JP" sz="1800" b="1" i="1" u="none" strike="noStrike" kern="1200" cap="none" spc="0" normalizeH="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pPr>
                      <m:e>
                        <m:r>
                          <a:rPr kumimoji="1" lang="en-NZ" altLang="ja-JP" sz="1800" b="1" i="1" u="none" strike="noStrike" kern="1200" cap="none" spc="0" normalizeH="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e>
                      <m:sup>
                        <m:r>
                          <a:rPr kumimoji="1" lang="en-NZ" altLang="ja-JP" sz="1800" b="1" i="1" u="none" strike="noStrike" kern="1200" cap="none" spc="0" normalizeH="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𝒕𝒉</m:t>
                        </m:r>
                      </m:sup>
                    </m:sSup>
                  </m:oMath>
                </a14:m>
                <a:r>
                  <a:rPr kumimoji="1" lang="en-NZ"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level of factor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a:t>
                </a:r>
                <a:r>
                  <a:rPr kumimoji="1" lang="en-NZ"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and the</a:t>
                </a:r>
                <a:r>
                  <a:rPr kumimoji="1" lang="en-NZ" altLang="ja-JP" sz="18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800" b="1" i="1" u="none" strike="noStrike" kern="1200" cap="none" spc="0" normalizeH="0" noProof="0" dirty="0" err="1">
                    <a:ln>
                      <a:noFill/>
                    </a:ln>
                    <a:solidFill>
                      <a:prstClr val="black"/>
                    </a:solidFill>
                    <a:effectLst/>
                    <a:uLnTx/>
                    <a:uFillTx/>
                    <a:latin typeface="Calibri" panose="020F0502020204030204"/>
                    <a:ea typeface="游ゴシック" panose="020B0400000000000000" pitchFamily="34" charset="-128"/>
                    <a:cs typeface="+mn-cs"/>
                  </a:rPr>
                  <a:t>j</a:t>
                </a:r>
                <a:r>
                  <a:rPr kumimoji="1" lang="en-NZ" altLang="ja-JP" sz="1800" b="1" i="1" u="none" strike="noStrike" kern="1200" cap="none" spc="0" normalizeH="0" baseline="30000" noProof="0" dirty="0" err="1">
                    <a:ln>
                      <a:noFill/>
                    </a:ln>
                    <a:solidFill>
                      <a:prstClr val="black"/>
                    </a:solidFill>
                    <a:effectLst/>
                    <a:uLnTx/>
                    <a:uFillTx/>
                    <a:latin typeface="Calibri" panose="020F0502020204030204"/>
                    <a:ea typeface="游ゴシック" panose="020B0400000000000000" pitchFamily="34" charset="-128"/>
                    <a:cs typeface="+mn-cs"/>
                  </a:rPr>
                  <a:t>th</a:t>
                </a:r>
                <a:r>
                  <a:rPr kumimoji="1" lang="en-NZ" altLang="ja-JP" sz="18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block</a:t>
                </a:r>
                <a:r>
                  <a:rPr kumimoji="1" lang="en-NZ"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is modelled as:</a:t>
                </a: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0" name="Text Placeholder 5">
                <a:extLst>
                  <a:ext uri="{FF2B5EF4-FFF2-40B4-BE49-F238E27FC236}">
                    <a16:creationId xmlns:a16="http://schemas.microsoft.com/office/drawing/2014/main" id="{D4722B09-8F95-5099-317B-21891FB8F4E3}"/>
                  </a:ext>
                </a:extLst>
              </p:cNvPr>
              <p:cNvSpPr txBox="1">
                <a:spLocks noRot="1" noChangeAspect="1" noMove="1" noResize="1" noEditPoints="1" noAdjustHandles="1" noChangeArrowheads="1" noChangeShapeType="1" noTextEdit="1"/>
              </p:cNvSpPr>
              <p:nvPr/>
            </p:nvSpPr>
            <p:spPr>
              <a:xfrm>
                <a:off x="312361" y="2403575"/>
                <a:ext cx="11313581" cy="394215"/>
              </a:xfrm>
              <a:prstGeom prst="rect">
                <a:avLst/>
              </a:prstGeom>
              <a:blipFill>
                <a:blip r:embed="rId7"/>
                <a:stretch>
                  <a:fillRect l="-431" t="-4615" b="-20000"/>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7" name="Text Placeholder 5">
                <a:extLst>
                  <a:ext uri="{FF2B5EF4-FFF2-40B4-BE49-F238E27FC236}">
                    <a16:creationId xmlns:a16="http://schemas.microsoft.com/office/drawing/2014/main" id="{D50D709B-08F5-FB41-83E8-B571801ECD31}"/>
                  </a:ext>
                </a:extLst>
              </p:cNvPr>
              <p:cNvSpPr txBox="1">
                <a:spLocks/>
              </p:cNvSpPr>
              <p:nvPr/>
            </p:nvSpPr>
            <p:spPr>
              <a:xfrm>
                <a:off x="8561750" y="2830047"/>
                <a:ext cx="1865087" cy="7635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lang="en-NZ" altLang="ja-JP" sz="1600" b="1" i="1" smtClean="0">
                            <a:solidFill>
                              <a:schemeClr val="bg2">
                                <a:lumMod val="50000"/>
                              </a:schemeClr>
                            </a:solidFill>
                            <a:latin typeface="Cambria Math" panose="02040503050406030204" pitchFamily="18" charset="0"/>
                          </a:rPr>
                        </m:ctrlPr>
                      </m:sSubPr>
                      <m:e>
                        <m:r>
                          <a:rPr lang="en-NZ" altLang="ja-JP" sz="1600" b="1" i="1">
                            <a:solidFill>
                              <a:schemeClr val="bg2">
                                <a:lumMod val="50000"/>
                              </a:schemeClr>
                            </a:solidFill>
                            <a:latin typeface="Cambria Math" panose="02040503050406030204" pitchFamily="18" charset="0"/>
                          </a:rPr>
                          <m:t>𝑩</m:t>
                        </m:r>
                      </m:e>
                      <m:sub>
                        <m:r>
                          <a:rPr lang="en-NZ" altLang="ja-JP" sz="1600" b="1" i="1">
                            <a:solidFill>
                              <a:schemeClr val="bg2">
                                <a:lumMod val="50000"/>
                              </a:schemeClr>
                            </a:solidFill>
                            <a:latin typeface="Cambria Math" panose="02040503050406030204" pitchFamily="18" charset="0"/>
                          </a:rPr>
                          <m:t>𝒋</m:t>
                        </m:r>
                      </m:sub>
                    </m:sSub>
                    <m:r>
                      <a:rPr lang="en-NZ" altLang="ja-JP" sz="1600" b="1" i="1">
                        <a:solidFill>
                          <a:schemeClr val="bg2">
                            <a:lumMod val="50000"/>
                          </a:schemeClr>
                        </a:solidFill>
                        <a:latin typeface="Cambria Math" panose="02040503050406030204" pitchFamily="18" charset="0"/>
                      </a:rPr>
                      <m:t> ~ </m:t>
                    </m:r>
                    <m:r>
                      <a:rPr lang="en-NZ" altLang="ja-JP" sz="1600" b="1" i="1" smtClean="0">
                        <a:solidFill>
                          <a:schemeClr val="bg2">
                            <a:lumMod val="50000"/>
                          </a:schemeClr>
                        </a:solidFill>
                        <a:latin typeface="Cambria Math" panose="02040503050406030204" pitchFamily="18" charset="0"/>
                      </a:rPr>
                      <m:t>𝑵</m:t>
                    </m:r>
                    <m:r>
                      <a:rPr lang="en-NZ" altLang="ja-JP" sz="1600" b="1" i="1">
                        <a:solidFill>
                          <a:schemeClr val="bg2">
                            <a:lumMod val="50000"/>
                          </a:schemeClr>
                        </a:solidFill>
                        <a:latin typeface="Cambria Math" panose="02040503050406030204" pitchFamily="18" charset="0"/>
                      </a:rPr>
                      <m:t>(</m:t>
                    </m:r>
                    <m:r>
                      <a:rPr lang="en-NZ" altLang="ja-JP" sz="1600" b="1" i="1" smtClean="0">
                        <a:solidFill>
                          <a:schemeClr val="bg2">
                            <a:lumMod val="50000"/>
                          </a:schemeClr>
                        </a:solidFill>
                        <a:latin typeface="Cambria Math" panose="02040503050406030204" pitchFamily="18" charset="0"/>
                      </a:rPr>
                      <m:t> </m:t>
                    </m:r>
                    <m:r>
                      <a:rPr lang="en-NZ" altLang="ja-JP" sz="1600" b="1" i="1" smtClean="0">
                        <a:solidFill>
                          <a:schemeClr val="bg2">
                            <a:lumMod val="50000"/>
                          </a:schemeClr>
                        </a:solidFill>
                        <a:latin typeface="Cambria Math" panose="02040503050406030204" pitchFamily="18" charset="0"/>
                      </a:rPr>
                      <m:t>𝟎</m:t>
                    </m:r>
                    <m:r>
                      <a:rPr lang="en-NZ" altLang="ja-JP" sz="1600" b="1" i="1">
                        <a:solidFill>
                          <a:schemeClr val="bg2">
                            <a:lumMod val="50000"/>
                          </a:schemeClr>
                        </a:solidFill>
                        <a:latin typeface="Cambria Math" panose="02040503050406030204" pitchFamily="18" charset="0"/>
                      </a:rPr>
                      <m:t>, </m:t>
                    </m:r>
                    <m:sSubSup>
                      <m:sSubSupPr>
                        <m:ctrlPr>
                          <a:rPr lang="en-NZ" altLang="ja-JP" sz="1600" b="1" i="1">
                            <a:solidFill>
                              <a:schemeClr val="bg2">
                                <a:lumMod val="50000"/>
                              </a:schemeClr>
                            </a:solidFill>
                            <a:latin typeface="Cambria Math" panose="02040503050406030204" pitchFamily="18" charset="0"/>
                          </a:rPr>
                        </m:ctrlPr>
                      </m:sSubSupPr>
                      <m:e>
                        <m:r>
                          <a:rPr lang="en-NZ" altLang="ja-JP" sz="1600" b="1" i="1">
                            <a:solidFill>
                              <a:schemeClr val="bg2">
                                <a:lumMod val="50000"/>
                              </a:schemeClr>
                            </a:solidFill>
                            <a:latin typeface="Cambria Math" panose="02040503050406030204" pitchFamily="18" charset="0"/>
                          </a:rPr>
                          <m:t>𝝈</m:t>
                        </m:r>
                      </m:e>
                      <m:sub>
                        <m:r>
                          <a:rPr lang="en-NZ" altLang="ja-JP" sz="1600" b="1" i="1">
                            <a:solidFill>
                              <a:schemeClr val="bg2">
                                <a:lumMod val="50000"/>
                              </a:schemeClr>
                            </a:solidFill>
                            <a:latin typeface="Cambria Math" panose="02040503050406030204" pitchFamily="18" charset="0"/>
                          </a:rPr>
                          <m:t>𝑩</m:t>
                        </m:r>
                      </m:sub>
                      <m:sup>
                        <m:r>
                          <a:rPr lang="en-NZ" altLang="ja-JP" sz="1600" b="1" i="1">
                            <a:solidFill>
                              <a:schemeClr val="bg2">
                                <a:lumMod val="50000"/>
                              </a:schemeClr>
                            </a:solidFill>
                            <a:latin typeface="Cambria Math" panose="02040503050406030204" pitchFamily="18" charset="0"/>
                          </a:rPr>
                          <m:t>𝟐</m:t>
                        </m:r>
                      </m:sup>
                    </m:sSubSup>
                    <m:r>
                      <a:rPr lang="en-NZ" altLang="ja-JP" sz="1600" b="1" i="1">
                        <a:solidFill>
                          <a:schemeClr val="bg2">
                            <a:lumMod val="50000"/>
                          </a:schemeClr>
                        </a:solidFill>
                        <a:latin typeface="Cambria Math" panose="02040503050406030204" pitchFamily="18" charset="0"/>
                      </a:rPr>
                      <m:t> )</m:t>
                    </m:r>
                  </m:oMath>
                </a14:m>
                <a:r>
                  <a:rPr kumimoji="1" lang="en-NZ" altLang="ja-JP" sz="160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 </a:t>
                </a:r>
                <a:endParaRPr kumimoji="1" lang="en-NZ" altLang="ja-JP" sz="1600" b="1" i="1" u="none" strike="noStrike" kern="1200" cap="none" spc="0" normalizeH="0" baseline="0" noProof="0" dirty="0">
                  <a:ln>
                    <a:noFill/>
                  </a:ln>
                  <a:solidFill>
                    <a:schemeClr val="bg2">
                      <a:lumMod val="50000"/>
                    </a:schemeClr>
                  </a:solidFill>
                  <a:effectLst/>
                  <a:uLnTx/>
                  <a:uFillTx/>
                  <a:latin typeface="Cambria Math" panose="02040503050406030204" pitchFamily="18" charset="0"/>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600" b="1" i="1" u="none" strike="noStrike" kern="1200" cap="none" spc="0" normalizeH="0" baseline="0" noProof="0">
                              <a:ln>
                                <a:noFill/>
                              </a:ln>
                              <a:solidFill>
                                <a:schemeClr val="bg2">
                                  <a:lumMod val="50000"/>
                                </a:schemeClr>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schemeClr val="bg2">
                                  <a:lumMod val="50000"/>
                                </a:schemeClr>
                              </a:solidFill>
                              <a:effectLst/>
                              <a:uLnTx/>
                              <a:uFillTx/>
                              <a:latin typeface="Cambria Math" panose="02040503050406030204" pitchFamily="18" charset="0"/>
                              <a:cs typeface="+mn-cs"/>
                            </a:rPr>
                            <m:t>𝝐</m:t>
                          </m:r>
                        </m:e>
                        <m:sub>
                          <m:r>
                            <a:rPr kumimoji="1" lang="en-NZ" altLang="ja-JP" sz="1600" b="1" i="1" u="none" strike="noStrike" kern="1200" cap="none" spc="0" normalizeH="0" baseline="0" noProof="0">
                              <a:ln>
                                <a:noFill/>
                              </a:ln>
                              <a:solidFill>
                                <a:schemeClr val="bg2">
                                  <a:lumMod val="50000"/>
                                </a:schemeClr>
                              </a:solidFill>
                              <a:effectLst/>
                              <a:uLnTx/>
                              <a:uFillTx/>
                              <a:latin typeface="Cambria Math" panose="02040503050406030204" pitchFamily="18" charset="0"/>
                              <a:cs typeface="+mn-cs"/>
                            </a:rPr>
                            <m:t>𝒊𝒋</m:t>
                          </m:r>
                          <m:r>
                            <a:rPr kumimoji="1" lang="en-NZ" altLang="ja-JP" sz="16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cs typeface="+mn-cs"/>
                            </a:rPr>
                            <m:t>𝒌</m:t>
                          </m:r>
                        </m:sub>
                      </m:sSub>
                      <m:r>
                        <a:rPr kumimoji="1" lang="en-NZ" altLang="ja-JP" sz="1600" b="1" i="1" u="none" strike="noStrike" kern="1200" cap="none" spc="0" normalizeH="0" baseline="0" noProof="0">
                          <a:ln>
                            <a:noFill/>
                          </a:ln>
                          <a:solidFill>
                            <a:schemeClr val="bg2">
                              <a:lumMod val="50000"/>
                            </a:schemeClr>
                          </a:solidFill>
                          <a:effectLst/>
                          <a:uLnTx/>
                          <a:uFillTx/>
                          <a:latin typeface="Cambria Math" panose="02040503050406030204" pitchFamily="18" charset="0"/>
                          <a:cs typeface="+mn-cs"/>
                        </a:rPr>
                        <m:t> ~ </m:t>
                      </m:r>
                      <m:r>
                        <a:rPr kumimoji="1" lang="en-NZ" altLang="ja-JP" sz="1600" b="1" i="1" u="none" strike="noStrike" kern="1200" cap="none" spc="0" normalizeH="0" baseline="0" noProof="0">
                          <a:ln>
                            <a:noFill/>
                          </a:ln>
                          <a:solidFill>
                            <a:schemeClr val="bg2">
                              <a:lumMod val="50000"/>
                            </a:schemeClr>
                          </a:solidFill>
                          <a:effectLst/>
                          <a:uLnTx/>
                          <a:uFillTx/>
                          <a:latin typeface="Cambria Math" panose="02040503050406030204" pitchFamily="18" charset="0"/>
                          <a:cs typeface="+mn-cs"/>
                        </a:rPr>
                        <m:t>𝑵</m:t>
                      </m:r>
                      <m:d>
                        <m:dPr>
                          <m:ctrlPr>
                            <a:rPr kumimoji="1" lang="en-NZ" altLang="ja-JP" sz="1600" b="1" i="1" u="none" strike="noStrike" kern="1200" cap="none" spc="0" normalizeH="0" baseline="0" noProof="0">
                              <a:ln>
                                <a:noFill/>
                              </a:ln>
                              <a:solidFill>
                                <a:schemeClr val="bg2">
                                  <a:lumMod val="50000"/>
                                </a:schemeClr>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a:ln>
                                <a:noFill/>
                              </a:ln>
                              <a:solidFill>
                                <a:schemeClr val="bg2">
                                  <a:lumMod val="50000"/>
                                </a:schemeClr>
                              </a:solidFill>
                              <a:effectLst/>
                              <a:uLnTx/>
                              <a:uFillTx/>
                              <a:latin typeface="Cambria Math" panose="02040503050406030204" pitchFamily="18" charset="0"/>
                              <a:cs typeface="+mn-cs"/>
                            </a:rPr>
                            <m:t>𝟎</m:t>
                          </m:r>
                          <m:r>
                            <a:rPr kumimoji="1" lang="en-NZ" altLang="ja-JP" sz="1600" b="1" i="1" u="none" strike="noStrike" kern="1200" cap="none" spc="0" normalizeH="0" baseline="0" noProof="0">
                              <a:ln>
                                <a:noFill/>
                              </a:ln>
                              <a:solidFill>
                                <a:schemeClr val="bg2">
                                  <a:lumMod val="50000"/>
                                </a:schemeClr>
                              </a:solidFill>
                              <a:effectLst/>
                              <a:uLnTx/>
                              <a:uFillTx/>
                              <a:latin typeface="Cambria Math" panose="02040503050406030204" pitchFamily="18" charset="0"/>
                              <a:cs typeface="+mn-cs"/>
                            </a:rPr>
                            <m:t>, </m:t>
                          </m:r>
                          <m:sSup>
                            <m:sSupPr>
                              <m:ctrlPr>
                                <a:rPr kumimoji="1" lang="en-NZ" altLang="ja-JP" sz="1600" b="1" i="1" u="none" strike="noStrike" kern="1200" cap="none" spc="0" normalizeH="0" baseline="0" noProof="0">
                                  <a:ln>
                                    <a:noFill/>
                                  </a:ln>
                                  <a:solidFill>
                                    <a:schemeClr val="bg2">
                                      <a:lumMod val="50000"/>
                                    </a:schemeClr>
                                  </a:solidFill>
                                  <a:effectLst/>
                                  <a:uLnTx/>
                                  <a:uFillTx/>
                                  <a:latin typeface="Cambria Math" panose="02040503050406030204" pitchFamily="18" charset="0"/>
                                  <a:cs typeface="+mn-cs"/>
                                </a:rPr>
                              </m:ctrlPr>
                            </m:sSupPr>
                            <m:e>
                              <m:r>
                                <a:rPr kumimoji="1" lang="en-NZ" altLang="ja-JP" sz="1600" b="1" i="1" u="none" strike="noStrike" kern="1200" cap="none" spc="0" normalizeH="0" baseline="0" noProof="0">
                                  <a:ln>
                                    <a:noFill/>
                                  </a:ln>
                                  <a:solidFill>
                                    <a:schemeClr val="bg2">
                                      <a:lumMod val="50000"/>
                                    </a:schemeClr>
                                  </a:solidFill>
                                  <a:effectLst/>
                                  <a:uLnTx/>
                                  <a:uFillTx/>
                                  <a:latin typeface="Cambria Math" panose="02040503050406030204" pitchFamily="18" charset="0"/>
                                  <a:cs typeface="+mn-cs"/>
                                </a:rPr>
                                <m:t>𝝈</m:t>
                              </m:r>
                            </m:e>
                            <m:sup>
                              <m:r>
                                <a:rPr kumimoji="1" lang="en-NZ" altLang="ja-JP" sz="1600" b="1" i="1" u="none" strike="noStrike" kern="1200" cap="none" spc="0" normalizeH="0" baseline="0" noProof="0">
                                  <a:ln>
                                    <a:noFill/>
                                  </a:ln>
                                  <a:solidFill>
                                    <a:schemeClr val="bg2">
                                      <a:lumMod val="50000"/>
                                    </a:schemeClr>
                                  </a:solidFill>
                                  <a:effectLst/>
                                  <a:uLnTx/>
                                  <a:uFillTx/>
                                  <a:latin typeface="Cambria Math" panose="02040503050406030204" pitchFamily="18" charset="0"/>
                                  <a:cs typeface="+mn-cs"/>
                                </a:rPr>
                                <m:t>𝟐</m:t>
                              </m:r>
                            </m:sup>
                          </m:sSup>
                        </m:e>
                      </m:d>
                    </m:oMath>
                  </m:oMathPara>
                </a14:m>
                <a:endParaRPr kumimoji="1" lang="en-NZ" altLang="ja-JP" sz="1600" b="0"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endParaRPr>
              </a:p>
            </p:txBody>
          </p:sp>
        </mc:Choice>
        <mc:Fallback xmlns="">
          <p:sp>
            <p:nvSpPr>
              <p:cNvPr id="17" name="Text Placeholder 5">
                <a:extLst>
                  <a:ext uri="{FF2B5EF4-FFF2-40B4-BE49-F238E27FC236}">
                    <a16:creationId xmlns:a16="http://schemas.microsoft.com/office/drawing/2014/main" id="{D50D709B-08F5-FB41-83E8-B571801ECD31}"/>
                  </a:ext>
                </a:extLst>
              </p:cNvPr>
              <p:cNvSpPr txBox="1">
                <a:spLocks noRot="1" noChangeAspect="1" noMove="1" noResize="1" noEditPoints="1" noAdjustHandles="1" noChangeArrowheads="1" noChangeShapeType="1" noTextEdit="1"/>
              </p:cNvSpPr>
              <p:nvPr/>
            </p:nvSpPr>
            <p:spPr>
              <a:xfrm>
                <a:off x="8561750" y="2830047"/>
                <a:ext cx="1865087" cy="763543"/>
              </a:xfrm>
              <a:prstGeom prst="rect">
                <a:avLst/>
              </a:prstGeom>
              <a:blipFill>
                <a:blip r:embed="rId8"/>
                <a:stretch>
                  <a:fillRect/>
                </a:stretch>
              </a:blipFill>
            </p:spPr>
            <p:txBody>
              <a:bodyPr/>
              <a:lstStyle/>
              <a:p>
                <a:r>
                  <a:rPr lang="en-NZ">
                    <a:noFill/>
                  </a:rPr>
                  <a:t> </a:t>
                </a:r>
              </a:p>
            </p:txBody>
          </p:sp>
        </mc:Fallback>
      </mc:AlternateContent>
      <p:sp>
        <p:nvSpPr>
          <p:cNvPr id="19" name="Text Placeholder 5">
            <a:extLst>
              <a:ext uri="{FF2B5EF4-FFF2-40B4-BE49-F238E27FC236}">
                <a16:creationId xmlns:a16="http://schemas.microsoft.com/office/drawing/2014/main" id="{9EB5501A-B301-556B-26CE-FB4F168BEA76}"/>
              </a:ext>
            </a:extLst>
          </p:cNvPr>
          <p:cNvSpPr txBox="1">
            <a:spLocks/>
          </p:cNvSpPr>
          <p:nvPr/>
        </p:nvSpPr>
        <p:spPr>
          <a:xfrm>
            <a:off x="312362" y="996728"/>
            <a:ext cx="11879638" cy="125515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prstClr val="black"/>
                </a:solidFill>
                <a:latin typeface="Calibri" panose="020F0502020204030204"/>
                <a:ea typeface="游ゴシック" panose="020B0400000000000000" pitchFamily="34" charset="-128"/>
              </a:rPr>
              <a:t>In an RBD with </a:t>
            </a:r>
            <a:r>
              <a:rPr lang="en-NZ" altLang="ja-JP" sz="1800" b="1" dirty="0">
                <a:solidFill>
                  <a:prstClr val="black"/>
                </a:solidFill>
                <a:latin typeface="Calibri" panose="020F0502020204030204"/>
                <a:ea typeface="游ゴシック" panose="020B0400000000000000" pitchFamily="34" charset="-128"/>
              </a:rPr>
              <a:t>mixed effects</a:t>
            </a:r>
            <a:r>
              <a:rPr lang="en-NZ" altLang="ja-JP" sz="1800" dirty="0">
                <a:solidFill>
                  <a:prstClr val="black"/>
                </a:solidFill>
                <a:latin typeface="Calibri" panose="020F0502020204030204"/>
                <a:ea typeface="游ゴシック" panose="020B0400000000000000" pitchFamily="34" charset="-128"/>
              </a:rPr>
              <a:t>, the response variable </a:t>
            </a:r>
            <a:r>
              <a:rPr lang="en-NZ" altLang="ja-JP" sz="1800" b="1" i="1" dirty="0">
                <a:solidFill>
                  <a:prstClr val="black"/>
                </a:solidFill>
                <a:latin typeface="Calibri" panose="020F0502020204030204"/>
                <a:ea typeface="游ゴシック" panose="020B0400000000000000" pitchFamily="34" charset="-128"/>
              </a:rPr>
              <a:t>Y</a:t>
            </a:r>
            <a:r>
              <a:rPr lang="en-NZ" altLang="ja-JP" sz="1800" dirty="0">
                <a:solidFill>
                  <a:prstClr val="black"/>
                </a:solidFill>
                <a:latin typeface="Calibri" panose="020F0502020204030204"/>
                <a:ea typeface="游ゴシック" panose="020B0400000000000000" pitchFamily="34" charset="-128"/>
              </a:rPr>
              <a:t> is modelled as a function of…</a:t>
            </a:r>
          </a:p>
          <a:p>
            <a:pPr marL="971493" lvl="1" indent="-285750" algn="just">
              <a:lnSpc>
                <a:spcPct val="100000"/>
              </a:lnSpc>
              <a:spcBef>
                <a:spcPts val="0"/>
              </a:spcBef>
              <a:buFontTx/>
              <a:buChar char="-"/>
              <a:defRPr/>
            </a:pPr>
            <a:r>
              <a:rPr lang="en-NZ" altLang="ja-JP" sz="1800" dirty="0">
                <a:solidFill>
                  <a:prstClr val="black"/>
                </a:solidFill>
                <a:latin typeface="Calibri" panose="020F0502020204030204"/>
                <a:ea typeface="游ゴシック" panose="020B0400000000000000" pitchFamily="34" charset="-128"/>
              </a:rPr>
              <a:t>a treatment factor </a:t>
            </a:r>
            <a:r>
              <a:rPr lang="en-NZ" altLang="ja-JP" sz="1800" b="1" i="1" dirty="0">
                <a:solidFill>
                  <a:prstClr val="black"/>
                </a:solidFill>
                <a:latin typeface="Calibri" panose="020F0502020204030204"/>
                <a:ea typeface="游ゴシック" panose="020B0400000000000000" pitchFamily="34" charset="-128"/>
              </a:rPr>
              <a:t>A</a:t>
            </a:r>
            <a:r>
              <a:rPr lang="en-NZ" altLang="ja-JP" sz="1800" dirty="0">
                <a:solidFill>
                  <a:prstClr val="black"/>
                </a:solidFill>
                <a:latin typeface="Calibri" panose="020F0502020204030204"/>
                <a:ea typeface="游ゴシック" panose="020B0400000000000000" pitchFamily="34" charset="-128"/>
              </a:rPr>
              <a:t> with </a:t>
            </a:r>
            <a:r>
              <a:rPr lang="en-NZ" altLang="ja-JP" sz="1800" b="1" i="1" dirty="0">
                <a:solidFill>
                  <a:prstClr val="black"/>
                </a:solidFill>
                <a:latin typeface="Calibri" panose="020F0502020204030204"/>
                <a:ea typeface="游ゴシック" panose="020B0400000000000000" pitchFamily="34" charset="-128"/>
              </a:rPr>
              <a:t>a</a:t>
            </a:r>
            <a:r>
              <a:rPr lang="en-NZ" altLang="ja-JP" sz="1800" dirty="0">
                <a:solidFill>
                  <a:prstClr val="black"/>
                </a:solidFill>
                <a:latin typeface="Calibri" panose="020F0502020204030204"/>
                <a:ea typeface="游ゴシック" panose="020B0400000000000000" pitchFamily="34" charset="-128"/>
              </a:rPr>
              <a:t> levels</a:t>
            </a:r>
          </a:p>
          <a:p>
            <a:pPr marL="971493" lvl="1" indent="-285750" algn="just">
              <a:lnSpc>
                <a:spcPct val="100000"/>
              </a:lnSpc>
              <a:spcBef>
                <a:spcPts val="0"/>
              </a:spcBef>
              <a:buFontTx/>
              <a:buChar char="-"/>
              <a:defRPr/>
            </a:pPr>
            <a:r>
              <a:rPr lang="en-NZ" altLang="ja-JP" sz="1800" dirty="0">
                <a:solidFill>
                  <a:prstClr val="black"/>
                </a:solidFill>
                <a:latin typeface="Calibri" panose="020F0502020204030204"/>
                <a:ea typeface="游ゴシック" panose="020B0400000000000000" pitchFamily="34" charset="-128"/>
              </a:rPr>
              <a:t>a random variable </a:t>
            </a:r>
            <a:r>
              <a:rPr lang="en-NZ" altLang="ja-JP" sz="1800" b="1" i="1" dirty="0">
                <a:solidFill>
                  <a:prstClr val="black"/>
                </a:solidFill>
                <a:latin typeface="Calibri" panose="020F0502020204030204"/>
                <a:ea typeface="游ゴシック" panose="020B0400000000000000" pitchFamily="34" charset="-128"/>
              </a:rPr>
              <a:t>B</a:t>
            </a:r>
            <a:r>
              <a:rPr lang="en-NZ" altLang="ja-JP" sz="1800" dirty="0">
                <a:solidFill>
                  <a:prstClr val="black"/>
                </a:solidFill>
                <a:latin typeface="Calibri" panose="020F0502020204030204"/>
                <a:ea typeface="游ゴシック" panose="020B0400000000000000" pitchFamily="34" charset="-128"/>
              </a:rPr>
              <a:t> included in the model to account for a recognised source of variation in </a:t>
            </a:r>
            <a:r>
              <a:rPr lang="en-NZ" altLang="ja-JP" sz="1800" b="1" i="1" dirty="0">
                <a:solidFill>
                  <a:prstClr val="black"/>
                </a:solidFill>
                <a:latin typeface="Calibri" panose="020F0502020204030204"/>
                <a:ea typeface="游ゴシック" panose="020B0400000000000000" pitchFamily="34" charset="-128"/>
              </a:rPr>
              <a:t>Y</a:t>
            </a:r>
            <a:r>
              <a:rPr lang="en-NZ" altLang="ja-JP" sz="1800" dirty="0">
                <a:solidFill>
                  <a:prstClr val="black"/>
                </a:solidFill>
                <a:latin typeface="Calibri" panose="020F0502020204030204"/>
                <a:ea typeface="游ゴシック" panose="020B0400000000000000" pitchFamily="34" charset="-128"/>
              </a:rPr>
              <a:t>.</a:t>
            </a:r>
          </a:p>
          <a:p>
            <a:pPr marR="0" lvl="0" algn="just" defTabSz="914324" rtl="0" eaLnBrk="1" fontAlgn="auto" latinLnBrk="0" hangingPunct="1">
              <a:lnSpc>
                <a:spcPct val="100000"/>
              </a:lnSpc>
              <a:spcBef>
                <a:spcPts val="0"/>
              </a:spcBef>
              <a:spcAft>
                <a:spcPts val="0"/>
              </a:spcAft>
              <a:buClrTx/>
              <a:buSzTx/>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factor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represents the effect of interest. The random variable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B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represents the nuisance variable we wish to control for.</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5428855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3" name="Title 6">
            <a:extLst>
              <a:ext uri="{FF2B5EF4-FFF2-40B4-BE49-F238E27FC236}">
                <a16:creationId xmlns:a16="http://schemas.microsoft.com/office/drawing/2014/main" id="{539E1FA8-24B4-FFD9-7C26-8B31D6C98125}"/>
              </a:ext>
            </a:extLst>
          </p:cNvPr>
          <p:cNvSpPr txBox="1">
            <a:spLocks/>
          </p:cNvSpPr>
          <p:nvPr/>
        </p:nvSpPr>
        <p:spPr>
          <a:xfrm>
            <a:off x="251223" y="237833"/>
            <a:ext cx="8617005" cy="607201"/>
          </a:xfrm>
          <a:prstGeom prst="rect">
            <a:avLst/>
          </a:prstGeom>
        </p:spPr>
        <p:txBody>
          <a:bodyPr anchor="t">
            <a:normAutofit fontScale="925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4.4b – Clotting Time of Blood Plasma Example</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20" name="Text Placeholder 5">
            <a:extLst>
              <a:ext uri="{FF2B5EF4-FFF2-40B4-BE49-F238E27FC236}">
                <a16:creationId xmlns:a16="http://schemas.microsoft.com/office/drawing/2014/main" id="{645ADC35-9826-E030-B40E-92F636A9B524}"/>
              </a:ext>
            </a:extLst>
          </p:cNvPr>
          <p:cNvSpPr txBox="1">
            <a:spLocks/>
          </p:cNvSpPr>
          <p:nvPr/>
        </p:nvSpPr>
        <p:spPr>
          <a:xfrm>
            <a:off x="251224" y="926136"/>
            <a:ext cx="11432776" cy="121920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rgbClr val="0070C0"/>
                </a:solidFill>
              </a:rPr>
              <a:t>The overall effects of four different treatments on the clotting time of blood plasma are to be investigated. To control for underlying differences in clotting rates among individuals, a </a:t>
            </a:r>
            <a:r>
              <a:rPr lang="en-NZ" altLang="ja-JP" sz="1800" b="1" dirty="0">
                <a:solidFill>
                  <a:srgbClr val="0070C0"/>
                </a:solidFill>
              </a:rPr>
              <a:t>mixed effects </a:t>
            </a:r>
            <a:r>
              <a:rPr lang="en-NZ" altLang="ja-JP" sz="1800" dirty="0">
                <a:solidFill>
                  <a:srgbClr val="0070C0"/>
                </a:solidFill>
              </a:rPr>
              <a:t>randomised block design was used with Subjects as blocks. Four samples of plasma were collected from eight </a:t>
            </a:r>
            <a:r>
              <a:rPr lang="en-NZ" altLang="ja-JP" sz="1800" b="1" u="sng" dirty="0">
                <a:solidFill>
                  <a:srgbClr val="0070C0"/>
                </a:solidFill>
              </a:rPr>
              <a:t>randomly selected </a:t>
            </a:r>
            <a:r>
              <a:rPr lang="en-NZ" altLang="ja-JP" sz="1800" dirty="0">
                <a:solidFill>
                  <a:srgbClr val="0070C0"/>
                </a:solidFill>
              </a:rPr>
              <a:t>subjects (the 'blocks’). The four treatments were then were assigned in random order to the four samples of each subject.</a:t>
            </a:r>
          </a:p>
        </p:txBody>
      </p:sp>
      <p:graphicFrame>
        <p:nvGraphicFramePr>
          <p:cNvPr id="2" name="Table 1">
            <a:extLst>
              <a:ext uri="{FF2B5EF4-FFF2-40B4-BE49-F238E27FC236}">
                <a16:creationId xmlns:a16="http://schemas.microsoft.com/office/drawing/2014/main" id="{B4D5750E-BCC3-8306-7AE0-EAE3FE7320B6}"/>
              </a:ext>
            </a:extLst>
          </p:cNvPr>
          <p:cNvGraphicFramePr>
            <a:graphicFrameLocks noGrp="1"/>
          </p:cNvGraphicFramePr>
          <p:nvPr>
            <p:extLst>
              <p:ext uri="{D42A27DB-BD31-4B8C-83A1-F6EECF244321}">
                <p14:modId xmlns:p14="http://schemas.microsoft.com/office/powerpoint/2010/main" val="456723983"/>
              </p:ext>
            </p:extLst>
          </p:nvPr>
        </p:nvGraphicFramePr>
        <p:xfrm>
          <a:off x="543962" y="2422390"/>
          <a:ext cx="5747658" cy="3109260"/>
        </p:xfrm>
        <a:graphic>
          <a:graphicData uri="http://schemas.openxmlformats.org/drawingml/2006/table">
            <a:tbl>
              <a:tblPr/>
              <a:tblGrid>
                <a:gridCol w="957943">
                  <a:extLst>
                    <a:ext uri="{9D8B030D-6E8A-4147-A177-3AD203B41FA5}">
                      <a16:colId xmlns:a16="http://schemas.microsoft.com/office/drawing/2014/main" val="732741230"/>
                    </a:ext>
                  </a:extLst>
                </a:gridCol>
                <a:gridCol w="957943">
                  <a:extLst>
                    <a:ext uri="{9D8B030D-6E8A-4147-A177-3AD203B41FA5}">
                      <a16:colId xmlns:a16="http://schemas.microsoft.com/office/drawing/2014/main" val="3294000327"/>
                    </a:ext>
                  </a:extLst>
                </a:gridCol>
                <a:gridCol w="957943">
                  <a:extLst>
                    <a:ext uri="{9D8B030D-6E8A-4147-A177-3AD203B41FA5}">
                      <a16:colId xmlns:a16="http://schemas.microsoft.com/office/drawing/2014/main" val="973354691"/>
                    </a:ext>
                  </a:extLst>
                </a:gridCol>
                <a:gridCol w="957943">
                  <a:extLst>
                    <a:ext uri="{9D8B030D-6E8A-4147-A177-3AD203B41FA5}">
                      <a16:colId xmlns:a16="http://schemas.microsoft.com/office/drawing/2014/main" val="1371302634"/>
                    </a:ext>
                  </a:extLst>
                </a:gridCol>
                <a:gridCol w="957943">
                  <a:extLst>
                    <a:ext uri="{9D8B030D-6E8A-4147-A177-3AD203B41FA5}">
                      <a16:colId xmlns:a16="http://schemas.microsoft.com/office/drawing/2014/main" val="3927509496"/>
                    </a:ext>
                  </a:extLst>
                </a:gridCol>
                <a:gridCol w="957943">
                  <a:extLst>
                    <a:ext uri="{9D8B030D-6E8A-4147-A177-3AD203B41FA5}">
                      <a16:colId xmlns:a16="http://schemas.microsoft.com/office/drawing/2014/main" val="4124748458"/>
                    </a:ext>
                  </a:extLst>
                </a:gridCol>
              </a:tblGrid>
              <a:tr h="310926">
                <a:tc>
                  <a:txBody>
                    <a:bodyPr/>
                    <a:lstStyle/>
                    <a:p>
                      <a:pPr algn="ctr" fontAlgn="ctr"/>
                      <a:r>
                        <a:rPr lang="en-NZ" sz="1600" b="1" i="0" u="none" strike="noStrike">
                          <a:solidFill>
                            <a:srgbClr val="FFFFFF"/>
                          </a:solidFill>
                          <a:effectLst/>
                          <a:latin typeface="Calibri" panose="020F0502020204030204" pitchFamily="34" charset="0"/>
                        </a:rPr>
                        <a:t>Subject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1" i="0" u="none" strike="noStrike">
                          <a:solidFill>
                            <a:srgbClr val="FFFFFF"/>
                          </a:solidFill>
                          <a:effectLst/>
                          <a:latin typeface="Calibri" panose="020F0502020204030204" pitchFamily="34" charset="0"/>
                        </a:rPr>
                        <a:t>T1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1" i="0" u="none" strike="noStrike">
                          <a:solidFill>
                            <a:srgbClr val="FFFFFF"/>
                          </a:solidFill>
                          <a:effectLst/>
                          <a:latin typeface="Calibri" panose="020F0502020204030204" pitchFamily="34" charset="0"/>
                        </a:rPr>
                        <a:t>T2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1" i="0" u="none" strike="noStrike">
                          <a:solidFill>
                            <a:srgbClr val="FFFFFF"/>
                          </a:solidFill>
                          <a:effectLst/>
                          <a:latin typeface="Calibri" panose="020F0502020204030204" pitchFamily="34" charset="0"/>
                        </a:rPr>
                        <a:t>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1" i="0" u="none" strike="noStrike">
                          <a:solidFill>
                            <a:srgbClr val="FFFFFF"/>
                          </a:solidFill>
                          <a:effectLst/>
                          <a:latin typeface="Calibri" panose="020F0502020204030204" pitchFamily="34" charset="0"/>
                        </a:rPr>
                        <a:t>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1" i="0" u="none" strike="noStrike">
                          <a:solidFill>
                            <a:srgbClr val="FFFFFF"/>
                          </a:solidFill>
                          <a:effectLst/>
                          <a:latin typeface="Calibri" panose="020F0502020204030204" pitchFamily="34" charset="0"/>
                        </a:rPr>
                        <a:t>Means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extLst>
                  <a:ext uri="{0D108BD9-81ED-4DB2-BD59-A6C34878D82A}">
                    <a16:rowId xmlns:a16="http://schemas.microsoft.com/office/drawing/2014/main" val="89502602"/>
                  </a:ext>
                </a:extLst>
              </a:tr>
              <a:tr h="310926">
                <a:tc>
                  <a:txBody>
                    <a:bodyPr/>
                    <a:lstStyle/>
                    <a:p>
                      <a:pPr algn="ctr" fontAlgn="ctr"/>
                      <a:r>
                        <a:rPr lang="en-NZ" sz="1600" b="0" i="0" u="none" strike="noStrike">
                          <a:solidFill>
                            <a:srgbClr val="000000"/>
                          </a:solidFill>
                          <a:effectLst/>
                          <a:latin typeface="Calibri" panose="020F0502020204030204" pitchFamily="34" charset="0"/>
                        </a:rPr>
                        <a:t>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000000"/>
                          </a:solidFill>
                          <a:effectLst/>
                          <a:latin typeface="Calibri" panose="020F0502020204030204" pitchFamily="34" charset="0"/>
                        </a:rPr>
                        <a:t>8.4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12.2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3047782756"/>
                  </a:ext>
                </a:extLst>
              </a:tr>
              <a:tr h="310926">
                <a:tc>
                  <a:txBody>
                    <a:bodyPr/>
                    <a:lstStyle/>
                    <a:p>
                      <a:pPr algn="ctr" fontAlgn="ctr"/>
                      <a:r>
                        <a:rPr lang="en-NZ" sz="1600" b="0" i="0" u="none" strike="noStrike">
                          <a:solidFill>
                            <a:srgbClr val="000000"/>
                          </a:solidFill>
                          <a:effectLst/>
                          <a:latin typeface="Calibri" panose="020F0502020204030204" pitchFamily="34" charset="0"/>
                        </a:rPr>
                        <a:t>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000000"/>
                          </a:solidFill>
                          <a:effectLst/>
                          <a:latin typeface="Calibri" panose="020F0502020204030204" pitchFamily="34" charset="0"/>
                        </a:rPr>
                        <a:t>12.8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000000"/>
                          </a:solidFill>
                          <a:effectLst/>
                          <a:latin typeface="Calibri" panose="020F0502020204030204" pitchFamily="34" charset="0"/>
                        </a:rPr>
                        <a:t>15.2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12.9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14.4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13.83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1931984307"/>
                  </a:ext>
                </a:extLst>
              </a:tr>
              <a:tr h="310926">
                <a:tc>
                  <a:txBody>
                    <a:bodyPr/>
                    <a:lstStyle/>
                    <a:p>
                      <a:pPr algn="ctr" fontAlgn="ctr"/>
                      <a:r>
                        <a:rPr lang="en-NZ" sz="1600" b="0" i="0" u="none" strike="noStrike">
                          <a:solidFill>
                            <a:srgbClr val="000000"/>
                          </a:solidFill>
                          <a:effectLst/>
                          <a:latin typeface="Calibri" panose="020F0502020204030204" pitchFamily="34" charset="0"/>
                        </a:rPr>
                        <a: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000000"/>
                          </a:solidFill>
                          <a:effectLst/>
                          <a:latin typeface="Calibri" panose="020F0502020204030204" pitchFamily="34" charset="0"/>
                        </a:rPr>
                        <a:t>9.1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000000"/>
                          </a:solidFill>
                          <a:effectLst/>
                          <a:latin typeface="Calibri" panose="020F0502020204030204" pitchFamily="34" charset="0"/>
                        </a:rPr>
                        <a:t>11.2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9.93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3488285600"/>
                  </a:ext>
                </a:extLst>
              </a:tr>
              <a:tr h="310926">
                <a:tc>
                  <a:txBody>
                    <a:bodyPr/>
                    <a:lstStyle/>
                    <a:p>
                      <a:pPr algn="ctr" fontAlgn="ctr"/>
                      <a:r>
                        <a:rPr lang="en-NZ" sz="16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8.8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000000"/>
                          </a:solidFill>
                          <a:effectLst/>
                          <a:latin typeface="Calibri" panose="020F0502020204030204" pitchFamily="34" charset="0"/>
                        </a:rPr>
                        <a:t>9.9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10.13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2293474124"/>
                  </a:ext>
                </a:extLst>
              </a:tr>
              <a:tr h="310926">
                <a:tc>
                  <a:txBody>
                    <a:bodyPr/>
                    <a:lstStyle/>
                    <a:p>
                      <a:pPr algn="ctr" fontAlgn="ctr"/>
                      <a:r>
                        <a:rPr lang="en-NZ" sz="1600" b="0" i="0" u="none" strike="noStrike">
                          <a:solidFill>
                            <a:srgbClr val="000000"/>
                          </a:solidFill>
                          <a:effectLst/>
                          <a:latin typeface="Calibri" panose="020F0502020204030204" pitchFamily="34" charset="0"/>
                        </a:rPr>
                        <a: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8.4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8.2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000000"/>
                          </a:solidFill>
                          <a:effectLst/>
                          <a:latin typeface="Calibri" panose="020F0502020204030204" pitchFamily="34" charset="0"/>
                        </a:rPr>
                        <a:t>8.5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000000"/>
                          </a:solidFill>
                          <a:effectLst/>
                          <a:latin typeface="Calibri" panose="020F0502020204030204" pitchFamily="34" charset="0"/>
                        </a:rPr>
                        <a:t>8.5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8.4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2996884694"/>
                  </a:ext>
                </a:extLst>
              </a:tr>
              <a:tr h="310926">
                <a:tc>
                  <a:txBody>
                    <a:bodyPr/>
                    <a:lstStyle/>
                    <a:p>
                      <a:pPr algn="ctr" fontAlgn="ctr"/>
                      <a:r>
                        <a:rPr lang="en-NZ" sz="16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8.6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000000"/>
                          </a:solidFill>
                          <a:effectLst/>
                          <a:latin typeface="Calibri" panose="020F0502020204030204" pitchFamily="34" charset="0"/>
                        </a:rPr>
                        <a:t>10.9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1165941705"/>
                  </a:ext>
                </a:extLst>
              </a:tr>
              <a:tr h="310926">
                <a:tc>
                  <a:txBody>
                    <a:bodyPr/>
                    <a:lstStyle/>
                    <a:p>
                      <a:pPr algn="ctr" fontAlgn="ctr"/>
                      <a:r>
                        <a:rPr lang="en-NZ" sz="1600" b="0" i="0" u="none" strike="noStrike">
                          <a:solidFill>
                            <a:srgbClr val="000000"/>
                          </a:solidFill>
                          <a:effectLst/>
                          <a:latin typeface="Calibri" panose="020F0502020204030204" pitchFamily="34" charset="0"/>
                        </a:rPr>
                        <a:t>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8.9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000000"/>
                          </a:solidFill>
                          <a:effectLst/>
                          <a:latin typeface="Calibri" panose="020F0502020204030204" pitchFamily="34" charset="0"/>
                        </a:rPr>
                        <a:t>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9.38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1313872470"/>
                  </a:ext>
                </a:extLst>
              </a:tr>
              <a:tr h="310926">
                <a:tc>
                  <a:txBody>
                    <a:bodyPr/>
                    <a:lstStyle/>
                    <a:p>
                      <a:pPr algn="ctr" fontAlgn="ctr"/>
                      <a:r>
                        <a:rPr lang="en-NZ" sz="1600" b="0" i="0" u="none" strike="noStrike">
                          <a:solidFill>
                            <a:srgbClr val="000000"/>
                          </a:solidFill>
                          <a:effectLst/>
                          <a:latin typeface="Calibri" panose="020F0502020204030204" pitchFamily="34" charset="0"/>
                        </a:rPr>
                        <a:t>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7.9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8.1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8.2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000000"/>
                          </a:solidFill>
                          <a:effectLst/>
                          <a:latin typeface="Calibri" panose="020F0502020204030204" pitchFamily="34" charset="0"/>
                        </a:rPr>
                        <a:t>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8.55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3042056422"/>
                  </a:ext>
                </a:extLst>
              </a:tr>
              <a:tr h="310926">
                <a:tc>
                  <a:txBody>
                    <a:bodyPr/>
                    <a:lstStyle/>
                    <a:p>
                      <a:pPr algn="ctr" fontAlgn="ctr"/>
                      <a:r>
                        <a:rPr lang="en-NZ" sz="1600" b="1" i="0" u="none" strike="noStrike">
                          <a:solidFill>
                            <a:srgbClr val="FFFFFF"/>
                          </a:solidFill>
                          <a:effectLst/>
                          <a:latin typeface="Calibri" panose="020F0502020204030204" pitchFamily="34" charset="0"/>
                        </a:rPr>
                        <a:t>Means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ctr"/>
                      <a:r>
                        <a:rPr lang="en-NZ" sz="1600" b="0" i="0" u="none" strike="noStrike">
                          <a:solidFill>
                            <a:srgbClr val="000000"/>
                          </a:solidFill>
                          <a:effectLst/>
                          <a:latin typeface="Calibri" panose="020F0502020204030204" pitchFamily="34" charset="0"/>
                        </a:rPr>
                        <a:t>9.3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600" b="0" i="0" u="none" strike="noStrike">
                          <a:solidFill>
                            <a:srgbClr val="000000"/>
                          </a:solidFill>
                          <a:effectLst/>
                          <a:latin typeface="Calibri" panose="020F0502020204030204" pitchFamily="34" charset="0"/>
                        </a:rPr>
                        <a:t>9.7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600" b="0" i="0" u="none" strike="noStrike">
                          <a:solidFill>
                            <a:srgbClr val="000000"/>
                          </a:solidFill>
                          <a:effectLst/>
                          <a:latin typeface="Calibri" panose="020F0502020204030204" pitchFamily="34" charset="0"/>
                        </a:rPr>
                        <a:t>9.9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600" b="0" i="0" u="none" strike="noStrike">
                          <a:solidFill>
                            <a:srgbClr val="000000"/>
                          </a:solidFill>
                          <a:effectLst/>
                          <a:latin typeface="Calibri" panose="020F0502020204030204" pitchFamily="34" charset="0"/>
                        </a:rPr>
                        <a:t>11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600" b="0" i="0" u="none" strike="noStrike" dirty="0">
                          <a:solidFill>
                            <a:srgbClr val="000000"/>
                          </a:solidFill>
                          <a:effectLst/>
                          <a:latin typeface="Calibri" panose="020F0502020204030204" pitchFamily="34" charset="0"/>
                        </a:rPr>
                        <a:t>9.99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3616700095"/>
                  </a:ext>
                </a:extLst>
              </a:tr>
            </a:tbl>
          </a:graphicData>
        </a:graphic>
      </p:graphicFrame>
      <p:sp>
        <p:nvSpPr>
          <p:cNvPr id="18" name="Text Placeholder 5">
            <a:extLst>
              <a:ext uri="{FF2B5EF4-FFF2-40B4-BE49-F238E27FC236}">
                <a16:creationId xmlns:a16="http://schemas.microsoft.com/office/drawing/2014/main" id="{D8B8520C-39E2-E027-BE80-E80F3B32311D}"/>
              </a:ext>
            </a:extLst>
          </p:cNvPr>
          <p:cNvSpPr txBox="1">
            <a:spLocks/>
          </p:cNvSpPr>
          <p:nvPr/>
        </p:nvSpPr>
        <p:spPr>
          <a:xfrm>
            <a:off x="6524495" y="2166361"/>
            <a:ext cx="5123543" cy="121920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rgbClr val="0070C0"/>
                </a:solidFill>
              </a:rPr>
              <a:t>The adjacent table shows the data (clotting time in minutes) pertaining to this experiment in ‘wide’ format. The csv data set entitled ‘plasma’ shows the same data in ‘thin’ format.</a:t>
            </a:r>
          </a:p>
        </p:txBody>
      </p:sp>
      <p:sp>
        <p:nvSpPr>
          <p:cNvPr id="19" name="Text Placeholder 5">
            <a:extLst>
              <a:ext uri="{FF2B5EF4-FFF2-40B4-BE49-F238E27FC236}">
                <a16:creationId xmlns:a16="http://schemas.microsoft.com/office/drawing/2014/main" id="{8EF4C5F9-AC55-72E2-A79F-C6E52C8D95C1}"/>
              </a:ext>
            </a:extLst>
          </p:cNvPr>
          <p:cNvSpPr txBox="1">
            <a:spLocks/>
          </p:cNvSpPr>
          <p:nvPr/>
        </p:nvSpPr>
        <p:spPr>
          <a:xfrm>
            <a:off x="6524494" y="3450666"/>
            <a:ext cx="5123543" cy="50522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rgbClr val="0070C0"/>
                </a:solidFill>
              </a:rPr>
              <a:t>Is there an effect of treatment on clotting time?</a:t>
            </a:r>
          </a:p>
          <a:p>
            <a:pPr algn="just">
              <a:lnSpc>
                <a:spcPct val="100000"/>
              </a:lnSpc>
            </a:pPr>
            <a:r>
              <a:rPr lang="en-NZ" altLang="ja-JP" sz="1600" dirty="0">
                <a:solidFill>
                  <a:srgbClr val="0070C0"/>
                </a:solidFill>
              </a:rPr>
              <a:t>What % of the variance is due to block effects and what % is due to unexplained residual variation?</a:t>
            </a:r>
          </a:p>
        </p:txBody>
      </p:sp>
      <p:sp>
        <p:nvSpPr>
          <p:cNvPr id="9" name="Text Placeholder 5">
            <a:extLst>
              <a:ext uri="{FF2B5EF4-FFF2-40B4-BE49-F238E27FC236}">
                <a16:creationId xmlns:a16="http://schemas.microsoft.com/office/drawing/2014/main" id="{399BBE64-67EC-C925-2C3B-5C2D4D315AAB}"/>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4.4 - Clotting Time of Blood Plasma (Mixed Effects RBD Example)</a:t>
            </a:r>
            <a:endParaRPr lang="en-US" altLang="ja-JP" sz="1200" b="1" i="1" dirty="0">
              <a:solidFill>
                <a:srgbClr val="C00000"/>
              </a:solidFill>
            </a:endParaRPr>
          </a:p>
        </p:txBody>
      </p:sp>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63A3F9FF-C48A-AC79-A4CE-02E78D360A25}"/>
                  </a:ext>
                </a:extLst>
              </p:cNvPr>
              <p:cNvSpPr txBox="1">
                <a:spLocks/>
              </p:cNvSpPr>
              <p:nvPr/>
            </p:nvSpPr>
            <p:spPr>
              <a:xfrm>
                <a:off x="7114489" y="5718886"/>
                <a:ext cx="3507477" cy="80144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𝑯</m:t>
                        </m:r>
                      </m:e>
                      <m:sub>
                        <m:r>
                          <a:rPr lang="en-NZ" altLang="ja-JP" sz="1600" b="1" i="1" smtClean="0">
                            <a:solidFill>
                              <a:schemeClr val="tx1"/>
                            </a:solidFill>
                            <a:latin typeface="Cambria Math" panose="02040503050406030204" pitchFamily="18" charset="0"/>
                          </a:rPr>
                          <m:t>𝟎</m:t>
                        </m:r>
                      </m:sub>
                    </m:sSub>
                    <m:r>
                      <a:rPr lang="en-NZ" altLang="ja-JP" sz="1600" b="1" i="1" smtClean="0">
                        <a:solidFill>
                          <a:schemeClr val="tx1"/>
                        </a:solidFill>
                        <a:latin typeface="Cambria Math" panose="02040503050406030204" pitchFamily="18" charset="0"/>
                      </a:rPr>
                      <m:t> :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𝜶</m:t>
                        </m:r>
                      </m:e>
                      <m:sub>
                        <m:r>
                          <a:rPr lang="en-NZ" altLang="ja-JP" sz="1600" b="1" i="1" smtClean="0">
                            <a:solidFill>
                              <a:schemeClr val="tx1"/>
                            </a:solidFill>
                            <a:latin typeface="Cambria Math" panose="02040503050406030204" pitchFamily="18" charset="0"/>
                          </a:rPr>
                          <m:t>𝒊</m:t>
                        </m:r>
                      </m:sub>
                    </m:sSub>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𝟎</m:t>
                    </m:r>
                  </m:oMath>
                </a14:m>
                <a:r>
                  <a:rPr lang="en-NZ" altLang="ja-JP" sz="16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for all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=1, …, </m:t>
                    </m:r>
                    <m:r>
                      <a:rPr lang="en-NZ" altLang="ja-JP" sz="1600" b="0" i="1" smtClean="0">
                        <a:solidFill>
                          <a:schemeClr val="tx1"/>
                        </a:solidFill>
                        <a:latin typeface="Cambria Math" panose="02040503050406030204" pitchFamily="18" charset="0"/>
                      </a:rPr>
                      <m:t>𝑎</m:t>
                    </m:r>
                  </m:oMath>
                </a14:m>
                <a:r>
                  <a:rPr lang="en-NZ" altLang="ja-JP" sz="1600" dirty="0">
                    <a:solidFill>
                      <a:schemeClr val="tx1"/>
                    </a:solidFill>
                    <a:latin typeface="Cambria Math" panose="02040503050406030204" pitchFamily="18" charset="0"/>
                  </a:rPr>
                  <a:t> </a:t>
                </a:r>
                <a:br>
                  <a:rPr lang="en-NZ" altLang="ja-JP" sz="1600" b="1" i="1" dirty="0">
                    <a:solidFill>
                      <a:schemeClr val="tx1"/>
                    </a:solidFill>
                    <a:latin typeface="Cambria Math" panose="02040503050406030204" pitchFamily="18" charset="0"/>
                  </a:rPr>
                </a:br>
                <a14:m>
                  <m:oMath xmlns:m="http://schemas.openxmlformats.org/officeDocument/2006/math">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𝑯</m:t>
                        </m:r>
                      </m:e>
                      <m:sub>
                        <m:r>
                          <a:rPr lang="en-NZ" altLang="ja-JP" sz="1600" b="1" i="1" smtClean="0">
                            <a:solidFill>
                              <a:schemeClr val="tx1"/>
                            </a:solidFill>
                            <a:latin typeface="Cambria Math" panose="02040503050406030204" pitchFamily="18" charset="0"/>
                          </a:rPr>
                          <m:t>𝟏</m:t>
                        </m:r>
                      </m:sub>
                    </m:sSub>
                    <m:r>
                      <a:rPr lang="en-NZ" altLang="ja-JP" sz="1600" b="1" i="1">
                        <a:solidFill>
                          <a:schemeClr val="tx1"/>
                        </a:solidFill>
                        <a:latin typeface="Cambria Math" panose="02040503050406030204" pitchFamily="18" charset="0"/>
                      </a:rPr>
                      <m:t> :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𝜶</m:t>
                        </m:r>
                      </m:e>
                      <m:sub>
                        <m:r>
                          <a:rPr lang="en-NZ" altLang="ja-JP" sz="1600" b="1" i="1" smtClean="0">
                            <a:solidFill>
                              <a:schemeClr val="tx1"/>
                            </a:solidFill>
                            <a:latin typeface="Cambria Math" panose="02040503050406030204" pitchFamily="18" charset="0"/>
                          </a:rPr>
                          <m:t>𝒊</m:t>
                        </m:r>
                      </m:sub>
                    </m:sSub>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𝟎</m:t>
                    </m:r>
                  </m:oMath>
                </a14:m>
                <a:r>
                  <a:rPr lang="en-NZ" altLang="ja-JP" sz="1600" b="1" dirty="0">
                    <a:solidFill>
                      <a:schemeClr val="tx1"/>
                    </a:solidFill>
                  </a:rPr>
                  <a:t>  </a:t>
                </a:r>
                <a:r>
                  <a:rPr lang="en-NZ" altLang="ja-JP" sz="1600" dirty="0">
                    <a:solidFill>
                      <a:schemeClr val="tx1"/>
                    </a:solidFill>
                  </a:rPr>
                  <a:t>for some </a:t>
                </a:r>
                <a14:m>
                  <m:oMath xmlns:m="http://schemas.openxmlformats.org/officeDocument/2006/math">
                    <m:r>
                      <a:rPr lang="en-NZ" altLang="ja-JP" sz="1600" b="0" i="1" smtClean="0">
                        <a:solidFill>
                          <a:schemeClr val="tx1"/>
                        </a:solidFill>
                        <a:latin typeface="Cambria Math" panose="02040503050406030204" pitchFamily="18" charset="0"/>
                      </a:rPr>
                      <m:t>𝑖</m:t>
                    </m:r>
                  </m:oMath>
                </a14:m>
                <a:endParaRPr lang="en-NZ" altLang="ja-JP" sz="1600" dirty="0">
                  <a:solidFill>
                    <a:schemeClr val="tx1"/>
                  </a:solidFill>
                </a:endParaRPr>
              </a:p>
            </p:txBody>
          </p:sp>
        </mc:Choice>
        <mc:Fallback xmlns="">
          <p:sp>
            <p:nvSpPr>
              <p:cNvPr id="16" name="Text Placeholder 5">
                <a:extLst>
                  <a:ext uri="{FF2B5EF4-FFF2-40B4-BE49-F238E27FC236}">
                    <a16:creationId xmlns:a16="http://schemas.microsoft.com/office/drawing/2014/main" id="{63A3F9FF-C48A-AC79-A4CE-02E78D360A25}"/>
                  </a:ext>
                </a:extLst>
              </p:cNvPr>
              <p:cNvSpPr txBox="1">
                <a:spLocks noRot="1" noChangeAspect="1" noMove="1" noResize="1" noEditPoints="1" noAdjustHandles="1" noChangeArrowheads="1" noChangeShapeType="1" noTextEdit="1"/>
              </p:cNvSpPr>
              <p:nvPr/>
            </p:nvSpPr>
            <p:spPr>
              <a:xfrm>
                <a:off x="7114489" y="5718886"/>
                <a:ext cx="3507477" cy="801442"/>
              </a:xfrm>
              <a:prstGeom prst="rect">
                <a:avLst/>
              </a:prstGeom>
              <a:blipFill>
                <a:blip r:embed="rId2"/>
                <a:stretch>
                  <a:fillRect t="-3030"/>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7" name="Text Placeholder 5">
                <a:extLst>
                  <a:ext uri="{FF2B5EF4-FFF2-40B4-BE49-F238E27FC236}">
                    <a16:creationId xmlns:a16="http://schemas.microsoft.com/office/drawing/2014/main" id="{522ADABB-C92B-23EA-B984-8EC2C7731340}"/>
                  </a:ext>
                </a:extLst>
              </p:cNvPr>
              <p:cNvSpPr txBox="1">
                <a:spLocks/>
              </p:cNvSpPr>
              <p:nvPr/>
            </p:nvSpPr>
            <p:spPr>
              <a:xfrm>
                <a:off x="6560456" y="4380344"/>
                <a:ext cx="5007430" cy="12796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Response Variable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Clotting Time</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600" b="1" dirty="0">
                    <a:solidFill>
                      <a:prstClr val="black"/>
                    </a:solidFill>
                    <a:latin typeface="Calibri" panose="020F0502020204030204"/>
                    <a:ea typeface="游ゴシック" panose="020B0400000000000000" pitchFamily="34" charset="-128"/>
                  </a:rPr>
                  <a:t>Treatment Factor (A)</a:t>
                </a:r>
                <a:r>
                  <a:rPr lang="en-NZ" altLang="ja-JP" sz="1600" dirty="0">
                    <a:solidFill>
                      <a:prstClr val="black"/>
                    </a:solidFill>
                    <a:latin typeface="Calibri" panose="020F0502020204030204"/>
                    <a:ea typeface="游ゴシック" panose="020B0400000000000000" pitchFamily="34" charset="-128"/>
                  </a:rPr>
                  <a:t>      Treatment</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Treatment Levels </a:t>
                </a:r>
                <a:r>
                  <a:rPr kumimoji="1" lang="en-NZ" altLang="ja-JP" sz="1600" b="1"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r>
                  <a:rPr lang="en-NZ" altLang="ja-JP" sz="1600" i="0" dirty="0">
                    <a:solidFill>
                      <a:prstClr val="black"/>
                    </a:solidFill>
                    <a:latin typeface="Calibri" panose="020F0502020204030204"/>
                    <a:ea typeface="游ゴシック" panose="020B0400000000000000" pitchFamily="34" charset="-128"/>
                  </a:rPr>
                  <a:t>T1, T2, T3, T4</a:t>
                </a:r>
                <a:endParaRPr kumimoji="1" lang="en-NZ" altLang="ja-JP" sz="1600" b="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600" b="1" dirty="0">
                    <a:solidFill>
                      <a:prstClr val="black"/>
                    </a:solidFill>
                    <a:latin typeface="Calibri" panose="020F0502020204030204"/>
                    <a:ea typeface="游ゴシック" panose="020B0400000000000000" pitchFamily="34" charset="-128"/>
                  </a:rPr>
                  <a:t>Blocking Factor (B)</a:t>
                </a:r>
                <a:r>
                  <a:rPr lang="en-NZ" altLang="ja-JP" sz="1600" dirty="0">
                    <a:solidFill>
                      <a:prstClr val="black"/>
                    </a:solidFill>
                    <a:latin typeface="Calibri" panose="020F0502020204030204"/>
                    <a:ea typeface="游ゴシック" panose="020B0400000000000000" pitchFamily="34" charset="-128"/>
                  </a:rPr>
                  <a:t>	    Subject </a:t>
                </a:r>
                <a14:m>
                  <m:oMath xmlns:m="http://schemas.openxmlformats.org/officeDocument/2006/math">
                    <m:r>
                      <a:rPr lang="en-NZ" altLang="ja-JP" sz="1600" b="0" i="1" smtClean="0">
                        <a:solidFill>
                          <a:prstClr val="black"/>
                        </a:solidFill>
                        <a:latin typeface="Cambria Math" panose="02040503050406030204" pitchFamily="18" charset="0"/>
                        <a:ea typeface="游ゴシック" panose="020B0400000000000000" pitchFamily="34" charset="-128"/>
                      </a:rPr>
                      <m:t>𝐵</m:t>
                    </m:r>
                    <m:r>
                      <a:rPr lang="en-NZ" altLang="ja-JP" sz="1600" b="0" i="1" smtClean="0">
                        <a:solidFill>
                          <a:prstClr val="black"/>
                        </a:solidFill>
                        <a:latin typeface="Cambria Math" panose="02040503050406030204" pitchFamily="18" charset="0"/>
                        <a:ea typeface="游ゴシック" panose="020B0400000000000000" pitchFamily="34" charset="-128"/>
                      </a:rPr>
                      <m:t> ~ </m:t>
                    </m:r>
                    <m:r>
                      <a:rPr lang="en-NZ" altLang="ja-JP" sz="1600" b="0" i="1" smtClean="0">
                        <a:solidFill>
                          <a:prstClr val="black"/>
                        </a:solidFill>
                        <a:latin typeface="Cambria Math" panose="02040503050406030204" pitchFamily="18" charset="0"/>
                        <a:ea typeface="游ゴシック" panose="020B0400000000000000" pitchFamily="34" charset="-128"/>
                      </a:rPr>
                      <m:t>𝑁</m:t>
                    </m:r>
                    <m:r>
                      <a:rPr lang="en-NZ" altLang="ja-JP" sz="1600" b="0" i="1" smtClean="0">
                        <a:solidFill>
                          <a:prstClr val="black"/>
                        </a:solidFill>
                        <a:latin typeface="Cambria Math" panose="02040503050406030204" pitchFamily="18" charset="0"/>
                        <a:ea typeface="游ゴシック" panose="020B0400000000000000" pitchFamily="34" charset="-128"/>
                      </a:rPr>
                      <m:t>( 0 , </m:t>
                    </m:r>
                    <m:sSubSup>
                      <m:sSubSupPr>
                        <m:ctrlPr>
                          <a:rPr lang="en-NZ" altLang="ja-JP" sz="1600" b="0" i="1" smtClean="0">
                            <a:solidFill>
                              <a:prstClr val="black"/>
                            </a:solidFill>
                            <a:latin typeface="Cambria Math" panose="02040503050406030204" pitchFamily="18" charset="0"/>
                            <a:ea typeface="游ゴシック" panose="020B0400000000000000" pitchFamily="34" charset="-128"/>
                          </a:rPr>
                        </m:ctrlPr>
                      </m:sSubSupPr>
                      <m:e>
                        <m:r>
                          <a:rPr lang="en-NZ" altLang="ja-JP" sz="1600" b="0" i="1" smtClean="0">
                            <a:solidFill>
                              <a:prstClr val="black"/>
                            </a:solidFill>
                            <a:latin typeface="Cambria Math" panose="02040503050406030204" pitchFamily="18" charset="0"/>
                            <a:ea typeface="游ゴシック" panose="020B0400000000000000" pitchFamily="34" charset="-128"/>
                          </a:rPr>
                          <m:t>𝜎</m:t>
                        </m:r>
                      </m:e>
                      <m:sub>
                        <m:r>
                          <a:rPr lang="en-NZ" altLang="ja-JP" sz="1600" b="0" i="1" smtClean="0">
                            <a:solidFill>
                              <a:prstClr val="black"/>
                            </a:solidFill>
                            <a:latin typeface="Cambria Math" panose="02040503050406030204" pitchFamily="18" charset="0"/>
                            <a:ea typeface="游ゴシック" panose="020B0400000000000000" pitchFamily="34" charset="-128"/>
                          </a:rPr>
                          <m:t>𝐵</m:t>
                        </m:r>
                      </m:sub>
                      <m:sup>
                        <m:r>
                          <a:rPr lang="en-NZ" altLang="ja-JP" sz="1600" b="0" i="1" smtClean="0">
                            <a:solidFill>
                              <a:prstClr val="black"/>
                            </a:solidFill>
                            <a:latin typeface="Cambria Math" panose="02040503050406030204" pitchFamily="18" charset="0"/>
                            <a:ea typeface="游ゴシック" panose="020B0400000000000000" pitchFamily="34" charset="-128"/>
                          </a:rPr>
                          <m:t>2</m:t>
                        </m:r>
                      </m:sup>
                    </m:sSubSup>
                    <m:r>
                      <a:rPr lang="en-NZ" altLang="ja-JP" sz="1600" b="0" i="1" smtClean="0">
                        <a:solidFill>
                          <a:prstClr val="black"/>
                        </a:solidFill>
                        <a:latin typeface="Cambria Math" panose="02040503050406030204" pitchFamily="18" charset="0"/>
                        <a:ea typeface="游ゴシック" panose="020B0400000000000000" pitchFamily="34" charset="-128"/>
                      </a:rPr>
                      <m:t> )</m:t>
                    </m:r>
                  </m:oMath>
                </a14:m>
                <a:endParaRPr lang="en-NZ" altLang="ja-JP" sz="1600" b="0" dirty="0">
                  <a:solidFill>
                    <a:prstClr val="black"/>
                  </a:solidFill>
                  <a:latin typeface="Calibri" panose="020F0502020204030204"/>
                  <a:ea typeface="游ゴシック" panose="020B0400000000000000" pitchFamily="34" charset="-128"/>
                </a:endParaRPr>
              </a:p>
            </p:txBody>
          </p:sp>
        </mc:Choice>
        <mc:Fallback xmlns="">
          <p:sp>
            <p:nvSpPr>
              <p:cNvPr id="17" name="Text Placeholder 5">
                <a:extLst>
                  <a:ext uri="{FF2B5EF4-FFF2-40B4-BE49-F238E27FC236}">
                    <a16:creationId xmlns:a16="http://schemas.microsoft.com/office/drawing/2014/main" id="{522ADABB-C92B-23EA-B984-8EC2C7731340}"/>
                  </a:ext>
                </a:extLst>
              </p:cNvPr>
              <p:cNvSpPr txBox="1">
                <a:spLocks noRot="1" noChangeAspect="1" noMove="1" noResize="1" noEditPoints="1" noAdjustHandles="1" noChangeArrowheads="1" noChangeShapeType="1" noTextEdit="1"/>
              </p:cNvSpPr>
              <p:nvPr/>
            </p:nvSpPr>
            <p:spPr>
              <a:xfrm>
                <a:off x="6560456" y="4380344"/>
                <a:ext cx="5007430" cy="1279644"/>
              </a:xfrm>
              <a:prstGeom prst="rect">
                <a:avLst/>
              </a:prstGeom>
              <a:blipFill>
                <a:blip r:embed="rId3"/>
                <a:stretch>
                  <a:fillRect l="-608" t="-1435"/>
                </a:stretch>
              </a:blipFill>
            </p:spPr>
            <p:txBody>
              <a:bodyPr/>
              <a:lstStyle/>
              <a:p>
                <a:r>
                  <a:rPr lang="en-NZ">
                    <a:noFill/>
                  </a:rPr>
                  <a:t> </a:t>
                </a:r>
              </a:p>
            </p:txBody>
          </p:sp>
        </mc:Fallback>
      </mc:AlternateContent>
      <p:sp>
        <p:nvSpPr>
          <p:cNvPr id="12" name="Footer Placeholder 2">
            <a:extLst>
              <a:ext uri="{FF2B5EF4-FFF2-40B4-BE49-F238E27FC236}">
                <a16:creationId xmlns:a16="http://schemas.microsoft.com/office/drawing/2014/main" id="{ABCF74C2-E4BD-96BB-8E99-8295574F91BC}"/>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4.4 – </a:t>
            </a:r>
            <a:r>
              <a:rPr kumimoji="1" lang="en-US" altLang="ja-JP" sz="1600" dirty="0">
                <a:solidFill>
                  <a:srgbClr val="DEDDDD"/>
                </a:solidFill>
                <a:latin typeface="Gidole"/>
                <a:ea typeface="游ゴシック" panose="020B0400000000000000" pitchFamily="34" charset="-128"/>
              </a:rPr>
              <a:t>Mixed Effects Model</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2673234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16" grpId="0"/>
      <p:bldP spid="17" grpId="0"/>
    </p:bld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3" name="Title 6">
            <a:extLst>
              <a:ext uri="{FF2B5EF4-FFF2-40B4-BE49-F238E27FC236}">
                <a16:creationId xmlns:a16="http://schemas.microsoft.com/office/drawing/2014/main" id="{539E1FA8-24B4-FFD9-7C26-8B31D6C98125}"/>
              </a:ext>
            </a:extLst>
          </p:cNvPr>
          <p:cNvSpPr txBox="1">
            <a:spLocks/>
          </p:cNvSpPr>
          <p:nvPr/>
        </p:nvSpPr>
        <p:spPr>
          <a:xfrm>
            <a:off x="251223" y="237833"/>
            <a:ext cx="8617005" cy="607201"/>
          </a:xfrm>
          <a:prstGeom prst="rect">
            <a:avLst/>
          </a:prstGeom>
        </p:spPr>
        <p:txBody>
          <a:bodyPr anchor="t">
            <a:normAutofit fontScale="925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4.4b – Clotting Time of Blood Plasma Example</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9" name="Text Placeholder 5">
            <a:extLst>
              <a:ext uri="{FF2B5EF4-FFF2-40B4-BE49-F238E27FC236}">
                <a16:creationId xmlns:a16="http://schemas.microsoft.com/office/drawing/2014/main" id="{399BBE64-67EC-C925-2C3B-5C2D4D315AAB}"/>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4.4 - Clotting Time of Blood Plasma (Mixed Effects RBD Example)</a:t>
            </a:r>
            <a:endParaRPr lang="en-US" altLang="ja-JP" sz="1200" b="1" i="1" dirty="0">
              <a:solidFill>
                <a:srgbClr val="C00000"/>
              </a:solidFill>
            </a:endParaRPr>
          </a:p>
        </p:txBody>
      </p:sp>
      <p:pic>
        <p:nvPicPr>
          <p:cNvPr id="4" name="Picture 3">
            <a:extLst>
              <a:ext uri="{FF2B5EF4-FFF2-40B4-BE49-F238E27FC236}">
                <a16:creationId xmlns:a16="http://schemas.microsoft.com/office/drawing/2014/main" id="{375CB1CC-C228-939E-3E29-7AE1CDCFBBB9}"/>
              </a:ext>
            </a:extLst>
          </p:cNvPr>
          <p:cNvPicPr>
            <a:picLocks noChangeAspect="1"/>
          </p:cNvPicPr>
          <p:nvPr/>
        </p:nvPicPr>
        <p:blipFill>
          <a:blip r:embed="rId2"/>
          <a:stretch>
            <a:fillRect/>
          </a:stretch>
        </p:blipFill>
        <p:spPr>
          <a:xfrm>
            <a:off x="251223" y="1012596"/>
            <a:ext cx="7680228" cy="2432272"/>
          </a:xfrm>
          <a:prstGeom prst="rect">
            <a:avLst/>
          </a:prstGeom>
        </p:spPr>
      </p:pic>
      <p:sp>
        <p:nvSpPr>
          <p:cNvPr id="14" name="Text Placeholder 5">
            <a:extLst>
              <a:ext uri="{FF2B5EF4-FFF2-40B4-BE49-F238E27FC236}">
                <a16:creationId xmlns:a16="http://schemas.microsoft.com/office/drawing/2014/main" id="{84ED77A5-6F8F-EBF2-0A72-009ED1CB6675}"/>
              </a:ext>
            </a:extLst>
          </p:cNvPr>
          <p:cNvSpPr txBox="1">
            <a:spLocks/>
          </p:cNvSpPr>
          <p:nvPr/>
        </p:nvSpPr>
        <p:spPr>
          <a:xfrm>
            <a:off x="796662" y="3902877"/>
            <a:ext cx="5104304" cy="213419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800" dirty="0">
                <a:solidFill>
                  <a:schemeClr val="tx1"/>
                </a:solidFill>
              </a:rPr>
              <a:t>Plot of residuals vs fitted values suggests non-constant variance</a:t>
            </a:r>
          </a:p>
          <a:p>
            <a:pPr>
              <a:lnSpc>
                <a:spcPct val="100000"/>
              </a:lnSpc>
            </a:pPr>
            <a:endParaRPr lang="en-NZ" altLang="ja-JP" sz="1800" dirty="0">
              <a:solidFill>
                <a:schemeClr val="tx1"/>
              </a:solidFill>
            </a:endParaRPr>
          </a:p>
          <a:p>
            <a:pPr>
              <a:lnSpc>
                <a:spcPct val="100000"/>
              </a:lnSpc>
            </a:pPr>
            <a:r>
              <a:rPr lang="en-NZ" altLang="ja-JP" sz="1800" dirty="0">
                <a:solidFill>
                  <a:schemeClr val="tx1"/>
                </a:solidFill>
              </a:rPr>
              <a:t>QQ Plot suggests non-normality at the top end of the distribution.</a:t>
            </a:r>
          </a:p>
          <a:p>
            <a:pPr algn="just">
              <a:lnSpc>
                <a:spcPct val="100000"/>
              </a:lnSpc>
            </a:pPr>
            <a:endParaRPr lang="en-NZ" altLang="ja-JP" sz="1800" b="1" dirty="0">
              <a:solidFill>
                <a:schemeClr val="tx1"/>
              </a:solidFill>
            </a:endParaRPr>
          </a:p>
          <a:p>
            <a:pPr marL="285750" indent="-285750" algn="just">
              <a:lnSpc>
                <a:spcPct val="100000"/>
              </a:lnSpc>
              <a:buFont typeface="Symbol" panose="05050102010706020507" pitchFamily="18" charset="2"/>
              <a:buChar char="Þ"/>
            </a:pPr>
            <a:r>
              <a:rPr lang="en-NZ" altLang="ja-JP" sz="1800" b="1" dirty="0">
                <a:solidFill>
                  <a:schemeClr val="tx1"/>
                </a:solidFill>
              </a:rPr>
              <a:t>ANOVA conditions unlikely to be satisfied</a:t>
            </a:r>
          </a:p>
          <a:p>
            <a:pPr marL="285750" indent="-285750" algn="just">
              <a:lnSpc>
                <a:spcPct val="100000"/>
              </a:lnSpc>
              <a:buFont typeface="Symbol" panose="05050102010706020507" pitchFamily="18" charset="2"/>
              <a:buChar char="Þ"/>
            </a:pPr>
            <a:r>
              <a:rPr lang="en-NZ" altLang="ja-JP" sz="1800" b="1" dirty="0">
                <a:solidFill>
                  <a:schemeClr val="tx1"/>
                </a:solidFill>
              </a:rPr>
              <a:t>ANOVA results likely to be invalid</a:t>
            </a:r>
          </a:p>
          <a:p>
            <a:pPr algn="just">
              <a:lnSpc>
                <a:spcPct val="100000"/>
              </a:lnSpc>
            </a:pPr>
            <a:endParaRPr lang="en-NZ" altLang="ja-JP" sz="1800" b="1" dirty="0">
              <a:solidFill>
                <a:schemeClr val="tx1"/>
              </a:solidFill>
            </a:endParaRPr>
          </a:p>
        </p:txBody>
      </p:sp>
      <p:pic>
        <p:nvPicPr>
          <p:cNvPr id="6" name="Picture 5">
            <a:extLst>
              <a:ext uri="{FF2B5EF4-FFF2-40B4-BE49-F238E27FC236}">
                <a16:creationId xmlns:a16="http://schemas.microsoft.com/office/drawing/2014/main" id="{38DCAA16-0822-FB7F-97E1-725FCE473066}"/>
              </a:ext>
            </a:extLst>
          </p:cNvPr>
          <p:cNvPicPr>
            <a:picLocks noChangeAspect="1"/>
          </p:cNvPicPr>
          <p:nvPr/>
        </p:nvPicPr>
        <p:blipFill>
          <a:blip r:embed="rId3"/>
          <a:stretch>
            <a:fillRect/>
          </a:stretch>
        </p:blipFill>
        <p:spPr>
          <a:xfrm>
            <a:off x="6915391" y="1671046"/>
            <a:ext cx="4878562" cy="3882767"/>
          </a:xfrm>
          <a:prstGeom prst="rect">
            <a:avLst/>
          </a:prstGeom>
        </p:spPr>
      </p:pic>
      <p:sp>
        <p:nvSpPr>
          <p:cNvPr id="11" name="Footer Placeholder 2">
            <a:extLst>
              <a:ext uri="{FF2B5EF4-FFF2-40B4-BE49-F238E27FC236}">
                <a16:creationId xmlns:a16="http://schemas.microsoft.com/office/drawing/2014/main" id="{9203A264-5FC6-E1C2-8B2F-E2A220D6CDD6}"/>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4.4 – </a:t>
            </a:r>
            <a:r>
              <a:rPr kumimoji="1" lang="en-US" altLang="ja-JP" sz="1600" dirty="0">
                <a:solidFill>
                  <a:srgbClr val="DEDDDD"/>
                </a:solidFill>
                <a:latin typeface="Gidole"/>
                <a:ea typeface="游ゴシック" panose="020B0400000000000000" pitchFamily="34" charset="-128"/>
              </a:rPr>
              <a:t>Mixed Effects Model</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3215857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3" name="Title 6">
            <a:extLst>
              <a:ext uri="{FF2B5EF4-FFF2-40B4-BE49-F238E27FC236}">
                <a16:creationId xmlns:a16="http://schemas.microsoft.com/office/drawing/2014/main" id="{539E1FA8-24B4-FFD9-7C26-8B31D6C98125}"/>
              </a:ext>
            </a:extLst>
          </p:cNvPr>
          <p:cNvSpPr txBox="1">
            <a:spLocks/>
          </p:cNvSpPr>
          <p:nvPr/>
        </p:nvSpPr>
        <p:spPr>
          <a:xfrm>
            <a:off x="251223" y="237833"/>
            <a:ext cx="8617005" cy="607201"/>
          </a:xfrm>
          <a:prstGeom prst="rect">
            <a:avLst/>
          </a:prstGeom>
        </p:spPr>
        <p:txBody>
          <a:bodyPr anchor="t">
            <a:normAutofit fontScale="925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4.4b – Clotting Time of Blood Plasma Example</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9" name="Text Placeholder 5">
            <a:extLst>
              <a:ext uri="{FF2B5EF4-FFF2-40B4-BE49-F238E27FC236}">
                <a16:creationId xmlns:a16="http://schemas.microsoft.com/office/drawing/2014/main" id="{399BBE64-67EC-C925-2C3B-5C2D4D315AAB}"/>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4.4 - Clotting Time of Blood Plasma (Mixed Effects RBD Example)</a:t>
            </a:r>
            <a:endParaRPr lang="en-US" altLang="ja-JP" sz="1200" b="1" i="1" dirty="0">
              <a:solidFill>
                <a:srgbClr val="C00000"/>
              </a:solidFill>
            </a:endParaRPr>
          </a:p>
        </p:txBody>
      </p:sp>
      <p:pic>
        <p:nvPicPr>
          <p:cNvPr id="3" name="Picture 2">
            <a:extLst>
              <a:ext uri="{FF2B5EF4-FFF2-40B4-BE49-F238E27FC236}">
                <a16:creationId xmlns:a16="http://schemas.microsoft.com/office/drawing/2014/main" id="{03A2678F-7AA0-9E63-3679-42674B173A24}"/>
              </a:ext>
            </a:extLst>
          </p:cNvPr>
          <p:cNvPicPr>
            <a:picLocks noChangeAspect="1"/>
          </p:cNvPicPr>
          <p:nvPr/>
        </p:nvPicPr>
        <p:blipFill>
          <a:blip r:embed="rId2"/>
          <a:stretch>
            <a:fillRect/>
          </a:stretch>
        </p:blipFill>
        <p:spPr>
          <a:xfrm>
            <a:off x="386044" y="957021"/>
            <a:ext cx="6082993" cy="841969"/>
          </a:xfrm>
          <a:prstGeom prst="rect">
            <a:avLst/>
          </a:prstGeom>
        </p:spPr>
      </p:pic>
      <p:pic>
        <p:nvPicPr>
          <p:cNvPr id="12" name="Picture 11">
            <a:extLst>
              <a:ext uri="{FF2B5EF4-FFF2-40B4-BE49-F238E27FC236}">
                <a16:creationId xmlns:a16="http://schemas.microsoft.com/office/drawing/2014/main" id="{2B30F92D-BE66-F4BC-50BC-DE25306B0AB9}"/>
              </a:ext>
            </a:extLst>
          </p:cNvPr>
          <p:cNvPicPr>
            <a:picLocks noChangeAspect="1"/>
          </p:cNvPicPr>
          <p:nvPr/>
        </p:nvPicPr>
        <p:blipFill>
          <a:blip r:embed="rId3"/>
          <a:stretch>
            <a:fillRect/>
          </a:stretch>
        </p:blipFill>
        <p:spPr>
          <a:xfrm>
            <a:off x="386045" y="1892741"/>
            <a:ext cx="6908381" cy="419668"/>
          </a:xfrm>
          <a:prstGeom prst="rect">
            <a:avLst/>
          </a:prstGeom>
        </p:spPr>
      </p:pic>
      <p:sp>
        <p:nvSpPr>
          <p:cNvPr id="16" name="Text Placeholder 5">
            <a:extLst>
              <a:ext uri="{FF2B5EF4-FFF2-40B4-BE49-F238E27FC236}">
                <a16:creationId xmlns:a16="http://schemas.microsoft.com/office/drawing/2014/main" id="{969CAD57-A197-FACB-0957-444E0BBD5D9C}"/>
              </a:ext>
            </a:extLst>
          </p:cNvPr>
          <p:cNvSpPr txBox="1">
            <a:spLocks/>
          </p:cNvSpPr>
          <p:nvPr/>
        </p:nvSpPr>
        <p:spPr>
          <a:xfrm>
            <a:off x="577801" y="2578420"/>
            <a:ext cx="5017781" cy="194049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u="sng" dirty="0">
                <a:solidFill>
                  <a:schemeClr val="bg2">
                    <a:lumMod val="25000"/>
                  </a:schemeClr>
                </a:solidFill>
              </a:rPr>
              <a:t>Analysis of Variance Table</a:t>
            </a:r>
          </a:p>
          <a:p>
            <a:pPr algn="just">
              <a:lnSpc>
                <a:spcPct val="100000"/>
              </a:lnSpc>
            </a:pPr>
            <a:endParaRPr lang="en-NZ" altLang="ja-JP" sz="1800" dirty="0">
              <a:solidFill>
                <a:schemeClr val="bg2">
                  <a:lumMod val="25000"/>
                </a:schemeClr>
              </a:solidFill>
            </a:endParaRPr>
          </a:p>
          <a:p>
            <a:pPr algn="just">
              <a:lnSpc>
                <a:spcPct val="100000"/>
              </a:lnSpc>
            </a:pPr>
            <a:r>
              <a:rPr lang="en-NZ" altLang="ja-JP" sz="1600" dirty="0">
                <a:solidFill>
                  <a:schemeClr val="bg2">
                    <a:lumMod val="25000"/>
                  </a:schemeClr>
                </a:solidFill>
              </a:rPr>
              <a:t>Response: </a:t>
            </a:r>
            <a:r>
              <a:rPr lang="en-NZ" altLang="ja-JP" sz="1600" dirty="0" err="1">
                <a:solidFill>
                  <a:schemeClr val="bg2">
                    <a:lumMod val="25000"/>
                  </a:schemeClr>
                </a:solidFill>
              </a:rPr>
              <a:t>Clottime</a:t>
            </a:r>
            <a:endParaRPr lang="en-NZ" altLang="ja-JP" sz="1600" dirty="0">
              <a:solidFill>
                <a:schemeClr val="bg2">
                  <a:lumMod val="25000"/>
                </a:schemeClr>
              </a:solidFill>
            </a:endParaRPr>
          </a:p>
          <a:p>
            <a:pPr algn="just">
              <a:lnSpc>
                <a:spcPct val="100000"/>
              </a:lnSpc>
            </a:pPr>
            <a:r>
              <a:rPr lang="en-NZ" altLang="ja-JP" sz="1600" dirty="0">
                <a:solidFill>
                  <a:schemeClr val="bg2">
                    <a:lumMod val="25000"/>
                  </a:schemeClr>
                </a:solidFill>
              </a:rPr>
              <a:t>	   </a:t>
            </a:r>
            <a:r>
              <a:rPr lang="en-NZ" altLang="ja-JP" sz="1600" dirty="0" err="1">
                <a:solidFill>
                  <a:schemeClr val="bg2">
                    <a:lumMod val="25000"/>
                  </a:schemeClr>
                </a:solidFill>
              </a:rPr>
              <a:t>numDF</a:t>
            </a:r>
            <a:r>
              <a:rPr lang="en-NZ" altLang="ja-JP" sz="1600" dirty="0">
                <a:solidFill>
                  <a:schemeClr val="bg2">
                    <a:lumMod val="25000"/>
                  </a:schemeClr>
                </a:solidFill>
              </a:rPr>
              <a:t> 	</a:t>
            </a:r>
            <a:r>
              <a:rPr lang="en-NZ" altLang="ja-JP" sz="1600" dirty="0" err="1">
                <a:solidFill>
                  <a:schemeClr val="bg2">
                    <a:lumMod val="25000"/>
                  </a:schemeClr>
                </a:solidFill>
              </a:rPr>
              <a:t>denDF</a:t>
            </a:r>
            <a:r>
              <a:rPr lang="en-NZ" altLang="ja-JP" sz="1600" dirty="0">
                <a:solidFill>
                  <a:schemeClr val="bg2">
                    <a:lumMod val="25000"/>
                  </a:schemeClr>
                </a:solidFill>
              </a:rPr>
              <a:t>   	F-value 	   p-value</a:t>
            </a:r>
          </a:p>
          <a:p>
            <a:pPr algn="just">
              <a:lnSpc>
                <a:spcPct val="100000"/>
              </a:lnSpc>
            </a:pPr>
            <a:r>
              <a:rPr lang="en-NZ" altLang="ja-JP" sz="1600" dirty="0">
                <a:solidFill>
                  <a:schemeClr val="bg2">
                    <a:lumMod val="25000"/>
                  </a:schemeClr>
                </a:solidFill>
              </a:rPr>
              <a:t>(Intercept)    1    	21 	283.23032  &lt;.0001</a:t>
            </a:r>
          </a:p>
          <a:p>
            <a:pPr algn="just">
              <a:lnSpc>
                <a:spcPct val="100000"/>
              </a:lnSpc>
            </a:pPr>
            <a:r>
              <a:rPr lang="en-NZ" altLang="ja-JP" sz="1600" dirty="0">
                <a:solidFill>
                  <a:schemeClr val="bg2">
                    <a:lumMod val="25000"/>
                  </a:schemeClr>
                </a:solidFill>
              </a:rPr>
              <a:t>Treatment     3    	21   	6.61503      0.0025</a:t>
            </a:r>
          </a:p>
          <a:p>
            <a:pPr algn="just">
              <a:lnSpc>
                <a:spcPct val="100000"/>
              </a:lnSpc>
            </a:pPr>
            <a:endParaRPr lang="en-NZ" altLang="ja-JP" sz="1800" dirty="0">
              <a:solidFill>
                <a:schemeClr val="bg2">
                  <a:lumMod val="25000"/>
                </a:schemeClr>
              </a:solidFill>
            </a:endParaRPr>
          </a:p>
        </p:txBody>
      </p:sp>
      <p:sp>
        <p:nvSpPr>
          <p:cNvPr id="17" name="Oval 16">
            <a:extLst>
              <a:ext uri="{FF2B5EF4-FFF2-40B4-BE49-F238E27FC236}">
                <a16:creationId xmlns:a16="http://schemas.microsoft.com/office/drawing/2014/main" id="{C99E3267-921E-A51C-2779-A9480CA18C4A}"/>
              </a:ext>
            </a:extLst>
          </p:cNvPr>
          <p:cNvSpPr/>
          <p:nvPr/>
        </p:nvSpPr>
        <p:spPr>
          <a:xfrm>
            <a:off x="3314685" y="3881266"/>
            <a:ext cx="1843316" cy="33107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9" name="Text Placeholder 5">
            <a:extLst>
              <a:ext uri="{FF2B5EF4-FFF2-40B4-BE49-F238E27FC236}">
                <a16:creationId xmlns:a16="http://schemas.microsoft.com/office/drawing/2014/main" id="{680A3391-2A03-7DB6-19F6-EFC2A4B5AC71}"/>
              </a:ext>
            </a:extLst>
          </p:cNvPr>
          <p:cNvSpPr txBox="1">
            <a:spLocks/>
          </p:cNvSpPr>
          <p:nvPr/>
        </p:nvSpPr>
        <p:spPr>
          <a:xfrm>
            <a:off x="386044" y="4655626"/>
            <a:ext cx="5468845" cy="152703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rgbClr val="0070C0"/>
                </a:solidFill>
              </a:rPr>
              <a:t>Very strong evidence against the null hypothesis</a:t>
            </a:r>
          </a:p>
          <a:p>
            <a:pPr algn="just">
              <a:lnSpc>
                <a:spcPct val="100000"/>
              </a:lnSpc>
            </a:pPr>
            <a:endParaRPr lang="en-NZ" altLang="ja-JP" sz="1600" dirty="0">
              <a:solidFill>
                <a:srgbClr val="0070C0"/>
              </a:solidFill>
            </a:endParaRPr>
          </a:p>
          <a:p>
            <a:pPr algn="just">
              <a:lnSpc>
                <a:spcPct val="100000"/>
              </a:lnSpc>
            </a:pPr>
            <a:r>
              <a:rPr lang="en-NZ" altLang="ja-JP" sz="1600" dirty="0">
                <a:solidFill>
                  <a:srgbClr val="0070C0"/>
                </a:solidFill>
              </a:rPr>
              <a:t>=&gt; Very strong evidence that treatment effects differ after controlling for subject-to-subject variation in clotting time</a:t>
            </a:r>
          </a:p>
          <a:p>
            <a:pPr algn="just">
              <a:lnSpc>
                <a:spcPct val="100000"/>
              </a:lnSpc>
            </a:pPr>
            <a:endParaRPr lang="en-NZ" altLang="ja-JP" sz="1600" dirty="0">
              <a:solidFill>
                <a:srgbClr val="0070C0"/>
              </a:solidFill>
            </a:endParaRPr>
          </a:p>
        </p:txBody>
      </p:sp>
      <p:cxnSp>
        <p:nvCxnSpPr>
          <p:cNvPr id="21" name="Straight Arrow Connector 20">
            <a:extLst>
              <a:ext uri="{FF2B5EF4-FFF2-40B4-BE49-F238E27FC236}">
                <a16:creationId xmlns:a16="http://schemas.microsoft.com/office/drawing/2014/main" id="{DBBBABBB-7C2E-D9C4-2877-38DEDA55F383}"/>
              </a:ext>
            </a:extLst>
          </p:cNvPr>
          <p:cNvCxnSpPr/>
          <p:nvPr/>
        </p:nvCxnSpPr>
        <p:spPr>
          <a:xfrm flipV="1">
            <a:off x="1460310" y="4212338"/>
            <a:ext cx="2379925" cy="34953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5" name="Footer Placeholder 2">
            <a:extLst>
              <a:ext uri="{FF2B5EF4-FFF2-40B4-BE49-F238E27FC236}">
                <a16:creationId xmlns:a16="http://schemas.microsoft.com/office/drawing/2014/main" id="{5AFB628D-9B63-663F-9B02-56D7DA02EA01}"/>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4.4 – </a:t>
            </a:r>
            <a:r>
              <a:rPr kumimoji="1" lang="en-US" altLang="ja-JP" sz="1600" dirty="0">
                <a:solidFill>
                  <a:srgbClr val="DEDDDD"/>
                </a:solidFill>
                <a:latin typeface="Gidole"/>
                <a:ea typeface="游ゴシック" panose="020B0400000000000000" pitchFamily="34" charset="-128"/>
              </a:rPr>
              <a:t>Mixed Effects Model</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2595741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3" name="Title 6">
            <a:extLst>
              <a:ext uri="{FF2B5EF4-FFF2-40B4-BE49-F238E27FC236}">
                <a16:creationId xmlns:a16="http://schemas.microsoft.com/office/drawing/2014/main" id="{539E1FA8-24B4-FFD9-7C26-8B31D6C98125}"/>
              </a:ext>
            </a:extLst>
          </p:cNvPr>
          <p:cNvSpPr txBox="1">
            <a:spLocks/>
          </p:cNvSpPr>
          <p:nvPr/>
        </p:nvSpPr>
        <p:spPr>
          <a:xfrm>
            <a:off x="251223" y="237833"/>
            <a:ext cx="8617005" cy="607201"/>
          </a:xfrm>
          <a:prstGeom prst="rect">
            <a:avLst/>
          </a:prstGeom>
        </p:spPr>
        <p:txBody>
          <a:bodyPr anchor="t">
            <a:normAutofit fontScale="925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4.4b – Clotting Time of Blood Plasma Example</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1" name="Text Placeholder 5">
            <a:extLst>
              <a:ext uri="{FF2B5EF4-FFF2-40B4-BE49-F238E27FC236}">
                <a16:creationId xmlns:a16="http://schemas.microsoft.com/office/drawing/2014/main" id="{CEEBAF8A-9656-8B43-BEDC-2DBCACF52901}"/>
              </a:ext>
            </a:extLst>
          </p:cNvPr>
          <p:cNvSpPr txBox="1">
            <a:spLocks/>
          </p:cNvSpPr>
          <p:nvPr/>
        </p:nvSpPr>
        <p:spPr>
          <a:xfrm>
            <a:off x="5895452" y="1808844"/>
            <a:ext cx="6030627" cy="191516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600" u="sng" dirty="0">
                <a:solidFill>
                  <a:schemeClr val="bg2">
                    <a:lumMod val="25000"/>
                  </a:schemeClr>
                </a:solidFill>
              </a:rPr>
              <a:t>Analysis of Variance Table</a:t>
            </a:r>
          </a:p>
          <a:p>
            <a:pPr>
              <a:lnSpc>
                <a:spcPct val="100000"/>
              </a:lnSpc>
            </a:pPr>
            <a:endParaRPr lang="en-NZ" altLang="ja-JP" sz="1600" dirty="0">
              <a:solidFill>
                <a:schemeClr val="bg2">
                  <a:lumMod val="25000"/>
                </a:schemeClr>
              </a:solidFill>
            </a:endParaRPr>
          </a:p>
          <a:p>
            <a:pPr>
              <a:lnSpc>
                <a:spcPct val="100000"/>
              </a:lnSpc>
            </a:pPr>
            <a:r>
              <a:rPr lang="en-NZ" altLang="ja-JP" sz="1600" dirty="0">
                <a:solidFill>
                  <a:schemeClr val="bg2">
                    <a:lumMod val="25000"/>
                  </a:schemeClr>
                </a:solidFill>
              </a:rPr>
              <a:t>Response: </a:t>
            </a:r>
            <a:r>
              <a:rPr lang="en-NZ" altLang="ja-JP" sz="1600" dirty="0" err="1">
                <a:solidFill>
                  <a:schemeClr val="bg2">
                    <a:lumMod val="25000"/>
                  </a:schemeClr>
                </a:solidFill>
              </a:rPr>
              <a:t>Clottime</a:t>
            </a:r>
            <a:endParaRPr lang="en-NZ" altLang="ja-JP" sz="1600" dirty="0">
              <a:solidFill>
                <a:schemeClr val="bg2">
                  <a:lumMod val="25000"/>
                </a:schemeClr>
              </a:solidFill>
            </a:endParaRPr>
          </a:p>
          <a:p>
            <a:pPr>
              <a:lnSpc>
                <a:spcPct val="100000"/>
              </a:lnSpc>
            </a:pPr>
            <a:r>
              <a:rPr lang="en-NZ" altLang="ja-JP" sz="1600" dirty="0">
                <a:solidFill>
                  <a:schemeClr val="bg2">
                    <a:lumMod val="25000"/>
                  </a:schemeClr>
                </a:solidFill>
              </a:rPr>
              <a:t>                     	   </a:t>
            </a:r>
            <a:r>
              <a:rPr lang="en-NZ" altLang="ja-JP" sz="1600" dirty="0" err="1">
                <a:solidFill>
                  <a:schemeClr val="bg2">
                    <a:lumMod val="25000"/>
                  </a:schemeClr>
                </a:solidFill>
              </a:rPr>
              <a:t>Df</a:t>
            </a:r>
            <a:r>
              <a:rPr lang="en-NZ" altLang="ja-JP" sz="1600" dirty="0">
                <a:solidFill>
                  <a:schemeClr val="bg2">
                    <a:lumMod val="25000"/>
                  </a:schemeClr>
                </a:solidFill>
              </a:rPr>
              <a:t>     Sum </a:t>
            </a:r>
            <a:r>
              <a:rPr lang="en-NZ" altLang="ja-JP" sz="1600" dirty="0" err="1">
                <a:solidFill>
                  <a:schemeClr val="bg2">
                    <a:lumMod val="25000"/>
                  </a:schemeClr>
                </a:solidFill>
              </a:rPr>
              <a:t>Sq</a:t>
            </a:r>
            <a:r>
              <a:rPr lang="en-NZ" altLang="ja-JP" sz="1600" dirty="0">
                <a:solidFill>
                  <a:schemeClr val="bg2">
                    <a:lumMod val="25000"/>
                  </a:schemeClr>
                </a:solidFill>
              </a:rPr>
              <a:t>     Mean </a:t>
            </a:r>
            <a:r>
              <a:rPr lang="en-NZ" altLang="ja-JP" sz="1600" dirty="0" err="1">
                <a:solidFill>
                  <a:schemeClr val="bg2">
                    <a:lumMod val="25000"/>
                  </a:schemeClr>
                </a:solidFill>
              </a:rPr>
              <a:t>Sq</a:t>
            </a:r>
            <a:r>
              <a:rPr lang="en-NZ" altLang="ja-JP" sz="1600" dirty="0">
                <a:solidFill>
                  <a:schemeClr val="bg2">
                    <a:lumMod val="25000"/>
                  </a:schemeClr>
                </a:solidFill>
              </a:rPr>
              <a:t>     F value    </a:t>
            </a:r>
            <a:r>
              <a:rPr lang="en-NZ" altLang="ja-JP" sz="1600" dirty="0" err="1">
                <a:solidFill>
                  <a:schemeClr val="bg2">
                    <a:lumMod val="25000"/>
                  </a:schemeClr>
                </a:solidFill>
              </a:rPr>
              <a:t>Pr</a:t>
            </a:r>
            <a:r>
              <a:rPr lang="en-NZ" altLang="ja-JP" sz="1600" dirty="0">
                <a:solidFill>
                  <a:schemeClr val="bg2">
                    <a:lumMod val="25000"/>
                  </a:schemeClr>
                </a:solidFill>
              </a:rPr>
              <a:t>(&gt;F)    </a:t>
            </a:r>
          </a:p>
          <a:p>
            <a:pPr>
              <a:lnSpc>
                <a:spcPct val="100000"/>
              </a:lnSpc>
            </a:pPr>
            <a:r>
              <a:rPr lang="en-NZ" altLang="ja-JP" sz="1600" dirty="0" err="1">
                <a:solidFill>
                  <a:schemeClr val="bg2">
                    <a:lumMod val="25000"/>
                  </a:schemeClr>
                </a:solidFill>
              </a:rPr>
              <a:t>as.factor</a:t>
            </a:r>
            <a:r>
              <a:rPr lang="en-NZ" altLang="ja-JP" sz="1600" dirty="0">
                <a:solidFill>
                  <a:schemeClr val="bg2">
                    <a:lumMod val="25000"/>
                  </a:schemeClr>
                </a:solidFill>
              </a:rPr>
              <a:t>(Subject)           7       78.989     11.2841       17.204    2.197e-07 </a:t>
            </a:r>
            <a:r>
              <a:rPr lang="en-NZ" altLang="ja-JP" sz="1600" dirty="0" err="1">
                <a:solidFill>
                  <a:schemeClr val="bg2">
                    <a:lumMod val="25000"/>
                  </a:schemeClr>
                </a:solidFill>
              </a:rPr>
              <a:t>as.factor</a:t>
            </a:r>
            <a:r>
              <a:rPr lang="en-NZ" altLang="ja-JP" sz="1600" dirty="0">
                <a:solidFill>
                  <a:schemeClr val="bg2">
                    <a:lumMod val="25000"/>
                  </a:schemeClr>
                </a:solidFill>
              </a:rPr>
              <a:t>(Treatment)      3      13.016      4.3388         6.615      0.00255  </a:t>
            </a:r>
          </a:p>
          <a:p>
            <a:pPr>
              <a:lnSpc>
                <a:spcPct val="100000"/>
              </a:lnSpc>
            </a:pPr>
            <a:r>
              <a:rPr lang="en-NZ" altLang="ja-JP" sz="1600" dirty="0">
                <a:solidFill>
                  <a:schemeClr val="bg2">
                    <a:lumMod val="25000"/>
                  </a:schemeClr>
                </a:solidFill>
              </a:rPr>
              <a:t>Residuals            	   21    13.774      0.6559</a:t>
            </a:r>
          </a:p>
        </p:txBody>
      </p:sp>
      <p:sp>
        <p:nvSpPr>
          <p:cNvPr id="14" name="Oval 13">
            <a:extLst>
              <a:ext uri="{FF2B5EF4-FFF2-40B4-BE49-F238E27FC236}">
                <a16:creationId xmlns:a16="http://schemas.microsoft.com/office/drawing/2014/main" id="{50915860-F30A-0075-6A7E-17BFBB3B4EFB}"/>
              </a:ext>
            </a:extLst>
          </p:cNvPr>
          <p:cNvSpPr/>
          <p:nvPr/>
        </p:nvSpPr>
        <p:spPr>
          <a:xfrm>
            <a:off x="2840416" y="3017426"/>
            <a:ext cx="2038870" cy="33107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5" name="Text Placeholder 5">
            <a:extLst>
              <a:ext uri="{FF2B5EF4-FFF2-40B4-BE49-F238E27FC236}">
                <a16:creationId xmlns:a16="http://schemas.microsoft.com/office/drawing/2014/main" id="{C79AFE68-C16E-4DB3-8692-1D1003598198}"/>
              </a:ext>
            </a:extLst>
          </p:cNvPr>
          <p:cNvSpPr txBox="1">
            <a:spLocks/>
          </p:cNvSpPr>
          <p:nvPr/>
        </p:nvSpPr>
        <p:spPr>
          <a:xfrm>
            <a:off x="297546" y="1808844"/>
            <a:ext cx="5017781" cy="194049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u="sng" dirty="0">
                <a:solidFill>
                  <a:schemeClr val="bg2">
                    <a:lumMod val="25000"/>
                  </a:schemeClr>
                </a:solidFill>
              </a:rPr>
              <a:t>Analysis of Variance Table</a:t>
            </a:r>
          </a:p>
          <a:p>
            <a:pPr algn="just">
              <a:lnSpc>
                <a:spcPct val="100000"/>
              </a:lnSpc>
            </a:pPr>
            <a:endParaRPr lang="en-NZ" altLang="ja-JP" sz="1600" dirty="0">
              <a:solidFill>
                <a:schemeClr val="bg2">
                  <a:lumMod val="25000"/>
                </a:schemeClr>
              </a:solidFill>
            </a:endParaRPr>
          </a:p>
          <a:p>
            <a:pPr algn="just">
              <a:lnSpc>
                <a:spcPct val="100000"/>
              </a:lnSpc>
            </a:pPr>
            <a:r>
              <a:rPr lang="en-NZ" altLang="ja-JP" sz="1600" dirty="0">
                <a:solidFill>
                  <a:schemeClr val="bg2">
                    <a:lumMod val="25000"/>
                  </a:schemeClr>
                </a:solidFill>
              </a:rPr>
              <a:t>Response: </a:t>
            </a:r>
            <a:r>
              <a:rPr lang="en-NZ" altLang="ja-JP" sz="1600" dirty="0" err="1">
                <a:solidFill>
                  <a:schemeClr val="bg2">
                    <a:lumMod val="25000"/>
                  </a:schemeClr>
                </a:solidFill>
              </a:rPr>
              <a:t>Clottime</a:t>
            </a:r>
            <a:endParaRPr lang="en-NZ" altLang="ja-JP" sz="1600" dirty="0">
              <a:solidFill>
                <a:schemeClr val="bg2">
                  <a:lumMod val="25000"/>
                </a:schemeClr>
              </a:solidFill>
            </a:endParaRPr>
          </a:p>
          <a:p>
            <a:pPr algn="just">
              <a:lnSpc>
                <a:spcPct val="100000"/>
              </a:lnSpc>
            </a:pPr>
            <a:r>
              <a:rPr lang="en-NZ" altLang="ja-JP" sz="1600" dirty="0">
                <a:solidFill>
                  <a:schemeClr val="bg2">
                    <a:lumMod val="25000"/>
                  </a:schemeClr>
                </a:solidFill>
              </a:rPr>
              <a:t>	   </a:t>
            </a:r>
            <a:r>
              <a:rPr lang="en-NZ" altLang="ja-JP" sz="1600" dirty="0" err="1">
                <a:solidFill>
                  <a:schemeClr val="bg2">
                    <a:lumMod val="25000"/>
                  </a:schemeClr>
                </a:solidFill>
              </a:rPr>
              <a:t>numDF</a:t>
            </a:r>
            <a:r>
              <a:rPr lang="en-NZ" altLang="ja-JP" sz="1600" dirty="0">
                <a:solidFill>
                  <a:schemeClr val="bg2">
                    <a:lumMod val="25000"/>
                  </a:schemeClr>
                </a:solidFill>
              </a:rPr>
              <a:t> 	</a:t>
            </a:r>
            <a:r>
              <a:rPr lang="en-NZ" altLang="ja-JP" sz="1600" dirty="0" err="1">
                <a:solidFill>
                  <a:schemeClr val="bg2">
                    <a:lumMod val="25000"/>
                  </a:schemeClr>
                </a:solidFill>
              </a:rPr>
              <a:t>denDF</a:t>
            </a:r>
            <a:r>
              <a:rPr lang="en-NZ" altLang="ja-JP" sz="1600" dirty="0">
                <a:solidFill>
                  <a:schemeClr val="bg2">
                    <a:lumMod val="25000"/>
                  </a:schemeClr>
                </a:solidFill>
              </a:rPr>
              <a:t>   	F-value 	   p-value</a:t>
            </a:r>
          </a:p>
          <a:p>
            <a:pPr algn="just">
              <a:lnSpc>
                <a:spcPct val="100000"/>
              </a:lnSpc>
            </a:pPr>
            <a:r>
              <a:rPr lang="en-NZ" altLang="ja-JP" sz="1600" dirty="0">
                <a:solidFill>
                  <a:schemeClr val="bg2">
                    <a:lumMod val="25000"/>
                  </a:schemeClr>
                </a:solidFill>
              </a:rPr>
              <a:t>(Intercept)    1    	21 	283.23032  &lt;.0001</a:t>
            </a:r>
          </a:p>
          <a:p>
            <a:pPr algn="just">
              <a:lnSpc>
                <a:spcPct val="100000"/>
              </a:lnSpc>
            </a:pPr>
            <a:r>
              <a:rPr lang="en-NZ" altLang="ja-JP" sz="1600" dirty="0">
                <a:solidFill>
                  <a:schemeClr val="bg2">
                    <a:lumMod val="25000"/>
                  </a:schemeClr>
                </a:solidFill>
              </a:rPr>
              <a:t>Treatment     3    	21   	6.61503      0.0025</a:t>
            </a:r>
          </a:p>
          <a:p>
            <a:pPr algn="just">
              <a:lnSpc>
                <a:spcPct val="100000"/>
              </a:lnSpc>
            </a:pPr>
            <a:endParaRPr lang="en-NZ" altLang="ja-JP" sz="1600" dirty="0">
              <a:solidFill>
                <a:schemeClr val="bg2">
                  <a:lumMod val="25000"/>
                </a:schemeClr>
              </a:solidFill>
            </a:endParaRPr>
          </a:p>
        </p:txBody>
      </p:sp>
      <p:sp>
        <p:nvSpPr>
          <p:cNvPr id="17" name="Oval 16">
            <a:extLst>
              <a:ext uri="{FF2B5EF4-FFF2-40B4-BE49-F238E27FC236}">
                <a16:creationId xmlns:a16="http://schemas.microsoft.com/office/drawing/2014/main" id="{8C7BDFE1-A393-859A-46B0-7B3BFEAE97B2}"/>
              </a:ext>
            </a:extLst>
          </p:cNvPr>
          <p:cNvSpPr/>
          <p:nvPr/>
        </p:nvSpPr>
        <p:spPr>
          <a:xfrm>
            <a:off x="9887209" y="3017426"/>
            <a:ext cx="2038870" cy="33107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8" name="Text Placeholder 5">
            <a:extLst>
              <a:ext uri="{FF2B5EF4-FFF2-40B4-BE49-F238E27FC236}">
                <a16:creationId xmlns:a16="http://schemas.microsoft.com/office/drawing/2014/main" id="{3DF0A983-E98C-A9D3-FF98-6C8C1ABEE688}"/>
              </a:ext>
            </a:extLst>
          </p:cNvPr>
          <p:cNvSpPr txBox="1">
            <a:spLocks/>
          </p:cNvSpPr>
          <p:nvPr/>
        </p:nvSpPr>
        <p:spPr>
          <a:xfrm>
            <a:off x="297546" y="1411868"/>
            <a:ext cx="5017781" cy="35197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b="1" dirty="0">
                <a:solidFill>
                  <a:schemeClr val="tx1"/>
                </a:solidFill>
              </a:rPr>
              <a:t>MIXED EFFECTS MODEL</a:t>
            </a:r>
          </a:p>
        </p:txBody>
      </p:sp>
      <p:sp>
        <p:nvSpPr>
          <p:cNvPr id="19" name="Text Placeholder 5">
            <a:extLst>
              <a:ext uri="{FF2B5EF4-FFF2-40B4-BE49-F238E27FC236}">
                <a16:creationId xmlns:a16="http://schemas.microsoft.com/office/drawing/2014/main" id="{6A6B06C4-B759-2637-70DD-7D530A24F019}"/>
              </a:ext>
            </a:extLst>
          </p:cNvPr>
          <p:cNvSpPr txBox="1">
            <a:spLocks/>
          </p:cNvSpPr>
          <p:nvPr/>
        </p:nvSpPr>
        <p:spPr>
          <a:xfrm>
            <a:off x="5895452" y="1410653"/>
            <a:ext cx="6030627" cy="35197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b="1" dirty="0">
                <a:solidFill>
                  <a:schemeClr val="tx1"/>
                </a:solidFill>
              </a:rPr>
              <a:t>FIXED EFFECTS MODEL</a:t>
            </a:r>
          </a:p>
        </p:txBody>
      </p:sp>
      <p:sp>
        <p:nvSpPr>
          <p:cNvPr id="22" name="Text Placeholder 5">
            <a:extLst>
              <a:ext uri="{FF2B5EF4-FFF2-40B4-BE49-F238E27FC236}">
                <a16:creationId xmlns:a16="http://schemas.microsoft.com/office/drawing/2014/main" id="{1383F67D-B387-D501-D0B6-A4B6A3BB43F7}"/>
              </a:ext>
            </a:extLst>
          </p:cNvPr>
          <p:cNvSpPr txBox="1">
            <a:spLocks/>
          </p:cNvSpPr>
          <p:nvPr/>
        </p:nvSpPr>
        <p:spPr>
          <a:xfrm>
            <a:off x="976401" y="4342318"/>
            <a:ext cx="10446155" cy="37810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lgn="just">
              <a:lnSpc>
                <a:spcPct val="100000"/>
              </a:lnSpc>
              <a:buFont typeface="Arial" panose="020B0604020202020204" pitchFamily="34" charset="0"/>
              <a:buChar char="•"/>
            </a:pPr>
            <a:r>
              <a:rPr lang="en-NZ" altLang="ja-JP" sz="1600" dirty="0">
                <a:solidFill>
                  <a:schemeClr val="tx1"/>
                </a:solidFill>
              </a:rPr>
              <a:t>The F-statistic, degrees of freedom and p-value will always be the same for fixed or mixed effects model. </a:t>
            </a:r>
          </a:p>
          <a:p>
            <a:pPr algn="just">
              <a:lnSpc>
                <a:spcPct val="100000"/>
              </a:lnSpc>
            </a:pPr>
            <a:endParaRPr lang="en-NZ" altLang="ja-JP" sz="1600" dirty="0">
              <a:solidFill>
                <a:schemeClr val="tx1"/>
              </a:solidFill>
            </a:endParaRPr>
          </a:p>
        </p:txBody>
      </p:sp>
      <p:sp>
        <p:nvSpPr>
          <p:cNvPr id="16" name="Text Placeholder 5">
            <a:extLst>
              <a:ext uri="{FF2B5EF4-FFF2-40B4-BE49-F238E27FC236}">
                <a16:creationId xmlns:a16="http://schemas.microsoft.com/office/drawing/2014/main" id="{5526DAE5-13E7-D41C-3F7D-E0DED7ED4B59}"/>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4.4 - Clotting Time of Blood Plasma (Mixed Effects RBD Example)</a:t>
            </a:r>
            <a:endParaRPr lang="en-US" altLang="ja-JP" sz="1200" b="1" i="1" dirty="0">
              <a:solidFill>
                <a:srgbClr val="C00000"/>
              </a:solidFill>
            </a:endParaRPr>
          </a:p>
        </p:txBody>
      </p:sp>
      <p:sp>
        <p:nvSpPr>
          <p:cNvPr id="20" name="Footer Placeholder 2">
            <a:extLst>
              <a:ext uri="{FF2B5EF4-FFF2-40B4-BE49-F238E27FC236}">
                <a16:creationId xmlns:a16="http://schemas.microsoft.com/office/drawing/2014/main" id="{282CC776-1426-96BF-C5D6-0ADAB07A6DC1}"/>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4.4 – </a:t>
            </a:r>
            <a:r>
              <a:rPr kumimoji="1" lang="en-US" altLang="ja-JP" sz="1600" dirty="0">
                <a:solidFill>
                  <a:srgbClr val="DEDDDD"/>
                </a:solidFill>
                <a:latin typeface="Gidole"/>
                <a:ea typeface="游ゴシック" panose="020B0400000000000000" pitchFamily="34" charset="-128"/>
              </a:rPr>
              <a:t>Mixed Effects Model</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21" name="Text Placeholder 5">
            <a:extLst>
              <a:ext uri="{FF2B5EF4-FFF2-40B4-BE49-F238E27FC236}">
                <a16:creationId xmlns:a16="http://schemas.microsoft.com/office/drawing/2014/main" id="{6A20A503-A366-4E27-1636-19C7CE43190D}"/>
              </a:ext>
            </a:extLst>
          </p:cNvPr>
          <p:cNvSpPr txBox="1">
            <a:spLocks/>
          </p:cNvSpPr>
          <p:nvPr/>
        </p:nvSpPr>
        <p:spPr>
          <a:xfrm>
            <a:off x="260304" y="3957685"/>
            <a:ext cx="11162252" cy="40037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In terms of treatment factor effects for the randomised block designs described in Stat 293:</a:t>
            </a:r>
            <a:endParaRPr lang="en-NZ" altLang="ja-JP" sz="1800" b="1" dirty="0">
              <a:solidFill>
                <a:schemeClr val="tx1"/>
              </a:solidFill>
            </a:endParaRPr>
          </a:p>
        </p:txBody>
      </p:sp>
      <p:sp>
        <p:nvSpPr>
          <p:cNvPr id="23" name="Text Placeholder 5">
            <a:extLst>
              <a:ext uri="{FF2B5EF4-FFF2-40B4-BE49-F238E27FC236}">
                <a16:creationId xmlns:a16="http://schemas.microsoft.com/office/drawing/2014/main" id="{A9B4DCF7-2792-BC59-5918-952FFDDA9598}"/>
              </a:ext>
            </a:extLst>
          </p:cNvPr>
          <p:cNvSpPr txBox="1">
            <a:spLocks/>
          </p:cNvSpPr>
          <p:nvPr/>
        </p:nvSpPr>
        <p:spPr>
          <a:xfrm>
            <a:off x="976401" y="4742690"/>
            <a:ext cx="10446155" cy="67534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lnSpc>
                <a:spcPct val="100000"/>
              </a:lnSpc>
              <a:buFont typeface="Arial" panose="020B0604020202020204" pitchFamily="34" charset="0"/>
              <a:buChar char="•"/>
            </a:pPr>
            <a:r>
              <a:rPr lang="en-NZ" altLang="ja-JP" sz="1600" dirty="0">
                <a:solidFill>
                  <a:schemeClr val="tx1"/>
                </a:solidFill>
              </a:rPr>
              <a:t>Only the calculation of the standard error of a treatment means will differ between model types. </a:t>
            </a:r>
            <a:br>
              <a:rPr lang="en-NZ" altLang="ja-JP" sz="1600" dirty="0">
                <a:solidFill>
                  <a:schemeClr val="tx1"/>
                </a:solidFill>
              </a:rPr>
            </a:br>
            <a:r>
              <a:rPr lang="en-NZ" altLang="ja-JP" sz="1600" dirty="0">
                <a:solidFill>
                  <a:schemeClr val="tx1"/>
                </a:solidFill>
              </a:rPr>
              <a:t>This is not of interest in Stat 293.</a:t>
            </a:r>
          </a:p>
        </p:txBody>
      </p:sp>
      <p:cxnSp>
        <p:nvCxnSpPr>
          <p:cNvPr id="3" name="Straight Connector 2">
            <a:extLst>
              <a:ext uri="{FF2B5EF4-FFF2-40B4-BE49-F238E27FC236}">
                <a16:creationId xmlns:a16="http://schemas.microsoft.com/office/drawing/2014/main" id="{2FEEA631-3AA5-0542-384C-151EDFF87BCB}"/>
              </a:ext>
            </a:extLst>
          </p:cNvPr>
          <p:cNvCxnSpPr>
            <a:cxnSpLocks/>
          </p:cNvCxnSpPr>
          <p:nvPr/>
        </p:nvCxnSpPr>
        <p:spPr>
          <a:xfrm>
            <a:off x="5571780" y="1586429"/>
            <a:ext cx="0" cy="2137577"/>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4" name="Text Placeholder 5">
            <a:extLst>
              <a:ext uri="{FF2B5EF4-FFF2-40B4-BE49-F238E27FC236}">
                <a16:creationId xmlns:a16="http://schemas.microsoft.com/office/drawing/2014/main" id="{D598AFEA-8307-5F9B-1722-B59390FDCF02}"/>
              </a:ext>
            </a:extLst>
          </p:cNvPr>
          <p:cNvSpPr txBox="1">
            <a:spLocks/>
          </p:cNvSpPr>
          <p:nvPr/>
        </p:nvSpPr>
        <p:spPr>
          <a:xfrm>
            <a:off x="297546" y="5573941"/>
            <a:ext cx="11162252" cy="67534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However, in a mixed effects model we still want to determine the proportion of variance (after allowing for treatment) that is due to block effects and the proportion due to unexplained residual variation.</a:t>
            </a:r>
            <a:endParaRPr lang="en-NZ" altLang="ja-JP" sz="1800" b="1" dirty="0">
              <a:solidFill>
                <a:schemeClr val="tx1"/>
              </a:solidFill>
            </a:endParaRPr>
          </a:p>
        </p:txBody>
      </p:sp>
      <p:sp>
        <p:nvSpPr>
          <p:cNvPr id="25" name="Text Placeholder 5">
            <a:extLst>
              <a:ext uri="{FF2B5EF4-FFF2-40B4-BE49-F238E27FC236}">
                <a16:creationId xmlns:a16="http://schemas.microsoft.com/office/drawing/2014/main" id="{D6D543B5-3CE9-22CD-A73F-71B5FC9C4CC0}"/>
              </a:ext>
            </a:extLst>
          </p:cNvPr>
          <p:cNvSpPr txBox="1">
            <a:spLocks/>
          </p:cNvSpPr>
          <p:nvPr/>
        </p:nvSpPr>
        <p:spPr>
          <a:xfrm>
            <a:off x="5895451" y="1036513"/>
            <a:ext cx="6030627" cy="31368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400" i="1" dirty="0">
                <a:solidFill>
                  <a:schemeClr val="bg2">
                    <a:lumMod val="50000"/>
                  </a:schemeClr>
                </a:solidFill>
              </a:rPr>
              <a:t>See slide 35 or the left hand side of slide 37</a:t>
            </a:r>
            <a:endParaRPr lang="en-NZ" altLang="ja-JP" sz="1400" b="1" i="1" dirty="0">
              <a:solidFill>
                <a:schemeClr val="bg2">
                  <a:lumMod val="50000"/>
                </a:schemeClr>
              </a:solidFill>
            </a:endParaRPr>
          </a:p>
        </p:txBody>
      </p:sp>
    </p:spTree>
    <p:extLst>
      <p:ext uri="{BB962C8B-B14F-4D97-AF65-F5344CB8AC3E}">
        <p14:creationId xmlns:p14="http://schemas.microsoft.com/office/powerpoint/2010/main" val="3155770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1" grpId="0"/>
      <p:bldP spid="23" grpId="0"/>
      <p:bldP spid="2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75384F9-E99A-2464-570C-61D96615276C}"/>
              </a:ext>
            </a:extLst>
          </p:cNvPr>
          <p:cNvPicPr>
            <a:picLocks noChangeAspect="1"/>
          </p:cNvPicPr>
          <p:nvPr/>
        </p:nvPicPr>
        <p:blipFill>
          <a:blip r:embed="rId2"/>
          <a:stretch>
            <a:fillRect/>
          </a:stretch>
        </p:blipFill>
        <p:spPr>
          <a:xfrm>
            <a:off x="379278" y="1577046"/>
            <a:ext cx="5118912" cy="4471213"/>
          </a:xfrm>
          <a:prstGeom prst="rect">
            <a:avLst/>
          </a:prstGeom>
        </p:spPr>
      </p:pic>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3" name="Title 6">
            <a:extLst>
              <a:ext uri="{FF2B5EF4-FFF2-40B4-BE49-F238E27FC236}">
                <a16:creationId xmlns:a16="http://schemas.microsoft.com/office/drawing/2014/main" id="{539E1FA8-24B4-FFD9-7C26-8B31D6C98125}"/>
              </a:ext>
            </a:extLst>
          </p:cNvPr>
          <p:cNvSpPr txBox="1">
            <a:spLocks/>
          </p:cNvSpPr>
          <p:nvPr/>
        </p:nvSpPr>
        <p:spPr>
          <a:xfrm>
            <a:off x="251223" y="237833"/>
            <a:ext cx="8617005" cy="607201"/>
          </a:xfrm>
          <a:prstGeom prst="rect">
            <a:avLst/>
          </a:prstGeom>
        </p:spPr>
        <p:txBody>
          <a:bodyPr anchor="t">
            <a:normAutofit fontScale="925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4.4b – Clotting Time of Blood Plasma Example</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9" name="Text Placeholder 5">
            <a:extLst>
              <a:ext uri="{FF2B5EF4-FFF2-40B4-BE49-F238E27FC236}">
                <a16:creationId xmlns:a16="http://schemas.microsoft.com/office/drawing/2014/main" id="{399BBE64-67EC-C925-2C3B-5C2D4D315AAB}"/>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4.4 - Clotting Time of Blood Plasma (Mixed Effects RBD Example)</a:t>
            </a:r>
            <a:endParaRPr lang="en-US" altLang="ja-JP" sz="1200" b="1" i="1" dirty="0">
              <a:solidFill>
                <a:srgbClr val="C00000"/>
              </a:solidFill>
            </a:endParaRPr>
          </a:p>
        </p:txBody>
      </p:sp>
      <p:pic>
        <p:nvPicPr>
          <p:cNvPr id="23" name="Picture 22">
            <a:extLst>
              <a:ext uri="{FF2B5EF4-FFF2-40B4-BE49-F238E27FC236}">
                <a16:creationId xmlns:a16="http://schemas.microsoft.com/office/drawing/2014/main" id="{C5AEB6D7-8F7A-3496-E9A3-32C72D895DBD}"/>
              </a:ext>
            </a:extLst>
          </p:cNvPr>
          <p:cNvPicPr>
            <a:picLocks noChangeAspect="1"/>
          </p:cNvPicPr>
          <p:nvPr/>
        </p:nvPicPr>
        <p:blipFill>
          <a:blip r:embed="rId3"/>
          <a:stretch>
            <a:fillRect/>
          </a:stretch>
        </p:blipFill>
        <p:spPr>
          <a:xfrm>
            <a:off x="379278" y="996728"/>
            <a:ext cx="5610225" cy="428625"/>
          </a:xfrm>
          <a:prstGeom prst="rect">
            <a:avLst/>
          </a:prstGeom>
        </p:spPr>
      </p:pic>
      <mc:AlternateContent xmlns:mc="http://schemas.openxmlformats.org/markup-compatibility/2006" xmlns:a14="http://schemas.microsoft.com/office/drawing/2010/main">
        <mc:Choice Requires="a14">
          <p:sp>
            <p:nvSpPr>
              <p:cNvPr id="27" name="Text Placeholder 5">
                <a:extLst>
                  <a:ext uri="{FF2B5EF4-FFF2-40B4-BE49-F238E27FC236}">
                    <a16:creationId xmlns:a16="http://schemas.microsoft.com/office/drawing/2014/main" id="{14DED2E4-A97A-6C3B-CD28-5D9A14EF6C28}"/>
                  </a:ext>
                </a:extLst>
              </p:cNvPr>
              <p:cNvSpPr txBox="1">
                <a:spLocks/>
              </p:cNvSpPr>
              <p:nvPr/>
            </p:nvSpPr>
            <p:spPr>
              <a:xfrm>
                <a:off x="6418001" y="2404407"/>
                <a:ext cx="5610226" cy="293519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rgbClr val="0070C0"/>
                    </a:solidFill>
                  </a:rPr>
                  <a:t>% of variance due to block effects:</a:t>
                </a:r>
              </a:p>
              <a:p>
                <a:pPr algn="ctr">
                  <a:lnSpc>
                    <a:spcPct val="100000"/>
                  </a:lnSpc>
                </a:pPr>
                <a:r>
                  <a:rPr lang="en-NZ" altLang="ja-JP" sz="1600" b="1" i="1" dirty="0">
                    <a:solidFill>
                      <a:srgbClr val="0070C0"/>
                    </a:solidFill>
                  </a:rPr>
                  <a:t> </a:t>
                </a:r>
                <a14:m>
                  <m:oMath xmlns:m="http://schemas.openxmlformats.org/officeDocument/2006/math">
                    <m:f>
                      <m:fPr>
                        <m:ctrlPr>
                          <a:rPr lang="en-NZ" altLang="ja-JP" sz="1600" b="1" i="1" smtClean="0">
                            <a:solidFill>
                              <a:srgbClr val="0070C0"/>
                            </a:solidFill>
                            <a:latin typeface="Cambria Math" panose="02040503050406030204" pitchFamily="18" charset="0"/>
                          </a:rPr>
                        </m:ctrlPr>
                      </m:fPr>
                      <m:num>
                        <m:sSubSup>
                          <m:sSubSupPr>
                            <m:ctrlPr>
                              <a:rPr lang="en-NZ" altLang="ja-JP" sz="1600" b="1" i="1" smtClean="0">
                                <a:solidFill>
                                  <a:srgbClr val="0070C0"/>
                                </a:solidFill>
                                <a:latin typeface="Cambria Math" panose="02040503050406030204" pitchFamily="18" charset="0"/>
                              </a:rPr>
                            </m:ctrlPr>
                          </m:sSubSupPr>
                          <m:e>
                            <m:acc>
                              <m:accPr>
                                <m:chr m:val="̂"/>
                                <m:ctrlPr>
                                  <a:rPr lang="en-NZ" altLang="ja-JP" sz="1600" b="1" i="1" smtClean="0">
                                    <a:solidFill>
                                      <a:srgbClr val="0070C0"/>
                                    </a:solidFill>
                                    <a:latin typeface="Cambria Math" panose="02040503050406030204" pitchFamily="18" charset="0"/>
                                  </a:rPr>
                                </m:ctrlPr>
                              </m:accPr>
                              <m:e>
                                <m:r>
                                  <a:rPr lang="en-NZ" altLang="ja-JP" sz="1600" b="1" i="1" smtClean="0">
                                    <a:solidFill>
                                      <a:srgbClr val="0070C0"/>
                                    </a:solidFill>
                                    <a:latin typeface="Cambria Math" panose="02040503050406030204" pitchFamily="18" charset="0"/>
                                  </a:rPr>
                                  <m:t>𝝈</m:t>
                                </m:r>
                              </m:e>
                            </m:acc>
                          </m:e>
                          <m:sub>
                            <m:r>
                              <a:rPr lang="en-NZ" altLang="ja-JP" sz="1600" b="1" i="1" smtClean="0">
                                <a:solidFill>
                                  <a:srgbClr val="0070C0"/>
                                </a:solidFill>
                                <a:latin typeface="Cambria Math" panose="02040503050406030204" pitchFamily="18" charset="0"/>
                              </a:rPr>
                              <m:t>𝑩</m:t>
                            </m:r>
                          </m:sub>
                          <m:sup>
                            <m:r>
                              <a:rPr lang="en-NZ" altLang="ja-JP" sz="1600" b="1" i="1" smtClean="0">
                                <a:solidFill>
                                  <a:srgbClr val="0070C0"/>
                                </a:solidFill>
                                <a:latin typeface="Cambria Math" panose="02040503050406030204" pitchFamily="18" charset="0"/>
                              </a:rPr>
                              <m:t>𝟐</m:t>
                            </m:r>
                          </m:sup>
                        </m:sSubSup>
                      </m:num>
                      <m:den>
                        <m:sSubSup>
                          <m:sSubSupPr>
                            <m:ctrlPr>
                              <a:rPr lang="en-NZ" altLang="ja-JP" sz="1600" b="1" i="1">
                                <a:solidFill>
                                  <a:srgbClr val="0070C0"/>
                                </a:solidFill>
                                <a:latin typeface="Cambria Math" panose="02040503050406030204" pitchFamily="18" charset="0"/>
                              </a:rPr>
                            </m:ctrlPr>
                          </m:sSubSupPr>
                          <m:e>
                            <m:acc>
                              <m:accPr>
                                <m:chr m:val="̂"/>
                                <m:ctrlPr>
                                  <a:rPr lang="en-NZ" altLang="ja-JP" sz="1600" b="1" i="1">
                                    <a:solidFill>
                                      <a:srgbClr val="0070C0"/>
                                    </a:solidFill>
                                    <a:latin typeface="Cambria Math" panose="02040503050406030204" pitchFamily="18" charset="0"/>
                                  </a:rPr>
                                </m:ctrlPr>
                              </m:accPr>
                              <m:e>
                                <m:r>
                                  <a:rPr lang="en-NZ" altLang="ja-JP" sz="1600" b="1" i="1">
                                    <a:solidFill>
                                      <a:srgbClr val="0070C0"/>
                                    </a:solidFill>
                                    <a:latin typeface="Cambria Math" panose="02040503050406030204" pitchFamily="18" charset="0"/>
                                  </a:rPr>
                                  <m:t>𝝈</m:t>
                                </m:r>
                              </m:e>
                            </m:acc>
                          </m:e>
                          <m:sub>
                            <m:r>
                              <a:rPr lang="en-NZ" altLang="ja-JP" sz="1600" b="1" i="1">
                                <a:solidFill>
                                  <a:srgbClr val="0070C0"/>
                                </a:solidFill>
                                <a:latin typeface="Cambria Math" panose="02040503050406030204" pitchFamily="18" charset="0"/>
                              </a:rPr>
                              <m:t>𝑩</m:t>
                            </m:r>
                          </m:sub>
                          <m:sup>
                            <m:r>
                              <a:rPr lang="en-NZ" altLang="ja-JP" sz="1600" b="1" i="1">
                                <a:solidFill>
                                  <a:srgbClr val="0070C0"/>
                                </a:solidFill>
                                <a:latin typeface="Cambria Math" panose="02040503050406030204" pitchFamily="18" charset="0"/>
                              </a:rPr>
                              <m:t>𝟐</m:t>
                            </m:r>
                          </m:sup>
                        </m:sSubSup>
                        <m:r>
                          <a:rPr lang="en-NZ" altLang="ja-JP" sz="1600" b="1" i="1" smtClean="0">
                            <a:solidFill>
                              <a:srgbClr val="0070C0"/>
                            </a:solidFill>
                            <a:latin typeface="Cambria Math" panose="02040503050406030204" pitchFamily="18" charset="0"/>
                          </a:rPr>
                          <m:t> +  </m:t>
                        </m:r>
                        <m:sSup>
                          <m:sSupPr>
                            <m:ctrlPr>
                              <a:rPr lang="en-NZ" altLang="ja-JP" sz="1600" b="1" i="1" smtClean="0">
                                <a:solidFill>
                                  <a:srgbClr val="0070C0"/>
                                </a:solidFill>
                                <a:latin typeface="Cambria Math" panose="02040503050406030204" pitchFamily="18" charset="0"/>
                              </a:rPr>
                            </m:ctrlPr>
                          </m:sSupPr>
                          <m:e>
                            <m:acc>
                              <m:accPr>
                                <m:chr m:val="̂"/>
                                <m:ctrlPr>
                                  <a:rPr lang="en-NZ" altLang="ja-JP" sz="1600" b="1" i="1" smtClean="0">
                                    <a:solidFill>
                                      <a:srgbClr val="0070C0"/>
                                    </a:solidFill>
                                    <a:latin typeface="Cambria Math" panose="02040503050406030204" pitchFamily="18" charset="0"/>
                                  </a:rPr>
                                </m:ctrlPr>
                              </m:accPr>
                              <m:e>
                                <m:r>
                                  <a:rPr lang="en-NZ" altLang="ja-JP" sz="1600" b="1" i="1" smtClean="0">
                                    <a:solidFill>
                                      <a:srgbClr val="0070C0"/>
                                    </a:solidFill>
                                    <a:latin typeface="Cambria Math" panose="02040503050406030204" pitchFamily="18" charset="0"/>
                                  </a:rPr>
                                  <m:t>𝝈</m:t>
                                </m:r>
                              </m:e>
                            </m:acc>
                          </m:e>
                          <m:sup>
                            <m:r>
                              <a:rPr lang="en-NZ" altLang="ja-JP" sz="1600" b="1" i="1" smtClean="0">
                                <a:solidFill>
                                  <a:srgbClr val="0070C0"/>
                                </a:solidFill>
                                <a:latin typeface="Cambria Math" panose="02040503050406030204" pitchFamily="18" charset="0"/>
                              </a:rPr>
                              <m:t>𝟐</m:t>
                            </m:r>
                          </m:sup>
                        </m:sSup>
                      </m:den>
                    </m:f>
                    <m:r>
                      <a:rPr lang="en-NZ" altLang="ja-JP" sz="1600" b="0" i="0" smtClean="0">
                        <a:solidFill>
                          <a:srgbClr val="0070C0"/>
                        </a:solidFill>
                        <a:latin typeface="Cambria Math" panose="02040503050406030204" pitchFamily="18" charset="0"/>
                      </a:rPr>
                      <m:t> =  </m:t>
                    </m:r>
                    <m:f>
                      <m:fPr>
                        <m:ctrlPr>
                          <a:rPr lang="en-NZ" altLang="ja-JP" sz="1600" i="1" smtClean="0">
                            <a:solidFill>
                              <a:srgbClr val="0070C0"/>
                            </a:solidFill>
                            <a:latin typeface="Cambria Math" panose="02040503050406030204" pitchFamily="18" charset="0"/>
                          </a:rPr>
                        </m:ctrlPr>
                      </m:fPr>
                      <m:num>
                        <m:r>
                          <a:rPr lang="en-NZ" altLang="ja-JP" sz="1600" b="0" i="0">
                            <a:solidFill>
                              <a:srgbClr val="0070C0"/>
                            </a:solidFill>
                            <a:latin typeface="Cambria Math" panose="02040503050406030204" pitchFamily="18" charset="0"/>
                          </a:rPr>
                          <m:t>1.63004</m:t>
                        </m:r>
                        <m:sSup>
                          <m:sSupPr>
                            <m:ctrlPr>
                              <a:rPr lang="en-NZ" altLang="ja-JP" sz="1600" i="1">
                                <a:solidFill>
                                  <a:srgbClr val="0070C0"/>
                                </a:solidFill>
                                <a:latin typeface="Cambria Math" panose="02040503050406030204" pitchFamily="18" charset="0"/>
                              </a:rPr>
                            </m:ctrlPr>
                          </m:sSupPr>
                          <m:e>
                            <m:r>
                              <a:rPr lang="en-NZ" altLang="ja-JP" sz="1600" b="0" i="0">
                                <a:solidFill>
                                  <a:srgbClr val="0070C0"/>
                                </a:solidFill>
                                <a:latin typeface="Cambria Math" panose="02040503050406030204" pitchFamily="18" charset="0"/>
                              </a:rPr>
                              <m:t>7</m:t>
                            </m:r>
                          </m:e>
                          <m:sup>
                            <m:r>
                              <a:rPr lang="en-NZ" altLang="ja-JP" sz="1600" b="0" i="0">
                                <a:solidFill>
                                  <a:srgbClr val="0070C0"/>
                                </a:solidFill>
                                <a:latin typeface="Cambria Math" panose="02040503050406030204" pitchFamily="18" charset="0"/>
                              </a:rPr>
                              <m:t>2</m:t>
                            </m:r>
                          </m:sup>
                        </m:sSup>
                      </m:num>
                      <m:den>
                        <m:r>
                          <a:rPr lang="en-NZ" altLang="ja-JP" sz="1600" b="0" i="0">
                            <a:solidFill>
                              <a:srgbClr val="0070C0"/>
                            </a:solidFill>
                            <a:latin typeface="Cambria Math" panose="02040503050406030204" pitchFamily="18" charset="0"/>
                          </a:rPr>
                          <m:t>1.63004</m:t>
                        </m:r>
                        <m:sSup>
                          <m:sSupPr>
                            <m:ctrlPr>
                              <a:rPr lang="en-NZ" altLang="ja-JP" sz="1600" i="1">
                                <a:solidFill>
                                  <a:srgbClr val="0070C0"/>
                                </a:solidFill>
                                <a:latin typeface="Cambria Math" panose="02040503050406030204" pitchFamily="18" charset="0"/>
                              </a:rPr>
                            </m:ctrlPr>
                          </m:sSupPr>
                          <m:e>
                            <m:r>
                              <a:rPr lang="en-NZ" altLang="ja-JP" sz="1600" b="0" i="0">
                                <a:solidFill>
                                  <a:srgbClr val="0070C0"/>
                                </a:solidFill>
                                <a:latin typeface="Cambria Math" panose="02040503050406030204" pitchFamily="18" charset="0"/>
                              </a:rPr>
                              <m:t>7</m:t>
                            </m:r>
                          </m:e>
                          <m:sup>
                            <m:r>
                              <a:rPr lang="en-NZ" altLang="ja-JP" sz="1600" b="0" i="0">
                                <a:solidFill>
                                  <a:srgbClr val="0070C0"/>
                                </a:solidFill>
                                <a:latin typeface="Cambria Math" panose="02040503050406030204" pitchFamily="18" charset="0"/>
                              </a:rPr>
                              <m:t>2</m:t>
                            </m:r>
                          </m:sup>
                        </m:sSup>
                        <m:r>
                          <a:rPr lang="en-NZ" altLang="ja-JP" sz="1600" b="0" i="0" smtClean="0">
                            <a:solidFill>
                              <a:srgbClr val="0070C0"/>
                            </a:solidFill>
                            <a:latin typeface="Cambria Math" panose="02040503050406030204" pitchFamily="18" charset="0"/>
                          </a:rPr>
                          <m:t> + </m:t>
                        </m:r>
                        <m:r>
                          <a:rPr lang="en-NZ" altLang="ja-JP" sz="1600" b="0" i="0">
                            <a:solidFill>
                              <a:srgbClr val="0070C0"/>
                            </a:solidFill>
                            <a:latin typeface="Cambria Math" panose="02040503050406030204" pitchFamily="18" charset="0"/>
                          </a:rPr>
                          <m:t>0.809872</m:t>
                        </m:r>
                        <m:sSup>
                          <m:sSupPr>
                            <m:ctrlPr>
                              <a:rPr lang="en-NZ" altLang="ja-JP" sz="1600" i="1">
                                <a:solidFill>
                                  <a:srgbClr val="0070C0"/>
                                </a:solidFill>
                                <a:latin typeface="Cambria Math" panose="02040503050406030204" pitchFamily="18" charset="0"/>
                              </a:rPr>
                            </m:ctrlPr>
                          </m:sSupPr>
                          <m:e>
                            <m:r>
                              <a:rPr lang="en-NZ" altLang="ja-JP" sz="1600" b="0" i="0">
                                <a:solidFill>
                                  <a:srgbClr val="0070C0"/>
                                </a:solidFill>
                                <a:latin typeface="Cambria Math" panose="02040503050406030204" pitchFamily="18" charset="0"/>
                              </a:rPr>
                              <m:t>1</m:t>
                            </m:r>
                          </m:e>
                          <m:sup>
                            <m:r>
                              <a:rPr lang="en-NZ" altLang="ja-JP" sz="1600" b="0" i="0">
                                <a:solidFill>
                                  <a:srgbClr val="0070C0"/>
                                </a:solidFill>
                                <a:latin typeface="Cambria Math" panose="02040503050406030204" pitchFamily="18" charset="0"/>
                              </a:rPr>
                              <m:t>2</m:t>
                            </m:r>
                          </m:sup>
                        </m:sSup>
                      </m:den>
                    </m:f>
                  </m:oMath>
                </a14:m>
                <a:r>
                  <a:rPr lang="en-NZ" altLang="ja-JP" sz="1600" dirty="0">
                    <a:solidFill>
                      <a:srgbClr val="0070C0"/>
                    </a:solidFill>
                  </a:rPr>
                  <a:t>  =  80.2%</a:t>
                </a:r>
              </a:p>
              <a:p>
                <a:pPr algn="just">
                  <a:lnSpc>
                    <a:spcPct val="100000"/>
                  </a:lnSpc>
                </a:pPr>
                <a:endParaRPr lang="en-NZ" altLang="ja-JP" sz="1600" dirty="0">
                  <a:solidFill>
                    <a:srgbClr val="0070C0"/>
                  </a:solidFill>
                </a:endParaRPr>
              </a:p>
              <a:p>
                <a:pPr algn="just">
                  <a:lnSpc>
                    <a:spcPct val="100000"/>
                  </a:lnSpc>
                </a:pPr>
                <a:endParaRPr lang="en-NZ" altLang="ja-JP" sz="1600" dirty="0">
                  <a:solidFill>
                    <a:srgbClr val="0070C0"/>
                  </a:solidFill>
                </a:endParaRPr>
              </a:p>
              <a:p>
                <a:pPr>
                  <a:lnSpc>
                    <a:spcPct val="100000"/>
                  </a:lnSpc>
                </a:pPr>
                <a:r>
                  <a:rPr lang="en-NZ" altLang="ja-JP" sz="1600" dirty="0">
                    <a:solidFill>
                      <a:srgbClr val="0070C0"/>
                    </a:solidFill>
                  </a:rPr>
                  <a:t>% of variance due to residual unexplained variation</a:t>
                </a:r>
              </a:p>
              <a:p>
                <a:pPr algn="ctr">
                  <a:lnSpc>
                    <a:spcPct val="100000"/>
                  </a:lnSpc>
                </a:pPr>
                <a:r>
                  <a:rPr lang="en-NZ" altLang="ja-JP" sz="1600" dirty="0">
                    <a:solidFill>
                      <a:srgbClr val="0070C0"/>
                    </a:solidFill>
                  </a:rPr>
                  <a:t> </a:t>
                </a:r>
                <a14:m>
                  <m:oMath xmlns:m="http://schemas.openxmlformats.org/officeDocument/2006/math">
                    <m:f>
                      <m:fPr>
                        <m:ctrlPr>
                          <a:rPr lang="en-NZ" altLang="ja-JP" sz="1600" b="1" i="1">
                            <a:solidFill>
                              <a:srgbClr val="0070C0"/>
                            </a:solidFill>
                            <a:latin typeface="Cambria Math" panose="02040503050406030204" pitchFamily="18" charset="0"/>
                          </a:rPr>
                        </m:ctrlPr>
                      </m:fPr>
                      <m:num>
                        <m:sSup>
                          <m:sSupPr>
                            <m:ctrlPr>
                              <a:rPr lang="en-NZ" altLang="ja-JP" sz="1600" b="1" i="1">
                                <a:solidFill>
                                  <a:srgbClr val="0070C0"/>
                                </a:solidFill>
                                <a:latin typeface="Cambria Math" panose="02040503050406030204" pitchFamily="18" charset="0"/>
                              </a:rPr>
                            </m:ctrlPr>
                          </m:sSupPr>
                          <m:e>
                            <m:acc>
                              <m:accPr>
                                <m:chr m:val="̂"/>
                                <m:ctrlPr>
                                  <a:rPr lang="en-NZ" altLang="ja-JP" sz="1600" b="1" i="1">
                                    <a:solidFill>
                                      <a:srgbClr val="0070C0"/>
                                    </a:solidFill>
                                    <a:latin typeface="Cambria Math" panose="02040503050406030204" pitchFamily="18" charset="0"/>
                                  </a:rPr>
                                </m:ctrlPr>
                              </m:accPr>
                              <m:e>
                                <m:r>
                                  <a:rPr lang="en-NZ" altLang="ja-JP" sz="1600" b="1" i="1">
                                    <a:solidFill>
                                      <a:srgbClr val="0070C0"/>
                                    </a:solidFill>
                                    <a:latin typeface="Cambria Math" panose="02040503050406030204" pitchFamily="18" charset="0"/>
                                  </a:rPr>
                                  <m:t>𝝈</m:t>
                                </m:r>
                              </m:e>
                            </m:acc>
                          </m:e>
                          <m:sup>
                            <m:r>
                              <a:rPr lang="en-NZ" altLang="ja-JP" sz="1600" b="1" i="1">
                                <a:solidFill>
                                  <a:srgbClr val="0070C0"/>
                                </a:solidFill>
                                <a:latin typeface="Cambria Math" panose="02040503050406030204" pitchFamily="18" charset="0"/>
                              </a:rPr>
                              <m:t>𝟐</m:t>
                            </m:r>
                          </m:sup>
                        </m:sSup>
                      </m:num>
                      <m:den>
                        <m:sSubSup>
                          <m:sSubSupPr>
                            <m:ctrlPr>
                              <a:rPr lang="en-NZ" altLang="ja-JP" sz="1600" b="1" i="1">
                                <a:solidFill>
                                  <a:srgbClr val="0070C0"/>
                                </a:solidFill>
                                <a:latin typeface="Cambria Math" panose="02040503050406030204" pitchFamily="18" charset="0"/>
                              </a:rPr>
                            </m:ctrlPr>
                          </m:sSubSupPr>
                          <m:e>
                            <m:acc>
                              <m:accPr>
                                <m:chr m:val="̂"/>
                                <m:ctrlPr>
                                  <a:rPr lang="en-NZ" altLang="ja-JP" sz="1600" b="1" i="1">
                                    <a:solidFill>
                                      <a:srgbClr val="0070C0"/>
                                    </a:solidFill>
                                    <a:latin typeface="Cambria Math" panose="02040503050406030204" pitchFamily="18" charset="0"/>
                                  </a:rPr>
                                </m:ctrlPr>
                              </m:accPr>
                              <m:e>
                                <m:r>
                                  <a:rPr lang="en-NZ" altLang="ja-JP" sz="1600" b="1" i="1">
                                    <a:solidFill>
                                      <a:srgbClr val="0070C0"/>
                                    </a:solidFill>
                                    <a:latin typeface="Cambria Math" panose="02040503050406030204" pitchFamily="18" charset="0"/>
                                  </a:rPr>
                                  <m:t>𝝈</m:t>
                                </m:r>
                              </m:e>
                            </m:acc>
                          </m:e>
                          <m:sub>
                            <m:r>
                              <a:rPr lang="en-NZ" altLang="ja-JP" sz="1600" b="1" i="1">
                                <a:solidFill>
                                  <a:srgbClr val="0070C0"/>
                                </a:solidFill>
                                <a:latin typeface="Cambria Math" panose="02040503050406030204" pitchFamily="18" charset="0"/>
                              </a:rPr>
                              <m:t>𝑩</m:t>
                            </m:r>
                          </m:sub>
                          <m:sup>
                            <m:r>
                              <a:rPr lang="en-NZ" altLang="ja-JP" sz="1600" b="1" i="1">
                                <a:solidFill>
                                  <a:srgbClr val="0070C0"/>
                                </a:solidFill>
                                <a:latin typeface="Cambria Math" panose="02040503050406030204" pitchFamily="18" charset="0"/>
                              </a:rPr>
                              <m:t>𝟐</m:t>
                            </m:r>
                          </m:sup>
                        </m:sSubSup>
                        <m:r>
                          <a:rPr lang="en-NZ" altLang="ja-JP" sz="1600" b="1" i="1">
                            <a:solidFill>
                              <a:srgbClr val="0070C0"/>
                            </a:solidFill>
                            <a:latin typeface="Cambria Math" panose="02040503050406030204" pitchFamily="18" charset="0"/>
                          </a:rPr>
                          <m:t> +  </m:t>
                        </m:r>
                        <m:sSup>
                          <m:sSupPr>
                            <m:ctrlPr>
                              <a:rPr lang="en-NZ" altLang="ja-JP" sz="1600" b="1" i="1">
                                <a:solidFill>
                                  <a:srgbClr val="0070C0"/>
                                </a:solidFill>
                                <a:latin typeface="Cambria Math" panose="02040503050406030204" pitchFamily="18" charset="0"/>
                              </a:rPr>
                            </m:ctrlPr>
                          </m:sSupPr>
                          <m:e>
                            <m:acc>
                              <m:accPr>
                                <m:chr m:val="̂"/>
                                <m:ctrlPr>
                                  <a:rPr lang="en-NZ" altLang="ja-JP" sz="1600" b="1" i="1">
                                    <a:solidFill>
                                      <a:srgbClr val="0070C0"/>
                                    </a:solidFill>
                                    <a:latin typeface="Cambria Math" panose="02040503050406030204" pitchFamily="18" charset="0"/>
                                  </a:rPr>
                                </m:ctrlPr>
                              </m:accPr>
                              <m:e>
                                <m:r>
                                  <a:rPr lang="en-NZ" altLang="ja-JP" sz="1600" b="1" i="1">
                                    <a:solidFill>
                                      <a:srgbClr val="0070C0"/>
                                    </a:solidFill>
                                    <a:latin typeface="Cambria Math" panose="02040503050406030204" pitchFamily="18" charset="0"/>
                                  </a:rPr>
                                  <m:t>𝝈</m:t>
                                </m:r>
                              </m:e>
                            </m:acc>
                          </m:e>
                          <m:sup>
                            <m:r>
                              <a:rPr lang="en-NZ" altLang="ja-JP" sz="1600" b="1" i="1">
                                <a:solidFill>
                                  <a:srgbClr val="0070C0"/>
                                </a:solidFill>
                                <a:latin typeface="Cambria Math" panose="02040503050406030204" pitchFamily="18" charset="0"/>
                              </a:rPr>
                              <m:t>𝟐</m:t>
                            </m:r>
                          </m:sup>
                        </m:sSup>
                      </m:den>
                    </m:f>
                    <m:r>
                      <a:rPr lang="en-NZ" altLang="ja-JP" sz="1600" b="0" i="0">
                        <a:solidFill>
                          <a:srgbClr val="0070C0"/>
                        </a:solidFill>
                        <a:latin typeface="Cambria Math" panose="02040503050406030204" pitchFamily="18" charset="0"/>
                      </a:rPr>
                      <m:t> =</m:t>
                    </m:r>
                    <m:f>
                      <m:fPr>
                        <m:ctrlPr>
                          <a:rPr lang="en-NZ" altLang="ja-JP" sz="1600" i="1">
                            <a:solidFill>
                              <a:srgbClr val="0070C0"/>
                            </a:solidFill>
                            <a:latin typeface="Cambria Math" panose="02040503050406030204" pitchFamily="18" charset="0"/>
                          </a:rPr>
                        </m:ctrlPr>
                      </m:fPr>
                      <m:num>
                        <m:r>
                          <a:rPr lang="en-NZ" altLang="ja-JP" sz="1600" b="0" i="0">
                            <a:solidFill>
                              <a:srgbClr val="0070C0"/>
                            </a:solidFill>
                            <a:latin typeface="Cambria Math" panose="02040503050406030204" pitchFamily="18" charset="0"/>
                          </a:rPr>
                          <m:t>0.809872</m:t>
                        </m:r>
                        <m:sSup>
                          <m:sSupPr>
                            <m:ctrlPr>
                              <a:rPr lang="en-NZ" altLang="ja-JP" sz="1600" i="1">
                                <a:solidFill>
                                  <a:srgbClr val="0070C0"/>
                                </a:solidFill>
                                <a:latin typeface="Cambria Math" panose="02040503050406030204" pitchFamily="18" charset="0"/>
                              </a:rPr>
                            </m:ctrlPr>
                          </m:sSupPr>
                          <m:e>
                            <m:r>
                              <a:rPr lang="en-NZ" altLang="ja-JP" sz="1600" b="0" i="0">
                                <a:solidFill>
                                  <a:srgbClr val="0070C0"/>
                                </a:solidFill>
                                <a:latin typeface="Cambria Math" panose="02040503050406030204" pitchFamily="18" charset="0"/>
                              </a:rPr>
                              <m:t>1</m:t>
                            </m:r>
                          </m:e>
                          <m:sup>
                            <m:r>
                              <a:rPr lang="en-NZ" altLang="ja-JP" sz="1600" b="0" i="0">
                                <a:solidFill>
                                  <a:srgbClr val="0070C0"/>
                                </a:solidFill>
                                <a:latin typeface="Cambria Math" panose="02040503050406030204" pitchFamily="18" charset="0"/>
                              </a:rPr>
                              <m:t>2</m:t>
                            </m:r>
                          </m:sup>
                        </m:sSup>
                      </m:num>
                      <m:den>
                        <m:r>
                          <a:rPr lang="en-NZ" altLang="ja-JP" sz="1600" b="0" i="0">
                            <a:solidFill>
                              <a:srgbClr val="0070C0"/>
                            </a:solidFill>
                            <a:latin typeface="Cambria Math" panose="02040503050406030204" pitchFamily="18" charset="0"/>
                          </a:rPr>
                          <m:t>1.63004</m:t>
                        </m:r>
                        <m:sSup>
                          <m:sSupPr>
                            <m:ctrlPr>
                              <a:rPr lang="en-NZ" altLang="ja-JP" sz="1600" i="1">
                                <a:solidFill>
                                  <a:srgbClr val="0070C0"/>
                                </a:solidFill>
                                <a:latin typeface="Cambria Math" panose="02040503050406030204" pitchFamily="18" charset="0"/>
                              </a:rPr>
                            </m:ctrlPr>
                          </m:sSupPr>
                          <m:e>
                            <m:r>
                              <a:rPr lang="en-NZ" altLang="ja-JP" sz="1600" b="0" i="0">
                                <a:solidFill>
                                  <a:srgbClr val="0070C0"/>
                                </a:solidFill>
                                <a:latin typeface="Cambria Math" panose="02040503050406030204" pitchFamily="18" charset="0"/>
                              </a:rPr>
                              <m:t>7</m:t>
                            </m:r>
                          </m:e>
                          <m:sup>
                            <m:r>
                              <a:rPr lang="en-NZ" altLang="ja-JP" sz="1600" b="0" i="0">
                                <a:solidFill>
                                  <a:srgbClr val="0070C0"/>
                                </a:solidFill>
                                <a:latin typeface="Cambria Math" panose="02040503050406030204" pitchFamily="18" charset="0"/>
                              </a:rPr>
                              <m:t>2</m:t>
                            </m:r>
                          </m:sup>
                        </m:sSup>
                        <m:r>
                          <a:rPr lang="en-NZ" altLang="ja-JP" sz="1600" b="0" i="0">
                            <a:solidFill>
                              <a:srgbClr val="0070C0"/>
                            </a:solidFill>
                            <a:latin typeface="Cambria Math" panose="02040503050406030204" pitchFamily="18" charset="0"/>
                          </a:rPr>
                          <m:t> + 0.809872</m:t>
                        </m:r>
                        <m:sSup>
                          <m:sSupPr>
                            <m:ctrlPr>
                              <a:rPr lang="en-NZ" altLang="ja-JP" sz="1600" i="1">
                                <a:solidFill>
                                  <a:srgbClr val="0070C0"/>
                                </a:solidFill>
                                <a:latin typeface="Cambria Math" panose="02040503050406030204" pitchFamily="18" charset="0"/>
                              </a:rPr>
                            </m:ctrlPr>
                          </m:sSupPr>
                          <m:e>
                            <m:r>
                              <a:rPr lang="en-NZ" altLang="ja-JP" sz="1600" b="0" i="0">
                                <a:solidFill>
                                  <a:srgbClr val="0070C0"/>
                                </a:solidFill>
                                <a:latin typeface="Cambria Math" panose="02040503050406030204" pitchFamily="18" charset="0"/>
                              </a:rPr>
                              <m:t>1</m:t>
                            </m:r>
                          </m:e>
                          <m:sup>
                            <m:r>
                              <a:rPr lang="en-NZ" altLang="ja-JP" sz="1600" b="0" i="0">
                                <a:solidFill>
                                  <a:srgbClr val="0070C0"/>
                                </a:solidFill>
                                <a:latin typeface="Cambria Math" panose="02040503050406030204" pitchFamily="18" charset="0"/>
                              </a:rPr>
                              <m:t>2</m:t>
                            </m:r>
                          </m:sup>
                        </m:sSup>
                      </m:den>
                    </m:f>
                  </m:oMath>
                </a14:m>
                <a:r>
                  <a:rPr lang="en-NZ" altLang="ja-JP" sz="1600" dirty="0">
                    <a:solidFill>
                      <a:srgbClr val="0070C0"/>
                    </a:solidFill>
                  </a:rPr>
                  <a:t>  =  19.8%</a:t>
                </a:r>
              </a:p>
              <a:p>
                <a:pPr algn="ctr">
                  <a:lnSpc>
                    <a:spcPct val="100000"/>
                  </a:lnSpc>
                </a:pPr>
                <a:endParaRPr lang="en-NZ" altLang="ja-JP" sz="1600" b="1" dirty="0">
                  <a:solidFill>
                    <a:srgbClr val="0070C0"/>
                  </a:solidFill>
                </a:endParaRPr>
              </a:p>
              <a:p>
                <a:pPr algn="ctr">
                  <a:lnSpc>
                    <a:spcPct val="100000"/>
                  </a:lnSpc>
                </a:pPr>
                <a:endParaRPr lang="en-NZ" altLang="ja-JP" sz="1600" b="1" dirty="0">
                  <a:solidFill>
                    <a:srgbClr val="0070C0"/>
                  </a:solidFill>
                </a:endParaRPr>
              </a:p>
              <a:p>
                <a:pPr>
                  <a:lnSpc>
                    <a:spcPct val="100000"/>
                  </a:lnSpc>
                </a:pPr>
                <a:r>
                  <a:rPr lang="en-NZ" altLang="ja-JP" sz="1600" dirty="0">
                    <a:solidFill>
                      <a:srgbClr val="0070C0"/>
                    </a:solidFill>
                  </a:rPr>
                  <a:t>=&gt; Very low proportion of the variance in the data is due to unexplained residual variation</a:t>
                </a:r>
              </a:p>
            </p:txBody>
          </p:sp>
        </mc:Choice>
        <mc:Fallback xmlns="">
          <p:sp>
            <p:nvSpPr>
              <p:cNvPr id="27" name="Text Placeholder 5">
                <a:extLst>
                  <a:ext uri="{FF2B5EF4-FFF2-40B4-BE49-F238E27FC236}">
                    <a16:creationId xmlns:a16="http://schemas.microsoft.com/office/drawing/2014/main" id="{14DED2E4-A97A-6C3B-CD28-5D9A14EF6C28}"/>
                  </a:ext>
                </a:extLst>
              </p:cNvPr>
              <p:cNvSpPr txBox="1">
                <a:spLocks noRot="1" noChangeAspect="1" noMove="1" noResize="1" noEditPoints="1" noAdjustHandles="1" noChangeArrowheads="1" noChangeShapeType="1" noTextEdit="1"/>
              </p:cNvSpPr>
              <p:nvPr/>
            </p:nvSpPr>
            <p:spPr>
              <a:xfrm>
                <a:off x="6418001" y="2404407"/>
                <a:ext cx="5610226" cy="2935190"/>
              </a:xfrm>
              <a:prstGeom prst="rect">
                <a:avLst/>
              </a:prstGeom>
              <a:blipFill>
                <a:blip r:embed="rId4"/>
                <a:stretch>
                  <a:fillRect l="-652" t="-622" b="-2075"/>
                </a:stretch>
              </a:blipFill>
            </p:spPr>
            <p:txBody>
              <a:bodyPr/>
              <a:lstStyle/>
              <a:p>
                <a:r>
                  <a:rPr lang="en-NZ">
                    <a:noFill/>
                  </a:rPr>
                  <a:t> </a:t>
                </a:r>
              </a:p>
            </p:txBody>
          </p:sp>
        </mc:Fallback>
      </mc:AlternateContent>
      <p:sp>
        <p:nvSpPr>
          <p:cNvPr id="15" name="Footer Placeholder 2">
            <a:extLst>
              <a:ext uri="{FF2B5EF4-FFF2-40B4-BE49-F238E27FC236}">
                <a16:creationId xmlns:a16="http://schemas.microsoft.com/office/drawing/2014/main" id="{5AFB628D-9B63-663F-9B02-56D7DA02EA01}"/>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4.4 – </a:t>
            </a:r>
            <a:r>
              <a:rPr kumimoji="1" lang="en-US" altLang="ja-JP" sz="1600" dirty="0">
                <a:solidFill>
                  <a:srgbClr val="DEDDDD"/>
                </a:solidFill>
                <a:latin typeface="Gidole"/>
                <a:ea typeface="游ゴシック" panose="020B0400000000000000" pitchFamily="34" charset="-128"/>
              </a:rPr>
              <a:t>Mixed Effects Model</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18" name="Oval 17">
            <a:extLst>
              <a:ext uri="{FF2B5EF4-FFF2-40B4-BE49-F238E27FC236}">
                <a16:creationId xmlns:a16="http://schemas.microsoft.com/office/drawing/2014/main" id="{98C4EF5C-47DD-0D96-6233-1631544FA603}"/>
              </a:ext>
            </a:extLst>
          </p:cNvPr>
          <p:cNvSpPr/>
          <p:nvPr/>
        </p:nvSpPr>
        <p:spPr>
          <a:xfrm>
            <a:off x="1222872" y="2798284"/>
            <a:ext cx="870333" cy="279284"/>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solidFill>
                <a:srgbClr val="0070C0"/>
              </a:solidFill>
            </a:endParaRPr>
          </a:p>
        </p:txBody>
      </p:sp>
      <p:sp>
        <p:nvSpPr>
          <p:cNvPr id="20" name="Oval 19">
            <a:extLst>
              <a:ext uri="{FF2B5EF4-FFF2-40B4-BE49-F238E27FC236}">
                <a16:creationId xmlns:a16="http://schemas.microsoft.com/office/drawing/2014/main" id="{76BBE4B2-7520-295D-1C61-45D9E505925B}"/>
              </a:ext>
            </a:extLst>
          </p:cNvPr>
          <p:cNvSpPr/>
          <p:nvPr/>
        </p:nvSpPr>
        <p:spPr>
          <a:xfrm>
            <a:off x="2055449" y="2798284"/>
            <a:ext cx="870333" cy="279284"/>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solidFill>
                <a:srgbClr val="0070C0"/>
              </a:solidFill>
            </a:endParaRPr>
          </a:p>
        </p:txBody>
      </p:sp>
      <mc:AlternateContent xmlns:mc="http://schemas.openxmlformats.org/markup-compatibility/2006" xmlns:a14="http://schemas.microsoft.com/office/drawing/2010/main">
        <mc:Choice Requires="a14">
          <p:sp>
            <p:nvSpPr>
              <p:cNvPr id="22" name="Text Placeholder 5">
                <a:extLst>
                  <a:ext uri="{FF2B5EF4-FFF2-40B4-BE49-F238E27FC236}">
                    <a16:creationId xmlns:a16="http://schemas.microsoft.com/office/drawing/2014/main" id="{4B971F22-EF5B-7E1A-495C-B486507CA73C}"/>
                  </a:ext>
                </a:extLst>
              </p:cNvPr>
              <p:cNvSpPr txBox="1">
                <a:spLocks/>
              </p:cNvSpPr>
              <p:nvPr/>
            </p:nvSpPr>
            <p:spPr>
              <a:xfrm>
                <a:off x="6479139" y="1122942"/>
                <a:ext cx="4405526" cy="92961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 xmlns:m="http://schemas.openxmlformats.org/officeDocument/2006/math">
                    <m:sSubSup>
                      <m:sSubSupPr>
                        <m:ctrlPr>
                          <a:rPr lang="en-NZ" altLang="ja-JP" sz="1600" b="1" i="1" smtClean="0">
                            <a:solidFill>
                              <a:srgbClr val="0070C0"/>
                            </a:solidFill>
                            <a:latin typeface="Cambria Math" panose="02040503050406030204" pitchFamily="18" charset="0"/>
                          </a:rPr>
                        </m:ctrlPr>
                      </m:sSubSupPr>
                      <m:e>
                        <m:acc>
                          <m:accPr>
                            <m:chr m:val="̂"/>
                            <m:ctrlPr>
                              <a:rPr lang="en-NZ" altLang="ja-JP" sz="1600" b="1" i="1">
                                <a:solidFill>
                                  <a:srgbClr val="0070C0"/>
                                </a:solidFill>
                                <a:latin typeface="Cambria Math" panose="02040503050406030204" pitchFamily="18" charset="0"/>
                              </a:rPr>
                            </m:ctrlPr>
                          </m:accPr>
                          <m:e>
                            <m:r>
                              <a:rPr lang="en-NZ" altLang="ja-JP" sz="1600" b="1" i="1">
                                <a:solidFill>
                                  <a:srgbClr val="0070C0"/>
                                </a:solidFill>
                                <a:latin typeface="Cambria Math" panose="02040503050406030204" pitchFamily="18" charset="0"/>
                              </a:rPr>
                              <m:t>𝝈</m:t>
                            </m:r>
                          </m:e>
                        </m:acc>
                      </m:e>
                      <m:sub>
                        <m:r>
                          <a:rPr lang="en-NZ" altLang="ja-JP" sz="1600" b="1" i="1">
                            <a:solidFill>
                              <a:srgbClr val="0070C0"/>
                            </a:solidFill>
                            <a:latin typeface="Cambria Math" panose="02040503050406030204" pitchFamily="18" charset="0"/>
                          </a:rPr>
                          <m:t>𝑩</m:t>
                        </m:r>
                      </m:sub>
                      <m:sup>
                        <m:r>
                          <a:rPr lang="en-NZ" altLang="ja-JP" sz="1600" b="1" i="1">
                            <a:solidFill>
                              <a:srgbClr val="0070C0"/>
                            </a:solidFill>
                            <a:latin typeface="Cambria Math" panose="02040503050406030204" pitchFamily="18" charset="0"/>
                          </a:rPr>
                          <m:t>𝟐</m:t>
                        </m:r>
                      </m:sup>
                    </m:sSubSup>
                    <m:r>
                      <a:rPr lang="en-NZ" altLang="ja-JP" sz="1600" b="1" i="1" smtClean="0">
                        <a:solidFill>
                          <a:srgbClr val="0070C0"/>
                        </a:solidFill>
                        <a:latin typeface="Cambria Math" panose="02040503050406030204" pitchFamily="18" charset="0"/>
                      </a:rPr>
                      <m:t>=</m:t>
                    </m:r>
                    <m:r>
                      <a:rPr lang="en-NZ" altLang="ja-JP" sz="1600" b="1" i="1" smtClean="0">
                        <a:solidFill>
                          <a:srgbClr val="0070C0"/>
                        </a:solidFill>
                        <a:latin typeface="Cambria Math" panose="02040503050406030204" pitchFamily="18" charset="0"/>
                      </a:rPr>
                      <m:t>𝟏</m:t>
                    </m:r>
                    <m:r>
                      <a:rPr lang="en-NZ" altLang="ja-JP" sz="1600" b="1" i="1" smtClean="0">
                        <a:solidFill>
                          <a:srgbClr val="0070C0"/>
                        </a:solidFill>
                        <a:latin typeface="Cambria Math" panose="02040503050406030204" pitchFamily="18" charset="0"/>
                      </a:rPr>
                      <m:t>.</m:t>
                    </m:r>
                    <m:r>
                      <a:rPr lang="en-NZ" altLang="ja-JP" sz="1600" b="1" i="1" smtClean="0">
                        <a:solidFill>
                          <a:srgbClr val="0070C0"/>
                        </a:solidFill>
                        <a:latin typeface="Cambria Math" panose="02040503050406030204" pitchFamily="18" charset="0"/>
                      </a:rPr>
                      <m:t>𝟔𝟑𝟎𝟎𝟒</m:t>
                    </m:r>
                    <m:sSup>
                      <m:sSupPr>
                        <m:ctrlPr>
                          <a:rPr lang="en-NZ" altLang="ja-JP" sz="1600" b="1" i="1" smtClean="0">
                            <a:solidFill>
                              <a:srgbClr val="0070C0"/>
                            </a:solidFill>
                            <a:latin typeface="Cambria Math" panose="02040503050406030204" pitchFamily="18" charset="0"/>
                          </a:rPr>
                        </m:ctrlPr>
                      </m:sSupPr>
                      <m:e>
                        <m:r>
                          <a:rPr lang="en-NZ" altLang="ja-JP" sz="1600" b="1" i="1" smtClean="0">
                            <a:solidFill>
                              <a:srgbClr val="0070C0"/>
                            </a:solidFill>
                            <a:latin typeface="Cambria Math" panose="02040503050406030204" pitchFamily="18" charset="0"/>
                          </a:rPr>
                          <m:t>𝟕</m:t>
                        </m:r>
                      </m:e>
                      <m:sup>
                        <m:r>
                          <a:rPr lang="en-NZ" altLang="ja-JP" sz="1600" b="1" i="1" smtClean="0">
                            <a:solidFill>
                              <a:srgbClr val="0070C0"/>
                            </a:solidFill>
                            <a:latin typeface="Cambria Math" panose="02040503050406030204" pitchFamily="18" charset="0"/>
                          </a:rPr>
                          <m:t>𝟐</m:t>
                        </m:r>
                      </m:sup>
                    </m:sSup>
                  </m:oMath>
                </a14:m>
                <a:r>
                  <a:rPr lang="en-NZ" altLang="ja-JP" sz="1600" b="1" dirty="0">
                    <a:solidFill>
                      <a:srgbClr val="0070C0"/>
                    </a:solidFill>
                  </a:rPr>
                  <a:t> </a:t>
                </a:r>
              </a:p>
              <a:p>
                <a:pPr algn="just">
                  <a:lnSpc>
                    <a:spcPct val="100000"/>
                  </a:lnSpc>
                </a:pPr>
                <a:endParaRPr lang="en-NZ" altLang="ja-JP" sz="1600" dirty="0">
                  <a:solidFill>
                    <a:srgbClr val="0070C0"/>
                  </a:solidFill>
                </a:endParaRPr>
              </a:p>
              <a:p>
                <a:pPr algn="just">
                  <a:lnSpc>
                    <a:spcPct val="100000"/>
                  </a:lnSpc>
                </a:pPr>
                <a14:m>
                  <m:oMathPara xmlns:m="http://schemas.openxmlformats.org/officeDocument/2006/math">
                    <m:oMathParaPr>
                      <m:jc m:val="centerGroup"/>
                    </m:oMathParaPr>
                    <m:oMath xmlns:m="http://schemas.openxmlformats.org/officeDocument/2006/math">
                      <m:sSup>
                        <m:sSupPr>
                          <m:ctrlPr>
                            <a:rPr lang="en-NZ" altLang="ja-JP" sz="1600" b="1" i="1" smtClean="0">
                              <a:solidFill>
                                <a:srgbClr val="0070C0"/>
                              </a:solidFill>
                              <a:latin typeface="Cambria Math" panose="02040503050406030204" pitchFamily="18" charset="0"/>
                            </a:rPr>
                          </m:ctrlPr>
                        </m:sSupPr>
                        <m:e>
                          <m:acc>
                            <m:accPr>
                              <m:chr m:val="̂"/>
                              <m:ctrlPr>
                                <a:rPr lang="en-NZ" altLang="ja-JP" sz="1600" b="1" i="1" smtClean="0">
                                  <a:solidFill>
                                    <a:srgbClr val="0070C0"/>
                                  </a:solidFill>
                                  <a:latin typeface="Cambria Math" panose="02040503050406030204" pitchFamily="18" charset="0"/>
                                </a:rPr>
                              </m:ctrlPr>
                            </m:accPr>
                            <m:e>
                              <m:r>
                                <a:rPr lang="en-NZ" altLang="ja-JP" sz="1600" b="1" i="1" smtClean="0">
                                  <a:solidFill>
                                    <a:srgbClr val="0070C0"/>
                                  </a:solidFill>
                                  <a:latin typeface="Cambria Math" panose="02040503050406030204" pitchFamily="18" charset="0"/>
                                </a:rPr>
                                <m:t>𝝈</m:t>
                              </m:r>
                            </m:e>
                          </m:acc>
                        </m:e>
                        <m:sup>
                          <m:r>
                            <a:rPr lang="en-NZ" altLang="ja-JP" sz="1600" b="1" i="1" smtClean="0">
                              <a:solidFill>
                                <a:srgbClr val="0070C0"/>
                              </a:solidFill>
                              <a:latin typeface="Cambria Math" panose="02040503050406030204" pitchFamily="18" charset="0"/>
                            </a:rPr>
                            <m:t>𝟐</m:t>
                          </m:r>
                        </m:sup>
                      </m:sSup>
                      <m:r>
                        <a:rPr lang="en-NZ" altLang="ja-JP" sz="1600" b="1" i="1">
                          <a:solidFill>
                            <a:srgbClr val="0070C0"/>
                          </a:solidFill>
                          <a:latin typeface="Cambria Math" panose="02040503050406030204" pitchFamily="18" charset="0"/>
                        </a:rPr>
                        <m:t>=</m:t>
                      </m:r>
                      <m:r>
                        <a:rPr lang="en-NZ" altLang="ja-JP" sz="1600" b="1" i="1" smtClean="0">
                          <a:solidFill>
                            <a:srgbClr val="0070C0"/>
                          </a:solidFill>
                          <a:latin typeface="Cambria Math" panose="02040503050406030204" pitchFamily="18" charset="0"/>
                        </a:rPr>
                        <m:t>𝟎</m:t>
                      </m:r>
                      <m:r>
                        <a:rPr lang="en-NZ" altLang="ja-JP" sz="1600" b="1" i="1" smtClean="0">
                          <a:solidFill>
                            <a:srgbClr val="0070C0"/>
                          </a:solidFill>
                          <a:latin typeface="Cambria Math" panose="02040503050406030204" pitchFamily="18" charset="0"/>
                        </a:rPr>
                        <m:t>.</m:t>
                      </m:r>
                      <m:r>
                        <a:rPr lang="en-NZ" altLang="ja-JP" sz="1600" b="1" i="1" smtClean="0">
                          <a:solidFill>
                            <a:srgbClr val="0070C0"/>
                          </a:solidFill>
                          <a:latin typeface="Cambria Math" panose="02040503050406030204" pitchFamily="18" charset="0"/>
                        </a:rPr>
                        <m:t>𝟖𝟎𝟗𝟖𝟕𝟐</m:t>
                      </m:r>
                      <m:sSup>
                        <m:sSupPr>
                          <m:ctrlPr>
                            <a:rPr lang="en-NZ" altLang="ja-JP" sz="1600" b="1" i="1" smtClean="0">
                              <a:solidFill>
                                <a:srgbClr val="0070C0"/>
                              </a:solidFill>
                              <a:latin typeface="Cambria Math" panose="02040503050406030204" pitchFamily="18" charset="0"/>
                            </a:rPr>
                          </m:ctrlPr>
                        </m:sSupPr>
                        <m:e>
                          <m:r>
                            <a:rPr lang="en-NZ" altLang="ja-JP" sz="1600" b="1" i="1" smtClean="0">
                              <a:solidFill>
                                <a:srgbClr val="0070C0"/>
                              </a:solidFill>
                              <a:latin typeface="Cambria Math" panose="02040503050406030204" pitchFamily="18" charset="0"/>
                            </a:rPr>
                            <m:t>𝟏</m:t>
                          </m:r>
                        </m:e>
                        <m:sup>
                          <m:r>
                            <a:rPr lang="en-NZ" altLang="ja-JP" sz="1600" b="1" i="1" smtClean="0">
                              <a:solidFill>
                                <a:srgbClr val="0070C0"/>
                              </a:solidFill>
                              <a:latin typeface="Cambria Math" panose="02040503050406030204" pitchFamily="18" charset="0"/>
                            </a:rPr>
                            <m:t>𝟐</m:t>
                          </m:r>
                        </m:sup>
                      </m:sSup>
                    </m:oMath>
                  </m:oMathPara>
                </a14:m>
                <a:endParaRPr lang="en-NZ" altLang="ja-JP" sz="1600" dirty="0">
                  <a:solidFill>
                    <a:srgbClr val="0070C0"/>
                  </a:solidFill>
                </a:endParaRPr>
              </a:p>
            </p:txBody>
          </p:sp>
        </mc:Choice>
        <mc:Fallback xmlns="">
          <p:sp>
            <p:nvSpPr>
              <p:cNvPr id="22" name="Text Placeholder 5">
                <a:extLst>
                  <a:ext uri="{FF2B5EF4-FFF2-40B4-BE49-F238E27FC236}">
                    <a16:creationId xmlns:a16="http://schemas.microsoft.com/office/drawing/2014/main" id="{4B971F22-EF5B-7E1A-495C-B486507CA73C}"/>
                  </a:ext>
                </a:extLst>
              </p:cNvPr>
              <p:cNvSpPr txBox="1">
                <a:spLocks noRot="1" noChangeAspect="1" noMove="1" noResize="1" noEditPoints="1" noAdjustHandles="1" noChangeArrowheads="1" noChangeShapeType="1" noTextEdit="1"/>
              </p:cNvSpPr>
              <p:nvPr/>
            </p:nvSpPr>
            <p:spPr>
              <a:xfrm>
                <a:off x="6479139" y="1122942"/>
                <a:ext cx="4405526" cy="929611"/>
              </a:xfrm>
              <a:prstGeom prst="rect">
                <a:avLst/>
              </a:prstGeom>
              <a:blipFill>
                <a:blip r:embed="rId5"/>
                <a:stretch>
                  <a:fillRect/>
                </a:stretch>
              </a:blipFill>
            </p:spPr>
            <p:txBody>
              <a:bodyPr/>
              <a:lstStyle/>
              <a:p>
                <a:r>
                  <a:rPr lang="en-NZ">
                    <a:noFill/>
                  </a:rPr>
                  <a:t> </a:t>
                </a:r>
              </a:p>
            </p:txBody>
          </p:sp>
        </mc:Fallback>
      </mc:AlternateContent>
      <p:cxnSp>
        <p:nvCxnSpPr>
          <p:cNvPr id="6" name="Straight Arrow Connector 5">
            <a:extLst>
              <a:ext uri="{FF2B5EF4-FFF2-40B4-BE49-F238E27FC236}">
                <a16:creationId xmlns:a16="http://schemas.microsoft.com/office/drawing/2014/main" id="{E1F0BAFA-E4C9-2C3B-6678-F282BDDB9B16}"/>
              </a:ext>
            </a:extLst>
          </p:cNvPr>
          <p:cNvCxnSpPr>
            <a:cxnSpLocks/>
            <a:stCxn id="18" idx="7"/>
          </p:cNvCxnSpPr>
          <p:nvPr/>
        </p:nvCxnSpPr>
        <p:spPr>
          <a:xfrm flipV="1">
            <a:off x="1965748" y="1344058"/>
            <a:ext cx="5635891" cy="1495126"/>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54D0004-3986-5912-02A5-5E40F421A8B5}"/>
              </a:ext>
            </a:extLst>
          </p:cNvPr>
          <p:cNvCxnSpPr>
            <a:cxnSpLocks/>
          </p:cNvCxnSpPr>
          <p:nvPr/>
        </p:nvCxnSpPr>
        <p:spPr>
          <a:xfrm flipV="1">
            <a:off x="2925782" y="1805014"/>
            <a:ext cx="4828257" cy="1136490"/>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4191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18" grpId="0" animBg="1"/>
      <p:bldP spid="20" grpId="0" animBg="1"/>
      <p:bldP spid="2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3" name="Title 6">
            <a:extLst>
              <a:ext uri="{FF2B5EF4-FFF2-40B4-BE49-F238E27FC236}">
                <a16:creationId xmlns:a16="http://schemas.microsoft.com/office/drawing/2014/main" id="{539E1FA8-24B4-FFD9-7C26-8B31D6C98125}"/>
              </a:ext>
            </a:extLst>
          </p:cNvPr>
          <p:cNvSpPr txBox="1">
            <a:spLocks/>
          </p:cNvSpPr>
          <p:nvPr/>
        </p:nvSpPr>
        <p:spPr>
          <a:xfrm>
            <a:off x="251223" y="237833"/>
            <a:ext cx="8617005"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4.4c – Fixed vs Mixed Effects Model</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35" name="Text Placeholder 5">
            <a:extLst>
              <a:ext uri="{FF2B5EF4-FFF2-40B4-BE49-F238E27FC236}">
                <a16:creationId xmlns:a16="http://schemas.microsoft.com/office/drawing/2014/main" id="{F7B715ED-B070-F659-C4CE-5D6FAB9286F8}"/>
              </a:ext>
            </a:extLst>
          </p:cNvPr>
          <p:cNvSpPr txBox="1">
            <a:spLocks/>
          </p:cNvSpPr>
          <p:nvPr/>
        </p:nvSpPr>
        <p:spPr>
          <a:xfrm>
            <a:off x="532265" y="3234371"/>
            <a:ext cx="10890914" cy="99107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2200" dirty="0">
                <a:solidFill>
                  <a:schemeClr val="tx1"/>
                </a:solidFill>
              </a:rPr>
              <a:t>For the randomised block designs described in Stat 293, the two approaches will give the exact same results in terms of testing for treatment effects.</a:t>
            </a:r>
            <a:br>
              <a:rPr lang="en-NZ" altLang="ja-JP" sz="2200" dirty="0">
                <a:solidFill>
                  <a:schemeClr val="tx1"/>
                </a:solidFill>
              </a:rPr>
            </a:br>
            <a:r>
              <a:rPr lang="en-NZ" altLang="ja-JP" sz="1600" i="1" dirty="0">
                <a:solidFill>
                  <a:schemeClr val="tx1"/>
                </a:solidFill>
              </a:rPr>
              <a:t>(The two approaches will differ only in the calculation of the standard error of a treatment mean - which is not of interest to us).</a:t>
            </a:r>
            <a:endParaRPr lang="en-NZ" altLang="ja-JP" sz="1600" b="1" i="1" dirty="0">
              <a:solidFill>
                <a:schemeClr val="tx1"/>
              </a:solidFill>
            </a:endParaRPr>
          </a:p>
          <a:p>
            <a:pPr algn="just">
              <a:lnSpc>
                <a:spcPct val="100000"/>
              </a:lnSpc>
            </a:pPr>
            <a:endParaRPr lang="en-NZ" altLang="ja-JP" sz="2200" b="1" dirty="0">
              <a:solidFill>
                <a:schemeClr val="tx1"/>
              </a:solidFill>
            </a:endParaRPr>
          </a:p>
        </p:txBody>
      </p:sp>
      <p:sp>
        <p:nvSpPr>
          <p:cNvPr id="36" name="Text Placeholder 5">
            <a:extLst>
              <a:ext uri="{FF2B5EF4-FFF2-40B4-BE49-F238E27FC236}">
                <a16:creationId xmlns:a16="http://schemas.microsoft.com/office/drawing/2014/main" id="{29DF9D34-CF23-736F-AA99-64CEE76DB877}"/>
              </a:ext>
            </a:extLst>
          </p:cNvPr>
          <p:cNvSpPr txBox="1">
            <a:spLocks/>
          </p:cNvSpPr>
          <p:nvPr/>
        </p:nvSpPr>
        <p:spPr>
          <a:xfrm>
            <a:off x="532265" y="5103591"/>
            <a:ext cx="10890914" cy="81528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200" dirty="0">
                <a:solidFill>
                  <a:schemeClr val="tx1"/>
                </a:solidFill>
              </a:rPr>
              <a:t>In the wider (non Stat 293) world the choice of whether to use a fixed or mixed effects model should be decided on a case by case basis. See </a:t>
            </a:r>
            <a:r>
              <a:rPr lang="en-NZ" altLang="ja-JP" sz="2200" dirty="0">
                <a:solidFill>
                  <a:schemeClr val="tx1"/>
                </a:solidFill>
                <a:hlinkClick r:id="rId2"/>
              </a:rPr>
              <a:t>here</a:t>
            </a:r>
            <a:r>
              <a:rPr lang="en-NZ" altLang="ja-JP" sz="2200" dirty="0">
                <a:solidFill>
                  <a:schemeClr val="tx1"/>
                </a:solidFill>
              </a:rPr>
              <a:t> for a discussion of the issues involved.</a:t>
            </a:r>
          </a:p>
          <a:p>
            <a:pPr algn="just">
              <a:lnSpc>
                <a:spcPct val="100000"/>
              </a:lnSpc>
            </a:pPr>
            <a:endParaRPr lang="en-NZ" altLang="ja-JP" sz="2200" b="1" dirty="0">
              <a:solidFill>
                <a:schemeClr val="tx1"/>
              </a:solidFill>
            </a:endParaRPr>
          </a:p>
        </p:txBody>
      </p:sp>
      <p:sp>
        <p:nvSpPr>
          <p:cNvPr id="9" name="Text Placeholder 5">
            <a:extLst>
              <a:ext uri="{FF2B5EF4-FFF2-40B4-BE49-F238E27FC236}">
                <a16:creationId xmlns:a16="http://schemas.microsoft.com/office/drawing/2014/main" id="{81ED03C2-9F74-E0B6-6760-9367414845D2}"/>
              </a:ext>
            </a:extLst>
          </p:cNvPr>
          <p:cNvSpPr txBox="1">
            <a:spLocks/>
          </p:cNvSpPr>
          <p:nvPr/>
        </p:nvSpPr>
        <p:spPr>
          <a:xfrm>
            <a:off x="532266" y="1143328"/>
            <a:ext cx="10890914" cy="148922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2200" dirty="0">
                <a:solidFill>
                  <a:prstClr val="black"/>
                </a:solidFill>
                <a:latin typeface="Calibri" panose="020F0502020204030204"/>
                <a:ea typeface="游ゴシック" panose="020B0400000000000000" pitchFamily="34" charset="-128"/>
              </a:rPr>
              <a:t>As a general rule for Stat 293… </a:t>
            </a: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2200" i="1" dirty="0">
                <a:solidFill>
                  <a:prstClr val="black"/>
                </a:solidFill>
                <a:latin typeface="Calibri" panose="020F0502020204030204"/>
                <a:ea typeface="游ゴシック" panose="020B0400000000000000" pitchFamily="34" charset="-128"/>
              </a:rPr>
              <a:t>if we say that the blocking factor is “randomly selected”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2200" dirty="0">
                <a:solidFill>
                  <a:prstClr val="black"/>
                </a:solidFill>
                <a:latin typeface="Calibri" panose="020F0502020204030204"/>
                <a:ea typeface="游ゴシック" panose="020B0400000000000000" pitchFamily="34" charset="-128"/>
              </a:rPr>
              <a:t>…then we are talking about a mixed effects model. Otherwise we are talking about a fixed effects model.</a:t>
            </a:r>
            <a:endParaRPr kumimoji="1" lang="en-NZ" altLang="ja-JP" sz="22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1" name="Footer Placeholder 2">
            <a:extLst>
              <a:ext uri="{FF2B5EF4-FFF2-40B4-BE49-F238E27FC236}">
                <a16:creationId xmlns:a16="http://schemas.microsoft.com/office/drawing/2014/main" id="{AB391E19-DAAA-DA7D-0008-13F12987CB51}"/>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4.4 – </a:t>
            </a:r>
            <a:r>
              <a:rPr kumimoji="1" lang="en-US" altLang="ja-JP" sz="1600" dirty="0">
                <a:solidFill>
                  <a:srgbClr val="DEDDDD"/>
                </a:solidFill>
                <a:latin typeface="Gidole"/>
                <a:ea typeface="游ゴシック" panose="020B0400000000000000" pitchFamily="34" charset="-128"/>
              </a:rPr>
              <a:t>Mixed Effects Model</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25132910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7F14062D-E1C1-4F63-B0FD-D013BDA5782B}"/>
              </a:ext>
            </a:extLst>
          </p:cNvPr>
          <p:cNvSpPr txBox="1"/>
          <p:nvPr/>
        </p:nvSpPr>
        <p:spPr>
          <a:xfrm>
            <a:off x="43707" y="2844225"/>
            <a:ext cx="12104586" cy="147732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4.5 – Permutation Testing in Randomised </a:t>
            </a:r>
            <a:b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b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Block Designs</a:t>
            </a: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8025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8" name="Footer Placeholder 2">
            <a:extLst>
              <a:ext uri="{FF2B5EF4-FFF2-40B4-BE49-F238E27FC236}">
                <a16:creationId xmlns:a16="http://schemas.microsoft.com/office/drawing/2014/main" id="{6C441BC2-97B1-40FC-901B-6774EA8C8C25}"/>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4.5 – Permutation Tests in RBDs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13" name="Title 6">
            <a:extLst>
              <a:ext uri="{FF2B5EF4-FFF2-40B4-BE49-F238E27FC236}">
                <a16:creationId xmlns:a16="http://schemas.microsoft.com/office/drawing/2014/main" id="{539E1FA8-24B4-FFD9-7C26-8B31D6C98125}"/>
              </a:ext>
            </a:extLst>
          </p:cNvPr>
          <p:cNvSpPr txBox="1">
            <a:spLocks/>
          </p:cNvSpPr>
          <p:nvPr/>
        </p:nvSpPr>
        <p:spPr>
          <a:xfrm>
            <a:off x="251223" y="237833"/>
            <a:ext cx="8617005"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4.5a – Permutation Tests in RBDs</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9" name="Text Placeholder 5">
            <a:extLst>
              <a:ext uri="{FF2B5EF4-FFF2-40B4-BE49-F238E27FC236}">
                <a16:creationId xmlns:a16="http://schemas.microsoft.com/office/drawing/2014/main" id="{B2B8F00D-835B-64C4-CDD2-CBBE55C5680C}"/>
              </a:ext>
            </a:extLst>
          </p:cNvPr>
          <p:cNvSpPr txBox="1">
            <a:spLocks/>
          </p:cNvSpPr>
          <p:nvPr/>
        </p:nvSpPr>
        <p:spPr>
          <a:xfrm>
            <a:off x="251223" y="996728"/>
            <a:ext cx="11232109" cy="36166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 a RBD it is assumed that the data in each of the cells arise from distribution that are:</a:t>
            </a: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1" name="Text Placeholder 5">
            <a:extLst>
              <a:ext uri="{FF2B5EF4-FFF2-40B4-BE49-F238E27FC236}">
                <a16:creationId xmlns:a16="http://schemas.microsoft.com/office/drawing/2014/main" id="{374D4B77-23D2-7D23-32F6-9221F8B93610}"/>
              </a:ext>
            </a:extLst>
          </p:cNvPr>
          <p:cNvSpPr txBox="1">
            <a:spLocks/>
          </p:cNvSpPr>
          <p:nvPr/>
        </p:nvSpPr>
        <p:spPr>
          <a:xfrm>
            <a:off x="1003618" y="1356580"/>
            <a:ext cx="3571164" cy="10888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Independent</a:t>
            </a:r>
            <a:endPar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Normally distributed</a:t>
            </a:r>
            <a:endPar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Have homogenous variance</a:t>
            </a:r>
            <a:endPar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2" name="Left Brace 11">
            <a:extLst>
              <a:ext uri="{FF2B5EF4-FFF2-40B4-BE49-F238E27FC236}">
                <a16:creationId xmlns:a16="http://schemas.microsoft.com/office/drawing/2014/main" id="{39038A0D-E1F1-3A75-7860-12DF125604D8}"/>
              </a:ext>
            </a:extLst>
          </p:cNvPr>
          <p:cNvSpPr/>
          <p:nvPr/>
        </p:nvSpPr>
        <p:spPr>
          <a:xfrm rot="10800000">
            <a:off x="4218399" y="1479624"/>
            <a:ext cx="356383" cy="72333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Placeholder 5">
            <a:extLst>
              <a:ext uri="{FF2B5EF4-FFF2-40B4-BE49-F238E27FC236}">
                <a16:creationId xmlns:a16="http://schemas.microsoft.com/office/drawing/2014/main" id="{A7372724-6E3F-830C-54A4-52F3C970120C}"/>
              </a:ext>
            </a:extLst>
          </p:cNvPr>
          <p:cNvSpPr txBox="1">
            <a:spLocks/>
          </p:cNvSpPr>
          <p:nvPr/>
        </p:nvSpPr>
        <p:spPr>
          <a:xfrm>
            <a:off x="4744168" y="1630194"/>
            <a:ext cx="2246217" cy="43237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ANOVA Conditions</a:t>
            </a:r>
            <a:endParaRPr kumimoji="1" lang="en-NZ" altLang="ja-JP" sz="1800" b="1"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p:txBody>
      </p:sp>
      <p:sp>
        <p:nvSpPr>
          <p:cNvPr id="15" name="Text Placeholder 5">
            <a:extLst>
              <a:ext uri="{FF2B5EF4-FFF2-40B4-BE49-F238E27FC236}">
                <a16:creationId xmlns:a16="http://schemas.microsoft.com/office/drawing/2014/main" id="{7201C1A0-7E39-022D-ED39-3F315B70CBF0}"/>
              </a:ext>
            </a:extLst>
          </p:cNvPr>
          <p:cNvSpPr txBox="1">
            <a:spLocks/>
          </p:cNvSpPr>
          <p:nvPr/>
        </p:nvSpPr>
        <p:spPr>
          <a:xfrm>
            <a:off x="251221" y="2443610"/>
            <a:ext cx="11232109" cy="72333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If the ANOVA conditions are violated, then whilst we can still calculate the observed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-statistic, this will no longer follow an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a:t>
            </a:r>
            <a:r>
              <a:rPr kumimoji="1" lang="en-NZ"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distribution such that any p-values produced within such a process will be meaningless.</a:t>
            </a: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6" name="Text Placeholder 5">
            <a:extLst>
              <a:ext uri="{FF2B5EF4-FFF2-40B4-BE49-F238E27FC236}">
                <a16:creationId xmlns:a16="http://schemas.microsoft.com/office/drawing/2014/main" id="{842C98CB-E6B4-44B3-5F7E-2C181DC6BFD7}"/>
              </a:ext>
            </a:extLst>
          </p:cNvPr>
          <p:cNvSpPr txBox="1">
            <a:spLocks/>
          </p:cNvSpPr>
          <p:nvPr/>
        </p:nvSpPr>
        <p:spPr>
          <a:xfrm>
            <a:off x="251221" y="3208759"/>
            <a:ext cx="10732596" cy="3392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will need to test between the null and alternative hypothesis for treatment effects using a permutation test.</a:t>
            </a: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7" name="Text Placeholder 5">
            <a:extLst>
              <a:ext uri="{FF2B5EF4-FFF2-40B4-BE49-F238E27FC236}">
                <a16:creationId xmlns:a16="http://schemas.microsoft.com/office/drawing/2014/main" id="{C7898F9E-5DF5-8A89-DE10-B768F60BF068}"/>
              </a:ext>
            </a:extLst>
          </p:cNvPr>
          <p:cNvSpPr txBox="1">
            <a:spLocks/>
          </p:cNvSpPr>
          <p:nvPr/>
        </p:nvSpPr>
        <p:spPr>
          <a:xfrm>
            <a:off x="251220" y="3706616"/>
            <a:ext cx="11232109" cy="59369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However, in a RBD the permutations (i.e. the switching of observations between treatments) must be carried out within blocks as opposed to over all experimental units.</a:t>
            </a: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8" name="Rectangle 17">
            <a:extLst>
              <a:ext uri="{FF2B5EF4-FFF2-40B4-BE49-F238E27FC236}">
                <a16:creationId xmlns:a16="http://schemas.microsoft.com/office/drawing/2014/main" id="{17534943-4CAF-6EEB-B211-FBB44E6D7DCC}"/>
              </a:ext>
            </a:extLst>
          </p:cNvPr>
          <p:cNvSpPr/>
          <p:nvPr/>
        </p:nvSpPr>
        <p:spPr>
          <a:xfrm>
            <a:off x="3091219" y="4657169"/>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19" name="Rectangle 18">
            <a:extLst>
              <a:ext uri="{FF2B5EF4-FFF2-40B4-BE49-F238E27FC236}">
                <a16:creationId xmlns:a16="http://schemas.microsoft.com/office/drawing/2014/main" id="{A8D16830-B274-F1A6-8214-3DA4EA7695E8}"/>
              </a:ext>
            </a:extLst>
          </p:cNvPr>
          <p:cNvSpPr/>
          <p:nvPr/>
        </p:nvSpPr>
        <p:spPr>
          <a:xfrm>
            <a:off x="3543869" y="4657169"/>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20" name="Rectangle 19">
            <a:extLst>
              <a:ext uri="{FF2B5EF4-FFF2-40B4-BE49-F238E27FC236}">
                <a16:creationId xmlns:a16="http://schemas.microsoft.com/office/drawing/2014/main" id="{90D52152-B256-2518-91E2-A55224CC6CD9}"/>
              </a:ext>
            </a:extLst>
          </p:cNvPr>
          <p:cNvSpPr/>
          <p:nvPr/>
        </p:nvSpPr>
        <p:spPr>
          <a:xfrm>
            <a:off x="3996519" y="4657169"/>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21" name="Rectangle 20">
            <a:extLst>
              <a:ext uri="{FF2B5EF4-FFF2-40B4-BE49-F238E27FC236}">
                <a16:creationId xmlns:a16="http://schemas.microsoft.com/office/drawing/2014/main" id="{39E5C22B-B0DB-F870-9BE4-3DF3890502D4}"/>
              </a:ext>
            </a:extLst>
          </p:cNvPr>
          <p:cNvSpPr/>
          <p:nvPr/>
        </p:nvSpPr>
        <p:spPr>
          <a:xfrm>
            <a:off x="5208896" y="4657169"/>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22" name="Rectangle 21">
            <a:extLst>
              <a:ext uri="{FF2B5EF4-FFF2-40B4-BE49-F238E27FC236}">
                <a16:creationId xmlns:a16="http://schemas.microsoft.com/office/drawing/2014/main" id="{E3E608BA-B173-AD38-6CBF-D1D8E826FDD8}"/>
              </a:ext>
            </a:extLst>
          </p:cNvPr>
          <p:cNvSpPr/>
          <p:nvPr/>
        </p:nvSpPr>
        <p:spPr>
          <a:xfrm>
            <a:off x="5661546" y="4657169"/>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23" name="Rectangle 22">
            <a:extLst>
              <a:ext uri="{FF2B5EF4-FFF2-40B4-BE49-F238E27FC236}">
                <a16:creationId xmlns:a16="http://schemas.microsoft.com/office/drawing/2014/main" id="{2F743009-728B-7C29-90E7-68DB9D527FE5}"/>
              </a:ext>
            </a:extLst>
          </p:cNvPr>
          <p:cNvSpPr/>
          <p:nvPr/>
        </p:nvSpPr>
        <p:spPr>
          <a:xfrm>
            <a:off x="6114196" y="4657169"/>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24" name="Rectangle 23">
            <a:extLst>
              <a:ext uri="{FF2B5EF4-FFF2-40B4-BE49-F238E27FC236}">
                <a16:creationId xmlns:a16="http://schemas.microsoft.com/office/drawing/2014/main" id="{DFC14EB8-7D91-D4D8-4EC3-566C71CD5C80}"/>
              </a:ext>
            </a:extLst>
          </p:cNvPr>
          <p:cNvSpPr/>
          <p:nvPr/>
        </p:nvSpPr>
        <p:spPr>
          <a:xfrm>
            <a:off x="7310652" y="4657169"/>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25" name="Rectangle 24">
            <a:extLst>
              <a:ext uri="{FF2B5EF4-FFF2-40B4-BE49-F238E27FC236}">
                <a16:creationId xmlns:a16="http://schemas.microsoft.com/office/drawing/2014/main" id="{4F41D103-1A53-AD51-036B-BA1FFDAC9122}"/>
              </a:ext>
            </a:extLst>
          </p:cNvPr>
          <p:cNvSpPr/>
          <p:nvPr/>
        </p:nvSpPr>
        <p:spPr>
          <a:xfrm>
            <a:off x="7763302" y="4657169"/>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26" name="Rectangle 25">
            <a:extLst>
              <a:ext uri="{FF2B5EF4-FFF2-40B4-BE49-F238E27FC236}">
                <a16:creationId xmlns:a16="http://schemas.microsoft.com/office/drawing/2014/main" id="{52E1C848-C77D-2419-52D9-0F085BA7A526}"/>
              </a:ext>
            </a:extLst>
          </p:cNvPr>
          <p:cNvSpPr/>
          <p:nvPr/>
        </p:nvSpPr>
        <p:spPr>
          <a:xfrm>
            <a:off x="8215952" y="4657169"/>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27" name="Rectangle 26">
            <a:extLst>
              <a:ext uri="{FF2B5EF4-FFF2-40B4-BE49-F238E27FC236}">
                <a16:creationId xmlns:a16="http://schemas.microsoft.com/office/drawing/2014/main" id="{092E363C-638D-F0C6-AD48-E352432AE00C}"/>
              </a:ext>
            </a:extLst>
          </p:cNvPr>
          <p:cNvSpPr/>
          <p:nvPr/>
        </p:nvSpPr>
        <p:spPr>
          <a:xfrm>
            <a:off x="9421510" y="4657169"/>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28" name="Rectangle 27">
            <a:extLst>
              <a:ext uri="{FF2B5EF4-FFF2-40B4-BE49-F238E27FC236}">
                <a16:creationId xmlns:a16="http://schemas.microsoft.com/office/drawing/2014/main" id="{6AE5F1B3-9E60-EB72-E4B5-1C684235D6BE}"/>
              </a:ext>
            </a:extLst>
          </p:cNvPr>
          <p:cNvSpPr/>
          <p:nvPr/>
        </p:nvSpPr>
        <p:spPr>
          <a:xfrm>
            <a:off x="9874160" y="4657169"/>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29" name="Rectangle 28">
            <a:extLst>
              <a:ext uri="{FF2B5EF4-FFF2-40B4-BE49-F238E27FC236}">
                <a16:creationId xmlns:a16="http://schemas.microsoft.com/office/drawing/2014/main" id="{92A514D2-F2F4-5E24-C97F-B46FB5F5D41F}"/>
              </a:ext>
            </a:extLst>
          </p:cNvPr>
          <p:cNvSpPr/>
          <p:nvPr/>
        </p:nvSpPr>
        <p:spPr>
          <a:xfrm>
            <a:off x="10326810" y="4657169"/>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30" name="Text Placeholder 5">
            <a:extLst>
              <a:ext uri="{FF2B5EF4-FFF2-40B4-BE49-F238E27FC236}">
                <a16:creationId xmlns:a16="http://schemas.microsoft.com/office/drawing/2014/main" id="{EFBEE47D-5AB1-371E-A582-74263E618A80}"/>
              </a:ext>
            </a:extLst>
          </p:cNvPr>
          <p:cNvSpPr txBox="1">
            <a:spLocks/>
          </p:cNvSpPr>
          <p:nvPr/>
        </p:nvSpPr>
        <p:spPr>
          <a:xfrm>
            <a:off x="467197" y="4827464"/>
            <a:ext cx="1977397" cy="52757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0" i="0"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rPr>
              <a:t>Original Blocked Sample</a:t>
            </a:r>
          </a:p>
        </p:txBody>
      </p:sp>
      <p:sp>
        <p:nvSpPr>
          <p:cNvPr id="31" name="Rectangle 30">
            <a:extLst>
              <a:ext uri="{FF2B5EF4-FFF2-40B4-BE49-F238E27FC236}">
                <a16:creationId xmlns:a16="http://schemas.microsoft.com/office/drawing/2014/main" id="{BC821FD9-BA13-F96E-CF29-E160A34BF918}"/>
              </a:ext>
            </a:extLst>
          </p:cNvPr>
          <p:cNvSpPr/>
          <p:nvPr/>
        </p:nvSpPr>
        <p:spPr>
          <a:xfrm>
            <a:off x="3091219" y="4954772"/>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32" name="Rectangle 31">
            <a:extLst>
              <a:ext uri="{FF2B5EF4-FFF2-40B4-BE49-F238E27FC236}">
                <a16:creationId xmlns:a16="http://schemas.microsoft.com/office/drawing/2014/main" id="{574500D8-C64F-5E66-0C1A-009EB6AFC834}"/>
              </a:ext>
            </a:extLst>
          </p:cNvPr>
          <p:cNvSpPr/>
          <p:nvPr/>
        </p:nvSpPr>
        <p:spPr>
          <a:xfrm>
            <a:off x="3543869" y="4954772"/>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33" name="Rectangle 32">
            <a:extLst>
              <a:ext uri="{FF2B5EF4-FFF2-40B4-BE49-F238E27FC236}">
                <a16:creationId xmlns:a16="http://schemas.microsoft.com/office/drawing/2014/main" id="{96C439D4-0E83-5FFC-1626-565C78301A76}"/>
              </a:ext>
            </a:extLst>
          </p:cNvPr>
          <p:cNvSpPr/>
          <p:nvPr/>
        </p:nvSpPr>
        <p:spPr>
          <a:xfrm>
            <a:off x="3996519" y="4954772"/>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37" name="Rectangle 36">
            <a:extLst>
              <a:ext uri="{FF2B5EF4-FFF2-40B4-BE49-F238E27FC236}">
                <a16:creationId xmlns:a16="http://schemas.microsoft.com/office/drawing/2014/main" id="{C8D506A8-6D1E-05D0-1A5E-F641CABE72B7}"/>
              </a:ext>
            </a:extLst>
          </p:cNvPr>
          <p:cNvSpPr/>
          <p:nvPr/>
        </p:nvSpPr>
        <p:spPr>
          <a:xfrm>
            <a:off x="3093716" y="5248922"/>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38" name="Rectangle 37">
            <a:extLst>
              <a:ext uri="{FF2B5EF4-FFF2-40B4-BE49-F238E27FC236}">
                <a16:creationId xmlns:a16="http://schemas.microsoft.com/office/drawing/2014/main" id="{3512498D-1914-2720-12D5-D9BBB719CBEE}"/>
              </a:ext>
            </a:extLst>
          </p:cNvPr>
          <p:cNvSpPr/>
          <p:nvPr/>
        </p:nvSpPr>
        <p:spPr>
          <a:xfrm>
            <a:off x="3546366" y="5248922"/>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39" name="Rectangle 38">
            <a:extLst>
              <a:ext uri="{FF2B5EF4-FFF2-40B4-BE49-F238E27FC236}">
                <a16:creationId xmlns:a16="http://schemas.microsoft.com/office/drawing/2014/main" id="{A8E7CDFF-FA3E-DEF3-EBAD-1CD8372B68CB}"/>
              </a:ext>
            </a:extLst>
          </p:cNvPr>
          <p:cNvSpPr/>
          <p:nvPr/>
        </p:nvSpPr>
        <p:spPr>
          <a:xfrm>
            <a:off x="3999016" y="5248922"/>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40" name="Rectangle 39">
            <a:extLst>
              <a:ext uri="{FF2B5EF4-FFF2-40B4-BE49-F238E27FC236}">
                <a16:creationId xmlns:a16="http://schemas.microsoft.com/office/drawing/2014/main" id="{E9E6A831-0B07-766C-9CEA-F245E53FF721}"/>
              </a:ext>
            </a:extLst>
          </p:cNvPr>
          <p:cNvSpPr/>
          <p:nvPr/>
        </p:nvSpPr>
        <p:spPr>
          <a:xfrm>
            <a:off x="5212424" y="4954772"/>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41" name="Rectangle 40">
            <a:extLst>
              <a:ext uri="{FF2B5EF4-FFF2-40B4-BE49-F238E27FC236}">
                <a16:creationId xmlns:a16="http://schemas.microsoft.com/office/drawing/2014/main" id="{016A5DC8-9981-38EC-7F39-5ADF8C7037E1}"/>
              </a:ext>
            </a:extLst>
          </p:cNvPr>
          <p:cNvSpPr/>
          <p:nvPr/>
        </p:nvSpPr>
        <p:spPr>
          <a:xfrm>
            <a:off x="5665074" y="4954772"/>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42" name="Rectangle 41">
            <a:extLst>
              <a:ext uri="{FF2B5EF4-FFF2-40B4-BE49-F238E27FC236}">
                <a16:creationId xmlns:a16="http://schemas.microsoft.com/office/drawing/2014/main" id="{5752049B-3D3C-FE9D-B923-DAE433344633}"/>
              </a:ext>
            </a:extLst>
          </p:cNvPr>
          <p:cNvSpPr/>
          <p:nvPr/>
        </p:nvSpPr>
        <p:spPr>
          <a:xfrm>
            <a:off x="6117724" y="4954772"/>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43" name="Rectangle 42">
            <a:extLst>
              <a:ext uri="{FF2B5EF4-FFF2-40B4-BE49-F238E27FC236}">
                <a16:creationId xmlns:a16="http://schemas.microsoft.com/office/drawing/2014/main" id="{CAF3EABA-59DC-CC14-53E5-88FCE34C1FA0}"/>
              </a:ext>
            </a:extLst>
          </p:cNvPr>
          <p:cNvSpPr/>
          <p:nvPr/>
        </p:nvSpPr>
        <p:spPr>
          <a:xfrm>
            <a:off x="5208896" y="5248922"/>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44" name="Rectangle 43">
            <a:extLst>
              <a:ext uri="{FF2B5EF4-FFF2-40B4-BE49-F238E27FC236}">
                <a16:creationId xmlns:a16="http://schemas.microsoft.com/office/drawing/2014/main" id="{C39B9FD6-0BCB-C304-D32D-D5F88E6B9526}"/>
              </a:ext>
            </a:extLst>
          </p:cNvPr>
          <p:cNvSpPr/>
          <p:nvPr/>
        </p:nvSpPr>
        <p:spPr>
          <a:xfrm>
            <a:off x="5661546" y="5248922"/>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45" name="Rectangle 44">
            <a:extLst>
              <a:ext uri="{FF2B5EF4-FFF2-40B4-BE49-F238E27FC236}">
                <a16:creationId xmlns:a16="http://schemas.microsoft.com/office/drawing/2014/main" id="{1EF62C6D-612F-9F6F-F8A7-0A4C2EC47884}"/>
              </a:ext>
            </a:extLst>
          </p:cNvPr>
          <p:cNvSpPr/>
          <p:nvPr/>
        </p:nvSpPr>
        <p:spPr>
          <a:xfrm>
            <a:off x="6114196" y="5248922"/>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46" name="Rectangle 45">
            <a:extLst>
              <a:ext uri="{FF2B5EF4-FFF2-40B4-BE49-F238E27FC236}">
                <a16:creationId xmlns:a16="http://schemas.microsoft.com/office/drawing/2014/main" id="{DABDB57B-99CD-9099-DB12-48CE26DD3B3E}"/>
              </a:ext>
            </a:extLst>
          </p:cNvPr>
          <p:cNvSpPr/>
          <p:nvPr/>
        </p:nvSpPr>
        <p:spPr>
          <a:xfrm>
            <a:off x="7310652" y="4955954"/>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47" name="Rectangle 46">
            <a:extLst>
              <a:ext uri="{FF2B5EF4-FFF2-40B4-BE49-F238E27FC236}">
                <a16:creationId xmlns:a16="http://schemas.microsoft.com/office/drawing/2014/main" id="{C3E5FECC-CFA5-7DB7-0CFC-87B2CF35D199}"/>
              </a:ext>
            </a:extLst>
          </p:cNvPr>
          <p:cNvSpPr/>
          <p:nvPr/>
        </p:nvSpPr>
        <p:spPr>
          <a:xfrm>
            <a:off x="7763302" y="4955954"/>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48" name="Rectangle 47">
            <a:extLst>
              <a:ext uri="{FF2B5EF4-FFF2-40B4-BE49-F238E27FC236}">
                <a16:creationId xmlns:a16="http://schemas.microsoft.com/office/drawing/2014/main" id="{3F43A9E3-B86B-71A3-F8BB-F9DC22744668}"/>
              </a:ext>
            </a:extLst>
          </p:cNvPr>
          <p:cNvSpPr/>
          <p:nvPr/>
        </p:nvSpPr>
        <p:spPr>
          <a:xfrm>
            <a:off x="8215952" y="4955954"/>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49" name="Rectangle 48">
            <a:extLst>
              <a:ext uri="{FF2B5EF4-FFF2-40B4-BE49-F238E27FC236}">
                <a16:creationId xmlns:a16="http://schemas.microsoft.com/office/drawing/2014/main" id="{BFAC5671-B751-91D6-126A-55DBE648CBE8}"/>
              </a:ext>
            </a:extLst>
          </p:cNvPr>
          <p:cNvSpPr/>
          <p:nvPr/>
        </p:nvSpPr>
        <p:spPr>
          <a:xfrm>
            <a:off x="7315093" y="5247600"/>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50" name="Rectangle 49">
            <a:extLst>
              <a:ext uri="{FF2B5EF4-FFF2-40B4-BE49-F238E27FC236}">
                <a16:creationId xmlns:a16="http://schemas.microsoft.com/office/drawing/2014/main" id="{52F30ED9-3E0E-021B-E61D-6B91E6236101}"/>
              </a:ext>
            </a:extLst>
          </p:cNvPr>
          <p:cNvSpPr/>
          <p:nvPr/>
        </p:nvSpPr>
        <p:spPr>
          <a:xfrm>
            <a:off x="7767743" y="5247600"/>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51" name="Rectangle 50">
            <a:extLst>
              <a:ext uri="{FF2B5EF4-FFF2-40B4-BE49-F238E27FC236}">
                <a16:creationId xmlns:a16="http://schemas.microsoft.com/office/drawing/2014/main" id="{ADE947E9-6840-9081-2EF1-DB0E64857982}"/>
              </a:ext>
            </a:extLst>
          </p:cNvPr>
          <p:cNvSpPr/>
          <p:nvPr/>
        </p:nvSpPr>
        <p:spPr>
          <a:xfrm>
            <a:off x="8220393" y="5247600"/>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52" name="Rectangle 51">
            <a:extLst>
              <a:ext uri="{FF2B5EF4-FFF2-40B4-BE49-F238E27FC236}">
                <a16:creationId xmlns:a16="http://schemas.microsoft.com/office/drawing/2014/main" id="{C5D98F39-89FD-4CE6-F754-75BB81048EE5}"/>
              </a:ext>
            </a:extLst>
          </p:cNvPr>
          <p:cNvSpPr/>
          <p:nvPr/>
        </p:nvSpPr>
        <p:spPr>
          <a:xfrm>
            <a:off x="9421510" y="4956203"/>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53" name="Rectangle 52">
            <a:extLst>
              <a:ext uri="{FF2B5EF4-FFF2-40B4-BE49-F238E27FC236}">
                <a16:creationId xmlns:a16="http://schemas.microsoft.com/office/drawing/2014/main" id="{13AFECDE-ACEC-728E-E4A2-D54C4927B9F2}"/>
              </a:ext>
            </a:extLst>
          </p:cNvPr>
          <p:cNvSpPr/>
          <p:nvPr/>
        </p:nvSpPr>
        <p:spPr>
          <a:xfrm>
            <a:off x="9874160" y="4956203"/>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54" name="Rectangle 53">
            <a:extLst>
              <a:ext uri="{FF2B5EF4-FFF2-40B4-BE49-F238E27FC236}">
                <a16:creationId xmlns:a16="http://schemas.microsoft.com/office/drawing/2014/main" id="{9B2825C6-4B48-BC27-20DF-85EAB309D259}"/>
              </a:ext>
            </a:extLst>
          </p:cNvPr>
          <p:cNvSpPr/>
          <p:nvPr/>
        </p:nvSpPr>
        <p:spPr>
          <a:xfrm>
            <a:off x="10326810" y="4956203"/>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55" name="Rectangle 54">
            <a:extLst>
              <a:ext uri="{FF2B5EF4-FFF2-40B4-BE49-F238E27FC236}">
                <a16:creationId xmlns:a16="http://schemas.microsoft.com/office/drawing/2014/main" id="{68E195CA-7264-9365-7E2B-4127837566C3}"/>
              </a:ext>
            </a:extLst>
          </p:cNvPr>
          <p:cNvSpPr/>
          <p:nvPr/>
        </p:nvSpPr>
        <p:spPr>
          <a:xfrm>
            <a:off x="9421510" y="5255237"/>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56" name="Rectangle 55">
            <a:extLst>
              <a:ext uri="{FF2B5EF4-FFF2-40B4-BE49-F238E27FC236}">
                <a16:creationId xmlns:a16="http://schemas.microsoft.com/office/drawing/2014/main" id="{865DA111-0601-688A-75B6-37A46FE58000}"/>
              </a:ext>
            </a:extLst>
          </p:cNvPr>
          <p:cNvSpPr/>
          <p:nvPr/>
        </p:nvSpPr>
        <p:spPr>
          <a:xfrm>
            <a:off x="9874160" y="5255237"/>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57" name="Rectangle 56">
            <a:extLst>
              <a:ext uri="{FF2B5EF4-FFF2-40B4-BE49-F238E27FC236}">
                <a16:creationId xmlns:a16="http://schemas.microsoft.com/office/drawing/2014/main" id="{D25D1FA5-D4BA-A2B5-33D6-B272F4D15E95}"/>
              </a:ext>
            </a:extLst>
          </p:cNvPr>
          <p:cNvSpPr/>
          <p:nvPr/>
        </p:nvSpPr>
        <p:spPr>
          <a:xfrm>
            <a:off x="10326810" y="5255237"/>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58" name="Text Placeholder 5">
            <a:extLst>
              <a:ext uri="{FF2B5EF4-FFF2-40B4-BE49-F238E27FC236}">
                <a16:creationId xmlns:a16="http://schemas.microsoft.com/office/drawing/2014/main" id="{038CD843-C5AB-C3ED-5155-A5963186C9A6}"/>
              </a:ext>
            </a:extLst>
          </p:cNvPr>
          <p:cNvSpPr txBox="1">
            <a:spLocks/>
          </p:cNvSpPr>
          <p:nvPr/>
        </p:nvSpPr>
        <p:spPr>
          <a:xfrm>
            <a:off x="467197" y="5861271"/>
            <a:ext cx="1977397" cy="75889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400" dirty="0">
                <a:solidFill>
                  <a:schemeClr val="tx1">
                    <a:lumMod val="75000"/>
                    <a:lumOff val="25000"/>
                  </a:schemeClr>
                </a:solidFill>
                <a:latin typeface="Calibri" panose="020F0502020204030204"/>
                <a:ea typeface="游ゴシック" panose="020B0400000000000000" pitchFamily="34" charset="-128"/>
              </a:rPr>
              <a:t>Switch observations between treatments </a:t>
            </a:r>
            <a:r>
              <a:rPr lang="en-NZ" altLang="ja-JP" sz="1400" b="1" dirty="0">
                <a:solidFill>
                  <a:schemeClr val="tx1">
                    <a:lumMod val="75000"/>
                    <a:lumOff val="25000"/>
                  </a:schemeClr>
                </a:solidFill>
                <a:latin typeface="Calibri" panose="020F0502020204030204"/>
                <a:ea typeface="游ゴシック" panose="020B0400000000000000" pitchFamily="34" charset="-128"/>
              </a:rPr>
              <a:t>within each block.</a:t>
            </a:r>
          </a:p>
        </p:txBody>
      </p:sp>
      <p:sp>
        <p:nvSpPr>
          <p:cNvPr id="59" name="Text Placeholder 5">
            <a:extLst>
              <a:ext uri="{FF2B5EF4-FFF2-40B4-BE49-F238E27FC236}">
                <a16:creationId xmlns:a16="http://schemas.microsoft.com/office/drawing/2014/main" id="{BFD734B4-75B8-23BB-60C8-0187DBEDD414}"/>
              </a:ext>
            </a:extLst>
          </p:cNvPr>
          <p:cNvSpPr txBox="1">
            <a:spLocks/>
          </p:cNvSpPr>
          <p:nvPr/>
        </p:nvSpPr>
        <p:spPr>
          <a:xfrm>
            <a:off x="3279537" y="4341228"/>
            <a:ext cx="992215" cy="3392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1" i="0"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rPr>
              <a:t>Block 1</a:t>
            </a:r>
            <a:endParaRPr kumimoji="1" lang="en-NZ" altLang="ja-JP" sz="1400" b="1" i="1"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0" i="1"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endParaRPr>
          </a:p>
        </p:txBody>
      </p:sp>
      <p:sp>
        <p:nvSpPr>
          <p:cNvPr id="60" name="Text Placeholder 5">
            <a:extLst>
              <a:ext uri="{FF2B5EF4-FFF2-40B4-BE49-F238E27FC236}">
                <a16:creationId xmlns:a16="http://schemas.microsoft.com/office/drawing/2014/main" id="{E6EE2867-8768-8219-D081-4E5FAFCFA8D6}"/>
              </a:ext>
            </a:extLst>
          </p:cNvPr>
          <p:cNvSpPr txBox="1">
            <a:spLocks/>
          </p:cNvSpPr>
          <p:nvPr/>
        </p:nvSpPr>
        <p:spPr>
          <a:xfrm>
            <a:off x="5422239" y="4341228"/>
            <a:ext cx="992215" cy="3392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1" i="0"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rPr>
              <a:t>Block 2</a:t>
            </a:r>
            <a:endParaRPr kumimoji="1" lang="en-NZ" altLang="ja-JP" sz="1400" b="1" i="1"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0" i="1"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endParaRPr>
          </a:p>
        </p:txBody>
      </p:sp>
      <p:sp>
        <p:nvSpPr>
          <p:cNvPr id="61" name="Text Placeholder 5">
            <a:extLst>
              <a:ext uri="{FF2B5EF4-FFF2-40B4-BE49-F238E27FC236}">
                <a16:creationId xmlns:a16="http://schemas.microsoft.com/office/drawing/2014/main" id="{BCCC89F6-9047-CDB5-C1B0-602A5632AC3F}"/>
              </a:ext>
            </a:extLst>
          </p:cNvPr>
          <p:cNvSpPr txBox="1">
            <a:spLocks/>
          </p:cNvSpPr>
          <p:nvPr/>
        </p:nvSpPr>
        <p:spPr>
          <a:xfrm>
            <a:off x="7447122" y="4344627"/>
            <a:ext cx="992215" cy="3392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1" i="0"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rPr>
              <a:t>Block 3  </a:t>
            </a:r>
            <a:endParaRPr kumimoji="1" lang="en-NZ" altLang="ja-JP" sz="1400" b="1" i="1"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0" i="1"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endParaRPr>
          </a:p>
        </p:txBody>
      </p:sp>
      <p:sp>
        <p:nvSpPr>
          <p:cNvPr id="62" name="Text Placeholder 5">
            <a:extLst>
              <a:ext uri="{FF2B5EF4-FFF2-40B4-BE49-F238E27FC236}">
                <a16:creationId xmlns:a16="http://schemas.microsoft.com/office/drawing/2014/main" id="{9FF51E0F-B854-ACE0-DF82-8484A1023BA6}"/>
              </a:ext>
            </a:extLst>
          </p:cNvPr>
          <p:cNvSpPr txBox="1">
            <a:spLocks/>
          </p:cNvSpPr>
          <p:nvPr/>
        </p:nvSpPr>
        <p:spPr>
          <a:xfrm>
            <a:off x="9596416" y="4349526"/>
            <a:ext cx="992215" cy="3392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1" i="0"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rPr>
              <a:t>Block 4</a:t>
            </a:r>
            <a:endParaRPr kumimoji="1" lang="en-NZ" altLang="ja-JP" sz="1400" b="1" i="1"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0" i="1"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endParaRPr>
          </a:p>
        </p:txBody>
      </p:sp>
      <p:sp>
        <p:nvSpPr>
          <p:cNvPr id="63" name="Rectangle 62">
            <a:extLst>
              <a:ext uri="{FF2B5EF4-FFF2-40B4-BE49-F238E27FC236}">
                <a16:creationId xmlns:a16="http://schemas.microsoft.com/office/drawing/2014/main" id="{5F562EF2-B95A-B47F-3F34-947154DBCADE}"/>
              </a:ext>
            </a:extLst>
          </p:cNvPr>
          <p:cNvSpPr/>
          <p:nvPr/>
        </p:nvSpPr>
        <p:spPr>
          <a:xfrm>
            <a:off x="3072800" y="5848196"/>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64" name="Rectangle 63">
            <a:extLst>
              <a:ext uri="{FF2B5EF4-FFF2-40B4-BE49-F238E27FC236}">
                <a16:creationId xmlns:a16="http://schemas.microsoft.com/office/drawing/2014/main" id="{B035F99D-EED1-89CB-465A-F27AD59E8DCB}"/>
              </a:ext>
            </a:extLst>
          </p:cNvPr>
          <p:cNvSpPr/>
          <p:nvPr/>
        </p:nvSpPr>
        <p:spPr>
          <a:xfrm>
            <a:off x="3525450" y="5848196"/>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65" name="Rectangle 64">
            <a:extLst>
              <a:ext uri="{FF2B5EF4-FFF2-40B4-BE49-F238E27FC236}">
                <a16:creationId xmlns:a16="http://schemas.microsoft.com/office/drawing/2014/main" id="{4776AE03-850F-98F1-D8C7-ED8375881DD0}"/>
              </a:ext>
            </a:extLst>
          </p:cNvPr>
          <p:cNvSpPr/>
          <p:nvPr/>
        </p:nvSpPr>
        <p:spPr>
          <a:xfrm>
            <a:off x="3978100" y="5848196"/>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66" name="Rectangle 65">
            <a:extLst>
              <a:ext uri="{FF2B5EF4-FFF2-40B4-BE49-F238E27FC236}">
                <a16:creationId xmlns:a16="http://schemas.microsoft.com/office/drawing/2014/main" id="{1744F976-4CA2-1FF9-D2DA-FAA3E58B2284}"/>
              </a:ext>
            </a:extLst>
          </p:cNvPr>
          <p:cNvSpPr/>
          <p:nvPr/>
        </p:nvSpPr>
        <p:spPr>
          <a:xfrm>
            <a:off x="5190477" y="5848196"/>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67" name="Rectangle 66">
            <a:extLst>
              <a:ext uri="{FF2B5EF4-FFF2-40B4-BE49-F238E27FC236}">
                <a16:creationId xmlns:a16="http://schemas.microsoft.com/office/drawing/2014/main" id="{A48C96FA-DCBA-A72F-8A74-F9D856357746}"/>
              </a:ext>
            </a:extLst>
          </p:cNvPr>
          <p:cNvSpPr/>
          <p:nvPr/>
        </p:nvSpPr>
        <p:spPr>
          <a:xfrm>
            <a:off x="5643127" y="5848196"/>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68" name="Rectangle 67">
            <a:extLst>
              <a:ext uri="{FF2B5EF4-FFF2-40B4-BE49-F238E27FC236}">
                <a16:creationId xmlns:a16="http://schemas.microsoft.com/office/drawing/2014/main" id="{44EFC3F9-B3B6-301F-BAF6-C62FB7B2BB55}"/>
              </a:ext>
            </a:extLst>
          </p:cNvPr>
          <p:cNvSpPr/>
          <p:nvPr/>
        </p:nvSpPr>
        <p:spPr>
          <a:xfrm>
            <a:off x="6095777" y="5848196"/>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69" name="Rectangle 68">
            <a:extLst>
              <a:ext uri="{FF2B5EF4-FFF2-40B4-BE49-F238E27FC236}">
                <a16:creationId xmlns:a16="http://schemas.microsoft.com/office/drawing/2014/main" id="{9BAD3719-6590-3F27-86F7-BD75960D2C5C}"/>
              </a:ext>
            </a:extLst>
          </p:cNvPr>
          <p:cNvSpPr/>
          <p:nvPr/>
        </p:nvSpPr>
        <p:spPr>
          <a:xfrm>
            <a:off x="7292233" y="5848196"/>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70" name="Rectangle 69">
            <a:extLst>
              <a:ext uri="{FF2B5EF4-FFF2-40B4-BE49-F238E27FC236}">
                <a16:creationId xmlns:a16="http://schemas.microsoft.com/office/drawing/2014/main" id="{21F22B0E-A353-032F-CA30-F4BD496476A2}"/>
              </a:ext>
            </a:extLst>
          </p:cNvPr>
          <p:cNvSpPr/>
          <p:nvPr/>
        </p:nvSpPr>
        <p:spPr>
          <a:xfrm>
            <a:off x="7744883" y="5848196"/>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71" name="Rectangle 70">
            <a:extLst>
              <a:ext uri="{FF2B5EF4-FFF2-40B4-BE49-F238E27FC236}">
                <a16:creationId xmlns:a16="http://schemas.microsoft.com/office/drawing/2014/main" id="{DE122A65-7531-67EE-F002-30257D140219}"/>
              </a:ext>
            </a:extLst>
          </p:cNvPr>
          <p:cNvSpPr/>
          <p:nvPr/>
        </p:nvSpPr>
        <p:spPr>
          <a:xfrm>
            <a:off x="8197533" y="5848196"/>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72" name="Rectangle 71">
            <a:extLst>
              <a:ext uri="{FF2B5EF4-FFF2-40B4-BE49-F238E27FC236}">
                <a16:creationId xmlns:a16="http://schemas.microsoft.com/office/drawing/2014/main" id="{1DAC82D7-A7FE-CE15-6D5E-000EDF291FC3}"/>
              </a:ext>
            </a:extLst>
          </p:cNvPr>
          <p:cNvSpPr/>
          <p:nvPr/>
        </p:nvSpPr>
        <p:spPr>
          <a:xfrm>
            <a:off x="9403091" y="5848196"/>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73" name="Rectangle 72">
            <a:extLst>
              <a:ext uri="{FF2B5EF4-FFF2-40B4-BE49-F238E27FC236}">
                <a16:creationId xmlns:a16="http://schemas.microsoft.com/office/drawing/2014/main" id="{D98CF46E-774C-2471-7F20-254D2D0D53D1}"/>
              </a:ext>
            </a:extLst>
          </p:cNvPr>
          <p:cNvSpPr/>
          <p:nvPr/>
        </p:nvSpPr>
        <p:spPr>
          <a:xfrm>
            <a:off x="9855741" y="5848196"/>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74" name="Rectangle 73">
            <a:extLst>
              <a:ext uri="{FF2B5EF4-FFF2-40B4-BE49-F238E27FC236}">
                <a16:creationId xmlns:a16="http://schemas.microsoft.com/office/drawing/2014/main" id="{56F370E9-DCA9-7020-CB37-D599C1F5F5E7}"/>
              </a:ext>
            </a:extLst>
          </p:cNvPr>
          <p:cNvSpPr/>
          <p:nvPr/>
        </p:nvSpPr>
        <p:spPr>
          <a:xfrm>
            <a:off x="10308391" y="5848196"/>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75" name="Rectangle 74">
            <a:extLst>
              <a:ext uri="{FF2B5EF4-FFF2-40B4-BE49-F238E27FC236}">
                <a16:creationId xmlns:a16="http://schemas.microsoft.com/office/drawing/2014/main" id="{BC36CF5C-756A-F551-A7BE-78900807CF5C}"/>
              </a:ext>
            </a:extLst>
          </p:cNvPr>
          <p:cNvSpPr/>
          <p:nvPr/>
        </p:nvSpPr>
        <p:spPr>
          <a:xfrm>
            <a:off x="3072800" y="6145799"/>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76" name="Rectangle 75">
            <a:extLst>
              <a:ext uri="{FF2B5EF4-FFF2-40B4-BE49-F238E27FC236}">
                <a16:creationId xmlns:a16="http://schemas.microsoft.com/office/drawing/2014/main" id="{F5429F62-E4CE-3D52-9257-86FEA4710414}"/>
              </a:ext>
            </a:extLst>
          </p:cNvPr>
          <p:cNvSpPr/>
          <p:nvPr/>
        </p:nvSpPr>
        <p:spPr>
          <a:xfrm>
            <a:off x="3525450" y="6145799"/>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77" name="Rectangle 76">
            <a:extLst>
              <a:ext uri="{FF2B5EF4-FFF2-40B4-BE49-F238E27FC236}">
                <a16:creationId xmlns:a16="http://schemas.microsoft.com/office/drawing/2014/main" id="{AEA649B9-524F-5E70-0073-F4AF08886FDF}"/>
              </a:ext>
            </a:extLst>
          </p:cNvPr>
          <p:cNvSpPr/>
          <p:nvPr/>
        </p:nvSpPr>
        <p:spPr>
          <a:xfrm>
            <a:off x="3978100" y="6145799"/>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78" name="Rectangle 77">
            <a:extLst>
              <a:ext uri="{FF2B5EF4-FFF2-40B4-BE49-F238E27FC236}">
                <a16:creationId xmlns:a16="http://schemas.microsoft.com/office/drawing/2014/main" id="{49F9CED4-AE83-5638-F78B-7E7FA4B58399}"/>
              </a:ext>
            </a:extLst>
          </p:cNvPr>
          <p:cNvSpPr/>
          <p:nvPr/>
        </p:nvSpPr>
        <p:spPr>
          <a:xfrm>
            <a:off x="3075297" y="6439949"/>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79" name="Rectangle 78">
            <a:extLst>
              <a:ext uri="{FF2B5EF4-FFF2-40B4-BE49-F238E27FC236}">
                <a16:creationId xmlns:a16="http://schemas.microsoft.com/office/drawing/2014/main" id="{8C0F0CAA-4E2B-29FC-3B06-FFE07E9D334B}"/>
              </a:ext>
            </a:extLst>
          </p:cNvPr>
          <p:cNvSpPr/>
          <p:nvPr/>
        </p:nvSpPr>
        <p:spPr>
          <a:xfrm>
            <a:off x="3527947" y="6439949"/>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80" name="Rectangle 79">
            <a:extLst>
              <a:ext uri="{FF2B5EF4-FFF2-40B4-BE49-F238E27FC236}">
                <a16:creationId xmlns:a16="http://schemas.microsoft.com/office/drawing/2014/main" id="{DCB112A8-6326-360A-1916-2CD1B14268FC}"/>
              </a:ext>
            </a:extLst>
          </p:cNvPr>
          <p:cNvSpPr/>
          <p:nvPr/>
        </p:nvSpPr>
        <p:spPr>
          <a:xfrm>
            <a:off x="3980597" y="6439949"/>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81" name="Rectangle 80">
            <a:extLst>
              <a:ext uri="{FF2B5EF4-FFF2-40B4-BE49-F238E27FC236}">
                <a16:creationId xmlns:a16="http://schemas.microsoft.com/office/drawing/2014/main" id="{1EFB128B-F9ED-241E-3B61-EF0CB28AE141}"/>
              </a:ext>
            </a:extLst>
          </p:cNvPr>
          <p:cNvSpPr/>
          <p:nvPr/>
        </p:nvSpPr>
        <p:spPr>
          <a:xfrm>
            <a:off x="5194005" y="6145799"/>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82" name="Rectangle 81">
            <a:extLst>
              <a:ext uri="{FF2B5EF4-FFF2-40B4-BE49-F238E27FC236}">
                <a16:creationId xmlns:a16="http://schemas.microsoft.com/office/drawing/2014/main" id="{F00243C9-6B51-F784-4CA3-0FE4D9E5778B}"/>
              </a:ext>
            </a:extLst>
          </p:cNvPr>
          <p:cNvSpPr/>
          <p:nvPr/>
        </p:nvSpPr>
        <p:spPr>
          <a:xfrm>
            <a:off x="5646655" y="6145799"/>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83" name="Rectangle 82">
            <a:extLst>
              <a:ext uri="{FF2B5EF4-FFF2-40B4-BE49-F238E27FC236}">
                <a16:creationId xmlns:a16="http://schemas.microsoft.com/office/drawing/2014/main" id="{C7324213-A043-0F36-86E6-F23B076DC6CF}"/>
              </a:ext>
            </a:extLst>
          </p:cNvPr>
          <p:cNvSpPr/>
          <p:nvPr/>
        </p:nvSpPr>
        <p:spPr>
          <a:xfrm>
            <a:off x="6099305" y="6145799"/>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84" name="Rectangle 83">
            <a:extLst>
              <a:ext uri="{FF2B5EF4-FFF2-40B4-BE49-F238E27FC236}">
                <a16:creationId xmlns:a16="http://schemas.microsoft.com/office/drawing/2014/main" id="{D3752549-9CC9-7400-5B27-64253D8EEED2}"/>
              </a:ext>
            </a:extLst>
          </p:cNvPr>
          <p:cNvSpPr/>
          <p:nvPr/>
        </p:nvSpPr>
        <p:spPr>
          <a:xfrm>
            <a:off x="5190477" y="6439949"/>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85" name="Rectangle 84">
            <a:extLst>
              <a:ext uri="{FF2B5EF4-FFF2-40B4-BE49-F238E27FC236}">
                <a16:creationId xmlns:a16="http://schemas.microsoft.com/office/drawing/2014/main" id="{F7E8211F-6415-4670-BBB2-929968973C91}"/>
              </a:ext>
            </a:extLst>
          </p:cNvPr>
          <p:cNvSpPr/>
          <p:nvPr/>
        </p:nvSpPr>
        <p:spPr>
          <a:xfrm>
            <a:off x="5643127" y="6439949"/>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86" name="Rectangle 85">
            <a:extLst>
              <a:ext uri="{FF2B5EF4-FFF2-40B4-BE49-F238E27FC236}">
                <a16:creationId xmlns:a16="http://schemas.microsoft.com/office/drawing/2014/main" id="{F32C3F42-9621-F988-46E1-39FF1FACC7B1}"/>
              </a:ext>
            </a:extLst>
          </p:cNvPr>
          <p:cNvSpPr/>
          <p:nvPr/>
        </p:nvSpPr>
        <p:spPr>
          <a:xfrm>
            <a:off x="6095777" y="6439949"/>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87" name="Rectangle 86">
            <a:extLst>
              <a:ext uri="{FF2B5EF4-FFF2-40B4-BE49-F238E27FC236}">
                <a16:creationId xmlns:a16="http://schemas.microsoft.com/office/drawing/2014/main" id="{97407004-E07C-19DD-7259-0D7DA84CDAA8}"/>
              </a:ext>
            </a:extLst>
          </p:cNvPr>
          <p:cNvSpPr/>
          <p:nvPr/>
        </p:nvSpPr>
        <p:spPr>
          <a:xfrm>
            <a:off x="7292233" y="6146981"/>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88" name="Rectangle 87">
            <a:extLst>
              <a:ext uri="{FF2B5EF4-FFF2-40B4-BE49-F238E27FC236}">
                <a16:creationId xmlns:a16="http://schemas.microsoft.com/office/drawing/2014/main" id="{8D9742A3-73BC-AD2F-52A2-1640852D3ECB}"/>
              </a:ext>
            </a:extLst>
          </p:cNvPr>
          <p:cNvSpPr/>
          <p:nvPr/>
        </p:nvSpPr>
        <p:spPr>
          <a:xfrm>
            <a:off x="7744883" y="6146981"/>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89" name="Rectangle 88">
            <a:extLst>
              <a:ext uri="{FF2B5EF4-FFF2-40B4-BE49-F238E27FC236}">
                <a16:creationId xmlns:a16="http://schemas.microsoft.com/office/drawing/2014/main" id="{26AC7974-82F7-EBF3-CAED-7E5BB848E566}"/>
              </a:ext>
            </a:extLst>
          </p:cNvPr>
          <p:cNvSpPr/>
          <p:nvPr/>
        </p:nvSpPr>
        <p:spPr>
          <a:xfrm>
            <a:off x="8197533" y="6146981"/>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90" name="Rectangle 89">
            <a:extLst>
              <a:ext uri="{FF2B5EF4-FFF2-40B4-BE49-F238E27FC236}">
                <a16:creationId xmlns:a16="http://schemas.microsoft.com/office/drawing/2014/main" id="{0F6148DA-939D-E262-4EB3-EB2986004DEB}"/>
              </a:ext>
            </a:extLst>
          </p:cNvPr>
          <p:cNvSpPr/>
          <p:nvPr/>
        </p:nvSpPr>
        <p:spPr>
          <a:xfrm>
            <a:off x="7296674" y="6438627"/>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91" name="Rectangle 90">
            <a:extLst>
              <a:ext uri="{FF2B5EF4-FFF2-40B4-BE49-F238E27FC236}">
                <a16:creationId xmlns:a16="http://schemas.microsoft.com/office/drawing/2014/main" id="{4BB085E0-F0B2-6D00-05DE-3C432E0065B5}"/>
              </a:ext>
            </a:extLst>
          </p:cNvPr>
          <p:cNvSpPr/>
          <p:nvPr/>
        </p:nvSpPr>
        <p:spPr>
          <a:xfrm>
            <a:off x="7749324" y="6438627"/>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92" name="Rectangle 91">
            <a:extLst>
              <a:ext uri="{FF2B5EF4-FFF2-40B4-BE49-F238E27FC236}">
                <a16:creationId xmlns:a16="http://schemas.microsoft.com/office/drawing/2014/main" id="{D9BDB158-6B40-D8EE-CFB6-139B9B17EA60}"/>
              </a:ext>
            </a:extLst>
          </p:cNvPr>
          <p:cNvSpPr/>
          <p:nvPr/>
        </p:nvSpPr>
        <p:spPr>
          <a:xfrm>
            <a:off x="8201974" y="6438627"/>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93" name="Rectangle 92">
            <a:extLst>
              <a:ext uri="{FF2B5EF4-FFF2-40B4-BE49-F238E27FC236}">
                <a16:creationId xmlns:a16="http://schemas.microsoft.com/office/drawing/2014/main" id="{8D41C468-0C97-E0B7-0FB9-041A6E30476B}"/>
              </a:ext>
            </a:extLst>
          </p:cNvPr>
          <p:cNvSpPr/>
          <p:nvPr/>
        </p:nvSpPr>
        <p:spPr>
          <a:xfrm>
            <a:off x="9403091" y="6147230"/>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94" name="Rectangle 93">
            <a:extLst>
              <a:ext uri="{FF2B5EF4-FFF2-40B4-BE49-F238E27FC236}">
                <a16:creationId xmlns:a16="http://schemas.microsoft.com/office/drawing/2014/main" id="{C628A72C-D589-970F-B570-33563FEFEE1C}"/>
              </a:ext>
            </a:extLst>
          </p:cNvPr>
          <p:cNvSpPr/>
          <p:nvPr/>
        </p:nvSpPr>
        <p:spPr>
          <a:xfrm>
            <a:off x="9855741" y="6147230"/>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95" name="Rectangle 94">
            <a:extLst>
              <a:ext uri="{FF2B5EF4-FFF2-40B4-BE49-F238E27FC236}">
                <a16:creationId xmlns:a16="http://schemas.microsoft.com/office/drawing/2014/main" id="{94AAAA13-063A-B9DA-1C58-2790236EADD7}"/>
              </a:ext>
            </a:extLst>
          </p:cNvPr>
          <p:cNvSpPr/>
          <p:nvPr/>
        </p:nvSpPr>
        <p:spPr>
          <a:xfrm>
            <a:off x="10308391" y="6147230"/>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96" name="Rectangle 95">
            <a:extLst>
              <a:ext uri="{FF2B5EF4-FFF2-40B4-BE49-F238E27FC236}">
                <a16:creationId xmlns:a16="http://schemas.microsoft.com/office/drawing/2014/main" id="{2F25A596-54B9-A024-E38D-FC6E57018D2C}"/>
              </a:ext>
            </a:extLst>
          </p:cNvPr>
          <p:cNvSpPr/>
          <p:nvPr/>
        </p:nvSpPr>
        <p:spPr>
          <a:xfrm>
            <a:off x="9403091" y="6446264"/>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97" name="Rectangle 96">
            <a:extLst>
              <a:ext uri="{FF2B5EF4-FFF2-40B4-BE49-F238E27FC236}">
                <a16:creationId xmlns:a16="http://schemas.microsoft.com/office/drawing/2014/main" id="{FCE91739-5438-6633-1850-40D89A62BD88}"/>
              </a:ext>
            </a:extLst>
          </p:cNvPr>
          <p:cNvSpPr/>
          <p:nvPr/>
        </p:nvSpPr>
        <p:spPr>
          <a:xfrm>
            <a:off x="9855741" y="6446264"/>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98" name="Rectangle 97">
            <a:extLst>
              <a:ext uri="{FF2B5EF4-FFF2-40B4-BE49-F238E27FC236}">
                <a16:creationId xmlns:a16="http://schemas.microsoft.com/office/drawing/2014/main" id="{729B9819-7F0C-C6CE-1A01-B067659AC2B2}"/>
              </a:ext>
            </a:extLst>
          </p:cNvPr>
          <p:cNvSpPr/>
          <p:nvPr/>
        </p:nvSpPr>
        <p:spPr>
          <a:xfrm>
            <a:off x="10308391" y="6446264"/>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Tree>
    <p:extLst>
      <p:ext uri="{BB962C8B-B14F-4D97-AF65-F5344CB8AC3E}">
        <p14:creationId xmlns:p14="http://schemas.microsoft.com/office/powerpoint/2010/main" val="4031214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0"/>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51"/>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52"/>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53"/>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54"/>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55"/>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56"/>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57"/>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58"/>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59"/>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60"/>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61"/>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62"/>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63"/>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64"/>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65"/>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66"/>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67"/>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68"/>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69"/>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70"/>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71"/>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72"/>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73"/>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74"/>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75"/>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76"/>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77"/>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78"/>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79"/>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80"/>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81"/>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82"/>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83"/>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84"/>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85"/>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86"/>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87"/>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88"/>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89"/>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90"/>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91"/>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92"/>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93"/>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94"/>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95"/>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96"/>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97"/>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p:bldP spid="31" grpId="0" animBg="1"/>
      <p:bldP spid="32" grpId="0" animBg="1"/>
      <p:bldP spid="33"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p:bldP spid="59" grpId="0"/>
      <p:bldP spid="60" grpId="0"/>
      <p:bldP spid="61" grpId="0"/>
      <p:bldP spid="62" grpId="0"/>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8" name="Footer Placeholder 2">
            <a:extLst>
              <a:ext uri="{FF2B5EF4-FFF2-40B4-BE49-F238E27FC236}">
                <a16:creationId xmlns:a16="http://schemas.microsoft.com/office/drawing/2014/main" id="{6C441BC2-97B1-40FC-901B-6774EA8C8C25}"/>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4.5 – Permutation Tests in RBDs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13" name="Title 6">
            <a:extLst>
              <a:ext uri="{FF2B5EF4-FFF2-40B4-BE49-F238E27FC236}">
                <a16:creationId xmlns:a16="http://schemas.microsoft.com/office/drawing/2014/main" id="{539E1FA8-24B4-FFD9-7C26-8B31D6C98125}"/>
              </a:ext>
            </a:extLst>
          </p:cNvPr>
          <p:cNvSpPr txBox="1">
            <a:spLocks/>
          </p:cNvSpPr>
          <p:nvPr/>
        </p:nvSpPr>
        <p:spPr>
          <a:xfrm>
            <a:off x="251223" y="237833"/>
            <a:ext cx="8617005"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4.5a – Permutation Tests in RBDs</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8" name="Rectangle 17">
            <a:extLst>
              <a:ext uri="{FF2B5EF4-FFF2-40B4-BE49-F238E27FC236}">
                <a16:creationId xmlns:a16="http://schemas.microsoft.com/office/drawing/2014/main" id="{17534943-4CAF-6EEB-B211-FBB44E6D7DCC}"/>
              </a:ext>
            </a:extLst>
          </p:cNvPr>
          <p:cNvSpPr/>
          <p:nvPr/>
        </p:nvSpPr>
        <p:spPr>
          <a:xfrm>
            <a:off x="989686" y="1160975"/>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19" name="Rectangle 18">
            <a:extLst>
              <a:ext uri="{FF2B5EF4-FFF2-40B4-BE49-F238E27FC236}">
                <a16:creationId xmlns:a16="http://schemas.microsoft.com/office/drawing/2014/main" id="{A8D16830-B274-F1A6-8214-3DA4EA7695E8}"/>
              </a:ext>
            </a:extLst>
          </p:cNvPr>
          <p:cNvSpPr/>
          <p:nvPr/>
        </p:nvSpPr>
        <p:spPr>
          <a:xfrm>
            <a:off x="1442336" y="1160975"/>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20" name="Rectangle 19">
            <a:extLst>
              <a:ext uri="{FF2B5EF4-FFF2-40B4-BE49-F238E27FC236}">
                <a16:creationId xmlns:a16="http://schemas.microsoft.com/office/drawing/2014/main" id="{90D52152-B256-2518-91E2-A55224CC6CD9}"/>
              </a:ext>
            </a:extLst>
          </p:cNvPr>
          <p:cNvSpPr/>
          <p:nvPr/>
        </p:nvSpPr>
        <p:spPr>
          <a:xfrm>
            <a:off x="1894986" y="1160975"/>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21" name="Rectangle 20">
            <a:extLst>
              <a:ext uri="{FF2B5EF4-FFF2-40B4-BE49-F238E27FC236}">
                <a16:creationId xmlns:a16="http://schemas.microsoft.com/office/drawing/2014/main" id="{39E5C22B-B0DB-F870-9BE4-3DF3890502D4}"/>
              </a:ext>
            </a:extLst>
          </p:cNvPr>
          <p:cNvSpPr/>
          <p:nvPr/>
        </p:nvSpPr>
        <p:spPr>
          <a:xfrm>
            <a:off x="3107363" y="1160975"/>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22" name="Rectangle 21">
            <a:extLst>
              <a:ext uri="{FF2B5EF4-FFF2-40B4-BE49-F238E27FC236}">
                <a16:creationId xmlns:a16="http://schemas.microsoft.com/office/drawing/2014/main" id="{E3E608BA-B173-AD38-6CBF-D1D8E826FDD8}"/>
              </a:ext>
            </a:extLst>
          </p:cNvPr>
          <p:cNvSpPr/>
          <p:nvPr/>
        </p:nvSpPr>
        <p:spPr>
          <a:xfrm>
            <a:off x="3560013" y="1160975"/>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23" name="Rectangle 22">
            <a:extLst>
              <a:ext uri="{FF2B5EF4-FFF2-40B4-BE49-F238E27FC236}">
                <a16:creationId xmlns:a16="http://schemas.microsoft.com/office/drawing/2014/main" id="{2F743009-728B-7C29-90E7-68DB9D527FE5}"/>
              </a:ext>
            </a:extLst>
          </p:cNvPr>
          <p:cNvSpPr/>
          <p:nvPr/>
        </p:nvSpPr>
        <p:spPr>
          <a:xfrm>
            <a:off x="4012663" y="1160975"/>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24" name="Rectangle 23">
            <a:extLst>
              <a:ext uri="{FF2B5EF4-FFF2-40B4-BE49-F238E27FC236}">
                <a16:creationId xmlns:a16="http://schemas.microsoft.com/office/drawing/2014/main" id="{DFC14EB8-7D91-D4D8-4EC3-566C71CD5C80}"/>
              </a:ext>
            </a:extLst>
          </p:cNvPr>
          <p:cNvSpPr/>
          <p:nvPr/>
        </p:nvSpPr>
        <p:spPr>
          <a:xfrm>
            <a:off x="5209119" y="1160975"/>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25" name="Rectangle 24">
            <a:extLst>
              <a:ext uri="{FF2B5EF4-FFF2-40B4-BE49-F238E27FC236}">
                <a16:creationId xmlns:a16="http://schemas.microsoft.com/office/drawing/2014/main" id="{4F41D103-1A53-AD51-036B-BA1FFDAC9122}"/>
              </a:ext>
            </a:extLst>
          </p:cNvPr>
          <p:cNvSpPr/>
          <p:nvPr/>
        </p:nvSpPr>
        <p:spPr>
          <a:xfrm>
            <a:off x="5661769" y="1160975"/>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26" name="Rectangle 25">
            <a:extLst>
              <a:ext uri="{FF2B5EF4-FFF2-40B4-BE49-F238E27FC236}">
                <a16:creationId xmlns:a16="http://schemas.microsoft.com/office/drawing/2014/main" id="{52E1C848-C77D-2419-52D9-0F085BA7A526}"/>
              </a:ext>
            </a:extLst>
          </p:cNvPr>
          <p:cNvSpPr/>
          <p:nvPr/>
        </p:nvSpPr>
        <p:spPr>
          <a:xfrm>
            <a:off x="6114419" y="1160975"/>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27" name="Rectangle 26">
            <a:extLst>
              <a:ext uri="{FF2B5EF4-FFF2-40B4-BE49-F238E27FC236}">
                <a16:creationId xmlns:a16="http://schemas.microsoft.com/office/drawing/2014/main" id="{092E363C-638D-F0C6-AD48-E352432AE00C}"/>
              </a:ext>
            </a:extLst>
          </p:cNvPr>
          <p:cNvSpPr/>
          <p:nvPr/>
        </p:nvSpPr>
        <p:spPr>
          <a:xfrm>
            <a:off x="7319977" y="1160975"/>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28" name="Rectangle 27">
            <a:extLst>
              <a:ext uri="{FF2B5EF4-FFF2-40B4-BE49-F238E27FC236}">
                <a16:creationId xmlns:a16="http://schemas.microsoft.com/office/drawing/2014/main" id="{6AE5F1B3-9E60-EB72-E4B5-1C684235D6BE}"/>
              </a:ext>
            </a:extLst>
          </p:cNvPr>
          <p:cNvSpPr/>
          <p:nvPr/>
        </p:nvSpPr>
        <p:spPr>
          <a:xfrm>
            <a:off x="7772627" y="1160975"/>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29" name="Rectangle 28">
            <a:extLst>
              <a:ext uri="{FF2B5EF4-FFF2-40B4-BE49-F238E27FC236}">
                <a16:creationId xmlns:a16="http://schemas.microsoft.com/office/drawing/2014/main" id="{92A514D2-F2F4-5E24-C97F-B46FB5F5D41F}"/>
              </a:ext>
            </a:extLst>
          </p:cNvPr>
          <p:cNvSpPr/>
          <p:nvPr/>
        </p:nvSpPr>
        <p:spPr>
          <a:xfrm>
            <a:off x="8225277" y="1160975"/>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30" name="Text Placeholder 5">
            <a:extLst>
              <a:ext uri="{FF2B5EF4-FFF2-40B4-BE49-F238E27FC236}">
                <a16:creationId xmlns:a16="http://schemas.microsoft.com/office/drawing/2014/main" id="{EFBEE47D-5AB1-371E-A582-74263E618A80}"/>
              </a:ext>
            </a:extLst>
          </p:cNvPr>
          <p:cNvSpPr txBox="1">
            <a:spLocks/>
          </p:cNvSpPr>
          <p:nvPr/>
        </p:nvSpPr>
        <p:spPr>
          <a:xfrm>
            <a:off x="0" y="1192557"/>
            <a:ext cx="826265" cy="81701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300" b="0" i="0"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rPr>
              <a:t>Original Blocked Sample</a:t>
            </a:r>
          </a:p>
        </p:txBody>
      </p:sp>
      <p:sp>
        <p:nvSpPr>
          <p:cNvPr id="31" name="Rectangle 30">
            <a:extLst>
              <a:ext uri="{FF2B5EF4-FFF2-40B4-BE49-F238E27FC236}">
                <a16:creationId xmlns:a16="http://schemas.microsoft.com/office/drawing/2014/main" id="{BC821FD9-BA13-F96E-CF29-E160A34BF918}"/>
              </a:ext>
            </a:extLst>
          </p:cNvPr>
          <p:cNvSpPr/>
          <p:nvPr/>
        </p:nvSpPr>
        <p:spPr>
          <a:xfrm>
            <a:off x="989686" y="1458578"/>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32" name="Rectangle 31">
            <a:extLst>
              <a:ext uri="{FF2B5EF4-FFF2-40B4-BE49-F238E27FC236}">
                <a16:creationId xmlns:a16="http://schemas.microsoft.com/office/drawing/2014/main" id="{574500D8-C64F-5E66-0C1A-009EB6AFC834}"/>
              </a:ext>
            </a:extLst>
          </p:cNvPr>
          <p:cNvSpPr/>
          <p:nvPr/>
        </p:nvSpPr>
        <p:spPr>
          <a:xfrm>
            <a:off x="1442336" y="1458578"/>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33" name="Rectangle 32">
            <a:extLst>
              <a:ext uri="{FF2B5EF4-FFF2-40B4-BE49-F238E27FC236}">
                <a16:creationId xmlns:a16="http://schemas.microsoft.com/office/drawing/2014/main" id="{96C439D4-0E83-5FFC-1626-565C78301A76}"/>
              </a:ext>
            </a:extLst>
          </p:cNvPr>
          <p:cNvSpPr/>
          <p:nvPr/>
        </p:nvSpPr>
        <p:spPr>
          <a:xfrm>
            <a:off x="1894986" y="1458578"/>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37" name="Rectangle 36">
            <a:extLst>
              <a:ext uri="{FF2B5EF4-FFF2-40B4-BE49-F238E27FC236}">
                <a16:creationId xmlns:a16="http://schemas.microsoft.com/office/drawing/2014/main" id="{C8D506A8-6D1E-05D0-1A5E-F641CABE72B7}"/>
              </a:ext>
            </a:extLst>
          </p:cNvPr>
          <p:cNvSpPr/>
          <p:nvPr/>
        </p:nvSpPr>
        <p:spPr>
          <a:xfrm>
            <a:off x="992183" y="1752728"/>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38" name="Rectangle 37">
            <a:extLst>
              <a:ext uri="{FF2B5EF4-FFF2-40B4-BE49-F238E27FC236}">
                <a16:creationId xmlns:a16="http://schemas.microsoft.com/office/drawing/2014/main" id="{3512498D-1914-2720-12D5-D9BBB719CBEE}"/>
              </a:ext>
            </a:extLst>
          </p:cNvPr>
          <p:cNvSpPr/>
          <p:nvPr/>
        </p:nvSpPr>
        <p:spPr>
          <a:xfrm>
            <a:off x="1444833" y="1752728"/>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39" name="Rectangle 38">
            <a:extLst>
              <a:ext uri="{FF2B5EF4-FFF2-40B4-BE49-F238E27FC236}">
                <a16:creationId xmlns:a16="http://schemas.microsoft.com/office/drawing/2014/main" id="{A8E7CDFF-FA3E-DEF3-EBAD-1CD8372B68CB}"/>
              </a:ext>
            </a:extLst>
          </p:cNvPr>
          <p:cNvSpPr/>
          <p:nvPr/>
        </p:nvSpPr>
        <p:spPr>
          <a:xfrm>
            <a:off x="1897483" y="1752728"/>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40" name="Rectangle 39">
            <a:extLst>
              <a:ext uri="{FF2B5EF4-FFF2-40B4-BE49-F238E27FC236}">
                <a16:creationId xmlns:a16="http://schemas.microsoft.com/office/drawing/2014/main" id="{E9E6A831-0B07-766C-9CEA-F245E53FF721}"/>
              </a:ext>
            </a:extLst>
          </p:cNvPr>
          <p:cNvSpPr/>
          <p:nvPr/>
        </p:nvSpPr>
        <p:spPr>
          <a:xfrm>
            <a:off x="3110891" y="1458578"/>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41" name="Rectangle 40">
            <a:extLst>
              <a:ext uri="{FF2B5EF4-FFF2-40B4-BE49-F238E27FC236}">
                <a16:creationId xmlns:a16="http://schemas.microsoft.com/office/drawing/2014/main" id="{016A5DC8-9981-38EC-7F39-5ADF8C7037E1}"/>
              </a:ext>
            </a:extLst>
          </p:cNvPr>
          <p:cNvSpPr/>
          <p:nvPr/>
        </p:nvSpPr>
        <p:spPr>
          <a:xfrm>
            <a:off x="3563541" y="1458578"/>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42" name="Rectangle 41">
            <a:extLst>
              <a:ext uri="{FF2B5EF4-FFF2-40B4-BE49-F238E27FC236}">
                <a16:creationId xmlns:a16="http://schemas.microsoft.com/office/drawing/2014/main" id="{5752049B-3D3C-FE9D-B923-DAE433344633}"/>
              </a:ext>
            </a:extLst>
          </p:cNvPr>
          <p:cNvSpPr/>
          <p:nvPr/>
        </p:nvSpPr>
        <p:spPr>
          <a:xfrm>
            <a:off x="4016191" y="1458578"/>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43" name="Rectangle 42">
            <a:extLst>
              <a:ext uri="{FF2B5EF4-FFF2-40B4-BE49-F238E27FC236}">
                <a16:creationId xmlns:a16="http://schemas.microsoft.com/office/drawing/2014/main" id="{CAF3EABA-59DC-CC14-53E5-88FCE34C1FA0}"/>
              </a:ext>
            </a:extLst>
          </p:cNvPr>
          <p:cNvSpPr/>
          <p:nvPr/>
        </p:nvSpPr>
        <p:spPr>
          <a:xfrm>
            <a:off x="3107363" y="1752728"/>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44" name="Rectangle 43">
            <a:extLst>
              <a:ext uri="{FF2B5EF4-FFF2-40B4-BE49-F238E27FC236}">
                <a16:creationId xmlns:a16="http://schemas.microsoft.com/office/drawing/2014/main" id="{C39B9FD6-0BCB-C304-D32D-D5F88E6B9526}"/>
              </a:ext>
            </a:extLst>
          </p:cNvPr>
          <p:cNvSpPr/>
          <p:nvPr/>
        </p:nvSpPr>
        <p:spPr>
          <a:xfrm>
            <a:off x="3560013" y="1752728"/>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45" name="Rectangle 44">
            <a:extLst>
              <a:ext uri="{FF2B5EF4-FFF2-40B4-BE49-F238E27FC236}">
                <a16:creationId xmlns:a16="http://schemas.microsoft.com/office/drawing/2014/main" id="{1EF62C6D-612F-9F6F-F8A7-0A4C2EC47884}"/>
              </a:ext>
            </a:extLst>
          </p:cNvPr>
          <p:cNvSpPr/>
          <p:nvPr/>
        </p:nvSpPr>
        <p:spPr>
          <a:xfrm>
            <a:off x="4012663" y="1752728"/>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46" name="Rectangle 45">
            <a:extLst>
              <a:ext uri="{FF2B5EF4-FFF2-40B4-BE49-F238E27FC236}">
                <a16:creationId xmlns:a16="http://schemas.microsoft.com/office/drawing/2014/main" id="{DABDB57B-99CD-9099-DB12-48CE26DD3B3E}"/>
              </a:ext>
            </a:extLst>
          </p:cNvPr>
          <p:cNvSpPr/>
          <p:nvPr/>
        </p:nvSpPr>
        <p:spPr>
          <a:xfrm>
            <a:off x="5209119" y="1459760"/>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47" name="Rectangle 46">
            <a:extLst>
              <a:ext uri="{FF2B5EF4-FFF2-40B4-BE49-F238E27FC236}">
                <a16:creationId xmlns:a16="http://schemas.microsoft.com/office/drawing/2014/main" id="{C3E5FECC-CFA5-7DB7-0CFC-87B2CF35D199}"/>
              </a:ext>
            </a:extLst>
          </p:cNvPr>
          <p:cNvSpPr/>
          <p:nvPr/>
        </p:nvSpPr>
        <p:spPr>
          <a:xfrm>
            <a:off x="5661769" y="1459760"/>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48" name="Rectangle 47">
            <a:extLst>
              <a:ext uri="{FF2B5EF4-FFF2-40B4-BE49-F238E27FC236}">
                <a16:creationId xmlns:a16="http://schemas.microsoft.com/office/drawing/2014/main" id="{3F43A9E3-B86B-71A3-F8BB-F9DC22744668}"/>
              </a:ext>
            </a:extLst>
          </p:cNvPr>
          <p:cNvSpPr/>
          <p:nvPr/>
        </p:nvSpPr>
        <p:spPr>
          <a:xfrm>
            <a:off x="6114419" y="1459760"/>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49" name="Rectangle 48">
            <a:extLst>
              <a:ext uri="{FF2B5EF4-FFF2-40B4-BE49-F238E27FC236}">
                <a16:creationId xmlns:a16="http://schemas.microsoft.com/office/drawing/2014/main" id="{BFAC5671-B751-91D6-126A-55DBE648CBE8}"/>
              </a:ext>
            </a:extLst>
          </p:cNvPr>
          <p:cNvSpPr/>
          <p:nvPr/>
        </p:nvSpPr>
        <p:spPr>
          <a:xfrm>
            <a:off x="5213560" y="1751406"/>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50" name="Rectangle 49">
            <a:extLst>
              <a:ext uri="{FF2B5EF4-FFF2-40B4-BE49-F238E27FC236}">
                <a16:creationId xmlns:a16="http://schemas.microsoft.com/office/drawing/2014/main" id="{52F30ED9-3E0E-021B-E61D-6B91E6236101}"/>
              </a:ext>
            </a:extLst>
          </p:cNvPr>
          <p:cNvSpPr/>
          <p:nvPr/>
        </p:nvSpPr>
        <p:spPr>
          <a:xfrm>
            <a:off x="5666210" y="1751406"/>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51" name="Rectangle 50">
            <a:extLst>
              <a:ext uri="{FF2B5EF4-FFF2-40B4-BE49-F238E27FC236}">
                <a16:creationId xmlns:a16="http://schemas.microsoft.com/office/drawing/2014/main" id="{ADE947E9-6840-9081-2EF1-DB0E64857982}"/>
              </a:ext>
            </a:extLst>
          </p:cNvPr>
          <p:cNvSpPr/>
          <p:nvPr/>
        </p:nvSpPr>
        <p:spPr>
          <a:xfrm>
            <a:off x="6118860" y="1751406"/>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52" name="Rectangle 51">
            <a:extLst>
              <a:ext uri="{FF2B5EF4-FFF2-40B4-BE49-F238E27FC236}">
                <a16:creationId xmlns:a16="http://schemas.microsoft.com/office/drawing/2014/main" id="{C5D98F39-89FD-4CE6-F754-75BB81048EE5}"/>
              </a:ext>
            </a:extLst>
          </p:cNvPr>
          <p:cNvSpPr/>
          <p:nvPr/>
        </p:nvSpPr>
        <p:spPr>
          <a:xfrm>
            <a:off x="7319977" y="1460009"/>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53" name="Rectangle 52">
            <a:extLst>
              <a:ext uri="{FF2B5EF4-FFF2-40B4-BE49-F238E27FC236}">
                <a16:creationId xmlns:a16="http://schemas.microsoft.com/office/drawing/2014/main" id="{13AFECDE-ACEC-728E-E4A2-D54C4927B9F2}"/>
              </a:ext>
            </a:extLst>
          </p:cNvPr>
          <p:cNvSpPr/>
          <p:nvPr/>
        </p:nvSpPr>
        <p:spPr>
          <a:xfrm>
            <a:off x="7772627" y="1460009"/>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54" name="Rectangle 53">
            <a:extLst>
              <a:ext uri="{FF2B5EF4-FFF2-40B4-BE49-F238E27FC236}">
                <a16:creationId xmlns:a16="http://schemas.microsoft.com/office/drawing/2014/main" id="{9B2825C6-4B48-BC27-20DF-85EAB309D259}"/>
              </a:ext>
            </a:extLst>
          </p:cNvPr>
          <p:cNvSpPr/>
          <p:nvPr/>
        </p:nvSpPr>
        <p:spPr>
          <a:xfrm>
            <a:off x="8225277" y="1460009"/>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55" name="Rectangle 54">
            <a:extLst>
              <a:ext uri="{FF2B5EF4-FFF2-40B4-BE49-F238E27FC236}">
                <a16:creationId xmlns:a16="http://schemas.microsoft.com/office/drawing/2014/main" id="{68E195CA-7264-9365-7E2B-4127837566C3}"/>
              </a:ext>
            </a:extLst>
          </p:cNvPr>
          <p:cNvSpPr/>
          <p:nvPr/>
        </p:nvSpPr>
        <p:spPr>
          <a:xfrm>
            <a:off x="7319977" y="1759043"/>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56" name="Rectangle 55">
            <a:extLst>
              <a:ext uri="{FF2B5EF4-FFF2-40B4-BE49-F238E27FC236}">
                <a16:creationId xmlns:a16="http://schemas.microsoft.com/office/drawing/2014/main" id="{865DA111-0601-688A-75B6-37A46FE58000}"/>
              </a:ext>
            </a:extLst>
          </p:cNvPr>
          <p:cNvSpPr/>
          <p:nvPr/>
        </p:nvSpPr>
        <p:spPr>
          <a:xfrm>
            <a:off x="7772627" y="1759043"/>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57" name="Rectangle 56">
            <a:extLst>
              <a:ext uri="{FF2B5EF4-FFF2-40B4-BE49-F238E27FC236}">
                <a16:creationId xmlns:a16="http://schemas.microsoft.com/office/drawing/2014/main" id="{D25D1FA5-D4BA-A2B5-33D6-B272F4D15E95}"/>
              </a:ext>
            </a:extLst>
          </p:cNvPr>
          <p:cNvSpPr/>
          <p:nvPr/>
        </p:nvSpPr>
        <p:spPr>
          <a:xfrm>
            <a:off x="8225277" y="1759043"/>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58" name="Text Placeholder 5">
            <a:extLst>
              <a:ext uri="{FF2B5EF4-FFF2-40B4-BE49-F238E27FC236}">
                <a16:creationId xmlns:a16="http://schemas.microsoft.com/office/drawing/2014/main" id="{038CD843-C5AB-C3ED-5155-A5963186C9A6}"/>
              </a:ext>
            </a:extLst>
          </p:cNvPr>
          <p:cNvSpPr txBox="1">
            <a:spLocks/>
          </p:cNvSpPr>
          <p:nvPr/>
        </p:nvSpPr>
        <p:spPr>
          <a:xfrm>
            <a:off x="-1" y="2352002"/>
            <a:ext cx="923307" cy="9772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300" dirty="0">
                <a:solidFill>
                  <a:schemeClr val="tx1">
                    <a:lumMod val="75000"/>
                    <a:lumOff val="25000"/>
                  </a:schemeClr>
                </a:solidFill>
                <a:latin typeface="Calibri" panose="020F0502020204030204"/>
                <a:ea typeface="游ゴシック" panose="020B0400000000000000" pitchFamily="34" charset="-128"/>
              </a:rPr>
              <a:t>1</a:t>
            </a:r>
            <a:r>
              <a:rPr lang="en-NZ" altLang="ja-JP" sz="1300" baseline="30000" dirty="0">
                <a:solidFill>
                  <a:schemeClr val="tx1">
                    <a:lumMod val="75000"/>
                    <a:lumOff val="25000"/>
                  </a:schemeClr>
                </a:solidFill>
                <a:latin typeface="Calibri" panose="020F0502020204030204"/>
                <a:ea typeface="游ゴシック" panose="020B0400000000000000" pitchFamily="34" charset="-128"/>
              </a:rPr>
              <a:t>st</a:t>
            </a:r>
            <a:r>
              <a:rPr lang="en-NZ" altLang="ja-JP" sz="1300" dirty="0">
                <a:solidFill>
                  <a:schemeClr val="tx1">
                    <a:lumMod val="75000"/>
                    <a:lumOff val="25000"/>
                  </a:schemeClr>
                </a:solidFill>
                <a:latin typeface="Calibri" panose="020F0502020204030204"/>
                <a:ea typeface="游ゴシック" panose="020B0400000000000000" pitchFamily="34" charset="-128"/>
              </a:rPr>
              <a:t>  </a:t>
            </a:r>
            <a:br>
              <a:rPr lang="en-NZ" altLang="ja-JP" sz="1300" dirty="0">
                <a:solidFill>
                  <a:schemeClr val="tx1">
                    <a:lumMod val="75000"/>
                    <a:lumOff val="25000"/>
                  </a:schemeClr>
                </a:solidFill>
                <a:latin typeface="Calibri" panose="020F0502020204030204"/>
                <a:ea typeface="游ゴシック" panose="020B0400000000000000" pitchFamily="34" charset="-128"/>
              </a:rPr>
            </a:br>
            <a:r>
              <a:rPr lang="en-NZ" altLang="ja-JP" sz="1300" dirty="0">
                <a:solidFill>
                  <a:schemeClr val="tx1">
                    <a:lumMod val="75000"/>
                    <a:lumOff val="25000"/>
                  </a:schemeClr>
                </a:solidFill>
                <a:latin typeface="Calibri" panose="020F0502020204030204"/>
                <a:ea typeface="游ゴシック" panose="020B0400000000000000" pitchFamily="34" charset="-128"/>
              </a:rPr>
              <a:t>re-ordered sample</a:t>
            </a:r>
            <a:endParaRPr kumimoji="1" lang="en-NZ" altLang="ja-JP" sz="1300" b="0" i="1"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300" b="0" i="1"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endParaRPr>
          </a:p>
        </p:txBody>
      </p:sp>
      <p:sp>
        <p:nvSpPr>
          <p:cNvPr id="59" name="Text Placeholder 5">
            <a:extLst>
              <a:ext uri="{FF2B5EF4-FFF2-40B4-BE49-F238E27FC236}">
                <a16:creationId xmlns:a16="http://schemas.microsoft.com/office/drawing/2014/main" id="{BFD734B4-75B8-23BB-60C8-0187DBEDD414}"/>
              </a:ext>
            </a:extLst>
          </p:cNvPr>
          <p:cNvSpPr txBox="1">
            <a:spLocks/>
          </p:cNvSpPr>
          <p:nvPr/>
        </p:nvSpPr>
        <p:spPr>
          <a:xfrm>
            <a:off x="1178004" y="845034"/>
            <a:ext cx="992215" cy="3392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1" i="0"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rPr>
              <a:t>Block 1</a:t>
            </a:r>
            <a:endParaRPr kumimoji="1" lang="en-NZ" altLang="ja-JP" sz="1400" b="1" i="1"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0" i="1"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endParaRPr>
          </a:p>
        </p:txBody>
      </p:sp>
      <p:sp>
        <p:nvSpPr>
          <p:cNvPr id="60" name="Text Placeholder 5">
            <a:extLst>
              <a:ext uri="{FF2B5EF4-FFF2-40B4-BE49-F238E27FC236}">
                <a16:creationId xmlns:a16="http://schemas.microsoft.com/office/drawing/2014/main" id="{E6EE2867-8768-8219-D081-4E5FAFCFA8D6}"/>
              </a:ext>
            </a:extLst>
          </p:cNvPr>
          <p:cNvSpPr txBox="1">
            <a:spLocks/>
          </p:cNvSpPr>
          <p:nvPr/>
        </p:nvSpPr>
        <p:spPr>
          <a:xfrm>
            <a:off x="3320706" y="845034"/>
            <a:ext cx="992215" cy="3392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1" i="0"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rPr>
              <a:t>Block 2</a:t>
            </a:r>
            <a:endParaRPr kumimoji="1" lang="en-NZ" altLang="ja-JP" sz="1400" b="1" i="1"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0" i="1"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endParaRPr>
          </a:p>
        </p:txBody>
      </p:sp>
      <p:sp>
        <p:nvSpPr>
          <p:cNvPr id="61" name="Text Placeholder 5">
            <a:extLst>
              <a:ext uri="{FF2B5EF4-FFF2-40B4-BE49-F238E27FC236}">
                <a16:creationId xmlns:a16="http://schemas.microsoft.com/office/drawing/2014/main" id="{BCCC89F6-9047-CDB5-C1B0-602A5632AC3F}"/>
              </a:ext>
            </a:extLst>
          </p:cNvPr>
          <p:cNvSpPr txBox="1">
            <a:spLocks/>
          </p:cNvSpPr>
          <p:nvPr/>
        </p:nvSpPr>
        <p:spPr>
          <a:xfrm>
            <a:off x="5345589" y="848433"/>
            <a:ext cx="992215" cy="3392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1" i="0"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rPr>
              <a:t>Block 3  </a:t>
            </a:r>
            <a:endParaRPr kumimoji="1" lang="en-NZ" altLang="ja-JP" sz="1400" b="1" i="1"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0" i="1"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endParaRPr>
          </a:p>
        </p:txBody>
      </p:sp>
      <p:sp>
        <p:nvSpPr>
          <p:cNvPr id="62" name="Text Placeholder 5">
            <a:extLst>
              <a:ext uri="{FF2B5EF4-FFF2-40B4-BE49-F238E27FC236}">
                <a16:creationId xmlns:a16="http://schemas.microsoft.com/office/drawing/2014/main" id="{9FF51E0F-B854-ACE0-DF82-8484A1023BA6}"/>
              </a:ext>
            </a:extLst>
          </p:cNvPr>
          <p:cNvSpPr txBox="1">
            <a:spLocks/>
          </p:cNvSpPr>
          <p:nvPr/>
        </p:nvSpPr>
        <p:spPr>
          <a:xfrm>
            <a:off x="7494883" y="853332"/>
            <a:ext cx="992215" cy="3392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1" i="0"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rPr>
              <a:t>Block 4</a:t>
            </a:r>
            <a:endParaRPr kumimoji="1" lang="en-NZ" altLang="ja-JP" sz="1400" b="1" i="1"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0" i="1"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endParaRPr>
          </a:p>
        </p:txBody>
      </p:sp>
      <p:sp>
        <p:nvSpPr>
          <p:cNvPr id="63" name="Rectangle 62">
            <a:extLst>
              <a:ext uri="{FF2B5EF4-FFF2-40B4-BE49-F238E27FC236}">
                <a16:creationId xmlns:a16="http://schemas.microsoft.com/office/drawing/2014/main" id="{5F562EF2-B95A-B47F-3F34-947154DBCADE}"/>
              </a:ext>
            </a:extLst>
          </p:cNvPr>
          <p:cNvSpPr/>
          <p:nvPr/>
        </p:nvSpPr>
        <p:spPr>
          <a:xfrm>
            <a:off x="971267" y="2352002"/>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64" name="Rectangle 63">
            <a:extLst>
              <a:ext uri="{FF2B5EF4-FFF2-40B4-BE49-F238E27FC236}">
                <a16:creationId xmlns:a16="http://schemas.microsoft.com/office/drawing/2014/main" id="{B035F99D-EED1-89CB-465A-F27AD59E8DCB}"/>
              </a:ext>
            </a:extLst>
          </p:cNvPr>
          <p:cNvSpPr/>
          <p:nvPr/>
        </p:nvSpPr>
        <p:spPr>
          <a:xfrm>
            <a:off x="1423917" y="2352002"/>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65" name="Rectangle 64">
            <a:extLst>
              <a:ext uri="{FF2B5EF4-FFF2-40B4-BE49-F238E27FC236}">
                <a16:creationId xmlns:a16="http://schemas.microsoft.com/office/drawing/2014/main" id="{4776AE03-850F-98F1-D8C7-ED8375881DD0}"/>
              </a:ext>
            </a:extLst>
          </p:cNvPr>
          <p:cNvSpPr/>
          <p:nvPr/>
        </p:nvSpPr>
        <p:spPr>
          <a:xfrm>
            <a:off x="1876567" y="2352002"/>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66" name="Rectangle 65">
            <a:extLst>
              <a:ext uri="{FF2B5EF4-FFF2-40B4-BE49-F238E27FC236}">
                <a16:creationId xmlns:a16="http://schemas.microsoft.com/office/drawing/2014/main" id="{1744F976-4CA2-1FF9-D2DA-FAA3E58B2284}"/>
              </a:ext>
            </a:extLst>
          </p:cNvPr>
          <p:cNvSpPr/>
          <p:nvPr/>
        </p:nvSpPr>
        <p:spPr>
          <a:xfrm>
            <a:off x="3088944" y="2352002"/>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67" name="Rectangle 66">
            <a:extLst>
              <a:ext uri="{FF2B5EF4-FFF2-40B4-BE49-F238E27FC236}">
                <a16:creationId xmlns:a16="http://schemas.microsoft.com/office/drawing/2014/main" id="{A48C96FA-DCBA-A72F-8A74-F9D856357746}"/>
              </a:ext>
            </a:extLst>
          </p:cNvPr>
          <p:cNvSpPr/>
          <p:nvPr/>
        </p:nvSpPr>
        <p:spPr>
          <a:xfrm>
            <a:off x="3541594" y="2352002"/>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68" name="Rectangle 67">
            <a:extLst>
              <a:ext uri="{FF2B5EF4-FFF2-40B4-BE49-F238E27FC236}">
                <a16:creationId xmlns:a16="http://schemas.microsoft.com/office/drawing/2014/main" id="{44EFC3F9-B3B6-301F-BAF6-C62FB7B2BB55}"/>
              </a:ext>
            </a:extLst>
          </p:cNvPr>
          <p:cNvSpPr/>
          <p:nvPr/>
        </p:nvSpPr>
        <p:spPr>
          <a:xfrm>
            <a:off x="3994244" y="2352002"/>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69" name="Rectangle 68">
            <a:extLst>
              <a:ext uri="{FF2B5EF4-FFF2-40B4-BE49-F238E27FC236}">
                <a16:creationId xmlns:a16="http://schemas.microsoft.com/office/drawing/2014/main" id="{9BAD3719-6590-3F27-86F7-BD75960D2C5C}"/>
              </a:ext>
            </a:extLst>
          </p:cNvPr>
          <p:cNvSpPr/>
          <p:nvPr/>
        </p:nvSpPr>
        <p:spPr>
          <a:xfrm>
            <a:off x="5190700" y="2352002"/>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70" name="Rectangle 69">
            <a:extLst>
              <a:ext uri="{FF2B5EF4-FFF2-40B4-BE49-F238E27FC236}">
                <a16:creationId xmlns:a16="http://schemas.microsoft.com/office/drawing/2014/main" id="{21F22B0E-A353-032F-CA30-F4BD496476A2}"/>
              </a:ext>
            </a:extLst>
          </p:cNvPr>
          <p:cNvSpPr/>
          <p:nvPr/>
        </p:nvSpPr>
        <p:spPr>
          <a:xfrm>
            <a:off x="5643350" y="2352002"/>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71" name="Rectangle 70">
            <a:extLst>
              <a:ext uri="{FF2B5EF4-FFF2-40B4-BE49-F238E27FC236}">
                <a16:creationId xmlns:a16="http://schemas.microsoft.com/office/drawing/2014/main" id="{DE122A65-7531-67EE-F002-30257D140219}"/>
              </a:ext>
            </a:extLst>
          </p:cNvPr>
          <p:cNvSpPr/>
          <p:nvPr/>
        </p:nvSpPr>
        <p:spPr>
          <a:xfrm>
            <a:off x="6096000" y="2352002"/>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72" name="Rectangle 71">
            <a:extLst>
              <a:ext uri="{FF2B5EF4-FFF2-40B4-BE49-F238E27FC236}">
                <a16:creationId xmlns:a16="http://schemas.microsoft.com/office/drawing/2014/main" id="{1DAC82D7-A7FE-CE15-6D5E-000EDF291FC3}"/>
              </a:ext>
            </a:extLst>
          </p:cNvPr>
          <p:cNvSpPr/>
          <p:nvPr/>
        </p:nvSpPr>
        <p:spPr>
          <a:xfrm>
            <a:off x="7301558" y="2352002"/>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73" name="Rectangle 72">
            <a:extLst>
              <a:ext uri="{FF2B5EF4-FFF2-40B4-BE49-F238E27FC236}">
                <a16:creationId xmlns:a16="http://schemas.microsoft.com/office/drawing/2014/main" id="{D98CF46E-774C-2471-7F20-254D2D0D53D1}"/>
              </a:ext>
            </a:extLst>
          </p:cNvPr>
          <p:cNvSpPr/>
          <p:nvPr/>
        </p:nvSpPr>
        <p:spPr>
          <a:xfrm>
            <a:off x="7754208" y="2352002"/>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74" name="Rectangle 73">
            <a:extLst>
              <a:ext uri="{FF2B5EF4-FFF2-40B4-BE49-F238E27FC236}">
                <a16:creationId xmlns:a16="http://schemas.microsoft.com/office/drawing/2014/main" id="{56F370E9-DCA9-7020-CB37-D599C1F5F5E7}"/>
              </a:ext>
            </a:extLst>
          </p:cNvPr>
          <p:cNvSpPr/>
          <p:nvPr/>
        </p:nvSpPr>
        <p:spPr>
          <a:xfrm>
            <a:off x="8206858" y="2352002"/>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75" name="Rectangle 74">
            <a:extLst>
              <a:ext uri="{FF2B5EF4-FFF2-40B4-BE49-F238E27FC236}">
                <a16:creationId xmlns:a16="http://schemas.microsoft.com/office/drawing/2014/main" id="{BC36CF5C-756A-F551-A7BE-78900807CF5C}"/>
              </a:ext>
            </a:extLst>
          </p:cNvPr>
          <p:cNvSpPr/>
          <p:nvPr/>
        </p:nvSpPr>
        <p:spPr>
          <a:xfrm>
            <a:off x="971267" y="2649605"/>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76" name="Rectangle 75">
            <a:extLst>
              <a:ext uri="{FF2B5EF4-FFF2-40B4-BE49-F238E27FC236}">
                <a16:creationId xmlns:a16="http://schemas.microsoft.com/office/drawing/2014/main" id="{F5429F62-E4CE-3D52-9257-86FEA4710414}"/>
              </a:ext>
            </a:extLst>
          </p:cNvPr>
          <p:cNvSpPr/>
          <p:nvPr/>
        </p:nvSpPr>
        <p:spPr>
          <a:xfrm>
            <a:off x="1423917" y="2649605"/>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77" name="Rectangle 76">
            <a:extLst>
              <a:ext uri="{FF2B5EF4-FFF2-40B4-BE49-F238E27FC236}">
                <a16:creationId xmlns:a16="http://schemas.microsoft.com/office/drawing/2014/main" id="{AEA649B9-524F-5E70-0073-F4AF08886FDF}"/>
              </a:ext>
            </a:extLst>
          </p:cNvPr>
          <p:cNvSpPr/>
          <p:nvPr/>
        </p:nvSpPr>
        <p:spPr>
          <a:xfrm>
            <a:off x="1876567" y="2649605"/>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78" name="Rectangle 77">
            <a:extLst>
              <a:ext uri="{FF2B5EF4-FFF2-40B4-BE49-F238E27FC236}">
                <a16:creationId xmlns:a16="http://schemas.microsoft.com/office/drawing/2014/main" id="{49F9CED4-AE83-5638-F78B-7E7FA4B58399}"/>
              </a:ext>
            </a:extLst>
          </p:cNvPr>
          <p:cNvSpPr/>
          <p:nvPr/>
        </p:nvSpPr>
        <p:spPr>
          <a:xfrm>
            <a:off x="973764" y="2943755"/>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79" name="Rectangle 78">
            <a:extLst>
              <a:ext uri="{FF2B5EF4-FFF2-40B4-BE49-F238E27FC236}">
                <a16:creationId xmlns:a16="http://schemas.microsoft.com/office/drawing/2014/main" id="{8C0F0CAA-4E2B-29FC-3B06-FFE07E9D334B}"/>
              </a:ext>
            </a:extLst>
          </p:cNvPr>
          <p:cNvSpPr/>
          <p:nvPr/>
        </p:nvSpPr>
        <p:spPr>
          <a:xfrm>
            <a:off x="1426414" y="2943755"/>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80" name="Rectangle 79">
            <a:extLst>
              <a:ext uri="{FF2B5EF4-FFF2-40B4-BE49-F238E27FC236}">
                <a16:creationId xmlns:a16="http://schemas.microsoft.com/office/drawing/2014/main" id="{DCB112A8-6326-360A-1916-2CD1B14268FC}"/>
              </a:ext>
            </a:extLst>
          </p:cNvPr>
          <p:cNvSpPr/>
          <p:nvPr/>
        </p:nvSpPr>
        <p:spPr>
          <a:xfrm>
            <a:off x="1879064" y="2943755"/>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81" name="Rectangle 80">
            <a:extLst>
              <a:ext uri="{FF2B5EF4-FFF2-40B4-BE49-F238E27FC236}">
                <a16:creationId xmlns:a16="http://schemas.microsoft.com/office/drawing/2014/main" id="{1EFB128B-F9ED-241E-3B61-EF0CB28AE141}"/>
              </a:ext>
            </a:extLst>
          </p:cNvPr>
          <p:cNvSpPr/>
          <p:nvPr/>
        </p:nvSpPr>
        <p:spPr>
          <a:xfrm>
            <a:off x="3092472" y="2649605"/>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82" name="Rectangle 81">
            <a:extLst>
              <a:ext uri="{FF2B5EF4-FFF2-40B4-BE49-F238E27FC236}">
                <a16:creationId xmlns:a16="http://schemas.microsoft.com/office/drawing/2014/main" id="{F00243C9-6B51-F784-4CA3-0FE4D9E5778B}"/>
              </a:ext>
            </a:extLst>
          </p:cNvPr>
          <p:cNvSpPr/>
          <p:nvPr/>
        </p:nvSpPr>
        <p:spPr>
          <a:xfrm>
            <a:off x="3545122" y="2649605"/>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83" name="Rectangle 82">
            <a:extLst>
              <a:ext uri="{FF2B5EF4-FFF2-40B4-BE49-F238E27FC236}">
                <a16:creationId xmlns:a16="http://schemas.microsoft.com/office/drawing/2014/main" id="{C7324213-A043-0F36-86E6-F23B076DC6CF}"/>
              </a:ext>
            </a:extLst>
          </p:cNvPr>
          <p:cNvSpPr/>
          <p:nvPr/>
        </p:nvSpPr>
        <p:spPr>
          <a:xfrm>
            <a:off x="3997772" y="2649605"/>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84" name="Rectangle 83">
            <a:extLst>
              <a:ext uri="{FF2B5EF4-FFF2-40B4-BE49-F238E27FC236}">
                <a16:creationId xmlns:a16="http://schemas.microsoft.com/office/drawing/2014/main" id="{D3752549-9CC9-7400-5B27-64253D8EEED2}"/>
              </a:ext>
            </a:extLst>
          </p:cNvPr>
          <p:cNvSpPr/>
          <p:nvPr/>
        </p:nvSpPr>
        <p:spPr>
          <a:xfrm>
            <a:off x="3088944" y="2943755"/>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85" name="Rectangle 84">
            <a:extLst>
              <a:ext uri="{FF2B5EF4-FFF2-40B4-BE49-F238E27FC236}">
                <a16:creationId xmlns:a16="http://schemas.microsoft.com/office/drawing/2014/main" id="{F7E8211F-6415-4670-BBB2-929968973C91}"/>
              </a:ext>
            </a:extLst>
          </p:cNvPr>
          <p:cNvSpPr/>
          <p:nvPr/>
        </p:nvSpPr>
        <p:spPr>
          <a:xfrm>
            <a:off x="3541594" y="2943755"/>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86" name="Rectangle 85">
            <a:extLst>
              <a:ext uri="{FF2B5EF4-FFF2-40B4-BE49-F238E27FC236}">
                <a16:creationId xmlns:a16="http://schemas.microsoft.com/office/drawing/2014/main" id="{F32C3F42-9621-F988-46E1-39FF1FACC7B1}"/>
              </a:ext>
            </a:extLst>
          </p:cNvPr>
          <p:cNvSpPr/>
          <p:nvPr/>
        </p:nvSpPr>
        <p:spPr>
          <a:xfrm>
            <a:off x="3994244" y="2943755"/>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87" name="Rectangle 86">
            <a:extLst>
              <a:ext uri="{FF2B5EF4-FFF2-40B4-BE49-F238E27FC236}">
                <a16:creationId xmlns:a16="http://schemas.microsoft.com/office/drawing/2014/main" id="{97407004-E07C-19DD-7259-0D7DA84CDAA8}"/>
              </a:ext>
            </a:extLst>
          </p:cNvPr>
          <p:cNvSpPr/>
          <p:nvPr/>
        </p:nvSpPr>
        <p:spPr>
          <a:xfrm>
            <a:off x="5190700" y="2650787"/>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88" name="Rectangle 87">
            <a:extLst>
              <a:ext uri="{FF2B5EF4-FFF2-40B4-BE49-F238E27FC236}">
                <a16:creationId xmlns:a16="http://schemas.microsoft.com/office/drawing/2014/main" id="{8D9742A3-73BC-AD2F-52A2-1640852D3ECB}"/>
              </a:ext>
            </a:extLst>
          </p:cNvPr>
          <p:cNvSpPr/>
          <p:nvPr/>
        </p:nvSpPr>
        <p:spPr>
          <a:xfrm>
            <a:off x="5643350" y="2650787"/>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89" name="Rectangle 88">
            <a:extLst>
              <a:ext uri="{FF2B5EF4-FFF2-40B4-BE49-F238E27FC236}">
                <a16:creationId xmlns:a16="http://schemas.microsoft.com/office/drawing/2014/main" id="{26AC7974-82F7-EBF3-CAED-7E5BB848E566}"/>
              </a:ext>
            </a:extLst>
          </p:cNvPr>
          <p:cNvSpPr/>
          <p:nvPr/>
        </p:nvSpPr>
        <p:spPr>
          <a:xfrm>
            <a:off x="6096000" y="2650787"/>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90" name="Rectangle 89">
            <a:extLst>
              <a:ext uri="{FF2B5EF4-FFF2-40B4-BE49-F238E27FC236}">
                <a16:creationId xmlns:a16="http://schemas.microsoft.com/office/drawing/2014/main" id="{0F6148DA-939D-E262-4EB3-EB2986004DEB}"/>
              </a:ext>
            </a:extLst>
          </p:cNvPr>
          <p:cNvSpPr/>
          <p:nvPr/>
        </p:nvSpPr>
        <p:spPr>
          <a:xfrm>
            <a:off x="5195141" y="2942433"/>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91" name="Rectangle 90">
            <a:extLst>
              <a:ext uri="{FF2B5EF4-FFF2-40B4-BE49-F238E27FC236}">
                <a16:creationId xmlns:a16="http://schemas.microsoft.com/office/drawing/2014/main" id="{4BB085E0-F0B2-6D00-05DE-3C432E0065B5}"/>
              </a:ext>
            </a:extLst>
          </p:cNvPr>
          <p:cNvSpPr/>
          <p:nvPr/>
        </p:nvSpPr>
        <p:spPr>
          <a:xfrm>
            <a:off x="5647791" y="2942433"/>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92" name="Rectangle 91">
            <a:extLst>
              <a:ext uri="{FF2B5EF4-FFF2-40B4-BE49-F238E27FC236}">
                <a16:creationId xmlns:a16="http://schemas.microsoft.com/office/drawing/2014/main" id="{D9BDB158-6B40-D8EE-CFB6-139B9B17EA60}"/>
              </a:ext>
            </a:extLst>
          </p:cNvPr>
          <p:cNvSpPr/>
          <p:nvPr/>
        </p:nvSpPr>
        <p:spPr>
          <a:xfrm>
            <a:off x="6100441" y="2942433"/>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93" name="Rectangle 92">
            <a:extLst>
              <a:ext uri="{FF2B5EF4-FFF2-40B4-BE49-F238E27FC236}">
                <a16:creationId xmlns:a16="http://schemas.microsoft.com/office/drawing/2014/main" id="{8D41C468-0C97-E0B7-0FB9-041A6E30476B}"/>
              </a:ext>
            </a:extLst>
          </p:cNvPr>
          <p:cNvSpPr/>
          <p:nvPr/>
        </p:nvSpPr>
        <p:spPr>
          <a:xfrm>
            <a:off x="7301558" y="2651036"/>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94" name="Rectangle 93">
            <a:extLst>
              <a:ext uri="{FF2B5EF4-FFF2-40B4-BE49-F238E27FC236}">
                <a16:creationId xmlns:a16="http://schemas.microsoft.com/office/drawing/2014/main" id="{C628A72C-D589-970F-B570-33563FEFEE1C}"/>
              </a:ext>
            </a:extLst>
          </p:cNvPr>
          <p:cNvSpPr/>
          <p:nvPr/>
        </p:nvSpPr>
        <p:spPr>
          <a:xfrm>
            <a:off x="7754208" y="2651036"/>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95" name="Rectangle 94">
            <a:extLst>
              <a:ext uri="{FF2B5EF4-FFF2-40B4-BE49-F238E27FC236}">
                <a16:creationId xmlns:a16="http://schemas.microsoft.com/office/drawing/2014/main" id="{94AAAA13-063A-B9DA-1C58-2790236EADD7}"/>
              </a:ext>
            </a:extLst>
          </p:cNvPr>
          <p:cNvSpPr/>
          <p:nvPr/>
        </p:nvSpPr>
        <p:spPr>
          <a:xfrm>
            <a:off x="8206858" y="2651036"/>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96" name="Rectangle 95">
            <a:extLst>
              <a:ext uri="{FF2B5EF4-FFF2-40B4-BE49-F238E27FC236}">
                <a16:creationId xmlns:a16="http://schemas.microsoft.com/office/drawing/2014/main" id="{2F25A596-54B9-A024-E38D-FC6E57018D2C}"/>
              </a:ext>
            </a:extLst>
          </p:cNvPr>
          <p:cNvSpPr/>
          <p:nvPr/>
        </p:nvSpPr>
        <p:spPr>
          <a:xfrm>
            <a:off x="7301558" y="2950070"/>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97" name="Rectangle 96">
            <a:extLst>
              <a:ext uri="{FF2B5EF4-FFF2-40B4-BE49-F238E27FC236}">
                <a16:creationId xmlns:a16="http://schemas.microsoft.com/office/drawing/2014/main" id="{FCE91739-5438-6633-1850-40D89A62BD88}"/>
              </a:ext>
            </a:extLst>
          </p:cNvPr>
          <p:cNvSpPr/>
          <p:nvPr/>
        </p:nvSpPr>
        <p:spPr>
          <a:xfrm>
            <a:off x="7754208" y="2950070"/>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98" name="Rectangle 97">
            <a:extLst>
              <a:ext uri="{FF2B5EF4-FFF2-40B4-BE49-F238E27FC236}">
                <a16:creationId xmlns:a16="http://schemas.microsoft.com/office/drawing/2014/main" id="{729B9819-7F0C-C6CE-1A01-B067659AC2B2}"/>
              </a:ext>
            </a:extLst>
          </p:cNvPr>
          <p:cNvSpPr/>
          <p:nvPr/>
        </p:nvSpPr>
        <p:spPr>
          <a:xfrm>
            <a:off x="8206858" y="2950070"/>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mc:AlternateContent xmlns:mc="http://schemas.openxmlformats.org/markup-compatibility/2006" xmlns:a14="http://schemas.microsoft.com/office/drawing/2010/main">
        <mc:Choice Requires="a14">
          <p:sp>
            <p:nvSpPr>
              <p:cNvPr id="99" name="Text Placeholder 5">
                <a:extLst>
                  <a:ext uri="{FF2B5EF4-FFF2-40B4-BE49-F238E27FC236}">
                    <a16:creationId xmlns:a16="http://schemas.microsoft.com/office/drawing/2014/main" id="{A69D1552-2E3E-ED68-FAF9-BC89C87381B5}"/>
                  </a:ext>
                </a:extLst>
              </p:cNvPr>
              <p:cNvSpPr txBox="1">
                <a:spLocks/>
              </p:cNvSpPr>
              <p:nvPr/>
            </p:nvSpPr>
            <p:spPr>
              <a:xfrm>
                <a:off x="8868228" y="1433930"/>
                <a:ext cx="2479145" cy="30034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400" dirty="0">
                    <a:solidFill>
                      <a:schemeClr val="tx1">
                        <a:lumMod val="75000"/>
                        <a:lumOff val="25000"/>
                      </a:schemeClr>
                    </a:solidFill>
                    <a:latin typeface="Calibri" panose="020F0502020204030204"/>
                    <a:ea typeface="游ゴシック" panose="020B0400000000000000" pitchFamily="34" charset="-128"/>
                  </a:rPr>
                  <a:t>Calculate F-Statistic (</a:t>
                </a:r>
                <a14:m>
                  <m:oMath xmlns:m="http://schemas.openxmlformats.org/officeDocument/2006/math">
                    <m:sSub>
                      <m:sSubPr>
                        <m:ctrlPr>
                          <a:rPr lang="en-NZ" altLang="ja-JP" sz="1400" b="1" i="1" smtClean="0">
                            <a:solidFill>
                              <a:schemeClr val="tx1">
                                <a:lumMod val="75000"/>
                                <a:lumOff val="25000"/>
                              </a:schemeClr>
                            </a:solidFill>
                            <a:latin typeface="Cambria Math" panose="02040503050406030204" pitchFamily="18" charset="0"/>
                            <a:ea typeface="游ゴシック" panose="020B0400000000000000" pitchFamily="34" charset="-128"/>
                          </a:rPr>
                        </m:ctrlPr>
                      </m:sSubPr>
                      <m:e>
                        <m:r>
                          <a:rPr lang="en-NZ" altLang="ja-JP" sz="1400" b="1" i="1" smtClean="0">
                            <a:solidFill>
                              <a:schemeClr val="tx1">
                                <a:lumMod val="75000"/>
                                <a:lumOff val="25000"/>
                              </a:schemeClr>
                            </a:solidFill>
                            <a:latin typeface="Cambria Math" panose="02040503050406030204" pitchFamily="18" charset="0"/>
                            <a:ea typeface="游ゴシック" panose="020B0400000000000000" pitchFamily="34" charset="-128"/>
                          </a:rPr>
                          <m:t>𝑭</m:t>
                        </m:r>
                      </m:e>
                      <m:sub>
                        <m:r>
                          <a:rPr lang="en-NZ" altLang="ja-JP" sz="1400" b="1" i="1" smtClean="0">
                            <a:solidFill>
                              <a:schemeClr val="tx1">
                                <a:lumMod val="75000"/>
                                <a:lumOff val="25000"/>
                              </a:schemeClr>
                            </a:solidFill>
                            <a:latin typeface="Cambria Math" panose="02040503050406030204" pitchFamily="18" charset="0"/>
                            <a:ea typeface="游ゴシック" panose="020B0400000000000000" pitchFamily="34" charset="-128"/>
                          </a:rPr>
                          <m:t>𝑶𝒃𝒔</m:t>
                        </m:r>
                      </m:sub>
                    </m:sSub>
                  </m:oMath>
                </a14:m>
                <a:r>
                  <a:rPr kumimoji="1" lang="en-NZ" altLang="ja-JP" sz="1400" b="0"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rPr>
                  <a:t>)</a:t>
                </a:r>
              </a:p>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0" i="1"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endParaRPr>
              </a:p>
            </p:txBody>
          </p:sp>
        </mc:Choice>
        <mc:Fallback xmlns="">
          <p:sp>
            <p:nvSpPr>
              <p:cNvPr id="99" name="Text Placeholder 5">
                <a:extLst>
                  <a:ext uri="{FF2B5EF4-FFF2-40B4-BE49-F238E27FC236}">
                    <a16:creationId xmlns:a16="http://schemas.microsoft.com/office/drawing/2014/main" id="{A69D1552-2E3E-ED68-FAF9-BC89C87381B5}"/>
                  </a:ext>
                </a:extLst>
              </p:cNvPr>
              <p:cNvSpPr txBox="1">
                <a:spLocks noRot="1" noChangeAspect="1" noMove="1" noResize="1" noEditPoints="1" noAdjustHandles="1" noChangeArrowheads="1" noChangeShapeType="1" noTextEdit="1"/>
              </p:cNvSpPr>
              <p:nvPr/>
            </p:nvSpPr>
            <p:spPr>
              <a:xfrm>
                <a:off x="8868228" y="1433930"/>
                <a:ext cx="2479145" cy="300346"/>
              </a:xfrm>
              <a:prstGeom prst="rect">
                <a:avLst/>
              </a:prstGeom>
              <a:blipFill>
                <a:blip r:embed="rId2"/>
                <a:stretch>
                  <a:fillRect l="-739" t="-4082" b="-24490"/>
                </a:stretch>
              </a:blipFill>
            </p:spPr>
            <p:txBody>
              <a:bodyPr/>
              <a:lstStyle/>
              <a:p>
                <a:r>
                  <a:rPr lang="en-NZ">
                    <a:noFill/>
                  </a:rPr>
                  <a:t> </a:t>
                </a:r>
              </a:p>
            </p:txBody>
          </p:sp>
        </mc:Fallback>
      </mc:AlternateContent>
      <p:sp>
        <p:nvSpPr>
          <p:cNvPr id="100" name="Text Placeholder 5">
            <a:extLst>
              <a:ext uri="{FF2B5EF4-FFF2-40B4-BE49-F238E27FC236}">
                <a16:creationId xmlns:a16="http://schemas.microsoft.com/office/drawing/2014/main" id="{C8F28103-881C-E520-A9C8-E432C74F1C72}"/>
              </a:ext>
            </a:extLst>
          </p:cNvPr>
          <p:cNvSpPr txBox="1">
            <a:spLocks/>
          </p:cNvSpPr>
          <p:nvPr/>
        </p:nvSpPr>
        <p:spPr>
          <a:xfrm>
            <a:off x="540" y="3830457"/>
            <a:ext cx="923307" cy="9772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300" dirty="0">
                <a:solidFill>
                  <a:schemeClr val="tx1">
                    <a:lumMod val="75000"/>
                    <a:lumOff val="25000"/>
                  </a:schemeClr>
                </a:solidFill>
                <a:latin typeface="Calibri" panose="020F0502020204030204"/>
                <a:ea typeface="游ゴシック" panose="020B0400000000000000" pitchFamily="34" charset="-128"/>
              </a:rPr>
              <a:t>L</a:t>
            </a:r>
            <a:r>
              <a:rPr lang="en-NZ" altLang="ja-JP" sz="1300" baseline="30000" dirty="0">
                <a:solidFill>
                  <a:schemeClr val="tx1">
                    <a:lumMod val="75000"/>
                    <a:lumOff val="25000"/>
                  </a:schemeClr>
                </a:solidFill>
                <a:latin typeface="Calibri" panose="020F0502020204030204"/>
                <a:ea typeface="游ゴシック" panose="020B0400000000000000" pitchFamily="34" charset="-128"/>
              </a:rPr>
              <a:t>th</a:t>
            </a:r>
            <a:r>
              <a:rPr lang="en-NZ" altLang="ja-JP" sz="1300" dirty="0">
                <a:solidFill>
                  <a:schemeClr val="tx1">
                    <a:lumMod val="75000"/>
                    <a:lumOff val="25000"/>
                  </a:schemeClr>
                </a:solidFill>
                <a:latin typeface="Calibri" panose="020F0502020204030204"/>
                <a:ea typeface="游ゴシック" panose="020B0400000000000000" pitchFamily="34" charset="-128"/>
              </a:rPr>
              <a:t>  </a:t>
            </a:r>
            <a:br>
              <a:rPr lang="en-NZ" altLang="ja-JP" sz="1300" dirty="0">
                <a:solidFill>
                  <a:schemeClr val="tx1">
                    <a:lumMod val="75000"/>
                    <a:lumOff val="25000"/>
                  </a:schemeClr>
                </a:solidFill>
                <a:latin typeface="Calibri" panose="020F0502020204030204"/>
                <a:ea typeface="游ゴシック" panose="020B0400000000000000" pitchFamily="34" charset="-128"/>
              </a:rPr>
            </a:br>
            <a:r>
              <a:rPr lang="en-NZ" altLang="ja-JP" sz="1300" dirty="0">
                <a:solidFill>
                  <a:schemeClr val="tx1">
                    <a:lumMod val="75000"/>
                    <a:lumOff val="25000"/>
                  </a:schemeClr>
                </a:solidFill>
                <a:latin typeface="Calibri" panose="020F0502020204030204"/>
                <a:ea typeface="游ゴシック" panose="020B0400000000000000" pitchFamily="34" charset="-128"/>
              </a:rPr>
              <a:t>re-ordered sample</a:t>
            </a:r>
            <a:endParaRPr kumimoji="1" lang="en-NZ" altLang="ja-JP" sz="1300" b="0" i="1"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300" b="0" i="1"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endParaRPr>
          </a:p>
        </p:txBody>
      </p:sp>
      <p:sp>
        <p:nvSpPr>
          <p:cNvPr id="101" name="Rectangle 100">
            <a:extLst>
              <a:ext uri="{FF2B5EF4-FFF2-40B4-BE49-F238E27FC236}">
                <a16:creationId xmlns:a16="http://schemas.microsoft.com/office/drawing/2014/main" id="{2B8B4187-F5BE-5D6A-E4F3-3BF54860B266}"/>
              </a:ext>
            </a:extLst>
          </p:cNvPr>
          <p:cNvSpPr/>
          <p:nvPr/>
        </p:nvSpPr>
        <p:spPr>
          <a:xfrm>
            <a:off x="971267" y="3830457"/>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102" name="Rectangle 101">
            <a:extLst>
              <a:ext uri="{FF2B5EF4-FFF2-40B4-BE49-F238E27FC236}">
                <a16:creationId xmlns:a16="http://schemas.microsoft.com/office/drawing/2014/main" id="{2E7E8886-D11B-F5F0-66FA-02169D7C77B2}"/>
              </a:ext>
            </a:extLst>
          </p:cNvPr>
          <p:cNvSpPr/>
          <p:nvPr/>
        </p:nvSpPr>
        <p:spPr>
          <a:xfrm>
            <a:off x="1423917" y="3830457"/>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103" name="Rectangle 102">
            <a:extLst>
              <a:ext uri="{FF2B5EF4-FFF2-40B4-BE49-F238E27FC236}">
                <a16:creationId xmlns:a16="http://schemas.microsoft.com/office/drawing/2014/main" id="{699DCB93-2DC4-FB3F-9236-544BF5477F2E}"/>
              </a:ext>
            </a:extLst>
          </p:cNvPr>
          <p:cNvSpPr/>
          <p:nvPr/>
        </p:nvSpPr>
        <p:spPr>
          <a:xfrm>
            <a:off x="1876567" y="3830457"/>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104" name="Rectangle 103">
            <a:extLst>
              <a:ext uri="{FF2B5EF4-FFF2-40B4-BE49-F238E27FC236}">
                <a16:creationId xmlns:a16="http://schemas.microsoft.com/office/drawing/2014/main" id="{77F7DA0A-14CF-10D6-7CD7-A93F9D3A1A11}"/>
              </a:ext>
            </a:extLst>
          </p:cNvPr>
          <p:cNvSpPr/>
          <p:nvPr/>
        </p:nvSpPr>
        <p:spPr>
          <a:xfrm>
            <a:off x="3088944" y="3830457"/>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105" name="Rectangle 104">
            <a:extLst>
              <a:ext uri="{FF2B5EF4-FFF2-40B4-BE49-F238E27FC236}">
                <a16:creationId xmlns:a16="http://schemas.microsoft.com/office/drawing/2014/main" id="{9679FD4E-15F8-AA99-5575-D829EF14953E}"/>
              </a:ext>
            </a:extLst>
          </p:cNvPr>
          <p:cNvSpPr/>
          <p:nvPr/>
        </p:nvSpPr>
        <p:spPr>
          <a:xfrm>
            <a:off x="3541594" y="3830457"/>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106" name="Rectangle 105">
            <a:extLst>
              <a:ext uri="{FF2B5EF4-FFF2-40B4-BE49-F238E27FC236}">
                <a16:creationId xmlns:a16="http://schemas.microsoft.com/office/drawing/2014/main" id="{9C44FF82-58EB-260E-2F90-1735C4082384}"/>
              </a:ext>
            </a:extLst>
          </p:cNvPr>
          <p:cNvSpPr/>
          <p:nvPr/>
        </p:nvSpPr>
        <p:spPr>
          <a:xfrm>
            <a:off x="3994244" y="3830457"/>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107" name="Rectangle 106">
            <a:extLst>
              <a:ext uri="{FF2B5EF4-FFF2-40B4-BE49-F238E27FC236}">
                <a16:creationId xmlns:a16="http://schemas.microsoft.com/office/drawing/2014/main" id="{E9C7C35A-FE18-1562-1C73-074F8F6C0660}"/>
              </a:ext>
            </a:extLst>
          </p:cNvPr>
          <p:cNvSpPr/>
          <p:nvPr/>
        </p:nvSpPr>
        <p:spPr>
          <a:xfrm>
            <a:off x="5190700" y="3830457"/>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108" name="Rectangle 107">
            <a:extLst>
              <a:ext uri="{FF2B5EF4-FFF2-40B4-BE49-F238E27FC236}">
                <a16:creationId xmlns:a16="http://schemas.microsoft.com/office/drawing/2014/main" id="{48209E1A-1E03-4A55-6065-F02B1E9EF629}"/>
              </a:ext>
            </a:extLst>
          </p:cNvPr>
          <p:cNvSpPr/>
          <p:nvPr/>
        </p:nvSpPr>
        <p:spPr>
          <a:xfrm>
            <a:off x="5643350" y="3830457"/>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109" name="Rectangle 108">
            <a:extLst>
              <a:ext uri="{FF2B5EF4-FFF2-40B4-BE49-F238E27FC236}">
                <a16:creationId xmlns:a16="http://schemas.microsoft.com/office/drawing/2014/main" id="{1EF71025-B0CF-5185-4A4C-CF99CB19A2E9}"/>
              </a:ext>
            </a:extLst>
          </p:cNvPr>
          <p:cNvSpPr/>
          <p:nvPr/>
        </p:nvSpPr>
        <p:spPr>
          <a:xfrm>
            <a:off x="6096000" y="3830457"/>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110" name="Rectangle 109">
            <a:extLst>
              <a:ext uri="{FF2B5EF4-FFF2-40B4-BE49-F238E27FC236}">
                <a16:creationId xmlns:a16="http://schemas.microsoft.com/office/drawing/2014/main" id="{C7554AC2-17AF-333A-E8F0-5FFE3A1CCA23}"/>
              </a:ext>
            </a:extLst>
          </p:cNvPr>
          <p:cNvSpPr/>
          <p:nvPr/>
        </p:nvSpPr>
        <p:spPr>
          <a:xfrm>
            <a:off x="7301558" y="3830457"/>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111" name="Rectangle 110">
            <a:extLst>
              <a:ext uri="{FF2B5EF4-FFF2-40B4-BE49-F238E27FC236}">
                <a16:creationId xmlns:a16="http://schemas.microsoft.com/office/drawing/2014/main" id="{C095C7FA-3774-8BAF-2522-9837C4230A03}"/>
              </a:ext>
            </a:extLst>
          </p:cNvPr>
          <p:cNvSpPr/>
          <p:nvPr/>
        </p:nvSpPr>
        <p:spPr>
          <a:xfrm>
            <a:off x="7754208" y="3830457"/>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112" name="Rectangle 111">
            <a:extLst>
              <a:ext uri="{FF2B5EF4-FFF2-40B4-BE49-F238E27FC236}">
                <a16:creationId xmlns:a16="http://schemas.microsoft.com/office/drawing/2014/main" id="{692354FA-0027-C0B7-15E8-9DA83F1727CE}"/>
              </a:ext>
            </a:extLst>
          </p:cNvPr>
          <p:cNvSpPr/>
          <p:nvPr/>
        </p:nvSpPr>
        <p:spPr>
          <a:xfrm>
            <a:off x="8206858" y="3830457"/>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113" name="Rectangle 112">
            <a:extLst>
              <a:ext uri="{FF2B5EF4-FFF2-40B4-BE49-F238E27FC236}">
                <a16:creationId xmlns:a16="http://schemas.microsoft.com/office/drawing/2014/main" id="{B065C242-6AC3-0424-9C2A-888CAF90E1C4}"/>
              </a:ext>
            </a:extLst>
          </p:cNvPr>
          <p:cNvSpPr/>
          <p:nvPr/>
        </p:nvSpPr>
        <p:spPr>
          <a:xfrm>
            <a:off x="971267" y="4128060"/>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114" name="Rectangle 113">
            <a:extLst>
              <a:ext uri="{FF2B5EF4-FFF2-40B4-BE49-F238E27FC236}">
                <a16:creationId xmlns:a16="http://schemas.microsoft.com/office/drawing/2014/main" id="{B663F3E3-5B1B-B867-4258-5008A20B2848}"/>
              </a:ext>
            </a:extLst>
          </p:cNvPr>
          <p:cNvSpPr/>
          <p:nvPr/>
        </p:nvSpPr>
        <p:spPr>
          <a:xfrm>
            <a:off x="1423917" y="4128060"/>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115" name="Rectangle 114">
            <a:extLst>
              <a:ext uri="{FF2B5EF4-FFF2-40B4-BE49-F238E27FC236}">
                <a16:creationId xmlns:a16="http://schemas.microsoft.com/office/drawing/2014/main" id="{BFF70A82-EA8C-ECAD-FD39-B4EADBA600FF}"/>
              </a:ext>
            </a:extLst>
          </p:cNvPr>
          <p:cNvSpPr/>
          <p:nvPr/>
        </p:nvSpPr>
        <p:spPr>
          <a:xfrm>
            <a:off x="1876567" y="4128060"/>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116" name="Rectangle 115">
            <a:extLst>
              <a:ext uri="{FF2B5EF4-FFF2-40B4-BE49-F238E27FC236}">
                <a16:creationId xmlns:a16="http://schemas.microsoft.com/office/drawing/2014/main" id="{A773BA76-81A7-A261-F849-B15D19F97921}"/>
              </a:ext>
            </a:extLst>
          </p:cNvPr>
          <p:cNvSpPr/>
          <p:nvPr/>
        </p:nvSpPr>
        <p:spPr>
          <a:xfrm>
            <a:off x="973764" y="4422210"/>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117" name="Rectangle 116">
            <a:extLst>
              <a:ext uri="{FF2B5EF4-FFF2-40B4-BE49-F238E27FC236}">
                <a16:creationId xmlns:a16="http://schemas.microsoft.com/office/drawing/2014/main" id="{71799029-CA5E-DA76-F4A9-657E520FEA3C}"/>
              </a:ext>
            </a:extLst>
          </p:cNvPr>
          <p:cNvSpPr/>
          <p:nvPr/>
        </p:nvSpPr>
        <p:spPr>
          <a:xfrm>
            <a:off x="1426414" y="4422210"/>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118" name="Rectangle 117">
            <a:extLst>
              <a:ext uri="{FF2B5EF4-FFF2-40B4-BE49-F238E27FC236}">
                <a16:creationId xmlns:a16="http://schemas.microsoft.com/office/drawing/2014/main" id="{BDB40465-A537-E42C-7392-A1771095AF0F}"/>
              </a:ext>
            </a:extLst>
          </p:cNvPr>
          <p:cNvSpPr/>
          <p:nvPr/>
        </p:nvSpPr>
        <p:spPr>
          <a:xfrm>
            <a:off x="1879064" y="4422210"/>
            <a:ext cx="436728" cy="27295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119" name="Rectangle 118">
            <a:extLst>
              <a:ext uri="{FF2B5EF4-FFF2-40B4-BE49-F238E27FC236}">
                <a16:creationId xmlns:a16="http://schemas.microsoft.com/office/drawing/2014/main" id="{65D251E7-B120-17BD-6FC8-D00265CB10A6}"/>
              </a:ext>
            </a:extLst>
          </p:cNvPr>
          <p:cNvSpPr/>
          <p:nvPr/>
        </p:nvSpPr>
        <p:spPr>
          <a:xfrm>
            <a:off x="3092472" y="4128060"/>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120" name="Rectangle 119">
            <a:extLst>
              <a:ext uri="{FF2B5EF4-FFF2-40B4-BE49-F238E27FC236}">
                <a16:creationId xmlns:a16="http://schemas.microsoft.com/office/drawing/2014/main" id="{B689FF0B-F4E1-A96D-5E25-31370B2616AC}"/>
              </a:ext>
            </a:extLst>
          </p:cNvPr>
          <p:cNvSpPr/>
          <p:nvPr/>
        </p:nvSpPr>
        <p:spPr>
          <a:xfrm>
            <a:off x="3545122" y="4128060"/>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121" name="Rectangle 120">
            <a:extLst>
              <a:ext uri="{FF2B5EF4-FFF2-40B4-BE49-F238E27FC236}">
                <a16:creationId xmlns:a16="http://schemas.microsoft.com/office/drawing/2014/main" id="{420638EB-2E43-8D10-828D-65523D5D2431}"/>
              </a:ext>
            </a:extLst>
          </p:cNvPr>
          <p:cNvSpPr/>
          <p:nvPr/>
        </p:nvSpPr>
        <p:spPr>
          <a:xfrm>
            <a:off x="3997772" y="4128060"/>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122" name="Rectangle 121">
            <a:extLst>
              <a:ext uri="{FF2B5EF4-FFF2-40B4-BE49-F238E27FC236}">
                <a16:creationId xmlns:a16="http://schemas.microsoft.com/office/drawing/2014/main" id="{FA51EB88-4A3C-4A8D-3BA3-8A7FB88EB108}"/>
              </a:ext>
            </a:extLst>
          </p:cNvPr>
          <p:cNvSpPr/>
          <p:nvPr/>
        </p:nvSpPr>
        <p:spPr>
          <a:xfrm>
            <a:off x="3088944" y="4422210"/>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123" name="Rectangle 122">
            <a:extLst>
              <a:ext uri="{FF2B5EF4-FFF2-40B4-BE49-F238E27FC236}">
                <a16:creationId xmlns:a16="http://schemas.microsoft.com/office/drawing/2014/main" id="{4560A62F-04DB-6BB3-9ECF-67D47D0640F7}"/>
              </a:ext>
            </a:extLst>
          </p:cNvPr>
          <p:cNvSpPr/>
          <p:nvPr/>
        </p:nvSpPr>
        <p:spPr>
          <a:xfrm>
            <a:off x="3541594" y="4422210"/>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124" name="Rectangle 123">
            <a:extLst>
              <a:ext uri="{FF2B5EF4-FFF2-40B4-BE49-F238E27FC236}">
                <a16:creationId xmlns:a16="http://schemas.microsoft.com/office/drawing/2014/main" id="{480521B2-EEAA-1E66-7DEA-A497F1C1F6DF}"/>
              </a:ext>
            </a:extLst>
          </p:cNvPr>
          <p:cNvSpPr/>
          <p:nvPr/>
        </p:nvSpPr>
        <p:spPr>
          <a:xfrm>
            <a:off x="3994244" y="4422210"/>
            <a:ext cx="436728" cy="2729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125" name="Rectangle 124">
            <a:extLst>
              <a:ext uri="{FF2B5EF4-FFF2-40B4-BE49-F238E27FC236}">
                <a16:creationId xmlns:a16="http://schemas.microsoft.com/office/drawing/2014/main" id="{66C52098-414C-3282-18EB-6E6F8D5CFD3A}"/>
              </a:ext>
            </a:extLst>
          </p:cNvPr>
          <p:cNvSpPr/>
          <p:nvPr/>
        </p:nvSpPr>
        <p:spPr>
          <a:xfrm>
            <a:off x="5190700" y="4129242"/>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126" name="Rectangle 125">
            <a:extLst>
              <a:ext uri="{FF2B5EF4-FFF2-40B4-BE49-F238E27FC236}">
                <a16:creationId xmlns:a16="http://schemas.microsoft.com/office/drawing/2014/main" id="{17D8526A-F523-F9A3-7EC8-18F0609E5B58}"/>
              </a:ext>
            </a:extLst>
          </p:cNvPr>
          <p:cNvSpPr/>
          <p:nvPr/>
        </p:nvSpPr>
        <p:spPr>
          <a:xfrm>
            <a:off x="5643350" y="4129242"/>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127" name="Rectangle 126">
            <a:extLst>
              <a:ext uri="{FF2B5EF4-FFF2-40B4-BE49-F238E27FC236}">
                <a16:creationId xmlns:a16="http://schemas.microsoft.com/office/drawing/2014/main" id="{78FB55A9-67F8-B044-9A54-07C982CD18F4}"/>
              </a:ext>
            </a:extLst>
          </p:cNvPr>
          <p:cNvSpPr/>
          <p:nvPr/>
        </p:nvSpPr>
        <p:spPr>
          <a:xfrm>
            <a:off x="6096000" y="4129242"/>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128" name="Rectangle 127">
            <a:extLst>
              <a:ext uri="{FF2B5EF4-FFF2-40B4-BE49-F238E27FC236}">
                <a16:creationId xmlns:a16="http://schemas.microsoft.com/office/drawing/2014/main" id="{AF57E60D-B4F3-0E13-7D11-74DFE06FA149}"/>
              </a:ext>
            </a:extLst>
          </p:cNvPr>
          <p:cNvSpPr/>
          <p:nvPr/>
        </p:nvSpPr>
        <p:spPr>
          <a:xfrm>
            <a:off x="5195141" y="4420888"/>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129" name="Rectangle 128">
            <a:extLst>
              <a:ext uri="{FF2B5EF4-FFF2-40B4-BE49-F238E27FC236}">
                <a16:creationId xmlns:a16="http://schemas.microsoft.com/office/drawing/2014/main" id="{EB711230-7E0E-D074-A2D6-4B7D89B7EA77}"/>
              </a:ext>
            </a:extLst>
          </p:cNvPr>
          <p:cNvSpPr/>
          <p:nvPr/>
        </p:nvSpPr>
        <p:spPr>
          <a:xfrm>
            <a:off x="5647791" y="4420888"/>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130" name="Rectangle 129">
            <a:extLst>
              <a:ext uri="{FF2B5EF4-FFF2-40B4-BE49-F238E27FC236}">
                <a16:creationId xmlns:a16="http://schemas.microsoft.com/office/drawing/2014/main" id="{FC07CF51-D686-E23F-06F5-CF510B61DA42}"/>
              </a:ext>
            </a:extLst>
          </p:cNvPr>
          <p:cNvSpPr/>
          <p:nvPr/>
        </p:nvSpPr>
        <p:spPr>
          <a:xfrm>
            <a:off x="6100441" y="4420888"/>
            <a:ext cx="436728" cy="27295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131" name="Rectangle 130">
            <a:extLst>
              <a:ext uri="{FF2B5EF4-FFF2-40B4-BE49-F238E27FC236}">
                <a16:creationId xmlns:a16="http://schemas.microsoft.com/office/drawing/2014/main" id="{B328A07E-B29E-5161-8DC6-49CD7D5F2644}"/>
              </a:ext>
            </a:extLst>
          </p:cNvPr>
          <p:cNvSpPr/>
          <p:nvPr/>
        </p:nvSpPr>
        <p:spPr>
          <a:xfrm>
            <a:off x="7301558" y="4129491"/>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132" name="Rectangle 131">
            <a:extLst>
              <a:ext uri="{FF2B5EF4-FFF2-40B4-BE49-F238E27FC236}">
                <a16:creationId xmlns:a16="http://schemas.microsoft.com/office/drawing/2014/main" id="{43EBCDDD-96E6-3C11-D731-D5FB0B35C0E6}"/>
              </a:ext>
            </a:extLst>
          </p:cNvPr>
          <p:cNvSpPr/>
          <p:nvPr/>
        </p:nvSpPr>
        <p:spPr>
          <a:xfrm>
            <a:off x="7754208" y="4129491"/>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133" name="Rectangle 132">
            <a:extLst>
              <a:ext uri="{FF2B5EF4-FFF2-40B4-BE49-F238E27FC236}">
                <a16:creationId xmlns:a16="http://schemas.microsoft.com/office/drawing/2014/main" id="{A4945D4D-D2B7-0CCE-408B-4DFD4E677254}"/>
              </a:ext>
            </a:extLst>
          </p:cNvPr>
          <p:cNvSpPr/>
          <p:nvPr/>
        </p:nvSpPr>
        <p:spPr>
          <a:xfrm>
            <a:off x="8206858" y="4129491"/>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B</a:t>
            </a:r>
          </a:p>
        </p:txBody>
      </p:sp>
      <p:sp>
        <p:nvSpPr>
          <p:cNvPr id="134" name="Rectangle 133">
            <a:extLst>
              <a:ext uri="{FF2B5EF4-FFF2-40B4-BE49-F238E27FC236}">
                <a16:creationId xmlns:a16="http://schemas.microsoft.com/office/drawing/2014/main" id="{ED793FBE-9ACD-6F71-CE44-9D556CC3CD94}"/>
              </a:ext>
            </a:extLst>
          </p:cNvPr>
          <p:cNvSpPr/>
          <p:nvPr/>
        </p:nvSpPr>
        <p:spPr>
          <a:xfrm>
            <a:off x="7301558" y="4428525"/>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C</a:t>
            </a:r>
          </a:p>
        </p:txBody>
      </p:sp>
      <p:sp>
        <p:nvSpPr>
          <p:cNvPr id="135" name="Rectangle 134">
            <a:extLst>
              <a:ext uri="{FF2B5EF4-FFF2-40B4-BE49-F238E27FC236}">
                <a16:creationId xmlns:a16="http://schemas.microsoft.com/office/drawing/2014/main" id="{03F5D2CA-3030-D239-4F74-62B8107FAA17}"/>
              </a:ext>
            </a:extLst>
          </p:cNvPr>
          <p:cNvSpPr/>
          <p:nvPr/>
        </p:nvSpPr>
        <p:spPr>
          <a:xfrm>
            <a:off x="7754208" y="4428525"/>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p:sp>
        <p:nvSpPr>
          <p:cNvPr id="136" name="Rectangle 135">
            <a:extLst>
              <a:ext uri="{FF2B5EF4-FFF2-40B4-BE49-F238E27FC236}">
                <a16:creationId xmlns:a16="http://schemas.microsoft.com/office/drawing/2014/main" id="{80F01514-4ED7-8E0B-761E-8EFD5843D81C}"/>
              </a:ext>
            </a:extLst>
          </p:cNvPr>
          <p:cNvSpPr/>
          <p:nvPr/>
        </p:nvSpPr>
        <p:spPr>
          <a:xfrm>
            <a:off x="8206858" y="4428525"/>
            <a:ext cx="436728" cy="27295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lumMod val="75000"/>
                    <a:lumOff val="25000"/>
                  </a:schemeClr>
                </a:solidFill>
              </a:rPr>
              <a:t>A</a:t>
            </a:r>
          </a:p>
        </p:txBody>
      </p:sp>
      <mc:AlternateContent xmlns:mc="http://schemas.openxmlformats.org/markup-compatibility/2006" xmlns:a14="http://schemas.microsoft.com/office/drawing/2010/main">
        <mc:Choice Requires="a14">
          <p:sp>
            <p:nvSpPr>
              <p:cNvPr id="137" name="Text Placeholder 5">
                <a:extLst>
                  <a:ext uri="{FF2B5EF4-FFF2-40B4-BE49-F238E27FC236}">
                    <a16:creationId xmlns:a16="http://schemas.microsoft.com/office/drawing/2014/main" id="{6B6F4943-E041-A58E-9520-00EBBD7954C2}"/>
                  </a:ext>
                </a:extLst>
              </p:cNvPr>
              <p:cNvSpPr txBox="1">
                <a:spLocks/>
              </p:cNvSpPr>
              <p:nvPr/>
            </p:nvSpPr>
            <p:spPr>
              <a:xfrm>
                <a:off x="8913085" y="2622214"/>
                <a:ext cx="2479145" cy="30034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400" dirty="0">
                    <a:solidFill>
                      <a:schemeClr val="tx1">
                        <a:lumMod val="75000"/>
                        <a:lumOff val="25000"/>
                      </a:schemeClr>
                    </a:solidFill>
                    <a:latin typeface="Calibri" panose="020F0502020204030204"/>
                    <a:ea typeface="游ゴシック" panose="020B0400000000000000" pitchFamily="34" charset="-128"/>
                  </a:rPr>
                  <a:t>Calculate F-Statistic (</a:t>
                </a:r>
                <a14:m>
                  <m:oMath xmlns:m="http://schemas.openxmlformats.org/officeDocument/2006/math">
                    <m:sSub>
                      <m:sSubPr>
                        <m:ctrlPr>
                          <a:rPr lang="en-NZ" altLang="ja-JP" sz="1400" b="1" i="1" smtClean="0">
                            <a:solidFill>
                              <a:schemeClr val="tx1">
                                <a:lumMod val="75000"/>
                                <a:lumOff val="25000"/>
                              </a:schemeClr>
                            </a:solidFill>
                            <a:latin typeface="Cambria Math" panose="02040503050406030204" pitchFamily="18" charset="0"/>
                            <a:ea typeface="游ゴシック" panose="020B0400000000000000" pitchFamily="34" charset="-128"/>
                          </a:rPr>
                        </m:ctrlPr>
                      </m:sSubPr>
                      <m:e>
                        <m:r>
                          <a:rPr lang="en-NZ" altLang="ja-JP" sz="1400" b="1" i="1" smtClean="0">
                            <a:solidFill>
                              <a:schemeClr val="tx1">
                                <a:lumMod val="75000"/>
                                <a:lumOff val="25000"/>
                              </a:schemeClr>
                            </a:solidFill>
                            <a:latin typeface="Cambria Math" panose="02040503050406030204" pitchFamily="18" charset="0"/>
                            <a:ea typeface="游ゴシック" panose="020B0400000000000000" pitchFamily="34" charset="-128"/>
                          </a:rPr>
                          <m:t>𝑭</m:t>
                        </m:r>
                      </m:e>
                      <m:sub>
                        <m:r>
                          <a:rPr lang="en-NZ" altLang="ja-JP" sz="1400" b="1" i="1" smtClean="0">
                            <a:solidFill>
                              <a:schemeClr val="tx1">
                                <a:lumMod val="75000"/>
                                <a:lumOff val="25000"/>
                              </a:schemeClr>
                            </a:solidFill>
                            <a:latin typeface="Cambria Math" panose="02040503050406030204" pitchFamily="18" charset="0"/>
                            <a:ea typeface="游ゴシック" panose="020B0400000000000000" pitchFamily="34" charset="-128"/>
                          </a:rPr>
                          <m:t>𝟏</m:t>
                        </m:r>
                      </m:sub>
                    </m:sSub>
                  </m:oMath>
                </a14:m>
                <a:r>
                  <a:rPr kumimoji="1" lang="en-NZ" altLang="ja-JP" sz="1400" b="0"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rPr>
                  <a:t>)</a:t>
                </a:r>
              </a:p>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0" i="1"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endParaRPr>
              </a:p>
            </p:txBody>
          </p:sp>
        </mc:Choice>
        <mc:Fallback xmlns="">
          <p:sp>
            <p:nvSpPr>
              <p:cNvPr id="137" name="Text Placeholder 5">
                <a:extLst>
                  <a:ext uri="{FF2B5EF4-FFF2-40B4-BE49-F238E27FC236}">
                    <a16:creationId xmlns:a16="http://schemas.microsoft.com/office/drawing/2014/main" id="{6B6F4943-E041-A58E-9520-00EBBD7954C2}"/>
                  </a:ext>
                </a:extLst>
              </p:cNvPr>
              <p:cNvSpPr txBox="1">
                <a:spLocks noRot="1" noChangeAspect="1" noMove="1" noResize="1" noEditPoints="1" noAdjustHandles="1" noChangeArrowheads="1" noChangeShapeType="1" noTextEdit="1"/>
              </p:cNvSpPr>
              <p:nvPr/>
            </p:nvSpPr>
            <p:spPr>
              <a:xfrm>
                <a:off x="8913085" y="2622214"/>
                <a:ext cx="2479145" cy="300346"/>
              </a:xfrm>
              <a:prstGeom prst="rect">
                <a:avLst/>
              </a:prstGeom>
              <a:blipFill>
                <a:blip r:embed="rId3"/>
                <a:stretch>
                  <a:fillRect l="-737" t="-4082" b="-24490"/>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38" name="Text Placeholder 5">
                <a:extLst>
                  <a:ext uri="{FF2B5EF4-FFF2-40B4-BE49-F238E27FC236}">
                    <a16:creationId xmlns:a16="http://schemas.microsoft.com/office/drawing/2014/main" id="{4E5C888A-7A73-A36F-D093-0629265B534A}"/>
                  </a:ext>
                </a:extLst>
              </p:cNvPr>
              <p:cNvSpPr txBox="1">
                <a:spLocks/>
              </p:cNvSpPr>
              <p:nvPr/>
            </p:nvSpPr>
            <p:spPr>
              <a:xfrm>
                <a:off x="8966585" y="4085111"/>
                <a:ext cx="2479145" cy="30034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400" dirty="0">
                    <a:solidFill>
                      <a:schemeClr val="tx1">
                        <a:lumMod val="75000"/>
                        <a:lumOff val="25000"/>
                      </a:schemeClr>
                    </a:solidFill>
                    <a:latin typeface="Calibri" panose="020F0502020204030204"/>
                    <a:ea typeface="游ゴシック" panose="020B0400000000000000" pitchFamily="34" charset="-128"/>
                  </a:rPr>
                  <a:t>Calculate F-Statistic (</a:t>
                </a:r>
                <a14:m>
                  <m:oMath xmlns:m="http://schemas.openxmlformats.org/officeDocument/2006/math">
                    <m:sSub>
                      <m:sSubPr>
                        <m:ctrlPr>
                          <a:rPr lang="en-NZ" altLang="ja-JP" sz="1400" b="1" i="1" smtClean="0">
                            <a:solidFill>
                              <a:schemeClr val="tx1">
                                <a:lumMod val="75000"/>
                                <a:lumOff val="25000"/>
                              </a:schemeClr>
                            </a:solidFill>
                            <a:latin typeface="Cambria Math" panose="02040503050406030204" pitchFamily="18" charset="0"/>
                            <a:ea typeface="游ゴシック" panose="020B0400000000000000" pitchFamily="34" charset="-128"/>
                          </a:rPr>
                        </m:ctrlPr>
                      </m:sSubPr>
                      <m:e>
                        <m:r>
                          <a:rPr lang="en-NZ" altLang="ja-JP" sz="1400" b="1" i="1" smtClean="0">
                            <a:solidFill>
                              <a:schemeClr val="tx1">
                                <a:lumMod val="75000"/>
                                <a:lumOff val="25000"/>
                              </a:schemeClr>
                            </a:solidFill>
                            <a:latin typeface="Cambria Math" panose="02040503050406030204" pitchFamily="18" charset="0"/>
                            <a:ea typeface="游ゴシック" panose="020B0400000000000000" pitchFamily="34" charset="-128"/>
                          </a:rPr>
                          <m:t>𝑭</m:t>
                        </m:r>
                      </m:e>
                      <m:sub>
                        <m:r>
                          <a:rPr lang="en-NZ" altLang="ja-JP" sz="1400" b="1" i="1" smtClean="0">
                            <a:solidFill>
                              <a:schemeClr val="tx1">
                                <a:lumMod val="75000"/>
                                <a:lumOff val="25000"/>
                              </a:schemeClr>
                            </a:solidFill>
                            <a:latin typeface="Cambria Math" panose="02040503050406030204" pitchFamily="18" charset="0"/>
                            <a:ea typeface="游ゴシック" panose="020B0400000000000000" pitchFamily="34" charset="-128"/>
                          </a:rPr>
                          <m:t>𝑳</m:t>
                        </m:r>
                      </m:sub>
                    </m:sSub>
                  </m:oMath>
                </a14:m>
                <a:r>
                  <a:rPr kumimoji="1" lang="en-NZ" altLang="ja-JP" sz="1400" b="0"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rPr>
                  <a:t>)</a:t>
                </a:r>
              </a:p>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0" i="1"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endParaRPr>
              </a:p>
            </p:txBody>
          </p:sp>
        </mc:Choice>
        <mc:Fallback xmlns="">
          <p:sp>
            <p:nvSpPr>
              <p:cNvPr id="138" name="Text Placeholder 5">
                <a:extLst>
                  <a:ext uri="{FF2B5EF4-FFF2-40B4-BE49-F238E27FC236}">
                    <a16:creationId xmlns:a16="http://schemas.microsoft.com/office/drawing/2014/main" id="{4E5C888A-7A73-A36F-D093-0629265B534A}"/>
                  </a:ext>
                </a:extLst>
              </p:cNvPr>
              <p:cNvSpPr txBox="1">
                <a:spLocks noRot="1" noChangeAspect="1" noMove="1" noResize="1" noEditPoints="1" noAdjustHandles="1" noChangeArrowheads="1" noChangeShapeType="1" noTextEdit="1"/>
              </p:cNvSpPr>
              <p:nvPr/>
            </p:nvSpPr>
            <p:spPr>
              <a:xfrm>
                <a:off x="8966585" y="4085111"/>
                <a:ext cx="2479145" cy="300346"/>
              </a:xfrm>
              <a:prstGeom prst="rect">
                <a:avLst/>
              </a:prstGeom>
              <a:blipFill>
                <a:blip r:embed="rId4"/>
                <a:stretch>
                  <a:fillRect l="-737" t="-4082" b="-24490"/>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39" name="Text Placeholder 5">
                <a:extLst>
                  <a:ext uri="{FF2B5EF4-FFF2-40B4-BE49-F238E27FC236}">
                    <a16:creationId xmlns:a16="http://schemas.microsoft.com/office/drawing/2014/main" id="{99C7F857-C9A9-ADBE-C7FC-D22410C74211}"/>
                  </a:ext>
                </a:extLst>
              </p:cNvPr>
              <p:cNvSpPr txBox="1">
                <a:spLocks/>
              </p:cNvSpPr>
              <p:nvPr/>
            </p:nvSpPr>
            <p:spPr>
              <a:xfrm>
                <a:off x="1407995" y="3329258"/>
                <a:ext cx="452043" cy="48183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2000" b="0" i="1" u="none" strike="noStrike" kern="1200" cap="none" spc="0" normalizeH="0" baseline="0" noProof="0" smtClean="0">
                          <a:ln>
                            <a:noFill/>
                          </a:ln>
                          <a:solidFill>
                            <a:schemeClr val="tx1">
                              <a:lumMod val="75000"/>
                              <a:lumOff val="25000"/>
                            </a:schemeClr>
                          </a:solidFill>
                          <a:effectLst/>
                          <a:uLnTx/>
                          <a:uFillTx/>
                          <a:latin typeface="Cambria Math" panose="02040503050406030204" pitchFamily="18" charset="0"/>
                          <a:ea typeface="Cambria Math" panose="02040503050406030204" pitchFamily="18" charset="0"/>
                        </a:rPr>
                        <m:t>⋮</m:t>
                      </m:r>
                    </m:oMath>
                  </m:oMathPara>
                </a14:m>
                <a:endParaRPr kumimoji="1" lang="en-NZ" altLang="ja-JP" sz="2000" b="0"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endParaRPr>
              </a:p>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0" i="1"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endParaRPr>
              </a:p>
            </p:txBody>
          </p:sp>
        </mc:Choice>
        <mc:Fallback xmlns="">
          <p:sp>
            <p:nvSpPr>
              <p:cNvPr id="139" name="Text Placeholder 5">
                <a:extLst>
                  <a:ext uri="{FF2B5EF4-FFF2-40B4-BE49-F238E27FC236}">
                    <a16:creationId xmlns:a16="http://schemas.microsoft.com/office/drawing/2014/main" id="{99C7F857-C9A9-ADBE-C7FC-D22410C74211}"/>
                  </a:ext>
                </a:extLst>
              </p:cNvPr>
              <p:cNvSpPr txBox="1">
                <a:spLocks noRot="1" noChangeAspect="1" noMove="1" noResize="1" noEditPoints="1" noAdjustHandles="1" noChangeArrowheads="1" noChangeShapeType="1" noTextEdit="1"/>
              </p:cNvSpPr>
              <p:nvPr/>
            </p:nvSpPr>
            <p:spPr>
              <a:xfrm>
                <a:off x="1407995" y="3329258"/>
                <a:ext cx="452043" cy="481837"/>
              </a:xfrm>
              <a:prstGeom prst="rect">
                <a:avLst/>
              </a:prstGeom>
              <a:blipFill>
                <a:blip r:embed="rId5"/>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40" name="Text Placeholder 5">
                <a:extLst>
                  <a:ext uri="{FF2B5EF4-FFF2-40B4-BE49-F238E27FC236}">
                    <a16:creationId xmlns:a16="http://schemas.microsoft.com/office/drawing/2014/main" id="{46538BAC-08BC-39FA-B1EF-CC4EDE67CCDF}"/>
                  </a:ext>
                </a:extLst>
              </p:cNvPr>
              <p:cNvSpPr txBox="1">
                <a:spLocks/>
              </p:cNvSpPr>
              <p:nvPr/>
            </p:nvSpPr>
            <p:spPr>
              <a:xfrm>
                <a:off x="3560013" y="3329258"/>
                <a:ext cx="452043" cy="48183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2000" b="0" i="1" u="none" strike="noStrike" kern="1200" cap="none" spc="0" normalizeH="0" baseline="0" noProof="0" smtClean="0">
                          <a:ln>
                            <a:noFill/>
                          </a:ln>
                          <a:solidFill>
                            <a:schemeClr val="tx1">
                              <a:lumMod val="75000"/>
                              <a:lumOff val="25000"/>
                            </a:schemeClr>
                          </a:solidFill>
                          <a:effectLst/>
                          <a:uLnTx/>
                          <a:uFillTx/>
                          <a:latin typeface="Cambria Math" panose="02040503050406030204" pitchFamily="18" charset="0"/>
                          <a:ea typeface="Cambria Math" panose="02040503050406030204" pitchFamily="18" charset="0"/>
                        </a:rPr>
                        <m:t>⋮</m:t>
                      </m:r>
                    </m:oMath>
                  </m:oMathPara>
                </a14:m>
                <a:endParaRPr kumimoji="1" lang="en-NZ" altLang="ja-JP" sz="2000" b="0"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endParaRPr>
              </a:p>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0" i="1"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endParaRPr>
              </a:p>
            </p:txBody>
          </p:sp>
        </mc:Choice>
        <mc:Fallback xmlns="">
          <p:sp>
            <p:nvSpPr>
              <p:cNvPr id="140" name="Text Placeholder 5">
                <a:extLst>
                  <a:ext uri="{FF2B5EF4-FFF2-40B4-BE49-F238E27FC236}">
                    <a16:creationId xmlns:a16="http://schemas.microsoft.com/office/drawing/2014/main" id="{46538BAC-08BC-39FA-B1EF-CC4EDE67CCDF}"/>
                  </a:ext>
                </a:extLst>
              </p:cNvPr>
              <p:cNvSpPr txBox="1">
                <a:spLocks noRot="1" noChangeAspect="1" noMove="1" noResize="1" noEditPoints="1" noAdjustHandles="1" noChangeArrowheads="1" noChangeShapeType="1" noTextEdit="1"/>
              </p:cNvSpPr>
              <p:nvPr/>
            </p:nvSpPr>
            <p:spPr>
              <a:xfrm>
                <a:off x="3560013" y="3329258"/>
                <a:ext cx="452043" cy="481837"/>
              </a:xfrm>
              <a:prstGeom prst="rect">
                <a:avLst/>
              </a:prstGeom>
              <a:blipFill>
                <a:blip r:embed="rId6"/>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41" name="Text Placeholder 5">
                <a:extLst>
                  <a:ext uri="{FF2B5EF4-FFF2-40B4-BE49-F238E27FC236}">
                    <a16:creationId xmlns:a16="http://schemas.microsoft.com/office/drawing/2014/main" id="{3E5DDF92-DA27-5B65-09F3-69CC4673DB35}"/>
                  </a:ext>
                </a:extLst>
              </p:cNvPr>
              <p:cNvSpPr txBox="1">
                <a:spLocks/>
              </p:cNvSpPr>
              <p:nvPr/>
            </p:nvSpPr>
            <p:spPr>
              <a:xfrm>
                <a:off x="5643350" y="3322541"/>
                <a:ext cx="452043" cy="48183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2000" b="0" i="1" u="none" strike="noStrike" kern="1200" cap="none" spc="0" normalizeH="0" baseline="0" noProof="0" smtClean="0">
                          <a:ln>
                            <a:noFill/>
                          </a:ln>
                          <a:solidFill>
                            <a:schemeClr val="tx1">
                              <a:lumMod val="75000"/>
                              <a:lumOff val="25000"/>
                            </a:schemeClr>
                          </a:solidFill>
                          <a:effectLst/>
                          <a:uLnTx/>
                          <a:uFillTx/>
                          <a:latin typeface="Cambria Math" panose="02040503050406030204" pitchFamily="18" charset="0"/>
                          <a:ea typeface="Cambria Math" panose="02040503050406030204" pitchFamily="18" charset="0"/>
                        </a:rPr>
                        <m:t>⋮</m:t>
                      </m:r>
                    </m:oMath>
                  </m:oMathPara>
                </a14:m>
                <a:endParaRPr kumimoji="1" lang="en-NZ" altLang="ja-JP" sz="2000" b="0"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endParaRPr>
              </a:p>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0" i="1"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endParaRPr>
              </a:p>
            </p:txBody>
          </p:sp>
        </mc:Choice>
        <mc:Fallback xmlns="">
          <p:sp>
            <p:nvSpPr>
              <p:cNvPr id="141" name="Text Placeholder 5">
                <a:extLst>
                  <a:ext uri="{FF2B5EF4-FFF2-40B4-BE49-F238E27FC236}">
                    <a16:creationId xmlns:a16="http://schemas.microsoft.com/office/drawing/2014/main" id="{3E5DDF92-DA27-5B65-09F3-69CC4673DB35}"/>
                  </a:ext>
                </a:extLst>
              </p:cNvPr>
              <p:cNvSpPr txBox="1">
                <a:spLocks noRot="1" noChangeAspect="1" noMove="1" noResize="1" noEditPoints="1" noAdjustHandles="1" noChangeArrowheads="1" noChangeShapeType="1" noTextEdit="1"/>
              </p:cNvSpPr>
              <p:nvPr/>
            </p:nvSpPr>
            <p:spPr>
              <a:xfrm>
                <a:off x="5643350" y="3322541"/>
                <a:ext cx="452043" cy="481837"/>
              </a:xfrm>
              <a:prstGeom prst="rect">
                <a:avLst/>
              </a:prstGeom>
              <a:blipFill>
                <a:blip r:embed="rId7"/>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42" name="Text Placeholder 5">
                <a:extLst>
                  <a:ext uri="{FF2B5EF4-FFF2-40B4-BE49-F238E27FC236}">
                    <a16:creationId xmlns:a16="http://schemas.microsoft.com/office/drawing/2014/main" id="{BB09B382-C3EE-D145-0D85-53D361CF5E44}"/>
                  </a:ext>
                </a:extLst>
              </p:cNvPr>
              <p:cNvSpPr txBox="1">
                <a:spLocks/>
              </p:cNvSpPr>
              <p:nvPr/>
            </p:nvSpPr>
            <p:spPr>
              <a:xfrm>
                <a:off x="7761030" y="3329340"/>
                <a:ext cx="452043" cy="48183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2000" b="0" i="1" u="none" strike="noStrike" kern="1200" cap="none" spc="0" normalizeH="0" baseline="0" noProof="0" smtClean="0">
                          <a:ln>
                            <a:noFill/>
                          </a:ln>
                          <a:solidFill>
                            <a:schemeClr val="tx1">
                              <a:lumMod val="75000"/>
                              <a:lumOff val="25000"/>
                            </a:schemeClr>
                          </a:solidFill>
                          <a:effectLst/>
                          <a:uLnTx/>
                          <a:uFillTx/>
                          <a:latin typeface="Cambria Math" panose="02040503050406030204" pitchFamily="18" charset="0"/>
                          <a:ea typeface="Cambria Math" panose="02040503050406030204" pitchFamily="18" charset="0"/>
                        </a:rPr>
                        <m:t>⋮</m:t>
                      </m:r>
                    </m:oMath>
                  </m:oMathPara>
                </a14:m>
                <a:endParaRPr kumimoji="1" lang="en-NZ" altLang="ja-JP" sz="2000" b="0"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endParaRPr>
              </a:p>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0" i="1"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endParaRPr>
              </a:p>
            </p:txBody>
          </p:sp>
        </mc:Choice>
        <mc:Fallback xmlns="">
          <p:sp>
            <p:nvSpPr>
              <p:cNvPr id="142" name="Text Placeholder 5">
                <a:extLst>
                  <a:ext uri="{FF2B5EF4-FFF2-40B4-BE49-F238E27FC236}">
                    <a16:creationId xmlns:a16="http://schemas.microsoft.com/office/drawing/2014/main" id="{BB09B382-C3EE-D145-0D85-53D361CF5E44}"/>
                  </a:ext>
                </a:extLst>
              </p:cNvPr>
              <p:cNvSpPr txBox="1">
                <a:spLocks noRot="1" noChangeAspect="1" noMove="1" noResize="1" noEditPoints="1" noAdjustHandles="1" noChangeArrowheads="1" noChangeShapeType="1" noTextEdit="1"/>
              </p:cNvSpPr>
              <p:nvPr/>
            </p:nvSpPr>
            <p:spPr>
              <a:xfrm>
                <a:off x="7761030" y="3329340"/>
                <a:ext cx="452043" cy="481837"/>
              </a:xfrm>
              <a:prstGeom prst="rect">
                <a:avLst/>
              </a:prstGeom>
              <a:blipFill>
                <a:blip r:embed="rId8"/>
                <a:stretch>
                  <a:fillRect/>
                </a:stretch>
              </a:blipFill>
            </p:spPr>
            <p:txBody>
              <a:bodyPr/>
              <a:lstStyle/>
              <a:p>
                <a:r>
                  <a:rPr lang="en-NZ">
                    <a:noFill/>
                  </a:rPr>
                  <a:t> </a:t>
                </a:r>
              </a:p>
            </p:txBody>
          </p:sp>
        </mc:Fallback>
      </mc:AlternateContent>
      <p:pic>
        <p:nvPicPr>
          <p:cNvPr id="3" name="Picture 2">
            <a:extLst>
              <a:ext uri="{FF2B5EF4-FFF2-40B4-BE49-F238E27FC236}">
                <a16:creationId xmlns:a16="http://schemas.microsoft.com/office/drawing/2014/main" id="{06E4745B-A30C-4BB1-6F11-FED7A2B5E63C}"/>
              </a:ext>
            </a:extLst>
          </p:cNvPr>
          <p:cNvPicPr>
            <a:picLocks noChangeAspect="1"/>
          </p:cNvPicPr>
          <p:nvPr/>
        </p:nvPicPr>
        <p:blipFill>
          <a:blip r:embed="rId9"/>
          <a:stretch>
            <a:fillRect/>
          </a:stretch>
        </p:blipFill>
        <p:spPr>
          <a:xfrm>
            <a:off x="2917236" y="4742577"/>
            <a:ext cx="4621105" cy="2040062"/>
          </a:xfrm>
          <a:prstGeom prst="rect">
            <a:avLst/>
          </a:prstGeom>
        </p:spPr>
      </p:pic>
      <mc:AlternateContent xmlns:mc="http://schemas.openxmlformats.org/markup-compatibility/2006" xmlns:a14="http://schemas.microsoft.com/office/drawing/2010/main">
        <mc:Choice Requires="a14">
          <p:sp>
            <p:nvSpPr>
              <p:cNvPr id="143" name="Text Placeholder 5">
                <a:extLst>
                  <a:ext uri="{FF2B5EF4-FFF2-40B4-BE49-F238E27FC236}">
                    <a16:creationId xmlns:a16="http://schemas.microsoft.com/office/drawing/2014/main" id="{C9E8C58D-FAB2-B56B-4B5B-05C6D8CDC892}"/>
                  </a:ext>
                </a:extLst>
              </p:cNvPr>
              <p:cNvSpPr txBox="1">
                <a:spLocks/>
              </p:cNvSpPr>
              <p:nvPr/>
            </p:nvSpPr>
            <p:spPr>
              <a:xfrm>
                <a:off x="7538341" y="5034893"/>
                <a:ext cx="2479145" cy="152151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400" dirty="0">
                    <a:solidFill>
                      <a:schemeClr val="tx1">
                        <a:lumMod val="75000"/>
                        <a:lumOff val="25000"/>
                      </a:schemeClr>
                    </a:solidFill>
                    <a:latin typeface="Calibri" panose="020F0502020204030204"/>
                    <a:ea typeface="游ゴシック" panose="020B0400000000000000" pitchFamily="34" charset="-128"/>
                  </a:rPr>
                  <a:t>Where does </a:t>
                </a:r>
                <a14:m>
                  <m:oMath xmlns:m="http://schemas.openxmlformats.org/officeDocument/2006/math">
                    <m:sSub>
                      <m:sSubPr>
                        <m:ctrlPr>
                          <a:rPr lang="en-NZ" altLang="ja-JP" sz="1400" b="1" i="1" smtClean="0">
                            <a:solidFill>
                              <a:schemeClr val="tx1">
                                <a:lumMod val="75000"/>
                                <a:lumOff val="25000"/>
                              </a:schemeClr>
                            </a:solidFill>
                            <a:latin typeface="Cambria Math" panose="02040503050406030204" pitchFamily="18" charset="0"/>
                            <a:ea typeface="游ゴシック" panose="020B0400000000000000" pitchFamily="34" charset="-128"/>
                          </a:rPr>
                        </m:ctrlPr>
                      </m:sSubPr>
                      <m:e>
                        <m:r>
                          <a:rPr lang="en-NZ" altLang="ja-JP" sz="1400" b="1" i="1" smtClean="0">
                            <a:solidFill>
                              <a:schemeClr val="tx1">
                                <a:lumMod val="75000"/>
                                <a:lumOff val="25000"/>
                              </a:schemeClr>
                            </a:solidFill>
                            <a:latin typeface="Cambria Math" panose="02040503050406030204" pitchFamily="18" charset="0"/>
                            <a:ea typeface="游ゴシック" panose="020B0400000000000000" pitchFamily="34" charset="-128"/>
                          </a:rPr>
                          <m:t>𝑭</m:t>
                        </m:r>
                      </m:e>
                      <m:sub>
                        <m:r>
                          <a:rPr lang="en-NZ" altLang="ja-JP" sz="1400" b="1" i="1" smtClean="0">
                            <a:solidFill>
                              <a:schemeClr val="tx1">
                                <a:lumMod val="75000"/>
                                <a:lumOff val="25000"/>
                              </a:schemeClr>
                            </a:solidFill>
                            <a:latin typeface="Cambria Math" panose="02040503050406030204" pitchFamily="18" charset="0"/>
                            <a:ea typeface="游ゴシック" panose="020B0400000000000000" pitchFamily="34" charset="-128"/>
                          </a:rPr>
                          <m:t>𝑶𝒃𝒔</m:t>
                        </m:r>
                      </m:sub>
                    </m:sSub>
                  </m:oMath>
                </a14:m>
                <a:r>
                  <a:rPr kumimoji="1" lang="en-NZ" altLang="ja-JP" sz="1400" b="1"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rPr>
                  <a:t> </a:t>
                </a:r>
                <a:r>
                  <a:rPr kumimoji="1" lang="en-NZ" altLang="ja-JP" sz="1400" b="0"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rPr>
                  <a:t>lie in the distribution of test statistic produced?</a:t>
                </a:r>
                <a:br>
                  <a:rPr kumimoji="1" lang="en-NZ" altLang="ja-JP" sz="1400" b="0"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rPr>
                </a:br>
                <a:br>
                  <a:rPr kumimoji="1" lang="en-NZ" altLang="ja-JP" sz="1400" b="0"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rPr>
                </a:br>
                <a14:m>
                  <m:oMathPara xmlns:m="http://schemas.openxmlformats.org/officeDocument/2006/math">
                    <m:oMathParaPr>
                      <m:jc m:val="centerGroup"/>
                    </m:oMathParaPr>
                    <m:oMath xmlns:m="http://schemas.openxmlformats.org/officeDocument/2006/math">
                      <m:r>
                        <a:rPr kumimoji="1" lang="en-NZ" altLang="ja-JP" sz="1400" b="1" i="1" u="none" strike="noStrike" kern="1200" cap="none" spc="0" normalizeH="0" baseline="0" noProof="0" smtClean="0">
                          <a:ln>
                            <a:noFill/>
                          </a:ln>
                          <a:solidFill>
                            <a:schemeClr val="tx1">
                              <a:lumMod val="75000"/>
                              <a:lumOff val="25000"/>
                            </a:schemeClr>
                          </a:solidFill>
                          <a:effectLst/>
                          <a:uLnTx/>
                          <a:uFillTx/>
                          <a:latin typeface="Cambria Math" panose="02040503050406030204" pitchFamily="18" charset="0"/>
                          <a:ea typeface="游ゴシック" panose="020B0400000000000000" pitchFamily="34" charset="-128"/>
                        </a:rPr>
                        <m:t>𝑷</m:t>
                      </m:r>
                      <m:d>
                        <m:dPr>
                          <m:ctrlPr>
                            <a:rPr kumimoji="1" lang="en-NZ" altLang="ja-JP" sz="1400" b="1" i="1" u="none" strike="noStrike" kern="1200" cap="none" spc="0" normalizeH="0" baseline="0" noProof="0" smtClean="0">
                              <a:ln>
                                <a:noFill/>
                              </a:ln>
                              <a:solidFill>
                                <a:schemeClr val="tx1">
                                  <a:lumMod val="75000"/>
                                  <a:lumOff val="25000"/>
                                </a:schemeClr>
                              </a:solidFill>
                              <a:effectLst/>
                              <a:uLnTx/>
                              <a:uFillTx/>
                              <a:latin typeface="Cambria Math" panose="02040503050406030204" pitchFamily="18" charset="0"/>
                              <a:ea typeface="游ゴシック" panose="020B0400000000000000" pitchFamily="34" charset="-128"/>
                            </a:rPr>
                          </m:ctrlPr>
                        </m:dPr>
                        <m:e>
                          <m:r>
                            <a:rPr kumimoji="1" lang="en-NZ" altLang="ja-JP" sz="1400" b="1" i="1" u="none" strike="noStrike" kern="1200" cap="none" spc="0" normalizeH="0" baseline="0" noProof="0" smtClean="0">
                              <a:ln>
                                <a:noFill/>
                              </a:ln>
                              <a:solidFill>
                                <a:schemeClr val="tx1">
                                  <a:lumMod val="75000"/>
                                  <a:lumOff val="25000"/>
                                </a:schemeClr>
                              </a:solidFill>
                              <a:effectLst/>
                              <a:uLnTx/>
                              <a:uFillTx/>
                              <a:latin typeface="Cambria Math" panose="02040503050406030204" pitchFamily="18" charset="0"/>
                              <a:ea typeface="游ゴシック" panose="020B0400000000000000" pitchFamily="34" charset="-128"/>
                            </a:rPr>
                            <m:t>𝑭</m:t>
                          </m:r>
                          <m:r>
                            <a:rPr kumimoji="1" lang="en-NZ" altLang="ja-JP" sz="1400" b="1" i="1" u="none" strike="noStrike" kern="1200" cap="none" spc="0" normalizeH="0" baseline="0" noProof="0" smtClean="0">
                              <a:ln>
                                <a:noFill/>
                              </a:ln>
                              <a:solidFill>
                                <a:schemeClr val="tx1">
                                  <a:lumMod val="75000"/>
                                  <a:lumOff val="25000"/>
                                </a:schemeClr>
                              </a:solidFill>
                              <a:effectLst/>
                              <a:uLnTx/>
                              <a:uFillTx/>
                              <a:latin typeface="Cambria Math" panose="02040503050406030204" pitchFamily="18" charset="0"/>
                              <a:ea typeface="游ゴシック" panose="020B0400000000000000" pitchFamily="34" charset="-128"/>
                            </a:rPr>
                            <m:t>≥</m:t>
                          </m:r>
                          <m:sSub>
                            <m:sSubPr>
                              <m:ctrlPr>
                                <a:rPr kumimoji="1" lang="en-NZ" altLang="ja-JP" sz="1400" b="1" i="1" u="none" strike="noStrike" kern="1200" cap="none" spc="0" normalizeH="0" baseline="0" noProof="0" smtClean="0">
                                  <a:ln>
                                    <a:noFill/>
                                  </a:ln>
                                  <a:solidFill>
                                    <a:schemeClr val="tx1">
                                      <a:lumMod val="75000"/>
                                      <a:lumOff val="25000"/>
                                    </a:schemeClr>
                                  </a:solidFill>
                                  <a:effectLst/>
                                  <a:uLnTx/>
                                  <a:uFillTx/>
                                  <a:latin typeface="Cambria Math" panose="02040503050406030204" pitchFamily="18" charset="0"/>
                                  <a:ea typeface="游ゴシック" panose="020B0400000000000000" pitchFamily="34" charset="-128"/>
                                </a:rPr>
                              </m:ctrlPr>
                            </m:sSubPr>
                            <m:e>
                              <m:r>
                                <a:rPr kumimoji="1" lang="en-NZ" altLang="ja-JP" sz="1400" b="1" i="1" u="none" strike="noStrike" kern="1200" cap="none" spc="0" normalizeH="0" baseline="0" noProof="0" smtClean="0">
                                  <a:ln>
                                    <a:noFill/>
                                  </a:ln>
                                  <a:solidFill>
                                    <a:schemeClr val="tx1">
                                      <a:lumMod val="75000"/>
                                      <a:lumOff val="25000"/>
                                    </a:schemeClr>
                                  </a:solidFill>
                                  <a:effectLst/>
                                  <a:uLnTx/>
                                  <a:uFillTx/>
                                  <a:latin typeface="Cambria Math" panose="02040503050406030204" pitchFamily="18" charset="0"/>
                                  <a:ea typeface="游ゴシック" panose="020B0400000000000000" pitchFamily="34" charset="-128"/>
                                </a:rPr>
                                <m:t>𝑭</m:t>
                              </m:r>
                            </m:e>
                            <m:sub>
                              <m:r>
                                <a:rPr kumimoji="1" lang="en-NZ" altLang="ja-JP" sz="1400" b="1" i="1" u="none" strike="noStrike" kern="1200" cap="none" spc="0" normalizeH="0" baseline="0" noProof="0" smtClean="0">
                                  <a:ln>
                                    <a:noFill/>
                                  </a:ln>
                                  <a:solidFill>
                                    <a:schemeClr val="tx1">
                                      <a:lumMod val="75000"/>
                                      <a:lumOff val="25000"/>
                                    </a:schemeClr>
                                  </a:solidFill>
                                  <a:effectLst/>
                                  <a:uLnTx/>
                                  <a:uFillTx/>
                                  <a:latin typeface="Cambria Math" panose="02040503050406030204" pitchFamily="18" charset="0"/>
                                  <a:ea typeface="游ゴシック" panose="020B0400000000000000" pitchFamily="34" charset="-128"/>
                                </a:rPr>
                                <m:t>𝑶𝒃𝒔</m:t>
                              </m:r>
                            </m:sub>
                          </m:sSub>
                        </m:e>
                      </m:d>
                      <m:r>
                        <a:rPr kumimoji="1" lang="en-NZ" altLang="ja-JP" sz="1400" b="1" i="1" u="none" strike="noStrike" kern="1200" cap="none" spc="0" normalizeH="0" baseline="0" noProof="0" smtClean="0">
                          <a:ln>
                            <a:noFill/>
                          </a:ln>
                          <a:solidFill>
                            <a:schemeClr val="tx1">
                              <a:lumMod val="75000"/>
                              <a:lumOff val="25000"/>
                            </a:schemeClr>
                          </a:solidFill>
                          <a:effectLst/>
                          <a:uLnTx/>
                          <a:uFillTx/>
                          <a:latin typeface="Cambria Math" panose="02040503050406030204" pitchFamily="18" charset="0"/>
                          <a:ea typeface="Cambria Math" panose="02040503050406030204" pitchFamily="18" charset="0"/>
                        </a:rPr>
                        <m:t>≈ </m:t>
                      </m:r>
                      <m:f>
                        <m:fPr>
                          <m:ctrlPr>
                            <a:rPr kumimoji="1" lang="en-NZ" altLang="ja-JP" sz="1400" b="1" i="1" u="none" strike="noStrike" kern="1200" cap="none" spc="0" normalizeH="0" baseline="0" noProof="0" smtClean="0">
                              <a:ln>
                                <a:noFill/>
                              </a:ln>
                              <a:solidFill>
                                <a:schemeClr val="tx1">
                                  <a:lumMod val="75000"/>
                                  <a:lumOff val="25000"/>
                                </a:schemeClr>
                              </a:solidFill>
                              <a:effectLst/>
                              <a:uLnTx/>
                              <a:uFillTx/>
                              <a:latin typeface="Cambria Math" panose="02040503050406030204" pitchFamily="18" charset="0"/>
                              <a:ea typeface="Cambria Math" panose="02040503050406030204" pitchFamily="18" charset="0"/>
                            </a:rPr>
                          </m:ctrlPr>
                        </m:fPr>
                        <m:num>
                          <m:r>
                            <a:rPr kumimoji="1" lang="en-NZ" altLang="ja-JP" sz="1400" b="1" i="1" u="none" strike="noStrike" kern="1200" cap="none" spc="0" normalizeH="0" baseline="0" noProof="0" smtClean="0">
                              <a:ln>
                                <a:noFill/>
                              </a:ln>
                              <a:solidFill>
                                <a:schemeClr val="tx1">
                                  <a:lumMod val="75000"/>
                                  <a:lumOff val="25000"/>
                                </a:schemeClr>
                              </a:solidFill>
                              <a:effectLst/>
                              <a:uLnTx/>
                              <a:uFillTx/>
                              <a:latin typeface="Cambria Math" panose="02040503050406030204" pitchFamily="18" charset="0"/>
                              <a:ea typeface="Cambria Math" panose="02040503050406030204" pitchFamily="18" charset="0"/>
                            </a:rPr>
                            <m:t># </m:t>
                          </m:r>
                          <m:sSub>
                            <m:sSubPr>
                              <m:ctrlPr>
                                <a:rPr kumimoji="1" lang="en-NZ" altLang="ja-JP" sz="1400" b="1" i="1" u="none" strike="noStrike" kern="1200" cap="none" spc="0" normalizeH="0" baseline="0" noProof="0" smtClean="0">
                                  <a:ln>
                                    <a:noFill/>
                                  </a:ln>
                                  <a:solidFill>
                                    <a:schemeClr val="tx1">
                                      <a:lumMod val="75000"/>
                                      <a:lumOff val="25000"/>
                                    </a:schemeClr>
                                  </a:solidFill>
                                  <a:effectLst/>
                                  <a:uLnTx/>
                                  <a:uFillTx/>
                                  <a:latin typeface="Cambria Math" panose="02040503050406030204" pitchFamily="18" charset="0"/>
                                  <a:ea typeface="Cambria Math" panose="02040503050406030204" pitchFamily="18" charset="0"/>
                                </a:rPr>
                              </m:ctrlPr>
                            </m:sSubPr>
                            <m:e>
                              <m:r>
                                <a:rPr kumimoji="1" lang="en-NZ" altLang="ja-JP" sz="1400" b="1" i="1" u="none" strike="noStrike" kern="1200" cap="none" spc="0" normalizeH="0" baseline="0" noProof="0" smtClean="0">
                                  <a:ln>
                                    <a:noFill/>
                                  </a:ln>
                                  <a:solidFill>
                                    <a:schemeClr val="tx1">
                                      <a:lumMod val="75000"/>
                                      <a:lumOff val="25000"/>
                                    </a:schemeClr>
                                  </a:solidFill>
                                  <a:effectLst/>
                                  <a:uLnTx/>
                                  <a:uFillTx/>
                                  <a:latin typeface="Cambria Math" panose="02040503050406030204" pitchFamily="18" charset="0"/>
                                  <a:ea typeface="Cambria Math" panose="02040503050406030204" pitchFamily="18" charset="0"/>
                                </a:rPr>
                                <m:t>𝑭</m:t>
                              </m:r>
                            </m:e>
                            <m:sub>
                              <m:r>
                                <a:rPr kumimoji="1" lang="en-NZ" altLang="ja-JP" sz="1400" b="1" i="1" u="none" strike="noStrike" kern="1200" cap="none" spc="0" normalizeH="0" baseline="0" noProof="0" smtClean="0">
                                  <a:ln>
                                    <a:noFill/>
                                  </a:ln>
                                  <a:solidFill>
                                    <a:schemeClr val="tx1">
                                      <a:lumMod val="75000"/>
                                      <a:lumOff val="25000"/>
                                    </a:schemeClr>
                                  </a:solidFill>
                                  <a:effectLst/>
                                  <a:uLnTx/>
                                  <a:uFillTx/>
                                  <a:latin typeface="Cambria Math" panose="02040503050406030204" pitchFamily="18" charset="0"/>
                                  <a:ea typeface="Cambria Math" panose="02040503050406030204" pitchFamily="18" charset="0"/>
                                </a:rPr>
                                <m:t>𝒊</m:t>
                              </m:r>
                            </m:sub>
                          </m:sSub>
                          <m:r>
                            <a:rPr kumimoji="1" lang="en-NZ" altLang="ja-JP" sz="1400" b="1" i="1" u="none" strike="noStrike" kern="1200" cap="none" spc="0" normalizeH="0" baseline="0" noProof="0" smtClean="0">
                              <a:ln>
                                <a:noFill/>
                              </a:ln>
                              <a:solidFill>
                                <a:schemeClr val="tx1">
                                  <a:lumMod val="75000"/>
                                  <a:lumOff val="25000"/>
                                </a:schemeClr>
                              </a:solidFill>
                              <a:effectLst/>
                              <a:uLnTx/>
                              <a:uFillTx/>
                              <a:latin typeface="Cambria Math" panose="02040503050406030204" pitchFamily="18" charset="0"/>
                              <a:ea typeface="Cambria Math" panose="02040503050406030204" pitchFamily="18" charset="0"/>
                            </a:rPr>
                            <m:t>≥</m:t>
                          </m:r>
                          <m:sSub>
                            <m:sSubPr>
                              <m:ctrlPr>
                                <a:rPr kumimoji="1" lang="en-NZ" altLang="ja-JP" sz="1400" b="1" i="1" u="none" strike="noStrike" kern="1200" cap="none" spc="0" normalizeH="0" baseline="0" noProof="0" smtClean="0">
                                  <a:ln>
                                    <a:noFill/>
                                  </a:ln>
                                  <a:solidFill>
                                    <a:schemeClr val="tx1">
                                      <a:lumMod val="75000"/>
                                      <a:lumOff val="25000"/>
                                    </a:schemeClr>
                                  </a:solidFill>
                                  <a:effectLst/>
                                  <a:uLnTx/>
                                  <a:uFillTx/>
                                  <a:latin typeface="Cambria Math" panose="02040503050406030204" pitchFamily="18" charset="0"/>
                                  <a:ea typeface="Cambria Math" panose="02040503050406030204" pitchFamily="18" charset="0"/>
                                </a:rPr>
                              </m:ctrlPr>
                            </m:sSubPr>
                            <m:e>
                              <m:r>
                                <a:rPr kumimoji="1" lang="en-NZ" altLang="ja-JP" sz="1400" b="1" i="1" u="none" strike="noStrike" kern="1200" cap="none" spc="0" normalizeH="0" baseline="0" noProof="0" smtClean="0">
                                  <a:ln>
                                    <a:noFill/>
                                  </a:ln>
                                  <a:solidFill>
                                    <a:schemeClr val="tx1">
                                      <a:lumMod val="75000"/>
                                      <a:lumOff val="25000"/>
                                    </a:schemeClr>
                                  </a:solidFill>
                                  <a:effectLst/>
                                  <a:uLnTx/>
                                  <a:uFillTx/>
                                  <a:latin typeface="Cambria Math" panose="02040503050406030204" pitchFamily="18" charset="0"/>
                                  <a:ea typeface="Cambria Math" panose="02040503050406030204" pitchFamily="18" charset="0"/>
                                </a:rPr>
                                <m:t>𝑭</m:t>
                              </m:r>
                            </m:e>
                            <m:sub>
                              <m:r>
                                <a:rPr kumimoji="1" lang="en-NZ" altLang="ja-JP" sz="1400" b="1" i="1" u="none" strike="noStrike" kern="1200" cap="none" spc="0" normalizeH="0" baseline="0" noProof="0" smtClean="0">
                                  <a:ln>
                                    <a:noFill/>
                                  </a:ln>
                                  <a:solidFill>
                                    <a:schemeClr val="tx1">
                                      <a:lumMod val="75000"/>
                                      <a:lumOff val="25000"/>
                                    </a:schemeClr>
                                  </a:solidFill>
                                  <a:effectLst/>
                                  <a:uLnTx/>
                                  <a:uFillTx/>
                                  <a:latin typeface="Cambria Math" panose="02040503050406030204" pitchFamily="18" charset="0"/>
                                  <a:ea typeface="Cambria Math" panose="02040503050406030204" pitchFamily="18" charset="0"/>
                                </a:rPr>
                                <m:t>𝑶𝒃𝒔</m:t>
                              </m:r>
                            </m:sub>
                          </m:sSub>
                        </m:num>
                        <m:den>
                          <m:r>
                            <a:rPr kumimoji="1" lang="en-NZ" altLang="ja-JP" sz="1400" b="1" i="1" u="none" strike="noStrike" kern="1200" cap="none" spc="0" normalizeH="0" baseline="0" noProof="0" smtClean="0">
                              <a:ln>
                                <a:noFill/>
                              </a:ln>
                              <a:solidFill>
                                <a:schemeClr val="tx1">
                                  <a:lumMod val="75000"/>
                                  <a:lumOff val="25000"/>
                                </a:schemeClr>
                              </a:solidFill>
                              <a:effectLst/>
                              <a:uLnTx/>
                              <a:uFillTx/>
                              <a:latin typeface="Cambria Math" panose="02040503050406030204" pitchFamily="18" charset="0"/>
                              <a:ea typeface="Cambria Math" panose="02040503050406030204" pitchFamily="18" charset="0"/>
                            </a:rPr>
                            <m:t>𝑳</m:t>
                          </m:r>
                        </m:den>
                      </m:f>
                    </m:oMath>
                  </m:oMathPara>
                </a14:m>
                <a:endParaRPr kumimoji="1" lang="en-NZ" altLang="ja-JP" sz="1400" b="1"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endParaRPr>
              </a:p>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0" i="1" u="none" strike="noStrike" kern="1200" cap="none" spc="0" normalizeH="0" baseline="0" noProof="0" dirty="0">
                  <a:ln>
                    <a:noFill/>
                  </a:ln>
                  <a:solidFill>
                    <a:schemeClr val="tx1">
                      <a:lumMod val="75000"/>
                      <a:lumOff val="25000"/>
                    </a:schemeClr>
                  </a:solidFill>
                  <a:effectLst/>
                  <a:uLnTx/>
                  <a:uFillTx/>
                  <a:latin typeface="Calibri" panose="020F0502020204030204"/>
                  <a:ea typeface="游ゴシック" panose="020B0400000000000000" pitchFamily="34" charset="-128"/>
                  <a:cs typeface="+mn-cs"/>
                </a:endParaRPr>
              </a:p>
            </p:txBody>
          </p:sp>
        </mc:Choice>
        <mc:Fallback xmlns="">
          <p:sp>
            <p:nvSpPr>
              <p:cNvPr id="143" name="Text Placeholder 5">
                <a:extLst>
                  <a:ext uri="{FF2B5EF4-FFF2-40B4-BE49-F238E27FC236}">
                    <a16:creationId xmlns:a16="http://schemas.microsoft.com/office/drawing/2014/main" id="{C9E8C58D-FAB2-B56B-4B5B-05C6D8CDC892}"/>
                  </a:ext>
                </a:extLst>
              </p:cNvPr>
              <p:cNvSpPr txBox="1">
                <a:spLocks noRot="1" noChangeAspect="1" noMove="1" noResize="1" noEditPoints="1" noAdjustHandles="1" noChangeArrowheads="1" noChangeShapeType="1" noTextEdit="1"/>
              </p:cNvSpPr>
              <p:nvPr/>
            </p:nvSpPr>
            <p:spPr>
              <a:xfrm>
                <a:off x="7538341" y="5034893"/>
                <a:ext cx="2479145" cy="1521513"/>
              </a:xfrm>
              <a:prstGeom prst="rect">
                <a:avLst/>
              </a:prstGeom>
              <a:blipFill>
                <a:blip r:embed="rId10"/>
                <a:stretch>
                  <a:fillRect l="-739" t="-800"/>
                </a:stretch>
              </a:blipFill>
            </p:spPr>
            <p:txBody>
              <a:bodyPr/>
              <a:lstStyle/>
              <a:p>
                <a:r>
                  <a:rPr lang="en-NZ">
                    <a:noFill/>
                  </a:rPr>
                  <a:t> </a:t>
                </a:r>
              </a:p>
            </p:txBody>
          </p:sp>
        </mc:Fallback>
      </mc:AlternateContent>
    </p:spTree>
    <p:extLst>
      <p:ext uri="{BB962C8B-B14F-4D97-AF65-F5344CB8AC3E}">
        <p14:creationId xmlns:p14="http://schemas.microsoft.com/office/powerpoint/2010/main" val="3010757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8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8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9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9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9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9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9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9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96"/>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97"/>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98"/>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37"/>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100"/>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01"/>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02"/>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03"/>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04"/>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05"/>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06"/>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07"/>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108"/>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09"/>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10"/>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11"/>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12"/>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13"/>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14"/>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15"/>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16"/>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17"/>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18"/>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119"/>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120"/>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21"/>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122"/>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123"/>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124"/>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125"/>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126"/>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127"/>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128"/>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129"/>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130"/>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131"/>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132"/>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133"/>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134"/>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135"/>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136"/>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138"/>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139"/>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140"/>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141"/>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142"/>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3"/>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1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100" grpId="0"/>
      <p:bldP spid="101" grpId="0" animBg="1"/>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P spid="112" grpId="0" animBg="1"/>
      <p:bldP spid="113" grpId="0" animBg="1"/>
      <p:bldP spid="114" grpId="0" animBg="1"/>
      <p:bldP spid="115" grpId="0" animBg="1"/>
      <p:bldP spid="116" grpId="0" animBg="1"/>
      <p:bldP spid="117" grpId="0" animBg="1"/>
      <p:bldP spid="118" grpId="0" animBg="1"/>
      <p:bldP spid="119" grpId="0" animBg="1"/>
      <p:bldP spid="120" grpId="0" animBg="1"/>
      <p:bldP spid="121" grpId="0" animBg="1"/>
      <p:bldP spid="122" grpId="0" animBg="1"/>
      <p:bldP spid="123" grpId="0" animBg="1"/>
      <p:bldP spid="124" grpId="0" animBg="1"/>
      <p:bldP spid="125" grpId="0" animBg="1"/>
      <p:bldP spid="126" grpId="0" animBg="1"/>
      <p:bldP spid="127" grpId="0" animBg="1"/>
      <p:bldP spid="128" grpId="0" animBg="1"/>
      <p:bldP spid="129" grpId="0" animBg="1"/>
      <p:bldP spid="130" grpId="0" animBg="1"/>
      <p:bldP spid="131" grpId="0" animBg="1"/>
      <p:bldP spid="132" grpId="0" animBg="1"/>
      <p:bldP spid="133" grpId="0" animBg="1"/>
      <p:bldP spid="134" grpId="0" animBg="1"/>
      <p:bldP spid="135" grpId="0" animBg="1"/>
      <p:bldP spid="136" grpId="0" animBg="1"/>
      <p:bldP spid="137" grpId="0"/>
      <p:bldP spid="138" grpId="0"/>
      <p:bldP spid="139" grpId="0"/>
      <p:bldP spid="140" grpId="0"/>
      <p:bldP spid="141" grpId="0"/>
      <p:bldP spid="142" grpId="0"/>
      <p:bldP spid="14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3" name="Title 6">
            <a:extLst>
              <a:ext uri="{FF2B5EF4-FFF2-40B4-BE49-F238E27FC236}">
                <a16:creationId xmlns:a16="http://schemas.microsoft.com/office/drawing/2014/main" id="{539E1FA8-24B4-FFD9-7C26-8B31D6C98125}"/>
              </a:ext>
            </a:extLst>
          </p:cNvPr>
          <p:cNvSpPr txBox="1">
            <a:spLocks/>
          </p:cNvSpPr>
          <p:nvPr/>
        </p:nvSpPr>
        <p:spPr>
          <a:xfrm>
            <a:off x="251223" y="237833"/>
            <a:ext cx="8617005"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4.5a – Permutation Tests in RBDs</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9" name="Text Placeholder 5">
            <a:extLst>
              <a:ext uri="{FF2B5EF4-FFF2-40B4-BE49-F238E27FC236}">
                <a16:creationId xmlns:a16="http://schemas.microsoft.com/office/drawing/2014/main" id="{B2B8F00D-835B-64C4-CDD2-CBBE55C5680C}"/>
              </a:ext>
            </a:extLst>
          </p:cNvPr>
          <p:cNvSpPr txBox="1">
            <a:spLocks/>
          </p:cNvSpPr>
          <p:nvPr/>
        </p:nvSpPr>
        <p:spPr>
          <a:xfrm>
            <a:off x="251223" y="996728"/>
            <a:ext cx="11232109" cy="36166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 a RBD it is assumed that the data in each of the cells arise from distribution that are:</a:t>
            </a: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1" name="Text Placeholder 5">
            <a:extLst>
              <a:ext uri="{FF2B5EF4-FFF2-40B4-BE49-F238E27FC236}">
                <a16:creationId xmlns:a16="http://schemas.microsoft.com/office/drawing/2014/main" id="{374D4B77-23D2-7D23-32F6-9221F8B93610}"/>
              </a:ext>
            </a:extLst>
          </p:cNvPr>
          <p:cNvSpPr txBox="1">
            <a:spLocks/>
          </p:cNvSpPr>
          <p:nvPr/>
        </p:nvSpPr>
        <p:spPr>
          <a:xfrm>
            <a:off x="1003618" y="1356580"/>
            <a:ext cx="3571164" cy="10888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Independent</a:t>
            </a:r>
            <a:endPar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Normally distributed</a:t>
            </a:r>
            <a:endPar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400050" marR="0" lvl="0" indent="-400050" algn="just" defTabSz="914324" rtl="0" eaLnBrk="1" fontAlgn="auto" latinLnBrk="0" hangingPunct="1">
              <a:lnSpc>
                <a:spcPct val="100000"/>
              </a:lnSpc>
              <a:spcBef>
                <a:spcPts val="0"/>
              </a:spcBef>
              <a:spcAft>
                <a:spcPts val="0"/>
              </a:spcAft>
              <a:buClrTx/>
              <a:buSzTx/>
              <a:buFont typeface="+mj-lt"/>
              <a:buAutoNum type="romanUcPeriod"/>
              <a:tabLst/>
              <a:defRPr/>
            </a:pPr>
            <a:r>
              <a:rPr kumimoji="1" lang="en-NZ" altLang="ja-JP"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Have homogenous variance</a:t>
            </a:r>
            <a:endPar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2" name="Left Brace 11">
            <a:extLst>
              <a:ext uri="{FF2B5EF4-FFF2-40B4-BE49-F238E27FC236}">
                <a16:creationId xmlns:a16="http://schemas.microsoft.com/office/drawing/2014/main" id="{39038A0D-E1F1-3A75-7860-12DF125604D8}"/>
              </a:ext>
            </a:extLst>
          </p:cNvPr>
          <p:cNvSpPr/>
          <p:nvPr/>
        </p:nvSpPr>
        <p:spPr>
          <a:xfrm rot="10800000">
            <a:off x="4218399" y="1479624"/>
            <a:ext cx="356383" cy="72333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Placeholder 5">
            <a:extLst>
              <a:ext uri="{FF2B5EF4-FFF2-40B4-BE49-F238E27FC236}">
                <a16:creationId xmlns:a16="http://schemas.microsoft.com/office/drawing/2014/main" id="{A7372724-6E3F-830C-54A4-52F3C970120C}"/>
              </a:ext>
            </a:extLst>
          </p:cNvPr>
          <p:cNvSpPr txBox="1">
            <a:spLocks/>
          </p:cNvSpPr>
          <p:nvPr/>
        </p:nvSpPr>
        <p:spPr>
          <a:xfrm>
            <a:off x="4744168" y="1630194"/>
            <a:ext cx="2246217" cy="43237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ANOVA Conditions</a:t>
            </a:r>
            <a:endParaRPr kumimoji="1" lang="en-NZ" altLang="ja-JP" sz="1800" b="1"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p:txBody>
      </p:sp>
      <p:sp>
        <p:nvSpPr>
          <p:cNvPr id="15" name="Text Placeholder 5">
            <a:extLst>
              <a:ext uri="{FF2B5EF4-FFF2-40B4-BE49-F238E27FC236}">
                <a16:creationId xmlns:a16="http://schemas.microsoft.com/office/drawing/2014/main" id="{7201C1A0-7E39-022D-ED39-3F315B70CBF0}"/>
              </a:ext>
            </a:extLst>
          </p:cNvPr>
          <p:cNvSpPr txBox="1">
            <a:spLocks/>
          </p:cNvSpPr>
          <p:nvPr/>
        </p:nvSpPr>
        <p:spPr>
          <a:xfrm>
            <a:off x="251221" y="2443610"/>
            <a:ext cx="11232109" cy="72333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If the ANOVA conditions are violated, then whilst we can still calculate the observed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-statistic, this will no longer follow an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a:t>
            </a:r>
            <a:r>
              <a:rPr kumimoji="1" lang="en-NZ" altLang="ja-JP" sz="18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distribution such that any p-values produced within such a process will be meaningless.</a:t>
            </a: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6" name="Text Placeholder 5">
            <a:extLst>
              <a:ext uri="{FF2B5EF4-FFF2-40B4-BE49-F238E27FC236}">
                <a16:creationId xmlns:a16="http://schemas.microsoft.com/office/drawing/2014/main" id="{842C98CB-E6B4-44B3-5F7E-2C181DC6BFD7}"/>
              </a:ext>
            </a:extLst>
          </p:cNvPr>
          <p:cNvSpPr txBox="1">
            <a:spLocks/>
          </p:cNvSpPr>
          <p:nvPr/>
        </p:nvSpPr>
        <p:spPr>
          <a:xfrm>
            <a:off x="251221" y="3208759"/>
            <a:ext cx="11232109" cy="3392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 such instances, we will need to test between the null and alternative hypothesis using a permutation test.</a:t>
            </a: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7" name="Text Placeholder 5">
            <a:extLst>
              <a:ext uri="{FF2B5EF4-FFF2-40B4-BE49-F238E27FC236}">
                <a16:creationId xmlns:a16="http://schemas.microsoft.com/office/drawing/2014/main" id="{C7898F9E-5DF5-8A89-DE10-B768F60BF068}"/>
              </a:ext>
            </a:extLst>
          </p:cNvPr>
          <p:cNvSpPr txBox="1">
            <a:spLocks/>
          </p:cNvSpPr>
          <p:nvPr/>
        </p:nvSpPr>
        <p:spPr>
          <a:xfrm>
            <a:off x="251220" y="3706616"/>
            <a:ext cx="11232109" cy="59369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However, in a RBD the permutations (i.e. the switching of observations between treatments) must be carried out within blocks as opposed to over all experimental units.</a:t>
            </a:r>
            <a:endParaRPr kumimoji="1" lang="en-NZ" altLang="ja-JP" sz="18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99" name="Text Placeholder 5">
            <a:extLst>
              <a:ext uri="{FF2B5EF4-FFF2-40B4-BE49-F238E27FC236}">
                <a16:creationId xmlns:a16="http://schemas.microsoft.com/office/drawing/2014/main" id="{889B3F12-09AE-565C-1982-09B889B40B85}"/>
              </a:ext>
            </a:extLst>
          </p:cNvPr>
          <p:cNvSpPr txBox="1">
            <a:spLocks/>
          </p:cNvSpPr>
          <p:nvPr/>
        </p:nvSpPr>
        <p:spPr>
          <a:xfrm>
            <a:off x="251220" y="5049291"/>
            <a:ext cx="11232109" cy="59369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This can be achieved efficiently in R using the </a:t>
            </a:r>
            <a:r>
              <a:rPr kumimoji="1" lang="en-NZ" altLang="ja-JP" sz="1800" b="1" i="0" u="none" strike="noStrike" kern="1200" cap="none" spc="0" normalizeH="0" baseline="0" noProof="0" dirty="0" err="1">
                <a:ln>
                  <a:noFill/>
                </a:ln>
                <a:solidFill>
                  <a:srgbClr val="C00000"/>
                </a:solidFill>
                <a:effectLst/>
                <a:uLnTx/>
                <a:uFillTx/>
                <a:latin typeface="Calibri" panose="020F0502020204030204"/>
                <a:ea typeface="游ゴシック" panose="020B0400000000000000" pitchFamily="34" charset="-128"/>
                <a:cs typeface="+mn-cs"/>
              </a:rPr>
              <a:t>aovp</a:t>
            </a:r>
            <a:r>
              <a:rPr kumimoji="1" lang="en-NZ" altLang="ja-JP" sz="18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 and Error() commands of the </a:t>
            </a:r>
            <a:r>
              <a:rPr kumimoji="1" lang="en-NZ" altLang="ja-JP" sz="1800" b="1" i="0" u="none" strike="noStrike" kern="1200" cap="none" spc="0" normalizeH="0" baseline="0" noProof="0" dirty="0" err="1">
                <a:ln>
                  <a:noFill/>
                </a:ln>
                <a:solidFill>
                  <a:srgbClr val="C00000"/>
                </a:solidFill>
                <a:effectLst/>
                <a:uLnTx/>
                <a:uFillTx/>
                <a:latin typeface="Calibri" panose="020F0502020204030204"/>
                <a:ea typeface="游ゴシック" panose="020B0400000000000000" pitchFamily="34" charset="-128"/>
                <a:cs typeface="+mn-cs"/>
              </a:rPr>
              <a:t>lmPerm</a:t>
            </a:r>
            <a:r>
              <a:rPr kumimoji="1" lang="en-NZ" altLang="ja-JP" sz="18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 package!</a:t>
            </a: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8" name="Footer Placeholder 2">
            <a:extLst>
              <a:ext uri="{FF2B5EF4-FFF2-40B4-BE49-F238E27FC236}">
                <a16:creationId xmlns:a16="http://schemas.microsoft.com/office/drawing/2014/main" id="{0BF81C23-3721-C430-F050-D6962FA577BE}"/>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4.5 – Permutation Tests in RBDs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14078131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3" name="Title 6">
            <a:extLst>
              <a:ext uri="{FF2B5EF4-FFF2-40B4-BE49-F238E27FC236}">
                <a16:creationId xmlns:a16="http://schemas.microsoft.com/office/drawing/2014/main" id="{539E1FA8-24B4-FFD9-7C26-8B31D6C98125}"/>
              </a:ext>
            </a:extLst>
          </p:cNvPr>
          <p:cNvSpPr txBox="1">
            <a:spLocks/>
          </p:cNvSpPr>
          <p:nvPr/>
        </p:nvSpPr>
        <p:spPr>
          <a:xfrm>
            <a:off x="251223" y="237833"/>
            <a:ext cx="8617005" cy="607201"/>
          </a:xfrm>
          <a:prstGeom prst="rect">
            <a:avLst/>
          </a:prstGeom>
        </p:spPr>
        <p:txBody>
          <a:bodyPr anchor="t">
            <a:normAutofit fontScale="925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4.5b – Clotting Time of Blood Plasma Example</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20" name="Text Placeholder 5">
            <a:extLst>
              <a:ext uri="{FF2B5EF4-FFF2-40B4-BE49-F238E27FC236}">
                <a16:creationId xmlns:a16="http://schemas.microsoft.com/office/drawing/2014/main" id="{645ADC35-9826-E030-B40E-92F636A9B524}"/>
              </a:ext>
            </a:extLst>
          </p:cNvPr>
          <p:cNvSpPr txBox="1">
            <a:spLocks/>
          </p:cNvSpPr>
          <p:nvPr/>
        </p:nvSpPr>
        <p:spPr>
          <a:xfrm>
            <a:off x="251223" y="941503"/>
            <a:ext cx="11432776" cy="121920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rgbClr val="0070C0"/>
                </a:solidFill>
              </a:rPr>
              <a:t>The overall effects of four different treatments on the clotting time of blood plasma are to be investigated. To control for underlying differences in clotting rates among individuals, a randomised block design was used with Subjects as blocks. Four samples of plasma were collected from each of eight subjects (the 'blocks’). The four treatments were then were assigned in random order to the four samples of each subject, </a:t>
            </a:r>
            <a:r>
              <a:rPr lang="en-NZ" altLang="ja-JP" sz="1800" dirty="0" err="1">
                <a:solidFill>
                  <a:srgbClr val="0070C0"/>
                </a:solidFill>
              </a:rPr>
              <a:t>ie</a:t>
            </a:r>
            <a:r>
              <a:rPr lang="en-NZ" altLang="ja-JP" sz="1800" dirty="0">
                <a:solidFill>
                  <a:srgbClr val="0070C0"/>
                </a:solidFill>
              </a:rPr>
              <a:t> each subject received all four treatments. </a:t>
            </a:r>
          </a:p>
        </p:txBody>
      </p:sp>
      <p:graphicFrame>
        <p:nvGraphicFramePr>
          <p:cNvPr id="2" name="Table 1">
            <a:extLst>
              <a:ext uri="{FF2B5EF4-FFF2-40B4-BE49-F238E27FC236}">
                <a16:creationId xmlns:a16="http://schemas.microsoft.com/office/drawing/2014/main" id="{B4D5750E-BCC3-8306-7AE0-EAE3FE7320B6}"/>
              </a:ext>
            </a:extLst>
          </p:cNvPr>
          <p:cNvGraphicFramePr>
            <a:graphicFrameLocks noGrp="1"/>
          </p:cNvGraphicFramePr>
          <p:nvPr/>
        </p:nvGraphicFramePr>
        <p:xfrm>
          <a:off x="508000" y="2257172"/>
          <a:ext cx="5747658" cy="3109260"/>
        </p:xfrm>
        <a:graphic>
          <a:graphicData uri="http://schemas.openxmlformats.org/drawingml/2006/table">
            <a:tbl>
              <a:tblPr/>
              <a:tblGrid>
                <a:gridCol w="957943">
                  <a:extLst>
                    <a:ext uri="{9D8B030D-6E8A-4147-A177-3AD203B41FA5}">
                      <a16:colId xmlns:a16="http://schemas.microsoft.com/office/drawing/2014/main" val="732741230"/>
                    </a:ext>
                  </a:extLst>
                </a:gridCol>
                <a:gridCol w="957943">
                  <a:extLst>
                    <a:ext uri="{9D8B030D-6E8A-4147-A177-3AD203B41FA5}">
                      <a16:colId xmlns:a16="http://schemas.microsoft.com/office/drawing/2014/main" val="3294000327"/>
                    </a:ext>
                  </a:extLst>
                </a:gridCol>
                <a:gridCol w="957943">
                  <a:extLst>
                    <a:ext uri="{9D8B030D-6E8A-4147-A177-3AD203B41FA5}">
                      <a16:colId xmlns:a16="http://schemas.microsoft.com/office/drawing/2014/main" val="973354691"/>
                    </a:ext>
                  </a:extLst>
                </a:gridCol>
                <a:gridCol w="957943">
                  <a:extLst>
                    <a:ext uri="{9D8B030D-6E8A-4147-A177-3AD203B41FA5}">
                      <a16:colId xmlns:a16="http://schemas.microsoft.com/office/drawing/2014/main" val="1371302634"/>
                    </a:ext>
                  </a:extLst>
                </a:gridCol>
                <a:gridCol w="957943">
                  <a:extLst>
                    <a:ext uri="{9D8B030D-6E8A-4147-A177-3AD203B41FA5}">
                      <a16:colId xmlns:a16="http://schemas.microsoft.com/office/drawing/2014/main" val="3927509496"/>
                    </a:ext>
                  </a:extLst>
                </a:gridCol>
                <a:gridCol w="957943">
                  <a:extLst>
                    <a:ext uri="{9D8B030D-6E8A-4147-A177-3AD203B41FA5}">
                      <a16:colId xmlns:a16="http://schemas.microsoft.com/office/drawing/2014/main" val="4124748458"/>
                    </a:ext>
                  </a:extLst>
                </a:gridCol>
              </a:tblGrid>
              <a:tr h="310926">
                <a:tc>
                  <a:txBody>
                    <a:bodyPr/>
                    <a:lstStyle/>
                    <a:p>
                      <a:pPr algn="ctr" fontAlgn="ctr"/>
                      <a:r>
                        <a:rPr lang="en-NZ" sz="1600" b="1" i="0" u="none" strike="noStrike">
                          <a:solidFill>
                            <a:srgbClr val="FFFFFF"/>
                          </a:solidFill>
                          <a:effectLst/>
                          <a:latin typeface="Calibri" panose="020F0502020204030204" pitchFamily="34" charset="0"/>
                        </a:rPr>
                        <a:t>Subject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1" i="0" u="none" strike="noStrike">
                          <a:solidFill>
                            <a:srgbClr val="FFFFFF"/>
                          </a:solidFill>
                          <a:effectLst/>
                          <a:latin typeface="Calibri" panose="020F0502020204030204" pitchFamily="34" charset="0"/>
                        </a:rPr>
                        <a:t>T1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1" i="0" u="none" strike="noStrike">
                          <a:solidFill>
                            <a:srgbClr val="FFFFFF"/>
                          </a:solidFill>
                          <a:effectLst/>
                          <a:latin typeface="Calibri" panose="020F0502020204030204" pitchFamily="34" charset="0"/>
                        </a:rPr>
                        <a:t>T2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1" i="0" u="none" strike="noStrike">
                          <a:solidFill>
                            <a:srgbClr val="FFFFFF"/>
                          </a:solidFill>
                          <a:effectLst/>
                          <a:latin typeface="Calibri" panose="020F0502020204030204" pitchFamily="34" charset="0"/>
                        </a:rPr>
                        <a:t>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1" i="0" u="none" strike="noStrike">
                          <a:solidFill>
                            <a:srgbClr val="FFFFFF"/>
                          </a:solidFill>
                          <a:effectLst/>
                          <a:latin typeface="Calibri" panose="020F0502020204030204" pitchFamily="34" charset="0"/>
                        </a:rPr>
                        <a:t>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1" i="0" u="none" strike="noStrike">
                          <a:solidFill>
                            <a:srgbClr val="FFFFFF"/>
                          </a:solidFill>
                          <a:effectLst/>
                          <a:latin typeface="Calibri" panose="020F0502020204030204" pitchFamily="34" charset="0"/>
                        </a:rPr>
                        <a:t>Means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extLst>
                  <a:ext uri="{0D108BD9-81ED-4DB2-BD59-A6C34878D82A}">
                    <a16:rowId xmlns:a16="http://schemas.microsoft.com/office/drawing/2014/main" val="89502602"/>
                  </a:ext>
                </a:extLst>
              </a:tr>
              <a:tr h="310926">
                <a:tc>
                  <a:txBody>
                    <a:bodyPr/>
                    <a:lstStyle/>
                    <a:p>
                      <a:pPr algn="ctr" fontAlgn="ctr"/>
                      <a:r>
                        <a:rPr lang="en-NZ" sz="1600" b="0" i="0" u="none" strike="noStrike">
                          <a:solidFill>
                            <a:srgbClr val="000000"/>
                          </a:solidFill>
                          <a:effectLst/>
                          <a:latin typeface="Calibri" panose="020F0502020204030204" pitchFamily="34" charset="0"/>
                        </a:rPr>
                        <a:t>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8.4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12.2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3047782756"/>
                  </a:ext>
                </a:extLst>
              </a:tr>
              <a:tr h="310926">
                <a:tc>
                  <a:txBody>
                    <a:bodyPr/>
                    <a:lstStyle/>
                    <a:p>
                      <a:pPr algn="ctr" fontAlgn="ctr"/>
                      <a:r>
                        <a:rPr lang="en-NZ" sz="1600" b="0" i="0" u="none" strike="noStrike">
                          <a:solidFill>
                            <a:srgbClr val="000000"/>
                          </a:solidFill>
                          <a:effectLst/>
                          <a:latin typeface="Calibri" panose="020F0502020204030204" pitchFamily="34" charset="0"/>
                        </a:rPr>
                        <a:t>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12.8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15.2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000000"/>
                          </a:solidFill>
                          <a:effectLst/>
                          <a:latin typeface="Calibri" panose="020F0502020204030204" pitchFamily="34" charset="0"/>
                        </a:rPr>
                        <a:t>12.9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14.4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13.83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1931984307"/>
                  </a:ext>
                </a:extLst>
              </a:tr>
              <a:tr h="310926">
                <a:tc>
                  <a:txBody>
                    <a:bodyPr/>
                    <a:lstStyle/>
                    <a:p>
                      <a:pPr algn="ctr" fontAlgn="ctr"/>
                      <a:r>
                        <a:rPr lang="en-NZ" sz="1600" b="0" i="0" u="none" strike="noStrike">
                          <a:solidFill>
                            <a:srgbClr val="000000"/>
                          </a:solidFill>
                          <a:effectLst/>
                          <a:latin typeface="Calibri" panose="020F0502020204030204" pitchFamily="34" charset="0"/>
                        </a:rPr>
                        <a: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9.93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3488285600"/>
                  </a:ext>
                </a:extLst>
              </a:tr>
              <a:tr h="310926">
                <a:tc>
                  <a:txBody>
                    <a:bodyPr/>
                    <a:lstStyle/>
                    <a:p>
                      <a:pPr algn="ctr" fontAlgn="ctr"/>
                      <a:r>
                        <a:rPr lang="en-NZ" sz="16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8.8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10.13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2293474124"/>
                  </a:ext>
                </a:extLst>
              </a:tr>
              <a:tr h="310926">
                <a:tc>
                  <a:txBody>
                    <a:bodyPr/>
                    <a:lstStyle/>
                    <a:p>
                      <a:pPr algn="ctr" fontAlgn="ctr"/>
                      <a:r>
                        <a:rPr lang="en-NZ" sz="1600" b="0" i="0" u="none" strike="noStrike">
                          <a:solidFill>
                            <a:srgbClr val="000000"/>
                          </a:solidFill>
                          <a:effectLst/>
                          <a:latin typeface="Calibri" panose="020F0502020204030204" pitchFamily="34" charset="0"/>
                        </a:rPr>
                        <a: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8.4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8.2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8.5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8.5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8.4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2996884694"/>
                  </a:ext>
                </a:extLst>
              </a:tr>
              <a:tr h="310926">
                <a:tc>
                  <a:txBody>
                    <a:bodyPr/>
                    <a:lstStyle/>
                    <a:p>
                      <a:pPr algn="ctr" fontAlgn="ctr"/>
                      <a:r>
                        <a:rPr lang="en-NZ" sz="16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8.6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10.9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1165941705"/>
                  </a:ext>
                </a:extLst>
              </a:tr>
              <a:tr h="310926">
                <a:tc>
                  <a:txBody>
                    <a:bodyPr/>
                    <a:lstStyle/>
                    <a:p>
                      <a:pPr algn="ctr" fontAlgn="ctr"/>
                      <a:r>
                        <a:rPr lang="en-NZ" sz="1600" b="0" i="0" u="none" strike="noStrike">
                          <a:solidFill>
                            <a:srgbClr val="000000"/>
                          </a:solidFill>
                          <a:effectLst/>
                          <a:latin typeface="Calibri" panose="020F0502020204030204" pitchFamily="34" charset="0"/>
                        </a:rPr>
                        <a:t>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8.9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9.38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1313872470"/>
                  </a:ext>
                </a:extLst>
              </a:tr>
              <a:tr h="310926">
                <a:tc>
                  <a:txBody>
                    <a:bodyPr/>
                    <a:lstStyle/>
                    <a:p>
                      <a:pPr algn="ctr" fontAlgn="ctr"/>
                      <a:r>
                        <a:rPr lang="en-NZ" sz="1600" b="0" i="0" u="none" strike="noStrike">
                          <a:solidFill>
                            <a:srgbClr val="000000"/>
                          </a:solidFill>
                          <a:effectLst/>
                          <a:latin typeface="Calibri" panose="020F0502020204030204" pitchFamily="34" charset="0"/>
                        </a:rPr>
                        <a:t>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7.9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8.1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8.2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8.55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3042056422"/>
                  </a:ext>
                </a:extLst>
              </a:tr>
              <a:tr h="310926">
                <a:tc>
                  <a:txBody>
                    <a:bodyPr/>
                    <a:lstStyle/>
                    <a:p>
                      <a:pPr algn="ctr" fontAlgn="ctr"/>
                      <a:r>
                        <a:rPr lang="en-NZ" sz="1600" b="1" i="0" u="none" strike="noStrike">
                          <a:solidFill>
                            <a:srgbClr val="FFFFFF"/>
                          </a:solidFill>
                          <a:effectLst/>
                          <a:latin typeface="Calibri" panose="020F0502020204030204" pitchFamily="34" charset="0"/>
                        </a:rPr>
                        <a:t>Means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ctr"/>
                      <a:r>
                        <a:rPr lang="en-NZ" sz="1600" b="0" i="0" u="none" strike="noStrike">
                          <a:solidFill>
                            <a:srgbClr val="000000"/>
                          </a:solidFill>
                          <a:effectLst/>
                          <a:latin typeface="Calibri" panose="020F0502020204030204" pitchFamily="34" charset="0"/>
                        </a:rPr>
                        <a:t>9.3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600" b="0" i="0" u="none" strike="noStrike">
                          <a:solidFill>
                            <a:srgbClr val="000000"/>
                          </a:solidFill>
                          <a:effectLst/>
                          <a:latin typeface="Calibri" panose="020F0502020204030204" pitchFamily="34" charset="0"/>
                        </a:rPr>
                        <a:t>9.7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600" b="0" i="0" u="none" strike="noStrike">
                          <a:solidFill>
                            <a:srgbClr val="000000"/>
                          </a:solidFill>
                          <a:effectLst/>
                          <a:latin typeface="Calibri" panose="020F0502020204030204" pitchFamily="34" charset="0"/>
                        </a:rPr>
                        <a:t>9.9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600" b="0" i="0" u="none" strike="noStrike">
                          <a:solidFill>
                            <a:srgbClr val="000000"/>
                          </a:solidFill>
                          <a:effectLst/>
                          <a:latin typeface="Calibri" panose="020F0502020204030204" pitchFamily="34" charset="0"/>
                        </a:rPr>
                        <a:t>11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600" b="0" i="0" u="none" strike="noStrike" dirty="0">
                          <a:solidFill>
                            <a:srgbClr val="000000"/>
                          </a:solidFill>
                          <a:effectLst/>
                          <a:latin typeface="Calibri" panose="020F0502020204030204" pitchFamily="34" charset="0"/>
                        </a:rPr>
                        <a:t>9.99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extLst>
                  <a:ext uri="{0D108BD9-81ED-4DB2-BD59-A6C34878D82A}">
                    <a16:rowId xmlns:a16="http://schemas.microsoft.com/office/drawing/2014/main" val="3616700095"/>
                  </a:ext>
                </a:extLst>
              </a:tr>
            </a:tbl>
          </a:graphicData>
        </a:graphic>
      </p:graphicFrame>
      <p:sp>
        <p:nvSpPr>
          <p:cNvPr id="18" name="Text Placeholder 5">
            <a:extLst>
              <a:ext uri="{FF2B5EF4-FFF2-40B4-BE49-F238E27FC236}">
                <a16:creationId xmlns:a16="http://schemas.microsoft.com/office/drawing/2014/main" id="{D8B8520C-39E2-E027-BE80-E80F3B32311D}"/>
              </a:ext>
            </a:extLst>
          </p:cNvPr>
          <p:cNvSpPr txBox="1">
            <a:spLocks/>
          </p:cNvSpPr>
          <p:nvPr/>
        </p:nvSpPr>
        <p:spPr>
          <a:xfrm>
            <a:off x="6560456" y="2203483"/>
            <a:ext cx="5123543" cy="121920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rgbClr val="0070C0"/>
                </a:solidFill>
              </a:rPr>
              <a:t>The adjacent table shows the data (clotting time in minutes) pertaining to this experiment in ‘wide’ format. The csv data set entitled ‘plasma’ shows the same data in ‘thin’ format.</a:t>
            </a:r>
          </a:p>
        </p:txBody>
      </p:sp>
      <p:sp>
        <p:nvSpPr>
          <p:cNvPr id="21" name="Text Placeholder 5">
            <a:extLst>
              <a:ext uri="{FF2B5EF4-FFF2-40B4-BE49-F238E27FC236}">
                <a16:creationId xmlns:a16="http://schemas.microsoft.com/office/drawing/2014/main" id="{77572E38-1A00-ED71-E694-686A1BE7A026}"/>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4.5 - Clotting Time of Blood Plasma (Permutation Test RBD Example)</a:t>
            </a:r>
            <a:endParaRPr lang="en-US" altLang="ja-JP" sz="1200" b="1" i="1" dirty="0">
              <a:solidFill>
                <a:srgbClr val="C00000"/>
              </a:solidFill>
            </a:endParaRPr>
          </a:p>
        </p:txBody>
      </p:sp>
      <p:sp>
        <p:nvSpPr>
          <p:cNvPr id="14" name="Footer Placeholder 2">
            <a:extLst>
              <a:ext uri="{FF2B5EF4-FFF2-40B4-BE49-F238E27FC236}">
                <a16:creationId xmlns:a16="http://schemas.microsoft.com/office/drawing/2014/main" id="{55C09B18-A010-FB95-9A8F-25378F80B98C}"/>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4.5 – Permutation Tests in RBDs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12" name="Text Placeholder 5">
            <a:extLst>
              <a:ext uri="{FF2B5EF4-FFF2-40B4-BE49-F238E27FC236}">
                <a16:creationId xmlns:a16="http://schemas.microsoft.com/office/drawing/2014/main" id="{19FDBF5E-4D92-AEEC-6217-085CE64EAAB9}"/>
              </a:ext>
            </a:extLst>
          </p:cNvPr>
          <p:cNvSpPr txBox="1">
            <a:spLocks/>
          </p:cNvSpPr>
          <p:nvPr/>
        </p:nvSpPr>
        <p:spPr>
          <a:xfrm>
            <a:off x="6560456" y="3664842"/>
            <a:ext cx="5123543" cy="50522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rgbClr val="0070C0"/>
                </a:solidFill>
              </a:rPr>
              <a:t>Is there an effect of treatment on clotting time?</a:t>
            </a:r>
          </a:p>
        </p:txBody>
      </p:sp>
      <mc:AlternateContent xmlns:mc="http://schemas.openxmlformats.org/markup-compatibility/2006" xmlns:a14="http://schemas.microsoft.com/office/drawing/2010/main">
        <mc:Choice Requires="a14">
          <p:sp>
            <p:nvSpPr>
              <p:cNvPr id="15" name="Text Placeholder 5">
                <a:extLst>
                  <a:ext uri="{FF2B5EF4-FFF2-40B4-BE49-F238E27FC236}">
                    <a16:creationId xmlns:a16="http://schemas.microsoft.com/office/drawing/2014/main" id="{32BD5CC1-4DF7-EA8B-34DC-A4020B1A045E}"/>
                  </a:ext>
                </a:extLst>
              </p:cNvPr>
              <p:cNvSpPr txBox="1">
                <a:spLocks/>
              </p:cNvSpPr>
              <p:nvPr/>
            </p:nvSpPr>
            <p:spPr>
              <a:xfrm>
                <a:off x="6812378" y="4170064"/>
                <a:ext cx="4111699" cy="108828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600" dirty="0">
                    <a:solidFill>
                      <a:schemeClr val="tx1"/>
                    </a:solidFill>
                  </a:rPr>
                  <a:t>This time we will test for treatment effects…</a:t>
                </a:r>
              </a:p>
              <a:p>
                <a:pPr>
                  <a:lnSpc>
                    <a:spcPct val="100000"/>
                  </a:lnSpc>
                </a:pPr>
                <a14:m>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𝑯</m:t>
                        </m:r>
                      </m:e>
                      <m:sub>
                        <m:r>
                          <a:rPr lang="en-NZ" altLang="ja-JP" sz="1600" b="1" i="1" smtClean="0">
                            <a:solidFill>
                              <a:schemeClr val="tx1"/>
                            </a:solidFill>
                            <a:latin typeface="Cambria Math" panose="02040503050406030204" pitchFamily="18" charset="0"/>
                          </a:rPr>
                          <m:t>𝟎</m:t>
                        </m:r>
                      </m:sub>
                    </m:sSub>
                    <m:r>
                      <a:rPr lang="en-NZ" altLang="ja-JP" sz="1600" b="1" i="1" smtClean="0">
                        <a:solidFill>
                          <a:schemeClr val="tx1"/>
                        </a:solidFill>
                        <a:latin typeface="Cambria Math" panose="02040503050406030204" pitchFamily="18" charset="0"/>
                      </a:rPr>
                      <m:t> :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𝜶</m:t>
                        </m:r>
                      </m:e>
                      <m:sub>
                        <m:r>
                          <a:rPr lang="en-NZ" altLang="ja-JP" sz="1600" b="1" i="1" smtClean="0">
                            <a:solidFill>
                              <a:schemeClr val="tx1"/>
                            </a:solidFill>
                            <a:latin typeface="Cambria Math" panose="02040503050406030204" pitchFamily="18" charset="0"/>
                          </a:rPr>
                          <m:t>𝒊</m:t>
                        </m:r>
                      </m:sub>
                    </m:sSub>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𝟎</m:t>
                    </m:r>
                  </m:oMath>
                </a14:m>
                <a:r>
                  <a:rPr lang="en-NZ" altLang="ja-JP" sz="1600" b="1" i="1" dirty="0">
                    <a:solidFill>
                      <a:schemeClr val="tx1"/>
                    </a:solidFill>
                  </a:rPr>
                  <a:t>  </a:t>
                </a:r>
                <a:r>
                  <a:rPr lang="en-NZ" altLang="ja-JP" sz="1600" dirty="0">
                    <a:solidFill>
                      <a:schemeClr val="tx1"/>
                    </a:solidFill>
                  </a:rPr>
                  <a:t>for all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=1, …, </m:t>
                    </m:r>
                    <m:r>
                      <a:rPr lang="en-NZ" altLang="ja-JP" sz="1600" b="0" i="1" smtClean="0">
                        <a:solidFill>
                          <a:schemeClr val="tx1"/>
                        </a:solidFill>
                        <a:latin typeface="Cambria Math" panose="02040503050406030204" pitchFamily="18" charset="0"/>
                      </a:rPr>
                      <m:t>𝑎</m:t>
                    </m:r>
                  </m:oMath>
                </a14:m>
                <a:r>
                  <a:rPr lang="en-NZ" altLang="ja-JP" sz="1600" dirty="0">
                    <a:solidFill>
                      <a:schemeClr val="tx1"/>
                    </a:solidFill>
                  </a:rPr>
                  <a:t> </a:t>
                </a:r>
                <a:br>
                  <a:rPr lang="en-NZ" altLang="ja-JP" sz="1600" b="1" i="1" dirty="0">
                    <a:solidFill>
                      <a:schemeClr val="tx1"/>
                    </a:solidFill>
                  </a:rPr>
                </a:br>
                <a14:m>
                  <m:oMath xmlns:m="http://schemas.openxmlformats.org/officeDocument/2006/math">
                    <m:sSub>
                      <m:sSubPr>
                        <m:ctrlPr>
                          <a:rPr lang="en-NZ" altLang="ja-JP" sz="1600" b="1" i="1">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     </m:t>
                        </m:r>
                        <m:r>
                          <a:rPr lang="en-NZ" altLang="ja-JP" sz="1600" b="1" i="1">
                            <a:solidFill>
                              <a:schemeClr val="tx1"/>
                            </a:solidFill>
                            <a:latin typeface="Cambria Math" panose="02040503050406030204" pitchFamily="18" charset="0"/>
                          </a:rPr>
                          <m:t>𝑯</m:t>
                        </m:r>
                      </m:e>
                      <m:sub>
                        <m:r>
                          <a:rPr lang="en-NZ" altLang="ja-JP" sz="1600" b="1" i="1" smtClean="0">
                            <a:solidFill>
                              <a:schemeClr val="tx1"/>
                            </a:solidFill>
                            <a:latin typeface="Cambria Math" panose="02040503050406030204" pitchFamily="18" charset="0"/>
                          </a:rPr>
                          <m:t>𝟏</m:t>
                        </m:r>
                      </m:sub>
                    </m:sSub>
                    <m:r>
                      <a:rPr lang="en-NZ" altLang="ja-JP" sz="1600" b="1" i="1">
                        <a:solidFill>
                          <a:schemeClr val="tx1"/>
                        </a:solidFill>
                        <a:latin typeface="Cambria Math" panose="02040503050406030204" pitchFamily="18" charset="0"/>
                      </a:rPr>
                      <m:t> :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𝜶</m:t>
                        </m:r>
                      </m:e>
                      <m:sub>
                        <m:r>
                          <a:rPr lang="en-NZ" altLang="ja-JP" sz="1600" b="1" i="1" smtClean="0">
                            <a:solidFill>
                              <a:schemeClr val="tx1"/>
                            </a:solidFill>
                            <a:latin typeface="Cambria Math" panose="02040503050406030204" pitchFamily="18" charset="0"/>
                          </a:rPr>
                          <m:t>𝒊</m:t>
                        </m:r>
                      </m:sub>
                    </m:sSub>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𝟎</m:t>
                    </m:r>
                  </m:oMath>
                </a14:m>
                <a:r>
                  <a:rPr lang="en-NZ" altLang="ja-JP" sz="1600" b="1" dirty="0">
                    <a:solidFill>
                      <a:schemeClr val="tx1"/>
                    </a:solidFill>
                  </a:rPr>
                  <a:t>  </a:t>
                </a:r>
                <a:r>
                  <a:rPr lang="en-NZ" altLang="ja-JP" sz="1600" dirty="0">
                    <a:solidFill>
                      <a:schemeClr val="tx1"/>
                    </a:solidFill>
                  </a:rPr>
                  <a:t>for some </a:t>
                </a:r>
                <a14:m>
                  <m:oMath xmlns:m="http://schemas.openxmlformats.org/officeDocument/2006/math">
                    <m:r>
                      <a:rPr lang="en-NZ" altLang="ja-JP" sz="1600" b="0" i="1" smtClean="0">
                        <a:solidFill>
                          <a:schemeClr val="tx1"/>
                        </a:solidFill>
                        <a:latin typeface="Cambria Math" panose="02040503050406030204" pitchFamily="18" charset="0"/>
                      </a:rPr>
                      <m:t>𝑖</m:t>
                    </m:r>
                  </m:oMath>
                </a14:m>
                <a:endParaRPr lang="en-NZ" altLang="ja-JP" sz="1600" dirty="0">
                  <a:solidFill>
                    <a:schemeClr val="tx1"/>
                  </a:solidFill>
                </a:endParaRPr>
              </a:p>
              <a:p>
                <a:pPr>
                  <a:lnSpc>
                    <a:spcPct val="100000"/>
                  </a:lnSpc>
                </a:pPr>
                <a:r>
                  <a:rPr lang="en-NZ" altLang="ja-JP" sz="1600" dirty="0">
                    <a:solidFill>
                      <a:schemeClr val="tx1"/>
                    </a:solidFill>
                  </a:rPr>
                  <a:t>…using a permutation test</a:t>
                </a:r>
              </a:p>
            </p:txBody>
          </p:sp>
        </mc:Choice>
        <mc:Fallback xmlns="">
          <p:sp>
            <p:nvSpPr>
              <p:cNvPr id="15" name="Text Placeholder 5">
                <a:extLst>
                  <a:ext uri="{FF2B5EF4-FFF2-40B4-BE49-F238E27FC236}">
                    <a16:creationId xmlns:a16="http://schemas.microsoft.com/office/drawing/2014/main" id="{32BD5CC1-4DF7-EA8B-34DC-A4020B1A045E}"/>
                  </a:ext>
                </a:extLst>
              </p:cNvPr>
              <p:cNvSpPr txBox="1">
                <a:spLocks noRot="1" noChangeAspect="1" noMove="1" noResize="1" noEditPoints="1" noAdjustHandles="1" noChangeArrowheads="1" noChangeShapeType="1" noTextEdit="1"/>
              </p:cNvSpPr>
              <p:nvPr/>
            </p:nvSpPr>
            <p:spPr>
              <a:xfrm>
                <a:off x="6812378" y="4170064"/>
                <a:ext cx="4111699" cy="1088284"/>
              </a:xfrm>
              <a:prstGeom prst="rect">
                <a:avLst/>
              </a:prstGeom>
              <a:blipFill>
                <a:blip r:embed="rId2"/>
                <a:stretch>
                  <a:fillRect l="-890" t="-1676" b="-5028"/>
                </a:stretch>
              </a:blipFill>
            </p:spPr>
            <p:txBody>
              <a:bodyPr/>
              <a:lstStyle/>
              <a:p>
                <a:r>
                  <a:rPr lang="en-NZ">
                    <a:noFill/>
                  </a:rPr>
                  <a:t> </a:t>
                </a:r>
              </a:p>
            </p:txBody>
          </p:sp>
        </mc:Fallback>
      </mc:AlternateContent>
    </p:spTree>
    <p:extLst>
      <p:ext uri="{BB962C8B-B14F-4D97-AF65-F5344CB8AC3E}">
        <p14:creationId xmlns:p14="http://schemas.microsoft.com/office/powerpoint/2010/main" val="2419873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pic>
        <p:nvPicPr>
          <p:cNvPr id="4" name="Picture 3">
            <a:extLst>
              <a:ext uri="{FF2B5EF4-FFF2-40B4-BE49-F238E27FC236}">
                <a16:creationId xmlns:a16="http://schemas.microsoft.com/office/drawing/2014/main" id="{375CB1CC-C228-939E-3E29-7AE1CDCFBBB9}"/>
              </a:ext>
            </a:extLst>
          </p:cNvPr>
          <p:cNvPicPr>
            <a:picLocks noChangeAspect="1"/>
          </p:cNvPicPr>
          <p:nvPr/>
        </p:nvPicPr>
        <p:blipFill>
          <a:blip r:embed="rId2"/>
          <a:stretch>
            <a:fillRect/>
          </a:stretch>
        </p:blipFill>
        <p:spPr>
          <a:xfrm>
            <a:off x="251223" y="1012596"/>
            <a:ext cx="7680228" cy="2432272"/>
          </a:xfrm>
          <a:prstGeom prst="rect">
            <a:avLst/>
          </a:prstGeom>
        </p:spPr>
      </p:pic>
      <p:sp>
        <p:nvSpPr>
          <p:cNvPr id="14" name="Text Placeholder 5">
            <a:extLst>
              <a:ext uri="{FF2B5EF4-FFF2-40B4-BE49-F238E27FC236}">
                <a16:creationId xmlns:a16="http://schemas.microsoft.com/office/drawing/2014/main" id="{84ED77A5-6F8F-EBF2-0A72-009ED1CB6675}"/>
              </a:ext>
            </a:extLst>
          </p:cNvPr>
          <p:cNvSpPr txBox="1">
            <a:spLocks/>
          </p:cNvSpPr>
          <p:nvPr/>
        </p:nvSpPr>
        <p:spPr>
          <a:xfrm>
            <a:off x="796662" y="3612430"/>
            <a:ext cx="5104304" cy="272271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800" dirty="0">
                <a:solidFill>
                  <a:schemeClr val="tx1"/>
                </a:solidFill>
              </a:rPr>
              <a:t>Plot of residuals vs fitted values suggests non-constant variance</a:t>
            </a:r>
          </a:p>
          <a:p>
            <a:pPr>
              <a:lnSpc>
                <a:spcPct val="100000"/>
              </a:lnSpc>
            </a:pPr>
            <a:endParaRPr lang="en-NZ" altLang="ja-JP" sz="1800" dirty="0">
              <a:solidFill>
                <a:schemeClr val="tx1"/>
              </a:solidFill>
            </a:endParaRPr>
          </a:p>
          <a:p>
            <a:pPr>
              <a:lnSpc>
                <a:spcPct val="100000"/>
              </a:lnSpc>
            </a:pPr>
            <a:r>
              <a:rPr lang="en-NZ" altLang="ja-JP" sz="1800" dirty="0">
                <a:solidFill>
                  <a:schemeClr val="tx1"/>
                </a:solidFill>
              </a:rPr>
              <a:t>QQ Plot suggests non-normality at the top end of the distribution.</a:t>
            </a:r>
          </a:p>
          <a:p>
            <a:pPr algn="just">
              <a:lnSpc>
                <a:spcPct val="100000"/>
              </a:lnSpc>
            </a:pPr>
            <a:endParaRPr lang="en-NZ" altLang="ja-JP" sz="1800" b="1" dirty="0">
              <a:solidFill>
                <a:schemeClr val="tx1"/>
              </a:solidFill>
            </a:endParaRPr>
          </a:p>
          <a:p>
            <a:pPr marL="285750" indent="-285750" algn="just">
              <a:lnSpc>
                <a:spcPct val="100000"/>
              </a:lnSpc>
              <a:buFont typeface="Symbol" panose="05050102010706020507" pitchFamily="18" charset="2"/>
              <a:buChar char="Þ"/>
            </a:pPr>
            <a:r>
              <a:rPr lang="en-NZ" altLang="ja-JP" sz="1800" b="1" dirty="0">
                <a:solidFill>
                  <a:schemeClr val="tx1"/>
                </a:solidFill>
              </a:rPr>
              <a:t>ANOVA conditions unlikely to be satisfied</a:t>
            </a:r>
          </a:p>
          <a:p>
            <a:pPr marL="285750" indent="-285750" algn="just">
              <a:lnSpc>
                <a:spcPct val="100000"/>
              </a:lnSpc>
              <a:buFont typeface="Symbol" panose="05050102010706020507" pitchFamily="18" charset="2"/>
              <a:buChar char="Þ"/>
            </a:pPr>
            <a:r>
              <a:rPr lang="en-NZ" altLang="ja-JP" sz="1800" b="1" dirty="0">
                <a:solidFill>
                  <a:schemeClr val="tx1"/>
                </a:solidFill>
              </a:rPr>
              <a:t>ANOVA results likely to be invalid</a:t>
            </a:r>
          </a:p>
          <a:p>
            <a:pPr marL="285750" indent="-285750" algn="just">
              <a:lnSpc>
                <a:spcPct val="100000"/>
              </a:lnSpc>
              <a:buFont typeface="Symbol" panose="05050102010706020507" pitchFamily="18" charset="2"/>
              <a:buChar char="Þ"/>
            </a:pPr>
            <a:r>
              <a:rPr lang="en-NZ" altLang="ja-JP" sz="1800" b="1" dirty="0">
                <a:solidFill>
                  <a:srgbClr val="C00000"/>
                </a:solidFill>
              </a:rPr>
              <a:t>We need to do a permutation test</a:t>
            </a:r>
          </a:p>
          <a:p>
            <a:pPr algn="just">
              <a:lnSpc>
                <a:spcPct val="100000"/>
              </a:lnSpc>
            </a:pPr>
            <a:endParaRPr lang="en-NZ" altLang="ja-JP" sz="1800" b="1" dirty="0">
              <a:solidFill>
                <a:schemeClr val="tx1"/>
              </a:solidFill>
            </a:endParaRPr>
          </a:p>
        </p:txBody>
      </p:sp>
      <p:pic>
        <p:nvPicPr>
          <p:cNvPr id="6" name="Picture 5">
            <a:extLst>
              <a:ext uri="{FF2B5EF4-FFF2-40B4-BE49-F238E27FC236}">
                <a16:creationId xmlns:a16="http://schemas.microsoft.com/office/drawing/2014/main" id="{38DCAA16-0822-FB7F-97E1-725FCE473066}"/>
              </a:ext>
            </a:extLst>
          </p:cNvPr>
          <p:cNvPicPr>
            <a:picLocks noChangeAspect="1"/>
          </p:cNvPicPr>
          <p:nvPr/>
        </p:nvPicPr>
        <p:blipFill>
          <a:blip r:embed="rId3"/>
          <a:stretch>
            <a:fillRect/>
          </a:stretch>
        </p:blipFill>
        <p:spPr>
          <a:xfrm>
            <a:off x="6915391" y="1671046"/>
            <a:ext cx="4878562" cy="3882767"/>
          </a:xfrm>
          <a:prstGeom prst="rect">
            <a:avLst/>
          </a:prstGeom>
        </p:spPr>
      </p:pic>
      <p:sp>
        <p:nvSpPr>
          <p:cNvPr id="11" name="Title 6">
            <a:extLst>
              <a:ext uri="{FF2B5EF4-FFF2-40B4-BE49-F238E27FC236}">
                <a16:creationId xmlns:a16="http://schemas.microsoft.com/office/drawing/2014/main" id="{A182C162-8BAC-BF8B-9D8D-78D00D50D538}"/>
              </a:ext>
            </a:extLst>
          </p:cNvPr>
          <p:cNvSpPr txBox="1">
            <a:spLocks/>
          </p:cNvSpPr>
          <p:nvPr/>
        </p:nvSpPr>
        <p:spPr>
          <a:xfrm>
            <a:off x="251223" y="237833"/>
            <a:ext cx="8617005" cy="607201"/>
          </a:xfrm>
          <a:prstGeom prst="rect">
            <a:avLst/>
          </a:prstGeom>
        </p:spPr>
        <p:txBody>
          <a:bodyPr anchor="t">
            <a:normAutofit fontScale="925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4.5b – Clotting Time of Blood Plasma Example</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5" name="Text Placeholder 5">
            <a:extLst>
              <a:ext uri="{FF2B5EF4-FFF2-40B4-BE49-F238E27FC236}">
                <a16:creationId xmlns:a16="http://schemas.microsoft.com/office/drawing/2014/main" id="{76DC8247-BA61-B11D-13F7-109036275144}"/>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4.5 - Clotting Time of Blood Plasma (Permutation Test RBD Example)</a:t>
            </a:r>
            <a:endParaRPr lang="en-US" altLang="ja-JP" sz="1200" b="1" i="1" dirty="0">
              <a:solidFill>
                <a:srgbClr val="C00000"/>
              </a:solidFill>
            </a:endParaRPr>
          </a:p>
        </p:txBody>
      </p:sp>
      <p:sp>
        <p:nvSpPr>
          <p:cNvPr id="9" name="Footer Placeholder 2">
            <a:extLst>
              <a:ext uri="{FF2B5EF4-FFF2-40B4-BE49-F238E27FC236}">
                <a16:creationId xmlns:a16="http://schemas.microsoft.com/office/drawing/2014/main" id="{FFDD5A49-55DE-1978-CC1A-68182964D3B7}"/>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4.5 – Permutation Tests in RBDs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4139910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3" name="Title 6">
            <a:extLst>
              <a:ext uri="{FF2B5EF4-FFF2-40B4-BE49-F238E27FC236}">
                <a16:creationId xmlns:a16="http://schemas.microsoft.com/office/drawing/2014/main" id="{539E1FA8-24B4-FFD9-7C26-8B31D6C98125}"/>
              </a:ext>
            </a:extLst>
          </p:cNvPr>
          <p:cNvSpPr txBox="1">
            <a:spLocks/>
          </p:cNvSpPr>
          <p:nvPr/>
        </p:nvSpPr>
        <p:spPr>
          <a:xfrm>
            <a:off x="251223" y="237833"/>
            <a:ext cx="8617005" cy="607201"/>
          </a:xfrm>
          <a:prstGeom prst="rect">
            <a:avLst/>
          </a:prstGeom>
        </p:spPr>
        <p:txBody>
          <a:bodyPr anchor="t">
            <a:normAutofit fontScale="925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4.5b – Clotting Time of Blood Plasma Example</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21" name="Text Placeholder 5">
            <a:extLst>
              <a:ext uri="{FF2B5EF4-FFF2-40B4-BE49-F238E27FC236}">
                <a16:creationId xmlns:a16="http://schemas.microsoft.com/office/drawing/2014/main" id="{77572E38-1A00-ED71-E694-686A1BE7A026}"/>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4.5 - Clotting Time of Blood Plasma (Permutation Test RBD Example)</a:t>
            </a:r>
            <a:endParaRPr lang="en-US" altLang="ja-JP" sz="1200" b="1" i="1" dirty="0">
              <a:solidFill>
                <a:srgbClr val="C00000"/>
              </a:solidFill>
            </a:endParaRPr>
          </a:p>
        </p:txBody>
      </p:sp>
      <p:pic>
        <p:nvPicPr>
          <p:cNvPr id="6" name="Picture 5">
            <a:extLst>
              <a:ext uri="{FF2B5EF4-FFF2-40B4-BE49-F238E27FC236}">
                <a16:creationId xmlns:a16="http://schemas.microsoft.com/office/drawing/2014/main" id="{F33F471B-B430-9A65-A083-CF754AC97870}"/>
              </a:ext>
            </a:extLst>
          </p:cNvPr>
          <p:cNvPicPr>
            <a:picLocks noChangeAspect="1"/>
          </p:cNvPicPr>
          <p:nvPr/>
        </p:nvPicPr>
        <p:blipFill>
          <a:blip r:embed="rId2"/>
          <a:stretch>
            <a:fillRect/>
          </a:stretch>
        </p:blipFill>
        <p:spPr>
          <a:xfrm>
            <a:off x="387966" y="1279903"/>
            <a:ext cx="7608854" cy="2664299"/>
          </a:xfrm>
          <a:prstGeom prst="rect">
            <a:avLst/>
          </a:prstGeom>
        </p:spPr>
      </p:pic>
      <p:sp>
        <p:nvSpPr>
          <p:cNvPr id="16" name="Text Placeholder 5">
            <a:extLst>
              <a:ext uri="{FF2B5EF4-FFF2-40B4-BE49-F238E27FC236}">
                <a16:creationId xmlns:a16="http://schemas.microsoft.com/office/drawing/2014/main" id="{5AF9A3AD-0593-98BC-06E0-345AB27E44B3}"/>
              </a:ext>
            </a:extLst>
          </p:cNvPr>
          <p:cNvSpPr txBox="1">
            <a:spLocks/>
          </p:cNvSpPr>
          <p:nvPr/>
        </p:nvSpPr>
        <p:spPr>
          <a:xfrm>
            <a:off x="722951" y="4087366"/>
            <a:ext cx="6030627" cy="191516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600" u="sng" dirty="0">
                <a:solidFill>
                  <a:schemeClr val="bg2">
                    <a:lumMod val="25000"/>
                  </a:schemeClr>
                </a:solidFill>
              </a:rPr>
              <a:t>Permutation Test Results</a:t>
            </a:r>
          </a:p>
          <a:p>
            <a:pPr>
              <a:lnSpc>
                <a:spcPct val="100000"/>
              </a:lnSpc>
            </a:pPr>
            <a:endParaRPr lang="en-NZ" altLang="ja-JP" sz="1600" dirty="0">
              <a:solidFill>
                <a:schemeClr val="bg2">
                  <a:lumMod val="25000"/>
                </a:schemeClr>
              </a:solidFill>
            </a:endParaRPr>
          </a:p>
          <a:p>
            <a:pPr>
              <a:lnSpc>
                <a:spcPct val="100000"/>
              </a:lnSpc>
            </a:pPr>
            <a:r>
              <a:rPr lang="en-NZ" altLang="ja-JP" sz="1600" dirty="0">
                <a:solidFill>
                  <a:schemeClr val="bg2">
                    <a:lumMod val="25000"/>
                  </a:schemeClr>
                </a:solidFill>
              </a:rPr>
              <a:t>Error: </a:t>
            </a:r>
            <a:r>
              <a:rPr lang="en-NZ" altLang="ja-JP" sz="1600" dirty="0" err="1">
                <a:solidFill>
                  <a:schemeClr val="bg2">
                    <a:lumMod val="25000"/>
                  </a:schemeClr>
                </a:solidFill>
              </a:rPr>
              <a:t>Subject:Treatment</a:t>
            </a:r>
            <a:endParaRPr lang="en-NZ" altLang="ja-JP" sz="1600" dirty="0">
              <a:solidFill>
                <a:schemeClr val="bg2">
                  <a:lumMod val="25000"/>
                </a:schemeClr>
              </a:solidFill>
            </a:endParaRPr>
          </a:p>
          <a:p>
            <a:pPr>
              <a:lnSpc>
                <a:spcPct val="100000"/>
              </a:lnSpc>
            </a:pPr>
            <a:endParaRPr lang="en-NZ" altLang="ja-JP" sz="1600" dirty="0">
              <a:solidFill>
                <a:schemeClr val="bg2">
                  <a:lumMod val="25000"/>
                </a:schemeClr>
              </a:solidFill>
            </a:endParaRPr>
          </a:p>
          <a:p>
            <a:pPr>
              <a:lnSpc>
                <a:spcPct val="100000"/>
              </a:lnSpc>
            </a:pPr>
            <a:r>
              <a:rPr lang="en-NZ" altLang="ja-JP" sz="1600" dirty="0">
                <a:solidFill>
                  <a:schemeClr val="bg2">
                    <a:lumMod val="25000"/>
                  </a:schemeClr>
                </a:solidFill>
              </a:rPr>
              <a:t>	</a:t>
            </a:r>
            <a:r>
              <a:rPr lang="en-NZ" altLang="ja-JP" sz="1600" dirty="0" err="1">
                <a:solidFill>
                  <a:schemeClr val="bg2">
                    <a:lumMod val="25000"/>
                  </a:schemeClr>
                </a:solidFill>
              </a:rPr>
              <a:t>Df</a:t>
            </a:r>
            <a:r>
              <a:rPr lang="en-NZ" altLang="ja-JP" sz="1600" dirty="0">
                <a:solidFill>
                  <a:schemeClr val="bg2">
                    <a:lumMod val="25000"/>
                  </a:schemeClr>
                </a:solidFill>
              </a:rPr>
              <a:t>    R Sum </a:t>
            </a:r>
            <a:r>
              <a:rPr lang="en-NZ" altLang="ja-JP" sz="1600" dirty="0" err="1">
                <a:solidFill>
                  <a:schemeClr val="bg2">
                    <a:lumMod val="25000"/>
                  </a:schemeClr>
                </a:solidFill>
              </a:rPr>
              <a:t>Sq</a:t>
            </a:r>
            <a:r>
              <a:rPr lang="en-NZ" altLang="ja-JP" sz="1600" dirty="0">
                <a:solidFill>
                  <a:schemeClr val="bg2">
                    <a:lumMod val="25000"/>
                  </a:schemeClr>
                </a:solidFill>
              </a:rPr>
              <a:t>   R Mean  </a:t>
            </a:r>
            <a:r>
              <a:rPr lang="en-NZ" altLang="ja-JP" sz="1600" dirty="0" err="1">
                <a:solidFill>
                  <a:schemeClr val="bg2">
                    <a:lumMod val="25000"/>
                  </a:schemeClr>
                </a:solidFill>
              </a:rPr>
              <a:t>Sq</a:t>
            </a:r>
            <a:r>
              <a:rPr lang="en-NZ" altLang="ja-JP" sz="1600" dirty="0">
                <a:solidFill>
                  <a:schemeClr val="bg2">
                    <a:lumMod val="25000"/>
                  </a:schemeClr>
                </a:solidFill>
              </a:rPr>
              <a:t> </a:t>
            </a:r>
            <a:r>
              <a:rPr lang="en-NZ" altLang="ja-JP" sz="1600" dirty="0" err="1">
                <a:solidFill>
                  <a:schemeClr val="bg2">
                    <a:lumMod val="25000"/>
                  </a:schemeClr>
                </a:solidFill>
              </a:rPr>
              <a:t>Iter</a:t>
            </a:r>
            <a:r>
              <a:rPr lang="en-NZ" altLang="ja-JP" sz="1600" dirty="0">
                <a:solidFill>
                  <a:schemeClr val="bg2">
                    <a:lumMod val="25000"/>
                  </a:schemeClr>
                </a:solidFill>
              </a:rPr>
              <a:t>  </a:t>
            </a:r>
            <a:r>
              <a:rPr lang="en-NZ" altLang="ja-JP" sz="1600" dirty="0" err="1">
                <a:solidFill>
                  <a:schemeClr val="bg2">
                    <a:lumMod val="25000"/>
                  </a:schemeClr>
                </a:solidFill>
              </a:rPr>
              <a:t>Pr</a:t>
            </a:r>
            <a:r>
              <a:rPr lang="en-NZ" altLang="ja-JP" sz="1600" dirty="0">
                <a:solidFill>
                  <a:schemeClr val="bg2">
                    <a:lumMod val="25000"/>
                  </a:schemeClr>
                </a:solidFill>
              </a:rPr>
              <a:t>(Prob)  </a:t>
            </a:r>
          </a:p>
          <a:p>
            <a:pPr>
              <a:lnSpc>
                <a:spcPct val="100000"/>
              </a:lnSpc>
            </a:pPr>
            <a:r>
              <a:rPr lang="en-NZ" altLang="ja-JP" sz="1600" dirty="0">
                <a:solidFill>
                  <a:schemeClr val="bg2">
                    <a:lumMod val="25000"/>
                  </a:schemeClr>
                </a:solidFill>
              </a:rPr>
              <a:t>Treatment  3     13.016       4.3388    5000     0.0704 </a:t>
            </a:r>
          </a:p>
          <a:p>
            <a:pPr>
              <a:lnSpc>
                <a:spcPct val="100000"/>
              </a:lnSpc>
            </a:pPr>
            <a:r>
              <a:rPr lang="en-NZ" altLang="ja-JP" sz="1600" dirty="0">
                <a:solidFill>
                  <a:schemeClr val="bg2">
                    <a:lumMod val="25000"/>
                  </a:schemeClr>
                </a:solidFill>
              </a:rPr>
              <a:t>Residuals   21    13.774       0.6559 </a:t>
            </a:r>
          </a:p>
        </p:txBody>
      </p:sp>
      <p:sp>
        <p:nvSpPr>
          <p:cNvPr id="17" name="Oval 16">
            <a:extLst>
              <a:ext uri="{FF2B5EF4-FFF2-40B4-BE49-F238E27FC236}">
                <a16:creationId xmlns:a16="http://schemas.microsoft.com/office/drawing/2014/main" id="{134074E3-4297-6EB3-44BE-A6CD4547135D}"/>
              </a:ext>
            </a:extLst>
          </p:cNvPr>
          <p:cNvSpPr/>
          <p:nvPr/>
        </p:nvSpPr>
        <p:spPr>
          <a:xfrm>
            <a:off x="4244454" y="5322627"/>
            <a:ext cx="805218" cy="25547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22" name="Text Placeholder 5">
            <a:extLst>
              <a:ext uri="{FF2B5EF4-FFF2-40B4-BE49-F238E27FC236}">
                <a16:creationId xmlns:a16="http://schemas.microsoft.com/office/drawing/2014/main" id="{432D5B5E-71A8-EE60-A00B-3B4DED5FABF2}"/>
              </a:ext>
            </a:extLst>
          </p:cNvPr>
          <p:cNvSpPr txBox="1">
            <a:spLocks/>
          </p:cNvSpPr>
          <p:nvPr/>
        </p:nvSpPr>
        <p:spPr>
          <a:xfrm>
            <a:off x="6544092" y="3403839"/>
            <a:ext cx="5272605" cy="272271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Weak evidence against the null hypothesis</a:t>
            </a:r>
          </a:p>
          <a:p>
            <a:pPr algn="just">
              <a:lnSpc>
                <a:spcPct val="100000"/>
              </a:lnSpc>
            </a:pPr>
            <a:endParaRPr lang="en-NZ" altLang="ja-JP" sz="1800" dirty="0">
              <a:solidFill>
                <a:schemeClr val="tx1"/>
              </a:solidFill>
            </a:endParaRPr>
          </a:p>
          <a:p>
            <a:pPr algn="just">
              <a:lnSpc>
                <a:spcPct val="100000"/>
              </a:lnSpc>
            </a:pPr>
            <a:r>
              <a:rPr lang="en-NZ" altLang="ja-JP" sz="1800" dirty="0">
                <a:solidFill>
                  <a:schemeClr val="tx1"/>
                </a:solidFill>
              </a:rPr>
              <a:t>This differs from the conclusions reached using fixed or mixed effects models.</a:t>
            </a:r>
          </a:p>
          <a:p>
            <a:pPr algn="just">
              <a:lnSpc>
                <a:spcPct val="100000"/>
              </a:lnSpc>
            </a:pPr>
            <a:endParaRPr lang="en-NZ" altLang="ja-JP" sz="1800" dirty="0">
              <a:solidFill>
                <a:schemeClr val="tx1"/>
              </a:solidFill>
            </a:endParaRPr>
          </a:p>
          <a:p>
            <a:pPr algn="just">
              <a:lnSpc>
                <a:spcPct val="100000"/>
              </a:lnSpc>
            </a:pPr>
            <a:r>
              <a:rPr lang="en-NZ" altLang="ja-JP" sz="1800" dirty="0">
                <a:solidFill>
                  <a:schemeClr val="tx1"/>
                </a:solidFill>
              </a:rPr>
              <a:t>However, since the ANOVA conditions are violated the results of the fixed and mixed models are unreliable.</a:t>
            </a:r>
          </a:p>
          <a:p>
            <a:pPr algn="just">
              <a:lnSpc>
                <a:spcPct val="100000"/>
              </a:lnSpc>
            </a:pPr>
            <a:endParaRPr lang="en-NZ" altLang="ja-JP" sz="1800" dirty="0">
              <a:solidFill>
                <a:schemeClr val="tx1"/>
              </a:solidFill>
            </a:endParaRPr>
          </a:p>
          <a:p>
            <a:pPr algn="just">
              <a:lnSpc>
                <a:spcPct val="100000"/>
              </a:lnSpc>
            </a:pPr>
            <a:r>
              <a:rPr lang="en-NZ" altLang="ja-JP" sz="1800" dirty="0">
                <a:solidFill>
                  <a:schemeClr val="tx1"/>
                </a:solidFill>
              </a:rPr>
              <a:t>The results of the permutation test are more robust!</a:t>
            </a:r>
          </a:p>
        </p:txBody>
      </p:sp>
      <p:cxnSp>
        <p:nvCxnSpPr>
          <p:cNvPr id="8" name="Straight Arrow Connector 7">
            <a:extLst>
              <a:ext uri="{FF2B5EF4-FFF2-40B4-BE49-F238E27FC236}">
                <a16:creationId xmlns:a16="http://schemas.microsoft.com/office/drawing/2014/main" id="{4238DC61-6BE3-E814-DA00-867C719D9C02}"/>
              </a:ext>
            </a:extLst>
          </p:cNvPr>
          <p:cNvCxnSpPr>
            <a:cxnSpLocks/>
            <a:stCxn id="17" idx="6"/>
          </p:cNvCxnSpPr>
          <p:nvPr/>
        </p:nvCxnSpPr>
        <p:spPr>
          <a:xfrm flipV="1">
            <a:off x="5049672" y="3693596"/>
            <a:ext cx="1578571" cy="175676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Footer Placeholder 2">
            <a:extLst>
              <a:ext uri="{FF2B5EF4-FFF2-40B4-BE49-F238E27FC236}">
                <a16:creationId xmlns:a16="http://schemas.microsoft.com/office/drawing/2014/main" id="{6DD4E56A-C167-54D7-094F-8C503EC4A470}"/>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4.5 – Permutation Tests in RBDs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2728664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animBg="1"/>
      <p:bldP spid="22" grpId="0"/>
    </p:bld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7F14062D-E1C1-4F63-B0FD-D013BDA5782B}"/>
              </a:ext>
            </a:extLst>
          </p:cNvPr>
          <p:cNvSpPr txBox="1"/>
          <p:nvPr/>
        </p:nvSpPr>
        <p:spPr>
          <a:xfrm>
            <a:off x="43707" y="2844225"/>
            <a:ext cx="12104586" cy="7848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4.6 – </a:t>
            </a:r>
            <a:r>
              <a:rPr kumimoji="0" lang="en-NZ" sz="4500" b="1" i="0" u="none" strike="noStrike" kern="1200" cap="none" spc="0" normalizeH="0" baseline="0" noProof="0">
                <a:ln>
                  <a:noFill/>
                </a:ln>
                <a:solidFill>
                  <a:srgbClr val="FFC000"/>
                </a:solidFill>
                <a:effectLst/>
                <a:uLnTx/>
                <a:uFillTx/>
                <a:latin typeface="Calibri" panose="020F0502020204030204"/>
                <a:ea typeface="+mn-ea"/>
                <a:cs typeface="+mn-cs"/>
              </a:rPr>
              <a:t>Computational Examples</a:t>
            </a:r>
            <a:endPar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58176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3" name="Title 6">
            <a:extLst>
              <a:ext uri="{FF2B5EF4-FFF2-40B4-BE49-F238E27FC236}">
                <a16:creationId xmlns:a16="http://schemas.microsoft.com/office/drawing/2014/main" id="{539E1FA8-24B4-FFD9-7C26-8B31D6C98125}"/>
              </a:ext>
            </a:extLst>
          </p:cNvPr>
          <p:cNvSpPr txBox="1">
            <a:spLocks/>
          </p:cNvSpPr>
          <p:nvPr/>
        </p:nvSpPr>
        <p:spPr>
          <a:xfrm>
            <a:off x="251223" y="237833"/>
            <a:ext cx="8617005"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4.6a – Cholesterol Study Example</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20" name="Text Placeholder 5">
            <a:extLst>
              <a:ext uri="{FF2B5EF4-FFF2-40B4-BE49-F238E27FC236}">
                <a16:creationId xmlns:a16="http://schemas.microsoft.com/office/drawing/2014/main" id="{645ADC35-9826-E030-B40E-92F636A9B524}"/>
              </a:ext>
            </a:extLst>
          </p:cNvPr>
          <p:cNvSpPr txBox="1">
            <a:spLocks/>
          </p:cNvSpPr>
          <p:nvPr/>
        </p:nvSpPr>
        <p:spPr>
          <a:xfrm>
            <a:off x="251223" y="855114"/>
            <a:ext cx="11432776" cy="28835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rgbClr val="0070C0"/>
                </a:solidFill>
              </a:rPr>
              <a:t>A study is undertaken to determine whether there is any difference in the ability of two prescription drugs (Atorvastatin and Pravastatin) to reduce the level of cholesterol in the blood stream of patients. Since cholesterol levels are known to increase with age, the age of study participants is a nuisance variable. </a:t>
            </a:r>
          </a:p>
          <a:p>
            <a:pPr algn="just">
              <a:lnSpc>
                <a:spcPct val="100000"/>
              </a:lnSpc>
            </a:pPr>
            <a:endParaRPr lang="en-NZ" altLang="ja-JP" sz="200" dirty="0">
              <a:solidFill>
                <a:srgbClr val="0070C0"/>
              </a:solidFill>
            </a:endParaRPr>
          </a:p>
          <a:p>
            <a:pPr algn="just">
              <a:lnSpc>
                <a:spcPct val="100000"/>
              </a:lnSpc>
            </a:pPr>
            <a:endParaRPr lang="en-NZ" altLang="ja-JP" sz="200" dirty="0">
              <a:solidFill>
                <a:srgbClr val="0070C0"/>
              </a:solidFill>
            </a:endParaRPr>
          </a:p>
          <a:p>
            <a:pPr algn="just">
              <a:lnSpc>
                <a:spcPct val="100000"/>
              </a:lnSpc>
            </a:pPr>
            <a:endParaRPr lang="en-NZ" altLang="ja-JP" sz="200" dirty="0">
              <a:solidFill>
                <a:srgbClr val="0070C0"/>
              </a:solidFill>
            </a:endParaRPr>
          </a:p>
          <a:p>
            <a:pPr algn="just">
              <a:lnSpc>
                <a:spcPct val="100000"/>
              </a:lnSpc>
            </a:pPr>
            <a:r>
              <a:rPr lang="en-NZ" altLang="ja-JP" sz="1600" dirty="0">
                <a:solidFill>
                  <a:srgbClr val="0070C0"/>
                </a:solidFill>
              </a:rPr>
              <a:t>To control for this an RBD has been employed. Participants in the study were divided into one of 5 age groups: </a:t>
            </a:r>
          </a:p>
          <a:p>
            <a:pPr algn="just">
              <a:lnSpc>
                <a:spcPct val="100000"/>
              </a:lnSpc>
            </a:pPr>
            <a:endParaRPr lang="en-NZ" altLang="ja-JP" sz="200" dirty="0">
              <a:solidFill>
                <a:srgbClr val="0070C0"/>
              </a:solidFill>
            </a:endParaRPr>
          </a:p>
          <a:p>
            <a:pPr algn="ctr">
              <a:lnSpc>
                <a:spcPct val="100000"/>
              </a:lnSpc>
            </a:pPr>
            <a:r>
              <a:rPr lang="en-NZ" altLang="ja-JP" sz="1600" dirty="0">
                <a:solidFill>
                  <a:srgbClr val="0070C0"/>
                </a:solidFill>
              </a:rPr>
              <a:t>18-30     31-40     41-50     51-60     65+</a:t>
            </a:r>
          </a:p>
          <a:p>
            <a:pPr algn="ctr">
              <a:lnSpc>
                <a:spcPct val="100000"/>
              </a:lnSpc>
            </a:pPr>
            <a:endParaRPr lang="en-NZ" altLang="ja-JP" sz="200" dirty="0">
              <a:solidFill>
                <a:srgbClr val="0070C0"/>
              </a:solidFill>
            </a:endParaRPr>
          </a:p>
          <a:p>
            <a:pPr>
              <a:lnSpc>
                <a:spcPct val="100000"/>
              </a:lnSpc>
            </a:pPr>
            <a:r>
              <a:rPr lang="en-NZ" altLang="ja-JP" sz="1600" dirty="0">
                <a:solidFill>
                  <a:srgbClr val="0070C0"/>
                </a:solidFill>
              </a:rPr>
              <a:t>There were 200 participants in each age group (block). Participants in each block were randomly assigned one of the two treatments, i.e. 100 from each block were assigned Atorvastatin and 100 were assigned Pravastatin. It is assumed that there is no interaction between age and prescribed drug.</a:t>
            </a:r>
          </a:p>
          <a:p>
            <a:pPr>
              <a:lnSpc>
                <a:spcPct val="100000"/>
              </a:lnSpc>
            </a:pPr>
            <a:endParaRPr lang="en-NZ" altLang="ja-JP" sz="200" dirty="0">
              <a:solidFill>
                <a:srgbClr val="0070C0"/>
              </a:solidFill>
            </a:endParaRPr>
          </a:p>
          <a:p>
            <a:pPr>
              <a:lnSpc>
                <a:spcPct val="100000"/>
              </a:lnSpc>
            </a:pPr>
            <a:endParaRPr lang="en-NZ" altLang="ja-JP" sz="200" dirty="0">
              <a:solidFill>
                <a:srgbClr val="0070C0"/>
              </a:solidFill>
            </a:endParaRPr>
          </a:p>
          <a:p>
            <a:pPr>
              <a:lnSpc>
                <a:spcPct val="100000"/>
              </a:lnSpc>
            </a:pPr>
            <a:endParaRPr lang="en-NZ" altLang="ja-JP" sz="200" dirty="0">
              <a:solidFill>
                <a:srgbClr val="0070C0"/>
              </a:solidFill>
            </a:endParaRPr>
          </a:p>
          <a:p>
            <a:pPr>
              <a:lnSpc>
                <a:spcPct val="100000"/>
              </a:lnSpc>
            </a:pPr>
            <a:r>
              <a:rPr lang="en-NZ" altLang="ja-JP" sz="1600" dirty="0">
                <a:solidFill>
                  <a:srgbClr val="0070C0"/>
                </a:solidFill>
              </a:rPr>
              <a:t>After three months of taking the drugs, the level of cholesterol in the blood stream of each patient was measured. This data is available in the csv entitled 'cholesterol' (and also available in 'wide' format in the csv entitled 'cholesterol - wide').</a:t>
            </a:r>
          </a:p>
        </p:txBody>
      </p:sp>
      <p:sp>
        <p:nvSpPr>
          <p:cNvPr id="21" name="Text Placeholder 5">
            <a:extLst>
              <a:ext uri="{FF2B5EF4-FFF2-40B4-BE49-F238E27FC236}">
                <a16:creationId xmlns:a16="http://schemas.microsoft.com/office/drawing/2014/main" id="{77572E38-1A00-ED71-E694-686A1BE7A026}"/>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4.6 - Cholesterol Study (RBD Example))</a:t>
            </a:r>
            <a:endParaRPr lang="en-US" altLang="ja-JP" sz="1200" b="1" i="1" dirty="0">
              <a:solidFill>
                <a:srgbClr val="C00000"/>
              </a:solidFill>
            </a:endParaRPr>
          </a:p>
        </p:txBody>
      </p:sp>
      <p:sp>
        <p:nvSpPr>
          <p:cNvPr id="24" name="Text Placeholder 5">
            <a:extLst>
              <a:ext uri="{FF2B5EF4-FFF2-40B4-BE49-F238E27FC236}">
                <a16:creationId xmlns:a16="http://schemas.microsoft.com/office/drawing/2014/main" id="{9256E7FD-6058-3E9E-27D6-49D082036158}"/>
              </a:ext>
            </a:extLst>
          </p:cNvPr>
          <p:cNvSpPr txBox="1">
            <a:spLocks/>
          </p:cNvSpPr>
          <p:nvPr/>
        </p:nvSpPr>
        <p:spPr>
          <a:xfrm>
            <a:off x="6823880" y="4101314"/>
            <a:ext cx="4995081" cy="144781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Response Variable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Cholesterol Level</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600" b="1" dirty="0">
                <a:solidFill>
                  <a:prstClr val="black"/>
                </a:solidFill>
                <a:latin typeface="Calibri" panose="020F0502020204030204"/>
                <a:ea typeface="游ゴシック" panose="020B0400000000000000" pitchFamily="34" charset="-128"/>
              </a:rPr>
              <a:t>Treatment Factor (A)</a:t>
            </a:r>
            <a:r>
              <a:rPr lang="en-NZ" altLang="ja-JP" sz="1600" dirty="0">
                <a:solidFill>
                  <a:prstClr val="black"/>
                </a:solidFill>
                <a:latin typeface="Calibri" panose="020F0502020204030204"/>
                <a:ea typeface="游ゴシック" panose="020B0400000000000000" pitchFamily="34" charset="-128"/>
              </a:rPr>
              <a:t>       Prescribed Drug</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Treatment Levels </a:t>
            </a:r>
            <a:r>
              <a:rPr lang="en-NZ" altLang="ja-JP" sz="1600" b="1" dirty="0">
                <a:solidFill>
                  <a:prstClr val="black"/>
                </a:solidFill>
                <a:latin typeface="Calibri" panose="020F0502020204030204"/>
                <a:ea typeface="游ゴシック" panose="020B0400000000000000" pitchFamily="34" charset="-128"/>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r>
              <a:rPr lang="en-NZ" altLang="ja-JP" sz="1600" dirty="0">
                <a:solidFill>
                  <a:prstClr val="black"/>
                </a:solidFill>
                <a:latin typeface="Calibri" panose="020F0502020204030204"/>
                <a:ea typeface="游ゴシック" panose="020B0400000000000000" pitchFamily="34" charset="-128"/>
              </a:rPr>
              <a:t>   </a:t>
            </a:r>
            <a:r>
              <a:rPr lang="en-NZ" altLang="ja-JP" sz="1600" noProof="0" dirty="0">
                <a:solidFill>
                  <a:prstClr val="black"/>
                </a:solidFill>
                <a:latin typeface="Calibri" panose="020F0502020204030204"/>
                <a:ea typeface="游ゴシック" panose="020B0400000000000000" pitchFamily="34" charset="-128"/>
              </a:rPr>
              <a:t>Atorvastatin, Pravastatin</a:t>
            </a:r>
            <a:endParaRPr kumimoji="1" lang="en-NZ" altLang="ja-JP" sz="1600" b="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600" b="1" dirty="0">
                <a:solidFill>
                  <a:prstClr val="black"/>
                </a:solidFill>
                <a:latin typeface="Calibri" panose="020F0502020204030204"/>
                <a:ea typeface="游ゴシック" panose="020B0400000000000000" pitchFamily="34" charset="-128"/>
              </a:rPr>
              <a:t>Blocking Factor (B)</a:t>
            </a:r>
            <a:r>
              <a:rPr lang="en-NZ" altLang="ja-JP" sz="1600" dirty="0">
                <a:solidFill>
                  <a:prstClr val="black"/>
                </a:solidFill>
                <a:latin typeface="Calibri" panose="020F0502020204030204"/>
                <a:ea typeface="游ゴシック" panose="020B0400000000000000" pitchFamily="34" charset="-128"/>
              </a:rPr>
              <a:t>	     Age Group</a:t>
            </a:r>
          </a:p>
          <a:p>
            <a:pPr lvl="0" algn="just">
              <a:lnSpc>
                <a:spcPct val="100000"/>
              </a:lnSpc>
              <a:defRPr/>
            </a:pPr>
            <a:r>
              <a:rPr lang="en-NZ" altLang="ja-JP" sz="1600" b="1" dirty="0">
                <a:solidFill>
                  <a:prstClr val="black"/>
                </a:solidFill>
                <a:latin typeface="Calibri" panose="020F0502020204030204"/>
                <a:ea typeface="游ゴシック" panose="020B0400000000000000" pitchFamily="34" charset="-128"/>
              </a:rPr>
              <a:t>Blocking Levels</a:t>
            </a:r>
            <a:r>
              <a:rPr lang="en-NZ" altLang="ja-JP" sz="1600" dirty="0">
                <a:solidFill>
                  <a:prstClr val="black"/>
                </a:solidFill>
                <a:latin typeface="Calibri" panose="020F0502020204030204"/>
                <a:ea typeface="游ゴシック" panose="020B0400000000000000" pitchFamily="34" charset="-128"/>
              </a:rPr>
              <a:t>	     </a:t>
            </a:r>
            <a:r>
              <a:rPr lang="en-NZ" altLang="ja-JP" sz="1600" dirty="0">
                <a:solidFill>
                  <a:prstClr val="black"/>
                </a:solidFill>
              </a:rPr>
              <a:t>18-30, 31-40, 41-50, 51-60, 65+</a:t>
            </a:r>
          </a:p>
        </p:txBody>
      </p:sp>
      <p:sp>
        <p:nvSpPr>
          <p:cNvPr id="12" name="Footer Placeholder 2">
            <a:extLst>
              <a:ext uri="{FF2B5EF4-FFF2-40B4-BE49-F238E27FC236}">
                <a16:creationId xmlns:a16="http://schemas.microsoft.com/office/drawing/2014/main" id="{F034A797-8074-8594-F3C1-8BFE31110F7F}"/>
              </a:ext>
            </a:extLst>
          </p:cNvPr>
          <p:cNvSpPr txBox="1">
            <a:spLocks/>
          </p:cNvSpPr>
          <p:nvPr/>
        </p:nvSpPr>
        <p:spPr>
          <a:xfrm>
            <a:off x="8215952" y="86139"/>
            <a:ext cx="3873413"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4.6 – Computational Examples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14" name="Text Placeholder 5">
                <a:extLst>
                  <a:ext uri="{FF2B5EF4-FFF2-40B4-BE49-F238E27FC236}">
                    <a16:creationId xmlns:a16="http://schemas.microsoft.com/office/drawing/2014/main" id="{D1D23805-D234-DEE9-B4B9-98EC6C860E40}"/>
                  </a:ext>
                </a:extLst>
              </p:cNvPr>
              <p:cNvSpPr txBox="1">
                <a:spLocks/>
              </p:cNvSpPr>
              <p:nvPr/>
            </p:nvSpPr>
            <p:spPr>
              <a:xfrm>
                <a:off x="7291910" y="5549126"/>
                <a:ext cx="3507477" cy="80144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𝟎</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𝟎</m:t>
                    </m:r>
                  </m:oMath>
                </a14:m>
                <a:r>
                  <a:rPr lang="en-NZ" altLang="ja-JP" sz="20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for all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=1, …, 2</m:t>
                    </m:r>
                  </m:oMath>
                </a14:m>
                <a:r>
                  <a:rPr lang="en-NZ" altLang="ja-JP" sz="1600" dirty="0">
                    <a:solidFill>
                      <a:schemeClr val="tx1"/>
                    </a:solidFill>
                    <a:latin typeface="Cambria Math" panose="02040503050406030204" pitchFamily="18" charset="0"/>
                  </a:rPr>
                  <a:t> </a:t>
                </a:r>
                <a:br>
                  <a:rPr lang="en-NZ" altLang="ja-JP" sz="2000" b="1" i="1" dirty="0">
                    <a:solidFill>
                      <a:schemeClr val="tx1"/>
                    </a:solidFill>
                    <a:latin typeface="Cambria Math" panose="02040503050406030204" pitchFamily="18" charset="0"/>
                  </a:rPr>
                </a:br>
                <a14:m>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𝟏</m:t>
                        </m:r>
                      </m:sub>
                    </m:sSub>
                    <m:r>
                      <a:rPr lang="en-NZ" altLang="ja-JP" sz="2000" b="1" i="1">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𝟎</m:t>
                    </m:r>
                  </m:oMath>
                </a14:m>
                <a:r>
                  <a:rPr lang="en-NZ" altLang="ja-JP" sz="2000" b="1" dirty="0">
                    <a:solidFill>
                      <a:schemeClr val="tx1"/>
                    </a:solidFill>
                  </a:rPr>
                  <a:t>  </a:t>
                </a:r>
                <a:r>
                  <a:rPr lang="en-NZ" altLang="ja-JP" sz="1600" dirty="0">
                    <a:solidFill>
                      <a:schemeClr val="tx1"/>
                    </a:solidFill>
                  </a:rPr>
                  <a:t>for some </a:t>
                </a:r>
                <a14:m>
                  <m:oMath xmlns:m="http://schemas.openxmlformats.org/officeDocument/2006/math">
                    <m:r>
                      <a:rPr lang="en-NZ" altLang="ja-JP" sz="1600" b="0" i="1" smtClean="0">
                        <a:solidFill>
                          <a:schemeClr val="tx1"/>
                        </a:solidFill>
                        <a:latin typeface="Cambria Math" panose="02040503050406030204" pitchFamily="18" charset="0"/>
                      </a:rPr>
                      <m:t>𝑖</m:t>
                    </m:r>
                  </m:oMath>
                </a14:m>
                <a:endParaRPr lang="en-NZ" altLang="ja-JP" sz="1600" dirty="0">
                  <a:solidFill>
                    <a:schemeClr val="tx1"/>
                  </a:solidFill>
                </a:endParaRPr>
              </a:p>
            </p:txBody>
          </p:sp>
        </mc:Choice>
        <mc:Fallback xmlns="">
          <p:sp>
            <p:nvSpPr>
              <p:cNvPr id="14" name="Text Placeholder 5">
                <a:extLst>
                  <a:ext uri="{FF2B5EF4-FFF2-40B4-BE49-F238E27FC236}">
                    <a16:creationId xmlns:a16="http://schemas.microsoft.com/office/drawing/2014/main" id="{D1D23805-D234-DEE9-B4B9-98EC6C860E40}"/>
                  </a:ext>
                </a:extLst>
              </p:cNvPr>
              <p:cNvSpPr txBox="1">
                <a:spLocks noRot="1" noChangeAspect="1" noMove="1" noResize="1" noEditPoints="1" noAdjustHandles="1" noChangeArrowheads="1" noChangeShapeType="1" noTextEdit="1"/>
              </p:cNvSpPr>
              <p:nvPr/>
            </p:nvSpPr>
            <p:spPr>
              <a:xfrm>
                <a:off x="7291910" y="5549126"/>
                <a:ext cx="3507477" cy="801442"/>
              </a:xfrm>
              <a:prstGeom prst="rect">
                <a:avLst/>
              </a:prstGeom>
              <a:blipFill>
                <a:blip r:embed="rId2"/>
                <a:stretch>
                  <a:fillRect/>
                </a:stretch>
              </a:blipFill>
            </p:spPr>
            <p:txBody>
              <a:bodyPr/>
              <a:lstStyle/>
              <a:p>
                <a:r>
                  <a:rPr lang="en-NZ">
                    <a:noFill/>
                  </a:rPr>
                  <a:t> </a:t>
                </a:r>
              </a:p>
            </p:txBody>
          </p:sp>
        </mc:Fallback>
      </mc:AlternateContent>
      <p:graphicFrame>
        <p:nvGraphicFramePr>
          <p:cNvPr id="4" name="Table 3">
            <a:extLst>
              <a:ext uri="{FF2B5EF4-FFF2-40B4-BE49-F238E27FC236}">
                <a16:creationId xmlns:a16="http://schemas.microsoft.com/office/drawing/2014/main" id="{352E1C62-EA15-63A7-AD73-281C44A22C8B}"/>
              </a:ext>
            </a:extLst>
          </p:cNvPr>
          <p:cNvGraphicFramePr>
            <a:graphicFrameLocks noGrp="1"/>
          </p:cNvGraphicFramePr>
          <p:nvPr>
            <p:extLst>
              <p:ext uri="{D42A27DB-BD31-4B8C-83A1-F6EECF244321}">
                <p14:modId xmlns:p14="http://schemas.microsoft.com/office/powerpoint/2010/main" val="3747765044"/>
              </p:ext>
            </p:extLst>
          </p:nvPr>
        </p:nvGraphicFramePr>
        <p:xfrm>
          <a:off x="508001" y="3748727"/>
          <a:ext cx="5892798" cy="2665095"/>
        </p:xfrm>
        <a:graphic>
          <a:graphicData uri="http://schemas.openxmlformats.org/drawingml/2006/table">
            <a:tbl>
              <a:tblPr/>
              <a:tblGrid>
                <a:gridCol w="691745">
                  <a:extLst>
                    <a:ext uri="{9D8B030D-6E8A-4147-A177-3AD203B41FA5}">
                      <a16:colId xmlns:a16="http://schemas.microsoft.com/office/drawing/2014/main" val="1792355080"/>
                    </a:ext>
                  </a:extLst>
                </a:gridCol>
                <a:gridCol w="1076527">
                  <a:extLst>
                    <a:ext uri="{9D8B030D-6E8A-4147-A177-3AD203B41FA5}">
                      <a16:colId xmlns:a16="http://schemas.microsoft.com/office/drawing/2014/main" val="1950839240"/>
                    </a:ext>
                  </a:extLst>
                </a:gridCol>
                <a:gridCol w="985736">
                  <a:extLst>
                    <a:ext uri="{9D8B030D-6E8A-4147-A177-3AD203B41FA5}">
                      <a16:colId xmlns:a16="http://schemas.microsoft.com/office/drawing/2014/main" val="842103713"/>
                    </a:ext>
                  </a:extLst>
                </a:gridCol>
                <a:gridCol w="1076527">
                  <a:extLst>
                    <a:ext uri="{9D8B030D-6E8A-4147-A177-3AD203B41FA5}">
                      <a16:colId xmlns:a16="http://schemas.microsoft.com/office/drawing/2014/main" val="451616651"/>
                    </a:ext>
                  </a:extLst>
                </a:gridCol>
                <a:gridCol w="985736">
                  <a:extLst>
                    <a:ext uri="{9D8B030D-6E8A-4147-A177-3AD203B41FA5}">
                      <a16:colId xmlns:a16="http://schemas.microsoft.com/office/drawing/2014/main" val="565277425"/>
                    </a:ext>
                  </a:extLst>
                </a:gridCol>
                <a:gridCol w="1076527">
                  <a:extLst>
                    <a:ext uri="{9D8B030D-6E8A-4147-A177-3AD203B41FA5}">
                      <a16:colId xmlns:a16="http://schemas.microsoft.com/office/drawing/2014/main" val="1706773910"/>
                    </a:ext>
                  </a:extLst>
                </a:gridCol>
              </a:tblGrid>
              <a:tr h="381000">
                <a:tc>
                  <a:txBody>
                    <a:bodyPr/>
                    <a:lstStyle/>
                    <a:p>
                      <a:pPr algn="ctr" fontAlgn="ctr"/>
                      <a:r>
                        <a:rPr lang="en-NZ" sz="1400" b="1" i="0" u="none" strike="noStrike">
                          <a:solidFill>
                            <a:srgbClr val="FFFFFF"/>
                          </a:solidFill>
                          <a:effectLst/>
                          <a:latin typeface="Calibri" panose="020F0502020204030204" pitchFamily="34" charset="0"/>
                        </a:rPr>
                        <a:t>Subject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400" b="1" i="0" u="none" strike="noStrike">
                          <a:solidFill>
                            <a:srgbClr val="FFFFFF"/>
                          </a:solidFill>
                          <a:effectLst/>
                          <a:latin typeface="Calibri" panose="020F0502020204030204" pitchFamily="34" charset="0"/>
                        </a:rPr>
                        <a:t>Atorvastatin </a:t>
                      </a:r>
                      <a:br>
                        <a:rPr lang="en-NZ" sz="1400" b="1" i="0" u="none" strike="noStrike">
                          <a:solidFill>
                            <a:srgbClr val="FFFFFF"/>
                          </a:solidFill>
                          <a:effectLst/>
                          <a:latin typeface="Calibri" panose="020F0502020204030204" pitchFamily="34" charset="0"/>
                        </a:rPr>
                      </a:br>
                      <a:r>
                        <a:rPr lang="en-NZ" sz="1400" b="1" i="0" u="none" strike="noStrike">
                          <a:solidFill>
                            <a:srgbClr val="FFFFFF"/>
                          </a:solidFill>
                          <a:effectLst/>
                          <a:latin typeface="Calibri" panose="020F0502020204030204" pitchFamily="34" charset="0"/>
                        </a:rPr>
                        <a:t>18-30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400" b="1" i="0" u="none" strike="noStrike">
                          <a:solidFill>
                            <a:srgbClr val="FFFFFF"/>
                          </a:solidFill>
                          <a:effectLst/>
                          <a:latin typeface="Calibri" panose="020F0502020204030204" pitchFamily="34" charset="0"/>
                        </a:rPr>
                        <a:t>Pravastatin </a:t>
                      </a:r>
                      <a:br>
                        <a:rPr lang="en-NZ" sz="1400" b="1" i="0" u="none" strike="noStrike">
                          <a:solidFill>
                            <a:srgbClr val="FFFFFF"/>
                          </a:solidFill>
                          <a:effectLst/>
                          <a:latin typeface="Calibri" panose="020F0502020204030204" pitchFamily="34" charset="0"/>
                        </a:rPr>
                      </a:br>
                      <a:r>
                        <a:rPr lang="en-NZ" sz="1400" b="1" i="0" u="none" strike="noStrike">
                          <a:solidFill>
                            <a:srgbClr val="FFFFFF"/>
                          </a:solidFill>
                          <a:effectLst/>
                          <a:latin typeface="Calibri" panose="020F0502020204030204" pitchFamily="34" charset="0"/>
                        </a:rPr>
                        <a:t>18-30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400" b="1" i="0" u="none" strike="noStrike">
                          <a:solidFill>
                            <a:srgbClr val="FFFFFF"/>
                          </a:solidFill>
                          <a:effectLst/>
                          <a:latin typeface="Calibri" panose="020F0502020204030204" pitchFamily="34" charset="0"/>
                        </a:rPr>
                        <a:t>Atorvastatin </a:t>
                      </a:r>
                      <a:br>
                        <a:rPr lang="en-NZ" sz="1400" b="1" i="0" u="none" strike="noStrike">
                          <a:solidFill>
                            <a:srgbClr val="FFFFFF"/>
                          </a:solidFill>
                          <a:effectLst/>
                          <a:latin typeface="Calibri" panose="020F0502020204030204" pitchFamily="34" charset="0"/>
                        </a:rPr>
                      </a:br>
                      <a:r>
                        <a:rPr lang="en-NZ" sz="1400" b="1" i="0" u="none" strike="noStrike">
                          <a:solidFill>
                            <a:srgbClr val="FFFFFF"/>
                          </a:solidFill>
                          <a:effectLst/>
                          <a:latin typeface="Calibri" panose="020F0502020204030204" pitchFamily="34" charset="0"/>
                        </a:rPr>
                        <a:t>31-40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400" b="1" i="0" u="none" strike="noStrike">
                          <a:solidFill>
                            <a:srgbClr val="FFFFFF"/>
                          </a:solidFill>
                          <a:effectLst/>
                          <a:latin typeface="Calibri" panose="020F0502020204030204" pitchFamily="34" charset="0"/>
                        </a:rPr>
                        <a:t>Pravastatin </a:t>
                      </a:r>
                      <a:br>
                        <a:rPr lang="en-NZ" sz="1400" b="1" i="0" u="none" strike="noStrike">
                          <a:solidFill>
                            <a:srgbClr val="FFFFFF"/>
                          </a:solidFill>
                          <a:effectLst/>
                          <a:latin typeface="Calibri" panose="020F0502020204030204" pitchFamily="34" charset="0"/>
                        </a:rPr>
                      </a:br>
                      <a:r>
                        <a:rPr lang="en-NZ" sz="1400" b="1" i="0" u="none" strike="noStrike">
                          <a:solidFill>
                            <a:srgbClr val="FFFFFF"/>
                          </a:solidFill>
                          <a:effectLst/>
                          <a:latin typeface="Calibri" panose="020F0502020204030204" pitchFamily="34" charset="0"/>
                        </a:rPr>
                        <a:t>31-40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400" b="1" i="0" u="none" strike="noStrike">
                          <a:solidFill>
                            <a:srgbClr val="FFFFFF"/>
                          </a:solidFill>
                          <a:effectLst/>
                          <a:latin typeface="Calibri" panose="020F0502020204030204" pitchFamily="34" charset="0"/>
                        </a:rPr>
                        <a:t>Atorvastatin </a:t>
                      </a:r>
                      <a:br>
                        <a:rPr lang="en-NZ" sz="1400" b="1" i="0" u="none" strike="noStrike">
                          <a:solidFill>
                            <a:srgbClr val="FFFFFF"/>
                          </a:solidFill>
                          <a:effectLst/>
                          <a:latin typeface="Calibri" panose="020F0502020204030204" pitchFamily="34" charset="0"/>
                        </a:rPr>
                      </a:br>
                      <a:r>
                        <a:rPr lang="en-NZ" sz="1400" b="1" i="0" u="none" strike="noStrike">
                          <a:solidFill>
                            <a:srgbClr val="FFFFFF"/>
                          </a:solidFill>
                          <a:effectLst/>
                          <a:latin typeface="Calibri" panose="020F0502020204030204" pitchFamily="34" charset="0"/>
                        </a:rPr>
                        <a:t>41-50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2977335620"/>
                  </a:ext>
                </a:extLst>
              </a:tr>
              <a:tr h="190500">
                <a:tc>
                  <a:txBody>
                    <a:bodyPr/>
                    <a:lstStyle/>
                    <a:p>
                      <a:pPr algn="ctr" fontAlgn="ctr"/>
                      <a:r>
                        <a:rPr lang="en-NZ" sz="1400" b="0" i="0" u="none" strike="noStrike">
                          <a:solidFill>
                            <a:srgbClr val="000000"/>
                          </a:solidFill>
                          <a:effectLst/>
                          <a:latin typeface="Calibri" panose="020F0502020204030204" pitchFamily="34" charset="0"/>
                        </a:rPr>
                        <a:t>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145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127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162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157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173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52466870"/>
                  </a:ext>
                </a:extLst>
              </a:tr>
              <a:tr h="190500">
                <a:tc>
                  <a:txBody>
                    <a:bodyPr/>
                    <a:lstStyle/>
                    <a:p>
                      <a:pPr algn="ctr" fontAlgn="ctr"/>
                      <a:r>
                        <a:rPr lang="en-NZ" sz="1400" b="0" i="0" u="none" strike="noStrike">
                          <a:solidFill>
                            <a:srgbClr val="000000"/>
                          </a:solidFill>
                          <a:effectLst/>
                          <a:latin typeface="Calibri" panose="020F0502020204030204" pitchFamily="34" charset="0"/>
                        </a:rPr>
                        <a:t>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155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157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159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146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175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944498463"/>
                  </a:ext>
                </a:extLst>
              </a:tr>
              <a:tr h="190500">
                <a:tc>
                  <a:txBody>
                    <a:bodyPr/>
                    <a:lstStyle/>
                    <a:p>
                      <a:pPr algn="ctr" fontAlgn="ctr"/>
                      <a:r>
                        <a:rPr lang="en-NZ" sz="1400" b="0" i="0" u="none" strike="noStrike">
                          <a:solidFill>
                            <a:srgbClr val="000000"/>
                          </a:solidFill>
                          <a:effectLst/>
                          <a:latin typeface="Calibri" panose="020F0502020204030204" pitchFamily="34" charset="0"/>
                        </a:rPr>
                        <a: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153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179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149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145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145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231518800"/>
                  </a:ext>
                </a:extLst>
              </a:tr>
              <a:tr h="190500">
                <a:tc>
                  <a:txBody>
                    <a:bodyPr/>
                    <a:lstStyle/>
                    <a:p>
                      <a:pPr algn="ctr" fontAlgn="ctr"/>
                      <a:r>
                        <a:rPr lang="en-NZ" sz="14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154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164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134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159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159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2209308"/>
                  </a:ext>
                </a:extLst>
              </a:tr>
              <a:tr h="190500">
                <a:tc>
                  <a:txBody>
                    <a:bodyPr/>
                    <a:lstStyle/>
                    <a:p>
                      <a:pPr algn="ctr" fontAlgn="ctr"/>
                      <a:r>
                        <a:rPr lang="en-NZ" sz="1400" b="0" i="0" u="none" strike="noStrike">
                          <a:solidFill>
                            <a:srgbClr val="000000"/>
                          </a:solidFill>
                          <a:effectLst/>
                          <a:latin typeface="Calibri" panose="020F0502020204030204" pitchFamily="34" charset="0"/>
                        </a:rPr>
                        <a: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158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163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171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155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158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090422048"/>
                  </a:ext>
                </a:extLst>
              </a:tr>
              <a:tr h="190500">
                <a:tc>
                  <a:txBody>
                    <a:bodyPr/>
                    <a:lstStyle/>
                    <a:p>
                      <a:pPr algn="ctr" fontAlgn="ctr"/>
                      <a:r>
                        <a:rPr lang="en-NZ" sz="14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139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151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153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163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129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821731162"/>
                  </a:ext>
                </a:extLst>
              </a:tr>
              <a:tr h="190500">
                <a:tc>
                  <a:txBody>
                    <a:bodyPr/>
                    <a:lstStyle/>
                    <a:p>
                      <a:pPr algn="ctr" fontAlgn="ctr"/>
                      <a:r>
                        <a:rPr lang="en-NZ" sz="1400" b="0" i="0" u="none" strike="noStrike">
                          <a:solidFill>
                            <a:srgbClr val="000000"/>
                          </a:solidFill>
                          <a:effectLst/>
                          <a:latin typeface="Calibri" panose="020F0502020204030204" pitchFamily="34" charset="0"/>
                        </a:rPr>
                        <a:t>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145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186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173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165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139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197169489"/>
                  </a:ext>
                </a:extLst>
              </a:tr>
              <a:tr h="190500">
                <a:tc>
                  <a:txBody>
                    <a:bodyPr/>
                    <a:lstStyle/>
                    <a:p>
                      <a:pPr algn="ctr" fontAlgn="ctr"/>
                      <a:r>
                        <a:rPr lang="en-NZ" sz="1400" b="0" i="0" u="none" strike="noStrike">
                          <a:solidFill>
                            <a:srgbClr val="000000"/>
                          </a:solidFill>
                          <a:effectLst/>
                          <a:latin typeface="Calibri" panose="020F0502020204030204" pitchFamily="34" charset="0"/>
                        </a:rPr>
                        <a:t>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162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142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142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175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156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890053685"/>
                  </a:ext>
                </a:extLst>
              </a:tr>
              <a:tr h="190500">
                <a:tc>
                  <a:txBody>
                    <a:bodyPr/>
                    <a:lstStyle/>
                    <a:p>
                      <a:pPr algn="ctr" fontAlgn="ctr"/>
                      <a:r>
                        <a:rPr lang="en-NZ" sz="1400" b="0" i="0" u="none" strike="noStrike">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151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162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153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164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151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604266277"/>
                  </a:ext>
                </a:extLst>
              </a:tr>
              <a:tr h="190500">
                <a:tc>
                  <a:txBody>
                    <a:bodyPr/>
                    <a:lstStyle/>
                    <a:p>
                      <a:pPr algn="ctr" fontAlgn="ctr"/>
                      <a:r>
                        <a:rPr lang="en-NZ" sz="1400" b="0" i="0" u="none" strike="noStrike">
                          <a:solidFill>
                            <a:srgbClr val="000000"/>
                          </a:solidFill>
                          <a:effectLst/>
                          <a:latin typeface="Calibri" panose="020F0502020204030204" pitchFamily="34" charset="0"/>
                        </a:rPr>
                        <a:t>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160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127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142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161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165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361451781"/>
                  </a:ext>
                </a:extLst>
              </a:tr>
            </a:tbl>
          </a:graphicData>
        </a:graphic>
      </p:graphicFrame>
    </p:spTree>
    <p:extLst>
      <p:ext uri="{BB962C8B-B14F-4D97-AF65-F5344CB8AC3E}">
        <p14:creationId xmlns:p14="http://schemas.microsoft.com/office/powerpoint/2010/main" val="568873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1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3192</TotalTime>
  <Words>8827</Words>
  <Application>Microsoft Office PowerPoint</Application>
  <PresentationFormat>Widescreen</PresentationFormat>
  <Paragraphs>1541</Paragraphs>
  <Slides>60</Slides>
  <Notes>0</Notes>
  <HiddenSlides>3</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60</vt:i4>
      </vt:variant>
    </vt:vector>
  </HeadingPairs>
  <TitlesOfParts>
    <vt:vector size="68" baseType="lpstr">
      <vt:lpstr>Arial</vt:lpstr>
      <vt:lpstr>Calibri</vt:lpstr>
      <vt:lpstr>Calibri Light</vt:lpstr>
      <vt:lpstr>Cambria Math</vt:lpstr>
      <vt:lpstr>Coo Hew</vt:lpstr>
      <vt:lpstr>Gidole</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Adam Ward</dc:creator>
  <cp:lastModifiedBy>Adam Ward</cp:lastModifiedBy>
  <cp:revision>45</cp:revision>
  <dcterms:created xsi:type="dcterms:W3CDTF">2022-04-29T01:29:35Z</dcterms:created>
  <dcterms:modified xsi:type="dcterms:W3CDTF">2022-08-05T01:40:09Z</dcterms:modified>
</cp:coreProperties>
</file>