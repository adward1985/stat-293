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58" r:id="rId4"/>
    <p:sldId id="264" r:id="rId5"/>
    <p:sldId id="265" r:id="rId6"/>
    <p:sldId id="266" r:id="rId7"/>
    <p:sldId id="267" r:id="rId8"/>
    <p:sldId id="268" r:id="rId9"/>
    <p:sldId id="269" r:id="rId10"/>
    <p:sldId id="270" r:id="rId11"/>
    <p:sldId id="305" r:id="rId12"/>
    <p:sldId id="304" r:id="rId13"/>
    <p:sldId id="271" r:id="rId14"/>
    <p:sldId id="302" r:id="rId15"/>
    <p:sldId id="272" r:id="rId16"/>
    <p:sldId id="273" r:id="rId17"/>
    <p:sldId id="274" r:id="rId18"/>
    <p:sldId id="277" r:id="rId19"/>
    <p:sldId id="306" r:id="rId20"/>
    <p:sldId id="307" r:id="rId21"/>
    <p:sldId id="275" r:id="rId22"/>
    <p:sldId id="303" r:id="rId23"/>
    <p:sldId id="276" r:id="rId24"/>
    <p:sldId id="278" r:id="rId25"/>
    <p:sldId id="308" r:id="rId26"/>
    <p:sldId id="279" r:id="rId27"/>
    <p:sldId id="280" r:id="rId28"/>
    <p:sldId id="281" r:id="rId29"/>
    <p:sldId id="282" r:id="rId30"/>
    <p:sldId id="284" r:id="rId31"/>
    <p:sldId id="283" r:id="rId32"/>
    <p:sldId id="285" r:id="rId33"/>
    <p:sldId id="286" r:id="rId34"/>
    <p:sldId id="287" r:id="rId35"/>
    <p:sldId id="288" r:id="rId36"/>
    <p:sldId id="309" r:id="rId37"/>
    <p:sldId id="310" r:id="rId38"/>
    <p:sldId id="301" r:id="rId39"/>
    <p:sldId id="289" r:id="rId40"/>
    <p:sldId id="291" r:id="rId41"/>
    <p:sldId id="292" r:id="rId42"/>
    <p:sldId id="293" r:id="rId43"/>
    <p:sldId id="295" r:id="rId44"/>
    <p:sldId id="296" r:id="rId45"/>
    <p:sldId id="297" r:id="rId46"/>
    <p:sldId id="298" r:id="rId47"/>
    <p:sldId id="299" r:id="rId48"/>
    <p:sldId id="311" r:id="rId49"/>
    <p:sldId id="294" r:id="rId50"/>
    <p:sldId id="30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69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00" b="1" i="0" u="none" strike="noStrike" kern="1200" spc="0" baseline="0">
                <a:solidFill>
                  <a:schemeClr val="tx1">
                    <a:lumMod val="65000"/>
                    <a:lumOff val="35000"/>
                  </a:schemeClr>
                </a:solidFill>
                <a:latin typeface="+mn-lt"/>
                <a:ea typeface="+mn-ea"/>
                <a:cs typeface="+mn-cs"/>
              </a:defRPr>
            </a:pPr>
            <a:r>
              <a:rPr lang="en-US" sz="1300" b="1" dirty="0"/>
              <a:t>Probability of Incurring at least one Type I Error in (kC2)</a:t>
            </a:r>
            <a:r>
              <a:rPr lang="en-US" sz="1300" b="1" baseline="0" dirty="0"/>
              <a:t> Two Sample t-tests at the 5% level</a:t>
            </a:r>
            <a:endParaRPr lang="en-US" sz="1300" b="1" dirty="0"/>
          </a:p>
        </c:rich>
      </c:tx>
      <c:overlay val="0"/>
      <c:spPr>
        <a:noFill/>
        <a:ln>
          <a:noFill/>
        </a:ln>
        <a:effectLst/>
      </c:spPr>
      <c:txPr>
        <a:bodyPr rot="0" spcFirstLastPara="1" vertOverflow="ellipsis" vert="horz" wrap="square" anchor="ctr" anchorCtr="1"/>
        <a:lstStyle/>
        <a:p>
          <a:pPr>
            <a:defRPr sz="13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Sheet1!$C$1</c:f>
              <c:strCache>
                <c:ptCount val="1"/>
                <c:pt idx="0">
                  <c:v>PTIE</c:v>
                </c:pt>
              </c:strCache>
            </c:strRef>
          </c:tx>
          <c:spPr>
            <a:ln w="12700" cap="rnd">
              <a:solidFill>
                <a:srgbClr val="FF0000"/>
              </a:solidFill>
              <a:round/>
            </a:ln>
            <a:effectLst/>
          </c:spPr>
          <c:marker>
            <c:symbol val="none"/>
          </c:marker>
          <c:val>
            <c:numRef>
              <c:f>Sheet1!$C$2:$C$21</c:f>
              <c:numCache>
                <c:formatCode>0.00</c:formatCode>
                <c:ptCount val="20"/>
                <c:pt idx="1">
                  <c:v>5.0000000000000044E-2</c:v>
                </c:pt>
                <c:pt idx="2">
                  <c:v>0.14262500000000011</c:v>
                </c:pt>
                <c:pt idx="3">
                  <c:v>0.26490810937500009</c:v>
                </c:pt>
                <c:pt idx="4">
                  <c:v>0.4012630607616211</c:v>
                </c:pt>
                <c:pt idx="5">
                  <c:v>0.53670876984024662</c:v>
                </c:pt>
                <c:pt idx="6">
                  <c:v>0.65943837371188496</c:v>
                </c:pt>
                <c:pt idx="7">
                  <c:v>0.76217311474466753</c:v>
                </c:pt>
                <c:pt idx="8">
                  <c:v>0.84222078521177302</c:v>
                </c:pt>
                <c:pt idx="9">
                  <c:v>0.90055974301290753</c:v>
                </c:pt>
                <c:pt idx="10">
                  <c:v>0.94046144489447048</c:v>
                </c:pt>
                <c:pt idx="11">
                  <c:v>0.9661344643619677</c:v>
                </c:pt>
                <c:pt idx="12">
                  <c:v>0.9817004161938907</c:v>
                </c:pt>
                <c:pt idx="13">
                  <c:v>0.99060605352582398</c:v>
                </c:pt>
                <c:pt idx="14">
                  <c:v>0.99541880734939381</c:v>
                </c:pt>
                <c:pt idx="15">
                  <c:v>0.99787757362130181</c:v>
                </c:pt>
                <c:pt idx="16">
                  <c:v>0.99906586354848492</c:v>
                </c:pt>
                <c:pt idx="17">
                  <c:v>0.99960941855375207</c:v>
                </c:pt>
                <c:pt idx="18">
                  <c:v>0.99984485545702617</c:v>
                </c:pt>
                <c:pt idx="19">
                  <c:v>0.99994145564779513</c:v>
                </c:pt>
              </c:numCache>
            </c:numRef>
          </c:val>
          <c:smooth val="0"/>
          <c:extLst>
            <c:ext xmlns:c16="http://schemas.microsoft.com/office/drawing/2014/chart" uri="{C3380CC4-5D6E-409C-BE32-E72D297353CC}">
              <c16:uniqueId val="{00000000-F5ED-4447-ABF8-DEFF1A73C988}"/>
            </c:ext>
          </c:extLst>
        </c:ser>
        <c:dLbls>
          <c:showLegendKey val="0"/>
          <c:showVal val="0"/>
          <c:showCatName val="0"/>
          <c:showSerName val="0"/>
          <c:showPercent val="0"/>
          <c:showBubbleSize val="0"/>
        </c:dLbls>
        <c:smooth val="0"/>
        <c:axId val="967827008"/>
        <c:axId val="967828672"/>
      </c:lineChart>
      <c:catAx>
        <c:axId val="967827008"/>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dirty="0"/>
                  <a:t>No</a:t>
                </a:r>
                <a:r>
                  <a:rPr lang="en-US" sz="1200" baseline="0" dirty="0"/>
                  <a:t> of Groups (k)</a:t>
                </a:r>
                <a:endParaRPr lang="en-US" sz="1200" dirty="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67828672"/>
        <c:crosses val="autoZero"/>
        <c:auto val="1"/>
        <c:lblAlgn val="ctr"/>
        <c:lblOffset val="100"/>
        <c:noMultiLvlLbl val="0"/>
      </c:catAx>
      <c:valAx>
        <c:axId val="96782867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67827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1465-D1DF-4C16-9820-FAA50E31EF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D567333F-28D8-4679-AFAD-E12D6BFA67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47AC3B98-9034-4614-8387-5E41C3063CF3}"/>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5" name="Footer Placeholder 4">
            <a:extLst>
              <a:ext uri="{FF2B5EF4-FFF2-40B4-BE49-F238E27FC236}">
                <a16:creationId xmlns:a16="http://schemas.microsoft.com/office/drawing/2014/main" id="{09C40A56-0DF0-44D9-A367-8F0CF15A8F5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0BFD4E0-72FA-4863-8CDC-C8FC664F1962}"/>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3819821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3A4B-7BD4-4DC0-8192-B00F4A34BB35}"/>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63E86800-46EA-4A39-AD38-F0C38F122F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AF1DE35-3EEA-4A09-96BF-08C4669EBF29}"/>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5" name="Footer Placeholder 4">
            <a:extLst>
              <a:ext uri="{FF2B5EF4-FFF2-40B4-BE49-F238E27FC236}">
                <a16:creationId xmlns:a16="http://schemas.microsoft.com/office/drawing/2014/main" id="{A51DD659-D197-41BF-A103-B1C9F1AD830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9F992E3-939A-4C4F-A817-4523E61DB5F8}"/>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1307505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30AD8-190B-4C54-B212-0DAC537F0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F625758F-B380-4A6C-95A5-4384172F45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0DC8CF-FE1E-4B16-83F8-47499B7D171C}"/>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5" name="Footer Placeholder 4">
            <a:extLst>
              <a:ext uri="{FF2B5EF4-FFF2-40B4-BE49-F238E27FC236}">
                <a16:creationId xmlns:a16="http://schemas.microsoft.com/office/drawing/2014/main" id="{B0EF73F6-BE12-47D7-B1E7-4DB318BBBF5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3265CD0-85BD-4D09-97C2-49F57393E89B}"/>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1786120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470BE-C4A9-46D4-B576-8075020F986C}"/>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7A65D06-C598-4141-8AD1-B97989D694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C4445C73-F9B2-4630-AF45-6EB19ADE81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B85CB345-5616-4FC7-91E0-235AA64684BE}"/>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6" name="Footer Placeholder 5">
            <a:extLst>
              <a:ext uri="{FF2B5EF4-FFF2-40B4-BE49-F238E27FC236}">
                <a16:creationId xmlns:a16="http://schemas.microsoft.com/office/drawing/2014/main" id="{C763FC31-1A3C-4958-A17A-14198A9E28B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D3B2A77-333D-4969-89EF-B016CF3DFBF9}"/>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85707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327E8-E74D-4563-8041-4A45D1F61B62}"/>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79855CF9-9F6E-47F2-BBB6-DE6C368942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8FB570-D06B-424A-A7F7-A8AD7D80F7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8C924235-6D36-47C5-AC36-53ECCA1138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94E54D-C9E1-47C5-8415-5F4D42270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A14654B6-6FBA-4564-907F-1192EAB4FAE8}"/>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8" name="Footer Placeholder 7">
            <a:extLst>
              <a:ext uri="{FF2B5EF4-FFF2-40B4-BE49-F238E27FC236}">
                <a16:creationId xmlns:a16="http://schemas.microsoft.com/office/drawing/2014/main" id="{0B8275B8-DE42-407D-8E11-EB6D02DEDAA1}"/>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36CA55B0-CD68-4D0F-82A9-8A672B70412C}"/>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191178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6ABB-FDD0-44BD-9D9A-27B35F573613}"/>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BB8A3226-A3D7-48E7-B968-309B90C92FA2}"/>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4" name="Footer Placeholder 3">
            <a:extLst>
              <a:ext uri="{FF2B5EF4-FFF2-40B4-BE49-F238E27FC236}">
                <a16:creationId xmlns:a16="http://schemas.microsoft.com/office/drawing/2014/main" id="{828FED0B-6191-431C-9AA0-24F2573B1192}"/>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EA0FBC48-C633-4838-9644-91020E4F367F}"/>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396741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E97A72-22D5-4F84-BFB8-5067CC95F5EE}"/>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3" name="Footer Placeholder 2">
            <a:extLst>
              <a:ext uri="{FF2B5EF4-FFF2-40B4-BE49-F238E27FC236}">
                <a16:creationId xmlns:a16="http://schemas.microsoft.com/office/drawing/2014/main" id="{40AF3B68-DB7D-49C9-9024-39506E53C5D5}"/>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CD861E7D-33CA-46C5-8C85-7C1ED57D3C93}"/>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1209896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145F2-2A45-40E1-A809-D106A7386C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9442092E-C7B9-4FDF-BB7B-51C5D5FB07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6734D170-9AD4-4A6F-A05A-AC923AD32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FDABB-F33E-400F-A594-CDD694455EA7}"/>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6" name="Footer Placeholder 5">
            <a:extLst>
              <a:ext uri="{FF2B5EF4-FFF2-40B4-BE49-F238E27FC236}">
                <a16:creationId xmlns:a16="http://schemas.microsoft.com/office/drawing/2014/main" id="{AD754E39-49CD-4866-ABCA-3ABC78FED0E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9823D60-A989-4558-99DD-A45BBBAE965D}"/>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395689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14E2-9385-459A-A3A9-FE9ECEBE8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BEC08556-48A1-4391-AE52-21420D3EDC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E54BC2F3-A4D2-4D30-88A6-806638633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8992FB-6097-40C0-984C-A4EB8F45A57D}"/>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6" name="Footer Placeholder 5">
            <a:extLst>
              <a:ext uri="{FF2B5EF4-FFF2-40B4-BE49-F238E27FC236}">
                <a16:creationId xmlns:a16="http://schemas.microsoft.com/office/drawing/2014/main" id="{DBE79759-268D-441A-97D2-2B0400CE5CA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44AA5F9-C544-4D8A-A165-6685D8E2EB52}"/>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3368873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30D1-FDD9-4B91-9FFF-3B5D7457B53C}"/>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027BD3B-2F1E-4361-9CE0-A66C853FF9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15F5C39-F47A-41D8-A701-E05D4EC3473D}"/>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5" name="Footer Placeholder 4">
            <a:extLst>
              <a:ext uri="{FF2B5EF4-FFF2-40B4-BE49-F238E27FC236}">
                <a16:creationId xmlns:a16="http://schemas.microsoft.com/office/drawing/2014/main" id="{7DD6BE11-AA01-405A-8520-28119188249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C811D9F-D3CA-4089-B2DD-902D8F94E892}"/>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3783528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3CA994-FD32-475C-B9F4-63B1163CD6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6B571F95-6DB5-4040-B130-2C6A25E4EF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2CDF831-80F3-4D06-9466-D0E7BC2CCCED}"/>
              </a:ext>
            </a:extLst>
          </p:cNvPr>
          <p:cNvSpPr>
            <a:spLocks noGrp="1"/>
          </p:cNvSpPr>
          <p:nvPr>
            <p:ph type="dt" sz="half" idx="10"/>
          </p:nvPr>
        </p:nvSpPr>
        <p:spPr/>
        <p:txBody>
          <a:bodyPr/>
          <a:lstStyle/>
          <a:p>
            <a:fld id="{C7754B94-F9D5-43F0-8A1F-400E896B2C9B}" type="datetimeFigureOut">
              <a:rPr lang="en-NZ" smtClean="0"/>
              <a:t>21/07/2022</a:t>
            </a:fld>
            <a:endParaRPr lang="en-NZ"/>
          </a:p>
        </p:txBody>
      </p:sp>
      <p:sp>
        <p:nvSpPr>
          <p:cNvPr id="5" name="Footer Placeholder 4">
            <a:extLst>
              <a:ext uri="{FF2B5EF4-FFF2-40B4-BE49-F238E27FC236}">
                <a16:creationId xmlns:a16="http://schemas.microsoft.com/office/drawing/2014/main" id="{38F2C52E-6109-46AB-88A1-106E9F298E7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9645DFA-1599-49A3-876E-A3356A6011A8}"/>
              </a:ext>
            </a:extLst>
          </p:cNvPr>
          <p:cNvSpPr>
            <a:spLocks noGrp="1"/>
          </p:cNvSpPr>
          <p:nvPr>
            <p:ph type="sldNum" sz="quarter" idx="12"/>
          </p:nvPr>
        </p:nvSpPr>
        <p:spPr/>
        <p:txBody>
          <a:bodyPr/>
          <a:lstStyle/>
          <a:p>
            <a:fld id="{E57ACDBF-875A-4794-B0BE-64FC2EF8AFDA}" type="slidenum">
              <a:rPr lang="en-NZ" smtClean="0"/>
              <a:t>‹#›</a:t>
            </a:fld>
            <a:endParaRPr lang="en-NZ"/>
          </a:p>
        </p:txBody>
      </p:sp>
    </p:spTree>
    <p:extLst>
      <p:ext uri="{BB962C8B-B14F-4D97-AF65-F5344CB8AC3E}">
        <p14:creationId xmlns:p14="http://schemas.microsoft.com/office/powerpoint/2010/main" val="3773190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55732-B329-428B-925A-CD494F070A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72EA7CA8-77BE-4D92-ABDD-1AA14209D3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AE96ACE-63B2-4EE6-BCB5-1F9D128948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754B94-F9D5-43F0-8A1F-400E896B2C9B}" type="datetimeFigureOut">
              <a:rPr lang="en-NZ" smtClean="0"/>
              <a:t>21/07/2022</a:t>
            </a:fld>
            <a:endParaRPr lang="en-NZ"/>
          </a:p>
        </p:txBody>
      </p:sp>
      <p:sp>
        <p:nvSpPr>
          <p:cNvPr id="5" name="Footer Placeholder 4">
            <a:extLst>
              <a:ext uri="{FF2B5EF4-FFF2-40B4-BE49-F238E27FC236}">
                <a16:creationId xmlns:a16="http://schemas.microsoft.com/office/drawing/2014/main" id="{57B262C9-7680-4BB2-A407-4CFB2634D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1E8FA4AF-C1C6-433D-BA47-3A8A0DFB70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7ACDBF-875A-4794-B0BE-64FC2EF8AFDA}" type="slidenum">
              <a:rPr lang="en-NZ" smtClean="0"/>
              <a:t>‹#›</a:t>
            </a:fld>
            <a:endParaRPr lang="en-NZ"/>
          </a:p>
        </p:txBody>
      </p:sp>
    </p:spTree>
    <p:extLst>
      <p:ext uri="{BB962C8B-B14F-4D97-AF65-F5344CB8AC3E}">
        <p14:creationId xmlns:p14="http://schemas.microsoft.com/office/powerpoint/2010/main" val="325832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180.png"/><Relationship Id="rId7" Type="http://schemas.openxmlformats.org/officeDocument/2006/relationships/image" Target="../media/image221.png"/><Relationship Id="rId2" Type="http://schemas.openxmlformats.org/officeDocument/2006/relationships/image" Target="../media/image150.png"/><Relationship Id="rId1" Type="http://schemas.openxmlformats.org/officeDocument/2006/relationships/slideLayout" Target="../slideLayouts/slideLayout7.xml"/><Relationship Id="rId6" Type="http://schemas.openxmlformats.org/officeDocument/2006/relationships/image" Target="../media/image211.png"/><Relationship Id="rId5" Type="http://schemas.openxmlformats.org/officeDocument/2006/relationships/image" Target="../media/image201.png"/><Relationship Id="rId4" Type="http://schemas.openxmlformats.org/officeDocument/2006/relationships/image" Target="../media/image191.png"/></Relationships>
</file>

<file path=ppt/slides/_rels/slide15.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0.png"/><Relationship Id="rId7" Type="http://schemas.openxmlformats.org/officeDocument/2006/relationships/image" Target="../media/image250.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240.png"/><Relationship Id="rId5" Type="http://schemas.openxmlformats.org/officeDocument/2006/relationships/image" Target="../media/image36.png"/><Relationship Id="rId10" Type="http://schemas.openxmlformats.org/officeDocument/2006/relationships/image" Target="../media/image280.png"/><Relationship Id="rId4" Type="http://schemas.openxmlformats.org/officeDocument/2006/relationships/image" Target="../media/image220.png"/><Relationship Id="rId9" Type="http://schemas.openxmlformats.org/officeDocument/2006/relationships/image" Target="../media/image270.png"/></Relationships>
</file>

<file path=ppt/slides/_rels/slide16.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40.png"/><Relationship Id="rId3" Type="http://schemas.openxmlformats.org/officeDocument/2006/relationships/image" Target="../media/image300.png"/><Relationship Id="rId7" Type="http://schemas.openxmlformats.org/officeDocument/2006/relationships/image" Target="../media/image340.png"/><Relationship Id="rId12" Type="http://schemas.openxmlformats.org/officeDocument/2006/relationships/image" Target="../media/image39.png"/><Relationship Id="rId2" Type="http://schemas.openxmlformats.org/officeDocument/2006/relationships/image" Target="../media/image290.png"/><Relationship Id="rId1" Type="http://schemas.openxmlformats.org/officeDocument/2006/relationships/slideLayout" Target="../slideLayouts/slideLayout7.xml"/><Relationship Id="rId6" Type="http://schemas.openxmlformats.org/officeDocument/2006/relationships/image" Target="../media/image330.png"/><Relationship Id="rId11" Type="http://schemas.openxmlformats.org/officeDocument/2006/relationships/image" Target="../media/image38.png"/><Relationship Id="rId5" Type="http://schemas.openxmlformats.org/officeDocument/2006/relationships/image" Target="../media/image320.png"/><Relationship Id="rId10" Type="http://schemas.openxmlformats.org/officeDocument/2006/relationships/image" Target="../media/image37.png"/><Relationship Id="rId4" Type="http://schemas.openxmlformats.org/officeDocument/2006/relationships/image" Target="../media/image311.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0.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54.png"/><Relationship Id="rId10" Type="http://schemas.openxmlformats.org/officeDocument/2006/relationships/image" Target="../media/image58.png"/><Relationship Id="rId4" Type="http://schemas.openxmlformats.org/officeDocument/2006/relationships/image" Target="../media/image53.png"/><Relationship Id="rId9"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430.png"/></Relationships>
</file>

<file path=ppt/slides/_rels/slide22.xml.rels><?xml version="1.0" encoding="UTF-8" standalone="yes"?>
<Relationships xmlns="http://schemas.openxmlformats.org/package/2006/relationships"><Relationship Id="rId3" Type="http://schemas.openxmlformats.org/officeDocument/2006/relationships/image" Target="../media/image451.png"/><Relationship Id="rId2" Type="http://schemas.openxmlformats.org/officeDocument/2006/relationships/image" Target="../media/image440.png"/><Relationship Id="rId1" Type="http://schemas.openxmlformats.org/officeDocument/2006/relationships/slideLayout" Target="../slideLayouts/slideLayout7.xml"/><Relationship Id="rId4" Type="http://schemas.openxmlformats.org/officeDocument/2006/relationships/image" Target="../media/image461.png"/></Relationships>
</file>

<file path=ppt/slides/_rels/slide23.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460.png"/></Relationships>
</file>

<file path=ppt/slides/_rels/slide24.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image" Target="../media/image480.png"/><Relationship Id="rId7" Type="http://schemas.openxmlformats.org/officeDocument/2006/relationships/image" Target="../media/image520.png"/><Relationship Id="rId2" Type="http://schemas.openxmlformats.org/officeDocument/2006/relationships/image" Target="../media/image470.png"/><Relationship Id="rId1" Type="http://schemas.openxmlformats.org/officeDocument/2006/relationships/slideLayout" Target="../slideLayouts/slideLayout7.xml"/><Relationship Id="rId6" Type="http://schemas.openxmlformats.org/officeDocument/2006/relationships/image" Target="../media/image510.png"/><Relationship Id="rId11" Type="http://schemas.openxmlformats.org/officeDocument/2006/relationships/image" Target="../media/image67.png"/><Relationship Id="rId5" Type="http://schemas.openxmlformats.org/officeDocument/2006/relationships/image" Target="../media/image500.png"/><Relationship Id="rId10" Type="http://schemas.openxmlformats.org/officeDocument/2006/relationships/image" Target="../media/image66.png"/><Relationship Id="rId4" Type="http://schemas.openxmlformats.org/officeDocument/2006/relationships/image" Target="../media/image490.png"/><Relationship Id="rId9" Type="http://schemas.openxmlformats.org/officeDocument/2006/relationships/image" Target="../media/image540.png"/></Relationships>
</file>

<file path=ppt/slides/_rels/slide25.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76.png"/><Relationship Id="rId1" Type="http://schemas.openxmlformats.org/officeDocument/2006/relationships/slideLayout" Target="../slideLayouts/slideLayout7.xml"/><Relationship Id="rId4" Type="http://schemas.openxmlformats.org/officeDocument/2006/relationships/image" Target="../media/image600.png"/></Relationships>
</file>

<file path=ppt/slides/_rels/slide3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620.png"/><Relationship Id="rId7" Type="http://schemas.openxmlformats.org/officeDocument/2006/relationships/image" Target="../media/image660.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640.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6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image" Target="../media/image670.png"/><Relationship Id="rId1" Type="http://schemas.openxmlformats.org/officeDocument/2006/relationships/slideLayout" Target="../slideLayouts/slideLayout7.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32.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image" Target="../media/image770.png"/><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790.png"/></Relationships>
</file>

<file path=ppt/slides/_rels/slide33.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s>
</file>

<file path=ppt/slides/_rels/slide3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s>
</file>

<file path=ppt/slides/_rels/slide3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7.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4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image" Target="../media/image940.png"/><Relationship Id="rId1" Type="http://schemas.openxmlformats.org/officeDocument/2006/relationships/slideLayout" Target="../slideLayouts/slideLayout7.xml"/><Relationship Id="rId4" Type="http://schemas.openxmlformats.org/officeDocument/2006/relationships/image" Target="../media/image960.png"/></Relationships>
</file>

<file path=ppt/slides/_rels/slide44.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4.png"/><Relationship Id="rId1" Type="http://schemas.openxmlformats.org/officeDocument/2006/relationships/slideLayout" Target="../slideLayouts/slideLayout7.xml"/><Relationship Id="rId5" Type="http://schemas.openxmlformats.org/officeDocument/2006/relationships/image" Target="../media/image138.png"/><Relationship Id="rId4" Type="http://schemas.openxmlformats.org/officeDocument/2006/relationships/image" Target="../media/image137.png"/></Relationships>
</file>

<file path=ppt/slides/_rels/slide4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7.xml"/><Relationship Id="rId5" Type="http://schemas.openxmlformats.org/officeDocument/2006/relationships/image" Target="../media/image142.png"/><Relationship Id="rId4" Type="http://schemas.openxmlformats.org/officeDocument/2006/relationships/image" Target="../media/image141.png"/></Relationships>
</file>

<file path=ppt/slides/_rels/slide4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293 </a:t>
            </a:r>
            <a:br>
              <a:rPr kumimoji="0" lang="en-NZ" sz="3500" b="1"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Applied Statistics with R</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8002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2800" dirty="0">
                <a:solidFill>
                  <a:prstClr val="white"/>
                </a:solidFill>
                <a:latin typeface="Calibri" panose="020F0502020204030204"/>
              </a:rPr>
              <a:t>Chapter</a:t>
            </a: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 2 – One Way ANOVA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b="0" i="0" u="none" strike="noStrike" kern="1200" cap="none" spc="0" normalizeH="0" baseline="0" noProof="0">
                <a:ln>
                  <a:noFill/>
                </a:ln>
                <a:solidFill>
                  <a:schemeClr val="bg1"/>
                </a:solidFill>
                <a:effectLst/>
                <a:uLnTx/>
                <a:uFillTx/>
                <a:latin typeface="Calibri" panose="020F0502020204030204"/>
                <a:ea typeface="+mn-ea"/>
                <a:cs typeface="+mn-cs"/>
              </a:rPr>
              <a:t>(Theory </a:t>
            </a:r>
            <a:r>
              <a:rPr kumimoji="0" lang="en-NZ" b="0" i="0" u="none" strike="noStrike" kern="1200" cap="none" spc="0" normalizeH="0" baseline="0" noProof="0" dirty="0">
                <a:ln>
                  <a:noFill/>
                </a:ln>
                <a:solidFill>
                  <a:schemeClr val="bg1"/>
                </a:solidFill>
                <a:effectLst/>
                <a:uLnTx/>
                <a:uFillTx/>
                <a:latin typeface="Calibri" panose="020F0502020204030204"/>
                <a:ea typeface="+mn-ea"/>
                <a:cs typeface="+mn-cs"/>
              </a:rPr>
              <a:t>&amp; Model Fitting </a:t>
            </a:r>
            <a:r>
              <a:rPr kumimoji="0" lang="en-NZ" b="0" i="0" u="none" strike="noStrike" kern="1200" cap="none" spc="0" normalizeH="0" baseline="0" noProof="0">
                <a:ln>
                  <a:noFill/>
                </a:ln>
                <a:solidFill>
                  <a:schemeClr val="bg1"/>
                </a:solidFill>
                <a:effectLst/>
                <a:uLnTx/>
                <a:uFillTx/>
                <a:latin typeface="Calibri" panose="020F0502020204030204"/>
                <a:ea typeface="+mn-ea"/>
                <a:cs typeface="+mn-cs"/>
              </a:rPr>
              <a:t>in R)</a:t>
            </a:r>
            <a:endParaRPr kumimoji="0" lang="en-NZ"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2.1 – Motivation for ANOVA</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4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9F9C52ED-C56C-4936-B846-E6AA01561F8B}"/>
              </a:ext>
            </a:extLst>
          </p:cNvPr>
          <p:cNvPicPr>
            <a:picLocks noChangeAspect="1"/>
          </p:cNvPicPr>
          <p:nvPr/>
        </p:nvPicPr>
        <p:blipFill>
          <a:blip r:embed="rId2"/>
          <a:stretch>
            <a:fillRect/>
          </a:stretch>
        </p:blipFill>
        <p:spPr>
          <a:xfrm>
            <a:off x="8384527" y="2623600"/>
            <a:ext cx="3638095" cy="3942857"/>
          </a:xfrm>
          <a:prstGeom prst="rect">
            <a:avLst/>
          </a:prstGeom>
        </p:spPr>
      </p:pic>
      <p:sp>
        <p:nvSpPr>
          <p:cNvPr id="2" name="Text Placeholder 5">
            <a:extLst>
              <a:ext uri="{FF2B5EF4-FFF2-40B4-BE49-F238E27FC236}">
                <a16:creationId xmlns:a16="http://schemas.microsoft.com/office/drawing/2014/main" id="{82C5B036-D391-4631-A0E5-4E235AD24AE5}"/>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2.1 - Motivating Example (T-test).</a:t>
            </a:r>
            <a:endParaRPr lang="en-US" altLang="ja-JP" sz="1200" b="1" i="1" dirty="0">
              <a:solidFill>
                <a:srgbClr val="C00000"/>
              </a:solidFill>
            </a:endParaRPr>
          </a:p>
        </p:txBody>
      </p:sp>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6"/>
            <a:ext cx="11327642" cy="103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A group of researchers are interested in whether the mean IQs of students studying various degrees differ. They take a sample of 1,000 Chemistry students and 1,000 Statistics students and make them sit an IQ test. The data pertaining to this experiment is contained in the csv file entitled 'IQ Tests (Chemistry &amp; Statistics)’. A snapshot is shown below</a:t>
            </a:r>
            <a:endParaRPr lang="en-US" altLang="ja-JP" sz="1800" dirty="0">
              <a:solidFill>
                <a:srgbClr val="0070C0"/>
              </a:solidFill>
            </a:endParaRPr>
          </a:p>
        </p:txBody>
      </p:sp>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a:latin typeface="+mn-lt"/>
              </a:rPr>
              <a:t>2.1a </a:t>
            </a:r>
            <a:r>
              <a:rPr lang="en-US" altLang="ja-JP" b="1" u="sng" dirty="0">
                <a:latin typeface="+mn-lt"/>
              </a:rPr>
              <a:t>– Motivating Example:</a:t>
            </a:r>
            <a:endParaRPr lang="ja-JP" altLang="en-US" b="1" u="sng" dirty="0">
              <a:latin typeface="+mn-lt"/>
            </a:endParaRPr>
          </a:p>
        </p:txBody>
      </p:sp>
      <p:graphicFrame>
        <p:nvGraphicFramePr>
          <p:cNvPr id="12" name="Table 11">
            <a:extLst>
              <a:ext uri="{FF2B5EF4-FFF2-40B4-BE49-F238E27FC236}">
                <a16:creationId xmlns:a16="http://schemas.microsoft.com/office/drawing/2014/main" id="{76FFE950-72ED-477A-86AA-6352CCCD4042}"/>
              </a:ext>
            </a:extLst>
          </p:cNvPr>
          <p:cNvGraphicFramePr>
            <a:graphicFrameLocks noGrp="1"/>
          </p:cNvGraphicFramePr>
          <p:nvPr>
            <p:extLst>
              <p:ext uri="{D42A27DB-BD31-4B8C-83A1-F6EECF244321}">
                <p14:modId xmlns:p14="http://schemas.microsoft.com/office/powerpoint/2010/main" val="2659401760"/>
              </p:ext>
            </p:extLst>
          </p:nvPr>
        </p:nvGraphicFramePr>
        <p:xfrm>
          <a:off x="622111" y="1897039"/>
          <a:ext cx="2590800" cy="4181394"/>
        </p:xfrm>
        <a:graphic>
          <a:graphicData uri="http://schemas.openxmlformats.org/drawingml/2006/table">
            <a:tbl>
              <a:tblPr/>
              <a:tblGrid>
                <a:gridCol w="822204">
                  <a:extLst>
                    <a:ext uri="{9D8B030D-6E8A-4147-A177-3AD203B41FA5}">
                      <a16:colId xmlns:a16="http://schemas.microsoft.com/office/drawing/2014/main" val="2721958228"/>
                    </a:ext>
                  </a:extLst>
                </a:gridCol>
                <a:gridCol w="907851">
                  <a:extLst>
                    <a:ext uri="{9D8B030D-6E8A-4147-A177-3AD203B41FA5}">
                      <a16:colId xmlns:a16="http://schemas.microsoft.com/office/drawing/2014/main" val="2251599085"/>
                    </a:ext>
                  </a:extLst>
                </a:gridCol>
                <a:gridCol w="860745">
                  <a:extLst>
                    <a:ext uri="{9D8B030D-6E8A-4147-A177-3AD203B41FA5}">
                      <a16:colId xmlns:a16="http://schemas.microsoft.com/office/drawing/2014/main" val="19169190"/>
                    </a:ext>
                  </a:extLst>
                </a:gridCol>
              </a:tblGrid>
              <a:tr h="199114">
                <a:tc>
                  <a:txBody>
                    <a:bodyPr/>
                    <a:lstStyle/>
                    <a:p>
                      <a:pPr algn="ctr" fontAlgn="b"/>
                      <a:r>
                        <a:rPr lang="en-NZ" sz="1200" b="1" i="0" u="none" strike="noStrike" dirty="0">
                          <a:solidFill>
                            <a:srgbClr val="FFFFFF"/>
                          </a:solidFill>
                          <a:effectLst/>
                          <a:latin typeface="Calibri" panose="020F0502020204030204" pitchFamily="34" charset="0"/>
                        </a:rPr>
                        <a:t>Student 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200" b="1" i="0" u="none" strike="noStrike" dirty="0">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200" b="1" i="0" u="none" strike="noStrike" dirty="0">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539499174"/>
                  </a:ext>
                </a:extLst>
              </a:tr>
              <a:tr h="199114">
                <a:tc>
                  <a:txBody>
                    <a:bodyPr/>
                    <a:lstStyle/>
                    <a:p>
                      <a:pPr algn="ctr" fontAlgn="b"/>
                      <a:r>
                        <a:rPr lang="en-NZ" sz="12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48553210"/>
                  </a:ext>
                </a:extLst>
              </a:tr>
              <a:tr h="199114">
                <a:tc>
                  <a:txBody>
                    <a:bodyPr/>
                    <a:lstStyle/>
                    <a:p>
                      <a:pPr algn="ctr" fontAlgn="b"/>
                      <a:r>
                        <a:rPr lang="en-NZ" sz="12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73484014"/>
                  </a:ext>
                </a:extLst>
              </a:tr>
              <a:tr h="199114">
                <a:tc>
                  <a:txBody>
                    <a:bodyPr/>
                    <a:lstStyle/>
                    <a:p>
                      <a:pPr algn="ctr" fontAlgn="b"/>
                      <a:r>
                        <a:rPr lang="en-NZ" sz="12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56010413"/>
                  </a:ext>
                </a:extLst>
              </a:tr>
              <a:tr h="199114">
                <a:tc>
                  <a:txBody>
                    <a:bodyPr/>
                    <a:lstStyle/>
                    <a:p>
                      <a:pPr algn="ctr" fontAlgn="b"/>
                      <a:r>
                        <a:rPr lang="en-NZ" sz="12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45410961"/>
                  </a:ext>
                </a:extLst>
              </a:tr>
              <a:tr h="199114">
                <a:tc>
                  <a:txBody>
                    <a:bodyPr/>
                    <a:lstStyle/>
                    <a:p>
                      <a:pPr algn="ctr" fontAlgn="b"/>
                      <a:r>
                        <a:rPr lang="en-NZ" sz="12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57895222"/>
                  </a:ext>
                </a:extLst>
              </a:tr>
              <a:tr h="199114">
                <a:tc>
                  <a:txBody>
                    <a:bodyPr/>
                    <a:lstStyle/>
                    <a:p>
                      <a:pPr algn="ctr" fontAlgn="b"/>
                      <a:r>
                        <a:rPr lang="en-NZ" sz="12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1081986"/>
                  </a:ext>
                </a:extLst>
              </a:tr>
              <a:tr h="199114">
                <a:tc>
                  <a:txBody>
                    <a:bodyPr/>
                    <a:lstStyle/>
                    <a:p>
                      <a:pPr algn="ctr" fontAlgn="b"/>
                      <a:r>
                        <a:rPr lang="en-NZ" sz="12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354083"/>
                  </a:ext>
                </a:extLst>
              </a:tr>
              <a:tr h="199114">
                <a:tc>
                  <a:txBody>
                    <a:bodyPr/>
                    <a:lstStyle/>
                    <a:p>
                      <a:pPr algn="ctr" fontAlgn="b"/>
                      <a:r>
                        <a:rPr lang="en-NZ" sz="12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29053140"/>
                  </a:ext>
                </a:extLst>
              </a:tr>
              <a:tr h="199114">
                <a:tc>
                  <a:txBody>
                    <a:bodyPr/>
                    <a:lstStyle/>
                    <a:p>
                      <a:pPr algn="ctr" fontAlgn="b"/>
                      <a:r>
                        <a:rPr lang="en-NZ" sz="12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67667561"/>
                  </a:ext>
                </a:extLst>
              </a:tr>
              <a:tr h="199114">
                <a:tc>
                  <a:txBody>
                    <a:bodyPr/>
                    <a:lstStyle/>
                    <a:p>
                      <a:pPr algn="ctr" fontAlgn="b"/>
                      <a:r>
                        <a:rPr lang="en-NZ" sz="12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19771028"/>
                  </a:ext>
                </a:extLst>
              </a:tr>
              <a:tr h="199114">
                <a:tc>
                  <a:txBody>
                    <a:bodyPr/>
                    <a:lstStyle/>
                    <a:p>
                      <a:pPr algn="ctr" fontAlgn="b"/>
                      <a:r>
                        <a:rPr lang="en-NZ" sz="12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5644262"/>
                  </a:ext>
                </a:extLst>
              </a:tr>
              <a:tr h="199114">
                <a:tc>
                  <a:txBody>
                    <a:bodyPr/>
                    <a:lstStyle/>
                    <a:p>
                      <a:pPr algn="ctr" fontAlgn="b"/>
                      <a:r>
                        <a:rPr lang="en-NZ" sz="12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54976975"/>
                  </a:ext>
                </a:extLst>
              </a:tr>
              <a:tr h="199114">
                <a:tc>
                  <a:txBody>
                    <a:bodyPr/>
                    <a:lstStyle/>
                    <a:p>
                      <a:pPr algn="ctr" fontAlgn="b"/>
                      <a:r>
                        <a:rPr lang="en-NZ" sz="12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45818801"/>
                  </a:ext>
                </a:extLst>
              </a:tr>
              <a:tr h="199114">
                <a:tc>
                  <a:txBody>
                    <a:bodyPr/>
                    <a:lstStyle/>
                    <a:p>
                      <a:pPr algn="ctr" fontAlgn="b"/>
                      <a:r>
                        <a:rPr lang="en-NZ" sz="12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16034022"/>
                  </a:ext>
                </a:extLst>
              </a:tr>
              <a:tr h="199114">
                <a:tc>
                  <a:txBody>
                    <a:bodyPr/>
                    <a:lstStyle/>
                    <a:p>
                      <a:pPr algn="ctr" fontAlgn="b"/>
                      <a:r>
                        <a:rPr lang="en-NZ" sz="12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3348851"/>
                  </a:ext>
                </a:extLst>
              </a:tr>
              <a:tr h="199114">
                <a:tc>
                  <a:txBody>
                    <a:bodyPr/>
                    <a:lstStyle/>
                    <a:p>
                      <a:pPr algn="ctr" fontAlgn="b"/>
                      <a:r>
                        <a:rPr lang="en-NZ" sz="12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12708803"/>
                  </a:ext>
                </a:extLst>
              </a:tr>
              <a:tr h="199114">
                <a:tc>
                  <a:txBody>
                    <a:bodyPr/>
                    <a:lstStyle/>
                    <a:p>
                      <a:pPr algn="ctr" fontAlgn="b"/>
                      <a:r>
                        <a:rPr lang="en-NZ" sz="12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80087149"/>
                  </a:ext>
                </a:extLst>
              </a:tr>
              <a:tr h="199114">
                <a:tc>
                  <a:txBody>
                    <a:bodyPr/>
                    <a:lstStyle/>
                    <a:p>
                      <a:pPr algn="ctr" fontAlgn="b"/>
                      <a:r>
                        <a:rPr lang="en-NZ" sz="12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27440644"/>
                  </a:ext>
                </a:extLst>
              </a:tr>
              <a:tr h="199114">
                <a:tc>
                  <a:txBody>
                    <a:bodyPr/>
                    <a:lstStyle/>
                    <a:p>
                      <a:pPr algn="ctr" fontAlgn="b"/>
                      <a:r>
                        <a:rPr lang="en-NZ" sz="12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18983632"/>
                  </a:ext>
                </a:extLst>
              </a:tr>
              <a:tr h="199114">
                <a:tc>
                  <a:txBody>
                    <a:bodyPr/>
                    <a:lstStyle/>
                    <a:p>
                      <a:pPr algn="ctr" fontAlgn="b"/>
                      <a:r>
                        <a:rPr lang="en-NZ" sz="1200" b="0" i="0" u="none" strike="noStrike">
                          <a:solidFill>
                            <a:srgbClr val="000000"/>
                          </a:solidFill>
                          <a:effectLst/>
                          <a:latin typeface="Calibri" panose="020F0502020204030204" pitchFamily="34" charset="0"/>
                        </a:rPr>
                        <a:t>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dirty="0">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27069903"/>
                  </a:ext>
                </a:extLst>
              </a:tr>
            </a:tbl>
          </a:graphicData>
        </a:graphic>
      </p:graphicFrame>
      <p:sp>
        <p:nvSpPr>
          <p:cNvPr id="13" name="Text Placeholder 5">
            <a:extLst>
              <a:ext uri="{FF2B5EF4-FFF2-40B4-BE49-F238E27FC236}">
                <a16:creationId xmlns:a16="http://schemas.microsoft.com/office/drawing/2014/main" id="{88864C23-DED4-43C6-B1EE-A6D7E12747E0}"/>
              </a:ext>
            </a:extLst>
          </p:cNvPr>
          <p:cNvSpPr txBox="1">
            <a:spLocks/>
          </p:cNvSpPr>
          <p:nvPr/>
        </p:nvSpPr>
        <p:spPr>
          <a:xfrm>
            <a:off x="3425588" y="1774210"/>
            <a:ext cx="8076062" cy="681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It can be assumed that the data is drawn from two </a:t>
            </a:r>
            <a:r>
              <a:rPr lang="en-NZ" altLang="ja-JP" sz="1800" b="1" dirty="0">
                <a:solidFill>
                  <a:srgbClr val="0070C0"/>
                </a:solidFill>
              </a:rPr>
              <a:t>independent</a:t>
            </a:r>
            <a:r>
              <a:rPr lang="en-NZ" altLang="ja-JP" sz="1800" dirty="0">
                <a:solidFill>
                  <a:srgbClr val="0070C0"/>
                </a:solidFill>
              </a:rPr>
              <a:t>, </a:t>
            </a:r>
            <a:r>
              <a:rPr lang="en-NZ" altLang="ja-JP" sz="1800" b="1" dirty="0">
                <a:solidFill>
                  <a:srgbClr val="0070C0"/>
                </a:solidFill>
              </a:rPr>
              <a:t>normally distributed </a:t>
            </a:r>
            <a:r>
              <a:rPr lang="en-NZ" altLang="ja-JP" sz="1800" dirty="0">
                <a:solidFill>
                  <a:srgbClr val="0070C0"/>
                </a:solidFill>
              </a:rPr>
              <a:t>populations which have </a:t>
            </a:r>
            <a:r>
              <a:rPr lang="en-NZ" altLang="ja-JP" sz="1800" b="1" dirty="0">
                <a:solidFill>
                  <a:srgbClr val="0070C0"/>
                </a:solidFill>
              </a:rPr>
              <a:t>equal variance</a:t>
            </a:r>
            <a:r>
              <a:rPr lang="en-NZ" altLang="ja-JP" sz="1800" dirty="0">
                <a:solidFill>
                  <a:srgbClr val="0070C0"/>
                </a:solidFill>
              </a:rPr>
              <a:t>.</a:t>
            </a: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1C4B5268-BEC1-4014-A399-7CAF04219630}"/>
                  </a:ext>
                </a:extLst>
              </p:cNvPr>
              <p:cNvSpPr txBox="1">
                <a:spLocks/>
              </p:cNvSpPr>
              <p:nvPr/>
            </p:nvSpPr>
            <p:spPr>
              <a:xfrm>
                <a:off x="3725837" y="2949485"/>
                <a:ext cx="1992574"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𝑪</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𝑺</m:t>
                          </m:r>
                        </m:sub>
                      </m:sSub>
                    </m:oMath>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𝑪</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𝑺</m:t>
                          </m:r>
                        </m:sub>
                      </m:sSub>
                    </m:oMath>
                  </m:oMathPara>
                </a14:m>
                <a:endParaRPr lang="en-NZ" altLang="ja-JP" sz="2000" b="1" dirty="0">
                  <a:solidFill>
                    <a:schemeClr val="tx1"/>
                  </a:solidFill>
                </a:endParaRPr>
              </a:p>
            </p:txBody>
          </p:sp>
        </mc:Choice>
        <mc:Fallback xmlns="">
          <p:sp>
            <p:nvSpPr>
              <p:cNvPr id="14" name="Text Placeholder 5">
                <a:extLst>
                  <a:ext uri="{FF2B5EF4-FFF2-40B4-BE49-F238E27FC236}">
                    <a16:creationId xmlns:a16="http://schemas.microsoft.com/office/drawing/2014/main" id="{1C4B5268-BEC1-4014-A399-7CAF04219630}"/>
                  </a:ext>
                </a:extLst>
              </p:cNvPr>
              <p:cNvSpPr txBox="1">
                <a:spLocks noRot="1" noChangeAspect="1" noMove="1" noResize="1" noEditPoints="1" noAdjustHandles="1" noChangeArrowheads="1" noChangeShapeType="1" noTextEdit="1"/>
              </p:cNvSpPr>
              <p:nvPr/>
            </p:nvSpPr>
            <p:spPr>
              <a:xfrm>
                <a:off x="3725837" y="2949485"/>
                <a:ext cx="1992574" cy="695961"/>
              </a:xfrm>
              <a:prstGeom prst="rect">
                <a:avLst/>
              </a:prstGeom>
              <a:blipFill>
                <a:blip r:embed="rId3"/>
                <a:stretch>
                  <a:fillRect b="-4386"/>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3231DBD8-A6E2-4BEC-AD09-80DAD8BE07DD}"/>
              </a:ext>
            </a:extLst>
          </p:cNvPr>
          <p:cNvSpPr txBox="1">
            <a:spLocks/>
          </p:cNvSpPr>
          <p:nvPr/>
        </p:nvSpPr>
        <p:spPr>
          <a:xfrm>
            <a:off x="3425588" y="2513778"/>
            <a:ext cx="8076062" cy="4578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Do Chemistry and Statistics students have the same mean IQ?</a:t>
            </a:r>
            <a:endParaRPr lang="en-US" altLang="ja-JP" sz="1800" dirty="0">
              <a:solidFill>
                <a:srgbClr val="0070C0"/>
              </a:solidFill>
            </a:endParaRPr>
          </a:p>
        </p:txBody>
      </p:sp>
      <p:sp>
        <p:nvSpPr>
          <p:cNvPr id="19" name="Text Placeholder 5">
            <a:extLst>
              <a:ext uri="{FF2B5EF4-FFF2-40B4-BE49-F238E27FC236}">
                <a16:creationId xmlns:a16="http://schemas.microsoft.com/office/drawing/2014/main" id="{EB6D45F5-9D2B-429E-99FB-493C35A4AD68}"/>
              </a:ext>
            </a:extLst>
          </p:cNvPr>
          <p:cNvSpPr txBox="1">
            <a:spLocks/>
          </p:cNvSpPr>
          <p:nvPr/>
        </p:nvSpPr>
        <p:spPr>
          <a:xfrm>
            <a:off x="3425588" y="3886373"/>
            <a:ext cx="4994065" cy="4578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Looking at simple descriptive statistics of the data set</a:t>
            </a:r>
            <a:endParaRPr lang="en-US" altLang="ja-JP" sz="1600" b="1" i="1" dirty="0">
              <a:solidFill>
                <a:schemeClr val="tx1"/>
              </a:solidFill>
            </a:endParaRPr>
          </a:p>
        </p:txBody>
      </p:sp>
      <p:graphicFrame>
        <p:nvGraphicFramePr>
          <p:cNvPr id="26" name="Table 25">
            <a:extLst>
              <a:ext uri="{FF2B5EF4-FFF2-40B4-BE49-F238E27FC236}">
                <a16:creationId xmlns:a16="http://schemas.microsoft.com/office/drawing/2014/main" id="{18C92A10-4870-44BD-936D-2A6477231C57}"/>
              </a:ext>
            </a:extLst>
          </p:cNvPr>
          <p:cNvGraphicFramePr>
            <a:graphicFrameLocks noGrp="1"/>
          </p:cNvGraphicFramePr>
          <p:nvPr>
            <p:extLst>
              <p:ext uri="{D42A27DB-BD31-4B8C-83A1-F6EECF244321}">
                <p14:modId xmlns:p14="http://schemas.microsoft.com/office/powerpoint/2010/main" val="830296804"/>
              </p:ext>
            </p:extLst>
          </p:nvPr>
        </p:nvGraphicFramePr>
        <p:xfrm>
          <a:off x="4335438" y="4312564"/>
          <a:ext cx="2590799" cy="2129409"/>
        </p:xfrm>
        <a:graphic>
          <a:graphicData uri="http://schemas.openxmlformats.org/drawingml/2006/table">
            <a:tbl>
              <a:tblPr/>
              <a:tblGrid>
                <a:gridCol w="834620">
                  <a:extLst>
                    <a:ext uri="{9D8B030D-6E8A-4147-A177-3AD203B41FA5}">
                      <a16:colId xmlns:a16="http://schemas.microsoft.com/office/drawing/2014/main" val="4129158019"/>
                    </a:ext>
                  </a:extLst>
                </a:gridCol>
                <a:gridCol w="921559">
                  <a:extLst>
                    <a:ext uri="{9D8B030D-6E8A-4147-A177-3AD203B41FA5}">
                      <a16:colId xmlns:a16="http://schemas.microsoft.com/office/drawing/2014/main" val="3526556274"/>
                    </a:ext>
                  </a:extLst>
                </a:gridCol>
                <a:gridCol w="834620">
                  <a:extLst>
                    <a:ext uri="{9D8B030D-6E8A-4147-A177-3AD203B41FA5}">
                      <a16:colId xmlns:a16="http://schemas.microsoft.com/office/drawing/2014/main" val="2660122899"/>
                    </a:ext>
                  </a:extLst>
                </a:gridCol>
              </a:tblGrid>
              <a:tr h="236601">
                <a:tc>
                  <a:txBody>
                    <a:bodyPr/>
                    <a:lstStyle/>
                    <a:p>
                      <a:pPr algn="ctr" fontAlgn="b"/>
                      <a:r>
                        <a:rPr lang="en-NZ" sz="1400" b="1" i="0" u="none" strike="noStrike" dirty="0">
                          <a:solidFill>
                            <a:srgbClr val="FFFFFF"/>
                          </a:solidFill>
                          <a:effectLst/>
                          <a:latin typeface="Calibri" panose="020F0502020204030204" pitchFamily="34" charset="0"/>
                        </a:rPr>
                        <a:t>Statistic</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dirty="0">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b"/>
                      <a:r>
                        <a:rPr lang="en-NZ" sz="1400" b="1" i="0" u="none" strike="noStrike" dirty="0">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3951377350"/>
                  </a:ext>
                </a:extLst>
              </a:tr>
              <a:tr h="236601">
                <a:tc>
                  <a:txBody>
                    <a:bodyPr/>
                    <a:lstStyle/>
                    <a:p>
                      <a:pPr algn="ctr" fontAlgn="b"/>
                      <a:r>
                        <a:rPr lang="en-NZ" sz="1400" b="0" i="0" u="none" strike="noStrike" dirty="0">
                          <a:solidFill>
                            <a:srgbClr val="000000"/>
                          </a:solidFill>
                          <a:effectLst/>
                          <a:latin typeface="Calibri" panose="020F0502020204030204" pitchFamily="34" charset="0"/>
                        </a:rPr>
                        <a:t>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1,000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NZ" sz="1400" b="0" i="0" u="none" strike="noStrike" dirty="0">
                          <a:solidFill>
                            <a:srgbClr val="000000"/>
                          </a:solidFill>
                          <a:effectLst/>
                          <a:latin typeface="Calibri" panose="020F0502020204030204" pitchFamily="34" charset="0"/>
                        </a:rPr>
                        <a:t>1,000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101198260"/>
                  </a:ext>
                </a:extLst>
              </a:tr>
              <a:tr h="236601">
                <a:tc>
                  <a:txBody>
                    <a:bodyPr/>
                    <a:lstStyle/>
                    <a:p>
                      <a:pPr algn="ctr" fontAlgn="b"/>
                      <a:r>
                        <a:rPr lang="en-NZ" sz="1400" b="0" i="0" u="none" strike="noStrike" dirty="0">
                          <a:solidFill>
                            <a:srgbClr val="000000"/>
                          </a:solidFill>
                          <a:effectLst/>
                          <a:latin typeface="Calibri" panose="020F0502020204030204" pitchFamily="34" charset="0"/>
                        </a:rPr>
                        <a:t>Min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199803064"/>
                  </a:ext>
                </a:extLst>
              </a:tr>
              <a:tr h="236601">
                <a:tc>
                  <a:txBody>
                    <a:bodyPr/>
                    <a:lstStyle/>
                    <a:p>
                      <a:pPr algn="ctr" fontAlgn="b"/>
                      <a:r>
                        <a:rPr lang="en-NZ" sz="1400" b="0" i="0" u="none" strike="noStrike">
                          <a:solidFill>
                            <a:srgbClr val="000000"/>
                          </a:solidFill>
                          <a:effectLst/>
                          <a:latin typeface="Calibri" panose="020F0502020204030204" pitchFamily="34" charset="0"/>
                        </a:rPr>
                        <a:t>Q1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73412870"/>
                  </a:ext>
                </a:extLst>
              </a:tr>
              <a:tr h="236601">
                <a:tc>
                  <a:txBody>
                    <a:bodyPr/>
                    <a:lstStyle/>
                    <a:p>
                      <a:pPr algn="ctr" fontAlgn="b"/>
                      <a:r>
                        <a:rPr lang="en-NZ" sz="1400" b="0" i="0" u="none" strike="noStrike">
                          <a:solidFill>
                            <a:srgbClr val="000000"/>
                          </a:solidFill>
                          <a:effectLst/>
                          <a:latin typeface="Calibri" panose="020F0502020204030204" pitchFamily="34" charset="0"/>
                        </a:rPr>
                        <a:t>Median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181333324"/>
                  </a:ext>
                </a:extLst>
              </a:tr>
              <a:tr h="236601">
                <a:tc>
                  <a:txBody>
                    <a:bodyPr/>
                    <a:lstStyle/>
                    <a:p>
                      <a:pPr algn="ctr" fontAlgn="b"/>
                      <a:r>
                        <a:rPr lang="en-NZ" sz="1400" b="0" i="0" u="none" strike="noStrike">
                          <a:solidFill>
                            <a:srgbClr val="000000"/>
                          </a:solidFill>
                          <a:effectLst/>
                          <a:latin typeface="Calibri" panose="020F0502020204030204" pitchFamily="34" charset="0"/>
                        </a:rPr>
                        <a:t>Mean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99.86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a:solidFill>
                            <a:srgbClr val="000000"/>
                          </a:solidFill>
                          <a:effectLst/>
                          <a:latin typeface="Calibri" panose="020F0502020204030204" pitchFamily="34" charset="0"/>
                        </a:rPr>
                        <a:t>102.03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74428627"/>
                  </a:ext>
                </a:extLst>
              </a:tr>
              <a:tr h="236601">
                <a:tc>
                  <a:txBody>
                    <a:bodyPr/>
                    <a:lstStyle/>
                    <a:p>
                      <a:pPr algn="ctr" fontAlgn="b"/>
                      <a:r>
                        <a:rPr lang="en-NZ" sz="1400" b="0" i="0" u="none" strike="noStrike">
                          <a:solidFill>
                            <a:srgbClr val="000000"/>
                          </a:solidFill>
                          <a:effectLst/>
                          <a:latin typeface="Calibri" panose="020F0502020204030204" pitchFamily="34" charset="0"/>
                        </a:rPr>
                        <a:t>Q3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953605194"/>
                  </a:ext>
                </a:extLst>
              </a:tr>
              <a:tr h="236601">
                <a:tc>
                  <a:txBody>
                    <a:bodyPr/>
                    <a:lstStyle/>
                    <a:p>
                      <a:pPr algn="ctr" fontAlgn="b"/>
                      <a:r>
                        <a:rPr lang="en-NZ" sz="1400" b="0" i="0" u="none" strike="noStrike">
                          <a:solidFill>
                            <a:srgbClr val="000000"/>
                          </a:solidFill>
                          <a:effectLst/>
                          <a:latin typeface="Calibri" panose="020F0502020204030204" pitchFamily="34" charset="0"/>
                        </a:rPr>
                        <a:t>Max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a:solidFill>
                            <a:srgbClr val="000000"/>
                          </a:solidFill>
                          <a:effectLst/>
                          <a:latin typeface="Calibri" panose="020F0502020204030204" pitchFamily="34" charset="0"/>
                        </a:rPr>
                        <a:t>143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134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518892436"/>
                  </a:ext>
                </a:extLst>
              </a:tr>
              <a:tr h="236601">
                <a:tc>
                  <a:txBody>
                    <a:bodyPr/>
                    <a:lstStyle/>
                    <a:p>
                      <a:pPr algn="ctr" fontAlgn="b"/>
                      <a:r>
                        <a:rPr lang="en-NZ" sz="1400" b="0" i="0" u="none" strike="noStrike">
                          <a:solidFill>
                            <a:srgbClr val="000000"/>
                          </a:solidFill>
                          <a:effectLst/>
                          <a:latin typeface="Calibri" panose="020F0502020204030204" pitchFamily="34" charset="0"/>
                        </a:rPr>
                        <a:t>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a:solidFill>
                            <a:srgbClr val="000000"/>
                          </a:solidFill>
                          <a:effectLst/>
                          <a:latin typeface="Calibri" panose="020F0502020204030204" pitchFamily="34" charset="0"/>
                        </a:rPr>
                        <a:t>10.02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b"/>
                      <a:r>
                        <a:rPr lang="en-NZ" sz="1400" b="0" i="0" u="none" strike="noStrike" dirty="0">
                          <a:solidFill>
                            <a:srgbClr val="000000"/>
                          </a:solidFill>
                          <a:effectLst/>
                          <a:latin typeface="Calibri" panose="020F0502020204030204" pitchFamily="34" charset="0"/>
                        </a:rPr>
                        <a:t>9.86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97114139"/>
                  </a:ext>
                </a:extLst>
              </a:tr>
            </a:tbl>
          </a:graphicData>
        </a:graphic>
      </p:graphicFrame>
      <p:sp>
        <p:nvSpPr>
          <p:cNvPr id="27" name="Slide Number Placeholder 3">
            <a:extLst>
              <a:ext uri="{FF2B5EF4-FFF2-40B4-BE49-F238E27FC236}">
                <a16:creationId xmlns:a16="http://schemas.microsoft.com/office/drawing/2014/main" id="{AAB4FF13-6D68-45C4-BEE9-418FE55D7E74}"/>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a:t>
            </a:fld>
            <a:endParaRPr kumimoji="1" lang="ja-JP" altLang="en-US" dirty="0">
              <a:solidFill>
                <a:srgbClr val="575454">
                  <a:lumMod val="20000"/>
                  <a:lumOff val="80000"/>
                </a:srgbClr>
              </a:solidFill>
              <a:latin typeface="Coo Hew"/>
            </a:endParaRPr>
          </a:p>
        </p:txBody>
      </p:sp>
      <p:sp>
        <p:nvSpPr>
          <p:cNvPr id="16" name="Footer Placeholder 2">
            <a:extLst>
              <a:ext uri="{FF2B5EF4-FFF2-40B4-BE49-F238E27FC236}">
                <a16:creationId xmlns:a16="http://schemas.microsoft.com/office/drawing/2014/main" id="{C0990709-A4E2-9B70-0BCA-23798FE4DC29}"/>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2.1 – Motivation for ANOVA</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320992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2C5B036-D391-4631-A0E5-4E235AD24AE5}"/>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2.1 - Motivating Example (T-test).</a:t>
            </a:r>
            <a:endParaRPr lang="en-US" altLang="ja-JP" sz="1200" b="1" i="1" dirty="0">
              <a:solidFill>
                <a:srgbClr val="C00000"/>
              </a:solidFill>
            </a:endParaRPr>
          </a:p>
        </p:txBody>
      </p:sp>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2.1a – Motivating Example:</a:t>
            </a:r>
            <a:endParaRPr lang="ja-JP" altLang="en-US" b="1" u="sng" dirty="0">
              <a:latin typeface="+mn-lt"/>
            </a:endParaRPr>
          </a:p>
        </p:txBody>
      </p:sp>
      <p:sp>
        <p:nvSpPr>
          <p:cNvPr id="5" name="Footer Placeholder 2">
            <a:extLst>
              <a:ext uri="{FF2B5EF4-FFF2-40B4-BE49-F238E27FC236}">
                <a16:creationId xmlns:a16="http://schemas.microsoft.com/office/drawing/2014/main" id="{B9FA4A47-38D8-4CD9-8DB0-0A5C9102BF7F}"/>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2.1 – Motivation for ANOVA</a:t>
            </a:r>
            <a:endParaRPr kumimoji="1" lang="ja-JP" altLang="en-US" sz="1600" dirty="0">
              <a:solidFill>
                <a:srgbClr val="DEDDDD"/>
              </a:solidFill>
              <a:latin typeface="Gidole"/>
            </a:endParaRPr>
          </a:p>
        </p:txBody>
      </p:sp>
      <p:graphicFrame>
        <p:nvGraphicFramePr>
          <p:cNvPr id="12" name="Table 11">
            <a:extLst>
              <a:ext uri="{FF2B5EF4-FFF2-40B4-BE49-F238E27FC236}">
                <a16:creationId xmlns:a16="http://schemas.microsoft.com/office/drawing/2014/main" id="{76FFE950-72ED-477A-86AA-6352CCCD4042}"/>
              </a:ext>
            </a:extLst>
          </p:cNvPr>
          <p:cNvGraphicFramePr>
            <a:graphicFrameLocks noGrp="1"/>
          </p:cNvGraphicFramePr>
          <p:nvPr/>
        </p:nvGraphicFramePr>
        <p:xfrm>
          <a:off x="622111" y="1897039"/>
          <a:ext cx="2590800" cy="4181394"/>
        </p:xfrm>
        <a:graphic>
          <a:graphicData uri="http://schemas.openxmlformats.org/drawingml/2006/table">
            <a:tbl>
              <a:tblPr/>
              <a:tblGrid>
                <a:gridCol w="822204">
                  <a:extLst>
                    <a:ext uri="{9D8B030D-6E8A-4147-A177-3AD203B41FA5}">
                      <a16:colId xmlns:a16="http://schemas.microsoft.com/office/drawing/2014/main" val="2721958228"/>
                    </a:ext>
                  </a:extLst>
                </a:gridCol>
                <a:gridCol w="907851">
                  <a:extLst>
                    <a:ext uri="{9D8B030D-6E8A-4147-A177-3AD203B41FA5}">
                      <a16:colId xmlns:a16="http://schemas.microsoft.com/office/drawing/2014/main" val="2251599085"/>
                    </a:ext>
                  </a:extLst>
                </a:gridCol>
                <a:gridCol w="860745">
                  <a:extLst>
                    <a:ext uri="{9D8B030D-6E8A-4147-A177-3AD203B41FA5}">
                      <a16:colId xmlns:a16="http://schemas.microsoft.com/office/drawing/2014/main" val="19169190"/>
                    </a:ext>
                  </a:extLst>
                </a:gridCol>
              </a:tblGrid>
              <a:tr h="199114">
                <a:tc>
                  <a:txBody>
                    <a:bodyPr/>
                    <a:lstStyle/>
                    <a:p>
                      <a:pPr algn="ctr" fontAlgn="b"/>
                      <a:r>
                        <a:rPr lang="en-NZ" sz="1200" b="1" i="0" u="none" strike="noStrike" dirty="0">
                          <a:solidFill>
                            <a:srgbClr val="FFFFFF"/>
                          </a:solidFill>
                          <a:effectLst/>
                          <a:latin typeface="Calibri" panose="020F0502020204030204" pitchFamily="34" charset="0"/>
                        </a:rPr>
                        <a:t>Student 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200" b="1" i="0" u="none" strike="noStrike" dirty="0">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200" b="1" i="0" u="none" strike="noStrike" dirty="0">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539499174"/>
                  </a:ext>
                </a:extLst>
              </a:tr>
              <a:tr h="199114">
                <a:tc>
                  <a:txBody>
                    <a:bodyPr/>
                    <a:lstStyle/>
                    <a:p>
                      <a:pPr algn="ctr" fontAlgn="b"/>
                      <a:r>
                        <a:rPr lang="en-NZ" sz="12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48553210"/>
                  </a:ext>
                </a:extLst>
              </a:tr>
              <a:tr h="199114">
                <a:tc>
                  <a:txBody>
                    <a:bodyPr/>
                    <a:lstStyle/>
                    <a:p>
                      <a:pPr algn="ctr" fontAlgn="b"/>
                      <a:r>
                        <a:rPr lang="en-NZ" sz="12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73484014"/>
                  </a:ext>
                </a:extLst>
              </a:tr>
              <a:tr h="199114">
                <a:tc>
                  <a:txBody>
                    <a:bodyPr/>
                    <a:lstStyle/>
                    <a:p>
                      <a:pPr algn="ctr" fontAlgn="b"/>
                      <a:r>
                        <a:rPr lang="en-NZ" sz="12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56010413"/>
                  </a:ext>
                </a:extLst>
              </a:tr>
              <a:tr h="199114">
                <a:tc>
                  <a:txBody>
                    <a:bodyPr/>
                    <a:lstStyle/>
                    <a:p>
                      <a:pPr algn="ctr" fontAlgn="b"/>
                      <a:r>
                        <a:rPr lang="en-NZ" sz="12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45410961"/>
                  </a:ext>
                </a:extLst>
              </a:tr>
              <a:tr h="199114">
                <a:tc>
                  <a:txBody>
                    <a:bodyPr/>
                    <a:lstStyle/>
                    <a:p>
                      <a:pPr algn="ctr" fontAlgn="b"/>
                      <a:r>
                        <a:rPr lang="en-NZ" sz="12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57895222"/>
                  </a:ext>
                </a:extLst>
              </a:tr>
              <a:tr h="199114">
                <a:tc>
                  <a:txBody>
                    <a:bodyPr/>
                    <a:lstStyle/>
                    <a:p>
                      <a:pPr algn="ctr" fontAlgn="b"/>
                      <a:r>
                        <a:rPr lang="en-NZ" sz="12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1081986"/>
                  </a:ext>
                </a:extLst>
              </a:tr>
              <a:tr h="199114">
                <a:tc>
                  <a:txBody>
                    <a:bodyPr/>
                    <a:lstStyle/>
                    <a:p>
                      <a:pPr algn="ctr" fontAlgn="b"/>
                      <a:r>
                        <a:rPr lang="en-NZ" sz="12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64354083"/>
                  </a:ext>
                </a:extLst>
              </a:tr>
              <a:tr h="199114">
                <a:tc>
                  <a:txBody>
                    <a:bodyPr/>
                    <a:lstStyle/>
                    <a:p>
                      <a:pPr algn="ctr" fontAlgn="b"/>
                      <a:r>
                        <a:rPr lang="en-NZ" sz="12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29053140"/>
                  </a:ext>
                </a:extLst>
              </a:tr>
              <a:tr h="199114">
                <a:tc>
                  <a:txBody>
                    <a:bodyPr/>
                    <a:lstStyle/>
                    <a:p>
                      <a:pPr algn="ctr" fontAlgn="b"/>
                      <a:r>
                        <a:rPr lang="en-NZ" sz="12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67667561"/>
                  </a:ext>
                </a:extLst>
              </a:tr>
              <a:tr h="199114">
                <a:tc>
                  <a:txBody>
                    <a:bodyPr/>
                    <a:lstStyle/>
                    <a:p>
                      <a:pPr algn="ctr" fontAlgn="b"/>
                      <a:r>
                        <a:rPr lang="en-NZ" sz="12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19771028"/>
                  </a:ext>
                </a:extLst>
              </a:tr>
              <a:tr h="199114">
                <a:tc>
                  <a:txBody>
                    <a:bodyPr/>
                    <a:lstStyle/>
                    <a:p>
                      <a:pPr algn="ctr" fontAlgn="b"/>
                      <a:r>
                        <a:rPr lang="en-NZ" sz="12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5644262"/>
                  </a:ext>
                </a:extLst>
              </a:tr>
              <a:tr h="199114">
                <a:tc>
                  <a:txBody>
                    <a:bodyPr/>
                    <a:lstStyle/>
                    <a:p>
                      <a:pPr algn="ctr" fontAlgn="b"/>
                      <a:r>
                        <a:rPr lang="en-NZ" sz="12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54976975"/>
                  </a:ext>
                </a:extLst>
              </a:tr>
              <a:tr h="199114">
                <a:tc>
                  <a:txBody>
                    <a:bodyPr/>
                    <a:lstStyle/>
                    <a:p>
                      <a:pPr algn="ctr" fontAlgn="b"/>
                      <a:r>
                        <a:rPr lang="en-NZ" sz="12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45818801"/>
                  </a:ext>
                </a:extLst>
              </a:tr>
              <a:tr h="199114">
                <a:tc>
                  <a:txBody>
                    <a:bodyPr/>
                    <a:lstStyle/>
                    <a:p>
                      <a:pPr algn="ctr" fontAlgn="b"/>
                      <a:r>
                        <a:rPr lang="en-NZ" sz="12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16034022"/>
                  </a:ext>
                </a:extLst>
              </a:tr>
              <a:tr h="199114">
                <a:tc>
                  <a:txBody>
                    <a:bodyPr/>
                    <a:lstStyle/>
                    <a:p>
                      <a:pPr algn="ctr" fontAlgn="b"/>
                      <a:r>
                        <a:rPr lang="en-NZ" sz="12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3348851"/>
                  </a:ext>
                </a:extLst>
              </a:tr>
              <a:tr h="199114">
                <a:tc>
                  <a:txBody>
                    <a:bodyPr/>
                    <a:lstStyle/>
                    <a:p>
                      <a:pPr algn="ctr" fontAlgn="b"/>
                      <a:r>
                        <a:rPr lang="en-NZ" sz="12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912708803"/>
                  </a:ext>
                </a:extLst>
              </a:tr>
              <a:tr h="199114">
                <a:tc>
                  <a:txBody>
                    <a:bodyPr/>
                    <a:lstStyle/>
                    <a:p>
                      <a:pPr algn="ctr" fontAlgn="b"/>
                      <a:r>
                        <a:rPr lang="en-NZ" sz="12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80087149"/>
                  </a:ext>
                </a:extLst>
              </a:tr>
              <a:tr h="199114">
                <a:tc>
                  <a:txBody>
                    <a:bodyPr/>
                    <a:lstStyle/>
                    <a:p>
                      <a:pPr algn="ctr" fontAlgn="b"/>
                      <a:r>
                        <a:rPr lang="en-NZ" sz="12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27440644"/>
                  </a:ext>
                </a:extLst>
              </a:tr>
              <a:tr h="199114">
                <a:tc>
                  <a:txBody>
                    <a:bodyPr/>
                    <a:lstStyle/>
                    <a:p>
                      <a:pPr algn="ctr" fontAlgn="b"/>
                      <a:r>
                        <a:rPr lang="en-NZ" sz="12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18983632"/>
                  </a:ext>
                </a:extLst>
              </a:tr>
              <a:tr h="199114">
                <a:tc>
                  <a:txBody>
                    <a:bodyPr/>
                    <a:lstStyle/>
                    <a:p>
                      <a:pPr algn="ctr" fontAlgn="b"/>
                      <a:r>
                        <a:rPr lang="en-NZ" sz="1200" b="0" i="0" u="none" strike="noStrike">
                          <a:solidFill>
                            <a:srgbClr val="000000"/>
                          </a:solidFill>
                          <a:effectLst/>
                          <a:latin typeface="Calibri" panose="020F0502020204030204" pitchFamily="34" charset="0"/>
                        </a:rPr>
                        <a:t>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200" b="0" i="0" u="none" strike="noStrike" dirty="0">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27069903"/>
                  </a:ext>
                </a:extLst>
              </a:tr>
            </a:tbl>
          </a:graphicData>
        </a:graphic>
      </p:graphicFrame>
      <p:sp>
        <p:nvSpPr>
          <p:cNvPr id="13" name="Text Placeholder 5">
            <a:extLst>
              <a:ext uri="{FF2B5EF4-FFF2-40B4-BE49-F238E27FC236}">
                <a16:creationId xmlns:a16="http://schemas.microsoft.com/office/drawing/2014/main" id="{88864C23-DED4-43C6-B1EE-A6D7E12747E0}"/>
              </a:ext>
            </a:extLst>
          </p:cNvPr>
          <p:cNvSpPr txBox="1">
            <a:spLocks/>
          </p:cNvSpPr>
          <p:nvPr/>
        </p:nvSpPr>
        <p:spPr>
          <a:xfrm>
            <a:off x="3425588" y="1774210"/>
            <a:ext cx="8076062" cy="681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It can be assumed that the data is drawn from two </a:t>
            </a:r>
            <a:r>
              <a:rPr lang="en-NZ" altLang="ja-JP" sz="1800" b="1" dirty="0">
                <a:solidFill>
                  <a:srgbClr val="0070C0"/>
                </a:solidFill>
              </a:rPr>
              <a:t>independent</a:t>
            </a:r>
            <a:r>
              <a:rPr lang="en-NZ" altLang="ja-JP" sz="1800" dirty="0">
                <a:solidFill>
                  <a:srgbClr val="0070C0"/>
                </a:solidFill>
              </a:rPr>
              <a:t>, </a:t>
            </a:r>
            <a:r>
              <a:rPr lang="en-NZ" altLang="ja-JP" sz="1800" b="1" dirty="0">
                <a:solidFill>
                  <a:srgbClr val="0070C0"/>
                </a:solidFill>
              </a:rPr>
              <a:t>normally distributed</a:t>
            </a:r>
            <a:r>
              <a:rPr lang="en-NZ" altLang="ja-JP" sz="1800" dirty="0">
                <a:solidFill>
                  <a:srgbClr val="0070C0"/>
                </a:solidFill>
              </a:rPr>
              <a:t> populations which have </a:t>
            </a:r>
            <a:r>
              <a:rPr lang="en-NZ" altLang="ja-JP" sz="1800" b="1" dirty="0">
                <a:solidFill>
                  <a:srgbClr val="0070C0"/>
                </a:solidFill>
              </a:rPr>
              <a:t>equal variance</a:t>
            </a:r>
            <a:r>
              <a:rPr lang="en-NZ" altLang="ja-JP" sz="1800" dirty="0">
                <a:solidFill>
                  <a:srgbClr val="0070C0"/>
                </a:solidFill>
              </a:rPr>
              <a:t>.</a:t>
            </a: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1C4B5268-BEC1-4014-A399-7CAF04219630}"/>
                  </a:ext>
                </a:extLst>
              </p:cNvPr>
              <p:cNvSpPr txBox="1">
                <a:spLocks/>
              </p:cNvSpPr>
              <p:nvPr/>
            </p:nvSpPr>
            <p:spPr>
              <a:xfrm>
                <a:off x="3725837" y="2949485"/>
                <a:ext cx="1992574"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𝑪</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𝑺</m:t>
                          </m:r>
                        </m:sub>
                      </m:sSub>
                    </m:oMath>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𝑪</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𝑺</m:t>
                          </m:r>
                        </m:sub>
                      </m:sSub>
                    </m:oMath>
                  </m:oMathPara>
                </a14:m>
                <a:endParaRPr lang="en-NZ" altLang="ja-JP" sz="2000" b="1" dirty="0">
                  <a:solidFill>
                    <a:schemeClr val="tx1"/>
                  </a:solidFill>
                </a:endParaRPr>
              </a:p>
            </p:txBody>
          </p:sp>
        </mc:Choice>
        <mc:Fallback xmlns="">
          <p:sp>
            <p:nvSpPr>
              <p:cNvPr id="14" name="Text Placeholder 5">
                <a:extLst>
                  <a:ext uri="{FF2B5EF4-FFF2-40B4-BE49-F238E27FC236}">
                    <a16:creationId xmlns:a16="http://schemas.microsoft.com/office/drawing/2014/main" id="{1C4B5268-BEC1-4014-A399-7CAF04219630}"/>
                  </a:ext>
                </a:extLst>
              </p:cNvPr>
              <p:cNvSpPr txBox="1">
                <a:spLocks noRot="1" noChangeAspect="1" noMove="1" noResize="1" noEditPoints="1" noAdjustHandles="1" noChangeArrowheads="1" noChangeShapeType="1" noTextEdit="1"/>
              </p:cNvSpPr>
              <p:nvPr/>
            </p:nvSpPr>
            <p:spPr>
              <a:xfrm>
                <a:off x="3725837" y="2949485"/>
                <a:ext cx="1992574" cy="695961"/>
              </a:xfrm>
              <a:prstGeom prst="rect">
                <a:avLst/>
              </a:prstGeom>
              <a:blipFill>
                <a:blip r:embed="rId2"/>
                <a:stretch>
                  <a:fillRect b="-4386"/>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3231DBD8-A6E2-4BEC-AD09-80DAD8BE07DD}"/>
              </a:ext>
            </a:extLst>
          </p:cNvPr>
          <p:cNvSpPr txBox="1">
            <a:spLocks/>
          </p:cNvSpPr>
          <p:nvPr/>
        </p:nvSpPr>
        <p:spPr>
          <a:xfrm>
            <a:off x="3425588" y="2513778"/>
            <a:ext cx="8076062" cy="4578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Do Chemistry and Statistics students have the same mean IQ?</a:t>
            </a:r>
            <a:endParaRPr lang="en-US" altLang="ja-JP" sz="1800" dirty="0">
              <a:solidFill>
                <a:srgbClr val="0070C0"/>
              </a:solidFill>
            </a:endParaRPr>
          </a:p>
        </p:txBody>
      </p:sp>
      <p:sp>
        <p:nvSpPr>
          <p:cNvPr id="19" name="Text Placeholder 5">
            <a:extLst>
              <a:ext uri="{FF2B5EF4-FFF2-40B4-BE49-F238E27FC236}">
                <a16:creationId xmlns:a16="http://schemas.microsoft.com/office/drawing/2014/main" id="{EB6D45F5-9D2B-429E-99FB-493C35A4AD68}"/>
              </a:ext>
            </a:extLst>
          </p:cNvPr>
          <p:cNvSpPr txBox="1">
            <a:spLocks/>
          </p:cNvSpPr>
          <p:nvPr/>
        </p:nvSpPr>
        <p:spPr>
          <a:xfrm>
            <a:off x="3502926" y="3788802"/>
            <a:ext cx="8144301" cy="6297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Since</a:t>
            </a:r>
            <a:r>
              <a:rPr lang="en-US" altLang="ja-JP" sz="1600" b="1" dirty="0">
                <a:solidFill>
                  <a:schemeClr val="tx1"/>
                </a:solidFill>
              </a:rPr>
              <a:t> </a:t>
            </a:r>
            <a:r>
              <a:rPr lang="en-US" altLang="ja-JP" sz="1600" dirty="0">
                <a:solidFill>
                  <a:schemeClr val="tx1"/>
                </a:solidFill>
              </a:rPr>
              <a:t>the data are drawn from two </a:t>
            </a:r>
            <a:r>
              <a:rPr lang="en-US" altLang="ja-JP" sz="1600" b="1" dirty="0">
                <a:solidFill>
                  <a:schemeClr val="tx1"/>
                </a:solidFill>
              </a:rPr>
              <a:t>independent, normally distributed </a:t>
            </a:r>
            <a:r>
              <a:rPr lang="en-US" altLang="ja-JP" sz="1600" dirty="0">
                <a:solidFill>
                  <a:schemeClr val="tx1"/>
                </a:solidFill>
              </a:rPr>
              <a:t>populations with </a:t>
            </a:r>
            <a:r>
              <a:rPr lang="en-US" altLang="ja-JP" sz="1600" b="1" dirty="0">
                <a:solidFill>
                  <a:schemeClr val="tx1"/>
                </a:solidFill>
              </a:rPr>
              <a:t>equal variance </a:t>
            </a:r>
            <a:r>
              <a:rPr lang="en-US" altLang="ja-JP" sz="1600" dirty="0">
                <a:solidFill>
                  <a:schemeClr val="tx1"/>
                </a:solidFill>
              </a:rPr>
              <a:t>we can do a two-sample t-test</a:t>
            </a:r>
            <a:endParaRPr lang="en-US" altLang="ja-JP" sz="1600" b="1" i="1" dirty="0">
              <a:solidFill>
                <a:schemeClr val="tx1"/>
              </a:solidFill>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C208FA19-5B52-4B0E-9A0B-D1C271250460}"/>
                  </a:ext>
                </a:extLst>
              </p:cNvPr>
              <p:cNvSpPr txBox="1">
                <a:spLocks/>
              </p:cNvSpPr>
              <p:nvPr/>
            </p:nvSpPr>
            <p:spPr>
              <a:xfrm>
                <a:off x="3536902" y="4516146"/>
                <a:ext cx="3539463"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1600" i="1" smtClean="0">
                          <a:solidFill>
                            <a:schemeClr val="tx1"/>
                          </a:solidFill>
                          <a:latin typeface="Cambria Math" panose="02040503050406030204" pitchFamily="18" charset="0"/>
                        </a:rPr>
                        <m:t>𝑡</m:t>
                      </m:r>
                      <m:r>
                        <a:rPr lang="en-NZ" altLang="ja-JP" sz="1600" b="0" i="1" smtClean="0">
                          <a:solidFill>
                            <a:schemeClr val="tx1"/>
                          </a:solidFill>
                          <a:latin typeface="Cambria Math" panose="02040503050406030204" pitchFamily="18" charset="0"/>
                        </a:rPr>
                        <m:t> =  </m:t>
                      </m:r>
                      <m:f>
                        <m:fPr>
                          <m:ctrlPr>
                            <a:rPr lang="en-NZ" altLang="ja-JP" sz="1600" b="0" i="1" smtClean="0">
                              <a:solidFill>
                                <a:schemeClr val="tx1"/>
                              </a:solidFill>
                              <a:latin typeface="Cambria Math" panose="02040503050406030204" pitchFamily="18" charset="0"/>
                            </a:rPr>
                          </m:ctrlPr>
                        </m:fPr>
                        <m:num>
                          <m:acc>
                            <m:accPr>
                              <m:chr m:val="̅"/>
                              <m:ctrlPr>
                                <a:rPr lang="en-NZ" altLang="ja-JP" sz="1600" b="0" i="1" smtClean="0">
                                  <a:solidFill>
                                    <a:schemeClr val="tx1"/>
                                  </a:solidFill>
                                  <a:latin typeface="Cambria Math" panose="02040503050406030204" pitchFamily="18" charset="0"/>
                                </a:rPr>
                              </m:ctrlPr>
                            </m:accP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𝑦</m:t>
                                  </m:r>
                                </m:e>
                                <m:sub>
                                  <m:r>
                                    <a:rPr lang="en-NZ" altLang="ja-JP" sz="1600" b="0" i="1" smtClean="0">
                                      <a:solidFill>
                                        <a:schemeClr val="tx1"/>
                                      </a:solidFill>
                                      <a:latin typeface="Cambria Math" panose="02040503050406030204" pitchFamily="18" charset="0"/>
                                    </a:rPr>
                                    <m:t>𝐴</m:t>
                                  </m:r>
                                </m:sub>
                              </m:sSub>
                            </m:e>
                          </m:acc>
                          <m:r>
                            <a:rPr lang="en-NZ" altLang="ja-JP" sz="1600" b="0" i="1" smtClean="0">
                              <a:solidFill>
                                <a:schemeClr val="tx1"/>
                              </a:solidFill>
                              <a:latin typeface="Cambria Math" panose="02040503050406030204" pitchFamily="18" charset="0"/>
                            </a:rPr>
                            <m:t>  −</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𝑦</m:t>
                                  </m:r>
                                </m:e>
                                <m:sub>
                                  <m:r>
                                    <a:rPr lang="en-NZ" altLang="ja-JP" sz="1600" b="0" i="1" smtClean="0">
                                      <a:solidFill>
                                        <a:schemeClr val="tx1"/>
                                      </a:solidFill>
                                      <a:latin typeface="Cambria Math" panose="02040503050406030204" pitchFamily="18" charset="0"/>
                                    </a:rPr>
                                    <m:t>𝐵</m:t>
                                  </m:r>
                                </m:sub>
                              </m:sSub>
                            </m:e>
                          </m:acc>
                        </m:num>
                        <m:den>
                          <m:r>
                            <a:rPr lang="en-NZ" altLang="ja-JP" sz="1600" b="0" i="1" smtClean="0">
                              <a:solidFill>
                                <a:schemeClr val="tx1"/>
                              </a:solidFill>
                              <a:latin typeface="Cambria Math" panose="02040503050406030204" pitchFamily="18" charset="0"/>
                            </a:rPr>
                            <m:t>𝑠</m:t>
                          </m:r>
                          <m:r>
                            <a:rPr lang="en-NZ" altLang="ja-JP" sz="1600" b="0" i="1" smtClean="0">
                              <a:solidFill>
                                <a:schemeClr val="tx1"/>
                              </a:solidFill>
                              <a:latin typeface="Cambria Math" panose="02040503050406030204" pitchFamily="18" charset="0"/>
                            </a:rPr>
                            <m:t> </m:t>
                          </m:r>
                          <m:rad>
                            <m:radPr>
                              <m:degHide m:val="on"/>
                              <m:ctrlPr>
                                <a:rPr lang="en-NZ" altLang="ja-JP" sz="1600" b="0" i="1" smtClean="0">
                                  <a:solidFill>
                                    <a:schemeClr val="tx1"/>
                                  </a:solidFill>
                                  <a:latin typeface="Cambria Math" panose="02040503050406030204" pitchFamily="18" charset="0"/>
                                </a:rPr>
                              </m:ctrlPr>
                            </m:radPr>
                            <m:deg/>
                            <m:e>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𝐴</m:t>
                                      </m:r>
                                    </m:sub>
                                  </m:sSub>
                                </m:den>
                              </m:f>
                              <m:r>
                                <a:rPr lang="en-NZ" altLang="ja-JP" sz="1600" b="0" i="1" smtClean="0">
                                  <a:solidFill>
                                    <a:schemeClr val="tx1"/>
                                  </a:solidFill>
                                  <a:latin typeface="Cambria Math" panose="02040503050406030204" pitchFamily="18" charset="0"/>
                                </a:rPr>
                                <m:t> +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𝐵</m:t>
                                      </m:r>
                                    </m:sub>
                                  </m:sSub>
                                </m:den>
                              </m:f>
                            </m:e>
                          </m:rad>
                          <m:r>
                            <a:rPr lang="en-NZ" altLang="ja-JP" sz="1600" b="0" i="1" smtClean="0">
                              <a:solidFill>
                                <a:schemeClr val="tx1"/>
                              </a:solidFill>
                              <a:latin typeface="Cambria Math" panose="02040503050406030204" pitchFamily="18" charset="0"/>
                            </a:rPr>
                            <m:t> </m:t>
                          </m:r>
                        </m:den>
                      </m:f>
                      <m:r>
                        <a:rPr lang="en-NZ" altLang="ja-JP" sz="1600" b="0" i="1" smtClean="0">
                          <a:solidFill>
                            <a:schemeClr val="tx1"/>
                          </a:solidFill>
                          <a:latin typeface="Cambria Math" panose="02040503050406030204" pitchFamily="18" charset="0"/>
                        </a:rPr>
                        <m:t>   </m:t>
                      </m:r>
                      <m:r>
                        <a:rPr lang="en-NZ" altLang="ja-JP" sz="1600" b="0" i="1" smtClean="0">
                          <a:solidFill>
                            <a:schemeClr val="tx1"/>
                          </a:solidFill>
                          <a:latin typeface="Cambria Math" panose="02040503050406030204" pitchFamily="18" charset="0"/>
                          <a:ea typeface="Cambria Math" panose="02040503050406030204" pitchFamily="18" charset="0"/>
                        </a:rPr>
                        <m:t>~   </m:t>
                      </m:r>
                      <m:sSub>
                        <m:sSubPr>
                          <m:ctrlPr>
                            <a:rPr lang="en-NZ" altLang="ja-JP" sz="1600" b="0" i="1" smtClean="0">
                              <a:solidFill>
                                <a:schemeClr val="tx1"/>
                              </a:solidFill>
                              <a:latin typeface="Cambria Math" panose="02040503050406030204" pitchFamily="18" charset="0"/>
                              <a:ea typeface="Cambria Math" panose="02040503050406030204" pitchFamily="18" charset="0"/>
                            </a:rPr>
                          </m:ctrlPr>
                        </m:sSubPr>
                        <m:e>
                          <m:r>
                            <a:rPr lang="en-NZ" altLang="ja-JP" sz="1600" b="0" i="1" smtClean="0">
                              <a:solidFill>
                                <a:schemeClr val="tx1"/>
                              </a:solidFill>
                              <a:latin typeface="Cambria Math" panose="02040503050406030204" pitchFamily="18" charset="0"/>
                              <a:ea typeface="Cambria Math" panose="02040503050406030204" pitchFamily="18" charset="0"/>
                            </a:rPr>
                            <m:t>𝑇</m:t>
                          </m:r>
                        </m:e>
                        <m:sub>
                          <m:sSub>
                            <m:sSubPr>
                              <m:ctrlPr>
                                <a:rPr lang="en-NZ" altLang="ja-JP" sz="1600" b="0" i="1" smtClean="0">
                                  <a:solidFill>
                                    <a:schemeClr val="tx1"/>
                                  </a:solidFill>
                                  <a:latin typeface="Cambria Math" panose="02040503050406030204" pitchFamily="18" charset="0"/>
                                  <a:ea typeface="Cambria Math" panose="02040503050406030204" pitchFamily="18" charset="0"/>
                                </a:rPr>
                              </m:ctrlPr>
                            </m:sSubPr>
                            <m:e>
                              <m:r>
                                <a:rPr lang="en-NZ" altLang="ja-JP" sz="1600" b="0" i="1" smtClean="0">
                                  <a:solidFill>
                                    <a:schemeClr val="tx1"/>
                                  </a:solidFill>
                                  <a:latin typeface="Cambria Math" panose="02040503050406030204" pitchFamily="18" charset="0"/>
                                  <a:ea typeface="Cambria Math" panose="02040503050406030204" pitchFamily="18" charset="0"/>
                                </a:rPr>
                                <m:t>𝑛</m:t>
                              </m:r>
                            </m:e>
                            <m:sub>
                              <m:r>
                                <a:rPr lang="en-NZ" altLang="ja-JP" sz="1600" b="0" i="1" smtClean="0">
                                  <a:solidFill>
                                    <a:schemeClr val="tx1"/>
                                  </a:solidFill>
                                  <a:latin typeface="Cambria Math" panose="02040503050406030204" pitchFamily="18" charset="0"/>
                                  <a:ea typeface="Cambria Math" panose="02040503050406030204" pitchFamily="18" charset="0"/>
                                </a:rPr>
                                <m:t>𝐴</m:t>
                              </m:r>
                            </m:sub>
                          </m:sSub>
                          <m:r>
                            <a:rPr lang="en-NZ" altLang="ja-JP" sz="1600" b="0" i="1" smtClean="0">
                              <a:solidFill>
                                <a:schemeClr val="tx1"/>
                              </a:solidFill>
                              <a:latin typeface="Cambria Math" panose="02040503050406030204" pitchFamily="18" charset="0"/>
                              <a:ea typeface="Cambria Math" panose="02040503050406030204" pitchFamily="18" charset="0"/>
                            </a:rPr>
                            <m:t>  +  </m:t>
                          </m:r>
                          <m:sSub>
                            <m:sSubPr>
                              <m:ctrlPr>
                                <a:rPr lang="en-NZ" altLang="ja-JP" sz="1600" b="0" i="1" smtClean="0">
                                  <a:solidFill>
                                    <a:schemeClr val="tx1"/>
                                  </a:solidFill>
                                  <a:latin typeface="Cambria Math" panose="02040503050406030204" pitchFamily="18" charset="0"/>
                                  <a:ea typeface="Cambria Math" panose="02040503050406030204" pitchFamily="18" charset="0"/>
                                </a:rPr>
                              </m:ctrlPr>
                            </m:sSubPr>
                            <m:e>
                              <m:r>
                                <a:rPr lang="en-NZ" altLang="ja-JP" sz="1600" b="0" i="1" smtClean="0">
                                  <a:solidFill>
                                    <a:schemeClr val="tx1"/>
                                  </a:solidFill>
                                  <a:latin typeface="Cambria Math" panose="02040503050406030204" pitchFamily="18" charset="0"/>
                                  <a:ea typeface="Cambria Math" panose="02040503050406030204" pitchFamily="18" charset="0"/>
                                </a:rPr>
                                <m:t>𝑛</m:t>
                              </m:r>
                            </m:e>
                            <m:sub>
                              <m:r>
                                <a:rPr lang="en-NZ" altLang="ja-JP" sz="1600" b="0" i="1" smtClean="0">
                                  <a:solidFill>
                                    <a:schemeClr val="tx1"/>
                                  </a:solidFill>
                                  <a:latin typeface="Cambria Math" panose="02040503050406030204" pitchFamily="18" charset="0"/>
                                  <a:ea typeface="Cambria Math" panose="02040503050406030204" pitchFamily="18" charset="0"/>
                                </a:rPr>
                                <m:t>𝐵</m:t>
                              </m:r>
                            </m:sub>
                          </m:sSub>
                          <m:r>
                            <a:rPr lang="en-NZ" altLang="ja-JP" sz="1600" b="0" i="1" smtClean="0">
                              <a:solidFill>
                                <a:schemeClr val="tx1"/>
                              </a:solidFill>
                              <a:latin typeface="Cambria Math" panose="02040503050406030204" pitchFamily="18" charset="0"/>
                              <a:ea typeface="Cambria Math" panose="02040503050406030204" pitchFamily="18" charset="0"/>
                            </a:rPr>
                            <m:t>  −  2</m:t>
                          </m:r>
                        </m:sub>
                      </m:sSub>
                    </m:oMath>
                  </m:oMathPara>
                </a14:m>
                <a:endParaRPr lang="en-NZ" altLang="ja-JP" sz="1600" dirty="0">
                  <a:solidFill>
                    <a:schemeClr val="tx1"/>
                  </a:solidFill>
                </a:endParaRPr>
              </a:p>
            </p:txBody>
          </p:sp>
        </mc:Choice>
        <mc:Fallback xmlns="">
          <p:sp>
            <p:nvSpPr>
              <p:cNvPr id="20" name="Text Placeholder 5">
                <a:extLst>
                  <a:ext uri="{FF2B5EF4-FFF2-40B4-BE49-F238E27FC236}">
                    <a16:creationId xmlns:a16="http://schemas.microsoft.com/office/drawing/2014/main" id="{C208FA19-5B52-4B0E-9A0B-D1C271250460}"/>
                  </a:ext>
                </a:extLst>
              </p:cNvPr>
              <p:cNvSpPr txBox="1">
                <a:spLocks noRot="1" noChangeAspect="1" noMove="1" noResize="1" noEditPoints="1" noAdjustHandles="1" noChangeArrowheads="1" noChangeShapeType="1" noTextEdit="1"/>
              </p:cNvSpPr>
              <p:nvPr/>
            </p:nvSpPr>
            <p:spPr>
              <a:xfrm>
                <a:off x="3536902" y="4516146"/>
                <a:ext cx="3539463" cy="695961"/>
              </a:xfrm>
              <a:prstGeom prst="rect">
                <a:avLst/>
              </a:prstGeom>
              <a:blipFill>
                <a:blip r:embed="rId3"/>
                <a:stretch>
                  <a:fillRect b="-1578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B391F625-8F22-46BE-BFE6-8842DB2D22C0}"/>
              </a:ext>
            </a:extLst>
          </p:cNvPr>
          <p:cNvSpPr txBox="1">
            <a:spLocks/>
          </p:cNvSpPr>
          <p:nvPr/>
        </p:nvSpPr>
        <p:spPr>
          <a:xfrm>
            <a:off x="7250980" y="4642113"/>
            <a:ext cx="99405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600" dirty="0">
                <a:solidFill>
                  <a:schemeClr val="tx1"/>
                </a:solidFill>
              </a:rPr>
              <a:t>where</a:t>
            </a:r>
            <a:endParaRPr lang="en-US" altLang="ja-JP" sz="1600" b="1" i="1" dirty="0">
              <a:solidFill>
                <a:schemeClr val="tx1"/>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7985A4EA-510F-4EA5-8530-D4CE850A5E1E}"/>
                  </a:ext>
                </a:extLst>
              </p:cNvPr>
              <p:cNvSpPr txBox="1">
                <a:spLocks/>
              </p:cNvSpPr>
              <p:nvPr/>
            </p:nvSpPr>
            <p:spPr>
              <a:xfrm>
                <a:off x="8419653" y="4516145"/>
                <a:ext cx="3539462"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p>
                        <m:sSupPr>
                          <m:ctrlPr>
                            <a:rPr lang="en-NZ" altLang="ja-JP" sz="1600" b="0" i="1" smtClean="0">
                              <a:solidFill>
                                <a:schemeClr val="tx1"/>
                              </a:solidFill>
                              <a:latin typeface="Cambria Math" panose="02040503050406030204" pitchFamily="18" charset="0"/>
                            </a:rPr>
                          </m:ctrlPr>
                        </m:sSupPr>
                        <m:e>
                          <m:r>
                            <a:rPr lang="en-NZ" altLang="ja-JP" sz="1600" i="1" smtClean="0">
                              <a:solidFill>
                                <a:schemeClr val="tx1"/>
                              </a:solidFill>
                              <a:latin typeface="Cambria Math" panose="02040503050406030204" pitchFamily="18" charset="0"/>
                            </a:rPr>
                            <m:t>𝑠</m:t>
                          </m:r>
                        </m:e>
                        <m:sup>
                          <m:r>
                            <a:rPr lang="en-NZ" altLang="ja-JP" sz="1600" b="0" i="1" smtClean="0">
                              <a:solidFill>
                                <a:schemeClr val="tx1"/>
                              </a:solidFill>
                              <a:latin typeface="Cambria Math" panose="02040503050406030204" pitchFamily="18" charset="0"/>
                            </a:rPr>
                            <m:t>2</m:t>
                          </m:r>
                        </m:sup>
                      </m:sSup>
                      <m:r>
                        <a:rPr lang="en-NZ" altLang="ja-JP" sz="1600" b="0" i="1" smtClean="0">
                          <a:solidFill>
                            <a:schemeClr val="tx1"/>
                          </a:solidFill>
                          <a:latin typeface="Cambria Math" panose="02040503050406030204" pitchFamily="18" charset="0"/>
                        </a:rPr>
                        <m:t> =  </m:t>
                      </m:r>
                      <m:f>
                        <m:fPr>
                          <m:ctrlPr>
                            <a:rPr lang="en-NZ" altLang="ja-JP" sz="1600" b="0" i="1" smtClean="0">
                              <a:solidFill>
                                <a:schemeClr val="tx1"/>
                              </a:solidFill>
                              <a:latin typeface="Cambria Math" panose="02040503050406030204" pitchFamily="18" charset="0"/>
                            </a:rPr>
                          </m:ctrlPr>
                        </m:fPr>
                        <m:num>
                          <m:d>
                            <m:dPr>
                              <m:ctrlPr>
                                <a:rPr lang="en-NZ" altLang="ja-JP" sz="1600" b="0" i="1" smtClean="0">
                                  <a:solidFill>
                                    <a:schemeClr val="tx1"/>
                                  </a:solidFill>
                                  <a:latin typeface="Cambria Math" panose="02040503050406030204" pitchFamily="18" charset="0"/>
                                </a:rPr>
                              </m:ctrlPr>
                            </m:dP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𝐴</m:t>
                                  </m:r>
                                </m:sub>
                              </m:sSub>
                              <m:r>
                                <a:rPr lang="en-NZ" altLang="ja-JP" sz="1600" b="0" i="1" smtClean="0">
                                  <a:solidFill>
                                    <a:schemeClr val="tx1"/>
                                  </a:solidFill>
                                  <a:latin typeface="Cambria Math" panose="02040503050406030204" pitchFamily="18" charset="0"/>
                                </a:rPr>
                                <m:t> −1</m:t>
                              </m:r>
                            </m:e>
                          </m:d>
                          <m:sSubSup>
                            <m:sSubSupPr>
                              <m:ctrlPr>
                                <a:rPr lang="en-NZ" altLang="ja-JP" sz="1600" b="0" i="1" smtClean="0">
                                  <a:solidFill>
                                    <a:schemeClr val="tx1"/>
                                  </a:solidFill>
                                  <a:latin typeface="Cambria Math" panose="02040503050406030204" pitchFamily="18" charset="0"/>
                                </a:rPr>
                              </m:ctrlPr>
                            </m:sSubSupPr>
                            <m:e>
                              <m:r>
                                <a:rPr lang="en-NZ" altLang="ja-JP" sz="1600" b="0" i="1" smtClean="0">
                                  <a:solidFill>
                                    <a:schemeClr val="tx1"/>
                                  </a:solidFill>
                                  <a:latin typeface="Cambria Math" panose="02040503050406030204" pitchFamily="18" charset="0"/>
                                </a:rPr>
                                <m:t>𝑠</m:t>
                              </m:r>
                            </m:e>
                            <m:sub>
                              <m:r>
                                <a:rPr lang="en-NZ" altLang="ja-JP" sz="1600" b="0" i="1" smtClean="0">
                                  <a:solidFill>
                                    <a:schemeClr val="tx1"/>
                                  </a:solidFill>
                                  <a:latin typeface="Cambria Math" panose="02040503050406030204" pitchFamily="18" charset="0"/>
                                </a:rPr>
                                <m:t>𝐴</m:t>
                              </m:r>
                            </m:sub>
                            <m:sup>
                              <m:r>
                                <a:rPr lang="en-NZ" altLang="ja-JP" sz="1600" b="0" i="1" smtClean="0">
                                  <a:solidFill>
                                    <a:schemeClr val="tx1"/>
                                  </a:solidFill>
                                  <a:latin typeface="Cambria Math" panose="02040503050406030204" pitchFamily="18" charset="0"/>
                                </a:rPr>
                                <m:t>2</m:t>
                              </m:r>
                            </m:sup>
                          </m:sSubSup>
                          <m:r>
                            <a:rPr lang="en-NZ" altLang="ja-JP" sz="1600" b="0" i="1" smtClean="0">
                              <a:solidFill>
                                <a:schemeClr val="tx1"/>
                              </a:solidFill>
                              <a:latin typeface="Cambria Math" panose="02040503050406030204" pitchFamily="18" charset="0"/>
                            </a:rPr>
                            <m:t> +</m:t>
                          </m:r>
                          <m:d>
                            <m:dPr>
                              <m:ctrlPr>
                                <a:rPr lang="en-NZ" altLang="ja-JP" sz="1600" i="1">
                                  <a:solidFill>
                                    <a:schemeClr val="tx1"/>
                                  </a:solidFill>
                                  <a:latin typeface="Cambria Math" panose="02040503050406030204" pitchFamily="18" charset="0"/>
                                </a:rPr>
                              </m:ctrlPr>
                            </m:d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𝐵</m:t>
                                  </m:r>
                                </m:sub>
                              </m:sSub>
                              <m:r>
                                <a:rPr lang="en-NZ" altLang="ja-JP" sz="1600" i="1">
                                  <a:solidFill>
                                    <a:schemeClr val="tx1"/>
                                  </a:solidFill>
                                  <a:latin typeface="Cambria Math" panose="02040503050406030204" pitchFamily="18" charset="0"/>
                                </a:rPr>
                                <m:t> −1</m:t>
                              </m:r>
                            </m:e>
                          </m:d>
                          <m:sSubSup>
                            <m:sSubSupPr>
                              <m:ctrlPr>
                                <a:rPr lang="en-NZ" altLang="ja-JP" sz="1600" i="1">
                                  <a:solidFill>
                                    <a:schemeClr val="tx1"/>
                                  </a:solidFill>
                                  <a:latin typeface="Cambria Math" panose="02040503050406030204" pitchFamily="18" charset="0"/>
                                </a:rPr>
                              </m:ctrlPr>
                            </m:sSubSupPr>
                            <m:e>
                              <m:r>
                                <a:rPr lang="en-NZ" altLang="ja-JP" sz="1600" i="1">
                                  <a:solidFill>
                                    <a:schemeClr val="tx1"/>
                                  </a:solidFill>
                                  <a:latin typeface="Cambria Math" panose="02040503050406030204" pitchFamily="18" charset="0"/>
                                </a:rPr>
                                <m:t>𝑠</m:t>
                              </m:r>
                            </m:e>
                            <m:sub>
                              <m:r>
                                <a:rPr lang="en-NZ" altLang="ja-JP" sz="1600" b="0" i="1" smtClean="0">
                                  <a:solidFill>
                                    <a:schemeClr val="tx1"/>
                                  </a:solidFill>
                                  <a:latin typeface="Cambria Math" panose="02040503050406030204" pitchFamily="18" charset="0"/>
                                </a:rPr>
                                <m:t>𝐵</m:t>
                              </m:r>
                            </m:sub>
                            <m:sup>
                              <m:r>
                                <a:rPr lang="en-NZ" altLang="ja-JP" sz="1600" i="1">
                                  <a:solidFill>
                                    <a:schemeClr val="tx1"/>
                                  </a:solidFill>
                                  <a:latin typeface="Cambria Math" panose="02040503050406030204" pitchFamily="18" charset="0"/>
                                </a:rPr>
                                <m:t>2</m:t>
                              </m:r>
                            </m:sup>
                          </m:sSubSup>
                        </m:num>
                        <m:den>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𝐴</m:t>
                              </m:r>
                            </m:sub>
                          </m:sSub>
                          <m:r>
                            <a:rPr lang="en-NZ" altLang="ja-JP" sz="1600" b="0" i="1" smtClean="0">
                              <a:solidFill>
                                <a:schemeClr val="tx1"/>
                              </a:solidFill>
                              <a:latin typeface="Cambria Math" panose="02040503050406030204" pitchFamily="18" charset="0"/>
                            </a:rPr>
                            <m:t> + </m:t>
                          </m:r>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𝑛</m:t>
                              </m:r>
                            </m:e>
                            <m:sub>
                              <m:r>
                                <a:rPr lang="en-NZ" altLang="ja-JP" sz="1600" b="0" i="1" smtClean="0">
                                  <a:solidFill>
                                    <a:schemeClr val="tx1"/>
                                  </a:solidFill>
                                  <a:latin typeface="Cambria Math" panose="02040503050406030204" pitchFamily="18" charset="0"/>
                                </a:rPr>
                                <m:t>𝐵</m:t>
                              </m:r>
                            </m:sub>
                          </m:sSub>
                          <m:r>
                            <a:rPr lang="en-NZ" altLang="ja-JP" sz="1600" b="0" i="1" smtClean="0">
                              <a:solidFill>
                                <a:schemeClr val="tx1"/>
                              </a:solidFill>
                              <a:latin typeface="Cambria Math" panose="02040503050406030204" pitchFamily="18" charset="0"/>
                            </a:rPr>
                            <m:t> −2</m:t>
                          </m:r>
                        </m:den>
                      </m:f>
                    </m:oMath>
                  </m:oMathPara>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7985A4EA-510F-4EA5-8530-D4CE850A5E1E}"/>
                  </a:ext>
                </a:extLst>
              </p:cNvPr>
              <p:cNvSpPr txBox="1">
                <a:spLocks noRot="1" noChangeAspect="1" noMove="1" noResize="1" noEditPoints="1" noAdjustHandles="1" noChangeArrowheads="1" noChangeShapeType="1" noTextEdit="1"/>
              </p:cNvSpPr>
              <p:nvPr/>
            </p:nvSpPr>
            <p:spPr>
              <a:xfrm>
                <a:off x="8419653" y="4516145"/>
                <a:ext cx="3539462" cy="695961"/>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F3D5DE5D-AC30-4A6A-8C4F-2570F1C03BC1}"/>
                  </a:ext>
                </a:extLst>
              </p:cNvPr>
              <p:cNvSpPr txBox="1">
                <a:spLocks/>
              </p:cNvSpPr>
              <p:nvPr/>
            </p:nvSpPr>
            <p:spPr>
              <a:xfrm>
                <a:off x="3502926" y="5535447"/>
                <a:ext cx="8076063" cy="8664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chemeClr val="tx1"/>
                    </a:solidFill>
                  </a:rPr>
                  <a:t>We calculate </a:t>
                </a:r>
                <a:r>
                  <a:rPr lang="en-US" altLang="ja-JP" sz="1600" b="1" dirty="0" err="1">
                    <a:solidFill>
                      <a:schemeClr val="tx1"/>
                    </a:solidFill>
                  </a:rPr>
                  <a:t>t</a:t>
                </a:r>
                <a:r>
                  <a:rPr lang="en-US" altLang="ja-JP" sz="1600" b="1" baseline="-25000" dirty="0" err="1">
                    <a:solidFill>
                      <a:schemeClr val="tx1"/>
                    </a:solidFill>
                  </a:rPr>
                  <a:t>obs</a:t>
                </a:r>
                <a:r>
                  <a:rPr lang="en-US" altLang="ja-JP" sz="1600" b="1" dirty="0">
                    <a:solidFill>
                      <a:schemeClr val="tx1"/>
                    </a:solidFill>
                  </a:rPr>
                  <a:t> = -4.9013 </a:t>
                </a:r>
                <a:r>
                  <a:rPr lang="en-US" altLang="ja-JP" sz="1600" dirty="0">
                    <a:solidFill>
                      <a:schemeClr val="tx1"/>
                    </a:solidFill>
                  </a:rPr>
                  <a:t>and look at where this lies in terms of the </a:t>
                </a:r>
                <a14:m>
                  <m:oMath xmlns:m="http://schemas.openxmlformats.org/officeDocument/2006/math">
                    <m:sSub>
                      <m:sSubPr>
                        <m:ctrlPr>
                          <a:rPr lang="en-NZ" altLang="ja-JP" sz="1600" b="0" i="1" smtClean="0">
                            <a:solidFill>
                              <a:schemeClr val="tx1"/>
                            </a:solidFill>
                            <a:latin typeface="Cambria Math" panose="02040503050406030204" pitchFamily="18" charset="0"/>
                            <a:ea typeface="Cambria Math" panose="02040503050406030204" pitchFamily="18" charset="0"/>
                          </a:rPr>
                        </m:ctrlPr>
                      </m:sSubPr>
                      <m:e>
                        <m:r>
                          <a:rPr lang="en-NZ" altLang="ja-JP" sz="1600" b="0" i="1" smtClean="0">
                            <a:solidFill>
                              <a:schemeClr val="tx1"/>
                            </a:solidFill>
                            <a:latin typeface="Cambria Math" panose="02040503050406030204" pitchFamily="18" charset="0"/>
                            <a:ea typeface="Cambria Math" panose="02040503050406030204" pitchFamily="18" charset="0"/>
                          </a:rPr>
                          <m:t>𝑇</m:t>
                        </m:r>
                      </m:e>
                      <m:sub>
                        <m:r>
                          <a:rPr lang="en-NZ" altLang="ja-JP" sz="1600" b="0" i="1" smtClean="0">
                            <a:solidFill>
                              <a:schemeClr val="tx1"/>
                            </a:solidFill>
                            <a:latin typeface="Cambria Math" panose="02040503050406030204" pitchFamily="18" charset="0"/>
                            <a:ea typeface="Cambria Math" panose="02040503050406030204" pitchFamily="18" charset="0"/>
                          </a:rPr>
                          <m:t>1998</m:t>
                        </m:r>
                      </m:sub>
                    </m:sSub>
                  </m:oMath>
                </a14:m>
                <a:r>
                  <a:rPr lang="en-US" altLang="ja-JP" sz="1600" dirty="0">
                    <a:solidFill>
                      <a:schemeClr val="tx1"/>
                    </a:solidFill>
                  </a:rPr>
                  <a:t> distribution.</a:t>
                </a:r>
              </a:p>
              <a:p>
                <a:pPr algn="just">
                  <a:lnSpc>
                    <a:spcPct val="100000"/>
                  </a:lnSpc>
                </a:pPr>
                <a:r>
                  <a:rPr lang="en-US" altLang="ja-JP" sz="1600" dirty="0">
                    <a:solidFill>
                      <a:schemeClr val="tx1"/>
                    </a:solidFill>
                  </a:rPr>
                  <a:t>The p-value for this test is &lt; 0.001</a:t>
                </a:r>
              </a:p>
              <a:p>
                <a:pPr algn="just">
                  <a:lnSpc>
                    <a:spcPct val="100000"/>
                  </a:lnSpc>
                </a:pPr>
                <a:r>
                  <a:rPr lang="en-US" altLang="ja-JP" sz="1600" dirty="0">
                    <a:solidFill>
                      <a:schemeClr val="tx1"/>
                    </a:solidFill>
                  </a:rPr>
                  <a:t>=&gt; Very strong evidence against the null hypothesis </a:t>
                </a:r>
                <a:endParaRPr lang="en-US" altLang="ja-JP" sz="1600" b="1" i="1" dirty="0">
                  <a:solidFill>
                    <a:schemeClr val="tx1"/>
                  </a:solidFill>
                </a:endParaRPr>
              </a:p>
            </p:txBody>
          </p:sp>
        </mc:Choice>
        <mc:Fallback xmlns="">
          <p:sp>
            <p:nvSpPr>
              <p:cNvPr id="23" name="Text Placeholder 5">
                <a:extLst>
                  <a:ext uri="{FF2B5EF4-FFF2-40B4-BE49-F238E27FC236}">
                    <a16:creationId xmlns:a16="http://schemas.microsoft.com/office/drawing/2014/main" id="{F3D5DE5D-AC30-4A6A-8C4F-2570F1C03BC1}"/>
                  </a:ext>
                </a:extLst>
              </p:cNvPr>
              <p:cNvSpPr txBox="1">
                <a:spLocks noRot="1" noChangeAspect="1" noMove="1" noResize="1" noEditPoints="1" noAdjustHandles="1" noChangeArrowheads="1" noChangeShapeType="1" noTextEdit="1"/>
              </p:cNvSpPr>
              <p:nvPr/>
            </p:nvSpPr>
            <p:spPr>
              <a:xfrm>
                <a:off x="3502926" y="5535447"/>
                <a:ext cx="8076063" cy="866407"/>
              </a:xfrm>
              <a:prstGeom prst="rect">
                <a:avLst/>
              </a:prstGeom>
              <a:blipFill>
                <a:blip r:embed="rId5"/>
                <a:stretch>
                  <a:fillRect l="-453" t="-2113" b="-4225"/>
                </a:stretch>
              </a:blipFill>
            </p:spPr>
            <p:txBody>
              <a:bodyPr/>
              <a:lstStyle/>
              <a:p>
                <a:r>
                  <a:rPr lang="en-NZ">
                    <a:noFill/>
                  </a:rPr>
                  <a:t> </a:t>
                </a:r>
              </a:p>
            </p:txBody>
          </p:sp>
        </mc:Fallback>
      </mc:AlternateContent>
      <p:sp>
        <p:nvSpPr>
          <p:cNvPr id="16" name="Slide Number Placeholder 3">
            <a:extLst>
              <a:ext uri="{FF2B5EF4-FFF2-40B4-BE49-F238E27FC236}">
                <a16:creationId xmlns:a16="http://schemas.microsoft.com/office/drawing/2014/main" id="{A4637D46-A4F4-4494-AAA1-3F93907BAD14}"/>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a:t>
            </a:fld>
            <a:endParaRPr kumimoji="1" lang="ja-JP" altLang="en-US" dirty="0">
              <a:solidFill>
                <a:srgbClr val="575454">
                  <a:lumMod val="20000"/>
                  <a:lumOff val="80000"/>
                </a:srgbClr>
              </a:solidFill>
              <a:latin typeface="Coo Hew"/>
            </a:endParaRPr>
          </a:p>
        </p:txBody>
      </p:sp>
      <p:sp>
        <p:nvSpPr>
          <p:cNvPr id="17" name="Text Placeholder 5">
            <a:extLst>
              <a:ext uri="{FF2B5EF4-FFF2-40B4-BE49-F238E27FC236}">
                <a16:creationId xmlns:a16="http://schemas.microsoft.com/office/drawing/2014/main" id="{C8E20780-4AC6-EB60-8D4A-933E15EB5A3D}"/>
              </a:ext>
            </a:extLst>
          </p:cNvPr>
          <p:cNvSpPr txBox="1">
            <a:spLocks/>
          </p:cNvSpPr>
          <p:nvPr/>
        </p:nvSpPr>
        <p:spPr>
          <a:xfrm>
            <a:off x="409433" y="865506"/>
            <a:ext cx="11327642" cy="10315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A group of researchers are interested in whether the mean IQs of students studying various degrees differ. They take a sample of 1,000 Chemistry students and 1,000 Statistics students and make them sit an IQ test. The data pertaining to this experiment is contained in the csv file entitled 'IQ Tests (Chemistry &amp; Statistics)’. A snapshot is shown below</a:t>
            </a:r>
            <a:endParaRPr lang="en-US" altLang="ja-JP" sz="1800" dirty="0">
              <a:solidFill>
                <a:srgbClr val="0070C0"/>
              </a:solidFill>
            </a:endParaRPr>
          </a:p>
        </p:txBody>
      </p:sp>
    </p:spTree>
    <p:extLst>
      <p:ext uri="{BB962C8B-B14F-4D97-AF65-F5344CB8AC3E}">
        <p14:creationId xmlns:p14="http://schemas.microsoft.com/office/powerpoint/2010/main" val="405747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0CBDB8-415E-4897-9818-A8C2B0BBC266}"/>
              </a:ext>
            </a:extLst>
          </p:cNvPr>
          <p:cNvPicPr>
            <a:picLocks noChangeAspect="1"/>
          </p:cNvPicPr>
          <p:nvPr/>
        </p:nvPicPr>
        <p:blipFill>
          <a:blip r:embed="rId2"/>
          <a:stretch>
            <a:fillRect/>
          </a:stretch>
        </p:blipFill>
        <p:spPr>
          <a:xfrm>
            <a:off x="5896970" y="2135350"/>
            <a:ext cx="5580952" cy="3857143"/>
          </a:xfrm>
          <a:prstGeom prst="rect">
            <a:avLst/>
          </a:prstGeom>
        </p:spPr>
      </p:pic>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976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A group of researchers are interested in whether the mean IQs of students studying different degrees differ. They take a sample of 1,000 Art, Biology, Chemistry, Philosophy and Statistics students and make them sit an IQ test. A snapshot of the results is shown below:</a:t>
            </a:r>
            <a:endParaRPr lang="en-US" altLang="ja-JP" sz="1800" dirty="0">
              <a:solidFill>
                <a:srgbClr val="0070C0"/>
              </a:solidFill>
            </a:endParaRPr>
          </a:p>
        </p:txBody>
      </p:sp>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2.1b – The Problem of Multiple Testing:</a:t>
            </a:r>
            <a:endParaRPr lang="ja-JP" altLang="en-US" b="1" u="sng" dirty="0">
              <a:latin typeface="+mn-lt"/>
            </a:endParaRPr>
          </a:p>
        </p:txBody>
      </p:sp>
      <p:graphicFrame>
        <p:nvGraphicFramePr>
          <p:cNvPr id="6" name="Table 5">
            <a:extLst>
              <a:ext uri="{FF2B5EF4-FFF2-40B4-BE49-F238E27FC236}">
                <a16:creationId xmlns:a16="http://schemas.microsoft.com/office/drawing/2014/main" id="{28393A69-0B7A-48CE-AB17-94E0C54FF37F}"/>
              </a:ext>
            </a:extLst>
          </p:cNvPr>
          <p:cNvGraphicFramePr>
            <a:graphicFrameLocks noGrp="1"/>
          </p:cNvGraphicFramePr>
          <p:nvPr>
            <p:extLst>
              <p:ext uri="{D42A27DB-BD31-4B8C-83A1-F6EECF244321}">
                <p14:modId xmlns:p14="http://schemas.microsoft.com/office/powerpoint/2010/main" val="2123807797"/>
              </p:ext>
            </p:extLst>
          </p:nvPr>
        </p:nvGraphicFramePr>
        <p:xfrm>
          <a:off x="532263" y="2003698"/>
          <a:ext cx="5112130" cy="4457700"/>
        </p:xfrm>
        <a:graphic>
          <a:graphicData uri="http://schemas.openxmlformats.org/drawingml/2006/table">
            <a:tbl>
              <a:tblPr/>
              <a:tblGrid>
                <a:gridCol w="839953">
                  <a:extLst>
                    <a:ext uri="{9D8B030D-6E8A-4147-A177-3AD203B41FA5}">
                      <a16:colId xmlns:a16="http://schemas.microsoft.com/office/drawing/2014/main" val="2290176556"/>
                    </a:ext>
                  </a:extLst>
                </a:gridCol>
                <a:gridCol w="696463">
                  <a:extLst>
                    <a:ext uri="{9D8B030D-6E8A-4147-A177-3AD203B41FA5}">
                      <a16:colId xmlns:a16="http://schemas.microsoft.com/office/drawing/2014/main" val="2815517956"/>
                    </a:ext>
                  </a:extLst>
                </a:gridCol>
                <a:gridCol w="887105">
                  <a:extLst>
                    <a:ext uri="{9D8B030D-6E8A-4147-A177-3AD203B41FA5}">
                      <a16:colId xmlns:a16="http://schemas.microsoft.com/office/drawing/2014/main" val="1903702345"/>
                    </a:ext>
                  </a:extLst>
                </a:gridCol>
                <a:gridCol w="968991">
                  <a:extLst>
                    <a:ext uri="{9D8B030D-6E8A-4147-A177-3AD203B41FA5}">
                      <a16:colId xmlns:a16="http://schemas.microsoft.com/office/drawing/2014/main" val="810638113"/>
                    </a:ext>
                  </a:extLst>
                </a:gridCol>
                <a:gridCol w="928048">
                  <a:extLst>
                    <a:ext uri="{9D8B030D-6E8A-4147-A177-3AD203B41FA5}">
                      <a16:colId xmlns:a16="http://schemas.microsoft.com/office/drawing/2014/main" val="857308638"/>
                    </a:ext>
                  </a:extLst>
                </a:gridCol>
                <a:gridCol w="791570">
                  <a:extLst>
                    <a:ext uri="{9D8B030D-6E8A-4147-A177-3AD203B41FA5}">
                      <a16:colId xmlns:a16="http://schemas.microsoft.com/office/drawing/2014/main" val="4138880677"/>
                    </a:ext>
                  </a:extLst>
                </a:gridCol>
              </a:tblGrid>
              <a:tr h="201578">
                <a:tc>
                  <a:txBody>
                    <a:bodyPr/>
                    <a:lstStyle/>
                    <a:p>
                      <a:pPr algn="ctr" fontAlgn="b"/>
                      <a:r>
                        <a:rPr lang="en-NZ" sz="1400" b="1" i="0" u="none" strike="noStrike">
                          <a:solidFill>
                            <a:srgbClr val="FFFFFF"/>
                          </a:solidFill>
                          <a:effectLst/>
                          <a:latin typeface="Calibri" panose="020F0502020204030204" pitchFamily="34" charset="0"/>
                        </a:rPr>
                        <a:t>Student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Art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273914221"/>
                  </a:ext>
                </a:extLst>
              </a:tr>
              <a:tr h="201578">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90940709"/>
                  </a:ext>
                </a:extLst>
              </a:tr>
              <a:tr h="201578">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11734305"/>
                  </a:ext>
                </a:extLst>
              </a:tr>
              <a:tr h="201578">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35157223"/>
                  </a:ext>
                </a:extLst>
              </a:tr>
              <a:tr h="201578">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70711240"/>
                  </a:ext>
                </a:extLst>
              </a:tr>
              <a:tr h="201578">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69988802"/>
                  </a:ext>
                </a:extLst>
              </a:tr>
              <a:tr h="201578">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91709888"/>
                  </a:ext>
                </a:extLst>
              </a:tr>
              <a:tr h="201578">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32494788"/>
                  </a:ext>
                </a:extLst>
              </a:tr>
              <a:tr h="201578">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7758159"/>
                  </a:ext>
                </a:extLst>
              </a:tr>
              <a:tr h="201578">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880423"/>
                  </a:ext>
                </a:extLst>
              </a:tr>
              <a:tr h="201578">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32983865"/>
                  </a:ext>
                </a:extLst>
              </a:tr>
              <a:tr h="201578">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2414132"/>
                  </a:ext>
                </a:extLst>
              </a:tr>
              <a:tr h="201578">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42805783"/>
                  </a:ext>
                </a:extLst>
              </a:tr>
              <a:tr h="201578">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07454382"/>
                  </a:ext>
                </a:extLst>
              </a:tr>
              <a:tr h="201578">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33894883"/>
                  </a:ext>
                </a:extLst>
              </a:tr>
              <a:tr h="201578">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82969852"/>
                  </a:ext>
                </a:extLst>
              </a:tr>
              <a:tr h="201578">
                <a:tc>
                  <a:txBody>
                    <a:bodyPr/>
                    <a:lstStyle/>
                    <a:p>
                      <a:pPr algn="ctr" fontAlgn="b"/>
                      <a:r>
                        <a:rPr lang="en-NZ" sz="14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54645854"/>
                  </a:ext>
                </a:extLst>
              </a:tr>
              <a:tr h="201578">
                <a:tc>
                  <a:txBody>
                    <a:bodyPr/>
                    <a:lstStyle/>
                    <a:p>
                      <a:pPr algn="ctr" fontAlgn="b"/>
                      <a:r>
                        <a:rPr lang="en-NZ" sz="14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206710553"/>
                  </a:ext>
                </a:extLst>
              </a:tr>
              <a:tr h="201578">
                <a:tc>
                  <a:txBody>
                    <a:bodyPr/>
                    <a:lstStyle/>
                    <a:p>
                      <a:pPr algn="ctr" fontAlgn="b"/>
                      <a:r>
                        <a:rPr lang="en-NZ" sz="14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914487"/>
                  </a:ext>
                </a:extLst>
              </a:tr>
              <a:tr h="201578">
                <a:tc>
                  <a:txBody>
                    <a:bodyPr/>
                    <a:lstStyle/>
                    <a:p>
                      <a:pPr algn="ctr" fontAlgn="b"/>
                      <a:r>
                        <a:rPr lang="en-NZ"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374082989"/>
                  </a:ext>
                </a:extLst>
              </a:tr>
            </a:tbl>
          </a:graphicData>
        </a:graphic>
      </p:graphicFrame>
      <p:sp>
        <p:nvSpPr>
          <p:cNvPr id="16" name="Text Placeholder 5">
            <a:extLst>
              <a:ext uri="{FF2B5EF4-FFF2-40B4-BE49-F238E27FC236}">
                <a16:creationId xmlns:a16="http://schemas.microsoft.com/office/drawing/2014/main" id="{FA4ED09E-B65D-4B75-AD86-D0367FBE8184}"/>
              </a:ext>
            </a:extLst>
          </p:cNvPr>
          <p:cNvSpPr txBox="1">
            <a:spLocks/>
          </p:cNvSpPr>
          <p:nvPr/>
        </p:nvSpPr>
        <p:spPr>
          <a:xfrm>
            <a:off x="5896970" y="1862922"/>
            <a:ext cx="5405650"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Do students studying different degrees have different mean IQs?</a:t>
            </a:r>
            <a:endParaRPr lang="en-US" altLang="ja-JP" sz="1800" dirty="0">
              <a:solidFill>
                <a:srgbClr val="0070C0"/>
              </a:solidFill>
            </a:endParaRPr>
          </a:p>
        </p:txBody>
      </p:sp>
      <p:sp>
        <p:nvSpPr>
          <p:cNvPr id="17" name="Text Placeholder 5">
            <a:extLst>
              <a:ext uri="{FF2B5EF4-FFF2-40B4-BE49-F238E27FC236}">
                <a16:creationId xmlns:a16="http://schemas.microsoft.com/office/drawing/2014/main" id="{4265A4CA-92CE-45D7-9919-3D2C7BBF2019}"/>
              </a:ext>
            </a:extLst>
          </p:cNvPr>
          <p:cNvSpPr txBox="1">
            <a:spLocks/>
          </p:cNvSpPr>
          <p:nvPr/>
        </p:nvSpPr>
        <p:spPr>
          <a:xfrm>
            <a:off x="6078785" y="5970508"/>
            <a:ext cx="5580952" cy="6297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800" b="1" dirty="0">
                <a:solidFill>
                  <a:schemeClr val="tx1"/>
                </a:solidFill>
              </a:rPr>
              <a:t>Why can’t we just do (</a:t>
            </a:r>
            <a:r>
              <a:rPr lang="en-US" altLang="ja-JP" sz="1800" b="1" baseline="30000" dirty="0">
                <a:solidFill>
                  <a:schemeClr val="tx1"/>
                </a:solidFill>
              </a:rPr>
              <a:t>5</a:t>
            </a:r>
            <a:r>
              <a:rPr lang="en-US" altLang="ja-JP" sz="1800" b="1" dirty="0">
                <a:solidFill>
                  <a:schemeClr val="tx1"/>
                </a:solidFill>
              </a:rPr>
              <a:t>C</a:t>
            </a:r>
            <a:r>
              <a:rPr lang="en-US" altLang="ja-JP" sz="1800" b="1" baseline="-25000" dirty="0">
                <a:solidFill>
                  <a:schemeClr val="tx1"/>
                </a:solidFill>
              </a:rPr>
              <a:t>2</a:t>
            </a:r>
            <a:r>
              <a:rPr lang="en-US" altLang="ja-JP" sz="1800" b="1" dirty="0">
                <a:solidFill>
                  <a:schemeClr val="tx1"/>
                </a:solidFill>
              </a:rPr>
              <a:t>) = 10 two sample t-tests?</a:t>
            </a: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5</a:t>
            </a:fld>
            <a:endParaRPr kumimoji="1" lang="ja-JP" altLang="en-US" dirty="0">
              <a:solidFill>
                <a:srgbClr val="575454">
                  <a:lumMod val="20000"/>
                  <a:lumOff val="80000"/>
                </a:srgbClr>
              </a:solidFill>
              <a:latin typeface="Coo Hew"/>
            </a:endParaRPr>
          </a:p>
        </p:txBody>
      </p:sp>
      <p:sp>
        <p:nvSpPr>
          <p:cNvPr id="10" name="Footer Placeholder 2">
            <a:extLst>
              <a:ext uri="{FF2B5EF4-FFF2-40B4-BE49-F238E27FC236}">
                <a16:creationId xmlns:a16="http://schemas.microsoft.com/office/drawing/2014/main" id="{0FC0177F-21C3-58D8-AAD3-B1CED8228CFD}"/>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2.1 – Motivation for ANOVA</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148406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2.1b – The Problem of Multiple Testing:</a:t>
            </a:r>
            <a:endParaRPr lang="ja-JP" altLang="en-US" b="1" u="sng" dirty="0">
              <a:latin typeface="+mn-lt"/>
            </a:endParaRPr>
          </a:p>
        </p:txBody>
      </p:sp>
      <p:sp>
        <p:nvSpPr>
          <p:cNvPr id="9" name="Text Placeholder 5">
            <a:extLst>
              <a:ext uri="{FF2B5EF4-FFF2-40B4-BE49-F238E27FC236}">
                <a16:creationId xmlns:a16="http://schemas.microsoft.com/office/drawing/2014/main" id="{63BD541C-AE22-4B93-B5FC-2E8307F10068}"/>
              </a:ext>
            </a:extLst>
          </p:cNvPr>
          <p:cNvSpPr txBox="1">
            <a:spLocks/>
          </p:cNvSpPr>
          <p:nvPr/>
        </p:nvSpPr>
        <p:spPr>
          <a:xfrm>
            <a:off x="251224" y="977363"/>
            <a:ext cx="11598200" cy="6297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Suppose you have a total of </a:t>
            </a:r>
            <a:r>
              <a:rPr lang="en-US" altLang="ja-JP" sz="1800" b="1" i="1" dirty="0">
                <a:solidFill>
                  <a:schemeClr val="tx1"/>
                </a:solidFill>
              </a:rPr>
              <a:t>k</a:t>
            </a:r>
            <a:r>
              <a:rPr lang="en-US" altLang="ja-JP" sz="1800" dirty="0">
                <a:solidFill>
                  <a:schemeClr val="tx1"/>
                </a:solidFill>
              </a:rPr>
              <a:t> population groups that are independent, normally distributed and have equal variance.</a:t>
            </a:r>
          </a:p>
          <a:p>
            <a:pPr algn="just">
              <a:lnSpc>
                <a:spcPct val="100000"/>
              </a:lnSpc>
            </a:pPr>
            <a:r>
              <a:rPr lang="en-US" altLang="ja-JP" sz="1800" dirty="0">
                <a:solidFill>
                  <a:schemeClr val="tx1"/>
                </a:solidFill>
              </a:rPr>
              <a:t>Suppose you are interested in whether or not the means of these </a:t>
            </a:r>
            <a:r>
              <a:rPr lang="en-US" altLang="ja-JP" sz="1800" b="1" i="1" dirty="0">
                <a:solidFill>
                  <a:schemeClr val="tx1"/>
                </a:solidFill>
              </a:rPr>
              <a:t>k</a:t>
            </a:r>
            <a:r>
              <a:rPr lang="en-US" altLang="ja-JP" sz="1800" dirty="0">
                <a:solidFill>
                  <a:schemeClr val="tx1"/>
                </a:solidFill>
              </a:rPr>
              <a:t> groups differ.</a:t>
            </a:r>
          </a:p>
        </p:txBody>
      </p:sp>
      <p:sp>
        <p:nvSpPr>
          <p:cNvPr id="10" name="Text Placeholder 5">
            <a:extLst>
              <a:ext uri="{FF2B5EF4-FFF2-40B4-BE49-F238E27FC236}">
                <a16:creationId xmlns:a16="http://schemas.microsoft.com/office/drawing/2014/main" id="{168E02FA-A5CB-453C-BAE5-6F2DD22B8706}"/>
              </a:ext>
            </a:extLst>
          </p:cNvPr>
          <p:cNvSpPr txBox="1">
            <a:spLocks/>
          </p:cNvSpPr>
          <p:nvPr/>
        </p:nvSpPr>
        <p:spPr>
          <a:xfrm>
            <a:off x="251224" y="1739464"/>
            <a:ext cx="11598200" cy="6297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You </a:t>
            </a:r>
            <a:r>
              <a:rPr lang="en-US" altLang="ja-JP" sz="1800" i="1" dirty="0">
                <a:solidFill>
                  <a:schemeClr val="tx1"/>
                </a:solidFill>
              </a:rPr>
              <a:t>could</a:t>
            </a:r>
            <a:r>
              <a:rPr lang="en-US" altLang="ja-JP" sz="1800" dirty="0">
                <a:solidFill>
                  <a:schemeClr val="tx1"/>
                </a:solidFill>
              </a:rPr>
              <a:t> attempt to answer this by conducting </a:t>
            </a:r>
            <a:r>
              <a:rPr lang="en-US" altLang="ja-JP" sz="1800" b="1" dirty="0">
                <a:solidFill>
                  <a:schemeClr val="tx1"/>
                </a:solidFill>
              </a:rPr>
              <a:t>(</a:t>
            </a:r>
            <a:r>
              <a:rPr lang="en-US" altLang="ja-JP" sz="1800" b="1" baseline="30000" dirty="0">
                <a:solidFill>
                  <a:schemeClr val="tx1"/>
                </a:solidFill>
              </a:rPr>
              <a:t>k</a:t>
            </a:r>
            <a:r>
              <a:rPr lang="en-US" altLang="ja-JP" sz="1800" b="1" dirty="0">
                <a:solidFill>
                  <a:schemeClr val="tx1"/>
                </a:solidFill>
              </a:rPr>
              <a:t>C</a:t>
            </a:r>
            <a:r>
              <a:rPr lang="en-US" altLang="ja-JP" sz="1800" b="1" baseline="-25000" dirty="0">
                <a:solidFill>
                  <a:schemeClr val="tx1"/>
                </a:solidFill>
              </a:rPr>
              <a:t>2</a:t>
            </a:r>
            <a:r>
              <a:rPr lang="en-US" altLang="ja-JP" sz="1800" b="1" dirty="0">
                <a:solidFill>
                  <a:schemeClr val="tx1"/>
                </a:solidFill>
              </a:rPr>
              <a:t>) </a:t>
            </a:r>
            <a:r>
              <a:rPr lang="en-US" altLang="ja-JP" sz="1800" dirty="0">
                <a:solidFill>
                  <a:schemeClr val="tx1"/>
                </a:solidFill>
              </a:rPr>
              <a:t>two sample t-tests. </a:t>
            </a:r>
          </a:p>
          <a:p>
            <a:pPr algn="just">
              <a:lnSpc>
                <a:spcPct val="100000"/>
              </a:lnSpc>
            </a:pPr>
            <a:r>
              <a:rPr lang="en-US" altLang="ja-JP" sz="1800" dirty="0">
                <a:solidFill>
                  <a:schemeClr val="tx1"/>
                </a:solidFill>
              </a:rPr>
              <a:t>However, the probability of incurring a Type I error in at least one of these t-tests would be very high</a:t>
            </a:r>
          </a:p>
        </p:txBody>
      </p:sp>
      <p:sp>
        <p:nvSpPr>
          <p:cNvPr id="11" name="Text Placeholder 5">
            <a:extLst>
              <a:ext uri="{FF2B5EF4-FFF2-40B4-BE49-F238E27FC236}">
                <a16:creationId xmlns:a16="http://schemas.microsoft.com/office/drawing/2014/main" id="{B6A667E6-68B7-4DA1-B000-B5E3A5381F3E}"/>
              </a:ext>
            </a:extLst>
          </p:cNvPr>
          <p:cNvSpPr txBox="1">
            <a:spLocks/>
          </p:cNvSpPr>
          <p:nvPr/>
        </p:nvSpPr>
        <p:spPr>
          <a:xfrm>
            <a:off x="660657" y="2636279"/>
            <a:ext cx="5030460" cy="7163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Let </a:t>
            </a:r>
            <a:r>
              <a:rPr lang="en-US" altLang="ja-JP" sz="1800" b="1" i="1" dirty="0">
                <a:solidFill>
                  <a:schemeClr val="tx1"/>
                </a:solidFill>
              </a:rPr>
              <a:t>X</a:t>
            </a:r>
            <a:r>
              <a:rPr lang="en-US" altLang="ja-JP" sz="1800" dirty="0">
                <a:solidFill>
                  <a:schemeClr val="tx1"/>
                </a:solidFill>
              </a:rPr>
              <a:t> = # of Type I errors incurred at the </a:t>
            </a:r>
            <a:r>
              <a:rPr lang="el-GR" altLang="ja-JP" sz="1800" b="1" i="1" dirty="0">
                <a:solidFill>
                  <a:schemeClr val="tx1"/>
                </a:solidFill>
              </a:rPr>
              <a:t>α</a:t>
            </a:r>
            <a:r>
              <a:rPr lang="en-NZ" altLang="ja-JP" sz="1800" b="1" i="1" dirty="0">
                <a:solidFill>
                  <a:schemeClr val="tx1"/>
                </a:solidFill>
              </a:rPr>
              <a:t>% </a:t>
            </a:r>
            <a:r>
              <a:rPr lang="en-NZ" altLang="ja-JP" sz="1800" dirty="0">
                <a:solidFill>
                  <a:schemeClr val="tx1"/>
                </a:solidFill>
              </a:rPr>
              <a:t>level </a:t>
            </a:r>
            <a:br>
              <a:rPr lang="en-NZ" altLang="ja-JP" sz="1800" dirty="0">
                <a:solidFill>
                  <a:schemeClr val="tx1"/>
                </a:solidFill>
              </a:rPr>
            </a:br>
            <a:r>
              <a:rPr lang="en-NZ" altLang="ja-JP" sz="1800" dirty="0">
                <a:solidFill>
                  <a:schemeClr val="tx1"/>
                </a:solidFill>
              </a:rPr>
              <a:t>in </a:t>
            </a:r>
            <a:r>
              <a:rPr lang="en-US" altLang="ja-JP" sz="1800" b="1" dirty="0">
                <a:solidFill>
                  <a:schemeClr val="tx1"/>
                </a:solidFill>
              </a:rPr>
              <a:t>(</a:t>
            </a:r>
            <a:r>
              <a:rPr lang="en-US" altLang="ja-JP" sz="1800" b="1" baseline="30000" dirty="0">
                <a:solidFill>
                  <a:schemeClr val="tx1"/>
                </a:solidFill>
              </a:rPr>
              <a:t>k</a:t>
            </a:r>
            <a:r>
              <a:rPr lang="en-US" altLang="ja-JP" sz="1800" b="1" dirty="0">
                <a:solidFill>
                  <a:schemeClr val="tx1"/>
                </a:solidFill>
              </a:rPr>
              <a:t>C</a:t>
            </a:r>
            <a:r>
              <a:rPr lang="en-US" altLang="ja-JP" sz="1800" b="1" baseline="-25000" dirty="0">
                <a:solidFill>
                  <a:schemeClr val="tx1"/>
                </a:solidFill>
              </a:rPr>
              <a:t>2</a:t>
            </a:r>
            <a:r>
              <a:rPr lang="en-US" altLang="ja-JP" sz="1800" b="1" dirty="0">
                <a:solidFill>
                  <a:schemeClr val="tx1"/>
                </a:solidFill>
              </a:rPr>
              <a:t>)</a:t>
            </a:r>
            <a:r>
              <a:rPr lang="en-US" altLang="ja-JP" sz="1800" dirty="0">
                <a:solidFill>
                  <a:schemeClr val="tx1"/>
                </a:solidFill>
              </a:rPr>
              <a:t> two sample t-tests</a:t>
            </a:r>
          </a:p>
        </p:txBody>
      </p:sp>
      <p:sp>
        <p:nvSpPr>
          <p:cNvPr id="12" name="Text Placeholder 5">
            <a:extLst>
              <a:ext uri="{FF2B5EF4-FFF2-40B4-BE49-F238E27FC236}">
                <a16:creationId xmlns:a16="http://schemas.microsoft.com/office/drawing/2014/main" id="{D86428F6-10FB-49A6-9587-C884BE732C26}"/>
              </a:ext>
            </a:extLst>
          </p:cNvPr>
          <p:cNvSpPr txBox="1">
            <a:spLocks/>
          </p:cNvSpPr>
          <p:nvPr/>
        </p:nvSpPr>
        <p:spPr>
          <a:xfrm>
            <a:off x="899492" y="3429000"/>
            <a:ext cx="4791625" cy="13290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bg2">
                    <a:lumMod val="25000"/>
                  </a:schemeClr>
                </a:solidFill>
              </a:rPr>
              <a:t>Fixed number of trials </a:t>
            </a:r>
            <a:r>
              <a:rPr lang="en-US" altLang="ja-JP" sz="1400" dirty="0">
                <a:solidFill>
                  <a:schemeClr val="bg2">
                    <a:lumMod val="25000"/>
                  </a:schemeClr>
                </a:solidFill>
              </a:rPr>
              <a:t>(</a:t>
            </a:r>
            <a:r>
              <a:rPr lang="en-US" altLang="ja-JP" sz="1400" baseline="30000" dirty="0">
                <a:solidFill>
                  <a:schemeClr val="bg2">
                    <a:lumMod val="25000"/>
                  </a:schemeClr>
                </a:solidFill>
              </a:rPr>
              <a:t>k</a:t>
            </a:r>
            <a:r>
              <a:rPr lang="en-US" altLang="ja-JP" sz="1400" dirty="0">
                <a:solidFill>
                  <a:schemeClr val="bg2">
                    <a:lumMod val="25000"/>
                  </a:schemeClr>
                </a:solidFill>
              </a:rPr>
              <a:t>C</a:t>
            </a:r>
            <a:r>
              <a:rPr lang="en-US" altLang="ja-JP" sz="1400" baseline="-25000" dirty="0">
                <a:solidFill>
                  <a:schemeClr val="bg2">
                    <a:lumMod val="25000"/>
                  </a:schemeClr>
                </a:solidFill>
              </a:rPr>
              <a:t>2</a:t>
            </a:r>
            <a:r>
              <a:rPr lang="en-US" altLang="ja-JP" sz="1400" dirty="0">
                <a:solidFill>
                  <a:schemeClr val="bg2">
                    <a:lumMod val="25000"/>
                  </a:schemeClr>
                </a:solidFill>
              </a:rPr>
              <a:t>)</a:t>
            </a:r>
          </a:p>
          <a:p>
            <a:pPr algn="just">
              <a:lnSpc>
                <a:spcPct val="100000"/>
              </a:lnSpc>
            </a:pPr>
            <a:r>
              <a:rPr lang="en-US" altLang="ja-JP" sz="1400" dirty="0">
                <a:solidFill>
                  <a:schemeClr val="bg2">
                    <a:lumMod val="25000"/>
                  </a:schemeClr>
                </a:solidFill>
              </a:rPr>
              <a:t>Two outcomes: either you get a Type I error, or you don’t</a:t>
            </a:r>
          </a:p>
          <a:p>
            <a:pPr algn="just">
              <a:lnSpc>
                <a:spcPct val="100000"/>
              </a:lnSpc>
            </a:pPr>
            <a:r>
              <a:rPr lang="en-US" altLang="ja-JP" sz="1400" dirty="0">
                <a:solidFill>
                  <a:schemeClr val="bg2">
                    <a:lumMod val="25000"/>
                  </a:schemeClr>
                </a:solidFill>
              </a:rPr>
              <a:t>P(Type I Error) = </a:t>
            </a:r>
            <a:r>
              <a:rPr lang="el-GR" altLang="ja-JP" sz="1400" dirty="0">
                <a:solidFill>
                  <a:schemeClr val="bg2">
                    <a:lumMod val="25000"/>
                  </a:schemeClr>
                </a:solidFill>
              </a:rPr>
              <a:t>α</a:t>
            </a:r>
            <a:r>
              <a:rPr lang="en-NZ" altLang="ja-JP" sz="1400" dirty="0">
                <a:solidFill>
                  <a:schemeClr val="bg2">
                    <a:lumMod val="25000"/>
                  </a:schemeClr>
                </a:solidFill>
              </a:rPr>
              <a:t> is constant in each trial</a:t>
            </a:r>
          </a:p>
          <a:p>
            <a:pPr algn="just">
              <a:lnSpc>
                <a:spcPct val="100000"/>
              </a:lnSpc>
            </a:pPr>
            <a:r>
              <a:rPr lang="en-NZ" altLang="ja-JP" sz="1400" dirty="0">
                <a:solidFill>
                  <a:schemeClr val="bg2">
                    <a:lumMod val="25000"/>
                  </a:schemeClr>
                </a:solidFill>
              </a:rPr>
              <a:t>Trials are independent</a:t>
            </a:r>
            <a:r>
              <a:rPr lang="en-US" altLang="ja-JP" sz="1400" dirty="0">
                <a:solidFill>
                  <a:schemeClr val="bg2">
                    <a:lumMod val="25000"/>
                  </a:schemeClr>
                </a:solidFill>
              </a:rPr>
              <a:t> </a:t>
            </a:r>
            <a:r>
              <a:rPr lang="en-NZ" altLang="ja-JP" sz="1400" dirty="0">
                <a:solidFill>
                  <a:schemeClr val="bg2">
                    <a:lumMod val="25000"/>
                  </a:schemeClr>
                </a:solidFill>
              </a:rPr>
              <a:t>  </a:t>
            </a:r>
            <a:endParaRPr lang="en-US" altLang="ja-JP" sz="1400" dirty="0">
              <a:solidFill>
                <a:schemeClr val="bg2">
                  <a:lumMod val="25000"/>
                </a:schemeClr>
              </a:solidFill>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32D97DD6-513A-4DDD-8766-601C4DF118B8}"/>
                  </a:ext>
                </a:extLst>
              </p:cNvPr>
              <p:cNvSpPr txBox="1">
                <a:spLocks/>
              </p:cNvSpPr>
              <p:nvPr/>
            </p:nvSpPr>
            <p:spPr>
              <a:xfrm>
                <a:off x="6625728" y="3352585"/>
                <a:ext cx="2940077" cy="4836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=&gt;  </a:t>
                </a:r>
                <a:r>
                  <a:rPr lang="en-NZ" altLang="ja-JP" sz="1800" b="1" dirty="0">
                    <a:solidFill>
                      <a:schemeClr val="tx1"/>
                    </a:solidFill>
                  </a:rPr>
                  <a:t> </a:t>
                </a:r>
                <a14:m>
                  <m:oMath xmlns:m="http://schemas.openxmlformats.org/officeDocument/2006/math">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𝑩𝒊𝒏</m:t>
                    </m:r>
                    <m:r>
                      <a:rPr lang="en-NZ" altLang="ja-JP" sz="1800" b="1" i="1" smtClean="0">
                        <a:solidFill>
                          <a:schemeClr val="tx1"/>
                        </a:solidFill>
                        <a:latin typeface="Cambria Math" panose="02040503050406030204" pitchFamily="18" charset="0"/>
                      </a:rPr>
                      <m:t> ( </m:t>
                    </m:r>
                    <m:r>
                      <m:rPr>
                        <m:nor/>
                      </m:rPr>
                      <a:rPr lang="en-US" altLang="ja-JP" sz="1800" b="1" dirty="0">
                        <a:solidFill>
                          <a:schemeClr val="tx1"/>
                        </a:solidFill>
                      </a:rPr>
                      <m:t>(</m:t>
                    </m:r>
                    <m:r>
                      <m:rPr>
                        <m:nor/>
                      </m:rPr>
                      <a:rPr lang="en-US" altLang="ja-JP" sz="1800" b="1" baseline="30000" dirty="0">
                        <a:solidFill>
                          <a:schemeClr val="tx1"/>
                        </a:solidFill>
                      </a:rPr>
                      <m:t>k</m:t>
                    </m:r>
                    <m:r>
                      <m:rPr>
                        <m:nor/>
                      </m:rPr>
                      <a:rPr lang="en-US" altLang="ja-JP" sz="1800" b="1" dirty="0">
                        <a:solidFill>
                          <a:schemeClr val="tx1"/>
                        </a:solidFill>
                      </a:rPr>
                      <m:t>C</m:t>
                    </m:r>
                    <m:r>
                      <m:rPr>
                        <m:nor/>
                      </m:rPr>
                      <a:rPr lang="en-US" altLang="ja-JP" sz="1800" b="1" baseline="-25000" dirty="0">
                        <a:solidFill>
                          <a:schemeClr val="tx1"/>
                        </a:solidFill>
                      </a:rPr>
                      <m:t>2</m:t>
                    </m:r>
                    <m:r>
                      <m:rPr>
                        <m:nor/>
                      </m:rPr>
                      <a:rPr lang="en-US" altLang="ja-JP" sz="1800" b="1" dirty="0">
                        <a:solidFill>
                          <a:schemeClr val="tx1"/>
                        </a:solidFill>
                      </a:rPr>
                      <m:t>)</m:t>
                    </m:r>
                    <m:r>
                      <m:rPr>
                        <m:nor/>
                      </m:rPr>
                      <a:rPr lang="en-NZ" altLang="ja-JP" sz="1800" b="1" dirty="0" smtClean="0">
                        <a:solidFill>
                          <a:schemeClr val="tx1"/>
                        </a:solidFill>
                      </a:rPr>
                      <m:t> </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m:t>
                    </m:r>
                  </m:oMath>
                </a14:m>
                <a:r>
                  <a:rPr lang="en-NZ" altLang="ja-JP" sz="1800" b="1" i="1" dirty="0">
                    <a:solidFill>
                      <a:schemeClr val="tx1"/>
                    </a:solidFill>
                  </a:rPr>
                  <a:t> </a:t>
                </a:r>
                <a:endParaRPr lang="en-US" altLang="ja-JP" sz="1800" b="1" i="1" dirty="0">
                  <a:solidFill>
                    <a:schemeClr val="tx1"/>
                  </a:solidFill>
                </a:endParaRPr>
              </a:p>
            </p:txBody>
          </p:sp>
        </mc:Choice>
        <mc:Fallback xmlns="">
          <p:sp>
            <p:nvSpPr>
              <p:cNvPr id="13" name="Text Placeholder 5">
                <a:extLst>
                  <a:ext uri="{FF2B5EF4-FFF2-40B4-BE49-F238E27FC236}">
                    <a16:creationId xmlns:a16="http://schemas.microsoft.com/office/drawing/2014/main" id="{32D97DD6-513A-4DDD-8766-601C4DF118B8}"/>
                  </a:ext>
                </a:extLst>
              </p:cNvPr>
              <p:cNvSpPr txBox="1">
                <a:spLocks noRot="1" noChangeAspect="1" noMove="1" noResize="1" noEditPoints="1" noAdjustHandles="1" noChangeArrowheads="1" noChangeShapeType="1" noTextEdit="1"/>
              </p:cNvSpPr>
              <p:nvPr/>
            </p:nvSpPr>
            <p:spPr>
              <a:xfrm>
                <a:off x="6625728" y="3352585"/>
                <a:ext cx="2940077" cy="483684"/>
              </a:xfrm>
              <a:prstGeom prst="rect">
                <a:avLst/>
              </a:prstGeom>
              <a:blipFill>
                <a:blip r:embed="rId2"/>
                <a:stretch>
                  <a:fillRect l="-1867" t="-7595"/>
                </a:stretch>
              </a:blipFill>
            </p:spPr>
            <p:txBody>
              <a:bodyPr/>
              <a:lstStyle/>
              <a:p>
                <a:r>
                  <a:rPr lang="en-NZ">
                    <a:noFill/>
                  </a:rPr>
                  <a:t> </a:t>
                </a:r>
              </a:p>
            </p:txBody>
          </p:sp>
        </mc:Fallback>
      </mc:AlternateContent>
      <p:sp>
        <p:nvSpPr>
          <p:cNvPr id="2" name="Right Brace 1">
            <a:extLst>
              <a:ext uri="{FF2B5EF4-FFF2-40B4-BE49-F238E27FC236}">
                <a16:creationId xmlns:a16="http://schemas.microsoft.com/office/drawing/2014/main" id="{83384FF9-A73A-4C06-9687-B0A25D761077}"/>
              </a:ext>
            </a:extLst>
          </p:cNvPr>
          <p:cNvSpPr/>
          <p:nvPr/>
        </p:nvSpPr>
        <p:spPr>
          <a:xfrm>
            <a:off x="6096000" y="2784143"/>
            <a:ext cx="404885" cy="14466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5" name="Text Placeholder 5">
            <a:extLst>
              <a:ext uri="{FF2B5EF4-FFF2-40B4-BE49-F238E27FC236}">
                <a16:creationId xmlns:a16="http://schemas.microsoft.com/office/drawing/2014/main" id="{A849CF91-5986-4CA7-9BA3-665C7AEF9707}"/>
              </a:ext>
            </a:extLst>
          </p:cNvPr>
          <p:cNvSpPr txBox="1">
            <a:spLocks/>
          </p:cNvSpPr>
          <p:nvPr/>
        </p:nvSpPr>
        <p:spPr>
          <a:xfrm>
            <a:off x="251224" y="4690570"/>
            <a:ext cx="4238889" cy="4199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800" dirty="0">
                <a:solidFill>
                  <a:schemeClr val="tx1"/>
                </a:solidFill>
              </a:rPr>
              <a:t>Probability of at least one Type I error:</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B8D5F880-2894-4525-94C1-34A2319F7A78}"/>
                  </a:ext>
                </a:extLst>
              </p:cNvPr>
              <p:cNvSpPr txBox="1">
                <a:spLocks/>
              </p:cNvSpPr>
              <p:nvPr/>
            </p:nvSpPr>
            <p:spPr>
              <a:xfrm>
                <a:off x="660657" y="5161773"/>
                <a:ext cx="3160716" cy="4199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𝑷</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𝑷</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𝑿</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e>
                      </m:d>
                    </m:oMath>
                  </m:oMathPara>
                </a14:m>
                <a:endParaRPr lang="en-US" altLang="ja-JP" sz="1800" b="1" dirty="0">
                  <a:solidFill>
                    <a:schemeClr val="tx1"/>
                  </a:solidFill>
                </a:endParaRPr>
              </a:p>
            </p:txBody>
          </p:sp>
        </mc:Choice>
        <mc:Fallback xmlns="">
          <p:sp>
            <p:nvSpPr>
              <p:cNvPr id="18" name="Text Placeholder 5">
                <a:extLst>
                  <a:ext uri="{FF2B5EF4-FFF2-40B4-BE49-F238E27FC236}">
                    <a16:creationId xmlns:a16="http://schemas.microsoft.com/office/drawing/2014/main" id="{B8D5F880-2894-4525-94C1-34A2319F7A78}"/>
                  </a:ext>
                </a:extLst>
              </p:cNvPr>
              <p:cNvSpPr txBox="1">
                <a:spLocks noRot="1" noChangeAspect="1" noMove="1" noResize="1" noEditPoints="1" noAdjustHandles="1" noChangeArrowheads="1" noChangeShapeType="1" noTextEdit="1"/>
              </p:cNvSpPr>
              <p:nvPr/>
            </p:nvSpPr>
            <p:spPr>
              <a:xfrm>
                <a:off x="660657" y="5161773"/>
                <a:ext cx="3160716" cy="419965"/>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CD124132-8E86-4CFB-ACD5-72AC4C169791}"/>
                  </a:ext>
                </a:extLst>
              </p:cNvPr>
              <p:cNvSpPr txBox="1">
                <a:spLocks/>
              </p:cNvSpPr>
              <p:nvPr/>
            </p:nvSpPr>
            <p:spPr>
              <a:xfrm>
                <a:off x="1665025" y="5501624"/>
                <a:ext cx="3916907" cy="9495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 </m:t>
                      </m:r>
                      <m:d>
                        <m:dPr>
                          <m:ctrlPr>
                            <a:rPr lang="en-NZ" altLang="ja-JP" sz="1800" b="1" i="1" smtClean="0">
                              <a:solidFill>
                                <a:schemeClr val="tx1"/>
                              </a:solidFill>
                              <a:latin typeface="Cambria Math" panose="02040503050406030204" pitchFamily="18" charset="0"/>
                            </a:rPr>
                          </m:ctrlPr>
                        </m:dPr>
                        <m:e>
                          <m:m>
                            <m:mPr>
                              <m:mcs>
                                <m:mc>
                                  <m:mcPr>
                                    <m:count m:val="1"/>
                                    <m:mcJc m:val="center"/>
                                  </m:mcPr>
                                </m:mc>
                              </m:mcs>
                              <m:ctrlPr>
                                <a:rPr lang="en-NZ" altLang="ja-JP" sz="1800" b="1" i="1" smtClean="0">
                                  <a:solidFill>
                                    <a:schemeClr val="tx1"/>
                                  </a:solidFill>
                                  <a:latin typeface="Cambria Math" panose="02040503050406030204" pitchFamily="18" charset="0"/>
                                </a:rPr>
                              </m:ctrlPr>
                            </m:mPr>
                            <m:mr>
                              <m:e>
                                <m:r>
                                  <m:rPr>
                                    <m:nor/>
                                  </m:rPr>
                                  <a:rPr lang="en-US" altLang="ja-JP" sz="1800" b="1" dirty="0">
                                    <a:solidFill>
                                      <a:schemeClr val="tx1"/>
                                    </a:solidFill>
                                  </a:rPr>
                                  <m:t>(</m:t>
                                </m:r>
                                <m:r>
                                  <m:rPr>
                                    <m:nor/>
                                  </m:rPr>
                                  <a:rPr lang="en-US" altLang="ja-JP" sz="1800" b="1" baseline="30000" dirty="0">
                                    <a:solidFill>
                                      <a:schemeClr val="tx1"/>
                                    </a:solidFill>
                                  </a:rPr>
                                  <m:t>k</m:t>
                                </m:r>
                                <m:r>
                                  <m:rPr>
                                    <m:nor/>
                                  </m:rPr>
                                  <a:rPr lang="en-US" altLang="ja-JP" sz="1800" b="1" dirty="0">
                                    <a:solidFill>
                                      <a:schemeClr val="tx1"/>
                                    </a:solidFill>
                                  </a:rPr>
                                  <m:t>C</m:t>
                                </m:r>
                                <m:r>
                                  <m:rPr>
                                    <m:nor/>
                                  </m:rPr>
                                  <a:rPr lang="en-US" altLang="ja-JP" sz="1800" b="1" baseline="-25000" dirty="0">
                                    <a:solidFill>
                                      <a:schemeClr val="tx1"/>
                                    </a:solidFill>
                                  </a:rPr>
                                  <m:t>2</m:t>
                                </m:r>
                                <m:r>
                                  <m:rPr>
                                    <m:nor/>
                                  </m:rPr>
                                  <a:rPr lang="en-US" altLang="ja-JP" sz="1800" b="1" dirty="0">
                                    <a:solidFill>
                                      <a:schemeClr val="tx1"/>
                                    </a:solidFill>
                                  </a:rPr>
                                  <m:t>)</m:t>
                                </m:r>
                              </m:e>
                            </m:mr>
                            <m:mr>
                              <m:e>
                                <m:r>
                                  <a:rPr lang="en-NZ" altLang="ja-JP" sz="1800" b="1" i="1" smtClean="0">
                                    <a:solidFill>
                                      <a:schemeClr val="tx1"/>
                                    </a:solidFill>
                                    <a:latin typeface="Cambria Math" panose="02040503050406030204" pitchFamily="18" charset="0"/>
                                  </a:rPr>
                                  <m:t>𝑪</m:t>
                                </m:r>
                              </m:e>
                            </m:mr>
                            <m:mr>
                              <m:e>
                                <m:r>
                                  <a:rPr lang="en-NZ" altLang="ja-JP" sz="1800" b="1" i="1" smtClean="0">
                                    <a:solidFill>
                                      <a:schemeClr val="tx1"/>
                                    </a:solidFill>
                                    <a:latin typeface="Cambria Math" panose="02040503050406030204" pitchFamily="18" charset="0"/>
                                  </a:rPr>
                                  <m:t>𝟎</m:t>
                                </m:r>
                              </m:e>
                            </m:mr>
                          </m:m>
                        </m:e>
                      </m:d>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𝜶</m:t>
                          </m:r>
                        </m:e>
                        <m:sup>
                          <m:r>
                            <a:rPr lang="en-NZ" altLang="ja-JP" sz="1800" b="1" i="1" smtClean="0">
                              <a:solidFill>
                                <a:schemeClr val="tx1"/>
                              </a:solidFill>
                              <a:latin typeface="Cambria Math" panose="02040503050406030204" pitchFamily="18" charset="0"/>
                            </a:rPr>
                            <m:t>𝟎</m:t>
                          </m:r>
                        </m:sup>
                      </m:sSup>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m:t>
                              </m:r>
                            </m:e>
                          </m:d>
                        </m:e>
                        <m:sup>
                          <m:r>
                            <m:rPr>
                              <m:nor/>
                            </m:rPr>
                            <a:rPr lang="en-US" altLang="ja-JP" sz="1800" b="1" dirty="0">
                              <a:solidFill>
                                <a:schemeClr val="tx1"/>
                              </a:solidFill>
                            </a:rPr>
                            <m:t>(</m:t>
                          </m:r>
                          <m:r>
                            <m:rPr>
                              <m:nor/>
                            </m:rPr>
                            <a:rPr lang="en-US" altLang="ja-JP" sz="1800" b="1" baseline="30000" dirty="0">
                              <a:solidFill>
                                <a:schemeClr val="tx1"/>
                              </a:solidFill>
                            </a:rPr>
                            <m:t>k</m:t>
                          </m:r>
                          <m:r>
                            <m:rPr>
                              <m:nor/>
                            </m:rPr>
                            <a:rPr lang="en-US" altLang="ja-JP" sz="1800" b="1" dirty="0">
                              <a:solidFill>
                                <a:schemeClr val="tx1"/>
                              </a:solidFill>
                            </a:rPr>
                            <m:t>C</m:t>
                          </m:r>
                          <m:r>
                            <m:rPr>
                              <m:nor/>
                            </m:rPr>
                            <a:rPr lang="en-US" altLang="ja-JP" sz="1800" b="1" baseline="-25000" dirty="0">
                              <a:solidFill>
                                <a:schemeClr val="tx1"/>
                              </a:solidFill>
                            </a:rPr>
                            <m:t>2</m:t>
                          </m:r>
                          <m:r>
                            <m:rPr>
                              <m:nor/>
                            </m:rPr>
                            <a:rPr lang="en-US" altLang="ja-JP" sz="1800" b="1" dirty="0">
                              <a:solidFill>
                                <a:schemeClr val="tx1"/>
                              </a:solidFill>
                            </a:rPr>
                            <m:t>)</m:t>
                          </m:r>
                        </m:sup>
                      </m:sSup>
                    </m:oMath>
                  </m:oMathPara>
                </a14:m>
                <a:endParaRPr lang="en-US" altLang="ja-JP" sz="1800" b="1" dirty="0">
                  <a:solidFill>
                    <a:schemeClr val="tx1"/>
                  </a:solidFill>
                </a:endParaRPr>
              </a:p>
            </p:txBody>
          </p:sp>
        </mc:Choice>
        <mc:Fallback xmlns="">
          <p:sp>
            <p:nvSpPr>
              <p:cNvPr id="19" name="Text Placeholder 5">
                <a:extLst>
                  <a:ext uri="{FF2B5EF4-FFF2-40B4-BE49-F238E27FC236}">
                    <a16:creationId xmlns:a16="http://schemas.microsoft.com/office/drawing/2014/main" id="{CD124132-8E86-4CFB-ACD5-72AC4C169791}"/>
                  </a:ext>
                </a:extLst>
              </p:cNvPr>
              <p:cNvSpPr txBox="1">
                <a:spLocks noRot="1" noChangeAspect="1" noMove="1" noResize="1" noEditPoints="1" noAdjustHandles="1" noChangeArrowheads="1" noChangeShapeType="1" noTextEdit="1"/>
              </p:cNvSpPr>
              <p:nvPr/>
            </p:nvSpPr>
            <p:spPr>
              <a:xfrm>
                <a:off x="1665025" y="5501624"/>
                <a:ext cx="3916907" cy="94951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B8175424-8147-4B58-8200-2617350E9A75}"/>
                  </a:ext>
                </a:extLst>
              </p:cNvPr>
              <p:cNvSpPr txBox="1">
                <a:spLocks/>
              </p:cNvSpPr>
              <p:nvPr/>
            </p:nvSpPr>
            <p:spPr>
              <a:xfrm>
                <a:off x="1665024" y="6252542"/>
                <a:ext cx="2511191" cy="48368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𝜶</m:t>
                              </m:r>
                              <m:r>
                                <a:rPr lang="en-NZ" altLang="ja-JP" sz="1800" b="1" i="1" smtClean="0">
                                  <a:solidFill>
                                    <a:schemeClr val="tx1"/>
                                  </a:solidFill>
                                  <a:latin typeface="Cambria Math" panose="02040503050406030204" pitchFamily="18" charset="0"/>
                                </a:rPr>
                                <m:t> </m:t>
                              </m:r>
                            </m:e>
                          </m:d>
                        </m:e>
                        <m:sup>
                          <m:r>
                            <m:rPr>
                              <m:nor/>
                            </m:rPr>
                            <a:rPr lang="en-US" altLang="ja-JP" sz="1800" b="1" dirty="0">
                              <a:solidFill>
                                <a:schemeClr val="tx1"/>
                              </a:solidFill>
                            </a:rPr>
                            <m:t>(</m:t>
                          </m:r>
                          <m:r>
                            <m:rPr>
                              <m:nor/>
                            </m:rPr>
                            <a:rPr lang="en-US" altLang="ja-JP" sz="1800" b="1" baseline="30000" dirty="0">
                              <a:solidFill>
                                <a:schemeClr val="tx1"/>
                              </a:solidFill>
                            </a:rPr>
                            <m:t>k</m:t>
                          </m:r>
                          <m:r>
                            <m:rPr>
                              <m:nor/>
                            </m:rPr>
                            <a:rPr lang="en-US" altLang="ja-JP" sz="1800" b="1" dirty="0">
                              <a:solidFill>
                                <a:schemeClr val="tx1"/>
                              </a:solidFill>
                            </a:rPr>
                            <m:t>C</m:t>
                          </m:r>
                          <m:r>
                            <m:rPr>
                              <m:nor/>
                            </m:rPr>
                            <a:rPr lang="en-US" altLang="ja-JP" sz="1800" b="1" baseline="-25000" dirty="0">
                              <a:solidFill>
                                <a:schemeClr val="tx1"/>
                              </a:solidFill>
                            </a:rPr>
                            <m:t>2</m:t>
                          </m:r>
                          <m:r>
                            <m:rPr>
                              <m:nor/>
                            </m:rPr>
                            <a:rPr lang="en-US" altLang="ja-JP" sz="1800" b="1" dirty="0">
                              <a:solidFill>
                                <a:schemeClr val="tx1"/>
                              </a:solidFill>
                            </a:rPr>
                            <m:t>)</m:t>
                          </m:r>
                        </m:sup>
                      </m:sSup>
                    </m:oMath>
                  </m:oMathPara>
                </a14:m>
                <a:endParaRPr lang="en-US" altLang="ja-JP" sz="1800" b="1" dirty="0">
                  <a:solidFill>
                    <a:schemeClr val="tx1"/>
                  </a:solidFill>
                </a:endParaRPr>
              </a:p>
            </p:txBody>
          </p:sp>
        </mc:Choice>
        <mc:Fallback xmlns="">
          <p:sp>
            <p:nvSpPr>
              <p:cNvPr id="20" name="Text Placeholder 5">
                <a:extLst>
                  <a:ext uri="{FF2B5EF4-FFF2-40B4-BE49-F238E27FC236}">
                    <a16:creationId xmlns:a16="http://schemas.microsoft.com/office/drawing/2014/main" id="{B8175424-8147-4B58-8200-2617350E9A75}"/>
                  </a:ext>
                </a:extLst>
              </p:cNvPr>
              <p:cNvSpPr txBox="1">
                <a:spLocks noRot="1" noChangeAspect="1" noMove="1" noResize="1" noEditPoints="1" noAdjustHandles="1" noChangeArrowheads="1" noChangeShapeType="1" noTextEdit="1"/>
              </p:cNvSpPr>
              <p:nvPr/>
            </p:nvSpPr>
            <p:spPr>
              <a:xfrm>
                <a:off x="1665024" y="6252542"/>
                <a:ext cx="2511191" cy="483684"/>
              </a:xfrm>
              <a:prstGeom prst="rect">
                <a:avLst/>
              </a:prstGeom>
              <a:blipFill>
                <a:blip r:embed="rId5"/>
                <a:stretch>
                  <a:fillRect/>
                </a:stretch>
              </a:blipFill>
            </p:spPr>
            <p:txBody>
              <a:bodyPr/>
              <a:lstStyle/>
              <a:p>
                <a:r>
                  <a:rPr lang="en-NZ">
                    <a:noFill/>
                  </a:rPr>
                  <a:t> </a:t>
                </a:r>
              </a:p>
            </p:txBody>
          </p:sp>
        </mc:Fallback>
      </mc:AlternateContent>
      <p:graphicFrame>
        <p:nvGraphicFramePr>
          <p:cNvPr id="22" name="Chart 21">
            <a:extLst>
              <a:ext uri="{FF2B5EF4-FFF2-40B4-BE49-F238E27FC236}">
                <a16:creationId xmlns:a16="http://schemas.microsoft.com/office/drawing/2014/main" id="{D008C94A-D0DC-4D19-89FF-16FE6CEE4125}"/>
              </a:ext>
            </a:extLst>
          </p:cNvPr>
          <p:cNvGraphicFramePr>
            <a:graphicFrameLocks/>
          </p:cNvGraphicFramePr>
          <p:nvPr>
            <p:extLst>
              <p:ext uri="{D42A27DB-BD31-4B8C-83A1-F6EECF244321}">
                <p14:modId xmlns:p14="http://schemas.microsoft.com/office/powerpoint/2010/main" val="663606060"/>
              </p:ext>
            </p:extLst>
          </p:nvPr>
        </p:nvGraphicFramePr>
        <p:xfrm>
          <a:off x="6744268" y="3998794"/>
          <a:ext cx="5196508" cy="2821871"/>
        </p:xfrm>
        <a:graphic>
          <a:graphicData uri="http://schemas.openxmlformats.org/drawingml/2006/chart">
            <c:chart xmlns:c="http://schemas.openxmlformats.org/drawingml/2006/chart" xmlns:r="http://schemas.openxmlformats.org/officeDocument/2006/relationships" r:id="rId6"/>
          </a:graphicData>
        </a:graphic>
      </p:graphicFrame>
      <p:sp>
        <p:nvSpPr>
          <p:cNvPr id="23" name="Text Placeholder 5">
            <a:extLst>
              <a:ext uri="{FF2B5EF4-FFF2-40B4-BE49-F238E27FC236}">
                <a16:creationId xmlns:a16="http://schemas.microsoft.com/office/drawing/2014/main" id="{F850CCF1-958F-457B-A3A6-78FEADC77486}"/>
              </a:ext>
            </a:extLst>
          </p:cNvPr>
          <p:cNvSpPr txBox="1">
            <a:spLocks/>
          </p:cNvSpPr>
          <p:nvPr/>
        </p:nvSpPr>
        <p:spPr>
          <a:xfrm>
            <a:off x="9300946" y="5168725"/>
            <a:ext cx="2639829" cy="7163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400" b="1" dirty="0">
                <a:solidFill>
                  <a:srgbClr val="0070C0"/>
                </a:solidFill>
              </a:rPr>
              <a:t>Previous example k=5, </a:t>
            </a:r>
            <a:r>
              <a:rPr lang="el-GR" altLang="ja-JP" sz="1400" b="1" dirty="0">
                <a:solidFill>
                  <a:srgbClr val="0070C0"/>
                </a:solidFill>
              </a:rPr>
              <a:t>α</a:t>
            </a:r>
            <a:r>
              <a:rPr lang="en-US" altLang="ja-JP" sz="1400" b="1" dirty="0">
                <a:solidFill>
                  <a:srgbClr val="0070C0"/>
                </a:solidFill>
              </a:rPr>
              <a:t>  = 0.05</a:t>
            </a:r>
          </a:p>
          <a:p>
            <a:pPr algn="just">
              <a:lnSpc>
                <a:spcPct val="100000"/>
              </a:lnSpc>
            </a:pPr>
            <a:r>
              <a:rPr lang="en-US" altLang="ja-JP" sz="1400" b="1" dirty="0">
                <a:solidFill>
                  <a:srgbClr val="0070C0"/>
                </a:solidFill>
              </a:rPr>
              <a:t>=&gt; P(X ≥ 1) = 0.401</a:t>
            </a:r>
          </a:p>
        </p:txBody>
      </p:sp>
      <p:cxnSp>
        <p:nvCxnSpPr>
          <p:cNvPr id="14" name="Straight Connector 13">
            <a:extLst>
              <a:ext uri="{FF2B5EF4-FFF2-40B4-BE49-F238E27FC236}">
                <a16:creationId xmlns:a16="http://schemas.microsoft.com/office/drawing/2014/main" id="{F1A6A30E-2B30-416B-B829-018797B86D34}"/>
              </a:ext>
            </a:extLst>
          </p:cNvPr>
          <p:cNvCxnSpPr/>
          <p:nvPr/>
        </p:nvCxnSpPr>
        <p:spPr>
          <a:xfrm flipV="1">
            <a:off x="8259167" y="5512746"/>
            <a:ext cx="0" cy="646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29DFFE4-D8A8-4A73-AB27-CB268360090D}"/>
              </a:ext>
            </a:extLst>
          </p:cNvPr>
          <p:cNvCxnSpPr>
            <a:cxnSpLocks/>
          </p:cNvCxnSpPr>
          <p:nvPr/>
        </p:nvCxnSpPr>
        <p:spPr>
          <a:xfrm>
            <a:off x="7217389" y="5526878"/>
            <a:ext cx="1041778"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Footer Placeholder 2">
            <a:extLst>
              <a:ext uri="{FF2B5EF4-FFF2-40B4-BE49-F238E27FC236}">
                <a16:creationId xmlns:a16="http://schemas.microsoft.com/office/drawing/2014/main" id="{A59204A3-7554-18A5-F048-F486A46C4C88}"/>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2.1 – Motivation for ANOVA</a:t>
            </a:r>
            <a:endParaRPr kumimoji="1" lang="ja-JP" altLang="en-US" sz="1600" dirty="0">
              <a:solidFill>
                <a:srgbClr val="DEDDDD"/>
              </a:solidFill>
              <a:latin typeface="Gidole"/>
            </a:endParaRPr>
          </a:p>
        </p:txBody>
      </p:sp>
      <p:sp>
        <p:nvSpPr>
          <p:cNvPr id="21" name="Text Placeholder 5">
            <a:extLst>
              <a:ext uri="{FF2B5EF4-FFF2-40B4-BE49-F238E27FC236}">
                <a16:creationId xmlns:a16="http://schemas.microsoft.com/office/drawing/2014/main" id="{EC4C722A-3F1B-93A3-EF8F-A605CC139BFD}"/>
              </a:ext>
            </a:extLst>
          </p:cNvPr>
          <p:cNvSpPr txBox="1">
            <a:spLocks/>
          </p:cNvSpPr>
          <p:nvPr/>
        </p:nvSpPr>
        <p:spPr>
          <a:xfrm>
            <a:off x="660657" y="2432187"/>
            <a:ext cx="5030460" cy="3041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Type I Error = Probability of rejecting the null hypothesis when it is in fact true.</a:t>
            </a:r>
          </a:p>
        </p:txBody>
      </p:sp>
    </p:spTree>
    <p:extLst>
      <p:ext uri="{BB962C8B-B14F-4D97-AF65-F5344CB8AC3E}">
        <p14:creationId xmlns:p14="http://schemas.microsoft.com/office/powerpoint/2010/main" val="8961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2" grpId="0" animBg="1"/>
      <p:bldP spid="15" grpId="0"/>
      <p:bldP spid="18" grpId="0"/>
      <p:bldP spid="19" grpId="0"/>
      <p:bldP spid="20" grpId="0"/>
      <p:bldGraphic spid="22" grpId="0">
        <p:bldAsOne/>
      </p:bldGraphic>
      <p:bldP spid="23"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2.1b – The Problem of Multiple Testing:</a:t>
            </a:r>
            <a:endParaRPr lang="ja-JP" altLang="en-US" b="1" u="sng" dirty="0">
              <a:latin typeface="+mn-lt"/>
            </a:endParaRPr>
          </a:p>
        </p:txBody>
      </p:sp>
      <p:sp>
        <p:nvSpPr>
          <p:cNvPr id="9" name="Text Placeholder 5">
            <a:extLst>
              <a:ext uri="{FF2B5EF4-FFF2-40B4-BE49-F238E27FC236}">
                <a16:creationId xmlns:a16="http://schemas.microsoft.com/office/drawing/2014/main" id="{63BD541C-AE22-4B93-B5FC-2E8307F10068}"/>
              </a:ext>
            </a:extLst>
          </p:cNvPr>
          <p:cNvSpPr txBox="1">
            <a:spLocks/>
          </p:cNvSpPr>
          <p:nvPr/>
        </p:nvSpPr>
        <p:spPr>
          <a:xfrm>
            <a:off x="608016" y="1618808"/>
            <a:ext cx="10975967" cy="40723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US" altLang="ja-JP" sz="2400" dirty="0">
                <a:solidFill>
                  <a:schemeClr val="tx1"/>
                </a:solidFill>
              </a:rPr>
              <a:t>If we want to test whether there are differences between the means of </a:t>
            </a:r>
            <a:r>
              <a:rPr lang="en-US" altLang="ja-JP" sz="2400" b="1" i="1" dirty="0">
                <a:solidFill>
                  <a:schemeClr val="tx1"/>
                </a:solidFill>
              </a:rPr>
              <a:t>k</a:t>
            </a:r>
            <a:r>
              <a:rPr lang="en-US" altLang="ja-JP" sz="2400" dirty="0">
                <a:solidFill>
                  <a:schemeClr val="tx1"/>
                </a:solidFill>
              </a:rPr>
              <a:t> population groups, we need </a:t>
            </a:r>
            <a:r>
              <a:rPr lang="en-US" altLang="ja-JP" sz="2400" b="1" dirty="0">
                <a:solidFill>
                  <a:schemeClr val="tx1"/>
                </a:solidFill>
              </a:rPr>
              <a:t>one</a:t>
            </a:r>
            <a:r>
              <a:rPr lang="en-US" altLang="ja-JP" sz="2400" dirty="0">
                <a:solidFill>
                  <a:schemeClr val="tx1"/>
                </a:solidFill>
              </a:rPr>
              <a:t> single test.</a:t>
            </a:r>
          </a:p>
          <a:p>
            <a:pPr marL="342900" indent="-342900" algn="just">
              <a:lnSpc>
                <a:spcPct val="100000"/>
              </a:lnSpc>
              <a:buFont typeface="Arial" panose="020B0604020202020204" pitchFamily="34" charset="0"/>
              <a:buChar char="•"/>
            </a:pPr>
            <a:endParaRPr lang="en-US" altLang="ja-JP" sz="2400" dirty="0">
              <a:solidFill>
                <a:schemeClr val="tx1"/>
              </a:solidFill>
            </a:endParaRPr>
          </a:p>
          <a:p>
            <a:pPr marL="342900" indent="-342900" algn="just">
              <a:lnSpc>
                <a:spcPct val="100000"/>
              </a:lnSpc>
              <a:buFont typeface="Arial" panose="020B0604020202020204" pitchFamily="34" charset="0"/>
              <a:buChar char="•"/>
            </a:pPr>
            <a:endParaRPr lang="en-US" altLang="ja-JP" sz="2400" dirty="0">
              <a:solidFill>
                <a:schemeClr val="tx1"/>
              </a:solidFill>
            </a:endParaRPr>
          </a:p>
          <a:p>
            <a:pPr marL="342900" indent="-342900" algn="just">
              <a:lnSpc>
                <a:spcPct val="100000"/>
              </a:lnSpc>
              <a:buFont typeface="Arial" panose="020B0604020202020204" pitchFamily="34" charset="0"/>
              <a:buChar char="•"/>
            </a:pPr>
            <a:r>
              <a:rPr lang="en-US" altLang="ja-JP" sz="2400" dirty="0">
                <a:solidFill>
                  <a:schemeClr val="tx1"/>
                </a:solidFill>
              </a:rPr>
              <a:t>Such a test is provided by One-Way ANOVA.</a:t>
            </a:r>
          </a:p>
          <a:p>
            <a:pPr marL="342900" indent="-342900" algn="just">
              <a:lnSpc>
                <a:spcPct val="100000"/>
              </a:lnSpc>
              <a:buFont typeface="Arial" panose="020B0604020202020204" pitchFamily="34" charset="0"/>
              <a:buChar char="•"/>
            </a:pPr>
            <a:endParaRPr lang="en-US" altLang="ja-JP" sz="2400" dirty="0">
              <a:solidFill>
                <a:schemeClr val="tx1"/>
              </a:solidFill>
            </a:endParaRPr>
          </a:p>
          <a:p>
            <a:pPr marL="342900" indent="-342900" algn="just">
              <a:lnSpc>
                <a:spcPct val="100000"/>
              </a:lnSpc>
              <a:buFont typeface="Arial" panose="020B0604020202020204" pitchFamily="34" charset="0"/>
              <a:buChar char="•"/>
            </a:pPr>
            <a:endParaRPr lang="en-US" altLang="ja-JP" sz="2400" dirty="0">
              <a:solidFill>
                <a:schemeClr val="tx1"/>
              </a:solidFill>
            </a:endParaRPr>
          </a:p>
          <a:p>
            <a:pPr marL="342900" indent="-342900" algn="just">
              <a:lnSpc>
                <a:spcPct val="100000"/>
              </a:lnSpc>
              <a:buFont typeface="Arial" panose="020B0604020202020204" pitchFamily="34" charset="0"/>
              <a:buChar char="•"/>
            </a:pPr>
            <a:r>
              <a:rPr lang="en-US" altLang="ja-JP" sz="2400" dirty="0">
                <a:solidFill>
                  <a:schemeClr val="tx1"/>
                </a:solidFill>
              </a:rPr>
              <a:t>One-way ANOVA looks at how the collection of group means is spaced out compared to how we might expect them to be spaced out if the data were all sourced from the same population (or</a:t>
            </a:r>
            <a:r>
              <a:rPr lang="en-US" altLang="ja-JP" sz="2400" b="1" i="1" dirty="0">
                <a:solidFill>
                  <a:schemeClr val="tx1"/>
                </a:solidFill>
              </a:rPr>
              <a:t> populations </a:t>
            </a:r>
            <a:r>
              <a:rPr lang="en-US" altLang="ja-JP" sz="2400" dirty="0">
                <a:solidFill>
                  <a:schemeClr val="tx1"/>
                </a:solidFill>
              </a:rPr>
              <a:t>with the same mean).</a:t>
            </a:r>
          </a:p>
        </p:txBody>
      </p:sp>
      <p:sp>
        <p:nvSpPr>
          <p:cNvPr id="21" name="Slide Number Placeholder 3">
            <a:extLst>
              <a:ext uri="{FF2B5EF4-FFF2-40B4-BE49-F238E27FC236}">
                <a16:creationId xmlns:a16="http://schemas.microsoft.com/office/drawing/2014/main" id="{8EBA12C0-B6E9-425E-A83C-8624FD5B61C4}"/>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7</a:t>
            </a:fld>
            <a:endParaRPr kumimoji="1" lang="ja-JP" altLang="en-US" dirty="0">
              <a:solidFill>
                <a:srgbClr val="575454">
                  <a:lumMod val="20000"/>
                  <a:lumOff val="80000"/>
                </a:srgbClr>
              </a:solidFill>
              <a:latin typeface="Coo Hew"/>
            </a:endParaRPr>
          </a:p>
        </p:txBody>
      </p:sp>
      <p:sp>
        <p:nvSpPr>
          <p:cNvPr id="7" name="Footer Placeholder 2">
            <a:extLst>
              <a:ext uri="{FF2B5EF4-FFF2-40B4-BE49-F238E27FC236}">
                <a16:creationId xmlns:a16="http://schemas.microsoft.com/office/drawing/2014/main" id="{D9877733-0C70-C8CF-A8DD-25F3FEED24BB}"/>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2.1 – Motivation for ANOVA</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288548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2.2 – The One-Way ANOVA Model</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975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5" name="Footer Placeholder 2">
            <a:extLst>
              <a:ext uri="{FF2B5EF4-FFF2-40B4-BE49-F238E27FC236}">
                <a16:creationId xmlns:a16="http://schemas.microsoft.com/office/drawing/2014/main" id="{B9FA4A47-38D8-4CD9-8DB0-0A5C9102BF7F}"/>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sp>
        <p:nvSpPr>
          <p:cNvPr id="6" name="Text Placeholder 5">
            <a:extLst>
              <a:ext uri="{FF2B5EF4-FFF2-40B4-BE49-F238E27FC236}">
                <a16:creationId xmlns:a16="http://schemas.microsoft.com/office/drawing/2014/main" id="{52EFA962-0208-4D38-9729-DF13F1BC5948}"/>
              </a:ext>
            </a:extLst>
          </p:cNvPr>
          <p:cNvSpPr txBox="1">
            <a:spLocks/>
          </p:cNvSpPr>
          <p:nvPr/>
        </p:nvSpPr>
        <p:spPr>
          <a:xfrm>
            <a:off x="479946" y="2483263"/>
            <a:ext cx="11232109" cy="18914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3200" dirty="0">
                <a:solidFill>
                  <a:schemeClr val="tx1"/>
                </a:solidFill>
              </a:rPr>
              <a:t>In one-way ANOVA the </a:t>
            </a:r>
            <a:r>
              <a:rPr lang="en-NZ" altLang="ja-JP" sz="3200" b="1" dirty="0">
                <a:solidFill>
                  <a:schemeClr val="tx1"/>
                </a:solidFill>
              </a:rPr>
              <a:t>response variable </a:t>
            </a:r>
            <a:r>
              <a:rPr lang="en-NZ" altLang="ja-JP" sz="3200" dirty="0">
                <a:solidFill>
                  <a:schemeClr val="tx1"/>
                </a:solidFill>
              </a:rPr>
              <a:t>Y is modelled as a function of one </a:t>
            </a:r>
            <a:r>
              <a:rPr lang="en-NZ" altLang="ja-JP" sz="3200" b="1" dirty="0">
                <a:solidFill>
                  <a:schemeClr val="tx1"/>
                </a:solidFill>
              </a:rPr>
              <a:t>factor</a:t>
            </a:r>
            <a:r>
              <a:rPr lang="en-NZ" altLang="ja-JP" sz="3200" dirty="0">
                <a:solidFill>
                  <a:schemeClr val="tx1"/>
                </a:solidFill>
              </a:rPr>
              <a:t> (independent categorical variable) that can take at least two </a:t>
            </a:r>
            <a:r>
              <a:rPr lang="en-NZ" altLang="ja-JP" sz="3200" b="1" dirty="0">
                <a:solidFill>
                  <a:schemeClr val="tx1"/>
                </a:solidFill>
              </a:rPr>
              <a:t>levels</a:t>
            </a:r>
            <a:r>
              <a:rPr lang="en-NZ" altLang="ja-JP" sz="3200" dirty="0">
                <a:solidFill>
                  <a:schemeClr val="tx1"/>
                </a:solidFill>
              </a:rPr>
              <a:t> (discrete outcomes).</a:t>
            </a:r>
          </a:p>
          <a:p>
            <a:pPr algn="just">
              <a:lnSpc>
                <a:spcPct val="100000"/>
              </a:lnSpc>
            </a:pPr>
            <a:endParaRPr lang="en-NZ" altLang="ja-JP" sz="3200" dirty="0">
              <a:solidFill>
                <a:schemeClr val="tx1"/>
              </a:solidFill>
            </a:endParaRPr>
          </a:p>
          <a:p>
            <a:pPr algn="just">
              <a:lnSpc>
                <a:spcPct val="100000"/>
              </a:lnSpc>
            </a:pPr>
            <a:endParaRPr lang="en-NZ" altLang="ja-JP" sz="3200" i="1" dirty="0">
              <a:solidFill>
                <a:srgbClr val="C00000"/>
              </a:solidFill>
            </a:endParaRPr>
          </a:p>
        </p:txBody>
      </p:sp>
      <p:sp>
        <p:nvSpPr>
          <p:cNvPr id="7" name="Slide Number Placeholder 3">
            <a:extLst>
              <a:ext uri="{FF2B5EF4-FFF2-40B4-BE49-F238E27FC236}">
                <a16:creationId xmlns:a16="http://schemas.microsoft.com/office/drawing/2014/main" id="{220EB6BA-B65D-4DAF-B04C-77E4D13F9CC2}"/>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9</a:t>
            </a:fld>
            <a:endParaRPr kumimoji="1" lang="ja-JP" altLang="en-US" dirty="0">
              <a:solidFill>
                <a:srgbClr val="575454">
                  <a:lumMod val="20000"/>
                  <a:lumOff val="80000"/>
                </a:srgbClr>
              </a:solidFill>
              <a:latin typeface="Coo Hew"/>
            </a:endParaRPr>
          </a:p>
        </p:txBody>
      </p:sp>
      <p:sp>
        <p:nvSpPr>
          <p:cNvPr id="8" name="Text Placeholder 5">
            <a:extLst>
              <a:ext uri="{FF2B5EF4-FFF2-40B4-BE49-F238E27FC236}">
                <a16:creationId xmlns:a16="http://schemas.microsoft.com/office/drawing/2014/main" id="{447B2C3C-CB96-4EF1-AC0C-81F3683A0502}"/>
              </a:ext>
            </a:extLst>
          </p:cNvPr>
          <p:cNvSpPr txBox="1">
            <a:spLocks/>
          </p:cNvSpPr>
          <p:nvPr/>
        </p:nvSpPr>
        <p:spPr>
          <a:xfrm>
            <a:off x="479945" y="4121492"/>
            <a:ext cx="4542431" cy="18914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2000" dirty="0">
                <a:solidFill>
                  <a:srgbClr val="002060"/>
                </a:solidFill>
              </a:rPr>
              <a:t>In the first example about IQ tests…</a:t>
            </a:r>
          </a:p>
          <a:p>
            <a:pPr>
              <a:lnSpc>
                <a:spcPct val="100000"/>
              </a:lnSpc>
            </a:pPr>
            <a:r>
              <a:rPr lang="en-NZ" altLang="ja-JP" sz="2000" dirty="0">
                <a:solidFill>
                  <a:srgbClr val="002060"/>
                </a:solidFill>
              </a:rPr>
              <a:t>	</a:t>
            </a:r>
            <a:r>
              <a:rPr lang="en-NZ" altLang="ja-JP" sz="2000" b="1" dirty="0">
                <a:solidFill>
                  <a:srgbClr val="002060"/>
                </a:solidFill>
              </a:rPr>
              <a:t>Response Variable</a:t>
            </a:r>
            <a:r>
              <a:rPr lang="en-NZ" altLang="ja-JP" sz="2000" dirty="0">
                <a:solidFill>
                  <a:srgbClr val="002060"/>
                </a:solidFill>
              </a:rPr>
              <a:t>: IQ </a:t>
            </a:r>
          </a:p>
          <a:p>
            <a:pPr>
              <a:lnSpc>
                <a:spcPct val="100000"/>
              </a:lnSpc>
            </a:pPr>
            <a:r>
              <a:rPr lang="en-NZ" altLang="ja-JP" sz="2000" dirty="0">
                <a:solidFill>
                  <a:srgbClr val="002060"/>
                </a:solidFill>
              </a:rPr>
              <a:t>	</a:t>
            </a:r>
            <a:r>
              <a:rPr lang="en-NZ" altLang="ja-JP" sz="2000" b="1" dirty="0">
                <a:solidFill>
                  <a:srgbClr val="002060"/>
                </a:solidFill>
              </a:rPr>
              <a:t>Factor</a:t>
            </a:r>
            <a:r>
              <a:rPr lang="en-NZ" altLang="ja-JP" sz="2000" dirty="0">
                <a:solidFill>
                  <a:srgbClr val="002060"/>
                </a:solidFill>
              </a:rPr>
              <a:t>: Course of Study</a:t>
            </a:r>
          </a:p>
          <a:p>
            <a:pPr>
              <a:lnSpc>
                <a:spcPct val="100000"/>
              </a:lnSpc>
            </a:pPr>
            <a:r>
              <a:rPr lang="en-NZ" altLang="ja-JP" sz="2000" dirty="0">
                <a:solidFill>
                  <a:srgbClr val="002060"/>
                </a:solidFill>
              </a:rPr>
              <a:t>	</a:t>
            </a:r>
            <a:r>
              <a:rPr lang="en-NZ" altLang="ja-JP" sz="2000" b="1" dirty="0">
                <a:solidFill>
                  <a:srgbClr val="002060"/>
                </a:solidFill>
              </a:rPr>
              <a:t>Levels</a:t>
            </a:r>
            <a:r>
              <a:rPr lang="en-NZ" altLang="ja-JP" sz="2000" dirty="0">
                <a:solidFill>
                  <a:srgbClr val="002060"/>
                </a:solidFill>
              </a:rPr>
              <a:t>: Chemistry and Statistics</a:t>
            </a:r>
          </a:p>
          <a:p>
            <a:pPr algn="just">
              <a:lnSpc>
                <a:spcPct val="100000"/>
              </a:lnSpc>
            </a:pPr>
            <a:endParaRPr lang="en-NZ" altLang="ja-JP" sz="2000" dirty="0">
              <a:solidFill>
                <a:srgbClr val="002060"/>
              </a:solidFill>
            </a:endParaRPr>
          </a:p>
          <a:p>
            <a:pPr algn="just">
              <a:lnSpc>
                <a:spcPct val="100000"/>
              </a:lnSpc>
            </a:pPr>
            <a:endParaRPr lang="en-NZ" altLang="ja-JP" sz="2000" i="1" dirty="0">
              <a:solidFill>
                <a:srgbClr val="002060"/>
              </a:solidFill>
            </a:endParaRPr>
          </a:p>
        </p:txBody>
      </p:sp>
      <p:sp>
        <p:nvSpPr>
          <p:cNvPr id="9" name="Text Placeholder 5">
            <a:extLst>
              <a:ext uri="{FF2B5EF4-FFF2-40B4-BE49-F238E27FC236}">
                <a16:creationId xmlns:a16="http://schemas.microsoft.com/office/drawing/2014/main" id="{4B96DDBA-489E-3C34-5DF6-E758535314F9}"/>
              </a:ext>
            </a:extLst>
          </p:cNvPr>
          <p:cNvSpPr txBox="1">
            <a:spLocks/>
          </p:cNvSpPr>
          <p:nvPr/>
        </p:nvSpPr>
        <p:spPr>
          <a:xfrm>
            <a:off x="5572835" y="4121491"/>
            <a:ext cx="6455392" cy="18914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2000" dirty="0">
                <a:solidFill>
                  <a:srgbClr val="002060"/>
                </a:solidFill>
              </a:rPr>
              <a:t>In the second example about IQ tests…</a:t>
            </a:r>
          </a:p>
          <a:p>
            <a:pPr>
              <a:lnSpc>
                <a:spcPct val="100000"/>
              </a:lnSpc>
            </a:pPr>
            <a:r>
              <a:rPr lang="en-NZ" altLang="ja-JP" sz="2000" dirty="0">
                <a:solidFill>
                  <a:srgbClr val="002060"/>
                </a:solidFill>
              </a:rPr>
              <a:t>	</a:t>
            </a:r>
            <a:r>
              <a:rPr lang="en-NZ" altLang="ja-JP" sz="2000" b="1" dirty="0">
                <a:solidFill>
                  <a:srgbClr val="002060"/>
                </a:solidFill>
              </a:rPr>
              <a:t>Response Variable</a:t>
            </a:r>
            <a:r>
              <a:rPr lang="en-NZ" altLang="ja-JP" sz="2000" dirty="0">
                <a:solidFill>
                  <a:srgbClr val="002060"/>
                </a:solidFill>
              </a:rPr>
              <a:t>: IQ </a:t>
            </a:r>
          </a:p>
          <a:p>
            <a:pPr>
              <a:lnSpc>
                <a:spcPct val="100000"/>
              </a:lnSpc>
            </a:pPr>
            <a:r>
              <a:rPr lang="en-NZ" altLang="ja-JP" sz="2000" dirty="0">
                <a:solidFill>
                  <a:srgbClr val="002060"/>
                </a:solidFill>
              </a:rPr>
              <a:t>	</a:t>
            </a:r>
            <a:r>
              <a:rPr lang="en-NZ" altLang="ja-JP" sz="2000" b="1" dirty="0">
                <a:solidFill>
                  <a:srgbClr val="002060"/>
                </a:solidFill>
              </a:rPr>
              <a:t>Factor</a:t>
            </a:r>
            <a:r>
              <a:rPr lang="en-NZ" altLang="ja-JP" sz="2000" dirty="0">
                <a:solidFill>
                  <a:srgbClr val="002060"/>
                </a:solidFill>
              </a:rPr>
              <a:t>: Course of Study</a:t>
            </a:r>
          </a:p>
          <a:p>
            <a:pPr>
              <a:lnSpc>
                <a:spcPct val="100000"/>
              </a:lnSpc>
            </a:pPr>
            <a:r>
              <a:rPr lang="en-NZ" altLang="ja-JP" sz="2000" dirty="0">
                <a:solidFill>
                  <a:srgbClr val="002060"/>
                </a:solidFill>
              </a:rPr>
              <a:t>	</a:t>
            </a:r>
            <a:r>
              <a:rPr lang="en-NZ" altLang="ja-JP" sz="2000" b="1" dirty="0">
                <a:solidFill>
                  <a:srgbClr val="002060"/>
                </a:solidFill>
              </a:rPr>
              <a:t>Levels</a:t>
            </a:r>
            <a:r>
              <a:rPr lang="en-NZ" altLang="ja-JP" sz="2000" dirty="0">
                <a:solidFill>
                  <a:srgbClr val="002060"/>
                </a:solidFill>
              </a:rPr>
              <a:t>: Art, Biology, Chemistry, Philosophy &amp; Stats</a:t>
            </a:r>
          </a:p>
          <a:p>
            <a:pPr algn="just">
              <a:lnSpc>
                <a:spcPct val="100000"/>
              </a:lnSpc>
            </a:pPr>
            <a:endParaRPr lang="en-NZ" altLang="ja-JP" sz="2000" dirty="0">
              <a:solidFill>
                <a:srgbClr val="002060"/>
              </a:solidFill>
            </a:endParaRPr>
          </a:p>
          <a:p>
            <a:pPr algn="just">
              <a:lnSpc>
                <a:spcPct val="100000"/>
              </a:lnSpc>
            </a:pPr>
            <a:endParaRPr lang="en-NZ" altLang="ja-JP" sz="2000" i="1" dirty="0">
              <a:solidFill>
                <a:srgbClr val="002060"/>
              </a:solidFill>
            </a:endParaRPr>
          </a:p>
        </p:txBody>
      </p:sp>
    </p:spTree>
    <p:extLst>
      <p:ext uri="{BB962C8B-B14F-4D97-AF65-F5344CB8AC3E}">
        <p14:creationId xmlns:p14="http://schemas.microsoft.com/office/powerpoint/2010/main" val="168760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0" name="Text Placeholder 5">
            <a:extLst>
              <a:ext uri="{FF2B5EF4-FFF2-40B4-BE49-F238E27FC236}">
                <a16:creationId xmlns:a16="http://schemas.microsoft.com/office/drawing/2014/main" id="{AE1BF0D4-FAFF-4FC3-ABD0-4CF185D65900}"/>
              </a:ext>
            </a:extLst>
          </p:cNvPr>
          <p:cNvSpPr txBox="1">
            <a:spLocks/>
          </p:cNvSpPr>
          <p:nvPr/>
        </p:nvSpPr>
        <p:spPr>
          <a:xfrm>
            <a:off x="251221" y="2586596"/>
            <a:ext cx="956151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take a balanced sample* of </a:t>
            </a:r>
            <a:r>
              <a:rPr lang="en-NZ" altLang="ja-JP" sz="1600" b="1" i="1" dirty="0">
                <a:solidFill>
                  <a:schemeClr val="tx1"/>
                </a:solidFill>
              </a:rPr>
              <a:t>N = k n</a:t>
            </a:r>
            <a:r>
              <a:rPr lang="en-NZ" altLang="ja-JP" sz="1600" dirty="0">
                <a:solidFill>
                  <a:schemeClr val="tx1"/>
                </a:solidFill>
              </a:rPr>
              <a:t> observations (i.e. </a:t>
            </a:r>
            <a:r>
              <a:rPr lang="en-NZ" altLang="ja-JP" sz="1600" b="1" i="1" dirty="0">
                <a:solidFill>
                  <a:schemeClr val="tx1"/>
                </a:solidFill>
              </a:rPr>
              <a:t>n</a:t>
            </a:r>
            <a:r>
              <a:rPr lang="en-NZ" altLang="ja-JP" sz="1600" dirty="0">
                <a:solidFill>
                  <a:schemeClr val="tx1"/>
                </a:solidFill>
              </a:rPr>
              <a:t> observations from each of the </a:t>
            </a:r>
            <a:r>
              <a:rPr lang="en-NZ" altLang="ja-JP" sz="1600" b="1" i="1" dirty="0">
                <a:solidFill>
                  <a:schemeClr val="tx1"/>
                </a:solidFill>
              </a:rPr>
              <a:t>k </a:t>
            </a:r>
            <a:r>
              <a:rPr lang="en-NZ" altLang="ja-JP" sz="1600" dirty="0">
                <a:solidFill>
                  <a:schemeClr val="tx1"/>
                </a:solidFill>
              </a:rPr>
              <a:t>groups)</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1" name="Text Placeholder 5">
            <a:extLst>
              <a:ext uri="{FF2B5EF4-FFF2-40B4-BE49-F238E27FC236}">
                <a16:creationId xmlns:a16="http://schemas.microsoft.com/office/drawing/2014/main" id="{5C079C4F-FBE0-429C-A8B7-ABD8ACFB8B2C}"/>
              </a:ext>
            </a:extLst>
          </p:cNvPr>
          <p:cNvSpPr txBox="1">
            <a:spLocks/>
          </p:cNvSpPr>
          <p:nvPr/>
        </p:nvSpPr>
        <p:spPr>
          <a:xfrm>
            <a:off x="251223" y="6350944"/>
            <a:ext cx="9561515"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bg2">
                    <a:lumMod val="50000"/>
                  </a:schemeClr>
                </a:solidFill>
              </a:rPr>
              <a:t>*One Way ANOVA does not require balanced samples… but it does make the equations and notation much easier to deal with.</a:t>
            </a:r>
            <a:br>
              <a:rPr lang="en-NZ" altLang="ja-JP" sz="1400" dirty="0">
                <a:solidFill>
                  <a:schemeClr val="bg2">
                    <a:lumMod val="50000"/>
                  </a:schemeClr>
                </a:solidFill>
              </a:rPr>
            </a:br>
            <a:r>
              <a:rPr lang="en-NZ" altLang="ja-JP" sz="1400" dirty="0">
                <a:solidFill>
                  <a:schemeClr val="bg2">
                    <a:lumMod val="50000"/>
                  </a:schemeClr>
                </a:solidFill>
              </a:rPr>
              <a:t>In Stat 293 we will only consider balanced samples</a:t>
            </a:r>
          </a:p>
          <a:p>
            <a:pPr algn="r">
              <a:lnSpc>
                <a:spcPct val="100000"/>
              </a:lnSpc>
            </a:pPr>
            <a:r>
              <a:rPr lang="en-NZ" altLang="ja-JP" sz="1400" dirty="0">
                <a:solidFill>
                  <a:schemeClr val="bg2">
                    <a:lumMod val="50000"/>
                  </a:schemeClr>
                </a:solidFill>
              </a:rPr>
              <a:t>  </a:t>
            </a:r>
          </a:p>
          <a:p>
            <a:pPr algn="r">
              <a:lnSpc>
                <a:spcPct val="100000"/>
              </a:lnSpc>
            </a:pPr>
            <a:endParaRPr lang="en-NZ" altLang="ja-JP" sz="1400" dirty="0">
              <a:solidFill>
                <a:schemeClr val="bg2">
                  <a:lumMod val="50000"/>
                </a:schemeClr>
              </a:solidFill>
            </a:endParaRPr>
          </a:p>
          <a:p>
            <a:pPr algn="r">
              <a:lnSpc>
                <a:spcPct val="100000"/>
              </a:lnSpc>
            </a:pPr>
            <a:endParaRPr lang="en-NZ" altLang="ja-JP" sz="1400" i="1" dirty="0">
              <a:solidFill>
                <a:schemeClr val="bg2">
                  <a:lumMod val="50000"/>
                </a:schemeClr>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BF16F0C3-0C83-4173-8671-A97A49C52566}"/>
                  </a:ext>
                </a:extLst>
              </p:cNvPr>
              <p:cNvSpPr txBox="1">
                <a:spLocks/>
              </p:cNvSpPr>
              <p:nvPr/>
            </p:nvSpPr>
            <p:spPr>
              <a:xfrm>
                <a:off x="251221" y="2936223"/>
                <a:ext cx="11526796" cy="1387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 name="Text Placeholder 5">
                <a:extLst>
                  <a:ext uri="{FF2B5EF4-FFF2-40B4-BE49-F238E27FC236}">
                    <a16:creationId xmlns:a16="http://schemas.microsoft.com/office/drawing/2014/main" id="{BF16F0C3-0C83-4173-8671-A97A49C52566}"/>
                  </a:ext>
                </a:extLst>
              </p:cNvPr>
              <p:cNvSpPr txBox="1">
                <a:spLocks noRot="1" noChangeAspect="1" noMove="1" noResize="1" noEditPoints="1" noAdjustHandles="1" noChangeArrowheads="1" noChangeShapeType="1" noTextEdit="1"/>
              </p:cNvSpPr>
              <p:nvPr/>
            </p:nvSpPr>
            <p:spPr>
              <a:xfrm>
                <a:off x="251221" y="2936223"/>
                <a:ext cx="11526796" cy="1387420"/>
              </a:xfrm>
              <a:prstGeom prst="rect">
                <a:avLst/>
              </a:prstGeom>
              <a:blipFill>
                <a:blip r:embed="rId2"/>
                <a:stretch>
                  <a:fillRect/>
                </a:stretch>
              </a:blipFill>
            </p:spPr>
            <p:txBody>
              <a:bodyPr/>
              <a:lstStyle/>
              <a:p>
                <a:r>
                  <a:rPr lang="en-NZ">
                    <a:noFill/>
                  </a:rPr>
                  <a:t> </a:t>
                </a:r>
              </a:p>
            </p:txBody>
          </p:sp>
        </mc:Fallback>
      </mc:AlternateContent>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11300" y="4423443"/>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11298" y="4831457"/>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11298" y="4831457"/>
                <a:ext cx="7997592"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FC934FC-49B1-4A6B-A0AE-3AA79B59B349}"/>
                  </a:ext>
                </a:extLst>
              </p:cNvPr>
              <p:cNvSpPr txBox="1">
                <a:spLocks/>
              </p:cNvSpPr>
              <p:nvPr/>
            </p:nvSpPr>
            <p:spPr>
              <a:xfrm>
                <a:off x="6401394" y="4820194"/>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18" name="Text Placeholder 5">
                <a:extLst>
                  <a:ext uri="{FF2B5EF4-FFF2-40B4-BE49-F238E27FC236}">
                    <a16:creationId xmlns:a16="http://schemas.microsoft.com/office/drawing/2014/main" id="{4FC934FC-49B1-4A6B-A0AE-3AA79B59B349}"/>
                  </a:ext>
                </a:extLst>
              </p:cNvPr>
              <p:cNvSpPr txBox="1">
                <a:spLocks noRot="1" noChangeAspect="1" noMove="1" noResize="1" noEditPoints="1" noAdjustHandles="1" noChangeArrowheads="1" noChangeShapeType="1" noTextEdit="1"/>
              </p:cNvSpPr>
              <p:nvPr/>
            </p:nvSpPr>
            <p:spPr>
              <a:xfrm>
                <a:off x="6401394" y="4820194"/>
                <a:ext cx="2359788"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51221" y="5309266"/>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51221" y="5309266"/>
                <a:ext cx="6286057" cy="815449"/>
              </a:xfrm>
              <a:prstGeom prst="rect">
                <a:avLst/>
              </a:prstGeom>
              <a:blipFill>
                <a:blip r:embed="rId5"/>
                <a:stretch>
                  <a:fillRect l="-485" t="-2239"/>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10</a:t>
            </a:fld>
            <a:endParaRPr kumimoji="1" lang="ja-JP" altLang="en-US" dirty="0">
              <a:solidFill>
                <a:srgbClr val="575454">
                  <a:lumMod val="20000"/>
                  <a:lumOff val="80000"/>
                </a:srgbClr>
              </a:solidFill>
              <a:latin typeface="Coo Hew"/>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21" name="Footer Placeholder 2">
            <a:extLst>
              <a:ext uri="{FF2B5EF4-FFF2-40B4-BE49-F238E27FC236}">
                <a16:creationId xmlns:a16="http://schemas.microsoft.com/office/drawing/2014/main" id="{D8E88278-4CDC-0391-FC14-4C59862470F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55563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6" grpId="0"/>
      <p:bldP spid="17" grpId="0"/>
      <p:bldP spid="18"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E86A1F96-43CE-B4F6-31E3-6EA2413C505E}"/>
              </a:ext>
            </a:extLst>
          </p:cNvPr>
          <p:cNvPicPr>
            <a:picLocks noChangeAspect="1"/>
          </p:cNvPicPr>
          <p:nvPr/>
        </p:nvPicPr>
        <p:blipFill>
          <a:blip r:embed="rId2"/>
          <a:stretch>
            <a:fillRect/>
          </a:stretch>
        </p:blipFill>
        <p:spPr>
          <a:xfrm>
            <a:off x="1612272" y="2741247"/>
            <a:ext cx="2664025" cy="1330657"/>
          </a:xfrm>
          <a:prstGeom prst="rect">
            <a:avLst/>
          </a:prstGeom>
        </p:spPr>
      </p:pic>
      <p:pic>
        <p:nvPicPr>
          <p:cNvPr id="23" name="Picture 22">
            <a:extLst>
              <a:ext uri="{FF2B5EF4-FFF2-40B4-BE49-F238E27FC236}">
                <a16:creationId xmlns:a16="http://schemas.microsoft.com/office/drawing/2014/main" id="{3DC64634-84B9-979E-6326-3C2D980A8A88}"/>
              </a:ext>
            </a:extLst>
          </p:cNvPr>
          <p:cNvPicPr>
            <a:picLocks noChangeAspect="1"/>
          </p:cNvPicPr>
          <p:nvPr/>
        </p:nvPicPr>
        <p:blipFill>
          <a:blip r:embed="rId2"/>
          <a:stretch>
            <a:fillRect/>
          </a:stretch>
        </p:blipFill>
        <p:spPr>
          <a:xfrm>
            <a:off x="7634566" y="2794378"/>
            <a:ext cx="2664025" cy="1330657"/>
          </a:xfrm>
          <a:prstGeom prst="rect">
            <a:avLst/>
          </a:prstGeom>
        </p:spPr>
      </p:pic>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097204" y="1087900"/>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𝒀</m:t>
                        </m:r>
                      </m:e>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𝒋</m:t>
                        </m:r>
                      </m:sub>
                    </m:sSub>
                    <m:r>
                      <a:rPr lang="en-NZ" altLang="ja-JP" sz="2000" b="1" i="1" smtClean="0">
                        <a:solidFill>
                          <a:schemeClr val="tx1"/>
                        </a:solidFill>
                        <a:latin typeface="Cambria Math" panose="02040503050406030204" pitchFamily="18" charset="0"/>
                      </a:rPr>
                      <m:t>   =     </m:t>
                    </m:r>
                    <m:r>
                      <a:rPr lang="en-NZ" altLang="ja-JP" sz="2000" b="1" i="1" smtClean="0">
                        <a:solidFill>
                          <a:schemeClr val="tx1"/>
                        </a:solidFill>
                        <a:latin typeface="Cambria Math" panose="02040503050406030204" pitchFamily="18" charset="0"/>
                      </a:rPr>
                      <m:t>𝝁</m:t>
                    </m:r>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𝝐</m:t>
                        </m:r>
                      </m:e>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𝒋</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𝝐</m:t>
                        </m:r>
                      </m:e>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p>
              <a:p>
                <a:pPr algn="just">
                  <a:lnSpc>
                    <a:spcPct val="100000"/>
                  </a:lnSpc>
                </a:pPr>
                <a:endParaRPr lang="en-NZ" altLang="ja-JP" sz="2000" b="1" dirty="0">
                  <a:solidFill>
                    <a:schemeClr val="tx1"/>
                  </a:solidFill>
                </a:endParaRPr>
              </a:p>
              <a:p>
                <a:pPr algn="just">
                  <a:lnSpc>
                    <a:spcPct val="100000"/>
                  </a:lnSpc>
                </a:pPr>
                <a:endParaRPr lang="en-NZ" altLang="ja-JP" sz="2000" b="1" i="1" dirty="0">
                  <a:solidFill>
                    <a:schemeClr val="tx1"/>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097204" y="1087900"/>
                <a:ext cx="7997592" cy="474953"/>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11</a:t>
            </a:fld>
            <a:endParaRPr kumimoji="1" lang="ja-JP" altLang="en-US" dirty="0">
              <a:solidFill>
                <a:srgbClr val="575454">
                  <a:lumMod val="20000"/>
                  <a:lumOff val="80000"/>
                </a:srgbClr>
              </a:solidFill>
              <a:latin typeface="Coo Hew"/>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21" name="Footer Placeholder 2">
            <a:extLst>
              <a:ext uri="{FF2B5EF4-FFF2-40B4-BE49-F238E27FC236}">
                <a16:creationId xmlns:a16="http://schemas.microsoft.com/office/drawing/2014/main" id="{D8E88278-4CDC-0391-FC14-4C59862470F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cxnSp>
        <p:nvCxnSpPr>
          <p:cNvPr id="3" name="Straight Connector 2">
            <a:extLst>
              <a:ext uri="{FF2B5EF4-FFF2-40B4-BE49-F238E27FC236}">
                <a16:creationId xmlns:a16="http://schemas.microsoft.com/office/drawing/2014/main" id="{3C6821EE-A317-E049-8E5E-F4D8A0FCFDA0}"/>
              </a:ext>
            </a:extLst>
          </p:cNvPr>
          <p:cNvCxnSpPr>
            <a:cxnSpLocks/>
          </p:cNvCxnSpPr>
          <p:nvPr/>
        </p:nvCxnSpPr>
        <p:spPr>
          <a:xfrm>
            <a:off x="1114568" y="4094329"/>
            <a:ext cx="9962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D433551E-78AB-B4D3-763A-BC455D1D8B1A}"/>
              </a:ext>
            </a:extLst>
          </p:cNvPr>
          <p:cNvSpPr/>
          <p:nvPr/>
        </p:nvSpPr>
        <p:spPr>
          <a:xfrm>
            <a:off x="5952699"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0" name="Oval 19">
            <a:extLst>
              <a:ext uri="{FF2B5EF4-FFF2-40B4-BE49-F238E27FC236}">
                <a16:creationId xmlns:a16="http://schemas.microsoft.com/office/drawing/2014/main" id="{76C023CB-14E6-4370-A9FD-6461C4CDB7E5}"/>
              </a:ext>
            </a:extLst>
          </p:cNvPr>
          <p:cNvSpPr/>
          <p:nvPr/>
        </p:nvSpPr>
        <p:spPr>
          <a:xfrm>
            <a:off x="8823276"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6" name="Straight Arrow Connector 5">
            <a:extLst>
              <a:ext uri="{FF2B5EF4-FFF2-40B4-BE49-F238E27FC236}">
                <a16:creationId xmlns:a16="http://schemas.microsoft.com/office/drawing/2014/main" id="{BD7B6A4F-569D-955C-161B-7196F86CE059}"/>
              </a:ext>
            </a:extLst>
          </p:cNvPr>
          <p:cNvCxnSpPr>
            <a:cxnSpLocks/>
            <a:stCxn id="25" idx="3"/>
          </p:cNvCxnSpPr>
          <p:nvPr/>
        </p:nvCxnSpPr>
        <p:spPr>
          <a:xfrm>
            <a:off x="6367818" y="4488099"/>
            <a:ext cx="2107439" cy="2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0DEF057B-7393-208D-3722-9C1B2D677044}"/>
                  </a:ext>
                </a:extLst>
              </p:cNvPr>
              <p:cNvSpPr txBox="1">
                <a:spLocks/>
              </p:cNvSpPr>
              <p:nvPr/>
            </p:nvSpPr>
            <p:spPr>
              <a:xfrm>
                <a:off x="5824182" y="4250622"/>
                <a:ext cx="543636"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Group"/>
                    </m:oMathParaPr>
                    <m:oMath xmlns:m="http://schemas.openxmlformats.org/officeDocument/2006/math">
                      <m:r>
                        <a:rPr lang="en-NZ" altLang="ja-JP" sz="2000" b="1" i="1" smtClean="0">
                          <a:solidFill>
                            <a:schemeClr val="tx1"/>
                          </a:solidFill>
                          <a:latin typeface="Cambria Math" panose="02040503050406030204" pitchFamily="18" charset="0"/>
                        </a:rPr>
                        <m:t>𝝁</m:t>
                      </m:r>
                    </m:oMath>
                  </m:oMathPara>
                </a14:m>
                <a:endParaRPr lang="en-NZ" altLang="ja-JP" sz="2000" b="1" dirty="0">
                  <a:solidFill>
                    <a:schemeClr val="tx1"/>
                  </a:solidFill>
                </a:endParaRPr>
              </a:p>
              <a:p>
                <a:pPr algn="just">
                  <a:lnSpc>
                    <a:spcPct val="100000"/>
                  </a:lnSpc>
                </a:pPr>
                <a:endParaRPr lang="en-NZ" altLang="ja-JP" sz="2000" b="1" dirty="0">
                  <a:solidFill>
                    <a:schemeClr val="tx1"/>
                  </a:solidFill>
                </a:endParaRPr>
              </a:p>
              <a:p>
                <a:pPr algn="just">
                  <a:lnSpc>
                    <a:spcPct val="100000"/>
                  </a:lnSpc>
                </a:pPr>
                <a:endParaRPr lang="en-NZ" altLang="ja-JP" sz="2000" b="1" i="1" dirty="0">
                  <a:solidFill>
                    <a:schemeClr val="tx1"/>
                  </a:solidFill>
                </a:endParaRPr>
              </a:p>
            </p:txBody>
          </p:sp>
        </mc:Choice>
        <mc:Fallback xmlns="">
          <p:sp>
            <p:nvSpPr>
              <p:cNvPr id="25" name="Text Placeholder 5">
                <a:extLst>
                  <a:ext uri="{FF2B5EF4-FFF2-40B4-BE49-F238E27FC236}">
                    <a16:creationId xmlns:a16="http://schemas.microsoft.com/office/drawing/2014/main" id="{0DEF057B-7393-208D-3722-9C1B2D677044}"/>
                  </a:ext>
                </a:extLst>
              </p:cNvPr>
              <p:cNvSpPr txBox="1">
                <a:spLocks noRot="1" noChangeAspect="1" noMove="1" noResize="1" noEditPoints="1" noAdjustHandles="1" noChangeArrowheads="1" noChangeShapeType="1" noTextEdit="1"/>
              </p:cNvSpPr>
              <p:nvPr/>
            </p:nvSpPr>
            <p:spPr>
              <a:xfrm>
                <a:off x="5824182" y="4250622"/>
                <a:ext cx="543636"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5F3BB90-89BC-5219-0CD7-2C7B4D97A5F2}"/>
                  </a:ext>
                </a:extLst>
              </p:cNvPr>
              <p:cNvSpPr txBox="1">
                <a:spLocks/>
              </p:cNvSpPr>
              <p:nvPr/>
            </p:nvSpPr>
            <p:spPr>
              <a:xfrm>
                <a:off x="8475257" y="4271788"/>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𝝁</m:t>
                      </m:r>
                      <m:r>
                        <a:rPr lang="en-NZ" altLang="ja-JP" sz="2000" b="1" i="0" smtClean="0">
                          <a:solidFill>
                            <a:schemeClr val="tx1"/>
                          </a:solidFill>
                          <a:latin typeface="Cambria Math" panose="02040503050406030204" pitchFamily="18" charset="0"/>
                        </a:rPr>
                        <m:t>+</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𝟏</m:t>
                          </m:r>
                        </m:sub>
                      </m:sSub>
                    </m:oMath>
                  </m:oMathPara>
                </a14:m>
                <a:br>
                  <a:rPr lang="en-NZ" altLang="ja-JP" sz="2000" b="1" dirty="0">
                    <a:solidFill>
                      <a:schemeClr val="tx1"/>
                    </a:solidFill>
                  </a:rPr>
                </a:b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26" name="Text Placeholder 5">
                <a:extLst>
                  <a:ext uri="{FF2B5EF4-FFF2-40B4-BE49-F238E27FC236}">
                    <a16:creationId xmlns:a16="http://schemas.microsoft.com/office/drawing/2014/main" id="{75F3BB90-89BC-5219-0CD7-2C7B4D97A5F2}"/>
                  </a:ext>
                </a:extLst>
              </p:cNvPr>
              <p:cNvSpPr txBox="1">
                <a:spLocks noRot="1" noChangeAspect="1" noMove="1" noResize="1" noEditPoints="1" noAdjustHandles="1" noChangeArrowheads="1" noChangeShapeType="1" noTextEdit="1"/>
              </p:cNvSpPr>
              <p:nvPr/>
            </p:nvSpPr>
            <p:spPr>
              <a:xfrm>
                <a:off x="8475257" y="4271788"/>
                <a:ext cx="982639" cy="453788"/>
              </a:xfrm>
              <a:prstGeom prst="rect">
                <a:avLst/>
              </a:prstGeom>
              <a:blipFill>
                <a:blip r:embed="rId5"/>
                <a:stretch>
                  <a:fillRect/>
                </a:stretch>
              </a:blipFill>
            </p:spPr>
            <p:txBody>
              <a:bodyPr/>
              <a:lstStyle/>
              <a:p>
                <a:r>
                  <a:rPr lang="en-NZ">
                    <a:noFill/>
                  </a:rPr>
                  <a:t> </a:t>
                </a:r>
              </a:p>
            </p:txBody>
          </p:sp>
        </mc:Fallback>
      </mc:AlternateContent>
      <p:cxnSp>
        <p:nvCxnSpPr>
          <p:cNvPr id="30" name="Straight Connector 29">
            <a:extLst>
              <a:ext uri="{FF2B5EF4-FFF2-40B4-BE49-F238E27FC236}">
                <a16:creationId xmlns:a16="http://schemas.microsoft.com/office/drawing/2014/main" id="{C936937E-8A93-790E-5B50-ECA6F9CB0A9B}"/>
              </a:ext>
            </a:extLst>
          </p:cNvPr>
          <p:cNvCxnSpPr/>
          <p:nvPr/>
        </p:nvCxnSpPr>
        <p:spPr>
          <a:xfrm>
            <a:off x="9689910" y="3698543"/>
            <a:ext cx="0" cy="39578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92C82E0C-54B1-0B11-6DBB-35C60C58F3D2}"/>
                  </a:ext>
                </a:extLst>
              </p:cNvPr>
              <p:cNvSpPr txBox="1">
                <a:spLocks/>
              </p:cNvSpPr>
              <p:nvPr/>
            </p:nvSpPr>
            <p:spPr>
              <a:xfrm>
                <a:off x="9315950" y="4096723"/>
                <a:ext cx="982639"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rgbClr val="0070C0"/>
                              </a:solidFill>
                              <a:latin typeface="Cambria Math" panose="02040503050406030204" pitchFamily="18" charset="0"/>
                            </a:rPr>
                          </m:ctrlPr>
                        </m:sSubPr>
                        <m:e>
                          <m:r>
                            <a:rPr lang="en-NZ" altLang="ja-JP" sz="2000" b="1" i="1" smtClean="0">
                              <a:solidFill>
                                <a:srgbClr val="0070C0"/>
                              </a:solidFill>
                              <a:latin typeface="Cambria Math" panose="02040503050406030204" pitchFamily="18" charset="0"/>
                            </a:rPr>
                            <m:t>𝒀</m:t>
                          </m:r>
                        </m:e>
                        <m:sub>
                          <m:r>
                            <a:rPr lang="en-NZ" altLang="ja-JP" sz="2000" b="1" i="1" smtClean="0">
                              <a:solidFill>
                                <a:srgbClr val="0070C0"/>
                              </a:solidFill>
                              <a:latin typeface="Cambria Math" panose="02040503050406030204" pitchFamily="18" charset="0"/>
                            </a:rPr>
                            <m:t>𝟏</m:t>
                          </m:r>
                          <m:r>
                            <a:rPr lang="en-NZ" altLang="ja-JP" sz="2000" b="1" i="1" smtClean="0">
                              <a:solidFill>
                                <a:srgbClr val="0070C0"/>
                              </a:solidFill>
                              <a:latin typeface="Cambria Math" panose="02040503050406030204" pitchFamily="18" charset="0"/>
                            </a:rPr>
                            <m:t>,</m:t>
                          </m:r>
                          <m:r>
                            <a:rPr lang="en-NZ" altLang="ja-JP" sz="2000" b="1" i="1" smtClean="0">
                              <a:solidFill>
                                <a:srgbClr val="0070C0"/>
                              </a:solidFill>
                              <a:latin typeface="Cambria Math" panose="02040503050406030204" pitchFamily="18" charset="0"/>
                            </a:rPr>
                            <m:t>𝒋</m:t>
                          </m:r>
                        </m:sub>
                      </m:sSub>
                    </m:oMath>
                  </m:oMathPara>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1" name="Text Placeholder 5">
                <a:extLst>
                  <a:ext uri="{FF2B5EF4-FFF2-40B4-BE49-F238E27FC236}">
                    <a16:creationId xmlns:a16="http://schemas.microsoft.com/office/drawing/2014/main" id="{92C82E0C-54B1-0B11-6DBB-35C60C58F3D2}"/>
                  </a:ext>
                </a:extLst>
              </p:cNvPr>
              <p:cNvSpPr txBox="1">
                <a:spLocks noRot="1" noChangeAspect="1" noMove="1" noResize="1" noEditPoints="1" noAdjustHandles="1" noChangeArrowheads="1" noChangeShapeType="1" noTextEdit="1"/>
              </p:cNvSpPr>
              <p:nvPr/>
            </p:nvSpPr>
            <p:spPr>
              <a:xfrm>
                <a:off x="9315950" y="4096723"/>
                <a:ext cx="982639" cy="453789"/>
              </a:xfrm>
              <a:prstGeom prst="rect">
                <a:avLst/>
              </a:prstGeom>
              <a:blipFill>
                <a:blip r:embed="rId6"/>
                <a:stretch>
                  <a:fillRect b="-54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2858A14-69D9-BAE8-A179-A6351391BD07}"/>
                  </a:ext>
                </a:extLst>
              </p:cNvPr>
              <p:cNvSpPr txBox="1">
                <a:spLocks/>
              </p:cNvSpPr>
              <p:nvPr/>
            </p:nvSpPr>
            <p:spPr>
              <a:xfrm>
                <a:off x="570010" y="1779107"/>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dirty="0">
                    <a:solidFill>
                      <a:srgbClr val="0070C0"/>
                    </a:solidFill>
                  </a:rPr>
                  <a:t>Consider modelling </a:t>
                </a:r>
                <a14:m>
                  <m:oMath xmlns:m="http://schemas.openxmlformats.org/officeDocument/2006/math">
                    <m:sSub>
                      <m:sSubPr>
                        <m:ctrlPr>
                          <a:rPr lang="en-NZ" altLang="ja-JP" sz="2000" b="1" i="1" smtClean="0">
                            <a:solidFill>
                              <a:srgbClr val="0070C0"/>
                            </a:solidFill>
                            <a:latin typeface="Cambria Math" panose="02040503050406030204" pitchFamily="18" charset="0"/>
                          </a:rPr>
                        </m:ctrlPr>
                      </m:sSubPr>
                      <m:e>
                        <m:r>
                          <a:rPr lang="en-NZ" altLang="ja-JP" sz="2000" b="1" i="1" smtClean="0">
                            <a:solidFill>
                              <a:srgbClr val="0070C0"/>
                            </a:solidFill>
                            <a:latin typeface="Cambria Math" panose="02040503050406030204" pitchFamily="18" charset="0"/>
                          </a:rPr>
                          <m:t>𝒀</m:t>
                        </m:r>
                      </m:e>
                      <m:sub>
                        <m:r>
                          <a:rPr lang="en-NZ" altLang="ja-JP" sz="2000" b="1" i="1" smtClean="0">
                            <a:solidFill>
                              <a:srgbClr val="0070C0"/>
                            </a:solidFill>
                            <a:latin typeface="Cambria Math" panose="02040503050406030204" pitchFamily="18" charset="0"/>
                          </a:rPr>
                          <m:t>𝟏</m:t>
                        </m:r>
                        <m:r>
                          <a:rPr lang="en-NZ" altLang="ja-JP" sz="2000" b="1" i="1" smtClean="0">
                            <a:solidFill>
                              <a:srgbClr val="0070C0"/>
                            </a:solidFill>
                            <a:latin typeface="Cambria Math" panose="02040503050406030204" pitchFamily="18" charset="0"/>
                          </a:rPr>
                          <m:t>,</m:t>
                        </m:r>
                        <m:r>
                          <a:rPr lang="en-NZ" altLang="ja-JP" sz="2000" b="1" i="1" smtClean="0">
                            <a:solidFill>
                              <a:srgbClr val="0070C0"/>
                            </a:solidFill>
                            <a:latin typeface="Cambria Math" panose="02040503050406030204" pitchFamily="18" charset="0"/>
                          </a:rPr>
                          <m:t>𝒋</m:t>
                        </m:r>
                      </m:sub>
                    </m:sSub>
                  </m:oMath>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2" name="Text Placeholder 5">
                <a:extLst>
                  <a:ext uri="{FF2B5EF4-FFF2-40B4-BE49-F238E27FC236}">
                    <a16:creationId xmlns:a16="http://schemas.microsoft.com/office/drawing/2014/main" id="{F2858A14-69D9-BAE8-A179-A6351391BD07}"/>
                  </a:ext>
                </a:extLst>
              </p:cNvPr>
              <p:cNvSpPr txBox="1">
                <a:spLocks noRot="1" noChangeAspect="1" noMove="1" noResize="1" noEditPoints="1" noAdjustHandles="1" noChangeArrowheads="1" noChangeShapeType="1" noTextEdit="1"/>
              </p:cNvSpPr>
              <p:nvPr/>
            </p:nvSpPr>
            <p:spPr>
              <a:xfrm>
                <a:off x="570010" y="1779107"/>
                <a:ext cx="3305954" cy="453789"/>
              </a:xfrm>
              <a:prstGeom prst="rect">
                <a:avLst/>
              </a:prstGeom>
              <a:blipFill>
                <a:blip r:embed="rId7"/>
                <a:stretch>
                  <a:fillRect t="-6757" b="-135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C6DFD2C-B76D-C299-2F43-2D11D0E8B0B7}"/>
                  </a:ext>
                </a:extLst>
              </p:cNvPr>
              <p:cNvSpPr txBox="1">
                <a:spLocks/>
              </p:cNvSpPr>
              <p:nvPr/>
            </p:nvSpPr>
            <p:spPr>
              <a:xfrm>
                <a:off x="6782720" y="4071904"/>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𝟏</m:t>
                          </m:r>
                        </m:sub>
                      </m:sSub>
                      <m:r>
                        <a:rPr lang="en-NZ" altLang="ja-JP" sz="2000" b="1" i="1" smtClean="0">
                          <a:solidFill>
                            <a:schemeClr val="tx1"/>
                          </a:solidFill>
                          <a:latin typeface="Cambria Math" panose="02040503050406030204" pitchFamily="18" charset="0"/>
                        </a:rPr>
                        <m:t>&gt;</m:t>
                      </m:r>
                      <m:r>
                        <a:rPr lang="en-NZ" altLang="ja-JP" sz="2000" b="1" i="1" smtClean="0">
                          <a:solidFill>
                            <a:schemeClr val="tx1"/>
                          </a:solidFill>
                          <a:latin typeface="Cambria Math" panose="02040503050406030204" pitchFamily="18" charset="0"/>
                        </a:rPr>
                        <m:t>𝟎</m:t>
                      </m:r>
                    </m:oMath>
                  </m:oMathPara>
                </a14:m>
                <a:br>
                  <a:rPr lang="en-NZ" altLang="ja-JP" sz="2000" b="1" dirty="0">
                    <a:solidFill>
                      <a:schemeClr val="tx1"/>
                    </a:solidFill>
                  </a:rPr>
                </a:br>
                <a:endParaRPr lang="en-NZ" altLang="ja-JP" sz="2000" b="1" i="1" dirty="0">
                  <a:solidFill>
                    <a:schemeClr val="tx1"/>
                  </a:solidFill>
                </a:endParaRPr>
              </a:p>
            </p:txBody>
          </p:sp>
        </mc:Choice>
        <mc:Fallback xmlns="">
          <p:sp>
            <p:nvSpPr>
              <p:cNvPr id="33" name="Text Placeholder 5">
                <a:extLst>
                  <a:ext uri="{FF2B5EF4-FFF2-40B4-BE49-F238E27FC236}">
                    <a16:creationId xmlns:a16="http://schemas.microsoft.com/office/drawing/2014/main" id="{9C6DFD2C-B76D-C299-2F43-2D11D0E8B0B7}"/>
                  </a:ext>
                </a:extLst>
              </p:cNvPr>
              <p:cNvSpPr txBox="1">
                <a:spLocks noRot="1" noChangeAspect="1" noMove="1" noResize="1" noEditPoints="1" noAdjustHandles="1" noChangeArrowheads="1" noChangeShapeType="1" noTextEdit="1"/>
              </p:cNvSpPr>
              <p:nvPr/>
            </p:nvSpPr>
            <p:spPr>
              <a:xfrm>
                <a:off x="6782720" y="4071904"/>
                <a:ext cx="1132980" cy="538640"/>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155E40BF-1FA8-F397-5D66-F3A695A87018}"/>
                  </a:ext>
                </a:extLst>
              </p:cNvPr>
              <p:cNvSpPr txBox="1">
                <a:spLocks/>
              </p:cNvSpPr>
              <p:nvPr/>
            </p:nvSpPr>
            <p:spPr>
              <a:xfrm>
                <a:off x="8475256" y="4626812"/>
                <a:ext cx="982639" cy="10847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m:t>
                      </m:r>
                    </m:oMath>
                  </m:oMathPara>
                </a14:m>
                <a:endParaRPr lang="en-NZ" altLang="ja-JP" sz="2000" b="1" dirty="0">
                  <a:solidFill>
                    <a:schemeClr val="tx1"/>
                  </a:solidFill>
                </a:endParaRPr>
              </a:p>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𝟏</m:t>
                          </m:r>
                        </m:sub>
                      </m:sSub>
                    </m:oMath>
                  </m:oMathPara>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4" name="Text Placeholder 5">
                <a:extLst>
                  <a:ext uri="{FF2B5EF4-FFF2-40B4-BE49-F238E27FC236}">
                    <a16:creationId xmlns:a16="http://schemas.microsoft.com/office/drawing/2014/main" id="{155E40BF-1FA8-F397-5D66-F3A695A87018}"/>
                  </a:ext>
                </a:extLst>
              </p:cNvPr>
              <p:cNvSpPr txBox="1">
                <a:spLocks noRot="1" noChangeAspect="1" noMove="1" noResize="1" noEditPoints="1" noAdjustHandles="1" noChangeArrowheads="1" noChangeShapeType="1" noTextEdit="1"/>
              </p:cNvSpPr>
              <p:nvPr/>
            </p:nvSpPr>
            <p:spPr>
              <a:xfrm>
                <a:off x="8475256" y="4626812"/>
                <a:ext cx="982639" cy="1084773"/>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F21B1B26-F3F2-85D4-08E0-50DD0EC27E86}"/>
                  </a:ext>
                </a:extLst>
              </p:cNvPr>
              <p:cNvSpPr txBox="1">
                <a:spLocks/>
              </p:cNvSpPr>
              <p:nvPr/>
            </p:nvSpPr>
            <p:spPr>
              <a:xfrm>
                <a:off x="570010" y="2232896"/>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2000" b="1" dirty="0">
                    <a:solidFill>
                      <a:srgbClr val="C00000"/>
                    </a:solidFill>
                  </a:rPr>
                  <a:t>Consider modelling </a:t>
                </a:r>
                <a14:m>
                  <m:oMath xmlns:m="http://schemas.openxmlformats.org/officeDocument/2006/math">
                    <m:sSub>
                      <m:sSubPr>
                        <m:ctrlPr>
                          <a:rPr lang="en-NZ" altLang="ja-JP" sz="2000" b="1" i="1" smtClean="0">
                            <a:solidFill>
                              <a:srgbClr val="C00000"/>
                            </a:solidFill>
                            <a:latin typeface="Cambria Math" panose="02040503050406030204" pitchFamily="18" charset="0"/>
                          </a:rPr>
                        </m:ctrlPr>
                      </m:sSubPr>
                      <m:e>
                        <m:r>
                          <a:rPr lang="en-NZ" altLang="ja-JP" sz="2000" b="1" i="1" smtClean="0">
                            <a:solidFill>
                              <a:srgbClr val="C00000"/>
                            </a:solidFill>
                            <a:latin typeface="Cambria Math" panose="02040503050406030204" pitchFamily="18" charset="0"/>
                          </a:rPr>
                          <m:t>𝒀</m:t>
                        </m:r>
                      </m:e>
                      <m:sub>
                        <m:r>
                          <a:rPr lang="en-NZ" altLang="ja-JP" sz="2000" b="1" i="1" smtClean="0">
                            <a:solidFill>
                              <a:srgbClr val="C00000"/>
                            </a:solidFill>
                            <a:latin typeface="Cambria Math" panose="02040503050406030204" pitchFamily="18" charset="0"/>
                          </a:rPr>
                          <m:t>𝟐</m:t>
                        </m:r>
                        <m:r>
                          <a:rPr lang="en-NZ" altLang="ja-JP" sz="2000" b="1" i="1" smtClean="0">
                            <a:solidFill>
                              <a:srgbClr val="C00000"/>
                            </a:solidFill>
                            <a:latin typeface="Cambria Math" panose="02040503050406030204" pitchFamily="18" charset="0"/>
                          </a:rPr>
                          <m:t>,</m:t>
                        </m:r>
                        <m:r>
                          <a:rPr lang="en-NZ" altLang="ja-JP" sz="2000" b="1" i="1" smtClean="0">
                            <a:solidFill>
                              <a:srgbClr val="C00000"/>
                            </a:solidFill>
                            <a:latin typeface="Cambria Math" panose="02040503050406030204" pitchFamily="18" charset="0"/>
                          </a:rPr>
                          <m:t>𝒋</m:t>
                        </m:r>
                      </m:sub>
                    </m:sSub>
                  </m:oMath>
                </a14:m>
                <a:endParaRPr lang="en-NZ" altLang="ja-JP" sz="2000" b="1" dirty="0">
                  <a:solidFill>
                    <a:srgbClr val="C00000"/>
                  </a:solidFill>
                </a:endParaRPr>
              </a:p>
              <a:p>
                <a:pPr algn="ctr">
                  <a:lnSpc>
                    <a:spcPct val="100000"/>
                  </a:lnSpc>
                </a:pPr>
                <a:endParaRPr lang="en-NZ" altLang="ja-JP" sz="2000" b="1" dirty="0">
                  <a:solidFill>
                    <a:srgbClr val="C00000"/>
                  </a:solidFill>
                </a:endParaRPr>
              </a:p>
              <a:p>
                <a:pPr algn="ctr">
                  <a:lnSpc>
                    <a:spcPct val="100000"/>
                  </a:lnSpc>
                </a:pPr>
                <a:endParaRPr lang="en-NZ" altLang="ja-JP" sz="2000" b="1" i="1" dirty="0">
                  <a:solidFill>
                    <a:srgbClr val="C00000"/>
                  </a:solidFill>
                </a:endParaRPr>
              </a:p>
            </p:txBody>
          </p:sp>
        </mc:Choice>
        <mc:Fallback xmlns="">
          <p:sp>
            <p:nvSpPr>
              <p:cNvPr id="35" name="Text Placeholder 5">
                <a:extLst>
                  <a:ext uri="{FF2B5EF4-FFF2-40B4-BE49-F238E27FC236}">
                    <a16:creationId xmlns:a16="http://schemas.microsoft.com/office/drawing/2014/main" id="{F21B1B26-F3F2-85D4-08E0-50DD0EC27E86}"/>
                  </a:ext>
                </a:extLst>
              </p:cNvPr>
              <p:cNvSpPr txBox="1">
                <a:spLocks noRot="1" noChangeAspect="1" noMove="1" noResize="1" noEditPoints="1" noAdjustHandles="1" noChangeArrowheads="1" noChangeShapeType="1" noTextEdit="1"/>
              </p:cNvSpPr>
              <p:nvPr/>
            </p:nvSpPr>
            <p:spPr>
              <a:xfrm>
                <a:off x="570010" y="2232896"/>
                <a:ext cx="3305954" cy="453789"/>
              </a:xfrm>
              <a:prstGeom prst="rect">
                <a:avLst/>
              </a:prstGeom>
              <a:blipFill>
                <a:blip r:embed="rId10"/>
                <a:stretch>
                  <a:fillRect t="-5333" b="-12000"/>
                </a:stretch>
              </a:blipFill>
            </p:spPr>
            <p:txBody>
              <a:bodyPr/>
              <a:lstStyle/>
              <a:p>
                <a:r>
                  <a:rPr lang="en-NZ">
                    <a:noFill/>
                  </a:rPr>
                  <a:t> </a:t>
                </a:r>
              </a:p>
            </p:txBody>
          </p:sp>
        </mc:Fallback>
      </mc:AlternateContent>
      <p:sp>
        <p:nvSpPr>
          <p:cNvPr id="36" name="Oval 35">
            <a:extLst>
              <a:ext uri="{FF2B5EF4-FFF2-40B4-BE49-F238E27FC236}">
                <a16:creationId xmlns:a16="http://schemas.microsoft.com/office/drawing/2014/main" id="{3AEB6452-A6F6-C024-0E2C-211AB772CAF5}"/>
              </a:ext>
            </a:extLst>
          </p:cNvPr>
          <p:cNvSpPr/>
          <p:nvPr/>
        </p:nvSpPr>
        <p:spPr>
          <a:xfrm>
            <a:off x="2800985" y="3951027"/>
            <a:ext cx="286603" cy="286603"/>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C00000"/>
              </a:solidFill>
            </a:endParaRPr>
          </a:p>
        </p:txBody>
      </p:sp>
      <p:cxnSp>
        <p:nvCxnSpPr>
          <p:cNvPr id="37" name="Straight Arrow Connector 36">
            <a:extLst>
              <a:ext uri="{FF2B5EF4-FFF2-40B4-BE49-F238E27FC236}">
                <a16:creationId xmlns:a16="http://schemas.microsoft.com/office/drawing/2014/main" id="{F09C0F22-2A0D-81DA-1BD2-089AAE10A76D}"/>
              </a:ext>
            </a:extLst>
          </p:cNvPr>
          <p:cNvCxnSpPr>
            <a:cxnSpLocks/>
            <a:stCxn id="25" idx="1"/>
            <a:endCxn id="38" idx="3"/>
          </p:cNvCxnSpPr>
          <p:nvPr/>
        </p:nvCxnSpPr>
        <p:spPr>
          <a:xfrm flipH="1">
            <a:off x="3435605" y="4488099"/>
            <a:ext cx="2388577" cy="1058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05107AE7-0378-9A41-E5A8-FBA5CDB3F39E}"/>
                  </a:ext>
                </a:extLst>
              </p:cNvPr>
              <p:cNvSpPr txBox="1">
                <a:spLocks/>
              </p:cNvSpPr>
              <p:nvPr/>
            </p:nvSpPr>
            <p:spPr>
              <a:xfrm>
                <a:off x="2452966" y="4271788"/>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𝝁</m:t>
                      </m:r>
                      <m:r>
                        <a:rPr lang="en-NZ" altLang="ja-JP" sz="2000" b="1" i="0" smtClean="0">
                          <a:solidFill>
                            <a:schemeClr val="tx1"/>
                          </a:solidFill>
                          <a:latin typeface="Cambria Math" panose="02040503050406030204" pitchFamily="18" charset="0"/>
                        </a:rPr>
                        <m:t>+</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𝟐</m:t>
                          </m:r>
                        </m:sub>
                      </m:sSub>
                    </m:oMath>
                  </m:oMathPara>
                </a14:m>
                <a:br>
                  <a:rPr lang="en-NZ" altLang="ja-JP" sz="2000" b="1" dirty="0">
                    <a:solidFill>
                      <a:schemeClr val="tx1"/>
                    </a:solidFill>
                  </a:rPr>
                </a:b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38" name="Text Placeholder 5">
                <a:extLst>
                  <a:ext uri="{FF2B5EF4-FFF2-40B4-BE49-F238E27FC236}">
                    <a16:creationId xmlns:a16="http://schemas.microsoft.com/office/drawing/2014/main" id="{05107AE7-0378-9A41-E5A8-FBA5CDB3F39E}"/>
                  </a:ext>
                </a:extLst>
              </p:cNvPr>
              <p:cNvSpPr txBox="1">
                <a:spLocks noRot="1" noChangeAspect="1" noMove="1" noResize="1" noEditPoints="1" noAdjustHandles="1" noChangeArrowheads="1" noChangeShapeType="1" noTextEdit="1"/>
              </p:cNvSpPr>
              <p:nvPr/>
            </p:nvSpPr>
            <p:spPr>
              <a:xfrm>
                <a:off x="2452966" y="4271788"/>
                <a:ext cx="982639" cy="453788"/>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7D7A0A2A-D24A-AB0C-E2A8-0D9481C2D376}"/>
                  </a:ext>
                </a:extLst>
              </p:cNvPr>
              <p:cNvSpPr txBox="1">
                <a:spLocks/>
              </p:cNvSpPr>
              <p:nvPr/>
            </p:nvSpPr>
            <p:spPr>
              <a:xfrm>
                <a:off x="4063403" y="4088172"/>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𝟐</m:t>
                          </m:r>
                        </m:sub>
                      </m:sSub>
                      <m:r>
                        <a:rPr lang="en-NZ" altLang="ja-JP" sz="2000" b="1" i="1" smtClean="0">
                          <a:solidFill>
                            <a:schemeClr val="tx1"/>
                          </a:solidFill>
                          <a:latin typeface="Cambria Math" panose="02040503050406030204" pitchFamily="18" charset="0"/>
                        </a:rPr>
                        <m:t>&lt;</m:t>
                      </m:r>
                      <m:r>
                        <a:rPr lang="en-NZ" altLang="ja-JP" sz="2000" b="1" i="1" smtClean="0">
                          <a:solidFill>
                            <a:schemeClr val="tx1"/>
                          </a:solidFill>
                          <a:latin typeface="Cambria Math" panose="02040503050406030204" pitchFamily="18" charset="0"/>
                        </a:rPr>
                        <m:t>𝟎</m:t>
                      </m:r>
                    </m:oMath>
                  </m:oMathPara>
                </a14:m>
                <a:br>
                  <a:rPr lang="en-NZ" altLang="ja-JP" sz="2000" b="1" dirty="0">
                    <a:solidFill>
                      <a:schemeClr val="tx1"/>
                    </a:solidFill>
                  </a:rPr>
                </a:br>
                <a:endParaRPr lang="en-NZ" altLang="ja-JP" sz="2000" b="1" i="1" dirty="0">
                  <a:solidFill>
                    <a:schemeClr val="tx1"/>
                  </a:solidFill>
                </a:endParaRPr>
              </a:p>
            </p:txBody>
          </p:sp>
        </mc:Choice>
        <mc:Fallback xmlns="">
          <p:sp>
            <p:nvSpPr>
              <p:cNvPr id="39" name="Text Placeholder 5">
                <a:extLst>
                  <a:ext uri="{FF2B5EF4-FFF2-40B4-BE49-F238E27FC236}">
                    <a16:creationId xmlns:a16="http://schemas.microsoft.com/office/drawing/2014/main" id="{7D7A0A2A-D24A-AB0C-E2A8-0D9481C2D376}"/>
                  </a:ext>
                </a:extLst>
              </p:cNvPr>
              <p:cNvSpPr txBox="1">
                <a:spLocks noRot="1" noChangeAspect="1" noMove="1" noResize="1" noEditPoints="1" noAdjustHandles="1" noChangeArrowheads="1" noChangeShapeType="1" noTextEdit="1"/>
              </p:cNvSpPr>
              <p:nvPr/>
            </p:nvSpPr>
            <p:spPr>
              <a:xfrm>
                <a:off x="4063403" y="4088172"/>
                <a:ext cx="1132980" cy="538640"/>
              </a:xfrm>
              <a:prstGeom prst="rect">
                <a:avLst/>
              </a:prstGeom>
              <a:blipFill>
                <a:blip r:embed="rId12"/>
                <a:stretch>
                  <a:fillRect/>
                </a:stretch>
              </a:blipFill>
            </p:spPr>
            <p:txBody>
              <a:bodyPr/>
              <a:lstStyle/>
              <a:p>
                <a:r>
                  <a:rPr lang="en-NZ">
                    <a:noFill/>
                  </a:rPr>
                  <a:t> </a:t>
                </a:r>
              </a:p>
            </p:txBody>
          </p:sp>
        </mc:Fallback>
      </mc:AlternateContent>
      <p:cxnSp>
        <p:nvCxnSpPr>
          <p:cNvPr id="44" name="Straight Connector 43">
            <a:extLst>
              <a:ext uri="{FF2B5EF4-FFF2-40B4-BE49-F238E27FC236}">
                <a16:creationId xmlns:a16="http://schemas.microsoft.com/office/drawing/2014/main" id="{F4F5AC65-F4D6-557E-189A-19BC3F1C652A}"/>
              </a:ext>
            </a:extLst>
          </p:cNvPr>
          <p:cNvCxnSpPr/>
          <p:nvPr/>
        </p:nvCxnSpPr>
        <p:spPr>
          <a:xfrm>
            <a:off x="2238017" y="3646713"/>
            <a:ext cx="0" cy="39578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 Placeholder 5">
                <a:extLst>
                  <a:ext uri="{FF2B5EF4-FFF2-40B4-BE49-F238E27FC236}">
                    <a16:creationId xmlns:a16="http://schemas.microsoft.com/office/drawing/2014/main" id="{48C614C6-543B-7CAE-CD95-8F4891F5546D}"/>
                  </a:ext>
                </a:extLst>
              </p:cNvPr>
              <p:cNvSpPr txBox="1">
                <a:spLocks/>
              </p:cNvSpPr>
              <p:nvPr/>
            </p:nvSpPr>
            <p:spPr>
              <a:xfrm>
                <a:off x="1687119" y="4071904"/>
                <a:ext cx="982639" cy="453789"/>
              </a:xfrm>
              <a:prstGeom prst="rect">
                <a:avLst/>
              </a:prstGeom>
              <a:ln>
                <a:no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sSub>
                        <m:sSubPr>
                          <m:ctrlPr>
                            <a:rPr lang="en-NZ" altLang="ja-JP" sz="2000" b="1" i="1" smtClean="0">
                              <a:solidFill>
                                <a:srgbClr val="C00000"/>
                              </a:solidFill>
                              <a:latin typeface="Cambria Math" panose="02040503050406030204" pitchFamily="18" charset="0"/>
                            </a:rPr>
                          </m:ctrlPr>
                        </m:sSubPr>
                        <m:e>
                          <m:r>
                            <a:rPr lang="en-NZ" altLang="ja-JP" sz="2000" b="1" i="1" smtClean="0">
                              <a:solidFill>
                                <a:srgbClr val="C00000"/>
                              </a:solidFill>
                              <a:latin typeface="Cambria Math" panose="02040503050406030204" pitchFamily="18" charset="0"/>
                            </a:rPr>
                            <m:t>𝒀</m:t>
                          </m:r>
                        </m:e>
                        <m:sub>
                          <m:r>
                            <a:rPr lang="en-NZ" altLang="ja-JP" sz="2000" b="1" i="1" smtClean="0">
                              <a:solidFill>
                                <a:srgbClr val="C00000"/>
                              </a:solidFill>
                              <a:latin typeface="Cambria Math" panose="02040503050406030204" pitchFamily="18" charset="0"/>
                            </a:rPr>
                            <m:t>𝟐</m:t>
                          </m:r>
                          <m:r>
                            <a:rPr lang="en-NZ" altLang="ja-JP" sz="2000" b="1" i="1" smtClean="0">
                              <a:solidFill>
                                <a:srgbClr val="C00000"/>
                              </a:solidFill>
                              <a:latin typeface="Cambria Math" panose="02040503050406030204" pitchFamily="18" charset="0"/>
                            </a:rPr>
                            <m:t>,</m:t>
                          </m:r>
                          <m:r>
                            <a:rPr lang="en-NZ" altLang="ja-JP" sz="2000" b="1" i="1" smtClean="0">
                              <a:solidFill>
                                <a:srgbClr val="C00000"/>
                              </a:solidFill>
                              <a:latin typeface="Cambria Math" panose="02040503050406030204" pitchFamily="18" charset="0"/>
                            </a:rPr>
                            <m:t>𝒋</m:t>
                          </m:r>
                        </m:sub>
                      </m:sSub>
                    </m:oMath>
                  </m:oMathPara>
                </a14:m>
                <a:endParaRPr lang="en-NZ" altLang="ja-JP" sz="2000" b="1" dirty="0">
                  <a:solidFill>
                    <a:srgbClr val="C00000"/>
                  </a:solidFill>
                </a:endParaRPr>
              </a:p>
              <a:p>
                <a:pPr algn="ctr">
                  <a:lnSpc>
                    <a:spcPct val="100000"/>
                  </a:lnSpc>
                </a:pPr>
                <a:endParaRPr lang="en-NZ" altLang="ja-JP" sz="2000" b="1" dirty="0">
                  <a:solidFill>
                    <a:srgbClr val="C00000"/>
                  </a:solidFill>
                </a:endParaRPr>
              </a:p>
              <a:p>
                <a:pPr algn="ctr">
                  <a:lnSpc>
                    <a:spcPct val="100000"/>
                  </a:lnSpc>
                </a:pPr>
                <a:endParaRPr lang="en-NZ" altLang="ja-JP" sz="2000" b="1" i="1" dirty="0">
                  <a:solidFill>
                    <a:srgbClr val="C00000"/>
                  </a:solidFill>
                </a:endParaRPr>
              </a:p>
            </p:txBody>
          </p:sp>
        </mc:Choice>
        <mc:Fallback xmlns="">
          <p:sp>
            <p:nvSpPr>
              <p:cNvPr id="45" name="Text Placeholder 5">
                <a:extLst>
                  <a:ext uri="{FF2B5EF4-FFF2-40B4-BE49-F238E27FC236}">
                    <a16:creationId xmlns:a16="http://schemas.microsoft.com/office/drawing/2014/main" id="{48C614C6-543B-7CAE-CD95-8F4891F5546D}"/>
                  </a:ext>
                </a:extLst>
              </p:cNvPr>
              <p:cNvSpPr txBox="1">
                <a:spLocks noRot="1" noChangeAspect="1" noMove="1" noResize="1" noEditPoints="1" noAdjustHandles="1" noChangeArrowheads="1" noChangeShapeType="1" noTextEdit="1"/>
              </p:cNvSpPr>
              <p:nvPr/>
            </p:nvSpPr>
            <p:spPr>
              <a:xfrm>
                <a:off x="1687119" y="4071904"/>
                <a:ext cx="982639" cy="453789"/>
              </a:xfrm>
              <a:prstGeom prst="rect">
                <a:avLst/>
              </a:prstGeom>
              <a:blipFill>
                <a:blip r:embed="rId13"/>
                <a:stretch>
                  <a:fillRect b="-5405"/>
                </a:stretch>
              </a:blipFill>
              <a:ln>
                <a:no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6" name="Text Placeholder 5">
                <a:extLst>
                  <a:ext uri="{FF2B5EF4-FFF2-40B4-BE49-F238E27FC236}">
                    <a16:creationId xmlns:a16="http://schemas.microsoft.com/office/drawing/2014/main" id="{166D5ECB-7F0B-C4BF-47F4-3006F705CD4C}"/>
                  </a:ext>
                </a:extLst>
              </p:cNvPr>
              <p:cNvSpPr txBox="1">
                <a:spLocks/>
              </p:cNvSpPr>
              <p:nvPr/>
            </p:nvSpPr>
            <p:spPr>
              <a:xfrm>
                <a:off x="2452965" y="4560501"/>
                <a:ext cx="982639" cy="108477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m:t>
                      </m:r>
                    </m:oMath>
                  </m:oMathPara>
                </a14:m>
                <a:endParaRPr lang="en-NZ" altLang="ja-JP" sz="2000" b="1" dirty="0">
                  <a:solidFill>
                    <a:schemeClr val="tx1"/>
                  </a:solidFill>
                </a:endParaRPr>
              </a:p>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𝟐</m:t>
                          </m:r>
                        </m:sub>
                      </m:sSub>
                    </m:oMath>
                  </m:oMathPara>
                </a14:m>
                <a:endParaRPr lang="en-NZ" altLang="ja-JP" sz="2000" b="1" dirty="0">
                  <a:solidFill>
                    <a:schemeClr val="tx1"/>
                  </a:solidFill>
                </a:endParaRPr>
              </a:p>
              <a:p>
                <a:pPr algn="ctr">
                  <a:lnSpc>
                    <a:spcPct val="100000"/>
                  </a:lnSpc>
                </a:pPr>
                <a:endParaRPr lang="en-NZ" altLang="ja-JP" sz="2000" b="1" dirty="0">
                  <a:solidFill>
                    <a:schemeClr val="tx1"/>
                  </a:solidFill>
                </a:endParaRPr>
              </a:p>
              <a:p>
                <a:pPr algn="ctr">
                  <a:lnSpc>
                    <a:spcPct val="100000"/>
                  </a:lnSpc>
                </a:pPr>
                <a:endParaRPr lang="en-NZ" altLang="ja-JP" sz="2000" b="1" i="1" dirty="0">
                  <a:solidFill>
                    <a:schemeClr val="tx1"/>
                  </a:solidFill>
                </a:endParaRPr>
              </a:p>
            </p:txBody>
          </p:sp>
        </mc:Choice>
        <mc:Fallback xmlns="">
          <p:sp>
            <p:nvSpPr>
              <p:cNvPr id="46" name="Text Placeholder 5">
                <a:extLst>
                  <a:ext uri="{FF2B5EF4-FFF2-40B4-BE49-F238E27FC236}">
                    <a16:creationId xmlns:a16="http://schemas.microsoft.com/office/drawing/2014/main" id="{166D5ECB-7F0B-C4BF-47F4-3006F705CD4C}"/>
                  </a:ext>
                </a:extLst>
              </p:cNvPr>
              <p:cNvSpPr txBox="1">
                <a:spLocks noRot="1" noChangeAspect="1" noMove="1" noResize="1" noEditPoints="1" noAdjustHandles="1" noChangeArrowheads="1" noChangeShapeType="1" noTextEdit="1"/>
              </p:cNvSpPr>
              <p:nvPr/>
            </p:nvSpPr>
            <p:spPr>
              <a:xfrm>
                <a:off x="2452965" y="4560501"/>
                <a:ext cx="982639" cy="1084773"/>
              </a:xfrm>
              <a:prstGeom prst="rect">
                <a:avLst/>
              </a:prstGeom>
              <a:blipFill>
                <a:blip r:embed="rId14"/>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82185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31" grpId="0"/>
      <p:bldP spid="33" grpId="0"/>
      <p:bldP spid="34" grpId="0"/>
      <p:bldP spid="35" grpId="0"/>
      <p:bldP spid="36" grpId="0" animBg="1"/>
      <p:bldP spid="38" grpId="0"/>
      <p:bldP spid="39" grpId="0"/>
      <p:bldP spid="45" grpId="0" animBg="1"/>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0" name="Text Placeholder 5">
            <a:extLst>
              <a:ext uri="{FF2B5EF4-FFF2-40B4-BE49-F238E27FC236}">
                <a16:creationId xmlns:a16="http://schemas.microsoft.com/office/drawing/2014/main" id="{AE1BF0D4-FAFF-4FC3-ABD0-4CF185D65900}"/>
              </a:ext>
            </a:extLst>
          </p:cNvPr>
          <p:cNvSpPr txBox="1">
            <a:spLocks/>
          </p:cNvSpPr>
          <p:nvPr/>
        </p:nvSpPr>
        <p:spPr>
          <a:xfrm>
            <a:off x="251221" y="2586596"/>
            <a:ext cx="956151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take a balanced sample* of </a:t>
            </a:r>
            <a:r>
              <a:rPr lang="en-NZ" altLang="ja-JP" sz="1600" b="1" i="1" dirty="0">
                <a:solidFill>
                  <a:schemeClr val="tx1"/>
                </a:solidFill>
              </a:rPr>
              <a:t>N = k n</a:t>
            </a:r>
            <a:r>
              <a:rPr lang="en-NZ" altLang="ja-JP" sz="1600" dirty="0">
                <a:solidFill>
                  <a:schemeClr val="tx1"/>
                </a:solidFill>
              </a:rPr>
              <a:t> observations (i.e. </a:t>
            </a:r>
            <a:r>
              <a:rPr lang="en-NZ" altLang="ja-JP" sz="1600" b="1" i="1" dirty="0">
                <a:solidFill>
                  <a:schemeClr val="tx1"/>
                </a:solidFill>
              </a:rPr>
              <a:t>n</a:t>
            </a:r>
            <a:r>
              <a:rPr lang="en-NZ" altLang="ja-JP" sz="1600" dirty="0">
                <a:solidFill>
                  <a:schemeClr val="tx1"/>
                </a:solidFill>
              </a:rPr>
              <a:t> observations from each of the </a:t>
            </a:r>
            <a:r>
              <a:rPr lang="en-NZ" altLang="ja-JP" sz="1600" b="1" i="1" dirty="0">
                <a:solidFill>
                  <a:schemeClr val="tx1"/>
                </a:solidFill>
              </a:rPr>
              <a:t>k </a:t>
            </a:r>
            <a:r>
              <a:rPr lang="en-NZ" altLang="ja-JP" sz="1600" dirty="0">
                <a:solidFill>
                  <a:schemeClr val="tx1"/>
                </a:solidFill>
              </a:rPr>
              <a:t>groups)</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BF16F0C3-0C83-4173-8671-A97A49C52566}"/>
                  </a:ext>
                </a:extLst>
              </p:cNvPr>
              <p:cNvSpPr txBox="1">
                <a:spLocks/>
              </p:cNvSpPr>
              <p:nvPr/>
            </p:nvSpPr>
            <p:spPr>
              <a:xfrm>
                <a:off x="251221" y="2936223"/>
                <a:ext cx="11526796" cy="1387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 name="Text Placeholder 5">
                <a:extLst>
                  <a:ext uri="{FF2B5EF4-FFF2-40B4-BE49-F238E27FC236}">
                    <a16:creationId xmlns:a16="http://schemas.microsoft.com/office/drawing/2014/main" id="{BF16F0C3-0C83-4173-8671-A97A49C52566}"/>
                  </a:ext>
                </a:extLst>
              </p:cNvPr>
              <p:cNvSpPr txBox="1">
                <a:spLocks noRot="1" noChangeAspect="1" noMove="1" noResize="1" noEditPoints="1" noAdjustHandles="1" noChangeArrowheads="1" noChangeShapeType="1" noTextEdit="1"/>
              </p:cNvSpPr>
              <p:nvPr/>
            </p:nvSpPr>
            <p:spPr>
              <a:xfrm>
                <a:off x="251221" y="2936223"/>
                <a:ext cx="11526796" cy="1387420"/>
              </a:xfrm>
              <a:prstGeom prst="rect">
                <a:avLst/>
              </a:prstGeom>
              <a:blipFill>
                <a:blip r:embed="rId2"/>
                <a:stretch>
                  <a:fillRect/>
                </a:stretch>
              </a:blipFill>
            </p:spPr>
            <p:txBody>
              <a:bodyPr/>
              <a:lstStyle/>
              <a:p>
                <a:r>
                  <a:rPr lang="en-NZ">
                    <a:noFill/>
                  </a:rPr>
                  <a:t> </a:t>
                </a:r>
              </a:p>
            </p:txBody>
          </p:sp>
        </mc:Fallback>
      </mc:AlternateContent>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11300" y="4423443"/>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11298" y="4831457"/>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11298" y="4831457"/>
                <a:ext cx="7997592"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FC934FC-49B1-4A6B-A0AE-3AA79B59B349}"/>
                  </a:ext>
                </a:extLst>
              </p:cNvPr>
              <p:cNvSpPr txBox="1">
                <a:spLocks/>
              </p:cNvSpPr>
              <p:nvPr/>
            </p:nvSpPr>
            <p:spPr>
              <a:xfrm>
                <a:off x="6401394" y="4820194"/>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18" name="Text Placeholder 5">
                <a:extLst>
                  <a:ext uri="{FF2B5EF4-FFF2-40B4-BE49-F238E27FC236}">
                    <a16:creationId xmlns:a16="http://schemas.microsoft.com/office/drawing/2014/main" id="{4FC934FC-49B1-4A6B-A0AE-3AA79B59B349}"/>
                  </a:ext>
                </a:extLst>
              </p:cNvPr>
              <p:cNvSpPr txBox="1">
                <a:spLocks noRot="1" noChangeAspect="1" noMove="1" noResize="1" noEditPoints="1" noAdjustHandles="1" noChangeArrowheads="1" noChangeShapeType="1" noTextEdit="1"/>
              </p:cNvSpPr>
              <p:nvPr/>
            </p:nvSpPr>
            <p:spPr>
              <a:xfrm>
                <a:off x="6401394" y="4820194"/>
                <a:ext cx="2359788"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51221" y="5309266"/>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51221" y="5309266"/>
                <a:ext cx="6286057" cy="815449"/>
              </a:xfrm>
              <a:prstGeom prst="rect">
                <a:avLst/>
              </a:prstGeom>
              <a:blipFill>
                <a:blip r:embed="rId5"/>
                <a:stretch>
                  <a:fillRect l="-485" t="-223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26B99C54-6059-47F5-B59B-95E5BBF910C0}"/>
                  </a:ext>
                </a:extLst>
              </p:cNvPr>
              <p:cNvSpPr txBox="1">
                <a:spLocks/>
              </p:cNvSpPr>
              <p:nvPr/>
            </p:nvSpPr>
            <p:spPr>
              <a:xfrm>
                <a:off x="7056022" y="5216945"/>
                <a:ext cx="4121494" cy="1145262"/>
              </a:xfrm>
              <a:prstGeom prst="rect">
                <a:avLst/>
              </a:prstGeom>
              <a:ln>
                <a:solidFill>
                  <a:srgbClr val="C00000"/>
                </a:solid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and apply the constraint</a:t>
                </a:r>
              </a:p>
              <a:p>
                <a:pPr algn="just">
                  <a:lnSpc>
                    <a:spcPct val="100000"/>
                  </a:lnSpc>
                </a:pPr>
                <a14:m>
                  <m:oMathPara xmlns:m="http://schemas.openxmlformats.org/officeDocument/2006/math">
                    <m:oMathParaPr>
                      <m:jc m:val="centerGroup"/>
                    </m:oMathParaPr>
                    <m:oMath xmlns:m="http://schemas.openxmlformats.org/officeDocument/2006/math">
                      <m:nary>
                        <m:naryPr>
                          <m:chr m:val="∑"/>
                          <m:ctrlPr>
                            <a:rPr lang="en-NZ" altLang="ja-JP" sz="160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𝛼</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=0    </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r>
                            <a:rPr lang="en-NZ" altLang="ja-JP" sz="1600" b="0" i="1" smtClean="0">
                              <a:solidFill>
                                <a:schemeClr val="tx1"/>
                              </a:solidFill>
                              <a:latin typeface="Cambria Math" panose="02040503050406030204" pitchFamily="18" charset="0"/>
                            </a:rPr>
                            <m:t>𝑘</m:t>
                          </m:r>
                        </m:den>
                      </m:f>
                      <m:nary>
                        <m:naryPr>
                          <m:chr m:val="∑"/>
                          <m:ctrlPr>
                            <a:rPr lang="en-NZ" altLang="ja-JP" sz="1600" b="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𝜇</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𝜇</m:t>
                      </m:r>
                    </m:oMath>
                  </m:oMathPara>
                </a14:m>
                <a:endParaRPr lang="en-NZ" altLang="ja-JP" sz="1600" i="1" dirty="0">
                  <a:solidFill>
                    <a:schemeClr val="tx1"/>
                  </a:solidFill>
                </a:endParaRPr>
              </a:p>
            </p:txBody>
          </p:sp>
        </mc:Choice>
        <mc:Fallback xmlns="">
          <p:sp>
            <p:nvSpPr>
              <p:cNvPr id="20" name="Text Placeholder 5">
                <a:extLst>
                  <a:ext uri="{FF2B5EF4-FFF2-40B4-BE49-F238E27FC236}">
                    <a16:creationId xmlns:a16="http://schemas.microsoft.com/office/drawing/2014/main" id="{26B99C54-6059-47F5-B59B-95E5BBF910C0}"/>
                  </a:ext>
                </a:extLst>
              </p:cNvPr>
              <p:cNvSpPr txBox="1">
                <a:spLocks noRot="1" noChangeAspect="1" noMove="1" noResize="1" noEditPoints="1" noAdjustHandles="1" noChangeArrowheads="1" noChangeShapeType="1" noTextEdit="1"/>
              </p:cNvSpPr>
              <p:nvPr/>
            </p:nvSpPr>
            <p:spPr>
              <a:xfrm>
                <a:off x="7056022" y="5216945"/>
                <a:ext cx="4121494" cy="1145262"/>
              </a:xfrm>
              <a:prstGeom prst="rect">
                <a:avLst/>
              </a:prstGeom>
              <a:blipFill>
                <a:blip r:embed="rId6"/>
                <a:stretch>
                  <a:fillRect t="-1053"/>
                </a:stretch>
              </a:blipFill>
              <a:ln>
                <a:solidFill>
                  <a:srgbClr val="C00000"/>
                </a:solidFill>
              </a:ln>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12</a:t>
            </a:fld>
            <a:endParaRPr kumimoji="1" lang="ja-JP" altLang="en-US" dirty="0">
              <a:solidFill>
                <a:srgbClr val="575454">
                  <a:lumMod val="20000"/>
                  <a:lumOff val="80000"/>
                </a:srgbClr>
              </a:solidFill>
              <a:latin typeface="Coo Hew"/>
            </a:endParaRPr>
          </a:p>
        </p:txBody>
      </p:sp>
      <p:sp>
        <p:nvSpPr>
          <p:cNvPr id="24" name="Title 6">
            <a:extLst>
              <a:ext uri="{FF2B5EF4-FFF2-40B4-BE49-F238E27FC236}">
                <a16:creationId xmlns:a16="http://schemas.microsoft.com/office/drawing/2014/main" id="{1F57983C-2061-4166-B162-70D678F80918}"/>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21" name="Footer Placeholder 2">
            <a:extLst>
              <a:ext uri="{FF2B5EF4-FFF2-40B4-BE49-F238E27FC236}">
                <a16:creationId xmlns:a16="http://schemas.microsoft.com/office/drawing/2014/main" id="{D8E88278-4CDC-0391-FC14-4C59862470F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153200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967137"/>
            <a:ext cx="11232109" cy="10527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Of course, we don’t know what the true values of the parameters </a:t>
            </a:r>
            <a:r>
              <a:rPr lang="el-GR" altLang="ja-JP" sz="1800" b="1" i="1" dirty="0">
                <a:solidFill>
                  <a:schemeClr val="tx1"/>
                </a:solidFill>
              </a:rPr>
              <a:t>μ</a:t>
            </a:r>
            <a:r>
              <a:rPr lang="en-NZ" altLang="ja-JP" sz="1800" b="1" i="1" dirty="0">
                <a:solidFill>
                  <a:schemeClr val="tx1"/>
                </a:solidFill>
              </a:rPr>
              <a:t>, </a:t>
            </a:r>
            <a:r>
              <a:rPr lang="el-GR" altLang="ja-JP" sz="1800" b="1" i="1" dirty="0">
                <a:solidFill>
                  <a:schemeClr val="tx1"/>
                </a:solidFill>
              </a:rPr>
              <a:t>μ</a:t>
            </a:r>
            <a:r>
              <a:rPr lang="en-NZ" altLang="ja-JP" sz="1800" b="1" i="1" baseline="-25000" dirty="0" err="1">
                <a:solidFill>
                  <a:schemeClr val="tx1"/>
                </a:solidFill>
              </a:rPr>
              <a:t>i</a:t>
            </a:r>
            <a:r>
              <a:rPr lang="en-NZ" altLang="ja-JP" sz="1800" b="1" i="1" baseline="-25000" dirty="0">
                <a:solidFill>
                  <a:schemeClr val="tx1"/>
                </a:solidFill>
              </a:rPr>
              <a:t> </a:t>
            </a:r>
            <a:r>
              <a:rPr lang="en-NZ" altLang="ja-JP" sz="1800" b="1" i="1" dirty="0">
                <a:solidFill>
                  <a:schemeClr val="tx1"/>
                </a:solidFill>
              </a:rPr>
              <a:t> </a:t>
            </a:r>
            <a:r>
              <a:rPr lang="en-NZ" altLang="ja-JP" sz="1800" dirty="0">
                <a:solidFill>
                  <a:schemeClr val="tx1"/>
                </a:solidFill>
              </a:rPr>
              <a:t>and </a:t>
            </a:r>
            <a:r>
              <a:rPr lang="el-GR" altLang="ja-JP" sz="1800" b="1" i="1" dirty="0">
                <a:solidFill>
                  <a:schemeClr val="tx1"/>
                </a:solidFill>
              </a:rPr>
              <a:t>α</a:t>
            </a:r>
            <a:r>
              <a:rPr lang="en-NZ" altLang="ja-JP" sz="1800" b="1" i="1" baseline="-25000" dirty="0" err="1">
                <a:solidFill>
                  <a:schemeClr val="tx1"/>
                </a:solidFill>
              </a:rPr>
              <a:t>i</a:t>
            </a:r>
            <a:r>
              <a:rPr lang="en-NZ" altLang="ja-JP" sz="1800" b="1" i="1" dirty="0">
                <a:solidFill>
                  <a:schemeClr val="tx1"/>
                </a:solidFill>
              </a:rPr>
              <a:t>  </a:t>
            </a:r>
            <a:r>
              <a:rPr lang="en-NZ" altLang="ja-JP" sz="1800" dirty="0">
                <a:solidFill>
                  <a:schemeClr val="tx1"/>
                </a:solidFill>
              </a:rPr>
              <a:t>are. </a:t>
            </a:r>
          </a:p>
          <a:p>
            <a:pPr algn="just">
              <a:lnSpc>
                <a:spcPct val="100000"/>
              </a:lnSpc>
            </a:pPr>
            <a:r>
              <a:rPr lang="en-NZ" altLang="ja-JP" sz="1800" dirty="0">
                <a:solidFill>
                  <a:schemeClr val="tx1"/>
                </a:solidFill>
              </a:rPr>
              <a:t>Nor do we know what the value of </a:t>
            </a:r>
            <a:r>
              <a:rPr lang="el-GR" altLang="ja-JP" sz="1800" b="1" i="1" dirty="0">
                <a:solidFill>
                  <a:schemeClr val="tx1"/>
                </a:solidFill>
              </a:rPr>
              <a:t>σ</a:t>
            </a:r>
            <a:r>
              <a:rPr lang="en-NZ" altLang="ja-JP" sz="1800" b="1" i="1" baseline="30000" dirty="0">
                <a:solidFill>
                  <a:schemeClr val="tx1"/>
                </a:solidFill>
              </a:rPr>
              <a:t>2</a:t>
            </a:r>
            <a:r>
              <a:rPr lang="en-NZ" altLang="ja-JP" sz="1800" dirty="0">
                <a:solidFill>
                  <a:schemeClr val="tx1"/>
                </a:solidFill>
              </a:rPr>
              <a:t> (the common variance of each of the groups).</a:t>
            </a:r>
          </a:p>
          <a:p>
            <a:pPr algn="just">
              <a:lnSpc>
                <a:spcPct val="100000"/>
              </a:lnSpc>
            </a:pPr>
            <a:r>
              <a:rPr lang="en-NZ" altLang="ja-JP" sz="1800" dirty="0">
                <a:solidFill>
                  <a:schemeClr val="tx1"/>
                </a:solidFill>
              </a:rPr>
              <a:t>These parameters must be estimated from the sample of data obtained.</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65DAA0E3-20E5-496E-AF00-FF240493E01C}"/>
                  </a:ext>
                </a:extLst>
              </p:cNvPr>
              <p:cNvGraphicFramePr>
                <a:graphicFrameLocks noGrp="1"/>
              </p:cNvGraphicFramePr>
              <p:nvPr>
                <p:extLst>
                  <p:ext uri="{D42A27DB-BD31-4B8C-83A1-F6EECF244321}">
                    <p14:modId xmlns:p14="http://schemas.microsoft.com/office/powerpoint/2010/main" val="185975087"/>
                  </p:ext>
                </p:extLst>
              </p:nvPr>
            </p:nvGraphicFramePr>
            <p:xfrm>
              <a:off x="2032000" y="2141972"/>
              <a:ext cx="8127999" cy="3494076"/>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198110682"/>
                        </a:ext>
                      </a:extLst>
                    </a:gridCol>
                    <a:gridCol w="2709333">
                      <a:extLst>
                        <a:ext uri="{9D8B030D-6E8A-4147-A177-3AD203B41FA5}">
                          <a16:colId xmlns:a16="http://schemas.microsoft.com/office/drawing/2014/main" val="292302729"/>
                        </a:ext>
                      </a:extLst>
                    </a:gridCol>
                    <a:gridCol w="2709333">
                      <a:extLst>
                        <a:ext uri="{9D8B030D-6E8A-4147-A177-3AD203B41FA5}">
                          <a16:colId xmlns:a16="http://schemas.microsoft.com/office/drawing/2014/main" val="126256495"/>
                        </a:ext>
                      </a:extLst>
                    </a:gridCol>
                  </a:tblGrid>
                  <a:tr h="370840">
                    <a:tc>
                      <a:txBody>
                        <a:bodyPr/>
                        <a:lstStyle/>
                        <a:p>
                          <a:pPr algn="ctr"/>
                          <a:r>
                            <a:rPr lang="en-NZ" dirty="0"/>
                            <a:t>Parameter</a:t>
                          </a:r>
                        </a:p>
                      </a:txBody>
                      <a:tcPr anchor="ctr"/>
                    </a:tc>
                    <a:tc>
                      <a:txBody>
                        <a:bodyPr/>
                        <a:lstStyle/>
                        <a:p>
                          <a:pPr algn="ctr"/>
                          <a:r>
                            <a:rPr lang="en-NZ" dirty="0"/>
                            <a:t>Estimator</a:t>
                          </a:r>
                        </a:p>
                      </a:txBody>
                      <a:tcPr anchor="ctr"/>
                    </a:tc>
                    <a:tc>
                      <a:txBody>
                        <a:bodyPr/>
                        <a:lstStyle/>
                        <a:p>
                          <a:pPr algn="ctr"/>
                          <a:r>
                            <a:rPr lang="en-NZ" dirty="0"/>
                            <a:t>Meaning</a:t>
                          </a:r>
                        </a:p>
                      </a:txBody>
                      <a:tcPr anchor="ctr"/>
                    </a:tc>
                    <a:extLst>
                      <a:ext uri="{0D108BD9-81ED-4DB2-BD59-A6C34878D82A}">
                        <a16:rowId xmlns:a16="http://schemas.microsoft.com/office/drawing/2014/main" val="3666350365"/>
                      </a:ext>
                    </a:extLst>
                  </a:tr>
                  <a:tr h="370840">
                    <a:tc>
                      <a:txBody>
                        <a:bodyPr/>
                        <a:lstStyle/>
                        <a:p>
                          <a:pPr algn="ctr"/>
                          <a14:m>
                            <m:oMathPara xmlns:m="http://schemas.openxmlformats.org/officeDocument/2006/math">
                              <m:oMathParaPr>
                                <m:jc m:val="centerGroup"/>
                              </m:oMathParaPr>
                              <m:oMath xmlns:m="http://schemas.openxmlformats.org/officeDocument/2006/math">
                                <m:r>
                                  <a:rPr lang="en-NZ" b="0" i="1" smtClean="0">
                                    <a:latin typeface="Cambria Math" panose="02040503050406030204" pitchFamily="18" charset="0"/>
                                  </a:rPr>
                                  <m:t>𝜇</m:t>
                                </m:r>
                              </m:oMath>
                            </m:oMathPara>
                          </a14:m>
                          <a:endParaRPr lang="en-NZ"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b="0" i="1" smtClean="0">
                                        <a:latin typeface="Cambria Math" panose="02040503050406030204" pitchFamily="18" charset="0"/>
                                      </a:rPr>
                                    </m:ctrlPr>
                                  </m:sSubPr>
                                  <m:e>
                                    <m:acc>
                                      <m:accPr>
                                        <m:chr m:val="̅"/>
                                        <m:ctrlPr>
                                          <a:rPr lang="en-NZ" i="1" smtClean="0">
                                            <a:latin typeface="Cambria Math" panose="02040503050406030204" pitchFamily="18" charset="0"/>
                                          </a:rPr>
                                        </m:ctrlPr>
                                      </m:accPr>
                                      <m:e>
                                        <m:r>
                                          <a:rPr lang="en-NZ" b="0" i="1" smtClean="0">
                                            <a:latin typeface="Cambria Math" panose="02040503050406030204" pitchFamily="18" charset="0"/>
                                          </a:rPr>
                                          <m:t>𝑌</m:t>
                                        </m:r>
                                      </m:e>
                                    </m:acc>
                                  </m:e>
                                  <m:sub>
                                    <m:r>
                                      <a:rPr lang="en-NZ" i="1" smtClean="0">
                                        <a:latin typeface="Cambria Math" panose="02040503050406030204" pitchFamily="18" charset="0"/>
                                        <a:ea typeface="Cambria Math" panose="02040503050406030204" pitchFamily="18" charset="0"/>
                                      </a:rPr>
                                      <m:t>∙∙</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1</m:t>
                                    </m:r>
                                  </m:num>
                                  <m:den>
                                    <m:r>
                                      <a:rPr lang="en-NZ" b="0" i="1" smtClean="0">
                                        <a:latin typeface="Cambria Math" panose="02040503050406030204" pitchFamily="18" charset="0"/>
                                      </a:rPr>
                                      <m:t>𝑘𝑛</m:t>
                                    </m:r>
                                  </m:den>
                                </m:f>
                                <m:r>
                                  <a:rPr lang="en-NZ" b="0" i="1" smtClean="0">
                                    <a:latin typeface="Cambria Math" panose="02040503050406030204" pitchFamily="18" charset="0"/>
                                  </a:rPr>
                                  <m:t> </m:t>
                                </m:r>
                                <m:nary>
                                  <m:naryPr>
                                    <m:chr m:val="∑"/>
                                    <m:ctrlPr>
                                      <a:rPr lang="en-NZ" b="0" i="1" smtClean="0">
                                        <a:latin typeface="Cambria Math" panose="02040503050406030204" pitchFamily="18" charset="0"/>
                                      </a:rPr>
                                    </m:ctrlPr>
                                  </m:naryPr>
                                  <m:sub>
                                    <m:r>
                                      <m:rPr>
                                        <m:brk m:alnAt="23"/>
                                      </m:rPr>
                                      <a:rPr lang="en-NZ" b="0" i="1" smtClean="0">
                                        <a:latin typeface="Cambria Math" panose="02040503050406030204" pitchFamily="18" charset="0"/>
                                      </a:rPr>
                                      <m:t>𝑖</m:t>
                                    </m:r>
                                    <m:r>
                                      <a:rPr lang="en-NZ" b="0" i="1" smtClean="0">
                                        <a:latin typeface="Cambria Math" panose="02040503050406030204" pitchFamily="18" charset="0"/>
                                      </a:rPr>
                                      <m:t>=1</m:t>
                                    </m:r>
                                  </m:sub>
                                  <m:sup>
                                    <m:r>
                                      <a:rPr lang="en-NZ" b="0" i="1" smtClean="0">
                                        <a:latin typeface="Cambria Math" panose="02040503050406030204" pitchFamily="18" charset="0"/>
                                      </a:rPr>
                                      <m:t>𝑘</m:t>
                                    </m:r>
                                  </m:sup>
                                  <m:e>
                                    <m:nary>
                                      <m:naryPr>
                                        <m:chr m:val="∑"/>
                                        <m:ctrlPr>
                                          <a:rPr lang="en-NZ" b="0" i="1" smtClean="0">
                                            <a:latin typeface="Cambria Math" panose="02040503050406030204" pitchFamily="18" charset="0"/>
                                          </a:rPr>
                                        </m:ctrlPr>
                                      </m:naryPr>
                                      <m:sub>
                                        <m:r>
                                          <m:rPr>
                                            <m:brk m:alnAt="23"/>
                                          </m:rPr>
                                          <a:rPr lang="en-NZ" b="0" i="1" smtClean="0">
                                            <a:latin typeface="Cambria Math" panose="02040503050406030204" pitchFamily="18" charset="0"/>
                                          </a:rPr>
                                          <m:t>𝑗</m:t>
                                        </m:r>
                                        <m:r>
                                          <a:rPr lang="en-NZ" b="0" i="1" smtClean="0">
                                            <a:latin typeface="Cambria Math" panose="02040503050406030204" pitchFamily="18" charset="0"/>
                                          </a:rPr>
                                          <m:t>=1</m:t>
                                        </m:r>
                                      </m:sub>
                                      <m:sup>
                                        <m:r>
                                          <a:rPr lang="en-NZ" b="0" i="1" smtClean="0">
                                            <a:latin typeface="Cambria Math" panose="02040503050406030204" pitchFamily="18" charset="0"/>
                                          </a:rPr>
                                          <m:t>𝑛</m:t>
                                        </m:r>
                                      </m:sup>
                                      <m:e>
                                        <m:sSub>
                                          <m:sSubPr>
                                            <m:ctrlPr>
                                              <a:rPr lang="en-NZ" b="0" i="1" smtClean="0">
                                                <a:latin typeface="Cambria Math" panose="02040503050406030204" pitchFamily="18" charset="0"/>
                                              </a:rPr>
                                            </m:ctrlPr>
                                          </m:sSubPr>
                                          <m:e>
                                            <m:r>
                                              <a:rPr lang="en-NZ" b="0" i="1" smtClean="0">
                                                <a:latin typeface="Cambria Math" panose="02040503050406030204" pitchFamily="18" charset="0"/>
                                              </a:rPr>
                                              <m:t>𝑌</m:t>
                                            </m:r>
                                          </m:e>
                                          <m:sub>
                                            <m:r>
                                              <a:rPr lang="en-NZ" b="0" i="1" smtClean="0">
                                                <a:latin typeface="Cambria Math" panose="02040503050406030204" pitchFamily="18" charset="0"/>
                                              </a:rPr>
                                              <m:t>𝑖</m:t>
                                            </m:r>
                                            <m:r>
                                              <a:rPr lang="en-NZ" b="0" i="1" smtClean="0">
                                                <a:latin typeface="Cambria Math" panose="02040503050406030204" pitchFamily="18" charset="0"/>
                                              </a:rPr>
                                              <m:t>,</m:t>
                                            </m:r>
                                            <m:r>
                                              <a:rPr lang="en-NZ" b="0" i="1" smtClean="0">
                                                <a:latin typeface="Cambria Math" panose="02040503050406030204" pitchFamily="18" charset="0"/>
                                              </a:rPr>
                                              <m:t>𝑗</m:t>
                                            </m:r>
                                          </m:sub>
                                        </m:sSub>
                                      </m:e>
                                    </m:nary>
                                  </m:e>
                                </m:nary>
                              </m:oMath>
                            </m:oMathPara>
                          </a14:m>
                          <a:endParaRPr lang="en-NZ" dirty="0"/>
                        </a:p>
                      </a:txBody>
                      <a:tcPr anchor="ctr"/>
                    </a:tc>
                    <a:tc>
                      <a:txBody>
                        <a:bodyPr/>
                        <a:lstStyle/>
                        <a:p>
                          <a:pPr algn="ctr"/>
                          <a:r>
                            <a:rPr lang="en-NZ" dirty="0"/>
                            <a:t>Overall Mean</a:t>
                          </a:r>
                        </a:p>
                      </a:txBody>
                      <a:tcPr anchor="ctr"/>
                    </a:tc>
                    <a:extLst>
                      <a:ext uri="{0D108BD9-81ED-4DB2-BD59-A6C34878D82A}">
                        <a16:rowId xmlns:a16="http://schemas.microsoft.com/office/drawing/2014/main" val="334148595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NZ" b="0" i="1" smtClean="0">
                                        <a:latin typeface="Cambria Math" panose="02040503050406030204" pitchFamily="18" charset="0"/>
                                      </a:rPr>
                                    </m:ctrlPr>
                                  </m:sSubPr>
                                  <m:e>
                                    <m:r>
                                      <a:rPr lang="en-NZ" b="0" i="1" smtClean="0">
                                        <a:latin typeface="Cambria Math" panose="02040503050406030204" pitchFamily="18" charset="0"/>
                                      </a:rPr>
                                      <m:t>𝜇</m:t>
                                    </m:r>
                                  </m:e>
                                  <m:sub>
                                    <m:r>
                                      <a:rPr lang="en-NZ" b="0" i="1" smtClean="0">
                                        <a:latin typeface="Cambria Math" panose="02040503050406030204" pitchFamily="18" charset="0"/>
                                      </a:rPr>
                                      <m:t>𝑖</m:t>
                                    </m:r>
                                  </m:sub>
                                </m:sSub>
                              </m:oMath>
                            </m:oMathPara>
                          </a14:m>
                          <a:endParaRPr lang="en-NZ"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b="0" i="1" smtClean="0">
                                        <a:latin typeface="Cambria Math" panose="02040503050406030204" pitchFamily="18" charset="0"/>
                                      </a:rPr>
                                    </m:ctrlPr>
                                  </m:sSubPr>
                                  <m:e>
                                    <m:acc>
                                      <m:accPr>
                                        <m:chr m:val="̅"/>
                                        <m:ctrlPr>
                                          <a:rPr lang="en-NZ" i="1" smtClean="0">
                                            <a:latin typeface="Cambria Math" panose="02040503050406030204" pitchFamily="18" charset="0"/>
                                          </a:rPr>
                                        </m:ctrlPr>
                                      </m:accPr>
                                      <m:e>
                                        <m:r>
                                          <a:rPr lang="en-NZ" b="0" i="1" smtClean="0">
                                            <a:latin typeface="Cambria Math" panose="02040503050406030204" pitchFamily="18" charset="0"/>
                                          </a:rPr>
                                          <m:t>𝑌</m:t>
                                        </m:r>
                                      </m:e>
                                    </m:acc>
                                  </m:e>
                                  <m:sub>
                                    <m:r>
                                      <a:rPr lang="en-NZ" b="0" i="1" smtClean="0">
                                        <a:latin typeface="Cambria Math" panose="02040503050406030204" pitchFamily="18" charset="0"/>
                                      </a:rPr>
                                      <m:t>𝑖</m:t>
                                    </m:r>
                                    <m:r>
                                      <a:rPr lang="en-NZ" b="0" i="1" smtClean="0">
                                        <a:latin typeface="Cambria Math" panose="02040503050406030204" pitchFamily="18" charset="0"/>
                                        <a:ea typeface="Cambria Math" panose="02040503050406030204" pitchFamily="18" charset="0"/>
                                      </a:rPr>
                                      <m:t>∙</m:t>
                                    </m:r>
                                  </m:sub>
                                </m:sSub>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1</m:t>
                                    </m:r>
                                  </m:num>
                                  <m:den>
                                    <m:r>
                                      <a:rPr lang="en-NZ" b="0" i="1" smtClean="0">
                                        <a:latin typeface="Cambria Math" panose="02040503050406030204" pitchFamily="18" charset="0"/>
                                      </a:rPr>
                                      <m:t>𝑛</m:t>
                                    </m:r>
                                  </m:den>
                                </m:f>
                                <m:r>
                                  <a:rPr lang="en-NZ" b="0" i="1" smtClean="0">
                                    <a:latin typeface="Cambria Math" panose="02040503050406030204" pitchFamily="18" charset="0"/>
                                  </a:rPr>
                                  <m:t> </m:t>
                                </m:r>
                                <m:nary>
                                  <m:naryPr>
                                    <m:chr m:val="∑"/>
                                    <m:ctrlPr>
                                      <a:rPr lang="en-NZ" b="0" i="1" smtClean="0">
                                        <a:latin typeface="Cambria Math" panose="02040503050406030204" pitchFamily="18" charset="0"/>
                                      </a:rPr>
                                    </m:ctrlPr>
                                  </m:naryPr>
                                  <m:sub>
                                    <m:r>
                                      <m:rPr>
                                        <m:brk m:alnAt="23"/>
                                      </m:rPr>
                                      <a:rPr lang="en-NZ" b="0" i="1" smtClean="0">
                                        <a:latin typeface="Cambria Math" panose="02040503050406030204" pitchFamily="18" charset="0"/>
                                      </a:rPr>
                                      <m:t>𝑗</m:t>
                                    </m:r>
                                    <m:r>
                                      <a:rPr lang="en-NZ" b="0" i="1" smtClean="0">
                                        <a:latin typeface="Cambria Math" panose="02040503050406030204" pitchFamily="18" charset="0"/>
                                      </a:rPr>
                                      <m:t>=1</m:t>
                                    </m:r>
                                  </m:sub>
                                  <m:sup>
                                    <m:r>
                                      <a:rPr lang="en-NZ" b="0" i="1" smtClean="0">
                                        <a:latin typeface="Cambria Math" panose="02040503050406030204" pitchFamily="18" charset="0"/>
                                      </a:rPr>
                                      <m:t>𝑛</m:t>
                                    </m:r>
                                  </m:sup>
                                  <m:e>
                                    <m:sSub>
                                      <m:sSubPr>
                                        <m:ctrlPr>
                                          <a:rPr lang="en-NZ" b="0" i="1" smtClean="0">
                                            <a:latin typeface="Cambria Math" panose="02040503050406030204" pitchFamily="18" charset="0"/>
                                          </a:rPr>
                                        </m:ctrlPr>
                                      </m:sSubPr>
                                      <m:e>
                                        <m:r>
                                          <a:rPr lang="en-NZ" b="0" i="1" smtClean="0">
                                            <a:latin typeface="Cambria Math" panose="02040503050406030204" pitchFamily="18" charset="0"/>
                                          </a:rPr>
                                          <m:t>𝑌</m:t>
                                        </m:r>
                                      </m:e>
                                      <m:sub>
                                        <m:r>
                                          <a:rPr lang="en-NZ" b="0" i="1" smtClean="0">
                                            <a:latin typeface="Cambria Math" panose="02040503050406030204" pitchFamily="18" charset="0"/>
                                          </a:rPr>
                                          <m:t>𝑖</m:t>
                                        </m:r>
                                        <m:r>
                                          <a:rPr lang="en-NZ" b="0" i="1" smtClean="0">
                                            <a:latin typeface="Cambria Math" panose="02040503050406030204" pitchFamily="18" charset="0"/>
                                          </a:rPr>
                                          <m:t>,</m:t>
                                        </m:r>
                                        <m:r>
                                          <a:rPr lang="en-NZ" b="0" i="1" smtClean="0">
                                            <a:latin typeface="Cambria Math" panose="02040503050406030204" pitchFamily="18" charset="0"/>
                                          </a:rPr>
                                          <m:t>𝑗</m:t>
                                        </m:r>
                                      </m:sub>
                                    </m:sSub>
                                  </m:e>
                                </m:nary>
                              </m:oMath>
                            </m:oMathPara>
                          </a14:m>
                          <a:endParaRPr lang="en-NZ" dirty="0"/>
                        </a:p>
                      </a:txBody>
                      <a:tcPr anchor="ctr"/>
                    </a:tc>
                    <a:tc>
                      <a:txBody>
                        <a:bodyPr/>
                        <a:lstStyle/>
                        <a:p>
                          <a:pPr algn="ctr"/>
                          <a:r>
                            <a:rPr lang="en-NZ" dirty="0"/>
                            <a:t>Mean of Group </a:t>
                          </a:r>
                          <a:r>
                            <a:rPr lang="en-NZ" dirty="0" err="1"/>
                            <a:t>i</a:t>
                          </a:r>
                          <a:endParaRPr lang="en-NZ" dirty="0"/>
                        </a:p>
                      </a:txBody>
                      <a:tcPr anchor="ctr"/>
                    </a:tc>
                    <a:extLst>
                      <a:ext uri="{0D108BD9-81ED-4DB2-BD59-A6C34878D82A}">
                        <a16:rowId xmlns:a16="http://schemas.microsoft.com/office/drawing/2014/main" val="3427382577"/>
                      </a:ext>
                    </a:extLst>
                  </a:tr>
                  <a:tr h="484049">
                    <a:tc>
                      <a:txBody>
                        <a:bodyPr/>
                        <a:lstStyle/>
                        <a:p>
                          <a:pPr algn="ctr"/>
                          <a14:m>
                            <m:oMathPara xmlns:m="http://schemas.openxmlformats.org/officeDocument/2006/math">
                              <m:oMathParaPr>
                                <m:jc m:val="centerGroup"/>
                              </m:oMathParaPr>
                              <m:oMath xmlns:m="http://schemas.openxmlformats.org/officeDocument/2006/math">
                                <m:sSub>
                                  <m:sSubPr>
                                    <m:ctrlPr>
                                      <a:rPr lang="en-NZ" b="0" i="1" smtClean="0">
                                        <a:latin typeface="Cambria Math" panose="02040503050406030204" pitchFamily="18" charset="0"/>
                                      </a:rPr>
                                    </m:ctrlPr>
                                  </m:sSubPr>
                                  <m:e>
                                    <m:r>
                                      <a:rPr lang="en-NZ" b="0" i="1" smtClean="0">
                                        <a:latin typeface="Cambria Math" panose="02040503050406030204" pitchFamily="18" charset="0"/>
                                      </a:rPr>
                                      <m:t>𝛼</m:t>
                                    </m:r>
                                  </m:e>
                                  <m:sub>
                                    <m:r>
                                      <a:rPr lang="en-NZ" b="0" i="1" smtClean="0">
                                        <a:latin typeface="Cambria Math" panose="02040503050406030204" pitchFamily="18" charset="0"/>
                                      </a:rPr>
                                      <m:t>𝑖</m:t>
                                    </m:r>
                                  </m:sub>
                                </m:sSub>
                                <m:r>
                                  <a:rPr lang="en-NZ" b="0" i="1" smtClean="0">
                                    <a:latin typeface="Cambria Math" panose="02040503050406030204" pitchFamily="18" charset="0"/>
                                  </a:rPr>
                                  <m:t> =  </m:t>
                                </m:r>
                                <m:sSub>
                                  <m:sSubPr>
                                    <m:ctrlPr>
                                      <a:rPr lang="en-NZ" b="0" i="1" smtClean="0">
                                        <a:latin typeface="Cambria Math" panose="02040503050406030204" pitchFamily="18" charset="0"/>
                                      </a:rPr>
                                    </m:ctrlPr>
                                  </m:sSubPr>
                                  <m:e>
                                    <m:r>
                                      <a:rPr lang="en-NZ" b="0" i="1" smtClean="0">
                                        <a:latin typeface="Cambria Math" panose="02040503050406030204" pitchFamily="18" charset="0"/>
                                      </a:rPr>
                                      <m:t>𝜇</m:t>
                                    </m:r>
                                  </m:e>
                                  <m:sub>
                                    <m:r>
                                      <a:rPr lang="en-NZ" b="0" i="1" smtClean="0">
                                        <a:latin typeface="Cambria Math" panose="02040503050406030204" pitchFamily="18" charset="0"/>
                                      </a:rPr>
                                      <m:t>𝑖</m:t>
                                    </m:r>
                                  </m:sub>
                                </m:sSub>
                                <m:r>
                                  <a:rPr lang="en-NZ" b="0" i="1" smtClean="0">
                                    <a:latin typeface="Cambria Math" panose="02040503050406030204" pitchFamily="18" charset="0"/>
                                  </a:rPr>
                                  <m:t>  −</m:t>
                                </m:r>
                                <m:r>
                                  <a:rPr lang="en-NZ" b="0" i="1" smtClean="0">
                                    <a:latin typeface="Cambria Math" panose="02040503050406030204" pitchFamily="18" charset="0"/>
                                  </a:rPr>
                                  <m:t>𝜇</m:t>
                                </m:r>
                              </m:oMath>
                            </m:oMathPara>
                          </a14:m>
                          <a:endParaRPr lang="en-NZ"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b="0" i="1" smtClean="0">
                                        <a:latin typeface="Cambria Math" panose="02040503050406030204" pitchFamily="18" charset="0"/>
                                      </a:rPr>
                                    </m:ctrlPr>
                                  </m:sSubPr>
                                  <m:e>
                                    <m:acc>
                                      <m:accPr>
                                        <m:chr m:val="̅"/>
                                        <m:ctrlPr>
                                          <a:rPr lang="en-NZ" i="1" smtClean="0">
                                            <a:latin typeface="Cambria Math" panose="02040503050406030204" pitchFamily="18" charset="0"/>
                                          </a:rPr>
                                        </m:ctrlPr>
                                      </m:accPr>
                                      <m:e>
                                        <m:r>
                                          <a:rPr lang="en-NZ" b="0" i="1" smtClean="0">
                                            <a:latin typeface="Cambria Math" panose="02040503050406030204" pitchFamily="18" charset="0"/>
                                          </a:rPr>
                                          <m:t>𝑌</m:t>
                                        </m:r>
                                      </m:e>
                                    </m:acc>
                                  </m:e>
                                  <m:sub>
                                    <m:r>
                                      <a:rPr lang="en-NZ" b="0" i="1" smtClean="0">
                                        <a:latin typeface="Cambria Math" panose="02040503050406030204" pitchFamily="18" charset="0"/>
                                      </a:rPr>
                                      <m:t>𝑖</m:t>
                                    </m:r>
                                    <m:r>
                                      <a:rPr lang="en-NZ" b="0" i="1" smtClean="0">
                                        <a:latin typeface="Cambria Math" panose="02040503050406030204" pitchFamily="18" charset="0"/>
                                        <a:ea typeface="Cambria Math" panose="02040503050406030204" pitchFamily="18" charset="0"/>
                                      </a:rPr>
                                      <m:t>∙</m:t>
                                    </m:r>
                                  </m:sub>
                                </m:sSub>
                                <m:r>
                                  <a:rPr lang="en-NZ" b="0" i="1" smtClean="0">
                                    <a:latin typeface="Cambria Math" panose="02040503050406030204" pitchFamily="18" charset="0"/>
                                    <a:ea typeface="Cambria Math" panose="02040503050406030204" pitchFamily="18" charset="0"/>
                                  </a:rPr>
                                  <m:t> −</m:t>
                                </m:r>
                                <m:sSub>
                                  <m:sSubPr>
                                    <m:ctrlPr>
                                      <a:rPr lang="en-NZ" b="0" i="1" smtClean="0">
                                        <a:latin typeface="Cambria Math" panose="02040503050406030204" pitchFamily="18" charset="0"/>
                                      </a:rPr>
                                    </m:ctrlPr>
                                  </m:sSubPr>
                                  <m:e>
                                    <m:acc>
                                      <m:accPr>
                                        <m:chr m:val="̅"/>
                                        <m:ctrlPr>
                                          <a:rPr lang="en-NZ" i="1" smtClean="0">
                                            <a:latin typeface="Cambria Math" panose="02040503050406030204" pitchFamily="18" charset="0"/>
                                          </a:rPr>
                                        </m:ctrlPr>
                                      </m:accPr>
                                      <m:e>
                                        <m:r>
                                          <a:rPr lang="en-NZ" b="0" i="1" smtClean="0">
                                            <a:latin typeface="Cambria Math" panose="02040503050406030204" pitchFamily="18" charset="0"/>
                                          </a:rPr>
                                          <m:t>𝑌</m:t>
                                        </m:r>
                                      </m:e>
                                    </m:acc>
                                  </m:e>
                                  <m:sub>
                                    <m:r>
                                      <a:rPr lang="en-NZ" i="1" smtClean="0">
                                        <a:latin typeface="Cambria Math" panose="02040503050406030204" pitchFamily="18" charset="0"/>
                                        <a:ea typeface="Cambria Math" panose="02040503050406030204" pitchFamily="18" charset="0"/>
                                      </a:rPr>
                                      <m:t>∙∙</m:t>
                                    </m:r>
                                  </m:sub>
                                </m:sSub>
                              </m:oMath>
                            </m:oMathPara>
                          </a14:m>
                          <a:endParaRPr lang="en-NZ" dirty="0"/>
                        </a:p>
                      </a:txBody>
                      <a:tcPr anchor="ctr"/>
                    </a:tc>
                    <a:tc>
                      <a:txBody>
                        <a:bodyPr/>
                        <a:lstStyle/>
                        <a:p>
                          <a:pPr algn="ctr"/>
                          <a:r>
                            <a:rPr lang="en-NZ" dirty="0"/>
                            <a:t>Effect of Group </a:t>
                          </a:r>
                          <a:r>
                            <a:rPr lang="en-NZ" dirty="0" err="1"/>
                            <a:t>i</a:t>
                          </a:r>
                          <a:endParaRPr lang="en-NZ" dirty="0"/>
                        </a:p>
                      </a:txBody>
                      <a:tcPr anchor="ctr"/>
                    </a:tc>
                    <a:extLst>
                      <a:ext uri="{0D108BD9-81ED-4DB2-BD59-A6C34878D82A}">
                        <a16:rowId xmlns:a16="http://schemas.microsoft.com/office/drawing/2014/main" val="3262608191"/>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oMath>
                            </m:oMathPara>
                          </a14:m>
                          <a:endParaRPr lang="en-NZ"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𝑠</m:t>
                                    </m:r>
                                  </m:e>
                                  <m:sup>
                                    <m:r>
                                      <a:rPr lang="en-NZ" b="0" i="1" smtClean="0">
                                        <a:latin typeface="Cambria Math" panose="02040503050406030204" pitchFamily="18" charset="0"/>
                                      </a:rPr>
                                      <m:t>2</m:t>
                                    </m:r>
                                  </m:sup>
                                </m:sSup>
                                <m:r>
                                  <a:rPr lang="en-NZ" b="0" i="1" smtClean="0">
                                    <a:latin typeface="Cambria Math" panose="02040503050406030204" pitchFamily="18" charset="0"/>
                                  </a:rPr>
                                  <m:t>=</m:t>
                                </m:r>
                                <m:f>
                                  <m:fPr>
                                    <m:ctrlPr>
                                      <a:rPr lang="en-NZ" b="0" i="1" smtClean="0">
                                        <a:latin typeface="Cambria Math" panose="02040503050406030204" pitchFamily="18" charset="0"/>
                                      </a:rPr>
                                    </m:ctrlPr>
                                  </m:fPr>
                                  <m:num>
                                    <m:r>
                                      <a:rPr lang="en-NZ" b="0" i="1" smtClean="0">
                                        <a:latin typeface="Cambria Math" panose="02040503050406030204" pitchFamily="18" charset="0"/>
                                      </a:rPr>
                                      <m:t>1</m:t>
                                    </m:r>
                                  </m:num>
                                  <m:den>
                                    <m:r>
                                      <a:rPr lang="en-NZ" b="0" i="1" smtClean="0">
                                        <a:latin typeface="Cambria Math" panose="02040503050406030204" pitchFamily="18" charset="0"/>
                                      </a:rPr>
                                      <m:t>𝑘</m:t>
                                    </m:r>
                                  </m:den>
                                </m:f>
                                <m:r>
                                  <a:rPr lang="en-NZ" b="0" i="1" smtClean="0">
                                    <a:latin typeface="Cambria Math" panose="02040503050406030204" pitchFamily="18" charset="0"/>
                                  </a:rPr>
                                  <m:t> </m:t>
                                </m:r>
                                <m:nary>
                                  <m:naryPr>
                                    <m:chr m:val="∑"/>
                                    <m:ctrlPr>
                                      <a:rPr lang="en-NZ" b="0" i="1" smtClean="0">
                                        <a:latin typeface="Cambria Math" panose="02040503050406030204" pitchFamily="18" charset="0"/>
                                      </a:rPr>
                                    </m:ctrlPr>
                                  </m:naryPr>
                                  <m:sub>
                                    <m:r>
                                      <m:rPr>
                                        <m:brk m:alnAt="23"/>
                                      </m:rPr>
                                      <a:rPr lang="en-NZ" b="0" i="1" smtClean="0">
                                        <a:latin typeface="Cambria Math" panose="02040503050406030204" pitchFamily="18" charset="0"/>
                                      </a:rPr>
                                      <m:t>𝑖</m:t>
                                    </m:r>
                                    <m:r>
                                      <a:rPr lang="en-NZ" b="0" i="1" smtClean="0">
                                        <a:latin typeface="Cambria Math" panose="02040503050406030204" pitchFamily="18" charset="0"/>
                                      </a:rPr>
                                      <m:t>=1</m:t>
                                    </m:r>
                                  </m:sub>
                                  <m:sup>
                                    <m:r>
                                      <a:rPr lang="en-NZ" b="0" i="1" smtClean="0">
                                        <a:latin typeface="Cambria Math" panose="02040503050406030204" pitchFamily="18" charset="0"/>
                                      </a:rPr>
                                      <m:t>𝑘</m:t>
                                    </m:r>
                                  </m:sup>
                                  <m:e>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𝑠</m:t>
                                        </m:r>
                                      </m:e>
                                      <m:sub>
                                        <m:r>
                                          <a:rPr lang="en-NZ" b="0" i="1" smtClean="0">
                                            <a:latin typeface="Cambria Math" panose="02040503050406030204" pitchFamily="18" charset="0"/>
                                          </a:rPr>
                                          <m:t>𝑖</m:t>
                                        </m:r>
                                      </m:sub>
                                      <m:sup>
                                        <m:r>
                                          <a:rPr lang="en-NZ" b="0" i="1" smtClean="0">
                                            <a:latin typeface="Cambria Math" panose="02040503050406030204" pitchFamily="18" charset="0"/>
                                          </a:rPr>
                                          <m:t>2</m:t>
                                        </m:r>
                                      </m:sup>
                                    </m:sSubSup>
                                  </m:e>
                                </m:nary>
                              </m:oMath>
                            </m:oMathPara>
                          </a14:m>
                          <a:endParaRPr lang="en-NZ" dirty="0"/>
                        </a:p>
                      </a:txBody>
                      <a:tcPr anchor="ctr"/>
                    </a:tc>
                    <a:tc>
                      <a:txBody>
                        <a:bodyPr/>
                        <a:lstStyle/>
                        <a:p>
                          <a:pPr algn="ctr"/>
                          <a:r>
                            <a:rPr lang="en-NZ" dirty="0"/>
                            <a:t>Common Variance</a:t>
                          </a:r>
                        </a:p>
                      </a:txBody>
                      <a:tcPr anchor="ctr"/>
                    </a:tc>
                    <a:extLst>
                      <a:ext uri="{0D108BD9-81ED-4DB2-BD59-A6C34878D82A}">
                        <a16:rowId xmlns:a16="http://schemas.microsoft.com/office/drawing/2014/main" val="2599272264"/>
                      </a:ext>
                    </a:extLst>
                  </a:tr>
                </a:tbl>
              </a:graphicData>
            </a:graphic>
          </p:graphicFrame>
        </mc:Choice>
        <mc:Fallback xmlns="">
          <p:graphicFrame>
            <p:nvGraphicFramePr>
              <p:cNvPr id="2" name="Table 2">
                <a:extLst>
                  <a:ext uri="{FF2B5EF4-FFF2-40B4-BE49-F238E27FC236}">
                    <a16:creationId xmlns:a16="http://schemas.microsoft.com/office/drawing/2014/main" id="{65DAA0E3-20E5-496E-AF00-FF240493E01C}"/>
                  </a:ext>
                </a:extLst>
              </p:cNvPr>
              <p:cNvGraphicFramePr>
                <a:graphicFrameLocks noGrp="1"/>
              </p:cNvGraphicFramePr>
              <p:nvPr>
                <p:extLst>
                  <p:ext uri="{D42A27DB-BD31-4B8C-83A1-F6EECF244321}">
                    <p14:modId xmlns:p14="http://schemas.microsoft.com/office/powerpoint/2010/main" val="185975087"/>
                  </p:ext>
                </p:extLst>
              </p:nvPr>
            </p:nvGraphicFramePr>
            <p:xfrm>
              <a:off x="2032000" y="2141972"/>
              <a:ext cx="8127999" cy="3494076"/>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198110682"/>
                        </a:ext>
                      </a:extLst>
                    </a:gridCol>
                    <a:gridCol w="2709333">
                      <a:extLst>
                        <a:ext uri="{9D8B030D-6E8A-4147-A177-3AD203B41FA5}">
                          <a16:colId xmlns:a16="http://schemas.microsoft.com/office/drawing/2014/main" val="292302729"/>
                        </a:ext>
                      </a:extLst>
                    </a:gridCol>
                    <a:gridCol w="2709333">
                      <a:extLst>
                        <a:ext uri="{9D8B030D-6E8A-4147-A177-3AD203B41FA5}">
                          <a16:colId xmlns:a16="http://schemas.microsoft.com/office/drawing/2014/main" val="126256495"/>
                        </a:ext>
                      </a:extLst>
                    </a:gridCol>
                  </a:tblGrid>
                  <a:tr h="370840">
                    <a:tc>
                      <a:txBody>
                        <a:bodyPr/>
                        <a:lstStyle/>
                        <a:p>
                          <a:pPr algn="ctr"/>
                          <a:r>
                            <a:rPr lang="en-NZ" dirty="0"/>
                            <a:t>Parameter</a:t>
                          </a:r>
                        </a:p>
                      </a:txBody>
                      <a:tcPr anchor="ctr"/>
                    </a:tc>
                    <a:tc>
                      <a:txBody>
                        <a:bodyPr/>
                        <a:lstStyle/>
                        <a:p>
                          <a:pPr algn="ctr"/>
                          <a:r>
                            <a:rPr lang="en-NZ" dirty="0"/>
                            <a:t>Estimator</a:t>
                          </a:r>
                        </a:p>
                      </a:txBody>
                      <a:tcPr anchor="ctr"/>
                    </a:tc>
                    <a:tc>
                      <a:txBody>
                        <a:bodyPr/>
                        <a:lstStyle/>
                        <a:p>
                          <a:pPr algn="ctr"/>
                          <a:r>
                            <a:rPr lang="en-NZ" dirty="0"/>
                            <a:t>Meaning</a:t>
                          </a:r>
                        </a:p>
                      </a:txBody>
                      <a:tcPr anchor="ctr"/>
                    </a:tc>
                    <a:extLst>
                      <a:ext uri="{0D108BD9-81ED-4DB2-BD59-A6C34878D82A}">
                        <a16:rowId xmlns:a16="http://schemas.microsoft.com/office/drawing/2014/main" val="3666350365"/>
                      </a:ext>
                    </a:extLst>
                  </a:tr>
                  <a:tr h="899414">
                    <a:tc>
                      <a:txBody>
                        <a:bodyPr/>
                        <a:lstStyle/>
                        <a:p>
                          <a:endParaRPr lang="en-US"/>
                        </a:p>
                      </a:txBody>
                      <a:tcPr anchor="ctr">
                        <a:blipFill>
                          <a:blip r:embed="rId2"/>
                          <a:stretch>
                            <a:fillRect l="-225" t="-44595" r="-200674" b="-247973"/>
                          </a:stretch>
                        </a:blipFill>
                      </a:tcPr>
                    </a:tc>
                    <a:tc>
                      <a:txBody>
                        <a:bodyPr/>
                        <a:lstStyle/>
                        <a:p>
                          <a:endParaRPr lang="en-US"/>
                        </a:p>
                      </a:txBody>
                      <a:tcPr anchor="ctr">
                        <a:blipFill>
                          <a:blip r:embed="rId2"/>
                          <a:stretch>
                            <a:fillRect l="-100450" t="-44595" r="-101126" b="-247973"/>
                          </a:stretch>
                        </a:blipFill>
                      </a:tcPr>
                    </a:tc>
                    <a:tc>
                      <a:txBody>
                        <a:bodyPr/>
                        <a:lstStyle/>
                        <a:p>
                          <a:pPr algn="ctr"/>
                          <a:r>
                            <a:rPr lang="en-NZ" dirty="0"/>
                            <a:t>Overall Mean</a:t>
                          </a:r>
                        </a:p>
                      </a:txBody>
                      <a:tcPr anchor="ctr"/>
                    </a:tc>
                    <a:extLst>
                      <a:ext uri="{0D108BD9-81ED-4DB2-BD59-A6C34878D82A}">
                        <a16:rowId xmlns:a16="http://schemas.microsoft.com/office/drawing/2014/main" val="3341485952"/>
                      </a:ext>
                    </a:extLst>
                  </a:tr>
                  <a:tr h="871347">
                    <a:tc>
                      <a:txBody>
                        <a:bodyPr/>
                        <a:lstStyle/>
                        <a:p>
                          <a:endParaRPr lang="en-US"/>
                        </a:p>
                      </a:txBody>
                      <a:tcPr anchor="ctr">
                        <a:blipFill>
                          <a:blip r:embed="rId2"/>
                          <a:stretch>
                            <a:fillRect l="-225" t="-149650" r="-200674" b="-156643"/>
                          </a:stretch>
                        </a:blipFill>
                      </a:tcPr>
                    </a:tc>
                    <a:tc>
                      <a:txBody>
                        <a:bodyPr/>
                        <a:lstStyle/>
                        <a:p>
                          <a:endParaRPr lang="en-US"/>
                        </a:p>
                      </a:txBody>
                      <a:tcPr anchor="ctr">
                        <a:blipFill>
                          <a:blip r:embed="rId2"/>
                          <a:stretch>
                            <a:fillRect l="-100450" t="-149650" r="-101126" b="-156643"/>
                          </a:stretch>
                        </a:blipFill>
                      </a:tcPr>
                    </a:tc>
                    <a:tc>
                      <a:txBody>
                        <a:bodyPr/>
                        <a:lstStyle/>
                        <a:p>
                          <a:pPr algn="ctr"/>
                          <a:r>
                            <a:rPr lang="en-NZ" dirty="0"/>
                            <a:t>Mean of Group </a:t>
                          </a:r>
                          <a:r>
                            <a:rPr lang="en-NZ" dirty="0" err="1"/>
                            <a:t>i</a:t>
                          </a:r>
                          <a:endParaRPr lang="en-NZ" dirty="0"/>
                        </a:p>
                      </a:txBody>
                      <a:tcPr anchor="ctr"/>
                    </a:tc>
                    <a:extLst>
                      <a:ext uri="{0D108BD9-81ED-4DB2-BD59-A6C34878D82A}">
                        <a16:rowId xmlns:a16="http://schemas.microsoft.com/office/drawing/2014/main" val="3427382577"/>
                      </a:ext>
                    </a:extLst>
                  </a:tr>
                  <a:tr h="484049">
                    <a:tc>
                      <a:txBody>
                        <a:bodyPr/>
                        <a:lstStyle/>
                        <a:p>
                          <a:endParaRPr lang="en-US"/>
                        </a:p>
                      </a:txBody>
                      <a:tcPr anchor="ctr">
                        <a:blipFill>
                          <a:blip r:embed="rId2"/>
                          <a:stretch>
                            <a:fillRect l="-225" t="-451899" r="-200674" b="-183544"/>
                          </a:stretch>
                        </a:blipFill>
                      </a:tcPr>
                    </a:tc>
                    <a:tc>
                      <a:txBody>
                        <a:bodyPr/>
                        <a:lstStyle/>
                        <a:p>
                          <a:endParaRPr lang="en-US"/>
                        </a:p>
                      </a:txBody>
                      <a:tcPr anchor="ctr">
                        <a:blipFill>
                          <a:blip r:embed="rId2"/>
                          <a:stretch>
                            <a:fillRect l="-100450" t="-451899" r="-101126" b="-183544"/>
                          </a:stretch>
                        </a:blipFill>
                      </a:tcPr>
                    </a:tc>
                    <a:tc>
                      <a:txBody>
                        <a:bodyPr/>
                        <a:lstStyle/>
                        <a:p>
                          <a:pPr algn="ctr"/>
                          <a:r>
                            <a:rPr lang="en-NZ" dirty="0"/>
                            <a:t>Effect of Group </a:t>
                          </a:r>
                          <a:r>
                            <a:rPr lang="en-NZ" dirty="0" err="1"/>
                            <a:t>i</a:t>
                          </a:r>
                          <a:endParaRPr lang="en-NZ" dirty="0"/>
                        </a:p>
                      </a:txBody>
                      <a:tcPr anchor="ctr"/>
                    </a:tc>
                    <a:extLst>
                      <a:ext uri="{0D108BD9-81ED-4DB2-BD59-A6C34878D82A}">
                        <a16:rowId xmlns:a16="http://schemas.microsoft.com/office/drawing/2014/main" val="3262608191"/>
                      </a:ext>
                    </a:extLst>
                  </a:tr>
                  <a:tr h="868426">
                    <a:tc>
                      <a:txBody>
                        <a:bodyPr/>
                        <a:lstStyle/>
                        <a:p>
                          <a:endParaRPr lang="en-US"/>
                        </a:p>
                      </a:txBody>
                      <a:tcPr anchor="ctr">
                        <a:blipFill>
                          <a:blip r:embed="rId2"/>
                          <a:stretch>
                            <a:fillRect l="-225" t="-304895" r="-200674" b="-1399"/>
                          </a:stretch>
                        </a:blipFill>
                      </a:tcPr>
                    </a:tc>
                    <a:tc>
                      <a:txBody>
                        <a:bodyPr/>
                        <a:lstStyle/>
                        <a:p>
                          <a:endParaRPr lang="en-US"/>
                        </a:p>
                      </a:txBody>
                      <a:tcPr anchor="ctr">
                        <a:blipFill>
                          <a:blip r:embed="rId2"/>
                          <a:stretch>
                            <a:fillRect l="-100450" t="-304895" r="-101126" b="-1399"/>
                          </a:stretch>
                        </a:blipFill>
                      </a:tcPr>
                    </a:tc>
                    <a:tc>
                      <a:txBody>
                        <a:bodyPr/>
                        <a:lstStyle/>
                        <a:p>
                          <a:pPr algn="ctr"/>
                          <a:r>
                            <a:rPr lang="en-NZ" dirty="0"/>
                            <a:t>Common Variance</a:t>
                          </a:r>
                        </a:p>
                      </a:txBody>
                      <a:tcPr anchor="ctr"/>
                    </a:tc>
                    <a:extLst>
                      <a:ext uri="{0D108BD9-81ED-4DB2-BD59-A6C34878D82A}">
                        <a16:rowId xmlns:a16="http://schemas.microsoft.com/office/drawing/2014/main" val="2599272264"/>
                      </a:ext>
                    </a:extLst>
                  </a:tr>
                </a:tbl>
              </a:graphicData>
            </a:graphic>
          </p:graphicFrame>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3299F512-5CEB-4ADC-84CD-70D27E3518EA}"/>
                  </a:ext>
                </a:extLst>
              </p:cNvPr>
              <p:cNvSpPr txBox="1">
                <a:spLocks/>
              </p:cNvSpPr>
              <p:nvPr/>
            </p:nvSpPr>
            <p:spPr>
              <a:xfrm>
                <a:off x="251224" y="5719129"/>
                <a:ext cx="11232109" cy="10527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en-NZ" altLang="ja-JP" sz="1800" dirty="0">
                    <a:solidFill>
                      <a:schemeClr val="tx1"/>
                    </a:solidFill>
                  </a:rPr>
                  <a:t>The formula  </a:t>
                </a:r>
                <a14:m>
                  <m:oMath xmlns:m="http://schemas.openxmlformats.org/officeDocument/2006/math">
                    <m:sSup>
                      <m:sSupPr>
                        <m:ctrlPr>
                          <a:rPr lang="en-NZ" sz="1800" b="1" i="1" smtClean="0">
                            <a:solidFill>
                              <a:schemeClr val="tx1"/>
                            </a:solidFill>
                            <a:latin typeface="Cambria Math" panose="02040503050406030204" pitchFamily="18" charset="0"/>
                          </a:rPr>
                        </m:ctrlPr>
                      </m:sSupPr>
                      <m:e>
                        <m:r>
                          <a:rPr lang="en-NZ" sz="1800" b="1" i="1" smtClean="0">
                            <a:solidFill>
                              <a:schemeClr val="tx1"/>
                            </a:solidFill>
                            <a:latin typeface="Cambria Math" panose="02040503050406030204" pitchFamily="18" charset="0"/>
                          </a:rPr>
                          <m:t>𝒔</m:t>
                        </m:r>
                      </m:e>
                      <m:sup>
                        <m:r>
                          <a:rPr lang="en-NZ" sz="1800" b="1" i="1" smtClean="0">
                            <a:solidFill>
                              <a:schemeClr val="tx1"/>
                            </a:solidFill>
                            <a:latin typeface="Cambria Math" panose="02040503050406030204" pitchFamily="18" charset="0"/>
                          </a:rPr>
                          <m:t>𝟐</m:t>
                        </m:r>
                      </m:sup>
                    </m:sSup>
                    <m:r>
                      <a:rPr lang="en-NZ" sz="1800" b="1" i="1" smtClean="0">
                        <a:solidFill>
                          <a:schemeClr val="tx1"/>
                        </a:solidFill>
                        <a:latin typeface="Cambria Math" panose="02040503050406030204" pitchFamily="18" charset="0"/>
                      </a:rPr>
                      <m:t>=</m:t>
                    </m:r>
                    <m:f>
                      <m:fPr>
                        <m:ctrlPr>
                          <a:rPr lang="en-NZ" sz="1800" b="1" i="1" smtClean="0">
                            <a:solidFill>
                              <a:schemeClr val="tx1"/>
                            </a:solidFill>
                            <a:latin typeface="Cambria Math" panose="02040503050406030204" pitchFamily="18" charset="0"/>
                          </a:rPr>
                        </m:ctrlPr>
                      </m:fPr>
                      <m:num>
                        <m:r>
                          <a:rPr lang="en-NZ" sz="1800" b="1" i="1" smtClean="0">
                            <a:solidFill>
                              <a:schemeClr val="tx1"/>
                            </a:solidFill>
                            <a:latin typeface="Cambria Math" panose="02040503050406030204" pitchFamily="18" charset="0"/>
                          </a:rPr>
                          <m:t>𝟏</m:t>
                        </m:r>
                      </m:num>
                      <m:den>
                        <m:r>
                          <a:rPr lang="en-NZ" sz="1800" b="1" i="1" smtClean="0">
                            <a:solidFill>
                              <a:schemeClr val="tx1"/>
                            </a:solidFill>
                            <a:latin typeface="Cambria Math" panose="02040503050406030204" pitchFamily="18" charset="0"/>
                          </a:rPr>
                          <m:t>𝒌</m:t>
                        </m:r>
                      </m:den>
                    </m:f>
                    <m:r>
                      <a:rPr lang="en-NZ" sz="1800" b="1" i="1" smtClean="0">
                        <a:solidFill>
                          <a:schemeClr val="tx1"/>
                        </a:solidFill>
                        <a:latin typeface="Cambria Math" panose="02040503050406030204" pitchFamily="18" charset="0"/>
                      </a:rPr>
                      <m:t> </m:t>
                    </m:r>
                    <m:nary>
                      <m:naryPr>
                        <m:chr m:val="∑"/>
                        <m:ctrlPr>
                          <a:rPr lang="en-NZ" sz="1800" b="1" i="1" smtClean="0">
                            <a:solidFill>
                              <a:schemeClr val="tx1"/>
                            </a:solidFill>
                            <a:latin typeface="Cambria Math" panose="02040503050406030204" pitchFamily="18" charset="0"/>
                          </a:rPr>
                        </m:ctrlPr>
                      </m:naryPr>
                      <m:sub>
                        <m:r>
                          <m:rPr>
                            <m:brk m:alnAt="23"/>
                          </m:rPr>
                          <a:rPr lang="en-NZ" sz="1800" b="1" i="1" smtClean="0">
                            <a:solidFill>
                              <a:schemeClr val="tx1"/>
                            </a:solidFill>
                            <a:latin typeface="Cambria Math" panose="02040503050406030204" pitchFamily="18" charset="0"/>
                          </a:rPr>
                          <m:t>𝒊</m:t>
                        </m:r>
                        <m:r>
                          <a:rPr lang="en-NZ" sz="1800" b="1" i="1" smtClean="0">
                            <a:solidFill>
                              <a:schemeClr val="tx1"/>
                            </a:solidFill>
                            <a:latin typeface="Cambria Math" panose="02040503050406030204" pitchFamily="18" charset="0"/>
                          </a:rPr>
                          <m:t>=</m:t>
                        </m:r>
                        <m:r>
                          <a:rPr lang="en-NZ" sz="1800" b="1" i="1" smtClean="0">
                            <a:solidFill>
                              <a:schemeClr val="tx1"/>
                            </a:solidFill>
                            <a:latin typeface="Cambria Math" panose="02040503050406030204" pitchFamily="18" charset="0"/>
                          </a:rPr>
                          <m:t>𝟏</m:t>
                        </m:r>
                      </m:sub>
                      <m:sup>
                        <m:r>
                          <a:rPr lang="en-NZ" sz="1800" b="1" i="1" smtClean="0">
                            <a:solidFill>
                              <a:schemeClr val="tx1"/>
                            </a:solidFill>
                            <a:latin typeface="Cambria Math" panose="02040503050406030204" pitchFamily="18" charset="0"/>
                          </a:rPr>
                          <m:t>𝒌</m:t>
                        </m:r>
                      </m:sup>
                      <m:e>
                        <m:sSubSup>
                          <m:sSubSupPr>
                            <m:ctrlPr>
                              <a:rPr lang="en-NZ" sz="1800" b="1" i="1" smtClean="0">
                                <a:solidFill>
                                  <a:schemeClr val="tx1"/>
                                </a:solidFill>
                                <a:latin typeface="Cambria Math" panose="02040503050406030204" pitchFamily="18" charset="0"/>
                              </a:rPr>
                            </m:ctrlPr>
                          </m:sSubSupPr>
                          <m:e>
                            <m:r>
                              <a:rPr lang="en-NZ" sz="1800" b="1" i="1" smtClean="0">
                                <a:solidFill>
                                  <a:schemeClr val="tx1"/>
                                </a:solidFill>
                                <a:latin typeface="Cambria Math" panose="02040503050406030204" pitchFamily="18" charset="0"/>
                              </a:rPr>
                              <m:t>𝒔</m:t>
                            </m:r>
                          </m:e>
                          <m:sub>
                            <m:r>
                              <a:rPr lang="en-NZ" sz="1800" b="1" i="1" smtClean="0">
                                <a:solidFill>
                                  <a:schemeClr val="tx1"/>
                                </a:solidFill>
                                <a:latin typeface="Cambria Math" panose="02040503050406030204" pitchFamily="18" charset="0"/>
                              </a:rPr>
                              <m:t>𝒊</m:t>
                            </m:r>
                          </m:sub>
                          <m:sup>
                            <m:r>
                              <a:rPr lang="en-NZ" sz="1800" b="1" i="1" smtClean="0">
                                <a:solidFill>
                                  <a:schemeClr val="tx1"/>
                                </a:solidFill>
                                <a:latin typeface="Cambria Math" panose="02040503050406030204" pitchFamily="18" charset="0"/>
                              </a:rPr>
                              <m:t>𝟐</m:t>
                            </m:r>
                          </m:sup>
                        </m:sSubSup>
                      </m:e>
                    </m:nary>
                  </m:oMath>
                </a14:m>
                <a:r>
                  <a:rPr lang="en-NZ" altLang="ja-JP" sz="1800" dirty="0">
                    <a:solidFill>
                      <a:schemeClr val="tx1"/>
                    </a:solidFill>
                  </a:rPr>
                  <a:t> holds for balanced designs only.</a:t>
                </a:r>
              </a:p>
              <a:p>
                <a:pPr marL="285750" indent="-285750" algn="just">
                  <a:lnSpc>
                    <a:spcPct val="100000"/>
                  </a:lnSpc>
                  <a:buFont typeface="Arial" panose="020B0604020202020204" pitchFamily="34" charset="0"/>
                  <a:buChar char="•"/>
                </a:pPr>
                <a:r>
                  <a:rPr lang="en-NZ" altLang="ja-JP" sz="1800" dirty="0">
                    <a:solidFill>
                      <a:schemeClr val="tx1"/>
                    </a:solidFill>
                  </a:rPr>
                  <a:t>All estimators are unbiassed (i.e. their expected value is equal to the parameter they look to estimate)</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p:txBody>
          </p:sp>
        </mc:Choice>
        <mc:Fallback xmlns="">
          <p:sp>
            <p:nvSpPr>
              <p:cNvPr id="21" name="Text Placeholder 5">
                <a:extLst>
                  <a:ext uri="{FF2B5EF4-FFF2-40B4-BE49-F238E27FC236}">
                    <a16:creationId xmlns:a16="http://schemas.microsoft.com/office/drawing/2014/main" id="{3299F512-5CEB-4ADC-84CD-70D27E3518EA}"/>
                  </a:ext>
                </a:extLst>
              </p:cNvPr>
              <p:cNvSpPr txBox="1">
                <a:spLocks noRot="1" noChangeAspect="1" noMove="1" noResize="1" noEditPoints="1" noAdjustHandles="1" noChangeArrowheads="1" noChangeShapeType="1" noTextEdit="1"/>
              </p:cNvSpPr>
              <p:nvPr/>
            </p:nvSpPr>
            <p:spPr>
              <a:xfrm>
                <a:off x="251224" y="5719129"/>
                <a:ext cx="11232109" cy="1052732"/>
              </a:xfrm>
              <a:prstGeom prst="rect">
                <a:avLst/>
              </a:prstGeom>
              <a:blipFill>
                <a:blip r:embed="rId3"/>
                <a:stretch>
                  <a:fillRect l="-326" t="-35838" b="-6358"/>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13</a:t>
            </a:fld>
            <a:endParaRPr kumimoji="1" lang="ja-JP" altLang="en-US" dirty="0">
              <a:solidFill>
                <a:srgbClr val="575454">
                  <a:lumMod val="20000"/>
                  <a:lumOff val="80000"/>
                </a:srgbClr>
              </a:solidFill>
              <a:latin typeface="Coo Hew"/>
            </a:endParaRPr>
          </a:p>
        </p:txBody>
      </p:sp>
      <p:sp>
        <p:nvSpPr>
          <p:cNvPr id="24" name="Title 6">
            <a:extLst>
              <a:ext uri="{FF2B5EF4-FFF2-40B4-BE49-F238E27FC236}">
                <a16:creationId xmlns:a16="http://schemas.microsoft.com/office/drawing/2014/main" id="{55CF92ED-5717-4D85-BA4F-4B6B1399512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8" name="Footer Placeholder 2">
            <a:extLst>
              <a:ext uri="{FF2B5EF4-FFF2-40B4-BE49-F238E27FC236}">
                <a16:creationId xmlns:a16="http://schemas.microsoft.com/office/drawing/2014/main" id="{17096181-6C51-BC70-481B-5627580D50F8}"/>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DD64883B-114A-8A93-D384-42C8DEF1AA1A}"/>
                  </a:ext>
                </a:extLst>
              </p:cNvPr>
              <p:cNvSpPr txBox="1">
                <a:spLocks/>
              </p:cNvSpPr>
              <p:nvPr/>
            </p:nvSpPr>
            <p:spPr>
              <a:xfrm>
                <a:off x="9087830" y="754552"/>
                <a:ext cx="2265527" cy="1387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9" name="Text Placeholder 5">
                <a:extLst>
                  <a:ext uri="{FF2B5EF4-FFF2-40B4-BE49-F238E27FC236}">
                    <a16:creationId xmlns:a16="http://schemas.microsoft.com/office/drawing/2014/main" id="{DD64883B-114A-8A93-D384-42C8DEF1AA1A}"/>
                  </a:ext>
                </a:extLst>
              </p:cNvPr>
              <p:cNvSpPr txBox="1">
                <a:spLocks noRot="1" noChangeAspect="1" noMove="1" noResize="1" noEditPoints="1" noAdjustHandles="1" noChangeArrowheads="1" noChangeShapeType="1" noTextEdit="1"/>
              </p:cNvSpPr>
              <p:nvPr/>
            </p:nvSpPr>
            <p:spPr>
              <a:xfrm>
                <a:off x="9087830" y="754552"/>
                <a:ext cx="2265527" cy="1387420"/>
              </a:xfrm>
              <a:prstGeom prst="rect">
                <a:avLst/>
              </a:prstGeom>
              <a:blipFill>
                <a:blip r:embed="rId4"/>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68152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51224" y="2752557"/>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51222" y="3160571"/>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51222" y="3160571"/>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FC934FC-49B1-4A6B-A0AE-3AA79B59B349}"/>
                  </a:ext>
                </a:extLst>
              </p:cNvPr>
              <p:cNvSpPr txBox="1">
                <a:spLocks/>
              </p:cNvSpPr>
              <p:nvPr/>
            </p:nvSpPr>
            <p:spPr>
              <a:xfrm>
                <a:off x="7294087" y="3160620"/>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18" name="Text Placeholder 5">
                <a:extLst>
                  <a:ext uri="{FF2B5EF4-FFF2-40B4-BE49-F238E27FC236}">
                    <a16:creationId xmlns:a16="http://schemas.microsoft.com/office/drawing/2014/main" id="{4FC934FC-49B1-4A6B-A0AE-3AA79B59B349}"/>
                  </a:ext>
                </a:extLst>
              </p:cNvPr>
              <p:cNvSpPr txBox="1">
                <a:spLocks noRot="1" noChangeAspect="1" noMove="1" noResize="1" noEditPoints="1" noAdjustHandles="1" noChangeArrowheads="1" noChangeShapeType="1" noTextEdit="1"/>
              </p:cNvSpPr>
              <p:nvPr/>
            </p:nvSpPr>
            <p:spPr>
              <a:xfrm>
                <a:off x="7294087" y="3160620"/>
                <a:ext cx="235978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91145" y="3638380"/>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91145" y="3638380"/>
                <a:ext cx="6286057" cy="815449"/>
              </a:xfrm>
              <a:prstGeom prst="rect">
                <a:avLst/>
              </a:prstGeom>
              <a:blipFill>
                <a:blip r:embed="rId4"/>
                <a:stretch>
                  <a:fillRect l="-582" t="-223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D7FE01F1-59F4-41A1-93D3-01009A102329}"/>
              </a:ext>
            </a:extLst>
          </p:cNvPr>
          <p:cNvSpPr txBox="1">
            <a:spLocks/>
          </p:cNvSpPr>
          <p:nvPr/>
        </p:nvSpPr>
        <p:spPr>
          <a:xfrm>
            <a:off x="303774" y="4860391"/>
            <a:ext cx="202999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note that...</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2631F459-0907-4AB7-8D86-826BF5F70F99}"/>
                  </a:ext>
                </a:extLst>
              </p:cNvPr>
              <p:cNvSpPr txBox="1">
                <a:spLocks/>
              </p:cNvSpPr>
              <p:nvPr/>
            </p:nvSpPr>
            <p:spPr>
              <a:xfrm>
                <a:off x="5919828" y="3600955"/>
                <a:ext cx="510830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and apply the constraint</a:t>
                </a:r>
              </a:p>
              <a:p>
                <a:pPr algn="just">
                  <a:lnSpc>
                    <a:spcPct val="100000"/>
                  </a:lnSpc>
                </a:pPr>
                <a14:m>
                  <m:oMathPara xmlns:m="http://schemas.openxmlformats.org/officeDocument/2006/math">
                    <m:oMathParaPr>
                      <m:jc m:val="centerGroup"/>
                    </m:oMathParaPr>
                    <m:oMath xmlns:m="http://schemas.openxmlformats.org/officeDocument/2006/math">
                      <m:nary>
                        <m:naryPr>
                          <m:chr m:val="∑"/>
                          <m:ctrlPr>
                            <a:rPr lang="en-NZ" altLang="ja-JP" sz="160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𝛼</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=0    </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r>
                            <a:rPr lang="en-NZ" altLang="ja-JP" sz="1600" b="0" i="1" smtClean="0">
                              <a:solidFill>
                                <a:schemeClr val="tx1"/>
                              </a:solidFill>
                              <a:latin typeface="Cambria Math" panose="02040503050406030204" pitchFamily="18" charset="0"/>
                            </a:rPr>
                            <m:t>𝑘</m:t>
                          </m:r>
                        </m:den>
                      </m:f>
                      <m:nary>
                        <m:naryPr>
                          <m:chr m:val="∑"/>
                          <m:ctrlPr>
                            <a:rPr lang="en-NZ" altLang="ja-JP" sz="1600" b="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𝜇</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𝜇</m:t>
                      </m:r>
                    </m:oMath>
                  </m:oMathPara>
                </a14:m>
                <a:endParaRPr lang="en-NZ" altLang="ja-JP" sz="1600" i="1" dirty="0">
                  <a:solidFill>
                    <a:schemeClr val="tx1"/>
                  </a:solidFill>
                </a:endParaRPr>
              </a:p>
            </p:txBody>
          </p:sp>
        </mc:Choice>
        <mc:Fallback xmlns="">
          <p:sp>
            <p:nvSpPr>
              <p:cNvPr id="24" name="Text Placeholder 5">
                <a:extLst>
                  <a:ext uri="{FF2B5EF4-FFF2-40B4-BE49-F238E27FC236}">
                    <a16:creationId xmlns:a16="http://schemas.microsoft.com/office/drawing/2014/main" id="{2631F459-0907-4AB7-8D86-826BF5F70F99}"/>
                  </a:ext>
                </a:extLst>
              </p:cNvPr>
              <p:cNvSpPr txBox="1">
                <a:spLocks noRot="1" noChangeAspect="1" noMove="1" noResize="1" noEditPoints="1" noAdjustHandles="1" noChangeArrowheads="1" noChangeShapeType="1" noTextEdit="1"/>
              </p:cNvSpPr>
              <p:nvPr/>
            </p:nvSpPr>
            <p:spPr>
              <a:xfrm>
                <a:off x="5919828" y="3600955"/>
                <a:ext cx="5108307" cy="815449"/>
              </a:xfrm>
              <a:prstGeom prst="rect">
                <a:avLst/>
              </a:prstGeom>
              <a:blipFill>
                <a:blip r:embed="rId5"/>
                <a:stretch>
                  <a:fillRect t="-2256" b="-21805"/>
                </a:stretch>
              </a:blipFill>
            </p:spPr>
            <p:txBody>
              <a:bodyPr/>
              <a:lstStyle/>
              <a:p>
                <a:r>
                  <a:rPr lang="en-NZ">
                    <a:noFill/>
                  </a:rPr>
                  <a:t> </a:t>
                </a:r>
              </a:p>
            </p:txBody>
          </p:sp>
        </mc:Fallback>
      </mc:AlternateContent>
      <p:sp>
        <p:nvSpPr>
          <p:cNvPr id="28" name="Slide Number Placeholder 3">
            <a:extLst>
              <a:ext uri="{FF2B5EF4-FFF2-40B4-BE49-F238E27FC236}">
                <a16:creationId xmlns:a16="http://schemas.microsoft.com/office/drawing/2014/main" id="{765C6191-57EC-4F1D-A2DB-FCC39A970C3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14</a:t>
            </a:fld>
            <a:endParaRPr kumimoji="1" lang="ja-JP" altLang="en-US" dirty="0">
              <a:solidFill>
                <a:srgbClr val="575454">
                  <a:lumMod val="20000"/>
                  <a:lumOff val="80000"/>
                </a:srgbClr>
              </a:solidFill>
              <a:latin typeface="Coo Hew"/>
            </a:endParaRPr>
          </a:p>
        </p:txBody>
      </p:sp>
      <p:sp>
        <p:nvSpPr>
          <p:cNvPr id="30" name="Title 6">
            <a:extLst>
              <a:ext uri="{FF2B5EF4-FFF2-40B4-BE49-F238E27FC236}">
                <a16:creationId xmlns:a16="http://schemas.microsoft.com/office/drawing/2014/main" id="{E63026C8-BC0B-4275-933F-0B99ABB8734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31" name="Footer Placeholder 2">
            <a:extLst>
              <a:ext uri="{FF2B5EF4-FFF2-40B4-BE49-F238E27FC236}">
                <a16:creationId xmlns:a16="http://schemas.microsoft.com/office/drawing/2014/main" id="{355DBBE1-6AA0-E518-4612-AD04CED8D1B2}"/>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8D58FCCD-ADDF-1A02-297E-B8EA3352CA79}"/>
                  </a:ext>
                </a:extLst>
              </p:cNvPr>
              <p:cNvSpPr txBox="1">
                <a:spLocks/>
              </p:cNvSpPr>
              <p:nvPr/>
            </p:nvSpPr>
            <p:spPr>
              <a:xfrm>
                <a:off x="679734" y="5252375"/>
                <a:ext cx="1052507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𝑬</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𝒀</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   =  </m:t>
                    </m:r>
                    <m:r>
                      <a:rPr lang="en-NZ" altLang="ja-JP" sz="1600" b="1" i="1" smtClean="0">
                        <a:solidFill>
                          <a:schemeClr val="tx1"/>
                        </a:solidFill>
                        <a:latin typeface="Cambria Math" panose="02040503050406030204" pitchFamily="18" charset="0"/>
                      </a:rPr>
                      <m:t>𝑬</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𝑬</m:t>
                    </m:r>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𝝁</m:t>
                        </m:r>
                        <m:r>
                          <a:rPr lang="en-NZ" altLang="ja-JP" sz="1600" b="1" i="1">
                            <a:solidFill>
                              <a:schemeClr val="tx1"/>
                            </a:solidFill>
                            <a:latin typeface="Cambria Math" panose="02040503050406030204" pitchFamily="18" charset="0"/>
                          </a:rPr>
                          <m:t> </m:t>
                        </m:r>
                      </m:e>
                    </m:d>
                  </m:oMath>
                </a14:m>
                <a:r>
                  <a:rPr lang="en-NZ" altLang="ja-JP" sz="1600" b="1" dirty="0">
                    <a:solidFill>
                      <a:schemeClr val="tx1"/>
                    </a:solidFill>
                  </a:rPr>
                  <a:t>  + </a:t>
                </a:r>
                <a14:m>
                  <m:oMath xmlns:m="http://schemas.openxmlformats.org/officeDocument/2006/math">
                    <m:r>
                      <a:rPr lang="en-NZ" altLang="ja-JP" sz="1600" b="1" i="0"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𝑬</m:t>
                    </m:r>
                    <m:d>
                      <m:dPr>
                        <m:begChr m:val="["/>
                        <m:endChr m:val="]"/>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𝜶</m:t>
                            </m:r>
                          </m:e>
                          <m:sub>
                            <m:r>
                              <a:rPr lang="en-NZ" altLang="ja-JP" sz="1600" b="1" i="1">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m:t>
                        </m:r>
                      </m:e>
                    </m:d>
                  </m:oMath>
                </a14:m>
                <a:r>
                  <a:rPr lang="en-NZ" altLang="ja-JP" sz="1600" b="1" dirty="0">
                    <a:solidFill>
                      <a:schemeClr val="tx1"/>
                    </a:solidFill>
                  </a:rPr>
                  <a:t>  +  </a:t>
                </a:r>
                <a14:m>
                  <m:oMath xmlns:m="http://schemas.openxmlformats.org/officeDocument/2006/math">
                    <m:r>
                      <a:rPr lang="en-NZ" altLang="ja-JP" sz="1600" b="1" i="1">
                        <a:solidFill>
                          <a:schemeClr val="tx1"/>
                        </a:solidFill>
                        <a:latin typeface="Cambria Math" panose="02040503050406030204" pitchFamily="18" charset="0"/>
                      </a:rPr>
                      <m:t>𝑬</m:t>
                    </m:r>
                    <m:d>
                      <m:dPr>
                        <m:begChr m:val="["/>
                        <m:endChr m:val="]"/>
                        <m:ctrlPr>
                          <a:rPr lang="en-NZ" altLang="ja-JP" sz="1600" b="1" i="1">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𝝐</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 </m:t>
                            </m:r>
                          </m:sub>
                        </m:sSub>
                      </m:e>
                    </m:d>
                    <m:r>
                      <a:rPr lang="en-NZ" altLang="ja-JP" sz="1600" b="1" i="1" smtClean="0">
                        <a:solidFill>
                          <a:schemeClr val="tx1"/>
                        </a:solidFill>
                        <a:latin typeface="Cambria Math" panose="02040503050406030204" pitchFamily="18" charset="0"/>
                      </a:rPr>
                      <m:t>  =  </m:t>
                    </m:r>
                    <m:r>
                      <a:rPr lang="en-NZ" altLang="ja-JP" sz="1600" b="1" i="1">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𝜶</m:t>
                        </m:r>
                      </m:e>
                      <m:sub>
                        <m:r>
                          <a:rPr lang="en-NZ" altLang="ja-JP" sz="1600" b="1" i="1">
                            <a:solidFill>
                              <a:schemeClr val="tx1"/>
                            </a:solidFill>
                            <a:latin typeface="Cambria Math" panose="02040503050406030204" pitchFamily="18" charset="0"/>
                          </a:rPr>
                          <m:t>𝒊</m:t>
                        </m:r>
                      </m:sub>
                    </m:sSub>
                    <m:r>
                      <a:rPr lang="en-NZ" altLang="ja-JP" sz="1600" b="1" i="0" smtClean="0">
                        <a:solidFill>
                          <a:schemeClr val="tx1"/>
                        </a:solidFill>
                        <a:latin typeface="Cambria Math" panose="02040503050406030204" pitchFamily="18" charset="0"/>
                      </a:rPr>
                      <m:t> +  </m:t>
                    </m:r>
                    <m:r>
                      <a:rPr lang="en-NZ" altLang="ja-JP" sz="1600" b="1" i="0" smtClean="0">
                        <a:solidFill>
                          <a:schemeClr val="tx1"/>
                        </a:solidFill>
                        <a:latin typeface="Cambria Math" panose="02040503050406030204" pitchFamily="18" charset="0"/>
                      </a:rPr>
                      <m:t>𝟎</m:t>
                    </m:r>
                    <m:r>
                      <a:rPr lang="en-NZ" altLang="ja-JP" sz="1600" b="1" i="0"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𝒊</m:t>
                        </m:r>
                      </m:sub>
                    </m:sSub>
                  </m:oMath>
                </a14:m>
                <a:endParaRPr lang="en-NZ" altLang="ja-JP" sz="1600" b="1" dirty="0">
                  <a:solidFill>
                    <a:schemeClr val="tx1"/>
                  </a:solidFill>
                </a:endParaRPr>
              </a:p>
              <a:p>
                <a:pPr>
                  <a:lnSpc>
                    <a:spcPct val="100000"/>
                  </a:lnSpc>
                </a:pPr>
                <a:endParaRPr lang="en-NZ" altLang="ja-JP" sz="1600" b="1" dirty="0">
                  <a:solidFill>
                    <a:schemeClr val="tx1"/>
                  </a:solidFill>
                </a:endParaRPr>
              </a:p>
              <a:p>
                <a:pPr>
                  <a:lnSpc>
                    <a:spcPct val="100000"/>
                  </a:lnSpc>
                </a:pPr>
                <a:endParaRPr lang="en-NZ" altLang="ja-JP" sz="1600" b="1" i="1" dirty="0">
                  <a:solidFill>
                    <a:schemeClr val="tx1"/>
                  </a:solidFill>
                </a:endParaRPr>
              </a:p>
            </p:txBody>
          </p:sp>
        </mc:Choice>
        <mc:Fallback xmlns="">
          <p:sp>
            <p:nvSpPr>
              <p:cNvPr id="29" name="Text Placeholder 5">
                <a:extLst>
                  <a:ext uri="{FF2B5EF4-FFF2-40B4-BE49-F238E27FC236}">
                    <a16:creationId xmlns:a16="http://schemas.microsoft.com/office/drawing/2014/main" id="{8D58FCCD-ADDF-1A02-297E-B8EA3352CA79}"/>
                  </a:ext>
                </a:extLst>
              </p:cNvPr>
              <p:cNvSpPr txBox="1">
                <a:spLocks noRot="1" noChangeAspect="1" noMove="1" noResize="1" noEditPoints="1" noAdjustHandles="1" noChangeArrowheads="1" noChangeShapeType="1" noTextEdit="1"/>
              </p:cNvSpPr>
              <p:nvPr/>
            </p:nvSpPr>
            <p:spPr>
              <a:xfrm>
                <a:off x="679734" y="5252375"/>
                <a:ext cx="10525078" cy="474953"/>
              </a:xfrm>
              <a:prstGeom prst="rect">
                <a:avLst/>
              </a:prstGeom>
              <a:blipFill>
                <a:blip r:embed="rId6"/>
                <a:stretch>
                  <a:fillRect/>
                </a:stretch>
              </a:blipFill>
            </p:spPr>
            <p:txBody>
              <a:bodyPr/>
              <a:lstStyle/>
              <a:p>
                <a:r>
                  <a:rPr lang="en-NZ">
                    <a:noFill/>
                  </a:rPr>
                  <a:t> </a:t>
                </a:r>
              </a:p>
            </p:txBody>
          </p:sp>
        </mc:Fallback>
      </mc:AlternateContent>
      <p:sp>
        <p:nvSpPr>
          <p:cNvPr id="32" name="Text Placeholder 5">
            <a:extLst>
              <a:ext uri="{FF2B5EF4-FFF2-40B4-BE49-F238E27FC236}">
                <a16:creationId xmlns:a16="http://schemas.microsoft.com/office/drawing/2014/main" id="{4CD6C110-CEA7-02D7-4B45-766560BFDE30}"/>
              </a:ext>
            </a:extLst>
          </p:cNvPr>
          <p:cNvSpPr txBox="1">
            <a:spLocks/>
          </p:cNvSpPr>
          <p:nvPr/>
        </p:nvSpPr>
        <p:spPr>
          <a:xfrm>
            <a:off x="6387152" y="4962985"/>
            <a:ext cx="512511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NZ" altLang="ja-JP" sz="1200" dirty="0">
                <a:solidFill>
                  <a:schemeClr val="bg2">
                    <a:lumMod val="50000"/>
                  </a:schemeClr>
                </a:solidFill>
              </a:rPr>
              <a:t>The expectation of the </a:t>
            </a:r>
            <a:r>
              <a:rPr lang="en-NZ" altLang="ja-JP" sz="1200" dirty="0" err="1">
                <a:solidFill>
                  <a:schemeClr val="bg2">
                    <a:lumMod val="50000"/>
                  </a:schemeClr>
                </a:solidFill>
              </a:rPr>
              <a:t>j</a:t>
            </a:r>
            <a:r>
              <a:rPr lang="en-NZ" altLang="ja-JP" sz="1200" baseline="30000" dirty="0" err="1">
                <a:solidFill>
                  <a:schemeClr val="bg2">
                    <a:lumMod val="50000"/>
                  </a:schemeClr>
                </a:solidFill>
              </a:rPr>
              <a:t>th</a:t>
            </a:r>
            <a:r>
              <a:rPr lang="en-NZ" altLang="ja-JP" sz="1200" dirty="0">
                <a:solidFill>
                  <a:schemeClr val="bg2">
                    <a:lumMod val="50000"/>
                  </a:schemeClr>
                </a:solidFill>
              </a:rPr>
              <a:t> element of group </a:t>
            </a:r>
            <a:r>
              <a:rPr lang="en-NZ" altLang="ja-JP" sz="1200" dirty="0" err="1">
                <a:solidFill>
                  <a:schemeClr val="bg2">
                    <a:lumMod val="50000"/>
                  </a:schemeClr>
                </a:solidFill>
              </a:rPr>
              <a:t>i</a:t>
            </a:r>
            <a:r>
              <a:rPr lang="en-NZ" altLang="ja-JP" sz="1200" dirty="0">
                <a:solidFill>
                  <a:schemeClr val="bg2">
                    <a:lumMod val="50000"/>
                  </a:schemeClr>
                </a:solidFill>
              </a:rPr>
              <a:t> is equal to the mean of group </a:t>
            </a:r>
            <a:r>
              <a:rPr lang="en-NZ" altLang="ja-JP" sz="1200" dirty="0" err="1">
                <a:solidFill>
                  <a:schemeClr val="bg2">
                    <a:lumMod val="50000"/>
                  </a:schemeClr>
                </a:solidFill>
              </a:rPr>
              <a:t>i</a:t>
            </a:r>
            <a:r>
              <a:rPr lang="en-NZ" altLang="ja-JP" sz="1200" dirty="0">
                <a:solidFill>
                  <a:schemeClr val="bg2">
                    <a:lumMod val="50000"/>
                  </a:schemeClr>
                </a:solidFill>
              </a:rPr>
              <a:t>.</a:t>
            </a:r>
          </a:p>
          <a:p>
            <a:pPr algn="r">
              <a:lnSpc>
                <a:spcPct val="100000"/>
              </a:lnSpc>
            </a:pPr>
            <a:r>
              <a:rPr lang="en-NZ" altLang="ja-JP" sz="1200" dirty="0">
                <a:solidFill>
                  <a:schemeClr val="bg2">
                    <a:lumMod val="50000"/>
                  </a:schemeClr>
                </a:solidFill>
              </a:rPr>
              <a:t>  </a:t>
            </a:r>
          </a:p>
          <a:p>
            <a:pPr algn="r">
              <a:lnSpc>
                <a:spcPct val="100000"/>
              </a:lnSpc>
            </a:pPr>
            <a:endParaRPr lang="en-NZ" altLang="ja-JP" sz="1200" dirty="0">
              <a:solidFill>
                <a:schemeClr val="bg2">
                  <a:lumMod val="50000"/>
                </a:schemeClr>
              </a:solidFill>
            </a:endParaRPr>
          </a:p>
          <a:p>
            <a:pPr algn="r">
              <a:lnSpc>
                <a:spcPct val="100000"/>
              </a:lnSpc>
            </a:pPr>
            <a:endParaRPr lang="en-NZ" altLang="ja-JP" sz="1200" i="1" dirty="0">
              <a:solidFill>
                <a:schemeClr val="bg2">
                  <a:lumMod val="50000"/>
                </a:schemeClr>
              </a:solidFill>
            </a:endParaRPr>
          </a:p>
        </p:txBody>
      </p:sp>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FFF95978-CA1F-8443-D771-F36B48A71535}"/>
                  </a:ext>
                </a:extLst>
              </p:cNvPr>
              <p:cNvSpPr txBox="1">
                <a:spLocks/>
              </p:cNvSpPr>
              <p:nvPr/>
            </p:nvSpPr>
            <p:spPr>
              <a:xfrm>
                <a:off x="679733" y="5842586"/>
                <a:ext cx="10348401"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𝑽𝒂𝒓</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𝒀</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   =  </m:t>
                    </m:r>
                    <m:r>
                      <a:rPr lang="en-NZ" altLang="ja-JP" sz="1600" b="1" i="1" smtClean="0">
                        <a:solidFill>
                          <a:schemeClr val="tx1"/>
                        </a:solidFill>
                        <a:latin typeface="Cambria Math" panose="02040503050406030204" pitchFamily="18" charset="0"/>
                      </a:rPr>
                      <m:t>𝑽𝒂𝒓</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𝑽𝒂𝒓</m:t>
                    </m:r>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𝝁</m:t>
                        </m:r>
                        <m:r>
                          <a:rPr lang="en-NZ" altLang="ja-JP" sz="1600" b="1" i="1">
                            <a:solidFill>
                              <a:schemeClr val="tx1"/>
                            </a:solidFill>
                            <a:latin typeface="Cambria Math" panose="02040503050406030204" pitchFamily="18" charset="0"/>
                          </a:rPr>
                          <m:t> </m:t>
                        </m:r>
                      </m:e>
                    </m:d>
                  </m:oMath>
                </a14:m>
                <a:r>
                  <a:rPr lang="en-NZ" altLang="ja-JP" sz="1600" b="1" dirty="0">
                    <a:solidFill>
                      <a:schemeClr val="tx1"/>
                    </a:solidFill>
                  </a:rPr>
                  <a:t>  + </a:t>
                </a:r>
                <a14:m>
                  <m:oMath xmlns:m="http://schemas.openxmlformats.org/officeDocument/2006/math">
                    <m:r>
                      <a:rPr lang="en-NZ" altLang="ja-JP" sz="1600" b="1" i="0"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𝑽𝒂𝒓</m:t>
                    </m:r>
                    <m:d>
                      <m:dPr>
                        <m:begChr m:val="["/>
                        <m:endChr m:val="]"/>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𝜶</m:t>
                            </m:r>
                          </m:e>
                          <m:sub>
                            <m:r>
                              <a:rPr lang="en-NZ" altLang="ja-JP" sz="1600" b="1" i="1">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m:t>
                        </m:r>
                      </m:e>
                    </m:d>
                  </m:oMath>
                </a14:m>
                <a:r>
                  <a:rPr lang="en-NZ" altLang="ja-JP" sz="1600" b="1" dirty="0">
                    <a:solidFill>
                      <a:schemeClr val="tx1"/>
                    </a:solidFill>
                  </a:rPr>
                  <a:t>  + </a:t>
                </a:r>
                <a14:m>
                  <m:oMath xmlns:m="http://schemas.openxmlformats.org/officeDocument/2006/math">
                    <m:r>
                      <a:rPr lang="en-NZ" altLang="ja-JP" sz="1600" b="1" i="0"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𝑽𝒂𝒓</m:t>
                    </m:r>
                    <m:d>
                      <m:dPr>
                        <m:begChr m:val="["/>
                        <m:endChr m:val="]"/>
                        <m:ctrlPr>
                          <a:rPr lang="en-NZ" altLang="ja-JP" sz="1600" b="1" i="1">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𝝐</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 </m:t>
                            </m:r>
                          </m:sub>
                        </m:sSub>
                      </m:e>
                    </m:d>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m:t>
                    </m:r>
                    <m:r>
                      <a:rPr lang="en-NZ" altLang="ja-JP" sz="1600" b="1" i="0" smtClean="0">
                        <a:solidFill>
                          <a:schemeClr val="tx1"/>
                        </a:solidFill>
                        <a:latin typeface="Cambria Math" panose="02040503050406030204" pitchFamily="18" charset="0"/>
                      </a:rPr>
                      <m:t> </m:t>
                    </m:r>
                    <m:r>
                      <a:rPr lang="en-NZ" altLang="ja-JP" sz="1600" b="1" i="0" smtClean="0">
                        <a:solidFill>
                          <a:schemeClr val="tx1"/>
                        </a:solidFill>
                        <a:latin typeface="Cambria Math" panose="02040503050406030204" pitchFamily="18" charset="0"/>
                      </a:rPr>
                      <m:t>𝟎</m:t>
                    </m:r>
                    <m:r>
                      <a:rPr lang="en-NZ" altLang="ja-JP" sz="1600" b="1" i="0" smtClean="0">
                        <a:solidFill>
                          <a:schemeClr val="tx1"/>
                        </a:solidFill>
                        <a:latin typeface="Cambria Math" panose="02040503050406030204" pitchFamily="18" charset="0"/>
                      </a:rPr>
                      <m:t> +  </m:t>
                    </m:r>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𝝈</m:t>
                        </m:r>
                      </m:e>
                      <m:sup>
                        <m:r>
                          <a:rPr lang="en-NZ" altLang="ja-JP" sz="1600" b="1" i="1" smtClean="0">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  =   </m:t>
                    </m:r>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𝝈</m:t>
                        </m:r>
                      </m:e>
                      <m:sup>
                        <m:r>
                          <a:rPr lang="en-NZ" altLang="ja-JP" sz="1600" b="1" i="1" smtClean="0">
                            <a:solidFill>
                              <a:schemeClr val="tx1"/>
                            </a:solidFill>
                            <a:latin typeface="Cambria Math" panose="02040503050406030204" pitchFamily="18" charset="0"/>
                          </a:rPr>
                          <m:t>𝟐</m:t>
                        </m:r>
                      </m:sup>
                    </m:sSup>
                  </m:oMath>
                </a14:m>
                <a:endParaRPr lang="en-NZ" altLang="ja-JP" sz="1600" b="1" dirty="0">
                  <a:solidFill>
                    <a:schemeClr val="tx1"/>
                  </a:solidFill>
                </a:endParaRPr>
              </a:p>
              <a:p>
                <a:pPr>
                  <a:lnSpc>
                    <a:spcPct val="100000"/>
                  </a:lnSpc>
                </a:pPr>
                <a:endParaRPr lang="en-NZ" altLang="ja-JP" sz="1600" b="1" dirty="0">
                  <a:solidFill>
                    <a:schemeClr val="tx1"/>
                  </a:solidFill>
                </a:endParaRPr>
              </a:p>
              <a:p>
                <a:pPr>
                  <a:lnSpc>
                    <a:spcPct val="100000"/>
                  </a:lnSpc>
                </a:pPr>
                <a:endParaRPr lang="en-NZ" altLang="ja-JP" sz="1600" b="1" i="1" dirty="0">
                  <a:solidFill>
                    <a:schemeClr val="tx1"/>
                  </a:solidFill>
                </a:endParaRPr>
              </a:p>
            </p:txBody>
          </p:sp>
        </mc:Choice>
        <mc:Fallback xmlns="">
          <p:sp>
            <p:nvSpPr>
              <p:cNvPr id="33" name="Text Placeholder 5">
                <a:extLst>
                  <a:ext uri="{FF2B5EF4-FFF2-40B4-BE49-F238E27FC236}">
                    <a16:creationId xmlns:a16="http://schemas.microsoft.com/office/drawing/2014/main" id="{FFF95978-CA1F-8443-D771-F36B48A71535}"/>
                  </a:ext>
                </a:extLst>
              </p:cNvPr>
              <p:cNvSpPr txBox="1">
                <a:spLocks noRot="1" noChangeAspect="1" noMove="1" noResize="1" noEditPoints="1" noAdjustHandles="1" noChangeArrowheads="1" noChangeShapeType="1" noTextEdit="1"/>
              </p:cNvSpPr>
              <p:nvPr/>
            </p:nvSpPr>
            <p:spPr>
              <a:xfrm>
                <a:off x="679733" y="5842586"/>
                <a:ext cx="10348401" cy="474953"/>
              </a:xfrm>
              <a:prstGeom prst="rect">
                <a:avLst/>
              </a:prstGeom>
              <a:blipFill>
                <a:blip r:embed="rId7"/>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68048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9" grpId="0"/>
      <p:bldP spid="32" grpId="0"/>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51224" y="2752557"/>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51222" y="3160571"/>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51222" y="3160571"/>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FC934FC-49B1-4A6B-A0AE-3AA79B59B349}"/>
                  </a:ext>
                </a:extLst>
              </p:cNvPr>
              <p:cNvSpPr txBox="1">
                <a:spLocks/>
              </p:cNvSpPr>
              <p:nvPr/>
            </p:nvSpPr>
            <p:spPr>
              <a:xfrm>
                <a:off x="7294087" y="3160620"/>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18" name="Text Placeholder 5">
                <a:extLst>
                  <a:ext uri="{FF2B5EF4-FFF2-40B4-BE49-F238E27FC236}">
                    <a16:creationId xmlns:a16="http://schemas.microsoft.com/office/drawing/2014/main" id="{4FC934FC-49B1-4A6B-A0AE-3AA79B59B349}"/>
                  </a:ext>
                </a:extLst>
              </p:cNvPr>
              <p:cNvSpPr txBox="1">
                <a:spLocks noRot="1" noChangeAspect="1" noMove="1" noResize="1" noEditPoints="1" noAdjustHandles="1" noChangeArrowheads="1" noChangeShapeType="1" noTextEdit="1"/>
              </p:cNvSpPr>
              <p:nvPr/>
            </p:nvSpPr>
            <p:spPr>
              <a:xfrm>
                <a:off x="7294087" y="3160620"/>
                <a:ext cx="235978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91145" y="3638380"/>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91145" y="3638380"/>
                <a:ext cx="6286057" cy="815449"/>
              </a:xfrm>
              <a:prstGeom prst="rect">
                <a:avLst/>
              </a:prstGeom>
              <a:blipFill>
                <a:blip r:embed="rId4"/>
                <a:stretch>
                  <a:fillRect l="-582" t="-223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D7FE01F1-59F4-41A1-93D3-01009A102329}"/>
              </a:ext>
            </a:extLst>
          </p:cNvPr>
          <p:cNvSpPr txBox="1">
            <a:spLocks/>
          </p:cNvSpPr>
          <p:nvPr/>
        </p:nvSpPr>
        <p:spPr>
          <a:xfrm>
            <a:off x="303774" y="4681490"/>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want to test the hypothesis that the means of all the groups are equal, i.e.</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442D6107-9452-4B90-9F9B-C97B42EE92C9}"/>
                  </a:ext>
                </a:extLst>
              </p:cNvPr>
              <p:cNvSpPr txBox="1">
                <a:spLocks/>
              </p:cNvSpPr>
              <p:nvPr/>
            </p:nvSpPr>
            <p:spPr>
              <a:xfrm>
                <a:off x="291145" y="515644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oMath>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442D6107-9452-4B90-9F9B-C97B42EE92C9}"/>
                  </a:ext>
                </a:extLst>
              </p:cNvPr>
              <p:cNvSpPr txBox="1">
                <a:spLocks noRot="1" noChangeAspect="1" noMove="1" noResize="1" noEditPoints="1" noAdjustHandles="1" noChangeArrowheads="1" noChangeShapeType="1" noTextEdit="1"/>
              </p:cNvSpPr>
              <p:nvPr/>
            </p:nvSpPr>
            <p:spPr>
              <a:xfrm>
                <a:off x="291145" y="515644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6804A2D9-4809-4727-B333-0D8130B184C8}"/>
                  </a:ext>
                </a:extLst>
              </p:cNvPr>
              <p:cNvSpPr txBox="1">
                <a:spLocks/>
              </p:cNvSpPr>
              <p:nvPr/>
            </p:nvSpPr>
            <p:spPr>
              <a:xfrm>
                <a:off x="4570742" y="519386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3" name="Text Placeholder 5">
                <a:extLst>
                  <a:ext uri="{FF2B5EF4-FFF2-40B4-BE49-F238E27FC236}">
                    <a16:creationId xmlns:a16="http://schemas.microsoft.com/office/drawing/2014/main" id="{6804A2D9-4809-4727-B333-0D8130B184C8}"/>
                  </a:ext>
                </a:extLst>
              </p:cNvPr>
              <p:cNvSpPr txBox="1">
                <a:spLocks noRot="1" noChangeAspect="1" noMove="1" noResize="1" noEditPoints="1" noAdjustHandles="1" noChangeArrowheads="1" noChangeShapeType="1" noTextEdit="1"/>
              </p:cNvSpPr>
              <p:nvPr/>
            </p:nvSpPr>
            <p:spPr>
              <a:xfrm>
                <a:off x="4570742" y="5193868"/>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2631F459-0907-4AB7-8D86-826BF5F70F99}"/>
                  </a:ext>
                </a:extLst>
              </p:cNvPr>
              <p:cNvSpPr txBox="1">
                <a:spLocks/>
              </p:cNvSpPr>
              <p:nvPr/>
            </p:nvSpPr>
            <p:spPr>
              <a:xfrm>
                <a:off x="5919828" y="3600955"/>
                <a:ext cx="510830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and apply the constraint</a:t>
                </a:r>
              </a:p>
              <a:p>
                <a:pPr algn="just">
                  <a:lnSpc>
                    <a:spcPct val="100000"/>
                  </a:lnSpc>
                </a:pPr>
                <a14:m>
                  <m:oMathPara xmlns:m="http://schemas.openxmlformats.org/officeDocument/2006/math">
                    <m:oMathParaPr>
                      <m:jc m:val="centerGroup"/>
                    </m:oMathParaPr>
                    <m:oMath xmlns:m="http://schemas.openxmlformats.org/officeDocument/2006/math">
                      <m:nary>
                        <m:naryPr>
                          <m:chr m:val="∑"/>
                          <m:ctrlPr>
                            <a:rPr lang="en-NZ" altLang="ja-JP" sz="160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𝛼</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=0    </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r>
                            <a:rPr lang="en-NZ" altLang="ja-JP" sz="1600" b="0" i="1" smtClean="0">
                              <a:solidFill>
                                <a:schemeClr val="tx1"/>
                              </a:solidFill>
                              <a:latin typeface="Cambria Math" panose="02040503050406030204" pitchFamily="18" charset="0"/>
                            </a:rPr>
                            <m:t>𝑘</m:t>
                          </m:r>
                        </m:den>
                      </m:f>
                      <m:nary>
                        <m:naryPr>
                          <m:chr m:val="∑"/>
                          <m:ctrlPr>
                            <a:rPr lang="en-NZ" altLang="ja-JP" sz="1600" b="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𝜇</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𝜇</m:t>
                      </m:r>
                    </m:oMath>
                  </m:oMathPara>
                </a14:m>
                <a:endParaRPr lang="en-NZ" altLang="ja-JP" sz="1600" i="1" dirty="0">
                  <a:solidFill>
                    <a:schemeClr val="tx1"/>
                  </a:solidFill>
                </a:endParaRPr>
              </a:p>
            </p:txBody>
          </p:sp>
        </mc:Choice>
        <mc:Fallback xmlns="">
          <p:sp>
            <p:nvSpPr>
              <p:cNvPr id="24" name="Text Placeholder 5">
                <a:extLst>
                  <a:ext uri="{FF2B5EF4-FFF2-40B4-BE49-F238E27FC236}">
                    <a16:creationId xmlns:a16="http://schemas.microsoft.com/office/drawing/2014/main" id="{2631F459-0907-4AB7-8D86-826BF5F70F99}"/>
                  </a:ext>
                </a:extLst>
              </p:cNvPr>
              <p:cNvSpPr txBox="1">
                <a:spLocks noRot="1" noChangeAspect="1" noMove="1" noResize="1" noEditPoints="1" noAdjustHandles="1" noChangeArrowheads="1" noChangeShapeType="1" noTextEdit="1"/>
              </p:cNvSpPr>
              <p:nvPr/>
            </p:nvSpPr>
            <p:spPr>
              <a:xfrm>
                <a:off x="5919828" y="3600955"/>
                <a:ext cx="5108307" cy="815449"/>
              </a:xfrm>
              <a:prstGeom prst="rect">
                <a:avLst/>
              </a:prstGeom>
              <a:blipFill>
                <a:blip r:embed="rId7"/>
                <a:stretch>
                  <a:fillRect t="-2256" b="-218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E6B353AD-6E0D-476C-A8E0-0C6718C65928}"/>
                  </a:ext>
                </a:extLst>
              </p:cNvPr>
              <p:cNvSpPr txBox="1">
                <a:spLocks/>
              </p:cNvSpPr>
              <p:nvPr/>
            </p:nvSpPr>
            <p:spPr>
              <a:xfrm>
                <a:off x="8684523" y="518418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5" name="Text Placeholder 5">
                <a:extLst>
                  <a:ext uri="{FF2B5EF4-FFF2-40B4-BE49-F238E27FC236}">
                    <a16:creationId xmlns:a16="http://schemas.microsoft.com/office/drawing/2014/main" id="{E6B353AD-6E0D-476C-A8E0-0C6718C65928}"/>
                  </a:ext>
                </a:extLst>
              </p:cNvPr>
              <p:cNvSpPr txBox="1">
                <a:spLocks noRot="1" noChangeAspect="1" noMove="1" noResize="1" noEditPoints="1" noAdjustHandles="1" noChangeArrowheads="1" noChangeShapeType="1" noTextEdit="1"/>
              </p:cNvSpPr>
              <p:nvPr/>
            </p:nvSpPr>
            <p:spPr>
              <a:xfrm>
                <a:off x="8684523" y="5184189"/>
                <a:ext cx="3507477" cy="1021587"/>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5A5292B-25F0-4CA7-A0E9-ACC35A46CD01}"/>
                  </a:ext>
                </a:extLst>
              </p:cNvPr>
              <p:cNvSpPr txBox="1">
                <a:spLocks/>
              </p:cNvSpPr>
              <p:nvPr/>
            </p:nvSpPr>
            <p:spPr>
              <a:xfrm>
                <a:off x="3838431" y="539234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26" name="Text Placeholder 5">
                <a:extLst>
                  <a:ext uri="{FF2B5EF4-FFF2-40B4-BE49-F238E27FC236}">
                    <a16:creationId xmlns:a16="http://schemas.microsoft.com/office/drawing/2014/main" id="{D5A5292B-25F0-4CA7-A0E9-ACC35A46CD01}"/>
                  </a:ext>
                </a:extLst>
              </p:cNvPr>
              <p:cNvSpPr txBox="1">
                <a:spLocks noRot="1" noChangeAspect="1" noMove="1" noResize="1" noEditPoints="1" noAdjustHandles="1" noChangeArrowheads="1" noChangeShapeType="1" noTextEdit="1"/>
              </p:cNvSpPr>
              <p:nvPr/>
            </p:nvSpPr>
            <p:spPr>
              <a:xfrm>
                <a:off x="3838431" y="5392346"/>
                <a:ext cx="628508" cy="365125"/>
              </a:xfrm>
              <a:prstGeom prst="rect">
                <a:avLst/>
              </a:prstGeom>
              <a:blipFill>
                <a:blip r:embed="rId9"/>
                <a:stretch>
                  <a:fillRect b="-169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8F447797-39BB-4962-8C2C-504823700802}"/>
                  </a:ext>
                </a:extLst>
              </p:cNvPr>
              <p:cNvSpPr txBox="1">
                <a:spLocks/>
              </p:cNvSpPr>
              <p:nvPr/>
            </p:nvSpPr>
            <p:spPr>
              <a:xfrm>
                <a:off x="7876890" y="538243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27" name="Text Placeholder 5">
                <a:extLst>
                  <a:ext uri="{FF2B5EF4-FFF2-40B4-BE49-F238E27FC236}">
                    <a16:creationId xmlns:a16="http://schemas.microsoft.com/office/drawing/2014/main" id="{8F447797-39BB-4962-8C2C-504823700802}"/>
                  </a:ext>
                </a:extLst>
              </p:cNvPr>
              <p:cNvSpPr txBox="1">
                <a:spLocks noRot="1" noChangeAspect="1" noMove="1" noResize="1" noEditPoints="1" noAdjustHandles="1" noChangeArrowheads="1" noChangeShapeType="1" noTextEdit="1"/>
              </p:cNvSpPr>
              <p:nvPr/>
            </p:nvSpPr>
            <p:spPr>
              <a:xfrm>
                <a:off x="7876890" y="5382432"/>
                <a:ext cx="628508" cy="365125"/>
              </a:xfrm>
              <a:prstGeom prst="rect">
                <a:avLst/>
              </a:prstGeom>
              <a:blipFill>
                <a:blip r:embed="rId10"/>
                <a:stretch>
                  <a:fillRect b="-15000"/>
                </a:stretch>
              </a:blipFill>
            </p:spPr>
            <p:txBody>
              <a:bodyPr/>
              <a:lstStyle/>
              <a:p>
                <a:r>
                  <a:rPr lang="en-NZ">
                    <a:noFill/>
                  </a:rPr>
                  <a:t> </a:t>
                </a:r>
              </a:p>
            </p:txBody>
          </p:sp>
        </mc:Fallback>
      </mc:AlternateContent>
      <p:sp>
        <p:nvSpPr>
          <p:cNvPr id="28" name="Slide Number Placeholder 3">
            <a:extLst>
              <a:ext uri="{FF2B5EF4-FFF2-40B4-BE49-F238E27FC236}">
                <a16:creationId xmlns:a16="http://schemas.microsoft.com/office/drawing/2014/main" id="{765C6191-57EC-4F1D-A2DB-FCC39A970C3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15</a:t>
            </a:fld>
            <a:endParaRPr kumimoji="1" lang="ja-JP" altLang="en-US" dirty="0">
              <a:solidFill>
                <a:srgbClr val="575454">
                  <a:lumMod val="20000"/>
                  <a:lumOff val="80000"/>
                </a:srgbClr>
              </a:solidFill>
              <a:latin typeface="Coo Hew"/>
            </a:endParaRPr>
          </a:p>
        </p:txBody>
      </p:sp>
      <p:sp>
        <p:nvSpPr>
          <p:cNvPr id="30" name="Title 6">
            <a:extLst>
              <a:ext uri="{FF2B5EF4-FFF2-40B4-BE49-F238E27FC236}">
                <a16:creationId xmlns:a16="http://schemas.microsoft.com/office/drawing/2014/main" id="{E63026C8-BC0B-4275-933F-0B99ABB8734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31" name="Footer Placeholder 2">
            <a:extLst>
              <a:ext uri="{FF2B5EF4-FFF2-40B4-BE49-F238E27FC236}">
                <a16:creationId xmlns:a16="http://schemas.microsoft.com/office/drawing/2014/main" id="{355DBBE1-6AA0-E518-4612-AD04CED8D1B2}"/>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65078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5" grpId="0"/>
      <p:bldP spid="26" grpId="0"/>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lide Number Placeholder 3">
            <a:extLst>
              <a:ext uri="{FF2B5EF4-FFF2-40B4-BE49-F238E27FC236}">
                <a16:creationId xmlns:a16="http://schemas.microsoft.com/office/drawing/2014/main" id="{A96FB80D-C1DE-4EA0-876B-493B0776604B}"/>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16</a:t>
            </a:fld>
            <a:endParaRPr kumimoji="1" lang="ja-JP" altLang="en-US" dirty="0">
              <a:solidFill>
                <a:srgbClr val="575454">
                  <a:lumMod val="20000"/>
                  <a:lumOff val="80000"/>
                </a:srgbClr>
              </a:solidFill>
              <a:latin typeface="Coo Hew"/>
            </a:endParaRPr>
          </a:p>
        </p:txBody>
      </p:sp>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2287521"/>
            <a:ext cx="11458555"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rgbClr val="C00000"/>
                </a:solidFill>
              </a:rPr>
              <a:t>The basic premise of One Way ANOVA is that:</a:t>
            </a:r>
          </a:p>
          <a:p>
            <a:pPr algn="ctr">
              <a:lnSpc>
                <a:spcPct val="100000"/>
              </a:lnSpc>
            </a:pPr>
            <a:r>
              <a:rPr lang="en-NZ" altLang="ja-JP" sz="1600" dirty="0">
                <a:solidFill>
                  <a:srgbClr val="C00000"/>
                </a:solidFill>
              </a:rPr>
              <a:t>  </a:t>
            </a:r>
          </a:p>
          <a:p>
            <a:pPr algn="ctr">
              <a:lnSpc>
                <a:spcPct val="100000"/>
              </a:lnSpc>
            </a:pPr>
            <a:endParaRPr lang="en-NZ" altLang="ja-JP" sz="1600" dirty="0">
              <a:solidFill>
                <a:srgbClr val="C00000"/>
              </a:solidFill>
            </a:endParaRPr>
          </a:p>
          <a:p>
            <a:pPr algn="ctr">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C3F12D9-D0BB-42B1-87AB-6A9AF2DB78C0}"/>
                  </a:ext>
                </a:extLst>
              </p:cNvPr>
              <p:cNvSpPr txBox="1">
                <a:spLocks/>
              </p:cNvSpPr>
              <p:nvPr/>
            </p:nvSpPr>
            <p:spPr>
              <a:xfrm>
                <a:off x="251224" y="989809"/>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20" name="Text Placeholder 5">
                <a:extLst>
                  <a:ext uri="{FF2B5EF4-FFF2-40B4-BE49-F238E27FC236}">
                    <a16:creationId xmlns:a16="http://schemas.microsoft.com/office/drawing/2014/main" id="{5C3F12D9-D0BB-42B1-87AB-6A9AF2DB78C0}"/>
                  </a:ext>
                </a:extLst>
              </p:cNvPr>
              <p:cNvSpPr txBox="1">
                <a:spLocks noRot="1" noChangeAspect="1" noMove="1" noResize="1" noEditPoints="1" noAdjustHandles="1" noChangeArrowheads="1" noChangeShapeType="1" noTextEdit="1"/>
              </p:cNvSpPr>
              <p:nvPr/>
            </p:nvSpPr>
            <p:spPr>
              <a:xfrm>
                <a:off x="251224" y="989809"/>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F8F30D62-3DF0-4E2C-84AF-F396D70A4CA0}"/>
                  </a:ext>
                </a:extLst>
              </p:cNvPr>
              <p:cNvSpPr txBox="1">
                <a:spLocks/>
              </p:cNvSpPr>
              <p:nvPr/>
            </p:nvSpPr>
            <p:spPr>
              <a:xfrm>
                <a:off x="7068922" y="989808"/>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28" name="Text Placeholder 5">
                <a:extLst>
                  <a:ext uri="{FF2B5EF4-FFF2-40B4-BE49-F238E27FC236}">
                    <a16:creationId xmlns:a16="http://schemas.microsoft.com/office/drawing/2014/main" id="{F8F30D62-3DF0-4E2C-84AF-F396D70A4CA0}"/>
                  </a:ext>
                </a:extLst>
              </p:cNvPr>
              <p:cNvSpPr txBox="1">
                <a:spLocks noRot="1" noChangeAspect="1" noMove="1" noResize="1" noEditPoints="1" noAdjustHandles="1" noChangeArrowheads="1" noChangeShapeType="1" noTextEdit="1"/>
              </p:cNvSpPr>
              <p:nvPr/>
            </p:nvSpPr>
            <p:spPr>
              <a:xfrm>
                <a:off x="7068922" y="989808"/>
                <a:ext cx="2359788" cy="474953"/>
              </a:xfrm>
              <a:prstGeom prst="rect">
                <a:avLst/>
              </a:prstGeom>
              <a:blipFill>
                <a:blip r:embed="rId3"/>
                <a:stretch>
                  <a:fillRect/>
                </a:stretch>
              </a:blipFill>
            </p:spPr>
            <p:txBody>
              <a:bodyPr/>
              <a:lstStyle/>
              <a:p>
                <a:r>
                  <a:rPr lang="en-NZ">
                    <a:noFill/>
                  </a:rPr>
                  <a:t> </a:t>
                </a:r>
              </a:p>
            </p:txBody>
          </p:sp>
        </mc:Fallback>
      </mc:AlternateContent>
      <p:sp>
        <p:nvSpPr>
          <p:cNvPr id="30" name="Text Placeholder 5">
            <a:extLst>
              <a:ext uri="{FF2B5EF4-FFF2-40B4-BE49-F238E27FC236}">
                <a16:creationId xmlns:a16="http://schemas.microsoft.com/office/drawing/2014/main" id="{CDE3F118-3944-4892-99D8-4C6814BAB162}"/>
              </a:ext>
            </a:extLst>
          </p:cNvPr>
          <p:cNvSpPr txBox="1">
            <a:spLocks/>
          </p:cNvSpPr>
          <p:nvPr/>
        </p:nvSpPr>
        <p:spPr>
          <a:xfrm>
            <a:off x="252753" y="2617512"/>
            <a:ext cx="5088342" cy="13535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tx1"/>
                </a:solidFill>
              </a:rPr>
              <a:t>If </a:t>
            </a:r>
            <a:r>
              <a:rPr lang="en-NZ" altLang="ja-JP" sz="1400" b="1" i="1" dirty="0">
                <a:solidFill>
                  <a:schemeClr val="tx1"/>
                </a:solidFill>
              </a:rPr>
              <a:t>H</a:t>
            </a:r>
            <a:r>
              <a:rPr lang="en-NZ" altLang="ja-JP" sz="1400" b="1" i="1" baseline="-25000" dirty="0">
                <a:solidFill>
                  <a:schemeClr val="tx1"/>
                </a:solidFill>
              </a:rPr>
              <a:t>0</a:t>
            </a:r>
            <a:r>
              <a:rPr lang="en-NZ" altLang="ja-JP" sz="1400" dirty="0">
                <a:solidFill>
                  <a:schemeClr val="tx1"/>
                </a:solidFill>
              </a:rPr>
              <a:t> is true, then there are no differences between the means of the different groups</a:t>
            </a:r>
          </a:p>
          <a:p>
            <a:pPr algn="just">
              <a:lnSpc>
                <a:spcPct val="100000"/>
              </a:lnSpc>
            </a:pPr>
            <a:endParaRPr lang="en-NZ" altLang="ja-JP" sz="1400" dirty="0">
              <a:solidFill>
                <a:schemeClr val="tx1"/>
              </a:solidFill>
            </a:endParaRPr>
          </a:p>
          <a:p>
            <a:pPr marL="285750" indent="-285750" algn="just">
              <a:lnSpc>
                <a:spcPct val="100000"/>
              </a:lnSpc>
              <a:buFont typeface="Symbol" panose="05050102010706020507" pitchFamily="18" charset="2"/>
              <a:buChar char="Þ"/>
            </a:pP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between</a:t>
            </a:r>
            <a:r>
              <a:rPr lang="en-NZ" altLang="ja-JP" sz="1400" dirty="0">
                <a:solidFill>
                  <a:schemeClr val="tx1"/>
                </a:solidFill>
              </a:rPr>
              <a:t> group means and the overall mean </a:t>
            </a:r>
            <a:br>
              <a:rPr lang="en-NZ" altLang="ja-JP" sz="1400" dirty="0">
                <a:solidFill>
                  <a:schemeClr val="tx1"/>
                </a:solidFill>
              </a:rPr>
            </a:br>
            <a:r>
              <a:rPr lang="en-NZ" altLang="ja-JP" sz="1400" dirty="0">
                <a:solidFill>
                  <a:schemeClr val="tx1"/>
                </a:solidFill>
              </a:rPr>
              <a:t>will be </a:t>
            </a:r>
            <a:r>
              <a:rPr lang="en-NZ" altLang="ja-JP" sz="1400" b="1" dirty="0">
                <a:solidFill>
                  <a:schemeClr val="tx1"/>
                </a:solidFill>
              </a:rPr>
              <a:t>similar</a:t>
            </a:r>
            <a:r>
              <a:rPr lang="en-NZ" altLang="ja-JP" sz="1400" dirty="0">
                <a:solidFill>
                  <a:schemeClr val="tx1"/>
                </a:solidFill>
              </a:rPr>
              <a:t> to </a:t>
            </a: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within</a:t>
            </a:r>
            <a:r>
              <a:rPr lang="en-NZ" altLang="ja-JP" sz="1400" dirty="0">
                <a:solidFill>
                  <a:schemeClr val="tx1"/>
                </a:solidFill>
              </a:rPr>
              <a:t> groups.</a:t>
            </a:r>
          </a:p>
          <a:p>
            <a:pPr marL="285750" indent="-285750" algn="just">
              <a:lnSpc>
                <a:spcPct val="100000"/>
              </a:lnSpc>
              <a:buFont typeface="Symbol" panose="05050102010706020507" pitchFamily="18" charset="2"/>
              <a:buChar char="Þ"/>
            </a:pPr>
            <a:endParaRPr lang="en-NZ" altLang="ja-JP" sz="1400" dirty="0">
              <a:solidFill>
                <a:schemeClr val="tx1"/>
              </a:solidFill>
            </a:endParaRPr>
          </a:p>
          <a:p>
            <a:pPr algn="just">
              <a:lnSpc>
                <a:spcPct val="100000"/>
              </a:lnSpc>
            </a:pPr>
            <a:r>
              <a:rPr lang="en-NZ" altLang="ja-JP" sz="1400" dirty="0">
                <a:solidFill>
                  <a:schemeClr val="tx1"/>
                </a:solidFill>
              </a:rPr>
              <a:t>  </a:t>
            </a: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571C868E-5850-4E3B-8799-34CEC05AB25F}"/>
                  </a:ext>
                </a:extLst>
              </p:cNvPr>
              <p:cNvSpPr txBox="1">
                <a:spLocks/>
              </p:cNvSpPr>
              <p:nvPr/>
            </p:nvSpPr>
            <p:spPr>
              <a:xfrm>
                <a:off x="215187" y="138357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oMath>
                </a14:m>
                <a:endParaRPr lang="en-NZ" altLang="ja-JP" sz="1600" dirty="0">
                  <a:solidFill>
                    <a:schemeClr val="tx1"/>
                  </a:solidFill>
                </a:endParaRPr>
              </a:p>
            </p:txBody>
          </p:sp>
        </mc:Choice>
        <mc:Fallback xmlns="">
          <p:sp>
            <p:nvSpPr>
              <p:cNvPr id="32" name="Text Placeholder 5">
                <a:extLst>
                  <a:ext uri="{FF2B5EF4-FFF2-40B4-BE49-F238E27FC236}">
                    <a16:creationId xmlns:a16="http://schemas.microsoft.com/office/drawing/2014/main" id="{571C868E-5850-4E3B-8799-34CEC05AB25F}"/>
                  </a:ext>
                </a:extLst>
              </p:cNvPr>
              <p:cNvSpPr txBox="1">
                <a:spLocks noRot="1" noChangeAspect="1" noMove="1" noResize="1" noEditPoints="1" noAdjustHandles="1" noChangeArrowheads="1" noChangeShapeType="1" noTextEdit="1"/>
              </p:cNvSpPr>
              <p:nvPr/>
            </p:nvSpPr>
            <p:spPr>
              <a:xfrm>
                <a:off x="215187" y="1383578"/>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BEFA8F33-2FCE-44B4-A878-BA183DC23DCF}"/>
                  </a:ext>
                </a:extLst>
              </p:cNvPr>
              <p:cNvSpPr txBox="1">
                <a:spLocks/>
              </p:cNvSpPr>
              <p:nvPr/>
            </p:nvSpPr>
            <p:spPr>
              <a:xfrm>
                <a:off x="4494784" y="142100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33" name="Text Placeholder 5">
                <a:extLst>
                  <a:ext uri="{FF2B5EF4-FFF2-40B4-BE49-F238E27FC236}">
                    <a16:creationId xmlns:a16="http://schemas.microsoft.com/office/drawing/2014/main" id="{BEFA8F33-2FCE-44B4-A878-BA183DC23DCF}"/>
                  </a:ext>
                </a:extLst>
              </p:cNvPr>
              <p:cNvSpPr txBox="1">
                <a:spLocks noRot="1" noChangeAspect="1" noMove="1" noResize="1" noEditPoints="1" noAdjustHandles="1" noChangeArrowheads="1" noChangeShapeType="1" noTextEdit="1"/>
              </p:cNvSpPr>
              <p:nvPr/>
            </p:nvSpPr>
            <p:spPr>
              <a:xfrm>
                <a:off x="4494784" y="142100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0C13D677-C108-45D5-B7D1-BF7D41FB7209}"/>
                  </a:ext>
                </a:extLst>
              </p:cNvPr>
              <p:cNvSpPr txBox="1">
                <a:spLocks/>
              </p:cNvSpPr>
              <p:nvPr/>
            </p:nvSpPr>
            <p:spPr>
              <a:xfrm>
                <a:off x="8608565" y="1411324"/>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34" name="Text Placeholder 5">
                <a:extLst>
                  <a:ext uri="{FF2B5EF4-FFF2-40B4-BE49-F238E27FC236}">
                    <a16:creationId xmlns:a16="http://schemas.microsoft.com/office/drawing/2014/main" id="{0C13D677-C108-45D5-B7D1-BF7D41FB7209}"/>
                  </a:ext>
                </a:extLst>
              </p:cNvPr>
              <p:cNvSpPr txBox="1">
                <a:spLocks noRot="1" noChangeAspect="1" noMove="1" noResize="1" noEditPoints="1" noAdjustHandles="1" noChangeArrowheads="1" noChangeShapeType="1" noTextEdit="1"/>
              </p:cNvSpPr>
              <p:nvPr/>
            </p:nvSpPr>
            <p:spPr>
              <a:xfrm>
                <a:off x="8608565" y="1411324"/>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7F9FBF06-665C-44D9-BA6F-F2B27DFEF889}"/>
                  </a:ext>
                </a:extLst>
              </p:cNvPr>
              <p:cNvSpPr txBox="1">
                <a:spLocks/>
              </p:cNvSpPr>
              <p:nvPr/>
            </p:nvSpPr>
            <p:spPr>
              <a:xfrm>
                <a:off x="3768159" y="1517113"/>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5" name="Text Placeholder 5">
                <a:extLst>
                  <a:ext uri="{FF2B5EF4-FFF2-40B4-BE49-F238E27FC236}">
                    <a16:creationId xmlns:a16="http://schemas.microsoft.com/office/drawing/2014/main" id="{7F9FBF06-665C-44D9-BA6F-F2B27DFEF889}"/>
                  </a:ext>
                </a:extLst>
              </p:cNvPr>
              <p:cNvSpPr txBox="1">
                <a:spLocks noRot="1" noChangeAspect="1" noMove="1" noResize="1" noEditPoints="1" noAdjustHandles="1" noChangeArrowheads="1" noChangeShapeType="1" noTextEdit="1"/>
              </p:cNvSpPr>
              <p:nvPr/>
            </p:nvSpPr>
            <p:spPr>
              <a:xfrm>
                <a:off x="3768159" y="1517113"/>
                <a:ext cx="628508" cy="365125"/>
              </a:xfrm>
              <a:prstGeom prst="rect">
                <a:avLst/>
              </a:prstGeom>
              <a:blipFill>
                <a:blip r:embed="rId7"/>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6" name="Text Placeholder 5">
                <a:extLst>
                  <a:ext uri="{FF2B5EF4-FFF2-40B4-BE49-F238E27FC236}">
                    <a16:creationId xmlns:a16="http://schemas.microsoft.com/office/drawing/2014/main" id="{2DE8CBE2-1353-4E9B-A74E-06D5DEE7FD17}"/>
                  </a:ext>
                </a:extLst>
              </p:cNvPr>
              <p:cNvSpPr txBox="1">
                <a:spLocks/>
              </p:cNvSpPr>
              <p:nvPr/>
            </p:nvSpPr>
            <p:spPr>
              <a:xfrm>
                <a:off x="7806618" y="1507199"/>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6" name="Text Placeholder 5">
                <a:extLst>
                  <a:ext uri="{FF2B5EF4-FFF2-40B4-BE49-F238E27FC236}">
                    <a16:creationId xmlns:a16="http://schemas.microsoft.com/office/drawing/2014/main" id="{2DE8CBE2-1353-4E9B-A74E-06D5DEE7FD17}"/>
                  </a:ext>
                </a:extLst>
              </p:cNvPr>
              <p:cNvSpPr txBox="1">
                <a:spLocks noRot="1" noChangeAspect="1" noMove="1" noResize="1" noEditPoints="1" noAdjustHandles="1" noChangeArrowheads="1" noChangeShapeType="1" noTextEdit="1"/>
              </p:cNvSpPr>
              <p:nvPr/>
            </p:nvSpPr>
            <p:spPr>
              <a:xfrm>
                <a:off x="7806618" y="1507199"/>
                <a:ext cx="628508" cy="365125"/>
              </a:xfrm>
              <a:prstGeom prst="rect">
                <a:avLst/>
              </a:prstGeom>
              <a:blipFill>
                <a:blip r:embed="rId8"/>
                <a:stretch>
                  <a:fillRect b="-16667"/>
                </a:stretch>
              </a:blipFill>
            </p:spPr>
            <p:txBody>
              <a:bodyPr/>
              <a:lstStyle/>
              <a:p>
                <a:r>
                  <a:rPr lang="en-NZ">
                    <a:noFill/>
                  </a:rPr>
                  <a:t> </a:t>
                </a:r>
              </a:p>
            </p:txBody>
          </p:sp>
        </mc:Fallback>
      </mc:AlternateContent>
      <p:pic>
        <p:nvPicPr>
          <p:cNvPr id="37" name="Picture 36">
            <a:extLst>
              <a:ext uri="{FF2B5EF4-FFF2-40B4-BE49-F238E27FC236}">
                <a16:creationId xmlns:a16="http://schemas.microsoft.com/office/drawing/2014/main" id="{5DAD2D2C-3BAF-4190-9324-3A9FD6FF4E2C}"/>
              </a:ext>
            </a:extLst>
          </p:cNvPr>
          <p:cNvPicPr>
            <a:picLocks noChangeAspect="1"/>
          </p:cNvPicPr>
          <p:nvPr/>
        </p:nvPicPr>
        <p:blipFill>
          <a:blip r:embed="rId9"/>
          <a:stretch>
            <a:fillRect/>
          </a:stretch>
        </p:blipFill>
        <p:spPr>
          <a:xfrm>
            <a:off x="2164450" y="3860194"/>
            <a:ext cx="1287154" cy="775868"/>
          </a:xfrm>
          <a:prstGeom prst="rect">
            <a:avLst/>
          </a:prstGeom>
        </p:spPr>
      </p:pic>
      <p:pic>
        <p:nvPicPr>
          <p:cNvPr id="38" name="Picture 37">
            <a:extLst>
              <a:ext uri="{FF2B5EF4-FFF2-40B4-BE49-F238E27FC236}">
                <a16:creationId xmlns:a16="http://schemas.microsoft.com/office/drawing/2014/main" id="{8D607907-EE7A-477D-9FD9-34DE293432A4}"/>
              </a:ext>
            </a:extLst>
          </p:cNvPr>
          <p:cNvPicPr>
            <a:picLocks noChangeAspect="1"/>
          </p:cNvPicPr>
          <p:nvPr/>
        </p:nvPicPr>
        <p:blipFill>
          <a:blip r:embed="rId9"/>
          <a:stretch>
            <a:fillRect/>
          </a:stretch>
        </p:blipFill>
        <p:spPr>
          <a:xfrm>
            <a:off x="2289697" y="4653554"/>
            <a:ext cx="1287154" cy="775868"/>
          </a:xfrm>
          <a:prstGeom prst="rect">
            <a:avLst/>
          </a:prstGeom>
        </p:spPr>
      </p:pic>
      <p:pic>
        <p:nvPicPr>
          <p:cNvPr id="39" name="Picture 38">
            <a:extLst>
              <a:ext uri="{FF2B5EF4-FFF2-40B4-BE49-F238E27FC236}">
                <a16:creationId xmlns:a16="http://schemas.microsoft.com/office/drawing/2014/main" id="{C50D1B2D-5F77-4597-8F3D-AF754F9C1F88}"/>
              </a:ext>
            </a:extLst>
          </p:cNvPr>
          <p:cNvPicPr>
            <a:picLocks noChangeAspect="1"/>
          </p:cNvPicPr>
          <p:nvPr/>
        </p:nvPicPr>
        <p:blipFill>
          <a:blip r:embed="rId9"/>
          <a:stretch>
            <a:fillRect/>
          </a:stretch>
        </p:blipFill>
        <p:spPr>
          <a:xfrm>
            <a:off x="2014325" y="5482903"/>
            <a:ext cx="1287154" cy="775868"/>
          </a:xfrm>
          <a:prstGeom prst="rect">
            <a:avLst/>
          </a:prstGeom>
        </p:spPr>
      </p:pic>
      <p:cxnSp>
        <p:nvCxnSpPr>
          <p:cNvPr id="40" name="Straight Connector 39">
            <a:extLst>
              <a:ext uri="{FF2B5EF4-FFF2-40B4-BE49-F238E27FC236}">
                <a16:creationId xmlns:a16="http://schemas.microsoft.com/office/drawing/2014/main" id="{0D51772C-9DE7-4F3E-981F-D09A77F7BE95}"/>
              </a:ext>
            </a:extLst>
          </p:cNvPr>
          <p:cNvCxnSpPr>
            <a:cxnSpLocks/>
          </p:cNvCxnSpPr>
          <p:nvPr/>
        </p:nvCxnSpPr>
        <p:spPr>
          <a:xfrm>
            <a:off x="2808027" y="3842702"/>
            <a:ext cx="0" cy="27181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E99ADCF-1CAA-4065-87C0-A02BB7B87145}"/>
              </a:ext>
            </a:extLst>
          </p:cNvPr>
          <p:cNvCxnSpPr>
            <a:cxnSpLocks/>
          </p:cNvCxnSpPr>
          <p:nvPr/>
        </p:nvCxnSpPr>
        <p:spPr>
          <a:xfrm>
            <a:off x="74922" y="6390494"/>
            <a:ext cx="56160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Multiplication Sign 41">
            <a:extLst>
              <a:ext uri="{FF2B5EF4-FFF2-40B4-BE49-F238E27FC236}">
                <a16:creationId xmlns:a16="http://schemas.microsoft.com/office/drawing/2014/main" id="{C4B27B0A-2827-4DDD-BCDD-4C7707DD87E1}"/>
              </a:ext>
            </a:extLst>
          </p:cNvPr>
          <p:cNvSpPr/>
          <p:nvPr/>
        </p:nvSpPr>
        <p:spPr>
          <a:xfrm>
            <a:off x="2528390" y="4126896"/>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3" name="Multiplication Sign 42">
            <a:extLst>
              <a:ext uri="{FF2B5EF4-FFF2-40B4-BE49-F238E27FC236}">
                <a16:creationId xmlns:a16="http://schemas.microsoft.com/office/drawing/2014/main" id="{BEA03809-33D3-4468-AA22-DB480D46D8DC}"/>
              </a:ext>
            </a:extLst>
          </p:cNvPr>
          <p:cNvSpPr/>
          <p:nvPr/>
        </p:nvSpPr>
        <p:spPr>
          <a:xfrm>
            <a:off x="2438614" y="4333933"/>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4" name="Multiplication Sign 43">
            <a:extLst>
              <a:ext uri="{FF2B5EF4-FFF2-40B4-BE49-F238E27FC236}">
                <a16:creationId xmlns:a16="http://schemas.microsoft.com/office/drawing/2014/main" id="{14C7DFC6-45BF-48BF-B5C1-076CBCF8CBFA}"/>
              </a:ext>
            </a:extLst>
          </p:cNvPr>
          <p:cNvSpPr/>
          <p:nvPr/>
        </p:nvSpPr>
        <p:spPr>
          <a:xfrm>
            <a:off x="2669276" y="4332159"/>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5" name="Multiplication Sign 44">
            <a:extLst>
              <a:ext uri="{FF2B5EF4-FFF2-40B4-BE49-F238E27FC236}">
                <a16:creationId xmlns:a16="http://schemas.microsoft.com/office/drawing/2014/main" id="{FD315A53-E242-4FC3-908E-28100B496B42}"/>
              </a:ext>
            </a:extLst>
          </p:cNvPr>
          <p:cNvSpPr/>
          <p:nvPr/>
        </p:nvSpPr>
        <p:spPr>
          <a:xfrm>
            <a:off x="2708085" y="412908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6" name="Multiplication Sign 45">
            <a:extLst>
              <a:ext uri="{FF2B5EF4-FFF2-40B4-BE49-F238E27FC236}">
                <a16:creationId xmlns:a16="http://schemas.microsoft.com/office/drawing/2014/main" id="{5981BB32-2E92-4720-AD92-E7F9104842F7}"/>
              </a:ext>
            </a:extLst>
          </p:cNvPr>
          <p:cNvSpPr/>
          <p:nvPr/>
        </p:nvSpPr>
        <p:spPr>
          <a:xfrm>
            <a:off x="2629681" y="393796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7" name="Multiplication Sign 46">
            <a:extLst>
              <a:ext uri="{FF2B5EF4-FFF2-40B4-BE49-F238E27FC236}">
                <a16:creationId xmlns:a16="http://schemas.microsoft.com/office/drawing/2014/main" id="{95E471ED-4EB9-4B38-9048-AB8908D24A4B}"/>
              </a:ext>
            </a:extLst>
          </p:cNvPr>
          <p:cNvSpPr/>
          <p:nvPr/>
        </p:nvSpPr>
        <p:spPr>
          <a:xfrm>
            <a:off x="2806960" y="395204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8" name="Multiplication Sign 47">
            <a:extLst>
              <a:ext uri="{FF2B5EF4-FFF2-40B4-BE49-F238E27FC236}">
                <a16:creationId xmlns:a16="http://schemas.microsoft.com/office/drawing/2014/main" id="{90B17B18-04BB-40A4-93A5-6B2AAAA7078E}"/>
              </a:ext>
            </a:extLst>
          </p:cNvPr>
          <p:cNvSpPr/>
          <p:nvPr/>
        </p:nvSpPr>
        <p:spPr>
          <a:xfrm>
            <a:off x="2912520" y="4143759"/>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9" name="Multiplication Sign 48">
            <a:extLst>
              <a:ext uri="{FF2B5EF4-FFF2-40B4-BE49-F238E27FC236}">
                <a16:creationId xmlns:a16="http://schemas.microsoft.com/office/drawing/2014/main" id="{32068868-6D02-4AC6-A2CA-E2F90BEACCA8}"/>
              </a:ext>
            </a:extLst>
          </p:cNvPr>
          <p:cNvSpPr/>
          <p:nvPr/>
        </p:nvSpPr>
        <p:spPr>
          <a:xfrm>
            <a:off x="2885365" y="434783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0" name="Multiplication Sign 49">
            <a:extLst>
              <a:ext uri="{FF2B5EF4-FFF2-40B4-BE49-F238E27FC236}">
                <a16:creationId xmlns:a16="http://schemas.microsoft.com/office/drawing/2014/main" id="{2D6BFC96-2CBA-4DB1-BDDB-693AC312C8F7}"/>
              </a:ext>
            </a:extLst>
          </p:cNvPr>
          <p:cNvSpPr/>
          <p:nvPr/>
        </p:nvSpPr>
        <p:spPr>
          <a:xfrm>
            <a:off x="3103728" y="434583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1" name="Multiplication Sign 50">
            <a:extLst>
              <a:ext uri="{FF2B5EF4-FFF2-40B4-BE49-F238E27FC236}">
                <a16:creationId xmlns:a16="http://schemas.microsoft.com/office/drawing/2014/main" id="{B7A8CDBE-0A89-47B8-BF0A-7461F4356D89}"/>
              </a:ext>
            </a:extLst>
          </p:cNvPr>
          <p:cNvSpPr/>
          <p:nvPr/>
        </p:nvSpPr>
        <p:spPr>
          <a:xfrm>
            <a:off x="2253908" y="434783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2" name="Multiplication Sign 51">
            <a:extLst>
              <a:ext uri="{FF2B5EF4-FFF2-40B4-BE49-F238E27FC236}">
                <a16:creationId xmlns:a16="http://schemas.microsoft.com/office/drawing/2014/main" id="{F0BD2B3C-6679-4064-835A-DA129ED1513D}"/>
              </a:ext>
            </a:extLst>
          </p:cNvPr>
          <p:cNvSpPr/>
          <p:nvPr/>
        </p:nvSpPr>
        <p:spPr>
          <a:xfrm>
            <a:off x="2712633" y="376325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3" name="Multiplication Sign 52">
            <a:extLst>
              <a:ext uri="{FF2B5EF4-FFF2-40B4-BE49-F238E27FC236}">
                <a16:creationId xmlns:a16="http://schemas.microsoft.com/office/drawing/2014/main" id="{E79A1B37-F980-4600-A8DE-1D9241F59A07}"/>
              </a:ext>
            </a:extLst>
          </p:cNvPr>
          <p:cNvSpPr/>
          <p:nvPr/>
        </p:nvSpPr>
        <p:spPr>
          <a:xfrm>
            <a:off x="3330090" y="5240439"/>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4" name="Multiplication Sign 53">
            <a:extLst>
              <a:ext uri="{FF2B5EF4-FFF2-40B4-BE49-F238E27FC236}">
                <a16:creationId xmlns:a16="http://schemas.microsoft.com/office/drawing/2014/main" id="{D1EFC95D-5190-49F4-BD01-23D945DB89D9}"/>
              </a:ext>
            </a:extLst>
          </p:cNvPr>
          <p:cNvSpPr/>
          <p:nvPr/>
        </p:nvSpPr>
        <p:spPr>
          <a:xfrm>
            <a:off x="2814991" y="4615866"/>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5" name="Multiplication Sign 54">
            <a:extLst>
              <a:ext uri="{FF2B5EF4-FFF2-40B4-BE49-F238E27FC236}">
                <a16:creationId xmlns:a16="http://schemas.microsoft.com/office/drawing/2014/main" id="{D2A58C36-1A2D-44CB-BC3D-3580A2872F2D}"/>
              </a:ext>
            </a:extLst>
          </p:cNvPr>
          <p:cNvSpPr/>
          <p:nvPr/>
        </p:nvSpPr>
        <p:spPr>
          <a:xfrm>
            <a:off x="2977489" y="477834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6" name="Multiplication Sign 55">
            <a:extLst>
              <a:ext uri="{FF2B5EF4-FFF2-40B4-BE49-F238E27FC236}">
                <a16:creationId xmlns:a16="http://schemas.microsoft.com/office/drawing/2014/main" id="{C1CD1CF5-006C-4B48-A393-757BEADF4CB6}"/>
              </a:ext>
            </a:extLst>
          </p:cNvPr>
          <p:cNvSpPr/>
          <p:nvPr/>
        </p:nvSpPr>
        <p:spPr>
          <a:xfrm>
            <a:off x="2678233" y="4794379"/>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7" name="Multiplication Sign 56">
            <a:extLst>
              <a:ext uri="{FF2B5EF4-FFF2-40B4-BE49-F238E27FC236}">
                <a16:creationId xmlns:a16="http://schemas.microsoft.com/office/drawing/2014/main" id="{8D7F834E-C244-45B4-A5DE-BD5B8AA81C3C}"/>
              </a:ext>
            </a:extLst>
          </p:cNvPr>
          <p:cNvSpPr/>
          <p:nvPr/>
        </p:nvSpPr>
        <p:spPr>
          <a:xfrm>
            <a:off x="2814991" y="492743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8" name="Multiplication Sign 57">
            <a:extLst>
              <a:ext uri="{FF2B5EF4-FFF2-40B4-BE49-F238E27FC236}">
                <a16:creationId xmlns:a16="http://schemas.microsoft.com/office/drawing/2014/main" id="{D7797A7D-A53D-445B-83D9-E6F87E158D8A}"/>
              </a:ext>
            </a:extLst>
          </p:cNvPr>
          <p:cNvSpPr/>
          <p:nvPr/>
        </p:nvSpPr>
        <p:spPr>
          <a:xfrm>
            <a:off x="3001584" y="498311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9" name="Multiplication Sign 58">
            <a:extLst>
              <a:ext uri="{FF2B5EF4-FFF2-40B4-BE49-F238E27FC236}">
                <a16:creationId xmlns:a16="http://schemas.microsoft.com/office/drawing/2014/main" id="{F04259A7-0F6D-42EC-8C5D-95FCEC3D27AC}"/>
              </a:ext>
            </a:extLst>
          </p:cNvPr>
          <p:cNvSpPr/>
          <p:nvPr/>
        </p:nvSpPr>
        <p:spPr>
          <a:xfrm>
            <a:off x="2581277" y="502502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0" name="Multiplication Sign 59">
            <a:extLst>
              <a:ext uri="{FF2B5EF4-FFF2-40B4-BE49-F238E27FC236}">
                <a16:creationId xmlns:a16="http://schemas.microsoft.com/office/drawing/2014/main" id="{94EB638C-E7F1-4004-80EC-478EEFC35FEE}"/>
              </a:ext>
            </a:extLst>
          </p:cNvPr>
          <p:cNvSpPr/>
          <p:nvPr/>
        </p:nvSpPr>
        <p:spPr>
          <a:xfrm>
            <a:off x="2759372" y="510523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1" name="Multiplication Sign 60">
            <a:extLst>
              <a:ext uri="{FF2B5EF4-FFF2-40B4-BE49-F238E27FC236}">
                <a16:creationId xmlns:a16="http://schemas.microsoft.com/office/drawing/2014/main" id="{2BE96A4B-8646-4366-9E1B-D6C282A9CE32}"/>
              </a:ext>
            </a:extLst>
          </p:cNvPr>
          <p:cNvSpPr/>
          <p:nvPr/>
        </p:nvSpPr>
        <p:spPr>
          <a:xfrm>
            <a:off x="2952715" y="515871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2" name="Multiplication Sign 61">
            <a:extLst>
              <a:ext uri="{FF2B5EF4-FFF2-40B4-BE49-F238E27FC236}">
                <a16:creationId xmlns:a16="http://schemas.microsoft.com/office/drawing/2014/main" id="{5E1155E6-D9AD-485A-962E-C5B4A9B5E76E}"/>
              </a:ext>
            </a:extLst>
          </p:cNvPr>
          <p:cNvSpPr/>
          <p:nvPr/>
        </p:nvSpPr>
        <p:spPr>
          <a:xfrm>
            <a:off x="3128037" y="515931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3" name="Multiplication Sign 62">
            <a:extLst>
              <a:ext uri="{FF2B5EF4-FFF2-40B4-BE49-F238E27FC236}">
                <a16:creationId xmlns:a16="http://schemas.microsoft.com/office/drawing/2014/main" id="{87C352EA-E368-480B-BEDC-5A7A7C128583}"/>
              </a:ext>
            </a:extLst>
          </p:cNvPr>
          <p:cNvSpPr/>
          <p:nvPr/>
        </p:nvSpPr>
        <p:spPr>
          <a:xfrm>
            <a:off x="2581277" y="518636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4" name="Multiplication Sign 63">
            <a:extLst>
              <a:ext uri="{FF2B5EF4-FFF2-40B4-BE49-F238E27FC236}">
                <a16:creationId xmlns:a16="http://schemas.microsoft.com/office/drawing/2014/main" id="{62841493-C954-4587-8F9E-B048CF815917}"/>
              </a:ext>
            </a:extLst>
          </p:cNvPr>
          <p:cNvSpPr/>
          <p:nvPr/>
        </p:nvSpPr>
        <p:spPr>
          <a:xfrm>
            <a:off x="2342280" y="5169902"/>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5" name="Multiplication Sign 64">
            <a:extLst>
              <a:ext uri="{FF2B5EF4-FFF2-40B4-BE49-F238E27FC236}">
                <a16:creationId xmlns:a16="http://schemas.microsoft.com/office/drawing/2014/main" id="{3081BEFD-8D72-4FAB-BA38-EC0863A9FE8D}"/>
              </a:ext>
            </a:extLst>
          </p:cNvPr>
          <p:cNvSpPr/>
          <p:nvPr/>
        </p:nvSpPr>
        <p:spPr>
          <a:xfrm>
            <a:off x="3087665" y="611858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6" name="Multiplication Sign 65">
            <a:extLst>
              <a:ext uri="{FF2B5EF4-FFF2-40B4-BE49-F238E27FC236}">
                <a16:creationId xmlns:a16="http://schemas.microsoft.com/office/drawing/2014/main" id="{81A14A22-DB1F-4BE4-AF9D-907E2FAB600C}"/>
              </a:ext>
            </a:extLst>
          </p:cNvPr>
          <p:cNvSpPr/>
          <p:nvPr/>
        </p:nvSpPr>
        <p:spPr>
          <a:xfrm>
            <a:off x="2554762" y="5438114"/>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7" name="Multiplication Sign 66">
            <a:extLst>
              <a:ext uri="{FF2B5EF4-FFF2-40B4-BE49-F238E27FC236}">
                <a16:creationId xmlns:a16="http://schemas.microsoft.com/office/drawing/2014/main" id="{8C2BF33E-4CA9-4BD7-8D3A-074625862A0B}"/>
              </a:ext>
            </a:extLst>
          </p:cNvPr>
          <p:cNvSpPr/>
          <p:nvPr/>
        </p:nvSpPr>
        <p:spPr>
          <a:xfrm>
            <a:off x="2732039" y="564122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8" name="Multiplication Sign 67">
            <a:extLst>
              <a:ext uri="{FF2B5EF4-FFF2-40B4-BE49-F238E27FC236}">
                <a16:creationId xmlns:a16="http://schemas.microsoft.com/office/drawing/2014/main" id="{5D7CD02F-E741-47D3-97B8-E2EF0FC7939C}"/>
              </a:ext>
            </a:extLst>
          </p:cNvPr>
          <p:cNvSpPr/>
          <p:nvPr/>
        </p:nvSpPr>
        <p:spPr>
          <a:xfrm>
            <a:off x="2462426" y="562837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9" name="Multiplication Sign 68">
            <a:extLst>
              <a:ext uri="{FF2B5EF4-FFF2-40B4-BE49-F238E27FC236}">
                <a16:creationId xmlns:a16="http://schemas.microsoft.com/office/drawing/2014/main" id="{4BCA6BAF-43FB-47E6-B4CD-1BE18E739E5F}"/>
              </a:ext>
            </a:extLst>
          </p:cNvPr>
          <p:cNvSpPr/>
          <p:nvPr/>
        </p:nvSpPr>
        <p:spPr>
          <a:xfrm>
            <a:off x="2586784" y="5725367"/>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0" name="Multiplication Sign 69">
            <a:extLst>
              <a:ext uri="{FF2B5EF4-FFF2-40B4-BE49-F238E27FC236}">
                <a16:creationId xmlns:a16="http://schemas.microsoft.com/office/drawing/2014/main" id="{2BCE846A-C901-4A70-B6EF-92DAAC4A2E16}"/>
              </a:ext>
            </a:extLst>
          </p:cNvPr>
          <p:cNvSpPr/>
          <p:nvPr/>
        </p:nvSpPr>
        <p:spPr>
          <a:xfrm>
            <a:off x="2791500" y="587186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1" name="Multiplication Sign 70">
            <a:extLst>
              <a:ext uri="{FF2B5EF4-FFF2-40B4-BE49-F238E27FC236}">
                <a16:creationId xmlns:a16="http://schemas.microsoft.com/office/drawing/2014/main" id="{1CF4D09B-1B4F-4A37-ADE9-7B3845746C01}"/>
              </a:ext>
            </a:extLst>
          </p:cNvPr>
          <p:cNvSpPr/>
          <p:nvPr/>
        </p:nvSpPr>
        <p:spPr>
          <a:xfrm>
            <a:off x="2597693" y="593019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2" name="Multiplication Sign 71">
            <a:extLst>
              <a:ext uri="{FF2B5EF4-FFF2-40B4-BE49-F238E27FC236}">
                <a16:creationId xmlns:a16="http://schemas.microsoft.com/office/drawing/2014/main" id="{0E3A1DB3-0AB9-4C82-B0A8-D066CD0C5C02}"/>
              </a:ext>
            </a:extLst>
          </p:cNvPr>
          <p:cNvSpPr/>
          <p:nvPr/>
        </p:nvSpPr>
        <p:spPr>
          <a:xfrm>
            <a:off x="2406557" y="584692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3" name="Multiplication Sign 72">
            <a:extLst>
              <a:ext uri="{FF2B5EF4-FFF2-40B4-BE49-F238E27FC236}">
                <a16:creationId xmlns:a16="http://schemas.microsoft.com/office/drawing/2014/main" id="{ADBCEFC9-1FAA-424D-A89A-BA3D98985D80}"/>
              </a:ext>
            </a:extLst>
          </p:cNvPr>
          <p:cNvSpPr/>
          <p:nvPr/>
        </p:nvSpPr>
        <p:spPr>
          <a:xfrm>
            <a:off x="2285165" y="597695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4" name="Multiplication Sign 73">
            <a:extLst>
              <a:ext uri="{FF2B5EF4-FFF2-40B4-BE49-F238E27FC236}">
                <a16:creationId xmlns:a16="http://schemas.microsoft.com/office/drawing/2014/main" id="{876E19A6-9E8E-4826-A96A-6A84FC3803FF}"/>
              </a:ext>
            </a:extLst>
          </p:cNvPr>
          <p:cNvSpPr/>
          <p:nvPr/>
        </p:nvSpPr>
        <p:spPr>
          <a:xfrm>
            <a:off x="2477637" y="605264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5" name="Multiplication Sign 74">
            <a:extLst>
              <a:ext uri="{FF2B5EF4-FFF2-40B4-BE49-F238E27FC236}">
                <a16:creationId xmlns:a16="http://schemas.microsoft.com/office/drawing/2014/main" id="{760B3E66-76AE-4F0D-A0AA-A04ADC490EFC}"/>
              </a:ext>
            </a:extLst>
          </p:cNvPr>
          <p:cNvSpPr/>
          <p:nvPr/>
        </p:nvSpPr>
        <p:spPr>
          <a:xfrm>
            <a:off x="2667142" y="609275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6" name="Multiplication Sign 75">
            <a:extLst>
              <a:ext uri="{FF2B5EF4-FFF2-40B4-BE49-F238E27FC236}">
                <a16:creationId xmlns:a16="http://schemas.microsoft.com/office/drawing/2014/main" id="{3E37E302-66F8-42FC-AAA1-FD22C9406EB8}"/>
              </a:ext>
            </a:extLst>
          </p:cNvPr>
          <p:cNvSpPr/>
          <p:nvPr/>
        </p:nvSpPr>
        <p:spPr>
          <a:xfrm>
            <a:off x="2871858" y="605264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7" name="Multiplication Sign 76">
            <a:extLst>
              <a:ext uri="{FF2B5EF4-FFF2-40B4-BE49-F238E27FC236}">
                <a16:creationId xmlns:a16="http://schemas.microsoft.com/office/drawing/2014/main" id="{0BBC9EA7-C198-4A7E-9B83-27EE6586D7EA}"/>
              </a:ext>
            </a:extLst>
          </p:cNvPr>
          <p:cNvSpPr/>
          <p:nvPr/>
        </p:nvSpPr>
        <p:spPr>
          <a:xfrm>
            <a:off x="2080449" y="612031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8" name="Multiplication Sign 77">
            <a:extLst>
              <a:ext uri="{FF2B5EF4-FFF2-40B4-BE49-F238E27FC236}">
                <a16:creationId xmlns:a16="http://schemas.microsoft.com/office/drawing/2014/main" id="{25643046-2FD1-4D54-90F9-2574BA9D2C28}"/>
              </a:ext>
            </a:extLst>
          </p:cNvPr>
          <p:cNvSpPr/>
          <p:nvPr/>
        </p:nvSpPr>
        <p:spPr>
          <a:xfrm>
            <a:off x="2312371" y="614803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79" name="Text Placeholder 5">
                <a:extLst>
                  <a:ext uri="{FF2B5EF4-FFF2-40B4-BE49-F238E27FC236}">
                    <a16:creationId xmlns:a16="http://schemas.microsoft.com/office/drawing/2014/main" id="{A1A8640C-75FD-4AC2-8919-A9ED605E6F79}"/>
                  </a:ext>
                </a:extLst>
              </p:cNvPr>
              <p:cNvSpPr txBox="1">
                <a:spLocks/>
              </p:cNvSpPr>
              <p:nvPr/>
            </p:nvSpPr>
            <p:spPr>
              <a:xfrm>
                <a:off x="1630549" y="6471435"/>
                <a:ext cx="2359788" cy="3930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𝝁</m:t>
                      </m:r>
                    </m:oMath>
                  </m:oMathPara>
                </a14:m>
                <a:endParaRPr lang="en-NZ" altLang="ja-JP" sz="1600" b="1"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79" name="Text Placeholder 5">
                <a:extLst>
                  <a:ext uri="{FF2B5EF4-FFF2-40B4-BE49-F238E27FC236}">
                    <a16:creationId xmlns:a16="http://schemas.microsoft.com/office/drawing/2014/main" id="{A1A8640C-75FD-4AC2-8919-A9ED605E6F79}"/>
                  </a:ext>
                </a:extLst>
              </p:cNvPr>
              <p:cNvSpPr txBox="1">
                <a:spLocks noRot="1" noChangeAspect="1" noMove="1" noResize="1" noEditPoints="1" noAdjustHandles="1" noChangeArrowheads="1" noChangeShapeType="1" noTextEdit="1"/>
              </p:cNvSpPr>
              <p:nvPr/>
            </p:nvSpPr>
            <p:spPr>
              <a:xfrm>
                <a:off x="1630549" y="6471435"/>
                <a:ext cx="2359788" cy="393062"/>
              </a:xfrm>
              <a:prstGeom prst="rect">
                <a:avLst/>
              </a:prstGeom>
              <a:blipFill>
                <a:blip r:embed="rId10"/>
                <a:stretch>
                  <a:fillRect/>
                </a:stretch>
              </a:blipFill>
            </p:spPr>
            <p:txBody>
              <a:bodyPr/>
              <a:lstStyle/>
              <a:p>
                <a:r>
                  <a:rPr lang="en-NZ">
                    <a:noFill/>
                  </a:rPr>
                  <a:t> </a:t>
                </a:r>
              </a:p>
            </p:txBody>
          </p:sp>
        </mc:Fallback>
      </mc:AlternateContent>
      <p:sp>
        <p:nvSpPr>
          <p:cNvPr id="80" name="Text Placeholder 5">
            <a:extLst>
              <a:ext uri="{FF2B5EF4-FFF2-40B4-BE49-F238E27FC236}">
                <a16:creationId xmlns:a16="http://schemas.microsoft.com/office/drawing/2014/main" id="{CA7572FC-C9DB-4589-B79A-A80B4F80F877}"/>
              </a:ext>
            </a:extLst>
          </p:cNvPr>
          <p:cNvSpPr txBox="1">
            <a:spLocks/>
          </p:cNvSpPr>
          <p:nvPr/>
        </p:nvSpPr>
        <p:spPr>
          <a:xfrm>
            <a:off x="6250051" y="2618038"/>
            <a:ext cx="5088342" cy="13535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tx1"/>
                </a:solidFill>
              </a:rPr>
              <a:t>If </a:t>
            </a:r>
            <a:r>
              <a:rPr lang="en-NZ" altLang="ja-JP" sz="1400" b="1" i="1" dirty="0">
                <a:solidFill>
                  <a:schemeClr val="tx1"/>
                </a:solidFill>
              </a:rPr>
              <a:t>H</a:t>
            </a:r>
            <a:r>
              <a:rPr lang="en-NZ" altLang="ja-JP" sz="1400" b="1" i="1" baseline="-25000" dirty="0">
                <a:solidFill>
                  <a:schemeClr val="tx1"/>
                </a:solidFill>
              </a:rPr>
              <a:t>1</a:t>
            </a:r>
            <a:r>
              <a:rPr lang="en-NZ" altLang="ja-JP" sz="1400" dirty="0">
                <a:solidFill>
                  <a:schemeClr val="tx1"/>
                </a:solidFill>
              </a:rPr>
              <a:t> is true, there really are differences between the means of the different groups</a:t>
            </a:r>
          </a:p>
          <a:p>
            <a:pPr algn="just">
              <a:lnSpc>
                <a:spcPct val="100000"/>
              </a:lnSpc>
            </a:pPr>
            <a:endParaRPr lang="en-NZ" altLang="ja-JP" sz="1400" dirty="0">
              <a:solidFill>
                <a:schemeClr val="tx1"/>
              </a:solidFill>
            </a:endParaRPr>
          </a:p>
          <a:p>
            <a:pPr marL="285750" indent="-285750" algn="just">
              <a:lnSpc>
                <a:spcPct val="100000"/>
              </a:lnSpc>
              <a:buFont typeface="Symbol" panose="05050102010706020507" pitchFamily="18" charset="2"/>
              <a:buChar char="Þ"/>
            </a:pP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between</a:t>
            </a:r>
            <a:r>
              <a:rPr lang="en-NZ" altLang="ja-JP" sz="1400" dirty="0">
                <a:solidFill>
                  <a:schemeClr val="tx1"/>
                </a:solidFill>
              </a:rPr>
              <a:t> group means and the overall mean </a:t>
            </a:r>
            <a:br>
              <a:rPr lang="en-NZ" altLang="ja-JP" sz="1400" dirty="0">
                <a:solidFill>
                  <a:schemeClr val="tx1"/>
                </a:solidFill>
              </a:rPr>
            </a:br>
            <a:r>
              <a:rPr lang="en-NZ" altLang="ja-JP" sz="1400" dirty="0">
                <a:solidFill>
                  <a:schemeClr val="tx1"/>
                </a:solidFill>
              </a:rPr>
              <a:t>will be </a:t>
            </a:r>
            <a:r>
              <a:rPr lang="en-NZ" altLang="ja-JP" sz="1400" b="1" dirty="0">
                <a:solidFill>
                  <a:schemeClr val="tx1"/>
                </a:solidFill>
              </a:rPr>
              <a:t>greater</a:t>
            </a:r>
            <a:r>
              <a:rPr lang="en-NZ" altLang="ja-JP" sz="1400" dirty="0">
                <a:solidFill>
                  <a:schemeClr val="tx1"/>
                </a:solidFill>
              </a:rPr>
              <a:t> than </a:t>
            </a: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within</a:t>
            </a:r>
            <a:r>
              <a:rPr lang="en-NZ" altLang="ja-JP" sz="1400" dirty="0">
                <a:solidFill>
                  <a:schemeClr val="tx1"/>
                </a:solidFill>
              </a:rPr>
              <a:t> groups.</a:t>
            </a:r>
          </a:p>
          <a:p>
            <a:pPr marL="285750" indent="-285750" algn="just">
              <a:lnSpc>
                <a:spcPct val="100000"/>
              </a:lnSpc>
              <a:buFont typeface="Symbol" panose="05050102010706020507" pitchFamily="18" charset="2"/>
              <a:buChar char="Þ"/>
            </a:pPr>
            <a:endParaRPr lang="en-NZ" altLang="ja-JP" sz="1400" dirty="0">
              <a:solidFill>
                <a:schemeClr val="tx1"/>
              </a:solidFill>
            </a:endParaRPr>
          </a:p>
          <a:p>
            <a:pPr algn="just">
              <a:lnSpc>
                <a:spcPct val="100000"/>
              </a:lnSpc>
            </a:pPr>
            <a:r>
              <a:rPr lang="en-NZ" altLang="ja-JP" sz="1400" dirty="0">
                <a:solidFill>
                  <a:schemeClr val="tx1"/>
                </a:solidFill>
              </a:rPr>
              <a:t>  </a:t>
            </a: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p:pic>
        <p:nvPicPr>
          <p:cNvPr id="81" name="Picture 80">
            <a:extLst>
              <a:ext uri="{FF2B5EF4-FFF2-40B4-BE49-F238E27FC236}">
                <a16:creationId xmlns:a16="http://schemas.microsoft.com/office/drawing/2014/main" id="{B3D3C60F-1113-48C6-B247-BED3C0B04AB3}"/>
              </a:ext>
            </a:extLst>
          </p:cNvPr>
          <p:cNvPicPr>
            <a:picLocks noChangeAspect="1"/>
          </p:cNvPicPr>
          <p:nvPr/>
        </p:nvPicPr>
        <p:blipFill>
          <a:blip r:embed="rId9"/>
          <a:stretch>
            <a:fillRect/>
          </a:stretch>
        </p:blipFill>
        <p:spPr>
          <a:xfrm>
            <a:off x="9711913" y="3861241"/>
            <a:ext cx="1287154" cy="775868"/>
          </a:xfrm>
          <a:prstGeom prst="rect">
            <a:avLst/>
          </a:prstGeom>
        </p:spPr>
      </p:pic>
      <p:pic>
        <p:nvPicPr>
          <p:cNvPr id="82" name="Picture 81">
            <a:extLst>
              <a:ext uri="{FF2B5EF4-FFF2-40B4-BE49-F238E27FC236}">
                <a16:creationId xmlns:a16="http://schemas.microsoft.com/office/drawing/2014/main" id="{47C686D3-CD40-42DC-B3C2-AEA1457DBC9B}"/>
              </a:ext>
            </a:extLst>
          </p:cNvPr>
          <p:cNvPicPr>
            <a:picLocks noChangeAspect="1"/>
          </p:cNvPicPr>
          <p:nvPr/>
        </p:nvPicPr>
        <p:blipFill>
          <a:blip r:embed="rId9"/>
          <a:stretch>
            <a:fillRect/>
          </a:stretch>
        </p:blipFill>
        <p:spPr>
          <a:xfrm>
            <a:off x="6543820" y="4576701"/>
            <a:ext cx="1287154" cy="775868"/>
          </a:xfrm>
          <a:prstGeom prst="rect">
            <a:avLst/>
          </a:prstGeom>
        </p:spPr>
      </p:pic>
      <p:pic>
        <p:nvPicPr>
          <p:cNvPr id="83" name="Picture 82">
            <a:extLst>
              <a:ext uri="{FF2B5EF4-FFF2-40B4-BE49-F238E27FC236}">
                <a16:creationId xmlns:a16="http://schemas.microsoft.com/office/drawing/2014/main" id="{D38C3BED-6005-4040-A9B2-BDD5DE9B2091}"/>
              </a:ext>
            </a:extLst>
          </p:cNvPr>
          <p:cNvPicPr>
            <a:picLocks noChangeAspect="1"/>
          </p:cNvPicPr>
          <p:nvPr/>
        </p:nvPicPr>
        <p:blipFill>
          <a:blip r:embed="rId9"/>
          <a:stretch>
            <a:fillRect/>
          </a:stretch>
        </p:blipFill>
        <p:spPr>
          <a:xfrm>
            <a:off x="8246946" y="5555999"/>
            <a:ext cx="1287154" cy="775868"/>
          </a:xfrm>
          <a:prstGeom prst="rect">
            <a:avLst/>
          </a:prstGeom>
        </p:spPr>
      </p:pic>
      <p:cxnSp>
        <p:nvCxnSpPr>
          <p:cNvPr id="84" name="Straight Connector 83">
            <a:extLst>
              <a:ext uri="{FF2B5EF4-FFF2-40B4-BE49-F238E27FC236}">
                <a16:creationId xmlns:a16="http://schemas.microsoft.com/office/drawing/2014/main" id="{5F18C36D-8A31-4208-9890-D440A2E6A40F}"/>
              </a:ext>
            </a:extLst>
          </p:cNvPr>
          <p:cNvCxnSpPr>
            <a:cxnSpLocks/>
          </p:cNvCxnSpPr>
          <p:nvPr/>
        </p:nvCxnSpPr>
        <p:spPr>
          <a:xfrm>
            <a:off x="8890523" y="3845158"/>
            <a:ext cx="0" cy="27181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0F058D-D915-4226-B0EA-E9DF34E52E9E}"/>
              </a:ext>
            </a:extLst>
          </p:cNvPr>
          <p:cNvCxnSpPr>
            <a:cxnSpLocks/>
          </p:cNvCxnSpPr>
          <p:nvPr/>
        </p:nvCxnSpPr>
        <p:spPr>
          <a:xfrm>
            <a:off x="6082496" y="6391746"/>
            <a:ext cx="56160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Multiplication Sign 85">
            <a:extLst>
              <a:ext uri="{FF2B5EF4-FFF2-40B4-BE49-F238E27FC236}">
                <a16:creationId xmlns:a16="http://schemas.microsoft.com/office/drawing/2014/main" id="{DA75A986-19AD-4851-8959-418557A56EAF}"/>
              </a:ext>
            </a:extLst>
          </p:cNvPr>
          <p:cNvSpPr/>
          <p:nvPr/>
        </p:nvSpPr>
        <p:spPr>
          <a:xfrm>
            <a:off x="10355490" y="400671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7" name="Multiplication Sign 86">
            <a:extLst>
              <a:ext uri="{FF2B5EF4-FFF2-40B4-BE49-F238E27FC236}">
                <a16:creationId xmlns:a16="http://schemas.microsoft.com/office/drawing/2014/main" id="{22E625BA-A93E-4B86-A6CD-F936DD8F0994}"/>
              </a:ext>
            </a:extLst>
          </p:cNvPr>
          <p:cNvSpPr/>
          <p:nvPr/>
        </p:nvSpPr>
        <p:spPr>
          <a:xfrm>
            <a:off x="7085039" y="453161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8" name="Multiplication Sign 87">
            <a:extLst>
              <a:ext uri="{FF2B5EF4-FFF2-40B4-BE49-F238E27FC236}">
                <a16:creationId xmlns:a16="http://schemas.microsoft.com/office/drawing/2014/main" id="{7E14A057-ED71-43CA-89A8-B1329319FF0F}"/>
              </a:ext>
            </a:extLst>
          </p:cNvPr>
          <p:cNvSpPr/>
          <p:nvPr/>
        </p:nvSpPr>
        <p:spPr>
          <a:xfrm>
            <a:off x="8788165" y="5495579"/>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9" name="Multiplication Sign 88">
            <a:extLst>
              <a:ext uri="{FF2B5EF4-FFF2-40B4-BE49-F238E27FC236}">
                <a16:creationId xmlns:a16="http://schemas.microsoft.com/office/drawing/2014/main" id="{DE547FE2-5B94-425B-BAE5-10CCC9BE9354}"/>
              </a:ext>
            </a:extLst>
          </p:cNvPr>
          <p:cNvSpPr/>
          <p:nvPr/>
        </p:nvSpPr>
        <p:spPr>
          <a:xfrm>
            <a:off x="10253132" y="380921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0" name="Multiplication Sign 89">
            <a:extLst>
              <a:ext uri="{FF2B5EF4-FFF2-40B4-BE49-F238E27FC236}">
                <a16:creationId xmlns:a16="http://schemas.microsoft.com/office/drawing/2014/main" id="{CC4EE0AE-16FD-44CC-AE5F-12C545D4622B}"/>
              </a:ext>
            </a:extLst>
          </p:cNvPr>
          <p:cNvSpPr/>
          <p:nvPr/>
        </p:nvSpPr>
        <p:spPr>
          <a:xfrm>
            <a:off x="10150774" y="4003185"/>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1" name="Multiplication Sign 90">
            <a:extLst>
              <a:ext uri="{FF2B5EF4-FFF2-40B4-BE49-F238E27FC236}">
                <a16:creationId xmlns:a16="http://schemas.microsoft.com/office/drawing/2014/main" id="{44A5F26F-0396-4DC8-BF3A-E5848C43B96B}"/>
              </a:ext>
            </a:extLst>
          </p:cNvPr>
          <p:cNvSpPr/>
          <p:nvPr/>
        </p:nvSpPr>
        <p:spPr>
          <a:xfrm>
            <a:off x="10246897" y="422109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2" name="Multiplication Sign 91">
            <a:extLst>
              <a:ext uri="{FF2B5EF4-FFF2-40B4-BE49-F238E27FC236}">
                <a16:creationId xmlns:a16="http://schemas.microsoft.com/office/drawing/2014/main" id="{ABA6EB69-DE5E-4FC1-B6BF-133070976D8E}"/>
              </a:ext>
            </a:extLst>
          </p:cNvPr>
          <p:cNvSpPr/>
          <p:nvPr/>
        </p:nvSpPr>
        <p:spPr>
          <a:xfrm>
            <a:off x="10003849" y="422109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3" name="Multiplication Sign 92">
            <a:extLst>
              <a:ext uri="{FF2B5EF4-FFF2-40B4-BE49-F238E27FC236}">
                <a16:creationId xmlns:a16="http://schemas.microsoft.com/office/drawing/2014/main" id="{04167469-1356-4ACA-A5A7-F50E9B82FE24}"/>
              </a:ext>
            </a:extLst>
          </p:cNvPr>
          <p:cNvSpPr/>
          <p:nvPr/>
        </p:nvSpPr>
        <p:spPr>
          <a:xfrm>
            <a:off x="10263795" y="439817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4" name="Multiplication Sign 93">
            <a:extLst>
              <a:ext uri="{FF2B5EF4-FFF2-40B4-BE49-F238E27FC236}">
                <a16:creationId xmlns:a16="http://schemas.microsoft.com/office/drawing/2014/main" id="{6DA454BB-66E5-472B-A8EB-8792DB9062B7}"/>
              </a:ext>
            </a:extLst>
          </p:cNvPr>
          <p:cNvSpPr/>
          <p:nvPr/>
        </p:nvSpPr>
        <p:spPr>
          <a:xfrm>
            <a:off x="10483970" y="439828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5" name="Multiplication Sign 94">
            <a:extLst>
              <a:ext uri="{FF2B5EF4-FFF2-40B4-BE49-F238E27FC236}">
                <a16:creationId xmlns:a16="http://schemas.microsoft.com/office/drawing/2014/main" id="{DAF847E5-FD8C-4F45-9CD4-53A5629BFF89}"/>
              </a:ext>
            </a:extLst>
          </p:cNvPr>
          <p:cNvSpPr/>
          <p:nvPr/>
        </p:nvSpPr>
        <p:spPr>
          <a:xfrm>
            <a:off x="10698605" y="4410386"/>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6" name="Multiplication Sign 95">
            <a:extLst>
              <a:ext uri="{FF2B5EF4-FFF2-40B4-BE49-F238E27FC236}">
                <a16:creationId xmlns:a16="http://schemas.microsoft.com/office/drawing/2014/main" id="{B4BE1058-49AC-4132-A6E6-BE8804394445}"/>
              </a:ext>
            </a:extLst>
          </p:cNvPr>
          <p:cNvSpPr/>
          <p:nvPr/>
        </p:nvSpPr>
        <p:spPr>
          <a:xfrm>
            <a:off x="10058334" y="4410780"/>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7" name="Multiplication Sign 96">
            <a:extLst>
              <a:ext uri="{FF2B5EF4-FFF2-40B4-BE49-F238E27FC236}">
                <a16:creationId xmlns:a16="http://schemas.microsoft.com/office/drawing/2014/main" id="{F2ACE632-176E-4947-975A-3E140655FAFD}"/>
              </a:ext>
            </a:extLst>
          </p:cNvPr>
          <p:cNvSpPr/>
          <p:nvPr/>
        </p:nvSpPr>
        <p:spPr>
          <a:xfrm>
            <a:off x="9855182" y="4410780"/>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8" name="Multiplication Sign 97">
            <a:extLst>
              <a:ext uri="{FF2B5EF4-FFF2-40B4-BE49-F238E27FC236}">
                <a16:creationId xmlns:a16="http://schemas.microsoft.com/office/drawing/2014/main" id="{E8006963-986C-414C-8A81-C000BBC00DD5}"/>
              </a:ext>
            </a:extLst>
          </p:cNvPr>
          <p:cNvSpPr/>
          <p:nvPr/>
        </p:nvSpPr>
        <p:spPr>
          <a:xfrm>
            <a:off x="6980084" y="473806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9" name="Multiplication Sign 98">
            <a:extLst>
              <a:ext uri="{FF2B5EF4-FFF2-40B4-BE49-F238E27FC236}">
                <a16:creationId xmlns:a16="http://schemas.microsoft.com/office/drawing/2014/main" id="{D7A09082-27B5-4E91-A602-E3E0893A6ABC}"/>
              </a:ext>
            </a:extLst>
          </p:cNvPr>
          <p:cNvSpPr/>
          <p:nvPr/>
        </p:nvSpPr>
        <p:spPr>
          <a:xfrm>
            <a:off x="7199514" y="473806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0" name="Multiplication Sign 99">
            <a:extLst>
              <a:ext uri="{FF2B5EF4-FFF2-40B4-BE49-F238E27FC236}">
                <a16:creationId xmlns:a16="http://schemas.microsoft.com/office/drawing/2014/main" id="{E033EEF3-C6F2-40CF-A369-D976AF81CDE0}"/>
              </a:ext>
            </a:extLst>
          </p:cNvPr>
          <p:cNvSpPr/>
          <p:nvPr/>
        </p:nvSpPr>
        <p:spPr>
          <a:xfrm>
            <a:off x="7082442" y="492997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1" name="Multiplication Sign 100">
            <a:extLst>
              <a:ext uri="{FF2B5EF4-FFF2-40B4-BE49-F238E27FC236}">
                <a16:creationId xmlns:a16="http://schemas.microsoft.com/office/drawing/2014/main" id="{16FCBD36-B026-4C5E-B01B-7209AED75435}"/>
              </a:ext>
            </a:extLst>
          </p:cNvPr>
          <p:cNvSpPr/>
          <p:nvPr/>
        </p:nvSpPr>
        <p:spPr>
          <a:xfrm>
            <a:off x="7316586" y="4955250"/>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2" name="Multiplication Sign 101">
            <a:extLst>
              <a:ext uri="{FF2B5EF4-FFF2-40B4-BE49-F238E27FC236}">
                <a16:creationId xmlns:a16="http://schemas.microsoft.com/office/drawing/2014/main" id="{281553C2-0208-4670-9F63-748C46B9AB2B}"/>
              </a:ext>
            </a:extLst>
          </p:cNvPr>
          <p:cNvSpPr/>
          <p:nvPr/>
        </p:nvSpPr>
        <p:spPr>
          <a:xfrm>
            <a:off x="6852705" y="496738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3" name="Multiplication Sign 102">
            <a:extLst>
              <a:ext uri="{FF2B5EF4-FFF2-40B4-BE49-F238E27FC236}">
                <a16:creationId xmlns:a16="http://schemas.microsoft.com/office/drawing/2014/main" id="{D8B00C38-BA2C-499A-B04D-B1A7D4613BF1}"/>
              </a:ext>
            </a:extLst>
          </p:cNvPr>
          <p:cNvSpPr/>
          <p:nvPr/>
        </p:nvSpPr>
        <p:spPr>
          <a:xfrm>
            <a:off x="7523079" y="514958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4" name="Multiplication Sign 103">
            <a:extLst>
              <a:ext uri="{FF2B5EF4-FFF2-40B4-BE49-F238E27FC236}">
                <a16:creationId xmlns:a16="http://schemas.microsoft.com/office/drawing/2014/main" id="{8509BF52-63DE-4F88-BF7B-542598481819}"/>
              </a:ext>
            </a:extLst>
          </p:cNvPr>
          <p:cNvSpPr/>
          <p:nvPr/>
        </p:nvSpPr>
        <p:spPr>
          <a:xfrm>
            <a:off x="7290570" y="514716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5" name="Multiplication Sign 104">
            <a:extLst>
              <a:ext uri="{FF2B5EF4-FFF2-40B4-BE49-F238E27FC236}">
                <a16:creationId xmlns:a16="http://schemas.microsoft.com/office/drawing/2014/main" id="{9FFDE779-39C8-47F2-BA54-1792ACE87AE0}"/>
              </a:ext>
            </a:extLst>
          </p:cNvPr>
          <p:cNvSpPr/>
          <p:nvPr/>
        </p:nvSpPr>
        <p:spPr>
          <a:xfrm>
            <a:off x="7072135" y="514716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6" name="Multiplication Sign 105">
            <a:extLst>
              <a:ext uri="{FF2B5EF4-FFF2-40B4-BE49-F238E27FC236}">
                <a16:creationId xmlns:a16="http://schemas.microsoft.com/office/drawing/2014/main" id="{A8CFA458-00CA-41BF-A146-F11E132EDA4F}"/>
              </a:ext>
            </a:extLst>
          </p:cNvPr>
          <p:cNvSpPr/>
          <p:nvPr/>
        </p:nvSpPr>
        <p:spPr>
          <a:xfrm>
            <a:off x="6852705" y="5135096"/>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7" name="Multiplication Sign 106">
            <a:extLst>
              <a:ext uri="{FF2B5EF4-FFF2-40B4-BE49-F238E27FC236}">
                <a16:creationId xmlns:a16="http://schemas.microsoft.com/office/drawing/2014/main" id="{3C26A11B-EA9B-4467-9D7F-2BD6D0AC8C24}"/>
              </a:ext>
            </a:extLst>
          </p:cNvPr>
          <p:cNvSpPr/>
          <p:nvPr/>
        </p:nvSpPr>
        <p:spPr>
          <a:xfrm>
            <a:off x="6647989" y="517243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8" name="Multiplication Sign 107">
            <a:extLst>
              <a:ext uri="{FF2B5EF4-FFF2-40B4-BE49-F238E27FC236}">
                <a16:creationId xmlns:a16="http://schemas.microsoft.com/office/drawing/2014/main" id="{39A891D1-8FDC-43F8-9ACB-62C4899A2D20}"/>
              </a:ext>
            </a:extLst>
          </p:cNvPr>
          <p:cNvSpPr/>
          <p:nvPr/>
        </p:nvSpPr>
        <p:spPr>
          <a:xfrm>
            <a:off x="8929051" y="568397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9" name="Multiplication Sign 108">
            <a:extLst>
              <a:ext uri="{FF2B5EF4-FFF2-40B4-BE49-F238E27FC236}">
                <a16:creationId xmlns:a16="http://schemas.microsoft.com/office/drawing/2014/main" id="{8CA4EB53-EA4A-4F68-B812-75ED24E83BE7}"/>
              </a:ext>
            </a:extLst>
          </p:cNvPr>
          <p:cNvSpPr/>
          <p:nvPr/>
        </p:nvSpPr>
        <p:spPr>
          <a:xfrm>
            <a:off x="10468511" y="419696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0" name="Multiplication Sign 109">
            <a:extLst>
              <a:ext uri="{FF2B5EF4-FFF2-40B4-BE49-F238E27FC236}">
                <a16:creationId xmlns:a16="http://schemas.microsoft.com/office/drawing/2014/main" id="{ABF985ED-5F05-4949-87BE-9343749C848D}"/>
              </a:ext>
            </a:extLst>
          </p:cNvPr>
          <p:cNvSpPr/>
          <p:nvPr/>
        </p:nvSpPr>
        <p:spPr>
          <a:xfrm>
            <a:off x="8634628" y="5678139"/>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1" name="Multiplication Sign 110">
            <a:extLst>
              <a:ext uri="{FF2B5EF4-FFF2-40B4-BE49-F238E27FC236}">
                <a16:creationId xmlns:a16="http://schemas.microsoft.com/office/drawing/2014/main" id="{9B2C505A-B3A4-4C42-98F2-A1BDFE50DB6B}"/>
              </a:ext>
            </a:extLst>
          </p:cNvPr>
          <p:cNvSpPr/>
          <p:nvPr/>
        </p:nvSpPr>
        <p:spPr>
          <a:xfrm>
            <a:off x="8788165" y="590290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2" name="Multiplication Sign 111">
            <a:extLst>
              <a:ext uri="{FF2B5EF4-FFF2-40B4-BE49-F238E27FC236}">
                <a16:creationId xmlns:a16="http://schemas.microsoft.com/office/drawing/2014/main" id="{41073D2D-AFDE-4D12-8886-CBDB72A69E4E}"/>
              </a:ext>
            </a:extLst>
          </p:cNvPr>
          <p:cNvSpPr/>
          <p:nvPr/>
        </p:nvSpPr>
        <p:spPr>
          <a:xfrm>
            <a:off x="9022310" y="590290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3" name="Multiplication Sign 112">
            <a:extLst>
              <a:ext uri="{FF2B5EF4-FFF2-40B4-BE49-F238E27FC236}">
                <a16:creationId xmlns:a16="http://schemas.microsoft.com/office/drawing/2014/main" id="{07082010-56E0-4F07-ABC0-4081AF740DDF}"/>
              </a:ext>
            </a:extLst>
          </p:cNvPr>
          <p:cNvSpPr/>
          <p:nvPr/>
        </p:nvSpPr>
        <p:spPr>
          <a:xfrm>
            <a:off x="8532270" y="591566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4" name="Multiplication Sign 113">
            <a:extLst>
              <a:ext uri="{FF2B5EF4-FFF2-40B4-BE49-F238E27FC236}">
                <a16:creationId xmlns:a16="http://schemas.microsoft.com/office/drawing/2014/main" id="{6E3CB912-806C-468D-930F-E37E9E604719}"/>
              </a:ext>
            </a:extLst>
          </p:cNvPr>
          <p:cNvSpPr/>
          <p:nvPr/>
        </p:nvSpPr>
        <p:spPr>
          <a:xfrm>
            <a:off x="9181533" y="606344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5" name="Multiplication Sign 114">
            <a:extLst>
              <a:ext uri="{FF2B5EF4-FFF2-40B4-BE49-F238E27FC236}">
                <a16:creationId xmlns:a16="http://schemas.microsoft.com/office/drawing/2014/main" id="{4E0DE76D-7965-41DD-B323-891BB8126954}"/>
              </a:ext>
            </a:extLst>
          </p:cNvPr>
          <p:cNvSpPr/>
          <p:nvPr/>
        </p:nvSpPr>
        <p:spPr>
          <a:xfrm>
            <a:off x="8941702" y="609130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6" name="Multiplication Sign 115">
            <a:extLst>
              <a:ext uri="{FF2B5EF4-FFF2-40B4-BE49-F238E27FC236}">
                <a16:creationId xmlns:a16="http://schemas.microsoft.com/office/drawing/2014/main" id="{E688B4BF-57EB-4AB5-8FBD-2152A799B04A}"/>
              </a:ext>
            </a:extLst>
          </p:cNvPr>
          <p:cNvSpPr/>
          <p:nvPr/>
        </p:nvSpPr>
        <p:spPr>
          <a:xfrm>
            <a:off x="8766344" y="609130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7" name="Multiplication Sign 116">
            <a:extLst>
              <a:ext uri="{FF2B5EF4-FFF2-40B4-BE49-F238E27FC236}">
                <a16:creationId xmlns:a16="http://schemas.microsoft.com/office/drawing/2014/main" id="{D20D5A96-820C-45DE-AE93-FC2E289945C7}"/>
              </a:ext>
            </a:extLst>
          </p:cNvPr>
          <p:cNvSpPr/>
          <p:nvPr/>
        </p:nvSpPr>
        <p:spPr>
          <a:xfrm>
            <a:off x="8572538" y="6118394"/>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8" name="Multiplication Sign 117">
            <a:extLst>
              <a:ext uri="{FF2B5EF4-FFF2-40B4-BE49-F238E27FC236}">
                <a16:creationId xmlns:a16="http://schemas.microsoft.com/office/drawing/2014/main" id="{1F1ED69E-0C89-40CA-90DA-8C27445A5230}"/>
              </a:ext>
            </a:extLst>
          </p:cNvPr>
          <p:cNvSpPr/>
          <p:nvPr/>
        </p:nvSpPr>
        <p:spPr>
          <a:xfrm>
            <a:off x="8393412" y="614726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19" name="Straight Arrow Connector 118">
            <a:extLst>
              <a:ext uri="{FF2B5EF4-FFF2-40B4-BE49-F238E27FC236}">
                <a16:creationId xmlns:a16="http://schemas.microsoft.com/office/drawing/2014/main" id="{8986CB9F-7544-408B-AF8F-33D0322657F9}"/>
              </a:ext>
            </a:extLst>
          </p:cNvPr>
          <p:cNvCxnSpPr>
            <a:cxnSpLocks/>
          </p:cNvCxnSpPr>
          <p:nvPr/>
        </p:nvCxnSpPr>
        <p:spPr>
          <a:xfrm flipV="1">
            <a:off x="8906567" y="4186931"/>
            <a:ext cx="1465821" cy="214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D8F2A2B-6720-47B0-B50C-E9CB24812E94}"/>
              </a:ext>
            </a:extLst>
          </p:cNvPr>
          <p:cNvCxnSpPr>
            <a:cxnSpLocks/>
            <a:endCxn id="99" idx="3"/>
          </p:cNvCxnSpPr>
          <p:nvPr/>
        </p:nvCxnSpPr>
        <p:spPr>
          <a:xfrm flipH="1">
            <a:off x="7248682" y="4906408"/>
            <a:ext cx="1631438" cy="1588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Text Placeholder 5">
                <a:extLst>
                  <a:ext uri="{FF2B5EF4-FFF2-40B4-BE49-F238E27FC236}">
                    <a16:creationId xmlns:a16="http://schemas.microsoft.com/office/drawing/2014/main" id="{824FE1CA-E3B7-4635-83EE-B9118B769A83}"/>
                  </a:ext>
                </a:extLst>
              </p:cNvPr>
              <p:cNvSpPr txBox="1">
                <a:spLocks/>
              </p:cNvSpPr>
              <p:nvPr/>
            </p:nvSpPr>
            <p:spPr>
              <a:xfrm>
                <a:off x="7778602" y="4455021"/>
                <a:ext cx="89403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𝛼</m:t>
                        </m:r>
                      </m:e>
                      <m:sub>
                        <m:r>
                          <a:rPr lang="en-NZ" altLang="ja-JP" sz="1800" b="0" i="1" smtClean="0">
                            <a:solidFill>
                              <a:schemeClr val="tx1"/>
                            </a:solidFill>
                            <a:latin typeface="Cambria Math" panose="02040503050406030204" pitchFamily="18" charset="0"/>
                          </a:rPr>
                          <m:t>2</m:t>
                        </m:r>
                      </m:sub>
                    </m:sSub>
                    <m:r>
                      <a:rPr lang="en-NZ" altLang="ja-JP" sz="1800" b="0" i="1" smtClean="0">
                        <a:solidFill>
                          <a:schemeClr val="tx1"/>
                        </a:solidFill>
                        <a:latin typeface="Cambria Math" panose="02040503050406030204" pitchFamily="18" charset="0"/>
                      </a:rPr>
                      <m:t>&lt;0</m:t>
                    </m:r>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1" name="Text Placeholder 5">
                <a:extLst>
                  <a:ext uri="{FF2B5EF4-FFF2-40B4-BE49-F238E27FC236}">
                    <a16:creationId xmlns:a16="http://schemas.microsoft.com/office/drawing/2014/main" id="{824FE1CA-E3B7-4635-83EE-B9118B769A83}"/>
                  </a:ext>
                </a:extLst>
              </p:cNvPr>
              <p:cNvSpPr txBox="1">
                <a:spLocks noRot="1" noChangeAspect="1" noMove="1" noResize="1" noEditPoints="1" noAdjustHandles="1" noChangeArrowheads="1" noChangeShapeType="1" noTextEdit="1"/>
              </p:cNvSpPr>
              <p:nvPr/>
            </p:nvSpPr>
            <p:spPr>
              <a:xfrm>
                <a:off x="7778602" y="4455021"/>
                <a:ext cx="894033" cy="474953"/>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2" name="Text Placeholder 5">
                <a:extLst>
                  <a:ext uri="{FF2B5EF4-FFF2-40B4-BE49-F238E27FC236}">
                    <a16:creationId xmlns:a16="http://schemas.microsoft.com/office/drawing/2014/main" id="{BF70E587-4684-4378-A048-EA1A6717210C}"/>
                  </a:ext>
                </a:extLst>
              </p:cNvPr>
              <p:cNvSpPr txBox="1">
                <a:spLocks/>
              </p:cNvSpPr>
              <p:nvPr/>
            </p:nvSpPr>
            <p:spPr>
              <a:xfrm>
                <a:off x="9107275" y="3801362"/>
                <a:ext cx="89403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𝛼</m:t>
                        </m:r>
                      </m:e>
                      <m:sub>
                        <m:r>
                          <a:rPr lang="en-NZ" altLang="ja-JP" sz="1800" b="0" i="1" smtClean="0">
                            <a:solidFill>
                              <a:schemeClr val="tx1"/>
                            </a:solidFill>
                            <a:latin typeface="Cambria Math" panose="02040503050406030204" pitchFamily="18" charset="0"/>
                          </a:rPr>
                          <m:t>1</m:t>
                        </m:r>
                      </m:sub>
                    </m:sSub>
                    <m:r>
                      <a:rPr lang="en-NZ" altLang="ja-JP" sz="1800" b="0" i="1" smtClean="0">
                        <a:solidFill>
                          <a:schemeClr val="tx1"/>
                        </a:solidFill>
                        <a:latin typeface="Cambria Math" panose="02040503050406030204" pitchFamily="18" charset="0"/>
                      </a:rPr>
                      <m:t>&gt;0</m:t>
                    </m:r>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2" name="Text Placeholder 5">
                <a:extLst>
                  <a:ext uri="{FF2B5EF4-FFF2-40B4-BE49-F238E27FC236}">
                    <a16:creationId xmlns:a16="http://schemas.microsoft.com/office/drawing/2014/main" id="{BF70E587-4684-4378-A048-EA1A6717210C}"/>
                  </a:ext>
                </a:extLst>
              </p:cNvPr>
              <p:cNvSpPr txBox="1">
                <a:spLocks noRot="1" noChangeAspect="1" noMove="1" noResize="1" noEditPoints="1" noAdjustHandles="1" noChangeArrowheads="1" noChangeShapeType="1" noTextEdit="1"/>
              </p:cNvSpPr>
              <p:nvPr/>
            </p:nvSpPr>
            <p:spPr>
              <a:xfrm>
                <a:off x="9107275" y="3801362"/>
                <a:ext cx="894033" cy="474953"/>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3" name="Text Placeholder 5">
                <a:extLst>
                  <a:ext uri="{FF2B5EF4-FFF2-40B4-BE49-F238E27FC236}">
                    <a16:creationId xmlns:a16="http://schemas.microsoft.com/office/drawing/2014/main" id="{9587BDA8-4CAE-4D10-8A40-0FC7D62F096E}"/>
                  </a:ext>
                </a:extLst>
              </p:cNvPr>
              <p:cNvSpPr txBox="1">
                <a:spLocks/>
              </p:cNvSpPr>
              <p:nvPr/>
            </p:nvSpPr>
            <p:spPr>
              <a:xfrm>
                <a:off x="7726673" y="6486196"/>
                <a:ext cx="2359788" cy="3930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𝝁</m:t>
                      </m:r>
                    </m:oMath>
                  </m:oMathPara>
                </a14:m>
                <a:endParaRPr lang="en-NZ" altLang="ja-JP" sz="1600" b="1"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123" name="Text Placeholder 5">
                <a:extLst>
                  <a:ext uri="{FF2B5EF4-FFF2-40B4-BE49-F238E27FC236}">
                    <a16:creationId xmlns:a16="http://schemas.microsoft.com/office/drawing/2014/main" id="{9587BDA8-4CAE-4D10-8A40-0FC7D62F096E}"/>
                  </a:ext>
                </a:extLst>
              </p:cNvPr>
              <p:cNvSpPr txBox="1">
                <a:spLocks noRot="1" noChangeAspect="1" noMove="1" noResize="1" noEditPoints="1" noAdjustHandles="1" noChangeArrowheads="1" noChangeShapeType="1" noTextEdit="1"/>
              </p:cNvSpPr>
              <p:nvPr/>
            </p:nvSpPr>
            <p:spPr>
              <a:xfrm>
                <a:off x="7726673" y="6486196"/>
                <a:ext cx="2359788" cy="393062"/>
              </a:xfrm>
              <a:prstGeom prst="rect">
                <a:avLst/>
              </a:prstGeom>
              <a:blipFill>
                <a:blip r:embed="rId13"/>
                <a:stretch>
                  <a:fillRect/>
                </a:stretch>
              </a:blipFill>
            </p:spPr>
            <p:txBody>
              <a:bodyPr/>
              <a:lstStyle/>
              <a:p>
                <a:r>
                  <a:rPr lang="en-NZ">
                    <a:noFill/>
                  </a:rPr>
                  <a:t> </a:t>
                </a:r>
              </a:p>
            </p:txBody>
          </p:sp>
        </mc:Fallback>
      </mc:AlternateContent>
      <p:sp>
        <p:nvSpPr>
          <p:cNvPr id="126" name="Title 6">
            <a:extLst>
              <a:ext uri="{FF2B5EF4-FFF2-40B4-BE49-F238E27FC236}">
                <a16:creationId xmlns:a16="http://schemas.microsoft.com/office/drawing/2014/main" id="{1E4C7E50-B324-4297-84FD-D39F7F3CF2A0}"/>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127" name="Footer Placeholder 2">
            <a:extLst>
              <a:ext uri="{FF2B5EF4-FFF2-40B4-BE49-F238E27FC236}">
                <a16:creationId xmlns:a16="http://schemas.microsoft.com/office/drawing/2014/main" id="{80523E63-AA2D-1363-5271-3B97F05C5124}"/>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1337383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8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8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9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9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9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9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0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0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0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0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0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0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0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0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0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0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18"/>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19"/>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2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2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80" grpId="0"/>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21" grpId="0"/>
      <p:bldP spid="1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3125400"/>
            <a:ext cx="1123210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200" dirty="0">
                <a:solidFill>
                  <a:schemeClr val="tx1"/>
                </a:solidFill>
              </a:rPr>
              <a:t>Let’s make the ideas of variability </a:t>
            </a:r>
            <a:r>
              <a:rPr lang="en-NZ" altLang="ja-JP" sz="3200" b="1" dirty="0">
                <a:solidFill>
                  <a:schemeClr val="tx1"/>
                </a:solidFill>
              </a:rPr>
              <a:t>between groups </a:t>
            </a:r>
            <a:r>
              <a:rPr lang="en-NZ" altLang="ja-JP" sz="3200" dirty="0">
                <a:solidFill>
                  <a:schemeClr val="tx1"/>
                </a:solidFill>
              </a:rPr>
              <a:t>and variability </a:t>
            </a:r>
            <a:r>
              <a:rPr lang="en-NZ" altLang="ja-JP" sz="3200" b="1" dirty="0">
                <a:solidFill>
                  <a:schemeClr val="tx1"/>
                </a:solidFill>
              </a:rPr>
              <a:t>within groups </a:t>
            </a:r>
            <a:r>
              <a:rPr lang="en-NZ" altLang="ja-JP" sz="3200" dirty="0">
                <a:solidFill>
                  <a:schemeClr val="tx1"/>
                </a:solidFill>
              </a:rPr>
              <a:t>a little more concrete</a:t>
            </a:r>
          </a:p>
          <a:p>
            <a:pPr algn="ctr">
              <a:lnSpc>
                <a:spcPct val="100000"/>
              </a:lnSpc>
            </a:pPr>
            <a:r>
              <a:rPr lang="en-NZ" altLang="ja-JP" sz="3200" dirty="0">
                <a:solidFill>
                  <a:schemeClr val="tx1"/>
                </a:solidFill>
              </a:rPr>
              <a:t>  </a:t>
            </a:r>
          </a:p>
          <a:p>
            <a:pPr algn="ctr">
              <a:lnSpc>
                <a:spcPct val="100000"/>
              </a:lnSpc>
            </a:pPr>
            <a:endParaRPr lang="en-NZ" altLang="ja-JP" sz="3200" dirty="0">
              <a:solidFill>
                <a:schemeClr val="tx1"/>
              </a:solidFill>
            </a:endParaRPr>
          </a:p>
        </p:txBody>
      </p:sp>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17</a:t>
            </a:fld>
            <a:endParaRPr kumimoji="1" lang="ja-JP" altLang="en-US" dirty="0">
              <a:solidFill>
                <a:srgbClr val="575454">
                  <a:lumMod val="20000"/>
                  <a:lumOff val="80000"/>
                </a:srgbClr>
              </a:solidFill>
              <a:latin typeface="Coo Hew"/>
            </a:endParaRPr>
          </a:p>
        </p:txBody>
      </p:sp>
      <p:sp>
        <p:nvSpPr>
          <p:cNvPr id="10" name="Title 6">
            <a:extLst>
              <a:ext uri="{FF2B5EF4-FFF2-40B4-BE49-F238E27FC236}">
                <a16:creationId xmlns:a16="http://schemas.microsoft.com/office/drawing/2014/main" id="{5E9C3E40-01F0-489F-97E4-7C21A8C6F7BF}"/>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2.2a – The One-Way ANOVA Model:</a:t>
            </a:r>
            <a:endParaRPr lang="ja-JP" altLang="en-US" b="1" u="sng" dirty="0">
              <a:latin typeface="+mn-lt"/>
            </a:endParaRPr>
          </a:p>
        </p:txBody>
      </p:sp>
      <p:sp>
        <p:nvSpPr>
          <p:cNvPr id="6" name="Footer Placeholder 2">
            <a:extLst>
              <a:ext uri="{FF2B5EF4-FFF2-40B4-BE49-F238E27FC236}">
                <a16:creationId xmlns:a16="http://schemas.microsoft.com/office/drawing/2014/main" id="{BB68C9D7-59AF-41C6-E67F-0A4EABC5379A}"/>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2.2 – The One-Way ANOVA Model</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1198557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058" y="2844225"/>
            <a:ext cx="1220011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2.3 – Deriving the F-statistic for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One-Way ANOVA</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869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903964"/>
            <a:ext cx="704286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51225" y="2752557"/>
            <a:ext cx="533071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51222" y="3160571"/>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51222" y="3160571"/>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91145" y="3638380"/>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xmlns="">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91145" y="3638380"/>
                <a:ext cx="6286057" cy="815449"/>
              </a:xfrm>
              <a:prstGeom prst="rect">
                <a:avLst/>
              </a:prstGeom>
              <a:blipFill>
                <a:blip r:embed="rId3"/>
                <a:stretch>
                  <a:fillRect l="-582" t="-223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D7FE01F1-59F4-41A1-93D3-01009A102329}"/>
              </a:ext>
            </a:extLst>
          </p:cNvPr>
          <p:cNvSpPr txBox="1">
            <a:spLocks/>
          </p:cNvSpPr>
          <p:nvPr/>
        </p:nvSpPr>
        <p:spPr>
          <a:xfrm>
            <a:off x="303774" y="4681490"/>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want to test the hypothesis that the means of all the groups are equal, i.e.</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442D6107-9452-4B90-9F9B-C97B42EE92C9}"/>
                  </a:ext>
                </a:extLst>
              </p:cNvPr>
              <p:cNvSpPr txBox="1">
                <a:spLocks/>
              </p:cNvSpPr>
              <p:nvPr/>
            </p:nvSpPr>
            <p:spPr>
              <a:xfrm>
                <a:off x="291145" y="515644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oMath>
                </a14:m>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442D6107-9452-4B90-9F9B-C97B42EE92C9}"/>
                  </a:ext>
                </a:extLst>
              </p:cNvPr>
              <p:cNvSpPr txBox="1">
                <a:spLocks noRot="1" noChangeAspect="1" noMove="1" noResize="1" noEditPoints="1" noAdjustHandles="1" noChangeArrowheads="1" noChangeShapeType="1" noTextEdit="1"/>
              </p:cNvSpPr>
              <p:nvPr/>
            </p:nvSpPr>
            <p:spPr>
              <a:xfrm>
                <a:off x="291145" y="5156443"/>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6804A2D9-4809-4727-B333-0D8130B184C8}"/>
                  </a:ext>
                </a:extLst>
              </p:cNvPr>
              <p:cNvSpPr txBox="1">
                <a:spLocks/>
              </p:cNvSpPr>
              <p:nvPr/>
            </p:nvSpPr>
            <p:spPr>
              <a:xfrm>
                <a:off x="4570742" y="519386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3" name="Text Placeholder 5">
                <a:extLst>
                  <a:ext uri="{FF2B5EF4-FFF2-40B4-BE49-F238E27FC236}">
                    <a16:creationId xmlns:a16="http://schemas.microsoft.com/office/drawing/2014/main" id="{6804A2D9-4809-4727-B333-0D8130B184C8}"/>
                  </a:ext>
                </a:extLst>
              </p:cNvPr>
              <p:cNvSpPr txBox="1">
                <a:spLocks noRot="1" noChangeAspect="1" noMove="1" noResize="1" noEditPoints="1" noAdjustHandles="1" noChangeArrowheads="1" noChangeShapeType="1" noTextEdit="1"/>
              </p:cNvSpPr>
              <p:nvPr/>
            </p:nvSpPr>
            <p:spPr>
              <a:xfrm>
                <a:off x="4570742" y="5193868"/>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2631F459-0907-4AB7-8D86-826BF5F70F99}"/>
                  </a:ext>
                </a:extLst>
              </p:cNvPr>
              <p:cNvSpPr txBox="1">
                <a:spLocks/>
              </p:cNvSpPr>
              <p:nvPr/>
            </p:nvSpPr>
            <p:spPr>
              <a:xfrm>
                <a:off x="5919828" y="3600955"/>
                <a:ext cx="510830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and apply the constraint</a:t>
                </a:r>
              </a:p>
              <a:p>
                <a:pPr algn="just">
                  <a:lnSpc>
                    <a:spcPct val="100000"/>
                  </a:lnSpc>
                </a:pPr>
                <a14:m>
                  <m:oMathPara xmlns:m="http://schemas.openxmlformats.org/officeDocument/2006/math">
                    <m:oMathParaPr>
                      <m:jc m:val="centerGroup"/>
                    </m:oMathParaPr>
                    <m:oMath xmlns:m="http://schemas.openxmlformats.org/officeDocument/2006/math">
                      <m:nary>
                        <m:naryPr>
                          <m:chr m:val="∑"/>
                          <m:ctrlPr>
                            <a:rPr lang="en-NZ" altLang="ja-JP" sz="160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𝛼</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=0    </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r>
                            <a:rPr lang="en-NZ" altLang="ja-JP" sz="1600" b="0" i="1" smtClean="0">
                              <a:solidFill>
                                <a:schemeClr val="tx1"/>
                              </a:solidFill>
                              <a:latin typeface="Cambria Math" panose="02040503050406030204" pitchFamily="18" charset="0"/>
                            </a:rPr>
                            <m:t>𝑘</m:t>
                          </m:r>
                        </m:den>
                      </m:f>
                      <m:nary>
                        <m:naryPr>
                          <m:chr m:val="∑"/>
                          <m:ctrlPr>
                            <a:rPr lang="en-NZ" altLang="ja-JP" sz="1600" b="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𝜇</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𝜇</m:t>
                      </m:r>
                    </m:oMath>
                  </m:oMathPara>
                </a14:m>
                <a:endParaRPr lang="en-NZ" altLang="ja-JP" sz="1600" i="1" dirty="0">
                  <a:solidFill>
                    <a:schemeClr val="tx1"/>
                  </a:solidFill>
                </a:endParaRPr>
              </a:p>
            </p:txBody>
          </p:sp>
        </mc:Choice>
        <mc:Fallback xmlns="">
          <p:sp>
            <p:nvSpPr>
              <p:cNvPr id="24" name="Text Placeholder 5">
                <a:extLst>
                  <a:ext uri="{FF2B5EF4-FFF2-40B4-BE49-F238E27FC236}">
                    <a16:creationId xmlns:a16="http://schemas.microsoft.com/office/drawing/2014/main" id="{2631F459-0907-4AB7-8D86-826BF5F70F99}"/>
                  </a:ext>
                </a:extLst>
              </p:cNvPr>
              <p:cNvSpPr txBox="1">
                <a:spLocks noRot="1" noChangeAspect="1" noMove="1" noResize="1" noEditPoints="1" noAdjustHandles="1" noChangeArrowheads="1" noChangeShapeType="1" noTextEdit="1"/>
              </p:cNvSpPr>
              <p:nvPr/>
            </p:nvSpPr>
            <p:spPr>
              <a:xfrm>
                <a:off x="5919828" y="3600955"/>
                <a:ext cx="5108307" cy="815449"/>
              </a:xfrm>
              <a:prstGeom prst="rect">
                <a:avLst/>
              </a:prstGeom>
              <a:blipFill>
                <a:blip r:embed="rId6"/>
                <a:stretch>
                  <a:fillRect t="-2256" b="-218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E6B353AD-6E0D-476C-A8E0-0C6718C65928}"/>
                  </a:ext>
                </a:extLst>
              </p:cNvPr>
              <p:cNvSpPr txBox="1">
                <a:spLocks/>
              </p:cNvSpPr>
              <p:nvPr/>
            </p:nvSpPr>
            <p:spPr>
              <a:xfrm>
                <a:off x="8684523" y="518418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5" name="Text Placeholder 5">
                <a:extLst>
                  <a:ext uri="{FF2B5EF4-FFF2-40B4-BE49-F238E27FC236}">
                    <a16:creationId xmlns:a16="http://schemas.microsoft.com/office/drawing/2014/main" id="{E6B353AD-6E0D-476C-A8E0-0C6718C65928}"/>
                  </a:ext>
                </a:extLst>
              </p:cNvPr>
              <p:cNvSpPr txBox="1">
                <a:spLocks noRot="1" noChangeAspect="1" noMove="1" noResize="1" noEditPoints="1" noAdjustHandles="1" noChangeArrowheads="1" noChangeShapeType="1" noTextEdit="1"/>
              </p:cNvSpPr>
              <p:nvPr/>
            </p:nvSpPr>
            <p:spPr>
              <a:xfrm>
                <a:off x="8684523" y="518418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5A5292B-25F0-4CA7-A0E9-ACC35A46CD01}"/>
                  </a:ext>
                </a:extLst>
              </p:cNvPr>
              <p:cNvSpPr txBox="1">
                <a:spLocks/>
              </p:cNvSpPr>
              <p:nvPr/>
            </p:nvSpPr>
            <p:spPr>
              <a:xfrm>
                <a:off x="3838431" y="539234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26" name="Text Placeholder 5">
                <a:extLst>
                  <a:ext uri="{FF2B5EF4-FFF2-40B4-BE49-F238E27FC236}">
                    <a16:creationId xmlns:a16="http://schemas.microsoft.com/office/drawing/2014/main" id="{D5A5292B-25F0-4CA7-A0E9-ACC35A46CD01}"/>
                  </a:ext>
                </a:extLst>
              </p:cNvPr>
              <p:cNvSpPr txBox="1">
                <a:spLocks noRot="1" noChangeAspect="1" noMove="1" noResize="1" noEditPoints="1" noAdjustHandles="1" noChangeArrowheads="1" noChangeShapeType="1" noTextEdit="1"/>
              </p:cNvSpPr>
              <p:nvPr/>
            </p:nvSpPr>
            <p:spPr>
              <a:xfrm>
                <a:off x="3838431" y="5392346"/>
                <a:ext cx="628508" cy="365125"/>
              </a:xfrm>
              <a:prstGeom prst="rect">
                <a:avLst/>
              </a:prstGeom>
              <a:blipFill>
                <a:blip r:embed="rId8"/>
                <a:stretch>
                  <a:fillRect b="-169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8F447797-39BB-4962-8C2C-504823700802}"/>
                  </a:ext>
                </a:extLst>
              </p:cNvPr>
              <p:cNvSpPr txBox="1">
                <a:spLocks/>
              </p:cNvSpPr>
              <p:nvPr/>
            </p:nvSpPr>
            <p:spPr>
              <a:xfrm>
                <a:off x="7876890" y="538243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27" name="Text Placeholder 5">
                <a:extLst>
                  <a:ext uri="{FF2B5EF4-FFF2-40B4-BE49-F238E27FC236}">
                    <a16:creationId xmlns:a16="http://schemas.microsoft.com/office/drawing/2014/main" id="{8F447797-39BB-4962-8C2C-504823700802}"/>
                  </a:ext>
                </a:extLst>
              </p:cNvPr>
              <p:cNvSpPr txBox="1">
                <a:spLocks noRot="1" noChangeAspect="1" noMove="1" noResize="1" noEditPoints="1" noAdjustHandles="1" noChangeArrowheads="1" noChangeShapeType="1" noTextEdit="1"/>
              </p:cNvSpPr>
              <p:nvPr/>
            </p:nvSpPr>
            <p:spPr>
              <a:xfrm>
                <a:off x="7876890" y="5382432"/>
                <a:ext cx="628508" cy="365125"/>
              </a:xfrm>
              <a:prstGeom prst="rect">
                <a:avLst/>
              </a:prstGeom>
              <a:blipFill>
                <a:blip r:embed="rId9"/>
                <a:stretch>
                  <a:fillRect b="-15000"/>
                </a:stretch>
              </a:blipFill>
            </p:spPr>
            <p:txBody>
              <a:bodyPr/>
              <a:lstStyle/>
              <a:p>
                <a:r>
                  <a:rPr lang="en-NZ">
                    <a:noFill/>
                  </a:rPr>
                  <a:t> </a:t>
                </a:r>
              </a:p>
            </p:txBody>
          </p:sp>
        </mc:Fallback>
      </mc:AlternateContent>
      <p:sp>
        <p:nvSpPr>
          <p:cNvPr id="28" name="Slide Number Placeholder 3">
            <a:extLst>
              <a:ext uri="{FF2B5EF4-FFF2-40B4-BE49-F238E27FC236}">
                <a16:creationId xmlns:a16="http://schemas.microsoft.com/office/drawing/2014/main" id="{765C6191-57EC-4F1D-A2DB-FCC39A970C3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19</a:t>
            </a:fld>
            <a:endParaRPr kumimoji="1" lang="ja-JP" altLang="en-US" dirty="0">
              <a:solidFill>
                <a:srgbClr val="575454">
                  <a:lumMod val="20000"/>
                  <a:lumOff val="80000"/>
                </a:srgbClr>
              </a:solidFill>
              <a:latin typeface="Coo Hew"/>
            </a:endParaRPr>
          </a:p>
        </p:txBody>
      </p:sp>
      <p:sp>
        <p:nvSpPr>
          <p:cNvPr id="30" name="Title 6">
            <a:extLst>
              <a:ext uri="{FF2B5EF4-FFF2-40B4-BE49-F238E27FC236}">
                <a16:creationId xmlns:a16="http://schemas.microsoft.com/office/drawing/2014/main" id="{E63026C8-BC0B-4275-933F-0B99ABB8734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Recap of The One-Way ANOVA Model:</a:t>
            </a:r>
            <a:endParaRPr lang="ja-JP" altLang="en-US" b="1" u="sng" dirty="0">
              <a:latin typeface="+mn-lt"/>
            </a:endParaRPr>
          </a:p>
        </p:txBody>
      </p:sp>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DC1FD3F1-C207-9E11-1CCB-9EBDBB17CD82}"/>
                  </a:ext>
                </a:extLst>
              </p:cNvPr>
              <p:cNvSpPr txBox="1">
                <a:spLocks/>
              </p:cNvSpPr>
              <p:nvPr/>
            </p:nvSpPr>
            <p:spPr>
              <a:xfrm>
                <a:off x="7661690" y="1189073"/>
                <a:ext cx="3857767" cy="18389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tx1"/>
                    </a:solidFill>
                    <a:latin typeface="Cambria Math" panose="02040503050406030204" pitchFamily="18" charset="0"/>
                  </a:rPr>
                  <a:t>We then fit the model to some data</a:t>
                </a: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ctr">
                  <a:lnSpc>
                    <a:spcPct val="100000"/>
                  </a:lnSpc>
                </a:pPr>
                <a:endParaRPr lang="en-NZ" altLang="ja-JP" sz="200" dirty="0">
                  <a:solidFill>
                    <a:schemeClr val="tx1"/>
                  </a:solidFill>
                </a:endParaRPr>
              </a:p>
              <a:p>
                <a:pPr algn="ctr">
                  <a:lnSpc>
                    <a:spcPct val="100000"/>
                  </a:lnSpc>
                </a:pPr>
                <a:endParaRPr lang="en-NZ" altLang="ja-JP" sz="200" dirty="0">
                  <a:solidFill>
                    <a:schemeClr val="tx1"/>
                  </a:solidFill>
                </a:endParaRPr>
              </a:p>
              <a:p>
                <a:pPr algn="ctr">
                  <a:lnSpc>
                    <a:spcPct val="100000"/>
                  </a:lnSpc>
                </a:pPr>
                <a:r>
                  <a:rPr lang="en-NZ" altLang="ja-JP" sz="1400" dirty="0">
                    <a:solidFill>
                      <a:schemeClr val="tx1"/>
                    </a:solidFill>
                  </a:rPr>
                  <a:t>in order to estimate the constants </a:t>
                </a:r>
                <a14:m>
                  <m:oMath xmlns:m="http://schemas.openxmlformats.org/officeDocument/2006/math">
                    <m:r>
                      <a:rPr lang="en-NZ" altLang="ja-JP" sz="1400" b="0" i="1" smtClean="0">
                        <a:solidFill>
                          <a:schemeClr val="tx1"/>
                        </a:solidFill>
                        <a:latin typeface="Cambria Math" panose="02040503050406030204" pitchFamily="18" charset="0"/>
                      </a:rPr>
                      <m:t>𝜇</m:t>
                    </m:r>
                    <m:r>
                      <a:rPr lang="en-NZ" altLang="ja-JP" sz="1400" b="0" i="1" smtClean="0">
                        <a:solidFill>
                          <a:schemeClr val="tx1"/>
                        </a:solidFill>
                        <a:latin typeface="Cambria Math" panose="02040503050406030204" pitchFamily="18" charset="0"/>
                      </a:rPr>
                      <m:t>, </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𝜇</m:t>
                        </m:r>
                      </m:e>
                      <m:sub>
                        <m:r>
                          <a:rPr lang="en-NZ" altLang="ja-JP" sz="1400" b="0" i="1" smtClean="0">
                            <a:solidFill>
                              <a:schemeClr val="tx1"/>
                            </a:solidFill>
                            <a:latin typeface="Cambria Math" panose="02040503050406030204" pitchFamily="18" charset="0"/>
                          </a:rPr>
                          <m:t>𝑖</m:t>
                        </m:r>
                      </m:sub>
                    </m:sSub>
                    <m:r>
                      <a:rPr lang="en-NZ" altLang="ja-JP" sz="1400" b="0" i="1" smtClean="0">
                        <a:solidFill>
                          <a:schemeClr val="tx1"/>
                        </a:solidFill>
                        <a:latin typeface="Cambria Math" panose="02040503050406030204" pitchFamily="18" charset="0"/>
                      </a:rPr>
                      <m:t>,</m:t>
                    </m:r>
                  </m:oMath>
                </a14:m>
                <a:r>
                  <a:rPr lang="en-NZ" altLang="ja-JP" sz="1400" dirty="0">
                    <a:solidFill>
                      <a:schemeClr val="tx1"/>
                    </a:solidFill>
                  </a:rPr>
                  <a:t> </a:t>
                </a:r>
                <a14:m>
                  <m:oMath xmlns:m="http://schemas.openxmlformats.org/officeDocument/2006/math">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𝛼</m:t>
                        </m:r>
                      </m:e>
                      <m:sub>
                        <m:r>
                          <a:rPr lang="en-NZ" altLang="ja-JP" sz="1400" b="0" i="1" smtClean="0">
                            <a:solidFill>
                              <a:schemeClr val="tx1"/>
                            </a:solidFill>
                            <a:latin typeface="Cambria Math" panose="02040503050406030204" pitchFamily="18" charset="0"/>
                          </a:rPr>
                          <m:t>𝑖</m:t>
                        </m:r>
                      </m:sub>
                    </m:sSub>
                  </m:oMath>
                </a14:m>
                <a:r>
                  <a:rPr lang="en-NZ" altLang="ja-JP" sz="1400" dirty="0">
                    <a:solidFill>
                      <a:schemeClr val="tx1"/>
                    </a:solidFill>
                  </a:rPr>
                  <a:t> and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𝜎</m:t>
                        </m:r>
                      </m:e>
                      <m:sup>
                        <m:r>
                          <a:rPr lang="en-NZ" altLang="ja-JP" sz="1400" b="0" i="1" smtClean="0">
                            <a:solidFill>
                              <a:schemeClr val="tx1"/>
                            </a:solidFill>
                            <a:latin typeface="Cambria Math" panose="02040503050406030204" pitchFamily="18" charset="0"/>
                          </a:rPr>
                          <m:t>2</m:t>
                        </m:r>
                      </m:sup>
                    </m:sSup>
                  </m:oMath>
                </a14:m>
                <a:endParaRPr lang="en-NZ" altLang="ja-JP" sz="14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29" name="Text Placeholder 5">
                <a:extLst>
                  <a:ext uri="{FF2B5EF4-FFF2-40B4-BE49-F238E27FC236}">
                    <a16:creationId xmlns:a16="http://schemas.microsoft.com/office/drawing/2014/main" id="{DC1FD3F1-C207-9E11-1CCB-9EBDBB17CD82}"/>
                  </a:ext>
                </a:extLst>
              </p:cNvPr>
              <p:cNvSpPr txBox="1">
                <a:spLocks noRot="1" noChangeAspect="1" noMove="1" noResize="1" noEditPoints="1" noAdjustHandles="1" noChangeArrowheads="1" noChangeShapeType="1" noTextEdit="1"/>
              </p:cNvSpPr>
              <p:nvPr/>
            </p:nvSpPr>
            <p:spPr>
              <a:xfrm>
                <a:off x="7661690" y="1189073"/>
                <a:ext cx="3857767" cy="1838955"/>
              </a:xfrm>
              <a:prstGeom prst="rect">
                <a:avLst/>
              </a:prstGeom>
              <a:blipFill>
                <a:blip r:embed="rId10"/>
                <a:stretch>
                  <a:fillRect t="-993" b="-298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0DBDCE23-3D6D-CA83-D328-DBF7C51918C9}"/>
                  </a:ext>
                </a:extLst>
              </p:cNvPr>
              <p:cNvSpPr txBox="1">
                <a:spLocks/>
              </p:cNvSpPr>
              <p:nvPr/>
            </p:nvSpPr>
            <p:spPr>
              <a:xfrm>
                <a:off x="6481796" y="3190601"/>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33" name="Text Placeholder 5">
                <a:extLst>
                  <a:ext uri="{FF2B5EF4-FFF2-40B4-BE49-F238E27FC236}">
                    <a16:creationId xmlns:a16="http://schemas.microsoft.com/office/drawing/2014/main" id="{0DBDCE23-3D6D-CA83-D328-DBF7C51918C9}"/>
                  </a:ext>
                </a:extLst>
              </p:cNvPr>
              <p:cNvSpPr txBox="1">
                <a:spLocks noRot="1" noChangeAspect="1" noMove="1" noResize="1" noEditPoints="1" noAdjustHandles="1" noChangeArrowheads="1" noChangeShapeType="1" noTextEdit="1"/>
              </p:cNvSpPr>
              <p:nvPr/>
            </p:nvSpPr>
            <p:spPr>
              <a:xfrm>
                <a:off x="6481796" y="3190601"/>
                <a:ext cx="2359788" cy="474953"/>
              </a:xfrm>
              <a:prstGeom prst="rect">
                <a:avLst/>
              </a:prstGeom>
              <a:blipFill>
                <a:blip r:embed="rId11"/>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05180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1" grpId="0"/>
      <p:bldP spid="22" grpId="0"/>
      <p:bldP spid="23" grpId="0"/>
      <p:bldP spid="24" grpId="0"/>
      <p:bldP spid="25" grpId="0"/>
      <p:bldP spid="26" grpId="0"/>
      <p:bldP spid="27" grpId="0"/>
      <p:bldP spid="29" grpId="0"/>
      <p:bldP spid="3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lide Number Placeholder 3">
            <a:extLst>
              <a:ext uri="{FF2B5EF4-FFF2-40B4-BE49-F238E27FC236}">
                <a16:creationId xmlns:a16="http://schemas.microsoft.com/office/drawing/2014/main" id="{A96FB80D-C1DE-4EA0-876B-493B0776604B}"/>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20</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C3F12D9-D0BB-42B1-87AB-6A9AF2DB78C0}"/>
                  </a:ext>
                </a:extLst>
              </p:cNvPr>
              <p:cNvSpPr txBox="1">
                <a:spLocks/>
              </p:cNvSpPr>
              <p:nvPr/>
            </p:nvSpPr>
            <p:spPr>
              <a:xfrm>
                <a:off x="251224" y="989809"/>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xmlns="">
          <p:sp>
            <p:nvSpPr>
              <p:cNvPr id="20" name="Text Placeholder 5">
                <a:extLst>
                  <a:ext uri="{FF2B5EF4-FFF2-40B4-BE49-F238E27FC236}">
                    <a16:creationId xmlns:a16="http://schemas.microsoft.com/office/drawing/2014/main" id="{5C3F12D9-D0BB-42B1-87AB-6A9AF2DB78C0}"/>
                  </a:ext>
                </a:extLst>
              </p:cNvPr>
              <p:cNvSpPr txBox="1">
                <a:spLocks noRot="1" noChangeAspect="1" noMove="1" noResize="1" noEditPoints="1" noAdjustHandles="1" noChangeArrowheads="1" noChangeShapeType="1" noTextEdit="1"/>
              </p:cNvSpPr>
              <p:nvPr/>
            </p:nvSpPr>
            <p:spPr>
              <a:xfrm>
                <a:off x="251224" y="989809"/>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F8F30D62-3DF0-4E2C-84AF-F396D70A4CA0}"/>
                  </a:ext>
                </a:extLst>
              </p:cNvPr>
              <p:cNvSpPr txBox="1">
                <a:spLocks/>
              </p:cNvSpPr>
              <p:nvPr/>
            </p:nvSpPr>
            <p:spPr>
              <a:xfrm>
                <a:off x="7068922" y="989808"/>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xmlns="">
          <p:sp>
            <p:nvSpPr>
              <p:cNvPr id="28" name="Text Placeholder 5">
                <a:extLst>
                  <a:ext uri="{FF2B5EF4-FFF2-40B4-BE49-F238E27FC236}">
                    <a16:creationId xmlns:a16="http://schemas.microsoft.com/office/drawing/2014/main" id="{F8F30D62-3DF0-4E2C-84AF-F396D70A4CA0}"/>
                  </a:ext>
                </a:extLst>
              </p:cNvPr>
              <p:cNvSpPr txBox="1">
                <a:spLocks noRot="1" noChangeAspect="1" noMove="1" noResize="1" noEditPoints="1" noAdjustHandles="1" noChangeArrowheads="1" noChangeShapeType="1" noTextEdit="1"/>
              </p:cNvSpPr>
              <p:nvPr/>
            </p:nvSpPr>
            <p:spPr>
              <a:xfrm>
                <a:off x="7068922" y="989808"/>
                <a:ext cx="2359788" cy="474953"/>
              </a:xfrm>
              <a:prstGeom prst="rect">
                <a:avLst/>
              </a:prstGeom>
              <a:blipFill>
                <a:blip r:embed="rId3"/>
                <a:stretch>
                  <a:fillRect/>
                </a:stretch>
              </a:blipFill>
            </p:spPr>
            <p:txBody>
              <a:bodyPr/>
              <a:lstStyle/>
              <a:p>
                <a:r>
                  <a:rPr lang="en-NZ">
                    <a:noFill/>
                  </a:rPr>
                  <a:t> </a:t>
                </a:r>
              </a:p>
            </p:txBody>
          </p:sp>
        </mc:Fallback>
      </mc:AlternateContent>
      <p:sp>
        <p:nvSpPr>
          <p:cNvPr id="30" name="Text Placeholder 5">
            <a:extLst>
              <a:ext uri="{FF2B5EF4-FFF2-40B4-BE49-F238E27FC236}">
                <a16:creationId xmlns:a16="http://schemas.microsoft.com/office/drawing/2014/main" id="{CDE3F118-3944-4892-99D8-4C6814BAB162}"/>
              </a:ext>
            </a:extLst>
          </p:cNvPr>
          <p:cNvSpPr txBox="1">
            <a:spLocks/>
          </p:cNvSpPr>
          <p:nvPr/>
        </p:nvSpPr>
        <p:spPr>
          <a:xfrm>
            <a:off x="252753" y="2617512"/>
            <a:ext cx="5088342" cy="13535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tx1"/>
                </a:solidFill>
              </a:rPr>
              <a:t>If </a:t>
            </a:r>
            <a:r>
              <a:rPr lang="en-NZ" altLang="ja-JP" sz="1400" b="1" i="1" dirty="0">
                <a:solidFill>
                  <a:schemeClr val="tx1"/>
                </a:solidFill>
              </a:rPr>
              <a:t>H</a:t>
            </a:r>
            <a:r>
              <a:rPr lang="en-NZ" altLang="ja-JP" sz="1400" b="1" i="1" baseline="-25000" dirty="0">
                <a:solidFill>
                  <a:schemeClr val="tx1"/>
                </a:solidFill>
              </a:rPr>
              <a:t>0</a:t>
            </a:r>
            <a:r>
              <a:rPr lang="en-NZ" altLang="ja-JP" sz="1400" dirty="0">
                <a:solidFill>
                  <a:schemeClr val="tx1"/>
                </a:solidFill>
              </a:rPr>
              <a:t> is true, then there are no differences between the means of the different groups</a:t>
            </a:r>
          </a:p>
          <a:p>
            <a:pPr algn="just">
              <a:lnSpc>
                <a:spcPct val="100000"/>
              </a:lnSpc>
            </a:pPr>
            <a:endParaRPr lang="en-NZ" altLang="ja-JP" sz="1400" dirty="0">
              <a:solidFill>
                <a:schemeClr val="tx1"/>
              </a:solidFill>
            </a:endParaRPr>
          </a:p>
          <a:p>
            <a:pPr marL="285750" indent="-285750" algn="just">
              <a:lnSpc>
                <a:spcPct val="100000"/>
              </a:lnSpc>
              <a:buFont typeface="Symbol" panose="05050102010706020507" pitchFamily="18" charset="2"/>
              <a:buChar char="Þ"/>
            </a:pP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between</a:t>
            </a:r>
            <a:r>
              <a:rPr lang="en-NZ" altLang="ja-JP" sz="1400" dirty="0">
                <a:solidFill>
                  <a:schemeClr val="tx1"/>
                </a:solidFill>
              </a:rPr>
              <a:t> group means and the overall mean </a:t>
            </a:r>
            <a:br>
              <a:rPr lang="en-NZ" altLang="ja-JP" sz="1400" dirty="0">
                <a:solidFill>
                  <a:schemeClr val="tx1"/>
                </a:solidFill>
              </a:rPr>
            </a:br>
            <a:r>
              <a:rPr lang="en-NZ" altLang="ja-JP" sz="1400" dirty="0">
                <a:solidFill>
                  <a:schemeClr val="tx1"/>
                </a:solidFill>
              </a:rPr>
              <a:t>will be </a:t>
            </a:r>
            <a:r>
              <a:rPr lang="en-NZ" altLang="ja-JP" sz="1400" b="1" dirty="0">
                <a:solidFill>
                  <a:schemeClr val="tx1"/>
                </a:solidFill>
              </a:rPr>
              <a:t>similar</a:t>
            </a:r>
            <a:r>
              <a:rPr lang="en-NZ" altLang="ja-JP" sz="1400" dirty="0">
                <a:solidFill>
                  <a:schemeClr val="tx1"/>
                </a:solidFill>
              </a:rPr>
              <a:t> to </a:t>
            </a: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within</a:t>
            </a:r>
            <a:r>
              <a:rPr lang="en-NZ" altLang="ja-JP" sz="1400" dirty="0">
                <a:solidFill>
                  <a:schemeClr val="tx1"/>
                </a:solidFill>
              </a:rPr>
              <a:t> groups.</a:t>
            </a:r>
          </a:p>
          <a:p>
            <a:pPr marL="285750" indent="-285750" algn="just">
              <a:lnSpc>
                <a:spcPct val="100000"/>
              </a:lnSpc>
              <a:buFont typeface="Symbol" panose="05050102010706020507" pitchFamily="18" charset="2"/>
              <a:buChar char="Þ"/>
            </a:pPr>
            <a:endParaRPr lang="en-NZ" altLang="ja-JP" sz="1400" dirty="0">
              <a:solidFill>
                <a:schemeClr val="tx1"/>
              </a:solidFill>
            </a:endParaRPr>
          </a:p>
          <a:p>
            <a:pPr algn="just">
              <a:lnSpc>
                <a:spcPct val="100000"/>
              </a:lnSpc>
            </a:pPr>
            <a:r>
              <a:rPr lang="en-NZ" altLang="ja-JP" sz="1400" dirty="0">
                <a:solidFill>
                  <a:schemeClr val="tx1"/>
                </a:solidFill>
              </a:rPr>
              <a:t>  </a:t>
            </a: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571C868E-5850-4E3B-8799-34CEC05AB25F}"/>
                  </a:ext>
                </a:extLst>
              </p:cNvPr>
              <p:cNvSpPr txBox="1">
                <a:spLocks/>
              </p:cNvSpPr>
              <p:nvPr/>
            </p:nvSpPr>
            <p:spPr>
              <a:xfrm>
                <a:off x="215187" y="138357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oMath>
                </a14:m>
                <a:endParaRPr lang="en-NZ" altLang="ja-JP" sz="1600" dirty="0">
                  <a:solidFill>
                    <a:schemeClr val="tx1"/>
                  </a:solidFill>
                </a:endParaRPr>
              </a:p>
            </p:txBody>
          </p:sp>
        </mc:Choice>
        <mc:Fallback xmlns="">
          <p:sp>
            <p:nvSpPr>
              <p:cNvPr id="32" name="Text Placeholder 5">
                <a:extLst>
                  <a:ext uri="{FF2B5EF4-FFF2-40B4-BE49-F238E27FC236}">
                    <a16:creationId xmlns:a16="http://schemas.microsoft.com/office/drawing/2014/main" id="{571C868E-5850-4E3B-8799-34CEC05AB25F}"/>
                  </a:ext>
                </a:extLst>
              </p:cNvPr>
              <p:cNvSpPr txBox="1">
                <a:spLocks noRot="1" noChangeAspect="1" noMove="1" noResize="1" noEditPoints="1" noAdjustHandles="1" noChangeArrowheads="1" noChangeShapeType="1" noTextEdit="1"/>
              </p:cNvSpPr>
              <p:nvPr/>
            </p:nvSpPr>
            <p:spPr>
              <a:xfrm>
                <a:off x="215187" y="1383578"/>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BEFA8F33-2FCE-44B4-A878-BA183DC23DCF}"/>
                  </a:ext>
                </a:extLst>
              </p:cNvPr>
              <p:cNvSpPr txBox="1">
                <a:spLocks/>
              </p:cNvSpPr>
              <p:nvPr/>
            </p:nvSpPr>
            <p:spPr>
              <a:xfrm>
                <a:off x="4494784" y="142100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33" name="Text Placeholder 5">
                <a:extLst>
                  <a:ext uri="{FF2B5EF4-FFF2-40B4-BE49-F238E27FC236}">
                    <a16:creationId xmlns:a16="http://schemas.microsoft.com/office/drawing/2014/main" id="{BEFA8F33-2FCE-44B4-A878-BA183DC23DCF}"/>
                  </a:ext>
                </a:extLst>
              </p:cNvPr>
              <p:cNvSpPr txBox="1">
                <a:spLocks noRot="1" noChangeAspect="1" noMove="1" noResize="1" noEditPoints="1" noAdjustHandles="1" noChangeArrowheads="1" noChangeShapeType="1" noTextEdit="1"/>
              </p:cNvSpPr>
              <p:nvPr/>
            </p:nvSpPr>
            <p:spPr>
              <a:xfrm>
                <a:off x="4494784" y="142100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0C13D677-C108-45D5-B7D1-BF7D41FB7209}"/>
                  </a:ext>
                </a:extLst>
              </p:cNvPr>
              <p:cNvSpPr txBox="1">
                <a:spLocks/>
              </p:cNvSpPr>
              <p:nvPr/>
            </p:nvSpPr>
            <p:spPr>
              <a:xfrm>
                <a:off x="8608565" y="1411324"/>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34" name="Text Placeholder 5">
                <a:extLst>
                  <a:ext uri="{FF2B5EF4-FFF2-40B4-BE49-F238E27FC236}">
                    <a16:creationId xmlns:a16="http://schemas.microsoft.com/office/drawing/2014/main" id="{0C13D677-C108-45D5-B7D1-BF7D41FB7209}"/>
                  </a:ext>
                </a:extLst>
              </p:cNvPr>
              <p:cNvSpPr txBox="1">
                <a:spLocks noRot="1" noChangeAspect="1" noMove="1" noResize="1" noEditPoints="1" noAdjustHandles="1" noChangeArrowheads="1" noChangeShapeType="1" noTextEdit="1"/>
              </p:cNvSpPr>
              <p:nvPr/>
            </p:nvSpPr>
            <p:spPr>
              <a:xfrm>
                <a:off x="8608565" y="1411324"/>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7F9FBF06-665C-44D9-BA6F-F2B27DFEF889}"/>
                  </a:ext>
                </a:extLst>
              </p:cNvPr>
              <p:cNvSpPr txBox="1">
                <a:spLocks/>
              </p:cNvSpPr>
              <p:nvPr/>
            </p:nvSpPr>
            <p:spPr>
              <a:xfrm>
                <a:off x="3768159" y="1517113"/>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5" name="Text Placeholder 5">
                <a:extLst>
                  <a:ext uri="{FF2B5EF4-FFF2-40B4-BE49-F238E27FC236}">
                    <a16:creationId xmlns:a16="http://schemas.microsoft.com/office/drawing/2014/main" id="{7F9FBF06-665C-44D9-BA6F-F2B27DFEF889}"/>
                  </a:ext>
                </a:extLst>
              </p:cNvPr>
              <p:cNvSpPr txBox="1">
                <a:spLocks noRot="1" noChangeAspect="1" noMove="1" noResize="1" noEditPoints="1" noAdjustHandles="1" noChangeArrowheads="1" noChangeShapeType="1" noTextEdit="1"/>
              </p:cNvSpPr>
              <p:nvPr/>
            </p:nvSpPr>
            <p:spPr>
              <a:xfrm>
                <a:off x="3768159" y="1517113"/>
                <a:ext cx="628508" cy="365125"/>
              </a:xfrm>
              <a:prstGeom prst="rect">
                <a:avLst/>
              </a:prstGeom>
              <a:blipFill>
                <a:blip r:embed="rId7"/>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6" name="Text Placeholder 5">
                <a:extLst>
                  <a:ext uri="{FF2B5EF4-FFF2-40B4-BE49-F238E27FC236}">
                    <a16:creationId xmlns:a16="http://schemas.microsoft.com/office/drawing/2014/main" id="{2DE8CBE2-1353-4E9B-A74E-06D5DEE7FD17}"/>
                  </a:ext>
                </a:extLst>
              </p:cNvPr>
              <p:cNvSpPr txBox="1">
                <a:spLocks/>
              </p:cNvSpPr>
              <p:nvPr/>
            </p:nvSpPr>
            <p:spPr>
              <a:xfrm>
                <a:off x="7806618" y="1507199"/>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6" name="Text Placeholder 5">
                <a:extLst>
                  <a:ext uri="{FF2B5EF4-FFF2-40B4-BE49-F238E27FC236}">
                    <a16:creationId xmlns:a16="http://schemas.microsoft.com/office/drawing/2014/main" id="{2DE8CBE2-1353-4E9B-A74E-06D5DEE7FD17}"/>
                  </a:ext>
                </a:extLst>
              </p:cNvPr>
              <p:cNvSpPr txBox="1">
                <a:spLocks noRot="1" noChangeAspect="1" noMove="1" noResize="1" noEditPoints="1" noAdjustHandles="1" noChangeArrowheads="1" noChangeShapeType="1" noTextEdit="1"/>
              </p:cNvSpPr>
              <p:nvPr/>
            </p:nvSpPr>
            <p:spPr>
              <a:xfrm>
                <a:off x="7806618" y="1507199"/>
                <a:ext cx="628508" cy="365125"/>
              </a:xfrm>
              <a:prstGeom prst="rect">
                <a:avLst/>
              </a:prstGeom>
              <a:blipFill>
                <a:blip r:embed="rId8"/>
                <a:stretch>
                  <a:fillRect b="-16667"/>
                </a:stretch>
              </a:blipFill>
            </p:spPr>
            <p:txBody>
              <a:bodyPr/>
              <a:lstStyle/>
              <a:p>
                <a:r>
                  <a:rPr lang="en-NZ">
                    <a:noFill/>
                  </a:rPr>
                  <a:t> </a:t>
                </a:r>
              </a:p>
            </p:txBody>
          </p:sp>
        </mc:Fallback>
      </mc:AlternateContent>
      <p:pic>
        <p:nvPicPr>
          <p:cNvPr id="37" name="Picture 36">
            <a:extLst>
              <a:ext uri="{FF2B5EF4-FFF2-40B4-BE49-F238E27FC236}">
                <a16:creationId xmlns:a16="http://schemas.microsoft.com/office/drawing/2014/main" id="{5DAD2D2C-3BAF-4190-9324-3A9FD6FF4E2C}"/>
              </a:ext>
            </a:extLst>
          </p:cNvPr>
          <p:cNvPicPr>
            <a:picLocks noChangeAspect="1"/>
          </p:cNvPicPr>
          <p:nvPr/>
        </p:nvPicPr>
        <p:blipFill>
          <a:blip r:embed="rId9"/>
          <a:stretch>
            <a:fillRect/>
          </a:stretch>
        </p:blipFill>
        <p:spPr>
          <a:xfrm>
            <a:off x="2164450" y="3860194"/>
            <a:ext cx="1287154" cy="775868"/>
          </a:xfrm>
          <a:prstGeom prst="rect">
            <a:avLst/>
          </a:prstGeom>
        </p:spPr>
      </p:pic>
      <p:pic>
        <p:nvPicPr>
          <p:cNvPr id="38" name="Picture 37">
            <a:extLst>
              <a:ext uri="{FF2B5EF4-FFF2-40B4-BE49-F238E27FC236}">
                <a16:creationId xmlns:a16="http://schemas.microsoft.com/office/drawing/2014/main" id="{8D607907-EE7A-477D-9FD9-34DE293432A4}"/>
              </a:ext>
            </a:extLst>
          </p:cNvPr>
          <p:cNvPicPr>
            <a:picLocks noChangeAspect="1"/>
          </p:cNvPicPr>
          <p:nvPr/>
        </p:nvPicPr>
        <p:blipFill>
          <a:blip r:embed="rId9"/>
          <a:stretch>
            <a:fillRect/>
          </a:stretch>
        </p:blipFill>
        <p:spPr>
          <a:xfrm>
            <a:off x="2289697" y="4653554"/>
            <a:ext cx="1287154" cy="775868"/>
          </a:xfrm>
          <a:prstGeom prst="rect">
            <a:avLst/>
          </a:prstGeom>
        </p:spPr>
      </p:pic>
      <p:pic>
        <p:nvPicPr>
          <p:cNvPr id="39" name="Picture 38">
            <a:extLst>
              <a:ext uri="{FF2B5EF4-FFF2-40B4-BE49-F238E27FC236}">
                <a16:creationId xmlns:a16="http://schemas.microsoft.com/office/drawing/2014/main" id="{C50D1B2D-5F77-4597-8F3D-AF754F9C1F88}"/>
              </a:ext>
            </a:extLst>
          </p:cNvPr>
          <p:cNvPicPr>
            <a:picLocks noChangeAspect="1"/>
          </p:cNvPicPr>
          <p:nvPr/>
        </p:nvPicPr>
        <p:blipFill>
          <a:blip r:embed="rId9"/>
          <a:stretch>
            <a:fillRect/>
          </a:stretch>
        </p:blipFill>
        <p:spPr>
          <a:xfrm>
            <a:off x="2014325" y="5482903"/>
            <a:ext cx="1287154" cy="775868"/>
          </a:xfrm>
          <a:prstGeom prst="rect">
            <a:avLst/>
          </a:prstGeom>
        </p:spPr>
      </p:pic>
      <p:cxnSp>
        <p:nvCxnSpPr>
          <p:cNvPr id="40" name="Straight Connector 39">
            <a:extLst>
              <a:ext uri="{FF2B5EF4-FFF2-40B4-BE49-F238E27FC236}">
                <a16:creationId xmlns:a16="http://schemas.microsoft.com/office/drawing/2014/main" id="{0D51772C-9DE7-4F3E-981F-D09A77F7BE95}"/>
              </a:ext>
            </a:extLst>
          </p:cNvPr>
          <p:cNvCxnSpPr>
            <a:cxnSpLocks/>
          </p:cNvCxnSpPr>
          <p:nvPr/>
        </p:nvCxnSpPr>
        <p:spPr>
          <a:xfrm>
            <a:off x="2808027" y="3842702"/>
            <a:ext cx="0" cy="27181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E99ADCF-1CAA-4065-87C0-A02BB7B87145}"/>
              </a:ext>
            </a:extLst>
          </p:cNvPr>
          <p:cNvCxnSpPr>
            <a:cxnSpLocks/>
          </p:cNvCxnSpPr>
          <p:nvPr/>
        </p:nvCxnSpPr>
        <p:spPr>
          <a:xfrm>
            <a:off x="74922" y="6390494"/>
            <a:ext cx="56160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Multiplication Sign 41">
            <a:extLst>
              <a:ext uri="{FF2B5EF4-FFF2-40B4-BE49-F238E27FC236}">
                <a16:creationId xmlns:a16="http://schemas.microsoft.com/office/drawing/2014/main" id="{C4B27B0A-2827-4DDD-BCDD-4C7707DD87E1}"/>
              </a:ext>
            </a:extLst>
          </p:cNvPr>
          <p:cNvSpPr/>
          <p:nvPr/>
        </p:nvSpPr>
        <p:spPr>
          <a:xfrm>
            <a:off x="2528390" y="4126896"/>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3" name="Multiplication Sign 42">
            <a:extLst>
              <a:ext uri="{FF2B5EF4-FFF2-40B4-BE49-F238E27FC236}">
                <a16:creationId xmlns:a16="http://schemas.microsoft.com/office/drawing/2014/main" id="{BEA03809-33D3-4468-AA22-DB480D46D8DC}"/>
              </a:ext>
            </a:extLst>
          </p:cNvPr>
          <p:cNvSpPr/>
          <p:nvPr/>
        </p:nvSpPr>
        <p:spPr>
          <a:xfrm>
            <a:off x="2438614" y="4333933"/>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4" name="Multiplication Sign 43">
            <a:extLst>
              <a:ext uri="{FF2B5EF4-FFF2-40B4-BE49-F238E27FC236}">
                <a16:creationId xmlns:a16="http://schemas.microsoft.com/office/drawing/2014/main" id="{14C7DFC6-45BF-48BF-B5C1-076CBCF8CBFA}"/>
              </a:ext>
            </a:extLst>
          </p:cNvPr>
          <p:cNvSpPr/>
          <p:nvPr/>
        </p:nvSpPr>
        <p:spPr>
          <a:xfrm>
            <a:off x="2669276" y="4332159"/>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5" name="Multiplication Sign 44">
            <a:extLst>
              <a:ext uri="{FF2B5EF4-FFF2-40B4-BE49-F238E27FC236}">
                <a16:creationId xmlns:a16="http://schemas.microsoft.com/office/drawing/2014/main" id="{FD315A53-E242-4FC3-908E-28100B496B42}"/>
              </a:ext>
            </a:extLst>
          </p:cNvPr>
          <p:cNvSpPr/>
          <p:nvPr/>
        </p:nvSpPr>
        <p:spPr>
          <a:xfrm>
            <a:off x="2708085" y="412908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6" name="Multiplication Sign 45">
            <a:extLst>
              <a:ext uri="{FF2B5EF4-FFF2-40B4-BE49-F238E27FC236}">
                <a16:creationId xmlns:a16="http://schemas.microsoft.com/office/drawing/2014/main" id="{5981BB32-2E92-4720-AD92-E7F9104842F7}"/>
              </a:ext>
            </a:extLst>
          </p:cNvPr>
          <p:cNvSpPr/>
          <p:nvPr/>
        </p:nvSpPr>
        <p:spPr>
          <a:xfrm>
            <a:off x="2629681" y="393796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7" name="Multiplication Sign 46">
            <a:extLst>
              <a:ext uri="{FF2B5EF4-FFF2-40B4-BE49-F238E27FC236}">
                <a16:creationId xmlns:a16="http://schemas.microsoft.com/office/drawing/2014/main" id="{95E471ED-4EB9-4B38-9048-AB8908D24A4B}"/>
              </a:ext>
            </a:extLst>
          </p:cNvPr>
          <p:cNvSpPr/>
          <p:nvPr/>
        </p:nvSpPr>
        <p:spPr>
          <a:xfrm>
            <a:off x="2806960" y="395204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8" name="Multiplication Sign 47">
            <a:extLst>
              <a:ext uri="{FF2B5EF4-FFF2-40B4-BE49-F238E27FC236}">
                <a16:creationId xmlns:a16="http://schemas.microsoft.com/office/drawing/2014/main" id="{90B17B18-04BB-40A4-93A5-6B2AAAA7078E}"/>
              </a:ext>
            </a:extLst>
          </p:cNvPr>
          <p:cNvSpPr/>
          <p:nvPr/>
        </p:nvSpPr>
        <p:spPr>
          <a:xfrm>
            <a:off x="2912520" y="4143759"/>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9" name="Multiplication Sign 48">
            <a:extLst>
              <a:ext uri="{FF2B5EF4-FFF2-40B4-BE49-F238E27FC236}">
                <a16:creationId xmlns:a16="http://schemas.microsoft.com/office/drawing/2014/main" id="{32068868-6D02-4AC6-A2CA-E2F90BEACCA8}"/>
              </a:ext>
            </a:extLst>
          </p:cNvPr>
          <p:cNvSpPr/>
          <p:nvPr/>
        </p:nvSpPr>
        <p:spPr>
          <a:xfrm>
            <a:off x="2885365" y="434783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0" name="Multiplication Sign 49">
            <a:extLst>
              <a:ext uri="{FF2B5EF4-FFF2-40B4-BE49-F238E27FC236}">
                <a16:creationId xmlns:a16="http://schemas.microsoft.com/office/drawing/2014/main" id="{2D6BFC96-2CBA-4DB1-BDDB-693AC312C8F7}"/>
              </a:ext>
            </a:extLst>
          </p:cNvPr>
          <p:cNvSpPr/>
          <p:nvPr/>
        </p:nvSpPr>
        <p:spPr>
          <a:xfrm>
            <a:off x="3103728" y="434583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1" name="Multiplication Sign 50">
            <a:extLst>
              <a:ext uri="{FF2B5EF4-FFF2-40B4-BE49-F238E27FC236}">
                <a16:creationId xmlns:a16="http://schemas.microsoft.com/office/drawing/2014/main" id="{B7A8CDBE-0A89-47B8-BF0A-7461F4356D89}"/>
              </a:ext>
            </a:extLst>
          </p:cNvPr>
          <p:cNvSpPr/>
          <p:nvPr/>
        </p:nvSpPr>
        <p:spPr>
          <a:xfrm>
            <a:off x="2253908" y="434783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2" name="Multiplication Sign 51">
            <a:extLst>
              <a:ext uri="{FF2B5EF4-FFF2-40B4-BE49-F238E27FC236}">
                <a16:creationId xmlns:a16="http://schemas.microsoft.com/office/drawing/2014/main" id="{F0BD2B3C-6679-4064-835A-DA129ED1513D}"/>
              </a:ext>
            </a:extLst>
          </p:cNvPr>
          <p:cNvSpPr/>
          <p:nvPr/>
        </p:nvSpPr>
        <p:spPr>
          <a:xfrm>
            <a:off x="2712633" y="376325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3" name="Multiplication Sign 52">
            <a:extLst>
              <a:ext uri="{FF2B5EF4-FFF2-40B4-BE49-F238E27FC236}">
                <a16:creationId xmlns:a16="http://schemas.microsoft.com/office/drawing/2014/main" id="{E79A1B37-F980-4600-A8DE-1D9241F59A07}"/>
              </a:ext>
            </a:extLst>
          </p:cNvPr>
          <p:cNvSpPr/>
          <p:nvPr/>
        </p:nvSpPr>
        <p:spPr>
          <a:xfrm>
            <a:off x="3330090" y="5240439"/>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4" name="Multiplication Sign 53">
            <a:extLst>
              <a:ext uri="{FF2B5EF4-FFF2-40B4-BE49-F238E27FC236}">
                <a16:creationId xmlns:a16="http://schemas.microsoft.com/office/drawing/2014/main" id="{D1EFC95D-5190-49F4-BD01-23D945DB89D9}"/>
              </a:ext>
            </a:extLst>
          </p:cNvPr>
          <p:cNvSpPr/>
          <p:nvPr/>
        </p:nvSpPr>
        <p:spPr>
          <a:xfrm>
            <a:off x="2814991" y="4615866"/>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5" name="Multiplication Sign 54">
            <a:extLst>
              <a:ext uri="{FF2B5EF4-FFF2-40B4-BE49-F238E27FC236}">
                <a16:creationId xmlns:a16="http://schemas.microsoft.com/office/drawing/2014/main" id="{D2A58C36-1A2D-44CB-BC3D-3580A2872F2D}"/>
              </a:ext>
            </a:extLst>
          </p:cNvPr>
          <p:cNvSpPr/>
          <p:nvPr/>
        </p:nvSpPr>
        <p:spPr>
          <a:xfrm>
            <a:off x="2977489" y="477834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6" name="Multiplication Sign 55">
            <a:extLst>
              <a:ext uri="{FF2B5EF4-FFF2-40B4-BE49-F238E27FC236}">
                <a16:creationId xmlns:a16="http://schemas.microsoft.com/office/drawing/2014/main" id="{C1CD1CF5-006C-4B48-A393-757BEADF4CB6}"/>
              </a:ext>
            </a:extLst>
          </p:cNvPr>
          <p:cNvSpPr/>
          <p:nvPr/>
        </p:nvSpPr>
        <p:spPr>
          <a:xfrm>
            <a:off x="2678233" y="4794379"/>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7" name="Multiplication Sign 56">
            <a:extLst>
              <a:ext uri="{FF2B5EF4-FFF2-40B4-BE49-F238E27FC236}">
                <a16:creationId xmlns:a16="http://schemas.microsoft.com/office/drawing/2014/main" id="{8D7F834E-C244-45B4-A5DE-BD5B8AA81C3C}"/>
              </a:ext>
            </a:extLst>
          </p:cNvPr>
          <p:cNvSpPr/>
          <p:nvPr/>
        </p:nvSpPr>
        <p:spPr>
          <a:xfrm>
            <a:off x="2814991" y="492743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8" name="Multiplication Sign 57">
            <a:extLst>
              <a:ext uri="{FF2B5EF4-FFF2-40B4-BE49-F238E27FC236}">
                <a16:creationId xmlns:a16="http://schemas.microsoft.com/office/drawing/2014/main" id="{D7797A7D-A53D-445B-83D9-E6F87E158D8A}"/>
              </a:ext>
            </a:extLst>
          </p:cNvPr>
          <p:cNvSpPr/>
          <p:nvPr/>
        </p:nvSpPr>
        <p:spPr>
          <a:xfrm>
            <a:off x="3001584" y="498311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9" name="Multiplication Sign 58">
            <a:extLst>
              <a:ext uri="{FF2B5EF4-FFF2-40B4-BE49-F238E27FC236}">
                <a16:creationId xmlns:a16="http://schemas.microsoft.com/office/drawing/2014/main" id="{F04259A7-0F6D-42EC-8C5D-95FCEC3D27AC}"/>
              </a:ext>
            </a:extLst>
          </p:cNvPr>
          <p:cNvSpPr/>
          <p:nvPr/>
        </p:nvSpPr>
        <p:spPr>
          <a:xfrm>
            <a:off x="2581277" y="502502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0" name="Multiplication Sign 59">
            <a:extLst>
              <a:ext uri="{FF2B5EF4-FFF2-40B4-BE49-F238E27FC236}">
                <a16:creationId xmlns:a16="http://schemas.microsoft.com/office/drawing/2014/main" id="{94EB638C-E7F1-4004-80EC-478EEFC35FEE}"/>
              </a:ext>
            </a:extLst>
          </p:cNvPr>
          <p:cNvSpPr/>
          <p:nvPr/>
        </p:nvSpPr>
        <p:spPr>
          <a:xfrm>
            <a:off x="2759372" y="510523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1" name="Multiplication Sign 60">
            <a:extLst>
              <a:ext uri="{FF2B5EF4-FFF2-40B4-BE49-F238E27FC236}">
                <a16:creationId xmlns:a16="http://schemas.microsoft.com/office/drawing/2014/main" id="{2BE96A4B-8646-4366-9E1B-D6C282A9CE32}"/>
              </a:ext>
            </a:extLst>
          </p:cNvPr>
          <p:cNvSpPr/>
          <p:nvPr/>
        </p:nvSpPr>
        <p:spPr>
          <a:xfrm>
            <a:off x="2952715" y="515871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2" name="Multiplication Sign 61">
            <a:extLst>
              <a:ext uri="{FF2B5EF4-FFF2-40B4-BE49-F238E27FC236}">
                <a16:creationId xmlns:a16="http://schemas.microsoft.com/office/drawing/2014/main" id="{5E1155E6-D9AD-485A-962E-C5B4A9B5E76E}"/>
              </a:ext>
            </a:extLst>
          </p:cNvPr>
          <p:cNvSpPr/>
          <p:nvPr/>
        </p:nvSpPr>
        <p:spPr>
          <a:xfrm>
            <a:off x="3128037" y="515931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3" name="Multiplication Sign 62">
            <a:extLst>
              <a:ext uri="{FF2B5EF4-FFF2-40B4-BE49-F238E27FC236}">
                <a16:creationId xmlns:a16="http://schemas.microsoft.com/office/drawing/2014/main" id="{87C352EA-E368-480B-BEDC-5A7A7C128583}"/>
              </a:ext>
            </a:extLst>
          </p:cNvPr>
          <p:cNvSpPr/>
          <p:nvPr/>
        </p:nvSpPr>
        <p:spPr>
          <a:xfrm>
            <a:off x="2581277" y="518636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4" name="Multiplication Sign 63">
            <a:extLst>
              <a:ext uri="{FF2B5EF4-FFF2-40B4-BE49-F238E27FC236}">
                <a16:creationId xmlns:a16="http://schemas.microsoft.com/office/drawing/2014/main" id="{62841493-C954-4587-8F9E-B048CF815917}"/>
              </a:ext>
            </a:extLst>
          </p:cNvPr>
          <p:cNvSpPr/>
          <p:nvPr/>
        </p:nvSpPr>
        <p:spPr>
          <a:xfrm>
            <a:off x="2342280" y="5169902"/>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5" name="Multiplication Sign 64">
            <a:extLst>
              <a:ext uri="{FF2B5EF4-FFF2-40B4-BE49-F238E27FC236}">
                <a16:creationId xmlns:a16="http://schemas.microsoft.com/office/drawing/2014/main" id="{3081BEFD-8D72-4FAB-BA38-EC0863A9FE8D}"/>
              </a:ext>
            </a:extLst>
          </p:cNvPr>
          <p:cNvSpPr/>
          <p:nvPr/>
        </p:nvSpPr>
        <p:spPr>
          <a:xfrm>
            <a:off x="3087665" y="611858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6" name="Multiplication Sign 65">
            <a:extLst>
              <a:ext uri="{FF2B5EF4-FFF2-40B4-BE49-F238E27FC236}">
                <a16:creationId xmlns:a16="http://schemas.microsoft.com/office/drawing/2014/main" id="{81A14A22-DB1F-4BE4-AF9D-907E2FAB600C}"/>
              </a:ext>
            </a:extLst>
          </p:cNvPr>
          <p:cNvSpPr/>
          <p:nvPr/>
        </p:nvSpPr>
        <p:spPr>
          <a:xfrm>
            <a:off x="2554762" y="5438114"/>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7" name="Multiplication Sign 66">
            <a:extLst>
              <a:ext uri="{FF2B5EF4-FFF2-40B4-BE49-F238E27FC236}">
                <a16:creationId xmlns:a16="http://schemas.microsoft.com/office/drawing/2014/main" id="{8C2BF33E-4CA9-4BD7-8D3A-074625862A0B}"/>
              </a:ext>
            </a:extLst>
          </p:cNvPr>
          <p:cNvSpPr/>
          <p:nvPr/>
        </p:nvSpPr>
        <p:spPr>
          <a:xfrm>
            <a:off x="2732039" y="564122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8" name="Multiplication Sign 67">
            <a:extLst>
              <a:ext uri="{FF2B5EF4-FFF2-40B4-BE49-F238E27FC236}">
                <a16:creationId xmlns:a16="http://schemas.microsoft.com/office/drawing/2014/main" id="{5D7CD02F-E741-47D3-97B8-E2EF0FC7939C}"/>
              </a:ext>
            </a:extLst>
          </p:cNvPr>
          <p:cNvSpPr/>
          <p:nvPr/>
        </p:nvSpPr>
        <p:spPr>
          <a:xfrm>
            <a:off x="2462426" y="562837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9" name="Multiplication Sign 68">
            <a:extLst>
              <a:ext uri="{FF2B5EF4-FFF2-40B4-BE49-F238E27FC236}">
                <a16:creationId xmlns:a16="http://schemas.microsoft.com/office/drawing/2014/main" id="{4BCA6BAF-43FB-47E6-B4CD-1BE18E739E5F}"/>
              </a:ext>
            </a:extLst>
          </p:cNvPr>
          <p:cNvSpPr/>
          <p:nvPr/>
        </p:nvSpPr>
        <p:spPr>
          <a:xfrm>
            <a:off x="2586784" y="5725367"/>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0" name="Multiplication Sign 69">
            <a:extLst>
              <a:ext uri="{FF2B5EF4-FFF2-40B4-BE49-F238E27FC236}">
                <a16:creationId xmlns:a16="http://schemas.microsoft.com/office/drawing/2014/main" id="{2BCE846A-C901-4A70-B6EF-92DAAC4A2E16}"/>
              </a:ext>
            </a:extLst>
          </p:cNvPr>
          <p:cNvSpPr/>
          <p:nvPr/>
        </p:nvSpPr>
        <p:spPr>
          <a:xfrm>
            <a:off x="2791500" y="587186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1" name="Multiplication Sign 70">
            <a:extLst>
              <a:ext uri="{FF2B5EF4-FFF2-40B4-BE49-F238E27FC236}">
                <a16:creationId xmlns:a16="http://schemas.microsoft.com/office/drawing/2014/main" id="{1CF4D09B-1B4F-4A37-ADE9-7B3845746C01}"/>
              </a:ext>
            </a:extLst>
          </p:cNvPr>
          <p:cNvSpPr/>
          <p:nvPr/>
        </p:nvSpPr>
        <p:spPr>
          <a:xfrm>
            <a:off x="2597693" y="593019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2" name="Multiplication Sign 71">
            <a:extLst>
              <a:ext uri="{FF2B5EF4-FFF2-40B4-BE49-F238E27FC236}">
                <a16:creationId xmlns:a16="http://schemas.microsoft.com/office/drawing/2014/main" id="{0E3A1DB3-0AB9-4C82-B0A8-D066CD0C5C02}"/>
              </a:ext>
            </a:extLst>
          </p:cNvPr>
          <p:cNvSpPr/>
          <p:nvPr/>
        </p:nvSpPr>
        <p:spPr>
          <a:xfrm>
            <a:off x="2406557" y="584692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3" name="Multiplication Sign 72">
            <a:extLst>
              <a:ext uri="{FF2B5EF4-FFF2-40B4-BE49-F238E27FC236}">
                <a16:creationId xmlns:a16="http://schemas.microsoft.com/office/drawing/2014/main" id="{ADBCEFC9-1FAA-424D-A89A-BA3D98985D80}"/>
              </a:ext>
            </a:extLst>
          </p:cNvPr>
          <p:cNvSpPr/>
          <p:nvPr/>
        </p:nvSpPr>
        <p:spPr>
          <a:xfrm>
            <a:off x="2285165" y="597695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4" name="Multiplication Sign 73">
            <a:extLst>
              <a:ext uri="{FF2B5EF4-FFF2-40B4-BE49-F238E27FC236}">
                <a16:creationId xmlns:a16="http://schemas.microsoft.com/office/drawing/2014/main" id="{876E19A6-9E8E-4826-A96A-6A84FC3803FF}"/>
              </a:ext>
            </a:extLst>
          </p:cNvPr>
          <p:cNvSpPr/>
          <p:nvPr/>
        </p:nvSpPr>
        <p:spPr>
          <a:xfrm>
            <a:off x="2477637" y="605264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5" name="Multiplication Sign 74">
            <a:extLst>
              <a:ext uri="{FF2B5EF4-FFF2-40B4-BE49-F238E27FC236}">
                <a16:creationId xmlns:a16="http://schemas.microsoft.com/office/drawing/2014/main" id="{760B3E66-76AE-4F0D-A0AA-A04ADC490EFC}"/>
              </a:ext>
            </a:extLst>
          </p:cNvPr>
          <p:cNvSpPr/>
          <p:nvPr/>
        </p:nvSpPr>
        <p:spPr>
          <a:xfrm>
            <a:off x="2667142" y="609275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6" name="Multiplication Sign 75">
            <a:extLst>
              <a:ext uri="{FF2B5EF4-FFF2-40B4-BE49-F238E27FC236}">
                <a16:creationId xmlns:a16="http://schemas.microsoft.com/office/drawing/2014/main" id="{3E37E302-66F8-42FC-AAA1-FD22C9406EB8}"/>
              </a:ext>
            </a:extLst>
          </p:cNvPr>
          <p:cNvSpPr/>
          <p:nvPr/>
        </p:nvSpPr>
        <p:spPr>
          <a:xfrm>
            <a:off x="2871858" y="605264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7" name="Multiplication Sign 76">
            <a:extLst>
              <a:ext uri="{FF2B5EF4-FFF2-40B4-BE49-F238E27FC236}">
                <a16:creationId xmlns:a16="http://schemas.microsoft.com/office/drawing/2014/main" id="{0BBC9EA7-C198-4A7E-9B83-27EE6586D7EA}"/>
              </a:ext>
            </a:extLst>
          </p:cNvPr>
          <p:cNvSpPr/>
          <p:nvPr/>
        </p:nvSpPr>
        <p:spPr>
          <a:xfrm>
            <a:off x="2080449" y="612031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8" name="Multiplication Sign 77">
            <a:extLst>
              <a:ext uri="{FF2B5EF4-FFF2-40B4-BE49-F238E27FC236}">
                <a16:creationId xmlns:a16="http://schemas.microsoft.com/office/drawing/2014/main" id="{25643046-2FD1-4D54-90F9-2574BA9D2C28}"/>
              </a:ext>
            </a:extLst>
          </p:cNvPr>
          <p:cNvSpPr/>
          <p:nvPr/>
        </p:nvSpPr>
        <p:spPr>
          <a:xfrm>
            <a:off x="2312371" y="614803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79" name="Text Placeholder 5">
                <a:extLst>
                  <a:ext uri="{FF2B5EF4-FFF2-40B4-BE49-F238E27FC236}">
                    <a16:creationId xmlns:a16="http://schemas.microsoft.com/office/drawing/2014/main" id="{A1A8640C-75FD-4AC2-8919-A9ED605E6F79}"/>
                  </a:ext>
                </a:extLst>
              </p:cNvPr>
              <p:cNvSpPr txBox="1">
                <a:spLocks/>
              </p:cNvSpPr>
              <p:nvPr/>
            </p:nvSpPr>
            <p:spPr>
              <a:xfrm>
                <a:off x="1630549" y="6471435"/>
                <a:ext cx="2359788" cy="3930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𝝁</m:t>
                      </m:r>
                    </m:oMath>
                  </m:oMathPara>
                </a14:m>
                <a:endParaRPr lang="en-NZ" altLang="ja-JP" sz="1600" b="1"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79" name="Text Placeholder 5">
                <a:extLst>
                  <a:ext uri="{FF2B5EF4-FFF2-40B4-BE49-F238E27FC236}">
                    <a16:creationId xmlns:a16="http://schemas.microsoft.com/office/drawing/2014/main" id="{A1A8640C-75FD-4AC2-8919-A9ED605E6F79}"/>
                  </a:ext>
                </a:extLst>
              </p:cNvPr>
              <p:cNvSpPr txBox="1">
                <a:spLocks noRot="1" noChangeAspect="1" noMove="1" noResize="1" noEditPoints="1" noAdjustHandles="1" noChangeArrowheads="1" noChangeShapeType="1" noTextEdit="1"/>
              </p:cNvSpPr>
              <p:nvPr/>
            </p:nvSpPr>
            <p:spPr>
              <a:xfrm>
                <a:off x="1630549" y="6471435"/>
                <a:ext cx="2359788" cy="393062"/>
              </a:xfrm>
              <a:prstGeom prst="rect">
                <a:avLst/>
              </a:prstGeom>
              <a:blipFill>
                <a:blip r:embed="rId10"/>
                <a:stretch>
                  <a:fillRect/>
                </a:stretch>
              </a:blipFill>
            </p:spPr>
            <p:txBody>
              <a:bodyPr/>
              <a:lstStyle/>
              <a:p>
                <a:r>
                  <a:rPr lang="en-NZ">
                    <a:noFill/>
                  </a:rPr>
                  <a:t> </a:t>
                </a:r>
              </a:p>
            </p:txBody>
          </p:sp>
        </mc:Fallback>
      </mc:AlternateContent>
      <p:sp>
        <p:nvSpPr>
          <p:cNvPr id="80" name="Text Placeholder 5">
            <a:extLst>
              <a:ext uri="{FF2B5EF4-FFF2-40B4-BE49-F238E27FC236}">
                <a16:creationId xmlns:a16="http://schemas.microsoft.com/office/drawing/2014/main" id="{CA7572FC-C9DB-4589-B79A-A80B4F80F877}"/>
              </a:ext>
            </a:extLst>
          </p:cNvPr>
          <p:cNvSpPr txBox="1">
            <a:spLocks/>
          </p:cNvSpPr>
          <p:nvPr/>
        </p:nvSpPr>
        <p:spPr>
          <a:xfrm>
            <a:off x="6250051" y="2618038"/>
            <a:ext cx="5088342" cy="13535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tx1"/>
                </a:solidFill>
              </a:rPr>
              <a:t>If </a:t>
            </a:r>
            <a:r>
              <a:rPr lang="en-NZ" altLang="ja-JP" sz="1400" b="1" i="1" dirty="0">
                <a:solidFill>
                  <a:schemeClr val="tx1"/>
                </a:solidFill>
              </a:rPr>
              <a:t>H</a:t>
            </a:r>
            <a:r>
              <a:rPr lang="en-NZ" altLang="ja-JP" sz="1400" b="1" i="1" baseline="-25000" dirty="0">
                <a:solidFill>
                  <a:schemeClr val="tx1"/>
                </a:solidFill>
              </a:rPr>
              <a:t>1</a:t>
            </a:r>
            <a:r>
              <a:rPr lang="en-NZ" altLang="ja-JP" sz="1400" dirty="0">
                <a:solidFill>
                  <a:schemeClr val="tx1"/>
                </a:solidFill>
              </a:rPr>
              <a:t> is true, there really are differences between the means of the different groups</a:t>
            </a:r>
          </a:p>
          <a:p>
            <a:pPr algn="just">
              <a:lnSpc>
                <a:spcPct val="100000"/>
              </a:lnSpc>
            </a:pPr>
            <a:endParaRPr lang="en-NZ" altLang="ja-JP" sz="1400" dirty="0">
              <a:solidFill>
                <a:schemeClr val="tx1"/>
              </a:solidFill>
            </a:endParaRPr>
          </a:p>
          <a:p>
            <a:pPr marL="285750" indent="-285750" algn="just">
              <a:lnSpc>
                <a:spcPct val="100000"/>
              </a:lnSpc>
              <a:buFont typeface="Symbol" panose="05050102010706020507" pitchFamily="18" charset="2"/>
              <a:buChar char="Þ"/>
            </a:pP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between</a:t>
            </a:r>
            <a:r>
              <a:rPr lang="en-NZ" altLang="ja-JP" sz="1400" dirty="0">
                <a:solidFill>
                  <a:schemeClr val="tx1"/>
                </a:solidFill>
              </a:rPr>
              <a:t> group means and the overall mean </a:t>
            </a:r>
            <a:br>
              <a:rPr lang="en-NZ" altLang="ja-JP" sz="1400" dirty="0">
                <a:solidFill>
                  <a:schemeClr val="tx1"/>
                </a:solidFill>
              </a:rPr>
            </a:br>
            <a:r>
              <a:rPr lang="en-NZ" altLang="ja-JP" sz="1400" dirty="0">
                <a:solidFill>
                  <a:schemeClr val="tx1"/>
                </a:solidFill>
              </a:rPr>
              <a:t>will be </a:t>
            </a:r>
            <a:r>
              <a:rPr lang="en-NZ" altLang="ja-JP" sz="1400" b="1" dirty="0">
                <a:solidFill>
                  <a:schemeClr val="tx1"/>
                </a:solidFill>
              </a:rPr>
              <a:t>greater</a:t>
            </a:r>
            <a:r>
              <a:rPr lang="en-NZ" altLang="ja-JP" sz="1400" dirty="0">
                <a:solidFill>
                  <a:schemeClr val="tx1"/>
                </a:solidFill>
              </a:rPr>
              <a:t> than </a:t>
            </a: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within</a:t>
            </a:r>
            <a:r>
              <a:rPr lang="en-NZ" altLang="ja-JP" sz="1400" dirty="0">
                <a:solidFill>
                  <a:schemeClr val="tx1"/>
                </a:solidFill>
              </a:rPr>
              <a:t> groups.</a:t>
            </a:r>
          </a:p>
          <a:p>
            <a:pPr marL="285750" indent="-285750" algn="just">
              <a:lnSpc>
                <a:spcPct val="100000"/>
              </a:lnSpc>
              <a:buFont typeface="Symbol" panose="05050102010706020507" pitchFamily="18" charset="2"/>
              <a:buChar char="Þ"/>
            </a:pPr>
            <a:endParaRPr lang="en-NZ" altLang="ja-JP" sz="1400" dirty="0">
              <a:solidFill>
                <a:schemeClr val="tx1"/>
              </a:solidFill>
            </a:endParaRPr>
          </a:p>
          <a:p>
            <a:pPr algn="just">
              <a:lnSpc>
                <a:spcPct val="100000"/>
              </a:lnSpc>
            </a:pPr>
            <a:r>
              <a:rPr lang="en-NZ" altLang="ja-JP" sz="1400" dirty="0">
                <a:solidFill>
                  <a:schemeClr val="tx1"/>
                </a:solidFill>
              </a:rPr>
              <a:t>  </a:t>
            </a: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p:pic>
        <p:nvPicPr>
          <p:cNvPr id="81" name="Picture 80">
            <a:extLst>
              <a:ext uri="{FF2B5EF4-FFF2-40B4-BE49-F238E27FC236}">
                <a16:creationId xmlns:a16="http://schemas.microsoft.com/office/drawing/2014/main" id="{B3D3C60F-1113-48C6-B247-BED3C0B04AB3}"/>
              </a:ext>
            </a:extLst>
          </p:cNvPr>
          <p:cNvPicPr>
            <a:picLocks noChangeAspect="1"/>
          </p:cNvPicPr>
          <p:nvPr/>
        </p:nvPicPr>
        <p:blipFill>
          <a:blip r:embed="rId9"/>
          <a:stretch>
            <a:fillRect/>
          </a:stretch>
        </p:blipFill>
        <p:spPr>
          <a:xfrm>
            <a:off x="9711913" y="3861241"/>
            <a:ext cx="1287154" cy="775868"/>
          </a:xfrm>
          <a:prstGeom prst="rect">
            <a:avLst/>
          </a:prstGeom>
        </p:spPr>
      </p:pic>
      <p:pic>
        <p:nvPicPr>
          <p:cNvPr id="82" name="Picture 81">
            <a:extLst>
              <a:ext uri="{FF2B5EF4-FFF2-40B4-BE49-F238E27FC236}">
                <a16:creationId xmlns:a16="http://schemas.microsoft.com/office/drawing/2014/main" id="{47C686D3-CD40-42DC-B3C2-AEA1457DBC9B}"/>
              </a:ext>
            </a:extLst>
          </p:cNvPr>
          <p:cNvPicPr>
            <a:picLocks noChangeAspect="1"/>
          </p:cNvPicPr>
          <p:nvPr/>
        </p:nvPicPr>
        <p:blipFill>
          <a:blip r:embed="rId9"/>
          <a:stretch>
            <a:fillRect/>
          </a:stretch>
        </p:blipFill>
        <p:spPr>
          <a:xfrm>
            <a:off x="6543820" y="4576701"/>
            <a:ext cx="1287154" cy="775868"/>
          </a:xfrm>
          <a:prstGeom prst="rect">
            <a:avLst/>
          </a:prstGeom>
        </p:spPr>
      </p:pic>
      <p:pic>
        <p:nvPicPr>
          <p:cNvPr id="83" name="Picture 82">
            <a:extLst>
              <a:ext uri="{FF2B5EF4-FFF2-40B4-BE49-F238E27FC236}">
                <a16:creationId xmlns:a16="http://schemas.microsoft.com/office/drawing/2014/main" id="{D38C3BED-6005-4040-A9B2-BDD5DE9B2091}"/>
              </a:ext>
            </a:extLst>
          </p:cNvPr>
          <p:cNvPicPr>
            <a:picLocks noChangeAspect="1"/>
          </p:cNvPicPr>
          <p:nvPr/>
        </p:nvPicPr>
        <p:blipFill>
          <a:blip r:embed="rId9"/>
          <a:stretch>
            <a:fillRect/>
          </a:stretch>
        </p:blipFill>
        <p:spPr>
          <a:xfrm>
            <a:off x="8246946" y="5555999"/>
            <a:ext cx="1287154" cy="775868"/>
          </a:xfrm>
          <a:prstGeom prst="rect">
            <a:avLst/>
          </a:prstGeom>
        </p:spPr>
      </p:pic>
      <p:cxnSp>
        <p:nvCxnSpPr>
          <p:cNvPr id="84" name="Straight Connector 83">
            <a:extLst>
              <a:ext uri="{FF2B5EF4-FFF2-40B4-BE49-F238E27FC236}">
                <a16:creationId xmlns:a16="http://schemas.microsoft.com/office/drawing/2014/main" id="{5F18C36D-8A31-4208-9890-D440A2E6A40F}"/>
              </a:ext>
            </a:extLst>
          </p:cNvPr>
          <p:cNvCxnSpPr>
            <a:cxnSpLocks/>
          </p:cNvCxnSpPr>
          <p:nvPr/>
        </p:nvCxnSpPr>
        <p:spPr>
          <a:xfrm>
            <a:off x="8890523" y="3845158"/>
            <a:ext cx="0" cy="27181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0F058D-D915-4226-B0EA-E9DF34E52E9E}"/>
              </a:ext>
            </a:extLst>
          </p:cNvPr>
          <p:cNvCxnSpPr>
            <a:cxnSpLocks/>
          </p:cNvCxnSpPr>
          <p:nvPr/>
        </p:nvCxnSpPr>
        <p:spPr>
          <a:xfrm>
            <a:off x="6082496" y="6391746"/>
            <a:ext cx="56160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Multiplication Sign 85">
            <a:extLst>
              <a:ext uri="{FF2B5EF4-FFF2-40B4-BE49-F238E27FC236}">
                <a16:creationId xmlns:a16="http://schemas.microsoft.com/office/drawing/2014/main" id="{DA75A986-19AD-4851-8959-418557A56EAF}"/>
              </a:ext>
            </a:extLst>
          </p:cNvPr>
          <p:cNvSpPr/>
          <p:nvPr/>
        </p:nvSpPr>
        <p:spPr>
          <a:xfrm>
            <a:off x="10355490" y="400671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7" name="Multiplication Sign 86">
            <a:extLst>
              <a:ext uri="{FF2B5EF4-FFF2-40B4-BE49-F238E27FC236}">
                <a16:creationId xmlns:a16="http://schemas.microsoft.com/office/drawing/2014/main" id="{22E625BA-A93E-4B86-A6CD-F936DD8F0994}"/>
              </a:ext>
            </a:extLst>
          </p:cNvPr>
          <p:cNvSpPr/>
          <p:nvPr/>
        </p:nvSpPr>
        <p:spPr>
          <a:xfrm>
            <a:off x="7085039" y="453161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8" name="Multiplication Sign 87">
            <a:extLst>
              <a:ext uri="{FF2B5EF4-FFF2-40B4-BE49-F238E27FC236}">
                <a16:creationId xmlns:a16="http://schemas.microsoft.com/office/drawing/2014/main" id="{7E14A057-ED71-43CA-89A8-B1329319FF0F}"/>
              </a:ext>
            </a:extLst>
          </p:cNvPr>
          <p:cNvSpPr/>
          <p:nvPr/>
        </p:nvSpPr>
        <p:spPr>
          <a:xfrm>
            <a:off x="8788165" y="5495579"/>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9" name="Multiplication Sign 88">
            <a:extLst>
              <a:ext uri="{FF2B5EF4-FFF2-40B4-BE49-F238E27FC236}">
                <a16:creationId xmlns:a16="http://schemas.microsoft.com/office/drawing/2014/main" id="{DE547FE2-5B94-425B-BAE5-10CCC9BE9354}"/>
              </a:ext>
            </a:extLst>
          </p:cNvPr>
          <p:cNvSpPr/>
          <p:nvPr/>
        </p:nvSpPr>
        <p:spPr>
          <a:xfrm>
            <a:off x="10253132" y="380921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0" name="Multiplication Sign 89">
            <a:extLst>
              <a:ext uri="{FF2B5EF4-FFF2-40B4-BE49-F238E27FC236}">
                <a16:creationId xmlns:a16="http://schemas.microsoft.com/office/drawing/2014/main" id="{CC4EE0AE-16FD-44CC-AE5F-12C545D4622B}"/>
              </a:ext>
            </a:extLst>
          </p:cNvPr>
          <p:cNvSpPr/>
          <p:nvPr/>
        </p:nvSpPr>
        <p:spPr>
          <a:xfrm>
            <a:off x="10150774" y="4003185"/>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1" name="Multiplication Sign 90">
            <a:extLst>
              <a:ext uri="{FF2B5EF4-FFF2-40B4-BE49-F238E27FC236}">
                <a16:creationId xmlns:a16="http://schemas.microsoft.com/office/drawing/2014/main" id="{44A5F26F-0396-4DC8-BF3A-E5848C43B96B}"/>
              </a:ext>
            </a:extLst>
          </p:cNvPr>
          <p:cNvSpPr/>
          <p:nvPr/>
        </p:nvSpPr>
        <p:spPr>
          <a:xfrm>
            <a:off x="10246897" y="422109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2" name="Multiplication Sign 91">
            <a:extLst>
              <a:ext uri="{FF2B5EF4-FFF2-40B4-BE49-F238E27FC236}">
                <a16:creationId xmlns:a16="http://schemas.microsoft.com/office/drawing/2014/main" id="{ABA6EB69-DE5E-4FC1-B6BF-133070976D8E}"/>
              </a:ext>
            </a:extLst>
          </p:cNvPr>
          <p:cNvSpPr/>
          <p:nvPr/>
        </p:nvSpPr>
        <p:spPr>
          <a:xfrm>
            <a:off x="10003849" y="422109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3" name="Multiplication Sign 92">
            <a:extLst>
              <a:ext uri="{FF2B5EF4-FFF2-40B4-BE49-F238E27FC236}">
                <a16:creationId xmlns:a16="http://schemas.microsoft.com/office/drawing/2014/main" id="{04167469-1356-4ACA-A5A7-F50E9B82FE24}"/>
              </a:ext>
            </a:extLst>
          </p:cNvPr>
          <p:cNvSpPr/>
          <p:nvPr/>
        </p:nvSpPr>
        <p:spPr>
          <a:xfrm>
            <a:off x="10263795" y="439817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4" name="Multiplication Sign 93">
            <a:extLst>
              <a:ext uri="{FF2B5EF4-FFF2-40B4-BE49-F238E27FC236}">
                <a16:creationId xmlns:a16="http://schemas.microsoft.com/office/drawing/2014/main" id="{6DA454BB-66E5-472B-A8EB-8792DB9062B7}"/>
              </a:ext>
            </a:extLst>
          </p:cNvPr>
          <p:cNvSpPr/>
          <p:nvPr/>
        </p:nvSpPr>
        <p:spPr>
          <a:xfrm>
            <a:off x="10483970" y="439828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5" name="Multiplication Sign 94">
            <a:extLst>
              <a:ext uri="{FF2B5EF4-FFF2-40B4-BE49-F238E27FC236}">
                <a16:creationId xmlns:a16="http://schemas.microsoft.com/office/drawing/2014/main" id="{DAF847E5-FD8C-4F45-9CD4-53A5629BFF89}"/>
              </a:ext>
            </a:extLst>
          </p:cNvPr>
          <p:cNvSpPr/>
          <p:nvPr/>
        </p:nvSpPr>
        <p:spPr>
          <a:xfrm>
            <a:off x="10698605" y="4410386"/>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6" name="Multiplication Sign 95">
            <a:extLst>
              <a:ext uri="{FF2B5EF4-FFF2-40B4-BE49-F238E27FC236}">
                <a16:creationId xmlns:a16="http://schemas.microsoft.com/office/drawing/2014/main" id="{B4BE1058-49AC-4132-A6E6-BE8804394445}"/>
              </a:ext>
            </a:extLst>
          </p:cNvPr>
          <p:cNvSpPr/>
          <p:nvPr/>
        </p:nvSpPr>
        <p:spPr>
          <a:xfrm>
            <a:off x="10058334" y="4410780"/>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7" name="Multiplication Sign 96">
            <a:extLst>
              <a:ext uri="{FF2B5EF4-FFF2-40B4-BE49-F238E27FC236}">
                <a16:creationId xmlns:a16="http://schemas.microsoft.com/office/drawing/2014/main" id="{F2ACE632-176E-4947-975A-3E140655FAFD}"/>
              </a:ext>
            </a:extLst>
          </p:cNvPr>
          <p:cNvSpPr/>
          <p:nvPr/>
        </p:nvSpPr>
        <p:spPr>
          <a:xfrm>
            <a:off x="9855182" y="4410780"/>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8" name="Multiplication Sign 97">
            <a:extLst>
              <a:ext uri="{FF2B5EF4-FFF2-40B4-BE49-F238E27FC236}">
                <a16:creationId xmlns:a16="http://schemas.microsoft.com/office/drawing/2014/main" id="{E8006963-986C-414C-8A81-C000BBC00DD5}"/>
              </a:ext>
            </a:extLst>
          </p:cNvPr>
          <p:cNvSpPr/>
          <p:nvPr/>
        </p:nvSpPr>
        <p:spPr>
          <a:xfrm>
            <a:off x="6980084" y="473806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9" name="Multiplication Sign 98">
            <a:extLst>
              <a:ext uri="{FF2B5EF4-FFF2-40B4-BE49-F238E27FC236}">
                <a16:creationId xmlns:a16="http://schemas.microsoft.com/office/drawing/2014/main" id="{D7A09082-27B5-4E91-A602-E3E0893A6ABC}"/>
              </a:ext>
            </a:extLst>
          </p:cNvPr>
          <p:cNvSpPr/>
          <p:nvPr/>
        </p:nvSpPr>
        <p:spPr>
          <a:xfrm>
            <a:off x="7199514" y="473806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0" name="Multiplication Sign 99">
            <a:extLst>
              <a:ext uri="{FF2B5EF4-FFF2-40B4-BE49-F238E27FC236}">
                <a16:creationId xmlns:a16="http://schemas.microsoft.com/office/drawing/2014/main" id="{E033EEF3-C6F2-40CF-A369-D976AF81CDE0}"/>
              </a:ext>
            </a:extLst>
          </p:cNvPr>
          <p:cNvSpPr/>
          <p:nvPr/>
        </p:nvSpPr>
        <p:spPr>
          <a:xfrm>
            <a:off x="7082442" y="492997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1" name="Multiplication Sign 100">
            <a:extLst>
              <a:ext uri="{FF2B5EF4-FFF2-40B4-BE49-F238E27FC236}">
                <a16:creationId xmlns:a16="http://schemas.microsoft.com/office/drawing/2014/main" id="{16FCBD36-B026-4C5E-B01B-7209AED75435}"/>
              </a:ext>
            </a:extLst>
          </p:cNvPr>
          <p:cNvSpPr/>
          <p:nvPr/>
        </p:nvSpPr>
        <p:spPr>
          <a:xfrm>
            <a:off x="7316586" y="4955250"/>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2" name="Multiplication Sign 101">
            <a:extLst>
              <a:ext uri="{FF2B5EF4-FFF2-40B4-BE49-F238E27FC236}">
                <a16:creationId xmlns:a16="http://schemas.microsoft.com/office/drawing/2014/main" id="{281553C2-0208-4670-9F63-748C46B9AB2B}"/>
              </a:ext>
            </a:extLst>
          </p:cNvPr>
          <p:cNvSpPr/>
          <p:nvPr/>
        </p:nvSpPr>
        <p:spPr>
          <a:xfrm>
            <a:off x="6852705" y="496738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3" name="Multiplication Sign 102">
            <a:extLst>
              <a:ext uri="{FF2B5EF4-FFF2-40B4-BE49-F238E27FC236}">
                <a16:creationId xmlns:a16="http://schemas.microsoft.com/office/drawing/2014/main" id="{D8B00C38-BA2C-499A-B04D-B1A7D4613BF1}"/>
              </a:ext>
            </a:extLst>
          </p:cNvPr>
          <p:cNvSpPr/>
          <p:nvPr/>
        </p:nvSpPr>
        <p:spPr>
          <a:xfrm>
            <a:off x="7523079" y="514958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4" name="Multiplication Sign 103">
            <a:extLst>
              <a:ext uri="{FF2B5EF4-FFF2-40B4-BE49-F238E27FC236}">
                <a16:creationId xmlns:a16="http://schemas.microsoft.com/office/drawing/2014/main" id="{8509BF52-63DE-4F88-BF7B-542598481819}"/>
              </a:ext>
            </a:extLst>
          </p:cNvPr>
          <p:cNvSpPr/>
          <p:nvPr/>
        </p:nvSpPr>
        <p:spPr>
          <a:xfrm>
            <a:off x="7290570" y="514716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5" name="Multiplication Sign 104">
            <a:extLst>
              <a:ext uri="{FF2B5EF4-FFF2-40B4-BE49-F238E27FC236}">
                <a16:creationId xmlns:a16="http://schemas.microsoft.com/office/drawing/2014/main" id="{9FFDE779-39C8-47F2-BA54-1792ACE87AE0}"/>
              </a:ext>
            </a:extLst>
          </p:cNvPr>
          <p:cNvSpPr/>
          <p:nvPr/>
        </p:nvSpPr>
        <p:spPr>
          <a:xfrm>
            <a:off x="7072135" y="514716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6" name="Multiplication Sign 105">
            <a:extLst>
              <a:ext uri="{FF2B5EF4-FFF2-40B4-BE49-F238E27FC236}">
                <a16:creationId xmlns:a16="http://schemas.microsoft.com/office/drawing/2014/main" id="{A8CFA458-00CA-41BF-A146-F11E132EDA4F}"/>
              </a:ext>
            </a:extLst>
          </p:cNvPr>
          <p:cNvSpPr/>
          <p:nvPr/>
        </p:nvSpPr>
        <p:spPr>
          <a:xfrm>
            <a:off x="6852705" y="5135096"/>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7" name="Multiplication Sign 106">
            <a:extLst>
              <a:ext uri="{FF2B5EF4-FFF2-40B4-BE49-F238E27FC236}">
                <a16:creationId xmlns:a16="http://schemas.microsoft.com/office/drawing/2014/main" id="{3C26A11B-EA9B-4467-9D7F-2BD6D0AC8C24}"/>
              </a:ext>
            </a:extLst>
          </p:cNvPr>
          <p:cNvSpPr/>
          <p:nvPr/>
        </p:nvSpPr>
        <p:spPr>
          <a:xfrm>
            <a:off x="6647989" y="517243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8" name="Multiplication Sign 107">
            <a:extLst>
              <a:ext uri="{FF2B5EF4-FFF2-40B4-BE49-F238E27FC236}">
                <a16:creationId xmlns:a16="http://schemas.microsoft.com/office/drawing/2014/main" id="{39A891D1-8FDC-43F8-9ACB-62C4899A2D20}"/>
              </a:ext>
            </a:extLst>
          </p:cNvPr>
          <p:cNvSpPr/>
          <p:nvPr/>
        </p:nvSpPr>
        <p:spPr>
          <a:xfrm>
            <a:off x="8929051" y="568397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9" name="Multiplication Sign 108">
            <a:extLst>
              <a:ext uri="{FF2B5EF4-FFF2-40B4-BE49-F238E27FC236}">
                <a16:creationId xmlns:a16="http://schemas.microsoft.com/office/drawing/2014/main" id="{8CA4EB53-EA4A-4F68-B812-75ED24E83BE7}"/>
              </a:ext>
            </a:extLst>
          </p:cNvPr>
          <p:cNvSpPr/>
          <p:nvPr/>
        </p:nvSpPr>
        <p:spPr>
          <a:xfrm>
            <a:off x="10468511" y="419696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0" name="Multiplication Sign 109">
            <a:extLst>
              <a:ext uri="{FF2B5EF4-FFF2-40B4-BE49-F238E27FC236}">
                <a16:creationId xmlns:a16="http://schemas.microsoft.com/office/drawing/2014/main" id="{ABF985ED-5F05-4949-87BE-9343749C848D}"/>
              </a:ext>
            </a:extLst>
          </p:cNvPr>
          <p:cNvSpPr/>
          <p:nvPr/>
        </p:nvSpPr>
        <p:spPr>
          <a:xfrm>
            <a:off x="8634628" y="5678139"/>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1" name="Multiplication Sign 110">
            <a:extLst>
              <a:ext uri="{FF2B5EF4-FFF2-40B4-BE49-F238E27FC236}">
                <a16:creationId xmlns:a16="http://schemas.microsoft.com/office/drawing/2014/main" id="{9B2C505A-B3A4-4C42-98F2-A1BDFE50DB6B}"/>
              </a:ext>
            </a:extLst>
          </p:cNvPr>
          <p:cNvSpPr/>
          <p:nvPr/>
        </p:nvSpPr>
        <p:spPr>
          <a:xfrm>
            <a:off x="8788165" y="590290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2" name="Multiplication Sign 111">
            <a:extLst>
              <a:ext uri="{FF2B5EF4-FFF2-40B4-BE49-F238E27FC236}">
                <a16:creationId xmlns:a16="http://schemas.microsoft.com/office/drawing/2014/main" id="{41073D2D-AFDE-4D12-8886-CBDB72A69E4E}"/>
              </a:ext>
            </a:extLst>
          </p:cNvPr>
          <p:cNvSpPr/>
          <p:nvPr/>
        </p:nvSpPr>
        <p:spPr>
          <a:xfrm>
            <a:off x="9022310" y="590290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3" name="Multiplication Sign 112">
            <a:extLst>
              <a:ext uri="{FF2B5EF4-FFF2-40B4-BE49-F238E27FC236}">
                <a16:creationId xmlns:a16="http://schemas.microsoft.com/office/drawing/2014/main" id="{07082010-56E0-4F07-ABC0-4081AF740DDF}"/>
              </a:ext>
            </a:extLst>
          </p:cNvPr>
          <p:cNvSpPr/>
          <p:nvPr/>
        </p:nvSpPr>
        <p:spPr>
          <a:xfrm>
            <a:off x="8532270" y="591566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4" name="Multiplication Sign 113">
            <a:extLst>
              <a:ext uri="{FF2B5EF4-FFF2-40B4-BE49-F238E27FC236}">
                <a16:creationId xmlns:a16="http://schemas.microsoft.com/office/drawing/2014/main" id="{6E3CB912-806C-468D-930F-E37E9E604719}"/>
              </a:ext>
            </a:extLst>
          </p:cNvPr>
          <p:cNvSpPr/>
          <p:nvPr/>
        </p:nvSpPr>
        <p:spPr>
          <a:xfrm>
            <a:off x="9181533" y="606344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5" name="Multiplication Sign 114">
            <a:extLst>
              <a:ext uri="{FF2B5EF4-FFF2-40B4-BE49-F238E27FC236}">
                <a16:creationId xmlns:a16="http://schemas.microsoft.com/office/drawing/2014/main" id="{4E0DE76D-7965-41DD-B323-891BB8126954}"/>
              </a:ext>
            </a:extLst>
          </p:cNvPr>
          <p:cNvSpPr/>
          <p:nvPr/>
        </p:nvSpPr>
        <p:spPr>
          <a:xfrm>
            <a:off x="8941702" y="609130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6" name="Multiplication Sign 115">
            <a:extLst>
              <a:ext uri="{FF2B5EF4-FFF2-40B4-BE49-F238E27FC236}">
                <a16:creationId xmlns:a16="http://schemas.microsoft.com/office/drawing/2014/main" id="{E688B4BF-57EB-4AB5-8FBD-2152A799B04A}"/>
              </a:ext>
            </a:extLst>
          </p:cNvPr>
          <p:cNvSpPr/>
          <p:nvPr/>
        </p:nvSpPr>
        <p:spPr>
          <a:xfrm>
            <a:off x="8766344" y="609130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7" name="Multiplication Sign 116">
            <a:extLst>
              <a:ext uri="{FF2B5EF4-FFF2-40B4-BE49-F238E27FC236}">
                <a16:creationId xmlns:a16="http://schemas.microsoft.com/office/drawing/2014/main" id="{D20D5A96-820C-45DE-AE93-FC2E289945C7}"/>
              </a:ext>
            </a:extLst>
          </p:cNvPr>
          <p:cNvSpPr/>
          <p:nvPr/>
        </p:nvSpPr>
        <p:spPr>
          <a:xfrm>
            <a:off x="8572538" y="6118394"/>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8" name="Multiplication Sign 117">
            <a:extLst>
              <a:ext uri="{FF2B5EF4-FFF2-40B4-BE49-F238E27FC236}">
                <a16:creationId xmlns:a16="http://schemas.microsoft.com/office/drawing/2014/main" id="{1F1ED69E-0C89-40CA-90DA-8C27445A5230}"/>
              </a:ext>
            </a:extLst>
          </p:cNvPr>
          <p:cNvSpPr/>
          <p:nvPr/>
        </p:nvSpPr>
        <p:spPr>
          <a:xfrm>
            <a:off x="8393412" y="614726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19" name="Straight Arrow Connector 118">
            <a:extLst>
              <a:ext uri="{FF2B5EF4-FFF2-40B4-BE49-F238E27FC236}">
                <a16:creationId xmlns:a16="http://schemas.microsoft.com/office/drawing/2014/main" id="{8986CB9F-7544-408B-AF8F-33D0322657F9}"/>
              </a:ext>
            </a:extLst>
          </p:cNvPr>
          <p:cNvCxnSpPr>
            <a:cxnSpLocks/>
          </p:cNvCxnSpPr>
          <p:nvPr/>
        </p:nvCxnSpPr>
        <p:spPr>
          <a:xfrm flipV="1">
            <a:off x="8906567" y="4186931"/>
            <a:ext cx="1465821" cy="214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D8F2A2B-6720-47B0-B50C-E9CB24812E94}"/>
              </a:ext>
            </a:extLst>
          </p:cNvPr>
          <p:cNvCxnSpPr>
            <a:cxnSpLocks/>
            <a:endCxn id="99" idx="3"/>
          </p:cNvCxnSpPr>
          <p:nvPr/>
        </p:nvCxnSpPr>
        <p:spPr>
          <a:xfrm flipH="1">
            <a:off x="7248682" y="4906408"/>
            <a:ext cx="1631438" cy="1588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Text Placeholder 5">
                <a:extLst>
                  <a:ext uri="{FF2B5EF4-FFF2-40B4-BE49-F238E27FC236}">
                    <a16:creationId xmlns:a16="http://schemas.microsoft.com/office/drawing/2014/main" id="{824FE1CA-E3B7-4635-83EE-B9118B769A83}"/>
                  </a:ext>
                </a:extLst>
              </p:cNvPr>
              <p:cNvSpPr txBox="1">
                <a:spLocks/>
              </p:cNvSpPr>
              <p:nvPr/>
            </p:nvSpPr>
            <p:spPr>
              <a:xfrm>
                <a:off x="7778602" y="4455021"/>
                <a:ext cx="89403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𝛼</m:t>
                        </m:r>
                      </m:e>
                      <m:sub>
                        <m:r>
                          <a:rPr lang="en-NZ" altLang="ja-JP" sz="1800" b="0" i="1" smtClean="0">
                            <a:solidFill>
                              <a:schemeClr val="tx1"/>
                            </a:solidFill>
                            <a:latin typeface="Cambria Math" panose="02040503050406030204" pitchFamily="18" charset="0"/>
                          </a:rPr>
                          <m:t>2</m:t>
                        </m:r>
                      </m:sub>
                    </m:sSub>
                    <m:r>
                      <a:rPr lang="en-NZ" altLang="ja-JP" sz="1800" b="0" i="1" smtClean="0">
                        <a:solidFill>
                          <a:schemeClr val="tx1"/>
                        </a:solidFill>
                        <a:latin typeface="Cambria Math" panose="02040503050406030204" pitchFamily="18" charset="0"/>
                      </a:rPr>
                      <m:t>&lt;0</m:t>
                    </m:r>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1" name="Text Placeholder 5">
                <a:extLst>
                  <a:ext uri="{FF2B5EF4-FFF2-40B4-BE49-F238E27FC236}">
                    <a16:creationId xmlns:a16="http://schemas.microsoft.com/office/drawing/2014/main" id="{824FE1CA-E3B7-4635-83EE-B9118B769A83}"/>
                  </a:ext>
                </a:extLst>
              </p:cNvPr>
              <p:cNvSpPr txBox="1">
                <a:spLocks noRot="1" noChangeAspect="1" noMove="1" noResize="1" noEditPoints="1" noAdjustHandles="1" noChangeArrowheads="1" noChangeShapeType="1" noTextEdit="1"/>
              </p:cNvSpPr>
              <p:nvPr/>
            </p:nvSpPr>
            <p:spPr>
              <a:xfrm>
                <a:off x="7778602" y="4455021"/>
                <a:ext cx="894033" cy="474953"/>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2" name="Text Placeholder 5">
                <a:extLst>
                  <a:ext uri="{FF2B5EF4-FFF2-40B4-BE49-F238E27FC236}">
                    <a16:creationId xmlns:a16="http://schemas.microsoft.com/office/drawing/2014/main" id="{BF70E587-4684-4378-A048-EA1A6717210C}"/>
                  </a:ext>
                </a:extLst>
              </p:cNvPr>
              <p:cNvSpPr txBox="1">
                <a:spLocks/>
              </p:cNvSpPr>
              <p:nvPr/>
            </p:nvSpPr>
            <p:spPr>
              <a:xfrm>
                <a:off x="9107275" y="3801362"/>
                <a:ext cx="89403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𝛼</m:t>
                        </m:r>
                      </m:e>
                      <m:sub>
                        <m:r>
                          <a:rPr lang="en-NZ" altLang="ja-JP" sz="1800" b="0" i="1" smtClean="0">
                            <a:solidFill>
                              <a:schemeClr val="tx1"/>
                            </a:solidFill>
                            <a:latin typeface="Cambria Math" panose="02040503050406030204" pitchFamily="18" charset="0"/>
                          </a:rPr>
                          <m:t>1</m:t>
                        </m:r>
                      </m:sub>
                    </m:sSub>
                    <m:r>
                      <a:rPr lang="en-NZ" altLang="ja-JP" sz="1800" b="0" i="1" smtClean="0">
                        <a:solidFill>
                          <a:schemeClr val="tx1"/>
                        </a:solidFill>
                        <a:latin typeface="Cambria Math" panose="02040503050406030204" pitchFamily="18" charset="0"/>
                      </a:rPr>
                      <m:t>&gt;0</m:t>
                    </m:r>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2" name="Text Placeholder 5">
                <a:extLst>
                  <a:ext uri="{FF2B5EF4-FFF2-40B4-BE49-F238E27FC236}">
                    <a16:creationId xmlns:a16="http://schemas.microsoft.com/office/drawing/2014/main" id="{BF70E587-4684-4378-A048-EA1A6717210C}"/>
                  </a:ext>
                </a:extLst>
              </p:cNvPr>
              <p:cNvSpPr txBox="1">
                <a:spLocks noRot="1" noChangeAspect="1" noMove="1" noResize="1" noEditPoints="1" noAdjustHandles="1" noChangeArrowheads="1" noChangeShapeType="1" noTextEdit="1"/>
              </p:cNvSpPr>
              <p:nvPr/>
            </p:nvSpPr>
            <p:spPr>
              <a:xfrm>
                <a:off x="9107275" y="3801362"/>
                <a:ext cx="894033" cy="474953"/>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3" name="Text Placeholder 5">
                <a:extLst>
                  <a:ext uri="{FF2B5EF4-FFF2-40B4-BE49-F238E27FC236}">
                    <a16:creationId xmlns:a16="http://schemas.microsoft.com/office/drawing/2014/main" id="{9587BDA8-4CAE-4D10-8A40-0FC7D62F096E}"/>
                  </a:ext>
                </a:extLst>
              </p:cNvPr>
              <p:cNvSpPr txBox="1">
                <a:spLocks/>
              </p:cNvSpPr>
              <p:nvPr/>
            </p:nvSpPr>
            <p:spPr>
              <a:xfrm>
                <a:off x="7726673" y="6486196"/>
                <a:ext cx="2359788" cy="3930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𝝁</m:t>
                      </m:r>
                    </m:oMath>
                  </m:oMathPara>
                </a14:m>
                <a:endParaRPr lang="en-NZ" altLang="ja-JP" sz="1600" b="1"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123" name="Text Placeholder 5">
                <a:extLst>
                  <a:ext uri="{FF2B5EF4-FFF2-40B4-BE49-F238E27FC236}">
                    <a16:creationId xmlns:a16="http://schemas.microsoft.com/office/drawing/2014/main" id="{9587BDA8-4CAE-4D10-8A40-0FC7D62F096E}"/>
                  </a:ext>
                </a:extLst>
              </p:cNvPr>
              <p:cNvSpPr txBox="1">
                <a:spLocks noRot="1" noChangeAspect="1" noMove="1" noResize="1" noEditPoints="1" noAdjustHandles="1" noChangeArrowheads="1" noChangeShapeType="1" noTextEdit="1"/>
              </p:cNvSpPr>
              <p:nvPr/>
            </p:nvSpPr>
            <p:spPr>
              <a:xfrm>
                <a:off x="7726673" y="6486196"/>
                <a:ext cx="2359788" cy="393062"/>
              </a:xfrm>
              <a:prstGeom prst="rect">
                <a:avLst/>
              </a:prstGeom>
              <a:blipFill>
                <a:blip r:embed="rId13"/>
                <a:stretch>
                  <a:fillRect/>
                </a:stretch>
              </a:blipFill>
            </p:spPr>
            <p:txBody>
              <a:bodyPr/>
              <a:lstStyle/>
              <a:p>
                <a:r>
                  <a:rPr lang="en-NZ">
                    <a:noFill/>
                  </a:rPr>
                  <a:t> </a:t>
                </a:r>
              </a:p>
            </p:txBody>
          </p:sp>
        </mc:Fallback>
      </mc:AlternateContent>
      <p:sp>
        <p:nvSpPr>
          <p:cNvPr id="125" name="Title 6">
            <a:extLst>
              <a:ext uri="{FF2B5EF4-FFF2-40B4-BE49-F238E27FC236}">
                <a16:creationId xmlns:a16="http://schemas.microsoft.com/office/drawing/2014/main" id="{9BC40584-14DA-69C8-81E8-A8BF00BD4413}"/>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Recap of The One-Way ANOVA Model:</a:t>
            </a:r>
            <a:endParaRPr lang="ja-JP" altLang="en-US" b="1" u="sng" dirty="0">
              <a:latin typeface="+mn-lt"/>
            </a:endParaRPr>
          </a:p>
        </p:txBody>
      </p:sp>
    </p:spTree>
    <p:extLst>
      <p:ext uri="{BB962C8B-B14F-4D97-AF65-F5344CB8AC3E}">
        <p14:creationId xmlns:p14="http://schemas.microsoft.com/office/powerpoint/2010/main" val="2891145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2.3a – Deriving the F-Statistic:</a:t>
            </a:r>
            <a:endParaRPr lang="ja-JP" altLang="en-US" b="1" u="sng" dirty="0">
              <a:latin typeface="+mn-lt"/>
            </a:endParaRPr>
          </a:p>
        </p:txBody>
      </p:sp>
      <p:sp>
        <p:nvSpPr>
          <p:cNvPr id="5" name="Footer Placeholder 2">
            <a:extLst>
              <a:ext uri="{FF2B5EF4-FFF2-40B4-BE49-F238E27FC236}">
                <a16:creationId xmlns:a16="http://schemas.microsoft.com/office/drawing/2014/main" id="{B9FA4A47-38D8-4CD9-8DB0-0A5C9102BF7F}"/>
              </a:ext>
            </a:extLst>
          </p:cNvPr>
          <p:cNvSpPr txBox="1">
            <a:spLocks/>
          </p:cNvSpPr>
          <p:nvPr/>
        </p:nvSpPr>
        <p:spPr>
          <a:xfrm>
            <a:off x="9144000" y="86139"/>
            <a:ext cx="294536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2.3 – Deriving the F-statistic</a:t>
            </a:r>
            <a:endParaRPr kumimoji="1" lang="ja-JP" altLang="en-US" sz="1600" dirty="0">
              <a:solidFill>
                <a:srgbClr val="DEDDDD"/>
              </a:solidFill>
              <a:latin typeface="Gidole"/>
            </a:endParaRPr>
          </a:p>
        </p:txBody>
      </p:sp>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21</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DF1D175D-41A1-4623-9A99-95BD2F008E52}"/>
                  </a:ext>
                </a:extLst>
              </p:cNvPr>
              <p:cNvSpPr txBox="1">
                <a:spLocks/>
              </p:cNvSpPr>
              <p:nvPr/>
            </p:nvSpPr>
            <p:spPr>
              <a:xfrm>
                <a:off x="251224" y="1080000"/>
                <a:ext cx="11232109" cy="12810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a:t>
                </a:r>
                <a:r>
                  <a:rPr lang="en-NZ" altLang="ja-JP" sz="1800" b="1" dirty="0">
                    <a:solidFill>
                      <a:schemeClr val="tx1"/>
                    </a:solidFill>
                  </a:rPr>
                  <a:t>Total Sum of Squares (TSS)</a:t>
                </a:r>
                <a:r>
                  <a:rPr lang="en-NZ" altLang="ja-JP" sz="1800" dirty="0">
                    <a:solidFill>
                      <a:schemeClr val="tx1"/>
                    </a:solidFill>
                  </a:rPr>
                  <a:t> is the sum of the squared distance of each observation from the overall mean</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𝑻𝑺𝑺</m:t>
                      </m:r>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𝒋</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6" name="Text Placeholder 5">
                <a:extLst>
                  <a:ext uri="{FF2B5EF4-FFF2-40B4-BE49-F238E27FC236}">
                    <a16:creationId xmlns:a16="http://schemas.microsoft.com/office/drawing/2014/main" id="{DF1D175D-41A1-4623-9A99-95BD2F008E52}"/>
                  </a:ext>
                </a:extLst>
              </p:cNvPr>
              <p:cNvSpPr txBox="1">
                <a:spLocks noRot="1" noChangeAspect="1" noMove="1" noResize="1" noEditPoints="1" noAdjustHandles="1" noChangeArrowheads="1" noChangeShapeType="1" noTextEdit="1"/>
              </p:cNvSpPr>
              <p:nvPr/>
            </p:nvSpPr>
            <p:spPr>
              <a:xfrm>
                <a:off x="251224" y="1080000"/>
                <a:ext cx="11232109" cy="1281063"/>
              </a:xfrm>
              <a:prstGeom prst="rect">
                <a:avLst/>
              </a:prstGeom>
              <a:blipFill>
                <a:blip r:embed="rId2"/>
                <a:stretch>
                  <a:fillRect l="-434" t="-238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4" y="2763590"/>
                <a:ext cx="11232109" cy="1497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a:t>
                </a:r>
                <a:r>
                  <a:rPr lang="en-NZ" altLang="ja-JP" sz="1800" b="1" dirty="0">
                    <a:solidFill>
                      <a:schemeClr val="tx1"/>
                    </a:solidFill>
                  </a:rPr>
                  <a:t>Sum of Squares due to Treatment (SST) </a:t>
                </a:r>
                <a:r>
                  <a:rPr lang="en-NZ" altLang="ja-JP" sz="1800" dirty="0">
                    <a:solidFill>
                      <a:schemeClr val="tx1"/>
                    </a:solidFill>
                  </a:rPr>
                  <a:t>is the sum of the squared distance of group means from the overall mean</a:t>
                </a: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𝑺𝑺𝑻</m:t>
                      </m:r>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ea typeface="Cambria Math" panose="02040503050406030204" pitchFamily="18" charset="0"/>
                                            </a:rPr>
                                            <m:t>∙</m:t>
                                          </m:r>
                                        </m:sub>
                                      </m:sSub>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It measures the amount of variability </a:t>
                </a:r>
                <a:r>
                  <a:rPr lang="en-NZ" altLang="ja-JP" sz="1800" b="1" dirty="0">
                    <a:solidFill>
                      <a:schemeClr val="tx1"/>
                    </a:solidFill>
                  </a:rPr>
                  <a:t>between</a:t>
                </a:r>
                <a:r>
                  <a:rPr lang="en-NZ" altLang="ja-JP" sz="1800" dirty="0">
                    <a:solidFill>
                      <a:schemeClr val="tx1"/>
                    </a:solidFill>
                  </a:rPr>
                  <a:t> group means and the overall mean.</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8" name="Text Placeholder 5">
                <a:extLst>
                  <a:ext uri="{FF2B5EF4-FFF2-40B4-BE49-F238E27FC236}">
                    <a16:creationId xmlns:a16="http://schemas.microsoft.com/office/drawing/2014/main" id="{4698F60F-1497-4737-98D4-F910581ADCDE}"/>
                  </a:ext>
                </a:extLst>
              </p:cNvPr>
              <p:cNvSpPr txBox="1">
                <a:spLocks noRot="1" noChangeAspect="1" noMove="1" noResize="1" noEditPoints="1" noAdjustHandles="1" noChangeArrowheads="1" noChangeShapeType="1" noTextEdit="1"/>
              </p:cNvSpPr>
              <p:nvPr/>
            </p:nvSpPr>
            <p:spPr>
              <a:xfrm>
                <a:off x="251224" y="2763590"/>
                <a:ext cx="11232109" cy="1497152"/>
              </a:xfrm>
              <a:prstGeom prst="rect">
                <a:avLst/>
              </a:prstGeom>
              <a:blipFill>
                <a:blip r:embed="rId3"/>
                <a:stretch>
                  <a:fillRect l="-434" t="-2033" b="-365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555998DE-9E2B-4D1F-A9AD-795419811DC1}"/>
                  </a:ext>
                </a:extLst>
              </p:cNvPr>
              <p:cNvSpPr txBox="1">
                <a:spLocks/>
              </p:cNvSpPr>
              <p:nvPr/>
            </p:nvSpPr>
            <p:spPr>
              <a:xfrm>
                <a:off x="251224" y="4887229"/>
                <a:ext cx="11472203" cy="12810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a:t>
                </a:r>
                <a:r>
                  <a:rPr lang="en-NZ" altLang="ja-JP" sz="1800" b="1" dirty="0">
                    <a:solidFill>
                      <a:schemeClr val="tx1"/>
                    </a:solidFill>
                  </a:rPr>
                  <a:t>Sum of Squares due to Error (SSE) </a:t>
                </a:r>
                <a:r>
                  <a:rPr lang="en-NZ" altLang="ja-JP" sz="1800" dirty="0">
                    <a:solidFill>
                      <a:schemeClr val="tx1"/>
                    </a:solidFill>
                  </a:rPr>
                  <a:t>is the sum of the squared distance of each observation to its group mean</a:t>
                </a: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𝑺𝑺𝑬</m:t>
                      </m:r>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r>
                        <a:rPr lang="en-NZ" altLang="ja-JP" sz="1800" b="1" i="1" smtClean="0">
                          <a:solidFill>
                            <a:schemeClr val="tx1"/>
                          </a:solidFill>
                          <a:latin typeface="Cambria Math" panose="02040503050406030204" pitchFamily="18" charset="0"/>
                        </a:rPr>
                        <m:t>  =   </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e>
                      </m:d>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𝒔</m:t>
                              </m:r>
                            </m:e>
                            <m:sub>
                              <m:r>
                                <a:rPr lang="en-NZ" altLang="ja-JP" sz="1800" b="1" i="1" smtClean="0">
                                  <a:solidFill>
                                    <a:schemeClr val="tx1"/>
                                  </a:solidFill>
                                  <a:latin typeface="Cambria Math" panose="02040503050406030204" pitchFamily="18" charset="0"/>
                                </a:rPr>
                                <m:t>𝒊</m:t>
                              </m:r>
                            </m:sub>
                            <m:sup>
                              <m:r>
                                <a:rPr lang="en-NZ" altLang="ja-JP" sz="1800" b="1" i="1" smtClean="0">
                                  <a:solidFill>
                                    <a:schemeClr val="tx1"/>
                                  </a:solidFill>
                                  <a:latin typeface="Cambria Math" panose="02040503050406030204" pitchFamily="18" charset="0"/>
                                </a:rPr>
                                <m:t>𝟐</m:t>
                              </m:r>
                            </m:sup>
                          </m:sSubSup>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It measures the amount of variability </a:t>
                </a:r>
                <a:r>
                  <a:rPr lang="en-NZ" altLang="ja-JP" sz="1800" b="1" dirty="0">
                    <a:solidFill>
                      <a:schemeClr val="tx1"/>
                    </a:solidFill>
                  </a:rPr>
                  <a:t>within </a:t>
                </a:r>
                <a:r>
                  <a:rPr lang="en-NZ" altLang="ja-JP" sz="1800" dirty="0">
                    <a:solidFill>
                      <a:schemeClr val="tx1"/>
                    </a:solidFill>
                  </a:rPr>
                  <a:t>groups (i.e. the amount of variation due to sources other than the group).</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9" name="Text Placeholder 5">
                <a:extLst>
                  <a:ext uri="{FF2B5EF4-FFF2-40B4-BE49-F238E27FC236}">
                    <a16:creationId xmlns:a16="http://schemas.microsoft.com/office/drawing/2014/main" id="{555998DE-9E2B-4D1F-A9AD-795419811DC1}"/>
                  </a:ext>
                </a:extLst>
              </p:cNvPr>
              <p:cNvSpPr txBox="1">
                <a:spLocks noRot="1" noChangeAspect="1" noMove="1" noResize="1" noEditPoints="1" noAdjustHandles="1" noChangeArrowheads="1" noChangeShapeType="1" noTextEdit="1"/>
              </p:cNvSpPr>
              <p:nvPr/>
            </p:nvSpPr>
            <p:spPr>
              <a:xfrm>
                <a:off x="251224" y="4887229"/>
                <a:ext cx="11472203" cy="1281063"/>
              </a:xfrm>
              <a:prstGeom prst="rect">
                <a:avLst/>
              </a:prstGeom>
              <a:blipFill>
                <a:blip r:embed="rId4"/>
                <a:stretch>
                  <a:fillRect l="-425" t="-2857" b="-21429"/>
                </a:stretch>
              </a:blipFill>
            </p:spPr>
            <p:txBody>
              <a:bodyPr/>
              <a:lstStyle/>
              <a:p>
                <a:r>
                  <a:rPr lang="en-NZ">
                    <a:noFill/>
                  </a:rPr>
                  <a:t> </a:t>
                </a:r>
              </a:p>
            </p:txBody>
          </p:sp>
        </mc:Fallback>
      </mc:AlternateContent>
      <p:sp>
        <p:nvSpPr>
          <p:cNvPr id="2" name="Oval 1">
            <a:extLst>
              <a:ext uri="{FF2B5EF4-FFF2-40B4-BE49-F238E27FC236}">
                <a16:creationId xmlns:a16="http://schemas.microsoft.com/office/drawing/2014/main" id="{0BAD3351-ADC1-731A-4594-DC460B3DD20A}"/>
              </a:ext>
            </a:extLst>
          </p:cNvPr>
          <p:cNvSpPr/>
          <p:nvPr/>
        </p:nvSpPr>
        <p:spPr>
          <a:xfrm>
            <a:off x="6796585" y="5218912"/>
            <a:ext cx="1924334" cy="8052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7" name="Straight Arrow Connector 6">
            <a:extLst>
              <a:ext uri="{FF2B5EF4-FFF2-40B4-BE49-F238E27FC236}">
                <a16:creationId xmlns:a16="http://schemas.microsoft.com/office/drawing/2014/main" id="{078A8E4C-562A-0D29-FFAC-3DDBC1F569B9}"/>
              </a:ext>
            </a:extLst>
          </p:cNvPr>
          <p:cNvCxnSpPr>
            <a:cxnSpLocks/>
          </p:cNvCxnSpPr>
          <p:nvPr/>
        </p:nvCxnSpPr>
        <p:spPr>
          <a:xfrm>
            <a:off x="8734567" y="5655640"/>
            <a:ext cx="54591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 Placeholder 5">
            <a:extLst>
              <a:ext uri="{FF2B5EF4-FFF2-40B4-BE49-F238E27FC236}">
                <a16:creationId xmlns:a16="http://schemas.microsoft.com/office/drawing/2014/main" id="{5103C5AF-3613-E85D-B0F7-F5749AFBDEB5}"/>
              </a:ext>
            </a:extLst>
          </p:cNvPr>
          <p:cNvSpPr txBox="1">
            <a:spLocks/>
          </p:cNvSpPr>
          <p:nvPr/>
        </p:nvSpPr>
        <p:spPr>
          <a:xfrm>
            <a:off x="9399387" y="5451465"/>
            <a:ext cx="1645572" cy="4083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bg2">
                    <a:lumMod val="50000"/>
                  </a:schemeClr>
                </a:solidFill>
              </a:rPr>
              <a:t>Helpful formula</a:t>
            </a:r>
            <a:endParaRPr lang="en-NZ" altLang="ja-JP" sz="1800" b="1" dirty="0">
              <a:solidFill>
                <a:schemeClr val="bg2">
                  <a:lumMod val="50000"/>
                </a:schemeClr>
              </a:solidFill>
            </a:endParaRPr>
          </a:p>
          <a:p>
            <a:pPr algn="just">
              <a:lnSpc>
                <a:spcPct val="100000"/>
              </a:lnSpc>
            </a:pPr>
            <a:r>
              <a:rPr lang="en-NZ" altLang="ja-JP" sz="1800" dirty="0">
                <a:solidFill>
                  <a:schemeClr val="bg2">
                    <a:lumMod val="50000"/>
                  </a:schemeClr>
                </a:solidFill>
              </a:rPr>
              <a:t>  </a:t>
            </a:r>
          </a:p>
          <a:p>
            <a:pPr algn="just">
              <a:lnSpc>
                <a:spcPct val="100000"/>
              </a:lnSpc>
            </a:pPr>
            <a:endParaRPr lang="en-NZ" altLang="ja-JP" sz="1800" dirty="0">
              <a:solidFill>
                <a:schemeClr val="bg2">
                  <a:lumMod val="50000"/>
                </a:schemeClr>
              </a:solidFill>
            </a:endParaRPr>
          </a:p>
          <a:p>
            <a:pPr algn="just">
              <a:lnSpc>
                <a:spcPct val="100000"/>
              </a:lnSpc>
            </a:pPr>
            <a:endParaRPr lang="en-NZ" altLang="ja-JP" sz="1800" i="1" dirty="0">
              <a:solidFill>
                <a:schemeClr val="bg2">
                  <a:lumMod val="50000"/>
                </a:schemeClr>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7C2E2894-0A83-6D09-BE1F-C32CE133AA24}"/>
                  </a:ext>
                </a:extLst>
              </p:cNvPr>
              <p:cNvSpPr txBox="1">
                <a:spLocks/>
              </p:cNvSpPr>
              <p:nvPr/>
            </p:nvSpPr>
            <p:spPr>
              <a:xfrm>
                <a:off x="7625566" y="1204845"/>
                <a:ext cx="3857767" cy="141458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endParaRPr lang="en-NZ" altLang="ja-JP" sz="14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400" i="1" smtClean="0">
                            <a:solidFill>
                              <a:schemeClr val="tx1"/>
                            </a:solidFill>
                            <a:latin typeface="Cambria Math" panose="02040503050406030204" pitchFamily="18" charset="0"/>
                          </a:rPr>
                        </m:ctrlPr>
                      </m:dPr>
                      <m:e>
                        <m:m>
                          <m:mPr>
                            <m:mcs>
                              <m:mc>
                                <m:mcPr>
                                  <m:count m:val="3"/>
                                  <m:mcJc m:val="center"/>
                                </m:mcPr>
                              </m:mc>
                            </m:mcs>
                            <m:ctrlPr>
                              <a:rPr lang="en-NZ" altLang="ja-JP" sz="1400" i="1" smtClean="0">
                                <a:solidFill>
                                  <a:schemeClr val="tx1"/>
                                </a:solidFill>
                                <a:latin typeface="Cambria Math" panose="02040503050406030204" pitchFamily="18" charset="0"/>
                              </a:rPr>
                            </m:ctrlPr>
                          </m:mPr>
                          <m:mr>
                            <m:e>
                              <m:sSub>
                                <m:sSubPr>
                                  <m:ctrlPr>
                                    <a:rPr lang="en-NZ" altLang="ja-JP" sz="1400" b="0" i="1" smtClean="0">
                                      <a:solidFill>
                                        <a:schemeClr val="tx1"/>
                                      </a:solidFill>
                                      <a:latin typeface="Cambria Math" panose="02040503050406030204" pitchFamily="18" charset="0"/>
                                    </a:rPr>
                                  </m:ctrlPr>
                                </m:sSubPr>
                                <m:e>
                                  <m:r>
                                    <m:rPr>
                                      <m:brk m:alnAt="7"/>
                                    </m:rPr>
                                    <a:rPr lang="en-NZ" altLang="ja-JP" sz="1400" b="0" i="1" smtClean="0">
                                      <a:solidFill>
                                        <a:schemeClr val="tx1"/>
                                      </a:solidFill>
                                      <a:latin typeface="Cambria Math" panose="02040503050406030204" pitchFamily="18" charset="0"/>
                                    </a:rPr>
                                    <m:t>𝑌</m:t>
                                  </m:r>
                                </m:e>
                                <m:sub>
                                  <m:r>
                                    <m:rPr>
                                      <m:brk m:alnAt="7"/>
                                    </m:rPr>
                                    <a:rPr lang="en-NZ" altLang="ja-JP" sz="1400" b="0" i="1" smtClean="0">
                                      <a:solidFill>
                                        <a:schemeClr val="tx1"/>
                                      </a:solidFill>
                                      <a:latin typeface="Cambria Math" panose="02040503050406030204" pitchFamily="18" charset="0"/>
                                    </a:rPr>
                                    <m:t>1</m:t>
                                  </m:r>
                                  <m:r>
                                    <a:rPr lang="en-NZ" altLang="ja-JP" sz="1400" b="0" i="1" smtClean="0">
                                      <a:solidFill>
                                        <a:schemeClr val="tx1"/>
                                      </a:solidFill>
                                      <a:latin typeface="Cambria Math" panose="02040503050406030204" pitchFamily="18" charset="0"/>
                                    </a:rPr>
                                    <m:t>,1</m:t>
                                  </m:r>
                                </m:sub>
                              </m:sSub>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m:rPr>
                                      <m:brk m:alnAt="7"/>
                                    </m:rPr>
                                    <a:rPr lang="en-NZ" altLang="ja-JP" sz="1400" i="1">
                                      <a:solidFill>
                                        <a:schemeClr val="tx1"/>
                                      </a:solidFill>
                                      <a:latin typeface="Cambria Math" panose="02040503050406030204" pitchFamily="18" charset="0"/>
                                    </a:rPr>
                                    <m:t>1</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2</m:t>
                                  </m:r>
                                </m:sub>
                              </m:sSub>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m:rPr>
                                            <m:brk m:alnAt="7"/>
                                          </m:rPr>
                                          <a:rPr lang="en-NZ" altLang="ja-JP" sz="1400" i="1">
                                            <a:solidFill>
                                              <a:schemeClr val="tx1"/>
                                            </a:solidFill>
                                            <a:latin typeface="Cambria Math" panose="02040503050406030204" pitchFamily="18" charset="0"/>
                                          </a:rPr>
                                          <m:t>1</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r>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,1</m:t>
                                  </m:r>
                                </m:sub>
                              </m:sSub>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2</m:t>
                                  </m:r>
                                </m:sub>
                              </m:sSub>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𝑘</m:t>
                                        </m:r>
                                        <m:r>
                                          <a:rPr lang="en-NZ" altLang="ja-JP" sz="14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ea typeface="Cambria Math" panose="02040503050406030204" pitchFamily="18" charset="0"/>
                                      </a:rPr>
                                      <m:t>⋮</m:t>
                                    </m:r>
                                  </m:e>
                                </m:mr>
                                <m:mr>
                                  <m:e>
                                    <m:sSub>
                                      <m:sSubPr>
                                        <m:ctrlPr>
                                          <a:rPr lang="en-NZ" altLang="ja-JP" sz="1400" i="1" smtClean="0">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𝑌</m:t>
                                        </m:r>
                                      </m:e>
                                      <m:sub>
                                        <m:r>
                                          <a:rPr lang="en-NZ" altLang="ja-JP" sz="1400" i="1">
                                            <a:solidFill>
                                              <a:schemeClr val="tx1"/>
                                            </a:solidFill>
                                            <a:latin typeface="Cambria Math" panose="02040503050406030204" pitchFamily="18" charset="0"/>
                                          </a:rPr>
                                          <m:t>𝑘</m:t>
                                        </m:r>
                                        <m:r>
                                          <a:rPr lang="en-NZ" altLang="ja-JP" sz="1400" i="1">
                                            <a:solidFill>
                                              <a:schemeClr val="tx1"/>
                                            </a:solidFill>
                                            <a:latin typeface="Cambria Math" panose="02040503050406030204" pitchFamily="18" charset="0"/>
                                          </a:rPr>
                                          <m:t>,2</m:t>
                                        </m:r>
                                      </m:sub>
                                    </m:sSub>
                                  </m:e>
                                </m:mr>
                              </m:m>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ea typeface="Cambria Math" panose="02040503050406030204" pitchFamily="18" charset="0"/>
                                            </a:rPr>
                                            <m:t>⋮</m:t>
                                          </m:r>
                                        </m:e>
                                      </m:mr>
                                      <m:m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𝑌</m:t>
                                              </m:r>
                                            </m:e>
                                            <m:sub>
                                              <m:r>
                                                <a:rPr lang="en-NZ" altLang="ja-JP" sz="1400" i="1">
                                                  <a:solidFill>
                                                    <a:schemeClr val="tx1"/>
                                                  </a:solidFill>
                                                  <a:latin typeface="Cambria Math" panose="02040503050406030204" pitchFamily="18" charset="0"/>
                                                </a:rPr>
                                                <m:t>𝑘</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
                            </m:e>
                          </m:mr>
                        </m:m>
                      </m:e>
                    </m:d>
                  </m:oMath>
                </a14:m>
                <a:r>
                  <a:rPr lang="en-NZ" altLang="ja-JP" sz="1400" dirty="0">
                    <a:solidFill>
                      <a:schemeClr val="tx1"/>
                    </a:solidFill>
                  </a:rPr>
                  <a:t> </a:t>
                </a:r>
              </a:p>
              <a:p>
                <a:pPr algn="ctr">
                  <a:lnSpc>
                    <a:spcPct val="100000"/>
                  </a:lnSpc>
                </a:pPr>
                <a:endParaRPr lang="en-NZ" altLang="ja-JP" sz="1400" dirty="0">
                  <a:solidFill>
                    <a:schemeClr val="tx1"/>
                  </a:solidFill>
                </a:endParaRP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mc:Choice>
        <mc:Fallback xmlns="">
          <p:sp>
            <p:nvSpPr>
              <p:cNvPr id="12" name="Text Placeholder 5">
                <a:extLst>
                  <a:ext uri="{FF2B5EF4-FFF2-40B4-BE49-F238E27FC236}">
                    <a16:creationId xmlns:a16="http://schemas.microsoft.com/office/drawing/2014/main" id="{7C2E2894-0A83-6D09-BE1F-C32CE133AA24}"/>
                  </a:ext>
                </a:extLst>
              </p:cNvPr>
              <p:cNvSpPr txBox="1">
                <a:spLocks noRot="1" noChangeAspect="1" noMove="1" noResize="1" noEditPoints="1" noAdjustHandles="1" noChangeArrowheads="1" noChangeShapeType="1" noTextEdit="1"/>
              </p:cNvSpPr>
              <p:nvPr/>
            </p:nvSpPr>
            <p:spPr>
              <a:xfrm>
                <a:off x="7625566" y="1204845"/>
                <a:ext cx="3857767" cy="1414583"/>
              </a:xfrm>
              <a:prstGeom prst="rect">
                <a:avLst/>
              </a:prstGeom>
              <a:blipFill>
                <a:blip r:embed="rId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21750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 grpId="0" animBg="1"/>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997ADEF5-7C57-4F2F-A1EA-5B3468CCBA47}"/>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2.3a – Deriving the F-Statistic:</a:t>
            </a:r>
            <a:endParaRPr lang="ja-JP" altLang="en-US" b="1" u="sng" dirty="0">
              <a:latin typeface="+mn-lt"/>
            </a:endParaRPr>
          </a:p>
        </p:txBody>
      </p:sp>
      <p:sp>
        <p:nvSpPr>
          <p:cNvPr id="5" name="Footer Placeholder 2">
            <a:extLst>
              <a:ext uri="{FF2B5EF4-FFF2-40B4-BE49-F238E27FC236}">
                <a16:creationId xmlns:a16="http://schemas.microsoft.com/office/drawing/2014/main" id="{B9FA4A47-38D8-4CD9-8DB0-0A5C9102BF7F}"/>
              </a:ext>
            </a:extLst>
          </p:cNvPr>
          <p:cNvSpPr txBox="1">
            <a:spLocks/>
          </p:cNvSpPr>
          <p:nvPr/>
        </p:nvSpPr>
        <p:spPr>
          <a:xfrm>
            <a:off x="9144000" y="86139"/>
            <a:ext cx="294536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2.3 – Deriving the F-statistic</a:t>
            </a:r>
            <a:endParaRPr kumimoji="1" lang="ja-JP" altLang="en-US" sz="1600" dirty="0">
              <a:solidFill>
                <a:srgbClr val="DEDDDD"/>
              </a:solidFill>
              <a:latin typeface="Gidole"/>
            </a:endParaRPr>
          </a:p>
        </p:txBody>
      </p:sp>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22</a:t>
            </a:fld>
            <a:endParaRPr kumimoji="1" lang="ja-JP" altLang="en-US" dirty="0">
              <a:solidFill>
                <a:srgbClr val="575454">
                  <a:lumMod val="20000"/>
                  <a:lumOff val="80000"/>
                </a:srgbClr>
              </a:solidFill>
              <a:latin typeface="Coo Hew"/>
            </a:endParaRPr>
          </a:p>
        </p:txBody>
      </p:sp>
      <p:sp>
        <p:nvSpPr>
          <p:cNvPr id="10" name="Text Placeholder 5">
            <a:extLst>
              <a:ext uri="{FF2B5EF4-FFF2-40B4-BE49-F238E27FC236}">
                <a16:creationId xmlns:a16="http://schemas.microsoft.com/office/drawing/2014/main" id="{20C30583-55F8-4CA9-8114-AA7C5435B208}"/>
              </a:ext>
            </a:extLst>
          </p:cNvPr>
          <p:cNvSpPr txBox="1">
            <a:spLocks/>
          </p:cNvSpPr>
          <p:nvPr/>
        </p:nvSpPr>
        <p:spPr>
          <a:xfrm>
            <a:off x="251224" y="1114040"/>
            <a:ext cx="1123210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With a bit of algebra it can be shown that </a:t>
            </a:r>
            <a:r>
              <a:rPr lang="en-NZ" altLang="ja-JP" sz="1800" b="1" i="1" dirty="0">
                <a:solidFill>
                  <a:srgbClr val="C00000"/>
                </a:solidFill>
              </a:rPr>
              <a:t>TSS = SST + SSE</a:t>
            </a:r>
            <a:r>
              <a:rPr lang="en-NZ" altLang="ja-JP" sz="1800" dirty="0">
                <a:solidFill>
                  <a:schemeClr val="tx1"/>
                </a:solidFill>
              </a:rPr>
              <a:t> *, i.e.</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2" name="Text Placeholder 5">
            <a:extLst>
              <a:ext uri="{FF2B5EF4-FFF2-40B4-BE49-F238E27FC236}">
                <a16:creationId xmlns:a16="http://schemas.microsoft.com/office/drawing/2014/main" id="{BFF98ADB-0932-A396-409C-8BE1056C5568}"/>
              </a:ext>
            </a:extLst>
          </p:cNvPr>
          <p:cNvSpPr txBox="1">
            <a:spLocks/>
          </p:cNvSpPr>
          <p:nvPr/>
        </p:nvSpPr>
        <p:spPr>
          <a:xfrm>
            <a:off x="163773" y="6492774"/>
            <a:ext cx="82558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bg2">
                    <a:lumMod val="25000"/>
                  </a:schemeClr>
                </a:solidFill>
              </a:rPr>
              <a:t>*The proof of these statements is not required for this course but is available as supplementary material on the intranet. </a:t>
            </a:r>
          </a:p>
          <a:p>
            <a:pPr algn="just">
              <a:lnSpc>
                <a:spcPct val="100000"/>
              </a:lnSpc>
            </a:pPr>
            <a:r>
              <a:rPr lang="en-NZ" altLang="ja-JP" sz="1200" dirty="0">
                <a:solidFill>
                  <a:schemeClr val="bg2">
                    <a:lumMod val="25000"/>
                  </a:schemeClr>
                </a:solidFill>
              </a:rPr>
              <a:t>  </a:t>
            </a:r>
          </a:p>
          <a:p>
            <a:pPr algn="just">
              <a:lnSpc>
                <a:spcPct val="100000"/>
              </a:lnSpc>
            </a:pPr>
            <a:endParaRPr lang="en-NZ" altLang="ja-JP" sz="1200" dirty="0">
              <a:solidFill>
                <a:schemeClr val="bg2">
                  <a:lumMod val="25000"/>
                </a:schemeClr>
              </a:solidFill>
            </a:endParaRPr>
          </a:p>
          <a:p>
            <a:pPr algn="just">
              <a:lnSpc>
                <a:spcPct val="100000"/>
              </a:lnSpc>
            </a:pPr>
            <a:endParaRPr lang="en-NZ" altLang="ja-JP" sz="1200" i="1" dirty="0">
              <a:solidFill>
                <a:schemeClr val="bg2">
                  <a:lumMod val="25000"/>
                </a:schemeClr>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B7DFADC2-343A-9FD0-9F93-C51DFD33FD0C}"/>
                  </a:ext>
                </a:extLst>
              </p:cNvPr>
              <p:cNvSpPr txBox="1">
                <a:spLocks/>
              </p:cNvSpPr>
              <p:nvPr/>
            </p:nvSpPr>
            <p:spPr>
              <a:xfrm>
                <a:off x="708668" y="1642416"/>
                <a:ext cx="2211953" cy="1039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𝒋</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4" name="Text Placeholder 5">
                <a:extLst>
                  <a:ext uri="{FF2B5EF4-FFF2-40B4-BE49-F238E27FC236}">
                    <a16:creationId xmlns:a16="http://schemas.microsoft.com/office/drawing/2014/main" id="{B7DFADC2-343A-9FD0-9F93-C51DFD33FD0C}"/>
                  </a:ext>
                </a:extLst>
              </p:cNvPr>
              <p:cNvSpPr txBox="1">
                <a:spLocks noRot="1" noChangeAspect="1" noMove="1" noResize="1" noEditPoints="1" noAdjustHandles="1" noChangeArrowheads="1" noChangeShapeType="1" noTextEdit="1"/>
              </p:cNvSpPr>
              <p:nvPr/>
            </p:nvSpPr>
            <p:spPr>
              <a:xfrm>
                <a:off x="708668" y="1642416"/>
                <a:ext cx="2211953" cy="1039556"/>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2E95B4F2-45B5-21B3-4CE5-441080F974A2}"/>
                  </a:ext>
                </a:extLst>
              </p:cNvPr>
              <p:cNvSpPr txBox="1">
                <a:spLocks/>
              </p:cNvSpPr>
              <p:nvPr/>
            </p:nvSpPr>
            <p:spPr>
              <a:xfrm>
                <a:off x="3008315" y="1642416"/>
                <a:ext cx="3242360" cy="1039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ea typeface="Cambria Math" panose="02040503050406030204" pitchFamily="18" charset="0"/>
                                            </a:rPr>
                                            <m:t>∙</m:t>
                                          </m:r>
                                        </m:sub>
                                      </m:sSub>
                                      <m:r>
                                        <a:rPr lang="en-NZ" altLang="ja-JP" sz="1800" b="1" i="1" smtClean="0">
                                          <a:solidFill>
                                            <a:schemeClr val="tx1"/>
                                          </a:solidFill>
                                          <a:latin typeface="Cambria Math" panose="02040503050406030204" pitchFamily="18" charset="0"/>
                                        </a:rPr>
                                        <m:t>− </m:t>
                                      </m:r>
                                      <m:sSub>
                                        <m:sSubPr>
                                          <m:ctrlPr>
                                            <a:rPr lang="en-NZ" altLang="ja-JP" sz="1800" b="1" i="1" smtClean="0">
                                              <a:solidFill>
                                                <a:schemeClr val="tx1"/>
                                              </a:solidFill>
                                              <a:latin typeface="Cambria Math" panose="02040503050406030204" pitchFamily="18" charset="0"/>
                                            </a:rPr>
                                          </m:ctrlPr>
                                        </m:sSubPr>
                                        <m:e>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oMath>
                  </m:oMathPara>
                </a14:m>
                <a:endParaRPr lang="en-NZ" altLang="ja-JP" sz="1800" b="1" dirty="0">
                  <a:solidFill>
                    <a:schemeClr val="tx1"/>
                  </a:solidFill>
                </a:endParaRP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5" name="Text Placeholder 5">
                <a:extLst>
                  <a:ext uri="{FF2B5EF4-FFF2-40B4-BE49-F238E27FC236}">
                    <a16:creationId xmlns:a16="http://schemas.microsoft.com/office/drawing/2014/main" id="{2E95B4F2-45B5-21B3-4CE5-441080F974A2}"/>
                  </a:ext>
                </a:extLst>
              </p:cNvPr>
              <p:cNvSpPr txBox="1">
                <a:spLocks noRot="1" noChangeAspect="1" noMove="1" noResize="1" noEditPoints="1" noAdjustHandles="1" noChangeArrowheads="1" noChangeShapeType="1" noTextEdit="1"/>
              </p:cNvSpPr>
              <p:nvPr/>
            </p:nvSpPr>
            <p:spPr>
              <a:xfrm>
                <a:off x="3008315" y="1642416"/>
                <a:ext cx="3242360" cy="1039556"/>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8C05015B-4F50-48F4-9CFD-0D94207C2C9A}"/>
                  </a:ext>
                </a:extLst>
              </p:cNvPr>
              <p:cNvSpPr txBox="1">
                <a:spLocks/>
              </p:cNvSpPr>
              <p:nvPr/>
            </p:nvSpPr>
            <p:spPr>
              <a:xfrm>
                <a:off x="5568287" y="1640605"/>
                <a:ext cx="3152633" cy="10413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𝒋</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𝒏</m:t>
                              </m:r>
                            </m:sup>
                            <m:e>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smtClean="0">
                                      <a:solidFill>
                                        <a:schemeClr val="tx1"/>
                                      </a:solidFill>
                                      <a:latin typeface="Cambria Math" panose="02040503050406030204" pitchFamily="18" charset="0"/>
                                    </a:rPr>
                                    <m:t>𝟐</m:t>
                                  </m:r>
                                </m:sup>
                              </m:sSup>
                            </m:e>
                          </m:nary>
                        </m:e>
                      </m:nary>
                      <m:r>
                        <a:rPr lang="en-NZ" altLang="ja-JP" sz="1800" b="1" i="1" smtClean="0">
                          <a:solidFill>
                            <a:schemeClr val="tx1"/>
                          </a:solidFill>
                          <a:latin typeface="Cambria Math" panose="02040503050406030204" pitchFamily="18" charset="0"/>
                        </a:rPr>
                        <m:t> </m:t>
                      </m:r>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6" name="Text Placeholder 5">
                <a:extLst>
                  <a:ext uri="{FF2B5EF4-FFF2-40B4-BE49-F238E27FC236}">
                    <a16:creationId xmlns:a16="http://schemas.microsoft.com/office/drawing/2014/main" id="{8C05015B-4F50-48F4-9CFD-0D94207C2C9A}"/>
                  </a:ext>
                </a:extLst>
              </p:cNvPr>
              <p:cNvSpPr txBox="1">
                <a:spLocks noRot="1" noChangeAspect="1" noMove="1" noResize="1" noEditPoints="1" noAdjustHandles="1" noChangeArrowheads="1" noChangeShapeType="1" noTextEdit="1"/>
              </p:cNvSpPr>
              <p:nvPr/>
            </p:nvSpPr>
            <p:spPr>
              <a:xfrm>
                <a:off x="5568287" y="1640605"/>
                <a:ext cx="3152633" cy="1041367"/>
              </a:xfrm>
              <a:prstGeom prst="rect">
                <a:avLst/>
              </a:prstGeom>
              <a:blipFill>
                <a:blip r:embed="rId4"/>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FB3EE4F-FC5A-60EF-A6F8-C2AFC8E6CCAF}"/>
              </a:ext>
            </a:extLst>
          </p:cNvPr>
          <p:cNvSpPr txBox="1">
            <a:spLocks/>
          </p:cNvSpPr>
          <p:nvPr/>
        </p:nvSpPr>
        <p:spPr>
          <a:xfrm>
            <a:off x="708668" y="2603147"/>
            <a:ext cx="199358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TSS</a:t>
            </a: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8" name="Text Placeholder 5">
            <a:extLst>
              <a:ext uri="{FF2B5EF4-FFF2-40B4-BE49-F238E27FC236}">
                <a16:creationId xmlns:a16="http://schemas.microsoft.com/office/drawing/2014/main" id="{87B52385-0360-0C93-B2BF-80486B20C131}"/>
              </a:ext>
            </a:extLst>
          </p:cNvPr>
          <p:cNvSpPr txBox="1">
            <a:spLocks/>
          </p:cNvSpPr>
          <p:nvPr/>
        </p:nvSpPr>
        <p:spPr>
          <a:xfrm>
            <a:off x="3603009" y="2603147"/>
            <a:ext cx="1529565" cy="5516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SST</a:t>
            </a: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9" name="Text Placeholder 5">
            <a:extLst>
              <a:ext uri="{FF2B5EF4-FFF2-40B4-BE49-F238E27FC236}">
                <a16:creationId xmlns:a16="http://schemas.microsoft.com/office/drawing/2014/main" id="{EC24CB20-B9DD-6CC1-AE39-2108BF99B4E8}"/>
              </a:ext>
            </a:extLst>
          </p:cNvPr>
          <p:cNvSpPr txBox="1">
            <a:spLocks/>
          </p:cNvSpPr>
          <p:nvPr/>
        </p:nvSpPr>
        <p:spPr>
          <a:xfrm>
            <a:off x="6140477" y="2601336"/>
            <a:ext cx="1993589"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i="1" dirty="0">
                <a:solidFill>
                  <a:srgbClr val="C00000"/>
                </a:solidFill>
              </a:rPr>
              <a:t>SSE</a:t>
            </a: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20" name="Text Placeholder 5">
            <a:extLst>
              <a:ext uri="{FF2B5EF4-FFF2-40B4-BE49-F238E27FC236}">
                <a16:creationId xmlns:a16="http://schemas.microsoft.com/office/drawing/2014/main" id="{55819D0B-571A-E1E7-A410-55B9B22E8876}"/>
              </a:ext>
            </a:extLst>
          </p:cNvPr>
          <p:cNvSpPr txBox="1">
            <a:spLocks/>
          </p:cNvSpPr>
          <p:nvPr/>
        </p:nvSpPr>
        <p:spPr>
          <a:xfrm>
            <a:off x="2921637" y="2601336"/>
            <a:ext cx="52391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C00000"/>
                </a:solidFill>
              </a:rPr>
              <a:t>=</a:t>
            </a: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21" name="Text Placeholder 5">
            <a:extLst>
              <a:ext uri="{FF2B5EF4-FFF2-40B4-BE49-F238E27FC236}">
                <a16:creationId xmlns:a16="http://schemas.microsoft.com/office/drawing/2014/main" id="{6515756C-8C30-A030-A894-8ADB1592FA40}"/>
              </a:ext>
            </a:extLst>
          </p:cNvPr>
          <p:cNvSpPr txBox="1">
            <a:spLocks/>
          </p:cNvSpPr>
          <p:nvPr/>
        </p:nvSpPr>
        <p:spPr>
          <a:xfrm>
            <a:off x="5592425" y="2580129"/>
            <a:ext cx="523915"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C00000"/>
                </a:solidFill>
              </a:rPr>
              <a:t>+</a:t>
            </a:r>
            <a:endParaRPr lang="en-NZ" altLang="ja-JP" sz="1800" dirty="0">
              <a:solidFill>
                <a:schemeClr val="tx1"/>
              </a:solidFill>
            </a:endParaRPr>
          </a:p>
          <a:p>
            <a:pPr algn="just">
              <a:lnSpc>
                <a:spcPct val="100000"/>
              </a:lnSpc>
            </a:pPr>
            <a:endParaRPr lang="en-NZ" altLang="ja-JP" sz="1800" i="1" dirty="0">
              <a:solidFill>
                <a:srgbClr val="C00000"/>
              </a:solidFill>
            </a:endParaRPr>
          </a:p>
        </p:txBody>
      </p:sp>
    </p:spTree>
    <p:extLst>
      <p:ext uri="{BB962C8B-B14F-4D97-AF65-F5344CB8AC3E}">
        <p14:creationId xmlns:p14="http://schemas.microsoft.com/office/powerpoint/2010/main" val="464472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23</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4" y="1169375"/>
                <a:ext cx="11232109" cy="1497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a:t>
                </a:r>
                <a:r>
                  <a:rPr lang="en-NZ" altLang="ja-JP" sz="1800" b="1" dirty="0">
                    <a:solidFill>
                      <a:schemeClr val="tx1"/>
                    </a:solidFill>
                  </a:rPr>
                  <a:t>Mean Squares for Treatment (MST) </a:t>
                </a:r>
                <a:r>
                  <a:rPr lang="en-NZ" altLang="ja-JP" sz="1800" dirty="0">
                    <a:solidFill>
                      <a:schemeClr val="tx1"/>
                    </a:solidFill>
                  </a:rPr>
                  <a:t>is defined as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𝑴𝑺𝑻</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𝑺𝑺𝑻</m:t>
                          </m:r>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e>
                          </m:nary>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oMath>
                  </m:oMathPara>
                </a14:m>
                <a:endParaRPr lang="en-NZ" altLang="ja-JP" sz="1800" b="1" dirty="0">
                  <a:solidFill>
                    <a:schemeClr val="tx1"/>
                  </a:solidFill>
                </a:endParaRP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r>
                  <a:rPr lang="en-NZ" altLang="ja-JP" sz="1800" dirty="0">
                    <a:solidFill>
                      <a:schemeClr val="tx1"/>
                    </a:solidFill>
                  </a:rPr>
                  <a:t>It represents the </a:t>
                </a:r>
                <a:r>
                  <a:rPr lang="en-NZ" altLang="ja-JP" sz="1800" b="1" dirty="0">
                    <a:solidFill>
                      <a:schemeClr val="tx1"/>
                    </a:solidFill>
                  </a:rPr>
                  <a:t>average </a:t>
                </a:r>
                <a:r>
                  <a:rPr lang="en-NZ" altLang="ja-JP" sz="1800" dirty="0">
                    <a:solidFill>
                      <a:schemeClr val="tx1"/>
                    </a:solidFill>
                  </a:rPr>
                  <a:t>amount of variability </a:t>
                </a:r>
                <a:r>
                  <a:rPr lang="en-NZ" altLang="ja-JP" sz="1800" b="1" dirty="0">
                    <a:solidFill>
                      <a:schemeClr val="tx1"/>
                    </a:solidFill>
                  </a:rPr>
                  <a:t>between</a:t>
                </a:r>
                <a:r>
                  <a:rPr lang="en-NZ" altLang="ja-JP" sz="1800" dirty="0">
                    <a:solidFill>
                      <a:schemeClr val="tx1"/>
                    </a:solidFill>
                  </a:rPr>
                  <a:t> group means and the overall mean.</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8" name="Text Placeholder 5">
                <a:extLst>
                  <a:ext uri="{FF2B5EF4-FFF2-40B4-BE49-F238E27FC236}">
                    <a16:creationId xmlns:a16="http://schemas.microsoft.com/office/drawing/2014/main" id="{4698F60F-1497-4737-98D4-F910581ADCDE}"/>
                  </a:ext>
                </a:extLst>
              </p:cNvPr>
              <p:cNvSpPr txBox="1">
                <a:spLocks noRot="1" noChangeAspect="1" noMove="1" noResize="1" noEditPoints="1" noAdjustHandles="1" noChangeArrowheads="1" noChangeShapeType="1" noTextEdit="1"/>
              </p:cNvSpPr>
              <p:nvPr/>
            </p:nvSpPr>
            <p:spPr>
              <a:xfrm>
                <a:off x="251224" y="1169375"/>
                <a:ext cx="11232109" cy="1497152"/>
              </a:xfrm>
              <a:prstGeom prst="rect">
                <a:avLst/>
              </a:prstGeom>
              <a:blipFill>
                <a:blip r:embed="rId2"/>
                <a:stretch>
                  <a:fillRect l="-434" t="-24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555998DE-9E2B-4D1F-A9AD-795419811DC1}"/>
                  </a:ext>
                </a:extLst>
              </p:cNvPr>
              <p:cNvSpPr txBox="1">
                <a:spLocks/>
              </p:cNvSpPr>
              <p:nvPr/>
            </p:nvSpPr>
            <p:spPr>
              <a:xfrm>
                <a:off x="251224" y="2868039"/>
                <a:ext cx="11472203" cy="166916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a:t>
                </a:r>
                <a:r>
                  <a:rPr lang="en-NZ" altLang="ja-JP" sz="1800" b="1" dirty="0">
                    <a:solidFill>
                      <a:schemeClr val="tx1"/>
                    </a:solidFill>
                  </a:rPr>
                  <a:t>Mean Squares for Error (MSE) </a:t>
                </a:r>
                <a:r>
                  <a:rPr lang="en-NZ" altLang="ja-JP" sz="1800" dirty="0">
                    <a:solidFill>
                      <a:schemeClr val="tx1"/>
                    </a:solidFill>
                  </a:rPr>
                  <a:t>is defined as</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𝑴𝑺𝑬</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𝑺𝑺𝑬</m:t>
                          </m:r>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e>
                          </m:d>
                        </m:den>
                      </m:f>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e>
                          </m:nary>
                        </m:num>
                        <m:den>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e>
                          </m:d>
                        </m:den>
                      </m:f>
                      <m:r>
                        <a:rPr lang="en-NZ" altLang="ja-JP" sz="1800" b="1" i="1" smtClean="0">
                          <a:solidFill>
                            <a:schemeClr val="tx1"/>
                          </a:solidFill>
                          <a:latin typeface="Cambria Math" panose="02040503050406030204" pitchFamily="18" charset="0"/>
                        </a:rPr>
                        <m:t>  </m:t>
                      </m:r>
                    </m:oMath>
                  </m:oMathPara>
                </a14:m>
                <a:endParaRPr lang="en-NZ" altLang="ja-JP" sz="18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It represents the </a:t>
                </a:r>
                <a:r>
                  <a:rPr lang="en-NZ" altLang="ja-JP" sz="1800" b="1" dirty="0">
                    <a:solidFill>
                      <a:schemeClr val="tx1"/>
                    </a:solidFill>
                  </a:rPr>
                  <a:t>average </a:t>
                </a:r>
                <a:r>
                  <a:rPr lang="en-NZ" altLang="ja-JP" sz="1800" dirty="0">
                    <a:solidFill>
                      <a:schemeClr val="tx1"/>
                    </a:solidFill>
                  </a:rPr>
                  <a:t>amount of variability </a:t>
                </a:r>
                <a:r>
                  <a:rPr lang="en-NZ" altLang="ja-JP" sz="1800" b="1" dirty="0">
                    <a:solidFill>
                      <a:schemeClr val="tx1"/>
                    </a:solidFill>
                  </a:rPr>
                  <a:t>within </a:t>
                </a:r>
                <a:r>
                  <a:rPr lang="en-NZ" altLang="ja-JP" sz="1800" dirty="0">
                    <a:solidFill>
                      <a:schemeClr val="tx1"/>
                    </a:solidFill>
                  </a:rPr>
                  <a:t>groups. </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9" name="Text Placeholder 5">
                <a:extLst>
                  <a:ext uri="{FF2B5EF4-FFF2-40B4-BE49-F238E27FC236}">
                    <a16:creationId xmlns:a16="http://schemas.microsoft.com/office/drawing/2014/main" id="{555998DE-9E2B-4D1F-A9AD-795419811DC1}"/>
                  </a:ext>
                </a:extLst>
              </p:cNvPr>
              <p:cNvSpPr txBox="1">
                <a:spLocks noRot="1" noChangeAspect="1" noMove="1" noResize="1" noEditPoints="1" noAdjustHandles="1" noChangeArrowheads="1" noChangeShapeType="1" noTextEdit="1"/>
              </p:cNvSpPr>
              <p:nvPr/>
            </p:nvSpPr>
            <p:spPr>
              <a:xfrm>
                <a:off x="251224" y="2868039"/>
                <a:ext cx="11472203" cy="1669164"/>
              </a:xfrm>
              <a:prstGeom prst="rect">
                <a:avLst/>
              </a:prstGeom>
              <a:blipFill>
                <a:blip r:embed="rId3"/>
                <a:stretch>
                  <a:fillRect l="-425" t="-182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910A178C-69DD-41A4-9E28-6B086731C225}"/>
                  </a:ext>
                </a:extLst>
              </p:cNvPr>
              <p:cNvSpPr txBox="1">
                <a:spLocks/>
              </p:cNvSpPr>
              <p:nvPr/>
            </p:nvSpPr>
            <p:spPr>
              <a:xfrm>
                <a:off x="251224" y="4738715"/>
                <a:ext cx="11472203" cy="112982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define the </a:t>
                </a:r>
                <a:r>
                  <a:rPr lang="en-NZ" altLang="ja-JP" sz="1800" b="1" dirty="0">
                    <a:solidFill>
                      <a:schemeClr val="tx1"/>
                    </a:solidFill>
                  </a:rPr>
                  <a:t>F-statistic</a:t>
                </a:r>
                <a:r>
                  <a:rPr lang="en-NZ" altLang="ja-JP" sz="1800" dirty="0">
                    <a:solidFill>
                      <a:schemeClr val="tx1"/>
                    </a:solidFill>
                  </a:rPr>
                  <a:t> for one way ANOVA such that </a:t>
                </a:r>
              </a:p>
              <a:p>
                <a:pPr algn="just">
                  <a:lnSpc>
                    <a:spcPct val="100000"/>
                  </a:lnSpc>
                </a:pPr>
                <a:endParaRPr lang="en-NZ" altLang="ja-JP" sz="200" dirty="0">
                  <a:solidFill>
                    <a:schemeClr val="tx1"/>
                  </a:solidFill>
                </a:endParaRPr>
              </a:p>
              <a:p>
                <a:pPr algn="just">
                  <a:lnSpc>
                    <a:spcPct val="100000"/>
                  </a:lnSpc>
                </a:pPr>
                <a:endParaRPr lang="en-NZ" altLang="ja-JP" sz="2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𝑴𝑺𝑻</m:t>
                          </m:r>
                        </m:num>
                        <m:den>
                          <m:r>
                            <a:rPr lang="en-NZ" altLang="ja-JP" sz="1800" b="1" i="1" smtClean="0">
                              <a:solidFill>
                                <a:schemeClr val="tx1"/>
                              </a:solidFill>
                              <a:latin typeface="Cambria Math" panose="02040503050406030204" pitchFamily="18" charset="0"/>
                            </a:rPr>
                            <m:t>𝑴𝑺𝑬</m:t>
                          </m:r>
                        </m:den>
                      </m:f>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f>
                            <m:fPr>
                              <m:type m:val="lin"/>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𝑺𝑺𝑻</m:t>
                              </m:r>
                              <m:r>
                                <a:rPr lang="en-NZ" altLang="ja-JP" sz="1800" b="1" i="1" smtClean="0">
                                  <a:solidFill>
                                    <a:schemeClr val="tx1"/>
                                  </a:solidFill>
                                  <a:latin typeface="Cambria Math" panose="02040503050406030204" pitchFamily="18" charset="0"/>
                                </a:rPr>
                                <m:t> </m:t>
                              </m:r>
                            </m:num>
                            <m:den>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e>
                              </m:d>
                            </m:den>
                          </m:f>
                        </m:num>
                        <m:den>
                          <m:f>
                            <m:fPr>
                              <m:type m:val="lin"/>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𝑺𝑺𝑬</m:t>
                              </m:r>
                              <m:r>
                                <a:rPr lang="en-NZ" altLang="ja-JP" sz="1800" b="1" i="1" smtClean="0">
                                  <a:solidFill>
                                    <a:schemeClr val="tx1"/>
                                  </a:solidFill>
                                  <a:latin typeface="Cambria Math" panose="02040503050406030204" pitchFamily="18" charset="0"/>
                                </a:rPr>
                                <m:t> </m:t>
                              </m:r>
                            </m:num>
                            <m:den>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e>
                              </m:d>
                            </m:den>
                          </m:f>
                        </m:den>
                      </m:f>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f>
                            <m:fPr>
                              <m:type m:val="lin"/>
                              <m:ctrlPr>
                                <a:rPr lang="en-NZ" altLang="ja-JP" sz="1800" b="1" i="1" smtClean="0">
                                  <a:solidFill>
                                    <a:schemeClr val="tx1"/>
                                  </a:solidFill>
                                  <a:latin typeface="Cambria Math" panose="02040503050406030204" pitchFamily="18" charset="0"/>
                                </a:rPr>
                              </m:ctrlPr>
                            </m:fPr>
                            <m:num>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e>
                                  </m:nary>
                                </m:e>
                              </m:nary>
                            </m:num>
                            <m:den>
                              <m:r>
                                <a:rPr lang="en-NZ" altLang="ja-JP" sz="1800" b="1" i="1" smtClean="0">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e>
                              </m:d>
                            </m:den>
                          </m:f>
                        </m:num>
                        <m:den>
                          <m:f>
                            <m:fPr>
                              <m:type m:val="lin"/>
                              <m:ctrlPr>
                                <a:rPr lang="en-NZ" altLang="ja-JP" sz="1800" b="1" i="1" smtClean="0">
                                  <a:solidFill>
                                    <a:schemeClr val="tx1"/>
                                  </a:solidFill>
                                  <a:latin typeface="Cambria Math" panose="02040503050406030204" pitchFamily="18" charset="0"/>
                                </a:rPr>
                              </m:ctrlPr>
                            </m:fPr>
                            <m:num>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e>
                                  </m:nary>
                                </m:e>
                              </m:nary>
                            </m:num>
                            <m:den>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e>
                              </m:d>
                            </m:den>
                          </m:f>
                        </m:den>
                      </m:f>
                    </m:oMath>
                  </m:oMathPara>
                </a14:m>
                <a:endParaRPr lang="en-NZ" altLang="ja-JP" sz="18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1" name="Text Placeholder 5">
                <a:extLst>
                  <a:ext uri="{FF2B5EF4-FFF2-40B4-BE49-F238E27FC236}">
                    <a16:creationId xmlns:a16="http://schemas.microsoft.com/office/drawing/2014/main" id="{910A178C-69DD-41A4-9E28-6B086731C225}"/>
                  </a:ext>
                </a:extLst>
              </p:cNvPr>
              <p:cNvSpPr txBox="1">
                <a:spLocks noRot="1" noChangeAspect="1" noMove="1" noResize="1" noEditPoints="1" noAdjustHandles="1" noChangeArrowheads="1" noChangeShapeType="1" noTextEdit="1"/>
              </p:cNvSpPr>
              <p:nvPr/>
            </p:nvSpPr>
            <p:spPr>
              <a:xfrm>
                <a:off x="251224" y="4738715"/>
                <a:ext cx="11472203" cy="1129822"/>
              </a:xfrm>
              <a:prstGeom prst="rect">
                <a:avLst/>
              </a:prstGeom>
              <a:blipFill>
                <a:blip r:embed="rId4"/>
                <a:stretch>
                  <a:fillRect l="-425" t="-2688" b="-2151"/>
                </a:stretch>
              </a:blipFill>
            </p:spPr>
            <p:txBody>
              <a:bodyPr/>
              <a:lstStyle/>
              <a:p>
                <a:r>
                  <a:rPr lang="en-NZ">
                    <a:noFill/>
                  </a:rPr>
                  <a:t> </a:t>
                </a:r>
              </a:p>
            </p:txBody>
          </p:sp>
        </mc:Fallback>
      </mc:AlternateContent>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2.3a – Deriving the F-Statistic:</a:t>
            </a:r>
            <a:endParaRPr lang="ja-JP" altLang="en-US" b="1" u="sng" dirty="0">
              <a:latin typeface="+mn-lt"/>
            </a:endParaRPr>
          </a:p>
        </p:txBody>
      </p:sp>
      <p:sp>
        <p:nvSpPr>
          <p:cNvPr id="14" name="Text Placeholder 5">
            <a:extLst>
              <a:ext uri="{FF2B5EF4-FFF2-40B4-BE49-F238E27FC236}">
                <a16:creationId xmlns:a16="http://schemas.microsoft.com/office/drawing/2014/main" id="{9C9A2E53-4D32-4626-A9E5-5E18631C4306}"/>
              </a:ext>
            </a:extLst>
          </p:cNvPr>
          <p:cNvSpPr txBox="1">
            <a:spLocks/>
          </p:cNvSpPr>
          <p:nvPr/>
        </p:nvSpPr>
        <p:spPr>
          <a:xfrm>
            <a:off x="251224" y="6182657"/>
            <a:ext cx="11232109" cy="47897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C00000"/>
                </a:solidFill>
              </a:rPr>
              <a:t>How does the F-statistic help us determine between the null and alternative hypothesis?</a:t>
            </a:r>
          </a:p>
          <a:p>
            <a:pPr algn="just">
              <a:lnSpc>
                <a:spcPct val="100000"/>
              </a:lnSpc>
            </a:pPr>
            <a:r>
              <a:rPr lang="en-NZ" altLang="ja-JP" sz="1800" dirty="0">
                <a:solidFill>
                  <a:srgbClr val="C00000"/>
                </a:solidFill>
              </a:rPr>
              <a:t>  </a:t>
            </a:r>
          </a:p>
          <a:p>
            <a:pPr algn="just">
              <a:lnSpc>
                <a:spcPct val="100000"/>
              </a:lnSpc>
            </a:pPr>
            <a:endParaRPr lang="en-NZ" altLang="ja-JP" sz="1800" dirty="0">
              <a:solidFill>
                <a:srgbClr val="C00000"/>
              </a:solidFill>
            </a:endParaRPr>
          </a:p>
          <a:p>
            <a:pPr algn="just">
              <a:lnSpc>
                <a:spcPct val="100000"/>
              </a:lnSpc>
            </a:pPr>
            <a:endParaRPr lang="en-NZ" altLang="ja-JP" sz="1800" i="1" dirty="0">
              <a:solidFill>
                <a:srgbClr val="C00000"/>
              </a:solidFill>
            </a:endParaRPr>
          </a:p>
        </p:txBody>
      </p:sp>
      <p:sp>
        <p:nvSpPr>
          <p:cNvPr id="10" name="Footer Placeholder 2">
            <a:extLst>
              <a:ext uri="{FF2B5EF4-FFF2-40B4-BE49-F238E27FC236}">
                <a16:creationId xmlns:a16="http://schemas.microsoft.com/office/drawing/2014/main" id="{B2E03830-589C-664B-FCA2-ECC4D8C0BEAA}"/>
              </a:ext>
            </a:extLst>
          </p:cNvPr>
          <p:cNvSpPr txBox="1">
            <a:spLocks/>
          </p:cNvSpPr>
          <p:nvPr/>
        </p:nvSpPr>
        <p:spPr>
          <a:xfrm>
            <a:off x="9144000" y="86139"/>
            <a:ext cx="294536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2.3 – Deriving the F-statistic</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61112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24</a:t>
            </a:fld>
            <a:endParaRPr kumimoji="1" lang="ja-JP" altLang="en-US" dirty="0">
              <a:solidFill>
                <a:srgbClr val="575454">
                  <a:lumMod val="20000"/>
                  <a:lumOff val="80000"/>
                </a:srgbClr>
              </a:solidFill>
              <a:latin typeface="Coo Hew"/>
            </a:endParaRPr>
          </a:p>
        </p:txBody>
      </p:sp>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3" y="994525"/>
            <a:ext cx="2669397"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It can be shown that*…</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2.3a – Deriving the F-Statistic:</a:t>
            </a:r>
            <a:endParaRPr lang="ja-JP" altLang="en-US" b="1" u="sng" dirty="0">
              <a:latin typeface="+mn-lt"/>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F6441D6F-CFF1-4983-ABB8-734430B858C3}"/>
                  </a:ext>
                </a:extLst>
              </p:cNvPr>
              <p:cNvSpPr txBox="1">
                <a:spLocks/>
              </p:cNvSpPr>
              <p:nvPr/>
            </p:nvSpPr>
            <p:spPr>
              <a:xfrm>
                <a:off x="857256" y="1220634"/>
                <a:ext cx="3264368" cy="9753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𝑴𝑺𝑻</m:t>
                          </m:r>
                        </m:e>
                      </m:d>
                      <m:r>
                        <a:rPr lang="en-NZ" altLang="ja-JP" sz="1800" b="1" i="1" smtClean="0">
                          <a:solidFill>
                            <a:schemeClr val="tx1"/>
                          </a:solidFill>
                          <a:latin typeface="Cambria Math" panose="02040503050406030204" pitchFamily="18" charset="0"/>
                        </a:rPr>
                        <m:t>=</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𝒏</m:t>
                          </m:r>
                        </m:num>
                        <m:den>
                          <m:r>
                            <a:rPr lang="en-NZ" altLang="ja-JP" sz="1800" b="1" i="1" smtClean="0">
                              <a:solidFill>
                                <a:schemeClr val="tx1"/>
                              </a:solidFill>
                              <a:latin typeface="Cambria Math" panose="02040503050406030204" pitchFamily="18" charset="0"/>
                            </a:rPr>
                            <m:t>𝒌</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den>
                      </m:f>
                      <m:r>
                        <a:rPr lang="en-NZ" altLang="ja-JP" sz="1800" b="1" i="1" smtClean="0">
                          <a:solidFill>
                            <a:schemeClr val="tx1"/>
                          </a:solidFill>
                          <a:latin typeface="Cambria Math" panose="02040503050406030204" pitchFamily="18" charset="0"/>
                        </a:rPr>
                        <m:t> </m:t>
                      </m:r>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smtClean="0">
                              <a:solidFill>
                                <a:schemeClr val="tx1"/>
                              </a:solidFill>
                              <a:latin typeface="Cambria Math" panose="02040503050406030204" pitchFamily="18" charset="0"/>
                            </a:rPr>
                            <m:t>𝒊</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b>
                        <m:sup>
                          <m:r>
                            <a:rPr lang="en-NZ" altLang="ja-JP" sz="1800" b="1" i="1" smtClean="0">
                              <a:solidFill>
                                <a:schemeClr val="tx1"/>
                              </a:solidFill>
                              <a:latin typeface="Cambria Math" panose="02040503050406030204" pitchFamily="18" charset="0"/>
                            </a:rPr>
                            <m:t>𝒌</m:t>
                          </m:r>
                        </m:sup>
                        <m:e>
                          <m:sSubSup>
                            <m:sSubSupPr>
                              <m:ctrlPr>
                                <a:rPr lang="en-NZ" altLang="ja-JP" sz="1800" b="1" i="1" smtClean="0">
                                  <a:solidFill>
                                    <a:schemeClr val="tx1"/>
                                  </a:solidFill>
                                  <a:latin typeface="Cambria Math" panose="02040503050406030204" pitchFamily="18" charset="0"/>
                                </a:rPr>
                              </m:ctrlPr>
                            </m:sSubSup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up>
                              <m:r>
                                <a:rPr lang="en-NZ" altLang="ja-JP" sz="1800" b="1" i="1" smtClean="0">
                                  <a:solidFill>
                                    <a:schemeClr val="tx1"/>
                                  </a:solidFill>
                                  <a:latin typeface="Cambria Math" panose="02040503050406030204" pitchFamily="18" charset="0"/>
                                </a:rPr>
                                <m:t>𝟐</m:t>
                              </m:r>
                            </m:sup>
                          </m:sSubSup>
                        </m:e>
                      </m:nary>
                    </m:oMath>
                  </m:oMathPara>
                </a14:m>
                <a:endParaRPr lang="en-NZ" altLang="ja-JP" sz="1800" b="1" dirty="0">
                  <a:solidFill>
                    <a:schemeClr val="tx1"/>
                  </a:solidFill>
                </a:endParaRPr>
              </a:p>
              <a:p>
                <a:pPr algn="just">
                  <a:lnSpc>
                    <a:spcPct val="100000"/>
                  </a:lnSpc>
                </a:pPr>
                <a:r>
                  <a:rPr lang="en-NZ" altLang="ja-JP" sz="1800" b="1" dirty="0">
                    <a:solidFill>
                      <a:schemeClr val="tx1"/>
                    </a:solidFill>
                  </a:rPr>
                  <a:t>  </a:t>
                </a:r>
              </a:p>
              <a:p>
                <a:pPr algn="just">
                  <a:lnSpc>
                    <a:spcPct val="100000"/>
                  </a:lnSpc>
                </a:pPr>
                <a:endParaRPr lang="en-NZ" altLang="ja-JP" sz="1800" b="1" dirty="0">
                  <a:solidFill>
                    <a:schemeClr val="tx1"/>
                  </a:solidFill>
                </a:endParaRPr>
              </a:p>
              <a:p>
                <a:pPr algn="just">
                  <a:lnSpc>
                    <a:spcPct val="100000"/>
                  </a:lnSpc>
                </a:pPr>
                <a:endParaRPr lang="en-NZ" altLang="ja-JP" sz="1800" b="1" i="1" dirty="0">
                  <a:solidFill>
                    <a:srgbClr val="C00000"/>
                  </a:solidFill>
                </a:endParaRPr>
              </a:p>
            </p:txBody>
          </p:sp>
        </mc:Choice>
        <mc:Fallback xmlns="">
          <p:sp>
            <p:nvSpPr>
              <p:cNvPr id="10" name="Text Placeholder 5">
                <a:extLst>
                  <a:ext uri="{FF2B5EF4-FFF2-40B4-BE49-F238E27FC236}">
                    <a16:creationId xmlns:a16="http://schemas.microsoft.com/office/drawing/2014/main" id="{F6441D6F-CFF1-4983-ABB8-734430B858C3}"/>
                  </a:ext>
                </a:extLst>
              </p:cNvPr>
              <p:cNvSpPr txBox="1">
                <a:spLocks noRot="1" noChangeAspect="1" noMove="1" noResize="1" noEditPoints="1" noAdjustHandles="1" noChangeArrowheads="1" noChangeShapeType="1" noTextEdit="1"/>
              </p:cNvSpPr>
              <p:nvPr/>
            </p:nvSpPr>
            <p:spPr>
              <a:xfrm>
                <a:off x="857256" y="1220634"/>
                <a:ext cx="3264368" cy="975339"/>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DE4A75D0-C1C7-4627-B57B-71552145C53F}"/>
                  </a:ext>
                </a:extLst>
              </p:cNvPr>
              <p:cNvSpPr txBox="1">
                <a:spLocks/>
              </p:cNvSpPr>
              <p:nvPr/>
            </p:nvSpPr>
            <p:spPr>
              <a:xfrm>
                <a:off x="5568284" y="1476529"/>
                <a:ext cx="3373550" cy="4727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𝑴𝑺𝑬</m:t>
                          </m:r>
                        </m:e>
                      </m:d>
                      <m:r>
                        <a:rPr lang="en-NZ" altLang="ja-JP" sz="1800" b="1" i="1" smtClean="0">
                          <a:solidFill>
                            <a:schemeClr val="tx1"/>
                          </a:solidFill>
                          <a:latin typeface="Cambria Math" panose="02040503050406030204" pitchFamily="18" charset="0"/>
                        </a:rPr>
                        <m:t>=</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oMath>
                  </m:oMathPara>
                </a14:m>
                <a:endParaRPr lang="en-NZ" altLang="ja-JP" sz="1800" b="1" dirty="0">
                  <a:solidFill>
                    <a:schemeClr val="tx1"/>
                  </a:solidFill>
                </a:endParaRPr>
              </a:p>
              <a:p>
                <a:pPr algn="just">
                  <a:lnSpc>
                    <a:spcPct val="100000"/>
                  </a:lnSpc>
                </a:pPr>
                <a:endParaRPr lang="en-NZ" altLang="ja-JP" sz="1800" b="1" dirty="0">
                  <a:solidFill>
                    <a:schemeClr val="tx1"/>
                  </a:solidFill>
                </a:endParaRPr>
              </a:p>
              <a:p>
                <a:pPr algn="just">
                  <a:lnSpc>
                    <a:spcPct val="100000"/>
                  </a:lnSpc>
                </a:pPr>
                <a:endParaRPr lang="en-NZ" altLang="ja-JP" sz="1800" b="1" i="1" dirty="0">
                  <a:solidFill>
                    <a:srgbClr val="C00000"/>
                  </a:solidFill>
                </a:endParaRPr>
              </a:p>
            </p:txBody>
          </p:sp>
        </mc:Choice>
        <mc:Fallback xmlns="">
          <p:sp>
            <p:nvSpPr>
              <p:cNvPr id="15" name="Text Placeholder 5">
                <a:extLst>
                  <a:ext uri="{FF2B5EF4-FFF2-40B4-BE49-F238E27FC236}">
                    <a16:creationId xmlns:a16="http://schemas.microsoft.com/office/drawing/2014/main" id="{DE4A75D0-C1C7-4627-B57B-71552145C53F}"/>
                  </a:ext>
                </a:extLst>
              </p:cNvPr>
              <p:cNvSpPr txBox="1">
                <a:spLocks noRot="1" noChangeAspect="1" noMove="1" noResize="1" noEditPoints="1" noAdjustHandles="1" noChangeArrowheads="1" noChangeShapeType="1" noTextEdit="1"/>
              </p:cNvSpPr>
              <p:nvPr/>
            </p:nvSpPr>
            <p:spPr>
              <a:xfrm>
                <a:off x="5568284" y="1476529"/>
                <a:ext cx="3373550" cy="472776"/>
              </a:xfrm>
              <a:prstGeom prst="rect">
                <a:avLst/>
              </a:prstGeom>
              <a:blipFill>
                <a:blip r:embed="rId3"/>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8010CD43-4038-44BF-ADBC-E520732B3B65}"/>
              </a:ext>
            </a:extLst>
          </p:cNvPr>
          <p:cNvSpPr txBox="1">
            <a:spLocks/>
          </p:cNvSpPr>
          <p:nvPr/>
        </p:nvSpPr>
        <p:spPr>
          <a:xfrm>
            <a:off x="4367280" y="1467301"/>
            <a:ext cx="1012210"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and</a:t>
            </a: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p:sp>
        <p:nvSpPr>
          <p:cNvPr id="18" name="Text Placeholder 5">
            <a:extLst>
              <a:ext uri="{FF2B5EF4-FFF2-40B4-BE49-F238E27FC236}">
                <a16:creationId xmlns:a16="http://schemas.microsoft.com/office/drawing/2014/main" id="{BC1FCBB0-90DD-449C-B02A-BCF21628FE9B}"/>
              </a:ext>
            </a:extLst>
          </p:cNvPr>
          <p:cNvSpPr txBox="1">
            <a:spLocks/>
          </p:cNvSpPr>
          <p:nvPr/>
        </p:nvSpPr>
        <p:spPr>
          <a:xfrm>
            <a:off x="163773" y="6492774"/>
            <a:ext cx="82558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bg2">
                    <a:lumMod val="25000"/>
                  </a:schemeClr>
                </a:solidFill>
              </a:rPr>
              <a:t>*The proof of these statements is not required for this course but is available as supplementary material on the intranet. </a:t>
            </a:r>
          </a:p>
          <a:p>
            <a:pPr algn="just">
              <a:lnSpc>
                <a:spcPct val="100000"/>
              </a:lnSpc>
            </a:pPr>
            <a:r>
              <a:rPr lang="en-NZ" altLang="ja-JP" sz="1200" dirty="0">
                <a:solidFill>
                  <a:schemeClr val="bg2">
                    <a:lumMod val="25000"/>
                  </a:schemeClr>
                </a:solidFill>
              </a:rPr>
              <a:t>  </a:t>
            </a:r>
          </a:p>
          <a:p>
            <a:pPr algn="just">
              <a:lnSpc>
                <a:spcPct val="100000"/>
              </a:lnSpc>
            </a:pPr>
            <a:endParaRPr lang="en-NZ" altLang="ja-JP" sz="1200" dirty="0">
              <a:solidFill>
                <a:schemeClr val="bg2">
                  <a:lumMod val="25000"/>
                </a:schemeClr>
              </a:solidFill>
            </a:endParaRPr>
          </a:p>
          <a:p>
            <a:pPr algn="just">
              <a:lnSpc>
                <a:spcPct val="100000"/>
              </a:lnSpc>
            </a:pPr>
            <a:endParaRPr lang="en-NZ" altLang="ja-JP" sz="1200" i="1" dirty="0">
              <a:solidFill>
                <a:schemeClr val="bg2">
                  <a:lumMod val="25000"/>
                </a:schemeClr>
              </a:solidFill>
            </a:endParaRPr>
          </a:p>
        </p:txBody>
      </p:sp>
      <p:sp>
        <p:nvSpPr>
          <p:cNvPr id="19" name="Text Placeholder 5">
            <a:extLst>
              <a:ext uri="{FF2B5EF4-FFF2-40B4-BE49-F238E27FC236}">
                <a16:creationId xmlns:a16="http://schemas.microsoft.com/office/drawing/2014/main" id="{FCCA98A1-A976-4C17-A8E3-FE22BCB97D06}"/>
              </a:ext>
            </a:extLst>
          </p:cNvPr>
          <p:cNvSpPr txBox="1">
            <a:spLocks/>
          </p:cNvSpPr>
          <p:nvPr/>
        </p:nvSpPr>
        <p:spPr>
          <a:xfrm>
            <a:off x="558349" y="3177755"/>
            <a:ext cx="5202088" cy="4088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u="sng" dirty="0">
                <a:solidFill>
                  <a:schemeClr val="tx1"/>
                </a:solidFill>
              </a:rPr>
              <a:t>If </a:t>
            </a:r>
            <a:r>
              <a:rPr lang="en-NZ" altLang="ja-JP" sz="1800" b="1" i="1" u="sng" dirty="0">
                <a:solidFill>
                  <a:schemeClr val="tx1"/>
                </a:solidFill>
              </a:rPr>
              <a:t>H</a:t>
            </a:r>
            <a:r>
              <a:rPr lang="en-NZ" altLang="ja-JP" sz="1800" b="1" i="1" baseline="-25000" dirty="0">
                <a:solidFill>
                  <a:schemeClr val="tx1"/>
                </a:solidFill>
              </a:rPr>
              <a:t>0</a:t>
            </a:r>
            <a:r>
              <a:rPr lang="en-NZ" altLang="ja-JP" sz="1800" b="1" u="sng" dirty="0">
                <a:solidFill>
                  <a:schemeClr val="tx1"/>
                </a:solidFill>
              </a:rPr>
              <a:t> is true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5B8D3740-51CA-48F9-84DF-566F241BE507}"/>
                  </a:ext>
                </a:extLst>
              </p:cNvPr>
              <p:cNvSpPr txBox="1">
                <a:spLocks/>
              </p:cNvSpPr>
              <p:nvPr/>
            </p:nvSpPr>
            <p:spPr>
              <a:xfrm>
                <a:off x="291145" y="2197107"/>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𝟎</m:t>
                        </m:r>
                      </m:sub>
                    </m:sSub>
                    <m:r>
                      <a:rPr lang="en-NZ" altLang="ja-JP" sz="2000" b="1" i="1" smtClean="0">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𝒋</m:t>
                        </m:r>
                      </m:sub>
                    </m:sSub>
                  </m:oMath>
                </a14:m>
                <a:r>
                  <a:rPr lang="en-NZ" altLang="ja-JP" sz="2000" b="1" i="1" dirty="0">
                    <a:solidFill>
                      <a:srgbClr val="002060"/>
                    </a:solidFill>
                    <a:latin typeface="Cambria Math" panose="02040503050406030204" pitchFamily="18" charset="0"/>
                  </a:rPr>
                  <a:t>  </a:t>
                </a:r>
                <a:r>
                  <a:rPr lang="en-NZ" altLang="ja-JP" sz="1600" dirty="0">
                    <a:solidFill>
                      <a:srgbClr val="002060"/>
                    </a:solidFill>
                    <a:latin typeface="Cambria Math" panose="02040503050406030204" pitchFamily="18" charset="0"/>
                  </a:rPr>
                  <a:t>for all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m:t>
                    </m:r>
                    <m:r>
                      <a:rPr lang="en-NZ" altLang="ja-JP" sz="1600" b="0" i="1" smtClean="0">
                        <a:solidFill>
                          <a:srgbClr val="002060"/>
                        </a:solidFill>
                        <a:latin typeface="Cambria Math" panose="02040503050406030204" pitchFamily="18" charset="0"/>
                      </a:rPr>
                      <m:t>𝑗</m:t>
                    </m:r>
                    <m:r>
                      <a:rPr lang="en-NZ" altLang="ja-JP" sz="1600" b="0" i="1" smtClean="0">
                        <a:solidFill>
                          <a:srgbClr val="002060"/>
                        </a:solidFill>
                        <a:latin typeface="Cambria Math" panose="02040503050406030204" pitchFamily="18" charset="0"/>
                      </a:rPr>
                      <m:t>=1, …, </m:t>
                    </m:r>
                    <m:r>
                      <a:rPr lang="en-NZ" altLang="ja-JP" sz="1600" b="0" i="1" smtClean="0">
                        <a:solidFill>
                          <a:srgbClr val="002060"/>
                        </a:solidFill>
                        <a:latin typeface="Cambria Math" panose="02040503050406030204" pitchFamily="18" charset="0"/>
                      </a:rPr>
                      <m:t>𝑘</m:t>
                    </m:r>
                  </m:oMath>
                </a14:m>
                <a:r>
                  <a:rPr lang="en-NZ" altLang="ja-JP" sz="1600" dirty="0">
                    <a:solidFill>
                      <a:srgbClr val="002060"/>
                    </a:solidFill>
                    <a:latin typeface="Cambria Math" panose="02040503050406030204" pitchFamily="18" charset="0"/>
                  </a:rPr>
                  <a:t> </a:t>
                </a:r>
                <a:br>
                  <a:rPr lang="en-NZ" altLang="ja-JP" sz="2000" b="1" i="1" dirty="0">
                    <a:solidFill>
                      <a:srgbClr val="002060"/>
                    </a:solidFill>
                    <a:latin typeface="Cambria Math" panose="02040503050406030204" pitchFamily="18" charset="0"/>
                  </a:rPr>
                </a:br>
                <a14:m>
                  <m:oMath xmlns:m="http://schemas.openxmlformats.org/officeDocument/2006/math">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𝟏</m:t>
                        </m:r>
                      </m:sub>
                    </m:sSub>
                    <m:r>
                      <a:rPr lang="en-NZ" altLang="ja-JP" sz="2000" b="1" i="1">
                        <a:solidFill>
                          <a:srgbClr val="002060"/>
                        </a:solidFill>
                        <a:latin typeface="Cambria Math" panose="02040503050406030204" pitchFamily="18" charset="0"/>
                      </a:rPr>
                      <m:t> :  </m:t>
                    </m:r>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a:solidFill>
                          <a:srgbClr val="002060"/>
                        </a:solidFill>
                        <a:latin typeface="Cambria Math" panose="02040503050406030204" pitchFamily="18" charset="0"/>
                      </a:rPr>
                      <m:t> </m:t>
                    </m:r>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𝒋</m:t>
                        </m:r>
                      </m:sub>
                    </m:sSub>
                  </m:oMath>
                </a14:m>
                <a:r>
                  <a:rPr lang="en-NZ" altLang="ja-JP" sz="2000" b="1" dirty="0">
                    <a:solidFill>
                      <a:srgbClr val="002060"/>
                    </a:solidFill>
                  </a:rPr>
                  <a:t>  </a:t>
                </a:r>
                <a:r>
                  <a:rPr lang="en-NZ" altLang="ja-JP" sz="1600" dirty="0">
                    <a:solidFill>
                      <a:srgbClr val="002060"/>
                    </a:solidFill>
                  </a:rPr>
                  <a:t>for some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m:t>
                    </m:r>
                    <m:r>
                      <a:rPr lang="en-NZ" altLang="ja-JP" sz="1600" b="0" i="1" smtClean="0">
                        <a:solidFill>
                          <a:srgbClr val="002060"/>
                        </a:solidFill>
                        <a:latin typeface="Cambria Math" panose="02040503050406030204" pitchFamily="18" charset="0"/>
                      </a:rPr>
                      <m:t>𝑗</m:t>
                    </m:r>
                  </m:oMath>
                </a14:m>
                <a:endParaRPr lang="en-NZ" altLang="ja-JP" sz="1600" dirty="0">
                  <a:solidFill>
                    <a:srgbClr val="002060"/>
                  </a:solidFill>
                </a:endParaRPr>
              </a:p>
            </p:txBody>
          </p:sp>
        </mc:Choice>
        <mc:Fallback xmlns="">
          <p:sp>
            <p:nvSpPr>
              <p:cNvPr id="21" name="Text Placeholder 5">
                <a:extLst>
                  <a:ext uri="{FF2B5EF4-FFF2-40B4-BE49-F238E27FC236}">
                    <a16:creationId xmlns:a16="http://schemas.microsoft.com/office/drawing/2014/main" id="{5B8D3740-51CA-48F9-84DF-566F241BE507}"/>
                  </a:ext>
                </a:extLst>
              </p:cNvPr>
              <p:cNvSpPr txBox="1">
                <a:spLocks noRot="1" noChangeAspect="1" noMove="1" noResize="1" noEditPoints="1" noAdjustHandles="1" noChangeArrowheads="1" noChangeShapeType="1" noTextEdit="1"/>
              </p:cNvSpPr>
              <p:nvPr/>
            </p:nvSpPr>
            <p:spPr>
              <a:xfrm>
                <a:off x="291145" y="2197107"/>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03861998-4F8E-4F9A-8ED9-DB65276EECD4}"/>
                  </a:ext>
                </a:extLst>
              </p:cNvPr>
              <p:cNvSpPr txBox="1">
                <a:spLocks/>
              </p:cNvSpPr>
              <p:nvPr/>
            </p:nvSpPr>
            <p:spPr>
              <a:xfrm>
                <a:off x="4570742" y="2234532"/>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𝟎</m:t>
                        </m:r>
                      </m:sub>
                    </m:sSub>
                    <m:r>
                      <a:rPr lang="en-NZ" altLang="ja-JP" sz="2000" b="1" i="1" smtClean="0">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𝝁</m:t>
                    </m:r>
                  </m:oMath>
                </a14:m>
                <a:r>
                  <a:rPr lang="en-NZ" altLang="ja-JP" sz="2000" b="1" i="1" dirty="0">
                    <a:solidFill>
                      <a:srgbClr val="002060"/>
                    </a:solidFill>
                    <a:latin typeface="Cambria Math" panose="02040503050406030204" pitchFamily="18" charset="0"/>
                  </a:rPr>
                  <a:t>  </a:t>
                </a:r>
                <a:r>
                  <a:rPr lang="en-NZ" altLang="ja-JP" sz="1600" dirty="0">
                    <a:solidFill>
                      <a:srgbClr val="002060"/>
                    </a:solidFill>
                    <a:latin typeface="Cambria Math" panose="02040503050406030204" pitchFamily="18" charset="0"/>
                  </a:rPr>
                  <a:t>for all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=1, …, </m:t>
                    </m:r>
                    <m:r>
                      <a:rPr lang="en-NZ" altLang="ja-JP" sz="1600" b="0" i="1" smtClean="0">
                        <a:solidFill>
                          <a:srgbClr val="002060"/>
                        </a:solidFill>
                        <a:latin typeface="Cambria Math" panose="02040503050406030204" pitchFamily="18" charset="0"/>
                      </a:rPr>
                      <m:t>𝑘</m:t>
                    </m:r>
                  </m:oMath>
                </a14:m>
                <a:r>
                  <a:rPr lang="en-NZ" altLang="ja-JP" sz="1600" dirty="0">
                    <a:solidFill>
                      <a:srgbClr val="002060"/>
                    </a:solidFill>
                    <a:latin typeface="Cambria Math" panose="02040503050406030204" pitchFamily="18" charset="0"/>
                  </a:rPr>
                  <a:t> </a:t>
                </a:r>
                <a:br>
                  <a:rPr lang="en-NZ" altLang="ja-JP" sz="2000" b="1" i="1" dirty="0">
                    <a:solidFill>
                      <a:srgbClr val="002060"/>
                    </a:solidFill>
                    <a:latin typeface="Cambria Math" panose="02040503050406030204" pitchFamily="18" charset="0"/>
                  </a:rPr>
                </a:br>
                <a14:m>
                  <m:oMath xmlns:m="http://schemas.openxmlformats.org/officeDocument/2006/math">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𝟏</m:t>
                        </m:r>
                      </m:sub>
                    </m:sSub>
                    <m:r>
                      <a:rPr lang="en-NZ" altLang="ja-JP" sz="2000" b="1" i="1">
                        <a:solidFill>
                          <a:srgbClr val="002060"/>
                        </a:solidFill>
                        <a:latin typeface="Cambria Math" panose="02040503050406030204" pitchFamily="18" charset="0"/>
                      </a:rPr>
                      <m:t> :  </m:t>
                    </m:r>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𝝁</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𝝁</m:t>
                    </m:r>
                  </m:oMath>
                </a14:m>
                <a:r>
                  <a:rPr lang="en-NZ" altLang="ja-JP" sz="2000" b="1" dirty="0">
                    <a:solidFill>
                      <a:srgbClr val="002060"/>
                    </a:solidFill>
                  </a:rPr>
                  <a:t>  </a:t>
                </a:r>
                <a:r>
                  <a:rPr lang="en-NZ" altLang="ja-JP" sz="1600" dirty="0">
                    <a:solidFill>
                      <a:srgbClr val="002060"/>
                    </a:solidFill>
                  </a:rPr>
                  <a:t>for some </a:t>
                </a:r>
                <a14:m>
                  <m:oMath xmlns:m="http://schemas.openxmlformats.org/officeDocument/2006/math">
                    <m:r>
                      <a:rPr lang="en-NZ" altLang="ja-JP" sz="1600" b="0" i="1" smtClean="0">
                        <a:solidFill>
                          <a:srgbClr val="002060"/>
                        </a:solidFill>
                        <a:latin typeface="Cambria Math" panose="02040503050406030204" pitchFamily="18" charset="0"/>
                      </a:rPr>
                      <m:t>𝑖</m:t>
                    </m:r>
                  </m:oMath>
                </a14:m>
                <a:endParaRPr lang="en-NZ" altLang="ja-JP" sz="1600" dirty="0">
                  <a:solidFill>
                    <a:srgbClr val="002060"/>
                  </a:solidFill>
                </a:endParaRPr>
              </a:p>
            </p:txBody>
          </p:sp>
        </mc:Choice>
        <mc:Fallback xmlns="">
          <p:sp>
            <p:nvSpPr>
              <p:cNvPr id="23" name="Text Placeholder 5">
                <a:extLst>
                  <a:ext uri="{FF2B5EF4-FFF2-40B4-BE49-F238E27FC236}">
                    <a16:creationId xmlns:a16="http://schemas.microsoft.com/office/drawing/2014/main" id="{03861998-4F8E-4F9A-8ED9-DB65276EECD4}"/>
                  </a:ext>
                </a:extLst>
              </p:cNvPr>
              <p:cNvSpPr txBox="1">
                <a:spLocks noRot="1" noChangeAspect="1" noMove="1" noResize="1" noEditPoints="1" noAdjustHandles="1" noChangeArrowheads="1" noChangeShapeType="1" noTextEdit="1"/>
              </p:cNvSpPr>
              <p:nvPr/>
            </p:nvSpPr>
            <p:spPr>
              <a:xfrm>
                <a:off x="4570742" y="2234532"/>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BE5110AA-BD4E-44A3-9B4B-E9BE9DD4CDB8}"/>
                  </a:ext>
                </a:extLst>
              </p:cNvPr>
              <p:cNvSpPr txBox="1">
                <a:spLocks/>
              </p:cNvSpPr>
              <p:nvPr/>
            </p:nvSpPr>
            <p:spPr>
              <a:xfrm>
                <a:off x="8684523" y="222485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𝟎</m:t>
                        </m:r>
                      </m:sub>
                    </m:sSub>
                    <m:r>
                      <a:rPr lang="en-NZ" altLang="ja-JP" sz="2000" b="1" i="1" smtClean="0">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𝜶</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𝟎</m:t>
                    </m:r>
                  </m:oMath>
                </a14:m>
                <a:r>
                  <a:rPr lang="en-NZ" altLang="ja-JP" sz="2000" b="1" i="1" dirty="0">
                    <a:solidFill>
                      <a:srgbClr val="002060"/>
                    </a:solidFill>
                    <a:latin typeface="Cambria Math" panose="02040503050406030204" pitchFamily="18" charset="0"/>
                  </a:rPr>
                  <a:t>  </a:t>
                </a:r>
                <a:r>
                  <a:rPr lang="en-NZ" altLang="ja-JP" sz="1600" dirty="0">
                    <a:solidFill>
                      <a:srgbClr val="002060"/>
                    </a:solidFill>
                    <a:latin typeface="Cambria Math" panose="02040503050406030204" pitchFamily="18" charset="0"/>
                  </a:rPr>
                  <a:t>for all </a:t>
                </a:r>
                <a14:m>
                  <m:oMath xmlns:m="http://schemas.openxmlformats.org/officeDocument/2006/math">
                    <m:r>
                      <a:rPr lang="en-NZ" altLang="ja-JP" sz="1600" b="0" i="1" smtClean="0">
                        <a:solidFill>
                          <a:srgbClr val="002060"/>
                        </a:solidFill>
                        <a:latin typeface="Cambria Math" panose="02040503050406030204" pitchFamily="18" charset="0"/>
                      </a:rPr>
                      <m:t>𝑖</m:t>
                    </m:r>
                    <m:r>
                      <a:rPr lang="en-NZ" altLang="ja-JP" sz="1600" b="0" i="1" smtClean="0">
                        <a:solidFill>
                          <a:srgbClr val="002060"/>
                        </a:solidFill>
                        <a:latin typeface="Cambria Math" panose="02040503050406030204" pitchFamily="18" charset="0"/>
                      </a:rPr>
                      <m:t>=1, …, </m:t>
                    </m:r>
                    <m:r>
                      <a:rPr lang="en-NZ" altLang="ja-JP" sz="1600" b="0" i="1" smtClean="0">
                        <a:solidFill>
                          <a:srgbClr val="002060"/>
                        </a:solidFill>
                        <a:latin typeface="Cambria Math" panose="02040503050406030204" pitchFamily="18" charset="0"/>
                      </a:rPr>
                      <m:t>𝑘</m:t>
                    </m:r>
                  </m:oMath>
                </a14:m>
                <a:r>
                  <a:rPr lang="en-NZ" altLang="ja-JP" sz="1600" dirty="0">
                    <a:solidFill>
                      <a:srgbClr val="002060"/>
                    </a:solidFill>
                    <a:latin typeface="Cambria Math" panose="02040503050406030204" pitchFamily="18" charset="0"/>
                  </a:rPr>
                  <a:t> </a:t>
                </a:r>
                <a:br>
                  <a:rPr lang="en-NZ" altLang="ja-JP" sz="2000" b="1" i="1" dirty="0">
                    <a:solidFill>
                      <a:srgbClr val="002060"/>
                    </a:solidFill>
                    <a:latin typeface="Cambria Math" panose="02040503050406030204" pitchFamily="18" charset="0"/>
                  </a:rPr>
                </a:br>
                <a14:m>
                  <m:oMath xmlns:m="http://schemas.openxmlformats.org/officeDocument/2006/math">
                    <m:sSub>
                      <m:sSubPr>
                        <m:ctrlPr>
                          <a:rPr lang="en-NZ" altLang="ja-JP" sz="2000" b="1" i="1">
                            <a:solidFill>
                              <a:srgbClr val="002060"/>
                            </a:solidFill>
                            <a:latin typeface="Cambria Math" panose="02040503050406030204" pitchFamily="18" charset="0"/>
                          </a:rPr>
                        </m:ctrlPr>
                      </m:sSubPr>
                      <m:e>
                        <m:r>
                          <a:rPr lang="en-NZ" altLang="ja-JP" sz="2000" b="1" i="1">
                            <a:solidFill>
                              <a:srgbClr val="002060"/>
                            </a:solidFill>
                            <a:latin typeface="Cambria Math" panose="02040503050406030204" pitchFamily="18" charset="0"/>
                          </a:rPr>
                          <m:t>𝑯</m:t>
                        </m:r>
                      </m:e>
                      <m:sub>
                        <m:r>
                          <a:rPr lang="en-NZ" altLang="ja-JP" sz="2000" b="1" i="1" smtClean="0">
                            <a:solidFill>
                              <a:srgbClr val="002060"/>
                            </a:solidFill>
                            <a:latin typeface="Cambria Math" panose="02040503050406030204" pitchFamily="18" charset="0"/>
                          </a:rPr>
                          <m:t>𝟏</m:t>
                        </m:r>
                      </m:sub>
                    </m:sSub>
                    <m:r>
                      <a:rPr lang="en-NZ" altLang="ja-JP" sz="2000" b="1" i="1">
                        <a:solidFill>
                          <a:srgbClr val="002060"/>
                        </a:solidFill>
                        <a:latin typeface="Cambria Math" panose="02040503050406030204" pitchFamily="18" charset="0"/>
                      </a:rPr>
                      <m:t> :  </m:t>
                    </m:r>
                    <m:sSub>
                      <m:sSubPr>
                        <m:ctrlPr>
                          <a:rPr lang="en-NZ" altLang="ja-JP" sz="2000" b="1" i="1" smtClean="0">
                            <a:solidFill>
                              <a:srgbClr val="002060"/>
                            </a:solidFill>
                            <a:latin typeface="Cambria Math" panose="02040503050406030204" pitchFamily="18" charset="0"/>
                          </a:rPr>
                        </m:ctrlPr>
                      </m:sSubPr>
                      <m:e>
                        <m:r>
                          <a:rPr lang="en-NZ" altLang="ja-JP" sz="2000" b="1" i="1" smtClean="0">
                            <a:solidFill>
                              <a:srgbClr val="002060"/>
                            </a:solidFill>
                            <a:latin typeface="Cambria Math" panose="02040503050406030204" pitchFamily="18" charset="0"/>
                          </a:rPr>
                          <m:t>𝜶</m:t>
                        </m:r>
                      </m:e>
                      <m:sub>
                        <m:r>
                          <a:rPr lang="en-NZ" altLang="ja-JP" sz="2000" b="1" i="1" smtClean="0">
                            <a:solidFill>
                              <a:srgbClr val="002060"/>
                            </a:solidFill>
                            <a:latin typeface="Cambria Math" panose="02040503050406030204" pitchFamily="18" charset="0"/>
                          </a:rPr>
                          <m:t>𝒊</m:t>
                        </m:r>
                      </m:sub>
                    </m:sSub>
                    <m:r>
                      <a:rPr lang="en-NZ" altLang="ja-JP" sz="2000" b="1" i="1" smtClean="0">
                        <a:solidFill>
                          <a:srgbClr val="002060"/>
                        </a:solidFill>
                        <a:latin typeface="Cambria Math" panose="02040503050406030204" pitchFamily="18" charset="0"/>
                      </a:rPr>
                      <m:t>≠</m:t>
                    </m:r>
                    <m:r>
                      <a:rPr lang="en-NZ" altLang="ja-JP" sz="2000" b="1" i="1" smtClean="0">
                        <a:solidFill>
                          <a:srgbClr val="002060"/>
                        </a:solidFill>
                        <a:latin typeface="Cambria Math" panose="02040503050406030204" pitchFamily="18" charset="0"/>
                      </a:rPr>
                      <m:t>𝟎</m:t>
                    </m:r>
                  </m:oMath>
                </a14:m>
                <a:r>
                  <a:rPr lang="en-NZ" altLang="ja-JP" sz="2000" b="1" dirty="0">
                    <a:solidFill>
                      <a:srgbClr val="002060"/>
                    </a:solidFill>
                  </a:rPr>
                  <a:t>  </a:t>
                </a:r>
                <a:r>
                  <a:rPr lang="en-NZ" altLang="ja-JP" sz="1600" dirty="0">
                    <a:solidFill>
                      <a:srgbClr val="002060"/>
                    </a:solidFill>
                  </a:rPr>
                  <a:t>for some </a:t>
                </a:r>
                <a14:m>
                  <m:oMath xmlns:m="http://schemas.openxmlformats.org/officeDocument/2006/math">
                    <m:r>
                      <a:rPr lang="en-NZ" altLang="ja-JP" sz="1600" b="0" i="1" smtClean="0">
                        <a:solidFill>
                          <a:srgbClr val="002060"/>
                        </a:solidFill>
                        <a:latin typeface="Cambria Math" panose="02040503050406030204" pitchFamily="18" charset="0"/>
                      </a:rPr>
                      <m:t>𝑖</m:t>
                    </m:r>
                  </m:oMath>
                </a14:m>
                <a:endParaRPr lang="en-NZ" altLang="ja-JP" sz="1600" dirty="0">
                  <a:solidFill>
                    <a:srgbClr val="002060"/>
                  </a:solidFill>
                </a:endParaRPr>
              </a:p>
            </p:txBody>
          </p:sp>
        </mc:Choice>
        <mc:Fallback xmlns="">
          <p:sp>
            <p:nvSpPr>
              <p:cNvPr id="24" name="Text Placeholder 5">
                <a:extLst>
                  <a:ext uri="{FF2B5EF4-FFF2-40B4-BE49-F238E27FC236}">
                    <a16:creationId xmlns:a16="http://schemas.microsoft.com/office/drawing/2014/main" id="{BE5110AA-BD4E-44A3-9B4B-E9BE9DD4CDB8}"/>
                  </a:ext>
                </a:extLst>
              </p:cNvPr>
              <p:cNvSpPr txBox="1">
                <a:spLocks noRot="1" noChangeAspect="1" noMove="1" noResize="1" noEditPoints="1" noAdjustHandles="1" noChangeArrowheads="1" noChangeShapeType="1" noTextEdit="1"/>
              </p:cNvSpPr>
              <p:nvPr/>
            </p:nvSpPr>
            <p:spPr>
              <a:xfrm>
                <a:off x="8684523" y="2224853"/>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8F11C6C-0251-4F05-8986-42FD798B028A}"/>
                  </a:ext>
                </a:extLst>
              </p:cNvPr>
              <p:cNvSpPr txBox="1">
                <a:spLocks/>
              </p:cNvSpPr>
              <p:nvPr/>
            </p:nvSpPr>
            <p:spPr>
              <a:xfrm>
                <a:off x="3838431" y="2433010"/>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rgbClr val="002060"/>
                          </a:solidFill>
                          <a:latin typeface="Cambria Math" panose="02040503050406030204" pitchFamily="18" charset="0"/>
                        </a:rPr>
                        <m:t>↔</m:t>
                      </m:r>
                    </m:oMath>
                  </m:oMathPara>
                </a14:m>
                <a:endParaRPr lang="en-NZ" altLang="ja-JP" sz="2400" i="1" dirty="0">
                  <a:solidFill>
                    <a:srgbClr val="002060"/>
                  </a:solidFill>
                </a:endParaRPr>
              </a:p>
            </p:txBody>
          </p:sp>
        </mc:Choice>
        <mc:Fallback xmlns="">
          <p:sp>
            <p:nvSpPr>
              <p:cNvPr id="25" name="Text Placeholder 5">
                <a:extLst>
                  <a:ext uri="{FF2B5EF4-FFF2-40B4-BE49-F238E27FC236}">
                    <a16:creationId xmlns:a16="http://schemas.microsoft.com/office/drawing/2014/main" id="{78F11C6C-0251-4F05-8986-42FD798B028A}"/>
                  </a:ext>
                </a:extLst>
              </p:cNvPr>
              <p:cNvSpPr txBox="1">
                <a:spLocks noRot="1" noChangeAspect="1" noMove="1" noResize="1" noEditPoints="1" noAdjustHandles="1" noChangeArrowheads="1" noChangeShapeType="1" noTextEdit="1"/>
              </p:cNvSpPr>
              <p:nvPr/>
            </p:nvSpPr>
            <p:spPr>
              <a:xfrm>
                <a:off x="3838431" y="2433010"/>
                <a:ext cx="628508" cy="365125"/>
              </a:xfrm>
              <a:prstGeom prst="rect">
                <a:avLst/>
              </a:prstGeom>
              <a:blipFill>
                <a:blip r:embed="rId7"/>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EE6DC4B-77B4-4C4F-B3C5-29504423DCF1}"/>
                  </a:ext>
                </a:extLst>
              </p:cNvPr>
              <p:cNvSpPr txBox="1">
                <a:spLocks/>
              </p:cNvSpPr>
              <p:nvPr/>
            </p:nvSpPr>
            <p:spPr>
              <a:xfrm>
                <a:off x="7876890" y="242309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rgbClr val="002060"/>
                          </a:solidFill>
                          <a:latin typeface="Cambria Math" panose="02040503050406030204" pitchFamily="18" charset="0"/>
                        </a:rPr>
                        <m:t>↔</m:t>
                      </m:r>
                    </m:oMath>
                  </m:oMathPara>
                </a14:m>
                <a:endParaRPr lang="en-NZ" altLang="ja-JP" sz="2400" i="1" dirty="0">
                  <a:solidFill>
                    <a:srgbClr val="002060"/>
                  </a:solidFill>
                </a:endParaRPr>
              </a:p>
            </p:txBody>
          </p:sp>
        </mc:Choice>
        <mc:Fallback xmlns="">
          <p:sp>
            <p:nvSpPr>
              <p:cNvPr id="26" name="Text Placeholder 5">
                <a:extLst>
                  <a:ext uri="{FF2B5EF4-FFF2-40B4-BE49-F238E27FC236}">
                    <a16:creationId xmlns:a16="http://schemas.microsoft.com/office/drawing/2014/main" id="{7EE6DC4B-77B4-4C4F-B3C5-29504423DCF1}"/>
                  </a:ext>
                </a:extLst>
              </p:cNvPr>
              <p:cNvSpPr txBox="1">
                <a:spLocks noRot="1" noChangeAspect="1" noMove="1" noResize="1" noEditPoints="1" noAdjustHandles="1" noChangeArrowheads="1" noChangeShapeType="1" noTextEdit="1"/>
              </p:cNvSpPr>
              <p:nvPr/>
            </p:nvSpPr>
            <p:spPr>
              <a:xfrm>
                <a:off x="7876890" y="2423096"/>
                <a:ext cx="628508" cy="365125"/>
              </a:xfrm>
              <a:prstGeom prst="rect">
                <a:avLst/>
              </a:prstGeom>
              <a:blipFill>
                <a:blip r:embed="rId8"/>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F9A9C6E1-8F83-4788-9BB0-0D2E32E1721C}"/>
                  </a:ext>
                </a:extLst>
              </p:cNvPr>
              <p:cNvSpPr txBox="1">
                <a:spLocks/>
              </p:cNvSpPr>
              <p:nvPr/>
            </p:nvSpPr>
            <p:spPr>
              <a:xfrm>
                <a:off x="7519408" y="1422716"/>
                <a:ext cx="4421367" cy="5649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So consider the </a:t>
                </a:r>
                <a:r>
                  <a:rPr lang="en-NZ" altLang="ja-JP" sz="1800" b="1" dirty="0">
                    <a:solidFill>
                      <a:schemeClr val="tx1"/>
                    </a:solidFill>
                  </a:rPr>
                  <a:t>F-statistic</a:t>
                </a:r>
                <a:r>
                  <a:rPr lang="en-NZ" altLang="ja-JP" sz="1800" dirty="0">
                    <a:solidFill>
                      <a:schemeClr val="tx1"/>
                    </a:solidFill>
                  </a:rPr>
                  <a:t>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𝑴𝑺𝑻</m:t>
                        </m:r>
                      </m:num>
                      <m:den>
                        <m:r>
                          <a:rPr lang="en-NZ" altLang="ja-JP" sz="1800" b="1" i="1" smtClean="0">
                            <a:solidFill>
                              <a:schemeClr val="tx1"/>
                            </a:solidFill>
                            <a:latin typeface="Cambria Math" panose="02040503050406030204" pitchFamily="18" charset="0"/>
                          </a:rPr>
                          <m:t>𝑴𝑺𝑬</m:t>
                        </m:r>
                      </m:den>
                    </m:f>
                  </m:oMath>
                </a14:m>
                <a:endParaRPr lang="en-NZ" altLang="ja-JP" sz="18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endParaRPr lang="en-NZ" altLang="ja-JP" sz="2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27" name="Text Placeholder 5">
                <a:extLst>
                  <a:ext uri="{FF2B5EF4-FFF2-40B4-BE49-F238E27FC236}">
                    <a16:creationId xmlns:a16="http://schemas.microsoft.com/office/drawing/2014/main" id="{F9A9C6E1-8F83-4788-9BB0-0D2E32E1721C}"/>
                  </a:ext>
                </a:extLst>
              </p:cNvPr>
              <p:cNvSpPr txBox="1">
                <a:spLocks noRot="1" noChangeAspect="1" noMove="1" noResize="1" noEditPoints="1" noAdjustHandles="1" noChangeArrowheads="1" noChangeShapeType="1" noTextEdit="1"/>
              </p:cNvSpPr>
              <p:nvPr/>
            </p:nvSpPr>
            <p:spPr>
              <a:xfrm>
                <a:off x="7519408" y="1422716"/>
                <a:ext cx="4421367" cy="564911"/>
              </a:xfrm>
              <a:prstGeom prst="rect">
                <a:avLst/>
              </a:prstGeom>
              <a:blipFill>
                <a:blip r:embed="rId9"/>
                <a:stretch>
                  <a:fillRect l="-110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A28CDD5F-BD43-4599-8682-86429252A648}"/>
                  </a:ext>
                </a:extLst>
              </p:cNvPr>
              <p:cNvSpPr txBox="1">
                <a:spLocks/>
              </p:cNvSpPr>
              <p:nvPr/>
            </p:nvSpPr>
            <p:spPr>
              <a:xfrm>
                <a:off x="558349" y="3586568"/>
                <a:ext cx="5202088" cy="2503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Symbol" panose="05050102010706020507" pitchFamily="18" charset="2"/>
                  <a:buChar char="Þ"/>
                </a:pPr>
                <a:r>
                  <a:rPr lang="en-NZ" altLang="ja-JP" sz="1800" dirty="0">
                    <a:solidFill>
                      <a:schemeClr val="tx1"/>
                    </a:solidFill>
                  </a:rPr>
                  <a:t>Then the means of all the groups are the same</a:t>
                </a:r>
              </a:p>
              <a:p>
                <a:pPr>
                  <a:lnSpc>
                    <a:spcPct val="100000"/>
                  </a:lnSpc>
                </a:pPr>
                <a:endParaRPr lang="en-NZ" altLang="ja-JP" sz="1800"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800" dirty="0">
                    <a:solidFill>
                      <a:schemeClr val="tx1"/>
                    </a:solidFill>
                    <a:latin typeface="Cambria Math" panose="02040503050406030204" pitchFamily="18" charset="0"/>
                  </a:rPr>
                  <a:t>for all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 …, </m:t>
                    </m:r>
                    <m:r>
                      <a:rPr lang="en-NZ" altLang="ja-JP" sz="1800" i="1">
                        <a:solidFill>
                          <a:schemeClr val="tx1"/>
                        </a:solidFill>
                        <a:latin typeface="Cambria Math" panose="02040503050406030204" pitchFamily="18" charset="0"/>
                      </a:rPr>
                      <m:t>𝑘</m:t>
                    </m:r>
                  </m:oMath>
                </a14:m>
                <a:r>
                  <a:rPr lang="en-NZ" altLang="ja-JP" sz="1800" dirty="0">
                    <a:solidFill>
                      <a:schemeClr val="tx1"/>
                    </a:solidFill>
                  </a:rPr>
                  <a:t> </a:t>
                </a:r>
              </a:p>
              <a:p>
                <a:pPr marL="285750" indent="-285750">
                  <a:lnSpc>
                    <a:spcPct val="100000"/>
                  </a:lnSpc>
                  <a:buFont typeface="Symbol" panose="05050102010706020507" pitchFamily="18" charset="2"/>
                  <a:buChar char="Þ"/>
                </a:pPr>
                <a:endParaRPr lang="en-NZ" altLang="ja-JP" sz="1800" dirty="0">
                  <a:solidFill>
                    <a:schemeClr val="tx1"/>
                  </a:solidFill>
                </a:endParaRPr>
              </a:p>
              <a:p>
                <a:pPr>
                  <a:lnSpc>
                    <a:spcPct val="100000"/>
                  </a:lnSpc>
                </a:pPr>
                <a:endParaRPr lang="en-NZ" altLang="ja-JP" sz="200" dirty="0">
                  <a:solidFill>
                    <a:schemeClr val="tx1"/>
                  </a:solidFill>
                </a:endParaRPr>
              </a:p>
              <a:p>
                <a:pPr>
                  <a:lnSpc>
                    <a:spcPct val="100000"/>
                  </a:lnSpc>
                </a:pPr>
                <a:endParaRPr lang="en-NZ" altLang="ja-JP" sz="200" dirty="0">
                  <a:solidFill>
                    <a:schemeClr val="tx1"/>
                  </a:solidFill>
                </a:endParaRPr>
              </a:p>
              <a:p>
                <a:pPr marL="285750" indent="-285750">
                  <a:lnSpc>
                    <a:spcPct val="100000"/>
                  </a:lnSpc>
                  <a:buFont typeface="Symbol" panose="05050102010706020507" pitchFamily="18" charset="2"/>
                  <a:buChar char="Þ"/>
                </a:pPr>
                <a:r>
                  <a:rPr lang="en-NZ" altLang="ja-JP" sz="1800" b="1" dirty="0">
                    <a:solidFill>
                      <a:schemeClr val="tx1"/>
                    </a:solidFill>
                  </a:rPr>
                  <a:t>         </a:t>
                </a:r>
                <a14:m>
                  <m:oMath xmlns:m="http://schemas.openxmlformats.org/officeDocument/2006/math">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𝑴𝑺𝑻</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𝒏</m:t>
                        </m:r>
                      </m:num>
                      <m:den>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den>
                    </m:f>
                    <m:r>
                      <a:rPr lang="en-NZ" altLang="ja-JP" sz="1800" b="1" i="1">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up>
                            <m:r>
                              <a:rPr lang="en-NZ" altLang="ja-JP" sz="1800" b="1" i="1">
                                <a:solidFill>
                                  <a:schemeClr val="tx1"/>
                                </a:solidFill>
                                <a:latin typeface="Cambria Math" panose="02040503050406030204" pitchFamily="18" charset="0"/>
                              </a:rPr>
                              <m:t>𝟐</m:t>
                            </m:r>
                          </m:sup>
                        </m:sSubSup>
                      </m:e>
                    </m:nary>
                    <m:r>
                      <a:rPr lang="en-NZ" altLang="ja-JP" sz="1800" b="0" i="0"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oMath>
                </a14:m>
                <a:br>
                  <a:rPr lang="en-NZ" altLang="ja-JP" sz="1800" b="1" dirty="0">
                    <a:solidFill>
                      <a:schemeClr val="tx1"/>
                    </a:solidFill>
                  </a:rPr>
                </a:b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m:t>
                        </m:r>
                        <m:r>
                          <a:rPr lang="en-NZ" altLang="ja-JP" sz="1800" b="1" i="1" smtClean="0">
                            <a:solidFill>
                              <a:schemeClr val="tx1"/>
                            </a:solidFill>
                            <a:latin typeface="Cambria Math" panose="02040503050406030204" pitchFamily="18" charset="0"/>
                          </a:rPr>
                          <m:t>𝑬</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oMath>
                </a14:m>
                <a:endParaRPr lang="en-NZ" altLang="ja-JP" sz="1800" b="1" dirty="0">
                  <a:solidFill>
                    <a:schemeClr val="tx1"/>
                  </a:solidFill>
                </a:endParaRPr>
              </a:p>
              <a:p>
                <a:pPr marL="285750" indent="-285750">
                  <a:lnSpc>
                    <a:spcPct val="100000"/>
                  </a:lnSpc>
                  <a:buFont typeface="Symbol" panose="05050102010706020507" pitchFamily="18" charset="2"/>
                  <a:buChar char="Þ"/>
                </a:pPr>
                <a:endParaRPr lang="en-NZ" altLang="ja-JP" sz="1800" b="1"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r>
                      <a:rPr lang="en-NZ" altLang="ja-JP" sz="1800" b="1" i="1">
                        <a:solidFill>
                          <a:schemeClr val="tx1"/>
                        </a:solidFill>
                        <a:latin typeface="Cambria Math" panose="02040503050406030204" pitchFamily="18" charset="0"/>
                      </a:rPr>
                      <m:t>𝑭</m:t>
                    </m:r>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𝑴𝑺𝑻</m:t>
                        </m:r>
                      </m:num>
                      <m:den>
                        <m:r>
                          <a:rPr lang="en-NZ" altLang="ja-JP" sz="1800" b="1" i="1">
                            <a:solidFill>
                              <a:schemeClr val="tx1"/>
                            </a:solidFill>
                            <a:latin typeface="Cambria Math" panose="02040503050406030204" pitchFamily="18" charset="0"/>
                          </a:rPr>
                          <m:t>𝑴𝑺𝑬</m:t>
                        </m:r>
                      </m:den>
                    </m:f>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ea typeface="Cambria Math" panose="02040503050406030204" pitchFamily="18" charset="0"/>
                      </a:rPr>
                      <m:t>𝟏</m:t>
                    </m:r>
                  </m:oMath>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28" name="Text Placeholder 5">
                <a:extLst>
                  <a:ext uri="{FF2B5EF4-FFF2-40B4-BE49-F238E27FC236}">
                    <a16:creationId xmlns:a16="http://schemas.microsoft.com/office/drawing/2014/main" id="{A28CDD5F-BD43-4599-8682-86429252A648}"/>
                  </a:ext>
                </a:extLst>
              </p:cNvPr>
              <p:cNvSpPr txBox="1">
                <a:spLocks noRot="1" noChangeAspect="1" noMove="1" noResize="1" noEditPoints="1" noAdjustHandles="1" noChangeArrowheads="1" noChangeShapeType="1" noTextEdit="1"/>
              </p:cNvSpPr>
              <p:nvPr/>
            </p:nvSpPr>
            <p:spPr>
              <a:xfrm>
                <a:off x="558349" y="3586568"/>
                <a:ext cx="5202088" cy="2503479"/>
              </a:xfrm>
              <a:prstGeom prst="rect">
                <a:avLst/>
              </a:prstGeom>
              <a:blipFill>
                <a:blip r:embed="rId10"/>
                <a:stretch>
                  <a:fillRect l="-1055" t="-1703" b="-3650"/>
                </a:stretch>
              </a:blipFill>
            </p:spPr>
            <p:txBody>
              <a:bodyPr/>
              <a:lstStyle/>
              <a:p>
                <a:r>
                  <a:rPr lang="en-NZ">
                    <a:noFill/>
                  </a:rPr>
                  <a:t> </a:t>
                </a:r>
              </a:p>
            </p:txBody>
          </p:sp>
        </mc:Fallback>
      </mc:AlternateContent>
      <p:sp>
        <p:nvSpPr>
          <p:cNvPr id="29" name="Text Placeholder 5">
            <a:extLst>
              <a:ext uri="{FF2B5EF4-FFF2-40B4-BE49-F238E27FC236}">
                <a16:creationId xmlns:a16="http://schemas.microsoft.com/office/drawing/2014/main" id="{0B1BD75F-98D3-452F-9D34-D6AE9DF904E2}"/>
              </a:ext>
            </a:extLst>
          </p:cNvPr>
          <p:cNvSpPr txBox="1">
            <a:spLocks/>
          </p:cNvSpPr>
          <p:nvPr/>
        </p:nvSpPr>
        <p:spPr>
          <a:xfrm>
            <a:off x="6293593" y="3150009"/>
            <a:ext cx="5202088" cy="4088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u="sng" dirty="0">
                <a:solidFill>
                  <a:schemeClr val="tx1"/>
                </a:solidFill>
              </a:rPr>
              <a:t>If </a:t>
            </a:r>
            <a:r>
              <a:rPr lang="en-NZ" altLang="ja-JP" sz="1800" b="1" i="1" u="sng" dirty="0">
                <a:solidFill>
                  <a:schemeClr val="tx1"/>
                </a:solidFill>
              </a:rPr>
              <a:t>H</a:t>
            </a:r>
            <a:r>
              <a:rPr lang="en-NZ" altLang="ja-JP" sz="1800" b="1" i="1" baseline="-25000" dirty="0">
                <a:solidFill>
                  <a:schemeClr val="tx1"/>
                </a:solidFill>
              </a:rPr>
              <a:t>1</a:t>
            </a:r>
            <a:r>
              <a:rPr lang="en-NZ" altLang="ja-JP" sz="1800" b="1" u="sng" dirty="0">
                <a:solidFill>
                  <a:schemeClr val="tx1"/>
                </a:solidFill>
              </a:rPr>
              <a:t> is true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58E94922-5CA8-4DB6-9689-5984266EB1B0}"/>
                  </a:ext>
                </a:extLst>
              </p:cNvPr>
              <p:cNvSpPr txBox="1">
                <a:spLocks/>
              </p:cNvSpPr>
              <p:nvPr/>
            </p:nvSpPr>
            <p:spPr>
              <a:xfrm>
                <a:off x="6293592" y="3558822"/>
                <a:ext cx="5691481" cy="2503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Symbol" panose="05050102010706020507" pitchFamily="18" charset="2"/>
                  <a:buChar char="Þ"/>
                </a:pPr>
                <a:r>
                  <a:rPr lang="en-NZ" altLang="ja-JP" sz="1800" dirty="0">
                    <a:solidFill>
                      <a:schemeClr val="tx1"/>
                    </a:solidFill>
                  </a:rPr>
                  <a:t>Then the means of some of the groups are different</a:t>
                </a:r>
              </a:p>
              <a:p>
                <a:pPr>
                  <a:lnSpc>
                    <a:spcPct val="100000"/>
                  </a:lnSpc>
                </a:pPr>
                <a:endParaRPr lang="en-NZ" altLang="ja-JP" sz="1800"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800" dirty="0">
                    <a:solidFill>
                      <a:schemeClr val="tx1"/>
                    </a:solidFill>
                    <a:latin typeface="Cambria Math" panose="02040503050406030204" pitchFamily="18" charset="0"/>
                  </a:rPr>
                  <a:t>for some </a:t>
                </a:r>
                <a14:m>
                  <m:oMath xmlns:m="http://schemas.openxmlformats.org/officeDocument/2006/math">
                    <m:r>
                      <a:rPr lang="en-NZ" altLang="ja-JP" sz="1800" b="0" i="0" smtClean="0">
                        <a:solidFill>
                          <a:schemeClr val="tx1"/>
                        </a:solidFill>
                        <a:latin typeface="Cambria Math" panose="02040503050406030204" pitchFamily="18" charset="0"/>
                      </a:rPr>
                      <m:t> </m:t>
                    </m:r>
                    <m:r>
                      <a:rPr lang="en-NZ" altLang="ja-JP" sz="1800" i="1">
                        <a:solidFill>
                          <a:schemeClr val="tx1"/>
                        </a:solidFill>
                        <a:latin typeface="Cambria Math" panose="02040503050406030204" pitchFamily="18" charset="0"/>
                      </a:rPr>
                      <m:t>𝑖</m:t>
                    </m:r>
                    <m:r>
                      <a:rPr lang="en-NZ" altLang="ja-JP" sz="1800" i="1">
                        <a:solidFill>
                          <a:schemeClr val="tx1"/>
                        </a:solidFill>
                        <a:latin typeface="Cambria Math" panose="02040503050406030204" pitchFamily="18" charset="0"/>
                      </a:rPr>
                      <m:t>=1, …, </m:t>
                    </m:r>
                    <m:r>
                      <a:rPr lang="en-NZ" altLang="ja-JP" sz="1800" i="1">
                        <a:solidFill>
                          <a:schemeClr val="tx1"/>
                        </a:solidFill>
                        <a:latin typeface="Cambria Math" panose="02040503050406030204" pitchFamily="18" charset="0"/>
                      </a:rPr>
                      <m:t>𝑘</m:t>
                    </m:r>
                  </m:oMath>
                </a14:m>
                <a:r>
                  <a:rPr lang="en-NZ" altLang="ja-JP" sz="1800" dirty="0">
                    <a:solidFill>
                      <a:schemeClr val="tx1"/>
                    </a:solidFill>
                  </a:rPr>
                  <a:t> </a:t>
                </a:r>
              </a:p>
              <a:p>
                <a:pPr marL="285750" indent="-285750">
                  <a:lnSpc>
                    <a:spcPct val="100000"/>
                  </a:lnSpc>
                  <a:buFont typeface="Symbol" panose="05050102010706020507" pitchFamily="18" charset="2"/>
                  <a:buChar char="Þ"/>
                </a:pPr>
                <a:endParaRPr lang="en-NZ" altLang="ja-JP" sz="1800" dirty="0">
                  <a:solidFill>
                    <a:schemeClr val="tx1"/>
                  </a:solidFill>
                </a:endParaRPr>
              </a:p>
              <a:p>
                <a:pPr>
                  <a:lnSpc>
                    <a:spcPct val="100000"/>
                  </a:lnSpc>
                </a:pPr>
                <a:endParaRPr lang="en-NZ" altLang="ja-JP" sz="200" dirty="0">
                  <a:solidFill>
                    <a:schemeClr val="tx1"/>
                  </a:solidFill>
                </a:endParaRPr>
              </a:p>
              <a:p>
                <a:pPr>
                  <a:lnSpc>
                    <a:spcPct val="100000"/>
                  </a:lnSpc>
                </a:pPr>
                <a:endParaRPr lang="en-NZ" altLang="ja-JP" sz="200" dirty="0">
                  <a:solidFill>
                    <a:schemeClr val="tx1"/>
                  </a:solidFill>
                </a:endParaRPr>
              </a:p>
              <a:p>
                <a:pPr marL="285750" indent="-285750">
                  <a:lnSpc>
                    <a:spcPct val="100000"/>
                  </a:lnSpc>
                  <a:buFont typeface="Symbol" panose="05050102010706020507" pitchFamily="18" charset="2"/>
                  <a:buChar char="Þ"/>
                </a:pPr>
                <a:r>
                  <a:rPr lang="en-NZ" altLang="ja-JP" sz="1800" b="1" dirty="0">
                    <a:solidFill>
                      <a:schemeClr val="tx1"/>
                    </a:solidFill>
                  </a:rPr>
                  <a:t>         </a:t>
                </a:r>
                <a14:m>
                  <m:oMath xmlns:m="http://schemas.openxmlformats.org/officeDocument/2006/math">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𝑴𝑺𝑻</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𝒏</m:t>
                        </m:r>
                      </m:num>
                      <m:den>
                        <m:r>
                          <a:rPr lang="en-NZ" altLang="ja-JP" sz="1800" b="1" i="1">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den>
                    </m:f>
                    <m:r>
                      <a:rPr lang="en-NZ" altLang="ja-JP" sz="1800" b="1" i="1">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up>
                            <m:r>
                              <a:rPr lang="en-NZ" altLang="ja-JP" sz="1800" b="1" i="1">
                                <a:solidFill>
                                  <a:schemeClr val="tx1"/>
                                </a:solidFill>
                                <a:latin typeface="Cambria Math" panose="02040503050406030204" pitchFamily="18" charset="0"/>
                              </a:rPr>
                              <m:t>𝟐</m:t>
                            </m:r>
                          </m:sup>
                        </m:sSubSup>
                      </m:e>
                    </m:nary>
                    <m:r>
                      <a:rPr lang="en-NZ" altLang="ja-JP" sz="1800" b="0" i="0" smtClean="0">
                        <a:solidFill>
                          <a:schemeClr val="tx1"/>
                        </a:solidFill>
                        <a:latin typeface="Cambria Math" panose="02040503050406030204" pitchFamily="18" charset="0"/>
                      </a:rPr>
                      <m:t> </m:t>
                    </m:r>
                  </m:oMath>
                </a14:m>
                <a:br>
                  <a:rPr lang="en-NZ" altLang="ja-JP" sz="1800" b="1" dirty="0">
                    <a:solidFill>
                      <a:schemeClr val="tx1"/>
                    </a:solidFill>
                  </a:rPr>
                </a:br>
                <a:r>
                  <a:rPr lang="en-NZ" altLang="ja-JP" sz="1800" dirty="0">
                    <a:solidFill>
                      <a:schemeClr val="tx1"/>
                    </a:solidFill>
                  </a:rPr>
                  <a:t>and</a:t>
                </a:r>
                <a:r>
                  <a:rPr lang="en-NZ" altLang="ja-JP" sz="1800" b="1" dirty="0">
                    <a:solidFill>
                      <a:schemeClr val="tx1"/>
                    </a:solidFill>
                  </a:rPr>
                  <a:t> </a:t>
                </a:r>
                <a14:m>
                  <m:oMath xmlns:m="http://schemas.openxmlformats.org/officeDocument/2006/math">
                    <m:r>
                      <a:rPr lang="en-NZ" altLang="ja-JP" sz="180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𝑴𝑺</m:t>
                        </m:r>
                        <m:r>
                          <a:rPr lang="en-NZ" altLang="ja-JP" sz="1800" b="1" i="1" smtClean="0">
                            <a:solidFill>
                              <a:schemeClr val="tx1"/>
                            </a:solidFill>
                            <a:latin typeface="Cambria Math" panose="02040503050406030204" pitchFamily="18" charset="0"/>
                          </a:rPr>
                          <m:t>𝑬</m:t>
                        </m:r>
                      </m:e>
                    </m:d>
                    <m:r>
                      <a:rPr lang="en-NZ" altLang="ja-JP" sz="1800" b="1" i="1">
                        <a:solidFill>
                          <a:schemeClr val="tx1"/>
                        </a:solidFill>
                        <a:latin typeface="Cambria Math" panose="02040503050406030204" pitchFamily="18" charset="0"/>
                      </a:rPr>
                      <m:t>=</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oMath>
                </a14:m>
                <a:endParaRPr lang="en-NZ" altLang="ja-JP" sz="1800" b="1" dirty="0">
                  <a:solidFill>
                    <a:schemeClr val="tx1"/>
                  </a:solidFill>
                </a:endParaRPr>
              </a:p>
              <a:p>
                <a:pPr marL="285750" indent="-285750">
                  <a:lnSpc>
                    <a:spcPct val="100000"/>
                  </a:lnSpc>
                  <a:buFont typeface="Symbol" panose="05050102010706020507" pitchFamily="18" charset="2"/>
                  <a:buChar char="Þ"/>
                </a:pPr>
                <a:endParaRPr lang="en-NZ" altLang="ja-JP" sz="1800" b="1" dirty="0">
                  <a:solidFill>
                    <a:schemeClr val="tx1"/>
                  </a:solidFill>
                </a:endParaRPr>
              </a:p>
              <a:p>
                <a:pPr marL="285750" indent="-285750">
                  <a:lnSpc>
                    <a:spcPct val="100000"/>
                  </a:lnSpc>
                  <a:buFont typeface="Symbol" panose="05050102010706020507" pitchFamily="18" charset="2"/>
                  <a:buChar char="Þ"/>
                </a:pPr>
                <a14:m>
                  <m:oMath xmlns:m="http://schemas.openxmlformats.org/officeDocument/2006/math">
                    <m:r>
                      <a:rPr lang="en-NZ" altLang="ja-JP" sz="1800" b="1" i="1">
                        <a:solidFill>
                          <a:schemeClr val="tx1"/>
                        </a:solidFill>
                        <a:latin typeface="Cambria Math" panose="02040503050406030204" pitchFamily="18" charset="0"/>
                      </a:rPr>
                      <m:t>𝑭</m:t>
                    </m:r>
                    <m:r>
                      <a:rPr lang="en-NZ" altLang="ja-JP" sz="1800" b="1" i="1">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𝑴𝑺𝑻</m:t>
                        </m:r>
                      </m:num>
                      <m:den>
                        <m:r>
                          <a:rPr lang="en-NZ" altLang="ja-JP" sz="1800" b="1" i="1">
                            <a:solidFill>
                              <a:schemeClr val="tx1"/>
                            </a:solidFill>
                            <a:latin typeface="Cambria Math" panose="02040503050406030204" pitchFamily="18" charset="0"/>
                          </a:rPr>
                          <m:t>𝑴𝑺𝑬</m:t>
                        </m:r>
                      </m:den>
                    </m:f>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ea typeface="Cambria Math" panose="02040503050406030204" pitchFamily="18" charset="0"/>
                      </a:rPr>
                      <m:t>𝟏</m:t>
                    </m:r>
                  </m:oMath>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30" name="Text Placeholder 5">
                <a:extLst>
                  <a:ext uri="{FF2B5EF4-FFF2-40B4-BE49-F238E27FC236}">
                    <a16:creationId xmlns:a16="http://schemas.microsoft.com/office/drawing/2014/main" id="{58E94922-5CA8-4DB6-9689-5984266EB1B0}"/>
                  </a:ext>
                </a:extLst>
              </p:cNvPr>
              <p:cNvSpPr txBox="1">
                <a:spLocks noRot="1" noChangeAspect="1" noMove="1" noResize="1" noEditPoints="1" noAdjustHandles="1" noChangeArrowheads="1" noChangeShapeType="1" noTextEdit="1"/>
              </p:cNvSpPr>
              <p:nvPr/>
            </p:nvSpPr>
            <p:spPr>
              <a:xfrm>
                <a:off x="6293592" y="3558822"/>
                <a:ext cx="5691481" cy="2503479"/>
              </a:xfrm>
              <a:prstGeom prst="rect">
                <a:avLst/>
              </a:prstGeom>
              <a:blipFill>
                <a:blip r:embed="rId11"/>
                <a:stretch>
                  <a:fillRect l="-857" t="-1951" b="-3902"/>
                </a:stretch>
              </a:blipFill>
            </p:spPr>
            <p:txBody>
              <a:bodyPr/>
              <a:lstStyle/>
              <a:p>
                <a:r>
                  <a:rPr lang="en-NZ">
                    <a:noFill/>
                  </a:rPr>
                  <a:t> </a:t>
                </a:r>
              </a:p>
            </p:txBody>
          </p:sp>
        </mc:Fallback>
      </mc:AlternateContent>
      <p:sp>
        <p:nvSpPr>
          <p:cNvPr id="20" name="Footer Placeholder 2">
            <a:extLst>
              <a:ext uri="{FF2B5EF4-FFF2-40B4-BE49-F238E27FC236}">
                <a16:creationId xmlns:a16="http://schemas.microsoft.com/office/drawing/2014/main" id="{285B4454-862A-539C-854E-921FB450C4EA}"/>
              </a:ext>
            </a:extLst>
          </p:cNvPr>
          <p:cNvSpPr txBox="1">
            <a:spLocks/>
          </p:cNvSpPr>
          <p:nvPr/>
        </p:nvSpPr>
        <p:spPr>
          <a:xfrm>
            <a:off x="9144000" y="86139"/>
            <a:ext cx="294536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2.3 – Deriving the F-statistic</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94849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P spid="24" grpId="0"/>
      <p:bldP spid="25" grpId="0"/>
      <p:bldP spid="26" grpId="0"/>
      <p:bldP spid="27" grpId="0"/>
      <p:bldP spid="28" grpId="0"/>
      <p:bldP spid="29"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lide Number Placeholder 3">
            <a:extLst>
              <a:ext uri="{FF2B5EF4-FFF2-40B4-BE49-F238E27FC236}">
                <a16:creationId xmlns:a16="http://schemas.microsoft.com/office/drawing/2014/main" id="{A96FB80D-C1DE-4EA0-876B-493B0776604B}"/>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25</a:t>
            </a:fld>
            <a:endParaRPr kumimoji="1" lang="ja-JP" altLang="en-US" dirty="0">
              <a:solidFill>
                <a:srgbClr val="575454">
                  <a:lumMod val="20000"/>
                  <a:lumOff val="80000"/>
                </a:srgbClr>
              </a:solidFill>
              <a:latin typeface="Coo Hew"/>
            </a:endParaRPr>
          </a:p>
        </p:txBody>
      </p:sp>
      <p:sp>
        <p:nvSpPr>
          <p:cNvPr id="30" name="Text Placeholder 5">
            <a:extLst>
              <a:ext uri="{FF2B5EF4-FFF2-40B4-BE49-F238E27FC236}">
                <a16:creationId xmlns:a16="http://schemas.microsoft.com/office/drawing/2014/main" id="{CDE3F118-3944-4892-99D8-4C6814BAB162}"/>
              </a:ext>
            </a:extLst>
          </p:cNvPr>
          <p:cNvSpPr txBox="1">
            <a:spLocks/>
          </p:cNvSpPr>
          <p:nvPr/>
        </p:nvSpPr>
        <p:spPr>
          <a:xfrm>
            <a:off x="238315" y="1416724"/>
            <a:ext cx="5456079" cy="13535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tx1"/>
                </a:solidFill>
              </a:rPr>
              <a:t>If </a:t>
            </a:r>
            <a:r>
              <a:rPr lang="en-NZ" altLang="ja-JP" sz="1400" b="1" i="1" dirty="0">
                <a:solidFill>
                  <a:schemeClr val="tx1"/>
                </a:solidFill>
              </a:rPr>
              <a:t>H</a:t>
            </a:r>
            <a:r>
              <a:rPr lang="en-NZ" altLang="ja-JP" sz="1400" b="1" i="1" baseline="-25000" dirty="0">
                <a:solidFill>
                  <a:schemeClr val="tx1"/>
                </a:solidFill>
              </a:rPr>
              <a:t>0</a:t>
            </a:r>
            <a:r>
              <a:rPr lang="en-NZ" altLang="ja-JP" sz="1400" dirty="0">
                <a:solidFill>
                  <a:schemeClr val="tx1"/>
                </a:solidFill>
              </a:rPr>
              <a:t> is true, then there are no differences between the means of the different groups</a:t>
            </a:r>
          </a:p>
          <a:p>
            <a:pPr algn="just">
              <a:lnSpc>
                <a:spcPct val="100000"/>
              </a:lnSpc>
            </a:pPr>
            <a:endParaRPr lang="en-NZ" altLang="ja-JP" sz="1400" dirty="0">
              <a:solidFill>
                <a:schemeClr val="tx1"/>
              </a:solidFill>
            </a:endParaRPr>
          </a:p>
          <a:p>
            <a:pPr marL="285750" indent="-285750" algn="just">
              <a:lnSpc>
                <a:spcPct val="100000"/>
              </a:lnSpc>
              <a:buFont typeface="Symbol" panose="05050102010706020507" pitchFamily="18" charset="2"/>
              <a:buChar char="Þ"/>
            </a:pP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between</a:t>
            </a:r>
            <a:r>
              <a:rPr lang="en-NZ" altLang="ja-JP" sz="1400" dirty="0">
                <a:solidFill>
                  <a:schemeClr val="tx1"/>
                </a:solidFill>
              </a:rPr>
              <a:t> group means and the overall mean (</a:t>
            </a:r>
            <a:r>
              <a:rPr lang="en-NZ" altLang="ja-JP" sz="1400" b="1" dirty="0">
                <a:solidFill>
                  <a:srgbClr val="C00000"/>
                </a:solidFill>
              </a:rPr>
              <a:t>MST</a:t>
            </a:r>
            <a:r>
              <a:rPr lang="en-NZ" altLang="ja-JP" sz="1400" dirty="0">
                <a:solidFill>
                  <a:schemeClr val="tx1"/>
                </a:solidFill>
              </a:rPr>
              <a:t>) </a:t>
            </a:r>
            <a:br>
              <a:rPr lang="en-NZ" altLang="ja-JP" sz="1400" dirty="0">
                <a:solidFill>
                  <a:schemeClr val="tx1"/>
                </a:solidFill>
              </a:rPr>
            </a:br>
            <a:r>
              <a:rPr lang="en-NZ" altLang="ja-JP" sz="1400" dirty="0">
                <a:solidFill>
                  <a:schemeClr val="tx1"/>
                </a:solidFill>
              </a:rPr>
              <a:t>will be </a:t>
            </a:r>
            <a:r>
              <a:rPr lang="en-NZ" altLang="ja-JP" sz="1400" b="1" dirty="0">
                <a:solidFill>
                  <a:schemeClr val="tx1"/>
                </a:solidFill>
              </a:rPr>
              <a:t>similar</a:t>
            </a:r>
            <a:r>
              <a:rPr lang="en-NZ" altLang="ja-JP" sz="1400" dirty="0">
                <a:solidFill>
                  <a:schemeClr val="tx1"/>
                </a:solidFill>
              </a:rPr>
              <a:t> to </a:t>
            </a: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within</a:t>
            </a:r>
            <a:r>
              <a:rPr lang="en-NZ" altLang="ja-JP" sz="1400" dirty="0">
                <a:solidFill>
                  <a:schemeClr val="tx1"/>
                </a:solidFill>
              </a:rPr>
              <a:t> groups (</a:t>
            </a:r>
            <a:r>
              <a:rPr lang="en-NZ" altLang="ja-JP" sz="1400" b="1" dirty="0">
                <a:solidFill>
                  <a:srgbClr val="C00000"/>
                </a:solidFill>
              </a:rPr>
              <a:t>MSE</a:t>
            </a:r>
            <a:r>
              <a:rPr lang="en-NZ" altLang="ja-JP" sz="1400" dirty="0">
                <a:solidFill>
                  <a:schemeClr val="tx1"/>
                </a:solidFill>
              </a:rPr>
              <a:t>).</a:t>
            </a:r>
          </a:p>
          <a:p>
            <a:pPr marL="285750" indent="-285750" algn="just">
              <a:lnSpc>
                <a:spcPct val="100000"/>
              </a:lnSpc>
              <a:buFont typeface="Symbol" panose="05050102010706020507" pitchFamily="18" charset="2"/>
              <a:buChar char="Þ"/>
            </a:pPr>
            <a:endParaRPr lang="en-NZ" altLang="ja-JP" sz="1400" dirty="0">
              <a:solidFill>
                <a:schemeClr val="tx1"/>
              </a:solidFill>
            </a:endParaRPr>
          </a:p>
          <a:p>
            <a:pPr algn="just">
              <a:lnSpc>
                <a:spcPct val="100000"/>
              </a:lnSpc>
            </a:pPr>
            <a:r>
              <a:rPr lang="en-NZ" altLang="ja-JP" sz="1400" dirty="0">
                <a:solidFill>
                  <a:schemeClr val="tx1"/>
                </a:solidFill>
              </a:rPr>
              <a:t>  </a:t>
            </a: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p:pic>
        <p:nvPicPr>
          <p:cNvPr id="37" name="Picture 36">
            <a:extLst>
              <a:ext uri="{FF2B5EF4-FFF2-40B4-BE49-F238E27FC236}">
                <a16:creationId xmlns:a16="http://schemas.microsoft.com/office/drawing/2014/main" id="{5DAD2D2C-3BAF-4190-9324-3A9FD6FF4E2C}"/>
              </a:ext>
            </a:extLst>
          </p:cNvPr>
          <p:cNvPicPr>
            <a:picLocks noChangeAspect="1"/>
          </p:cNvPicPr>
          <p:nvPr/>
        </p:nvPicPr>
        <p:blipFill>
          <a:blip r:embed="rId2"/>
          <a:stretch>
            <a:fillRect/>
          </a:stretch>
        </p:blipFill>
        <p:spPr>
          <a:xfrm>
            <a:off x="2298583" y="3085181"/>
            <a:ext cx="1287154" cy="775868"/>
          </a:xfrm>
          <a:prstGeom prst="rect">
            <a:avLst/>
          </a:prstGeom>
        </p:spPr>
      </p:pic>
      <p:pic>
        <p:nvPicPr>
          <p:cNvPr id="38" name="Picture 37">
            <a:extLst>
              <a:ext uri="{FF2B5EF4-FFF2-40B4-BE49-F238E27FC236}">
                <a16:creationId xmlns:a16="http://schemas.microsoft.com/office/drawing/2014/main" id="{8D607907-EE7A-477D-9FD9-34DE293432A4}"/>
              </a:ext>
            </a:extLst>
          </p:cNvPr>
          <p:cNvPicPr>
            <a:picLocks noChangeAspect="1"/>
          </p:cNvPicPr>
          <p:nvPr/>
        </p:nvPicPr>
        <p:blipFill>
          <a:blip r:embed="rId2"/>
          <a:stretch>
            <a:fillRect/>
          </a:stretch>
        </p:blipFill>
        <p:spPr>
          <a:xfrm>
            <a:off x="2423830" y="3878541"/>
            <a:ext cx="1287154" cy="775868"/>
          </a:xfrm>
          <a:prstGeom prst="rect">
            <a:avLst/>
          </a:prstGeom>
        </p:spPr>
      </p:pic>
      <p:pic>
        <p:nvPicPr>
          <p:cNvPr id="39" name="Picture 38">
            <a:extLst>
              <a:ext uri="{FF2B5EF4-FFF2-40B4-BE49-F238E27FC236}">
                <a16:creationId xmlns:a16="http://schemas.microsoft.com/office/drawing/2014/main" id="{C50D1B2D-5F77-4597-8F3D-AF754F9C1F88}"/>
              </a:ext>
            </a:extLst>
          </p:cNvPr>
          <p:cNvPicPr>
            <a:picLocks noChangeAspect="1"/>
          </p:cNvPicPr>
          <p:nvPr/>
        </p:nvPicPr>
        <p:blipFill>
          <a:blip r:embed="rId2"/>
          <a:stretch>
            <a:fillRect/>
          </a:stretch>
        </p:blipFill>
        <p:spPr>
          <a:xfrm>
            <a:off x="2148458" y="4707890"/>
            <a:ext cx="1287154" cy="775868"/>
          </a:xfrm>
          <a:prstGeom prst="rect">
            <a:avLst/>
          </a:prstGeom>
        </p:spPr>
      </p:pic>
      <p:cxnSp>
        <p:nvCxnSpPr>
          <p:cNvPr id="40" name="Straight Connector 39">
            <a:extLst>
              <a:ext uri="{FF2B5EF4-FFF2-40B4-BE49-F238E27FC236}">
                <a16:creationId xmlns:a16="http://schemas.microsoft.com/office/drawing/2014/main" id="{0D51772C-9DE7-4F3E-981F-D09A77F7BE95}"/>
              </a:ext>
            </a:extLst>
          </p:cNvPr>
          <p:cNvCxnSpPr>
            <a:cxnSpLocks/>
          </p:cNvCxnSpPr>
          <p:nvPr/>
        </p:nvCxnSpPr>
        <p:spPr>
          <a:xfrm>
            <a:off x="2942160" y="3067689"/>
            <a:ext cx="0" cy="27181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E99ADCF-1CAA-4065-87C0-A02BB7B87145}"/>
              </a:ext>
            </a:extLst>
          </p:cNvPr>
          <p:cNvCxnSpPr>
            <a:cxnSpLocks/>
          </p:cNvCxnSpPr>
          <p:nvPr/>
        </p:nvCxnSpPr>
        <p:spPr>
          <a:xfrm>
            <a:off x="226468" y="5616482"/>
            <a:ext cx="56160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Multiplication Sign 41">
            <a:extLst>
              <a:ext uri="{FF2B5EF4-FFF2-40B4-BE49-F238E27FC236}">
                <a16:creationId xmlns:a16="http://schemas.microsoft.com/office/drawing/2014/main" id="{C4B27B0A-2827-4DDD-BCDD-4C7707DD87E1}"/>
              </a:ext>
            </a:extLst>
          </p:cNvPr>
          <p:cNvSpPr/>
          <p:nvPr/>
        </p:nvSpPr>
        <p:spPr>
          <a:xfrm>
            <a:off x="2662523" y="3351883"/>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3" name="Multiplication Sign 42">
            <a:extLst>
              <a:ext uri="{FF2B5EF4-FFF2-40B4-BE49-F238E27FC236}">
                <a16:creationId xmlns:a16="http://schemas.microsoft.com/office/drawing/2014/main" id="{BEA03809-33D3-4468-AA22-DB480D46D8DC}"/>
              </a:ext>
            </a:extLst>
          </p:cNvPr>
          <p:cNvSpPr/>
          <p:nvPr/>
        </p:nvSpPr>
        <p:spPr>
          <a:xfrm>
            <a:off x="2572747" y="3558920"/>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4" name="Multiplication Sign 43">
            <a:extLst>
              <a:ext uri="{FF2B5EF4-FFF2-40B4-BE49-F238E27FC236}">
                <a16:creationId xmlns:a16="http://schemas.microsoft.com/office/drawing/2014/main" id="{14C7DFC6-45BF-48BF-B5C1-076CBCF8CBFA}"/>
              </a:ext>
            </a:extLst>
          </p:cNvPr>
          <p:cNvSpPr/>
          <p:nvPr/>
        </p:nvSpPr>
        <p:spPr>
          <a:xfrm>
            <a:off x="2803409" y="3557146"/>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5" name="Multiplication Sign 44">
            <a:extLst>
              <a:ext uri="{FF2B5EF4-FFF2-40B4-BE49-F238E27FC236}">
                <a16:creationId xmlns:a16="http://schemas.microsoft.com/office/drawing/2014/main" id="{FD315A53-E242-4FC3-908E-28100B496B42}"/>
              </a:ext>
            </a:extLst>
          </p:cNvPr>
          <p:cNvSpPr/>
          <p:nvPr/>
        </p:nvSpPr>
        <p:spPr>
          <a:xfrm>
            <a:off x="2842218" y="335407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6" name="Multiplication Sign 45">
            <a:extLst>
              <a:ext uri="{FF2B5EF4-FFF2-40B4-BE49-F238E27FC236}">
                <a16:creationId xmlns:a16="http://schemas.microsoft.com/office/drawing/2014/main" id="{5981BB32-2E92-4720-AD92-E7F9104842F7}"/>
              </a:ext>
            </a:extLst>
          </p:cNvPr>
          <p:cNvSpPr/>
          <p:nvPr/>
        </p:nvSpPr>
        <p:spPr>
          <a:xfrm>
            <a:off x="2763814" y="316295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7" name="Multiplication Sign 46">
            <a:extLst>
              <a:ext uri="{FF2B5EF4-FFF2-40B4-BE49-F238E27FC236}">
                <a16:creationId xmlns:a16="http://schemas.microsoft.com/office/drawing/2014/main" id="{95E471ED-4EB9-4B38-9048-AB8908D24A4B}"/>
              </a:ext>
            </a:extLst>
          </p:cNvPr>
          <p:cNvSpPr/>
          <p:nvPr/>
        </p:nvSpPr>
        <p:spPr>
          <a:xfrm>
            <a:off x="2941093" y="317703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8" name="Multiplication Sign 47">
            <a:extLst>
              <a:ext uri="{FF2B5EF4-FFF2-40B4-BE49-F238E27FC236}">
                <a16:creationId xmlns:a16="http://schemas.microsoft.com/office/drawing/2014/main" id="{90B17B18-04BB-40A4-93A5-6B2AAAA7078E}"/>
              </a:ext>
            </a:extLst>
          </p:cNvPr>
          <p:cNvSpPr/>
          <p:nvPr/>
        </p:nvSpPr>
        <p:spPr>
          <a:xfrm>
            <a:off x="3046653" y="3368746"/>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9" name="Multiplication Sign 48">
            <a:extLst>
              <a:ext uri="{FF2B5EF4-FFF2-40B4-BE49-F238E27FC236}">
                <a16:creationId xmlns:a16="http://schemas.microsoft.com/office/drawing/2014/main" id="{32068868-6D02-4AC6-A2CA-E2F90BEACCA8}"/>
              </a:ext>
            </a:extLst>
          </p:cNvPr>
          <p:cNvSpPr/>
          <p:nvPr/>
        </p:nvSpPr>
        <p:spPr>
          <a:xfrm>
            <a:off x="3019498" y="357282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0" name="Multiplication Sign 49">
            <a:extLst>
              <a:ext uri="{FF2B5EF4-FFF2-40B4-BE49-F238E27FC236}">
                <a16:creationId xmlns:a16="http://schemas.microsoft.com/office/drawing/2014/main" id="{2D6BFC96-2CBA-4DB1-BDDB-693AC312C8F7}"/>
              </a:ext>
            </a:extLst>
          </p:cNvPr>
          <p:cNvSpPr/>
          <p:nvPr/>
        </p:nvSpPr>
        <p:spPr>
          <a:xfrm>
            <a:off x="3237861" y="357081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1" name="Multiplication Sign 50">
            <a:extLst>
              <a:ext uri="{FF2B5EF4-FFF2-40B4-BE49-F238E27FC236}">
                <a16:creationId xmlns:a16="http://schemas.microsoft.com/office/drawing/2014/main" id="{B7A8CDBE-0A89-47B8-BF0A-7461F4356D89}"/>
              </a:ext>
            </a:extLst>
          </p:cNvPr>
          <p:cNvSpPr/>
          <p:nvPr/>
        </p:nvSpPr>
        <p:spPr>
          <a:xfrm>
            <a:off x="2388041" y="357282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2" name="Multiplication Sign 51">
            <a:extLst>
              <a:ext uri="{FF2B5EF4-FFF2-40B4-BE49-F238E27FC236}">
                <a16:creationId xmlns:a16="http://schemas.microsoft.com/office/drawing/2014/main" id="{F0BD2B3C-6679-4064-835A-DA129ED1513D}"/>
              </a:ext>
            </a:extLst>
          </p:cNvPr>
          <p:cNvSpPr/>
          <p:nvPr/>
        </p:nvSpPr>
        <p:spPr>
          <a:xfrm>
            <a:off x="2846766" y="298823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3" name="Multiplication Sign 52">
            <a:extLst>
              <a:ext uri="{FF2B5EF4-FFF2-40B4-BE49-F238E27FC236}">
                <a16:creationId xmlns:a16="http://schemas.microsoft.com/office/drawing/2014/main" id="{E79A1B37-F980-4600-A8DE-1D9241F59A07}"/>
              </a:ext>
            </a:extLst>
          </p:cNvPr>
          <p:cNvSpPr/>
          <p:nvPr/>
        </p:nvSpPr>
        <p:spPr>
          <a:xfrm>
            <a:off x="3464223" y="4465426"/>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4" name="Multiplication Sign 53">
            <a:extLst>
              <a:ext uri="{FF2B5EF4-FFF2-40B4-BE49-F238E27FC236}">
                <a16:creationId xmlns:a16="http://schemas.microsoft.com/office/drawing/2014/main" id="{D1EFC95D-5190-49F4-BD01-23D945DB89D9}"/>
              </a:ext>
            </a:extLst>
          </p:cNvPr>
          <p:cNvSpPr/>
          <p:nvPr/>
        </p:nvSpPr>
        <p:spPr>
          <a:xfrm>
            <a:off x="2949124" y="384085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5" name="Multiplication Sign 54">
            <a:extLst>
              <a:ext uri="{FF2B5EF4-FFF2-40B4-BE49-F238E27FC236}">
                <a16:creationId xmlns:a16="http://schemas.microsoft.com/office/drawing/2014/main" id="{D2A58C36-1A2D-44CB-BC3D-3580A2872F2D}"/>
              </a:ext>
            </a:extLst>
          </p:cNvPr>
          <p:cNvSpPr/>
          <p:nvPr/>
        </p:nvSpPr>
        <p:spPr>
          <a:xfrm>
            <a:off x="3111622" y="400332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6" name="Multiplication Sign 55">
            <a:extLst>
              <a:ext uri="{FF2B5EF4-FFF2-40B4-BE49-F238E27FC236}">
                <a16:creationId xmlns:a16="http://schemas.microsoft.com/office/drawing/2014/main" id="{C1CD1CF5-006C-4B48-A393-757BEADF4CB6}"/>
              </a:ext>
            </a:extLst>
          </p:cNvPr>
          <p:cNvSpPr/>
          <p:nvPr/>
        </p:nvSpPr>
        <p:spPr>
          <a:xfrm>
            <a:off x="2812366" y="4019366"/>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7" name="Multiplication Sign 56">
            <a:extLst>
              <a:ext uri="{FF2B5EF4-FFF2-40B4-BE49-F238E27FC236}">
                <a16:creationId xmlns:a16="http://schemas.microsoft.com/office/drawing/2014/main" id="{8D7F834E-C244-45B4-A5DE-BD5B8AA81C3C}"/>
              </a:ext>
            </a:extLst>
          </p:cNvPr>
          <p:cNvSpPr/>
          <p:nvPr/>
        </p:nvSpPr>
        <p:spPr>
          <a:xfrm>
            <a:off x="2949124" y="415242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8" name="Multiplication Sign 57">
            <a:extLst>
              <a:ext uri="{FF2B5EF4-FFF2-40B4-BE49-F238E27FC236}">
                <a16:creationId xmlns:a16="http://schemas.microsoft.com/office/drawing/2014/main" id="{D7797A7D-A53D-445B-83D9-E6F87E158D8A}"/>
              </a:ext>
            </a:extLst>
          </p:cNvPr>
          <p:cNvSpPr/>
          <p:nvPr/>
        </p:nvSpPr>
        <p:spPr>
          <a:xfrm>
            <a:off x="3135717" y="420810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9" name="Multiplication Sign 58">
            <a:extLst>
              <a:ext uri="{FF2B5EF4-FFF2-40B4-BE49-F238E27FC236}">
                <a16:creationId xmlns:a16="http://schemas.microsoft.com/office/drawing/2014/main" id="{F04259A7-0F6D-42EC-8C5D-95FCEC3D27AC}"/>
              </a:ext>
            </a:extLst>
          </p:cNvPr>
          <p:cNvSpPr/>
          <p:nvPr/>
        </p:nvSpPr>
        <p:spPr>
          <a:xfrm>
            <a:off x="2715410" y="425001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0" name="Multiplication Sign 59">
            <a:extLst>
              <a:ext uri="{FF2B5EF4-FFF2-40B4-BE49-F238E27FC236}">
                <a16:creationId xmlns:a16="http://schemas.microsoft.com/office/drawing/2014/main" id="{94EB638C-E7F1-4004-80EC-478EEFC35FEE}"/>
              </a:ext>
            </a:extLst>
          </p:cNvPr>
          <p:cNvSpPr/>
          <p:nvPr/>
        </p:nvSpPr>
        <p:spPr>
          <a:xfrm>
            <a:off x="2893505" y="433022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1" name="Multiplication Sign 60">
            <a:extLst>
              <a:ext uri="{FF2B5EF4-FFF2-40B4-BE49-F238E27FC236}">
                <a16:creationId xmlns:a16="http://schemas.microsoft.com/office/drawing/2014/main" id="{2BE96A4B-8646-4366-9E1B-D6C282A9CE32}"/>
              </a:ext>
            </a:extLst>
          </p:cNvPr>
          <p:cNvSpPr/>
          <p:nvPr/>
        </p:nvSpPr>
        <p:spPr>
          <a:xfrm>
            <a:off x="3086848" y="4383702"/>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2" name="Multiplication Sign 61">
            <a:extLst>
              <a:ext uri="{FF2B5EF4-FFF2-40B4-BE49-F238E27FC236}">
                <a16:creationId xmlns:a16="http://schemas.microsoft.com/office/drawing/2014/main" id="{5E1155E6-D9AD-485A-962E-C5B4A9B5E76E}"/>
              </a:ext>
            </a:extLst>
          </p:cNvPr>
          <p:cNvSpPr/>
          <p:nvPr/>
        </p:nvSpPr>
        <p:spPr>
          <a:xfrm>
            <a:off x="3262170" y="4384302"/>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3" name="Multiplication Sign 62">
            <a:extLst>
              <a:ext uri="{FF2B5EF4-FFF2-40B4-BE49-F238E27FC236}">
                <a16:creationId xmlns:a16="http://schemas.microsoft.com/office/drawing/2014/main" id="{87C352EA-E368-480B-BEDC-5A7A7C128583}"/>
              </a:ext>
            </a:extLst>
          </p:cNvPr>
          <p:cNvSpPr/>
          <p:nvPr/>
        </p:nvSpPr>
        <p:spPr>
          <a:xfrm>
            <a:off x="2715410" y="4411350"/>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4" name="Multiplication Sign 63">
            <a:extLst>
              <a:ext uri="{FF2B5EF4-FFF2-40B4-BE49-F238E27FC236}">
                <a16:creationId xmlns:a16="http://schemas.microsoft.com/office/drawing/2014/main" id="{62841493-C954-4587-8F9E-B048CF815917}"/>
              </a:ext>
            </a:extLst>
          </p:cNvPr>
          <p:cNvSpPr/>
          <p:nvPr/>
        </p:nvSpPr>
        <p:spPr>
          <a:xfrm>
            <a:off x="2476413" y="4394889"/>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5" name="Multiplication Sign 64">
            <a:extLst>
              <a:ext uri="{FF2B5EF4-FFF2-40B4-BE49-F238E27FC236}">
                <a16:creationId xmlns:a16="http://schemas.microsoft.com/office/drawing/2014/main" id="{3081BEFD-8D72-4FAB-BA38-EC0863A9FE8D}"/>
              </a:ext>
            </a:extLst>
          </p:cNvPr>
          <p:cNvSpPr/>
          <p:nvPr/>
        </p:nvSpPr>
        <p:spPr>
          <a:xfrm>
            <a:off x="3221798" y="534357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6" name="Multiplication Sign 65">
            <a:extLst>
              <a:ext uri="{FF2B5EF4-FFF2-40B4-BE49-F238E27FC236}">
                <a16:creationId xmlns:a16="http://schemas.microsoft.com/office/drawing/2014/main" id="{81A14A22-DB1F-4BE4-AF9D-907E2FAB600C}"/>
              </a:ext>
            </a:extLst>
          </p:cNvPr>
          <p:cNvSpPr/>
          <p:nvPr/>
        </p:nvSpPr>
        <p:spPr>
          <a:xfrm>
            <a:off x="2688895" y="466310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7" name="Multiplication Sign 66">
            <a:extLst>
              <a:ext uri="{FF2B5EF4-FFF2-40B4-BE49-F238E27FC236}">
                <a16:creationId xmlns:a16="http://schemas.microsoft.com/office/drawing/2014/main" id="{8C2BF33E-4CA9-4BD7-8D3A-074625862A0B}"/>
              </a:ext>
            </a:extLst>
          </p:cNvPr>
          <p:cNvSpPr/>
          <p:nvPr/>
        </p:nvSpPr>
        <p:spPr>
          <a:xfrm>
            <a:off x="2866172" y="4866207"/>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8" name="Multiplication Sign 67">
            <a:extLst>
              <a:ext uri="{FF2B5EF4-FFF2-40B4-BE49-F238E27FC236}">
                <a16:creationId xmlns:a16="http://schemas.microsoft.com/office/drawing/2014/main" id="{5D7CD02F-E741-47D3-97B8-E2EF0FC7939C}"/>
              </a:ext>
            </a:extLst>
          </p:cNvPr>
          <p:cNvSpPr/>
          <p:nvPr/>
        </p:nvSpPr>
        <p:spPr>
          <a:xfrm>
            <a:off x="2596559" y="485336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9" name="Multiplication Sign 68">
            <a:extLst>
              <a:ext uri="{FF2B5EF4-FFF2-40B4-BE49-F238E27FC236}">
                <a16:creationId xmlns:a16="http://schemas.microsoft.com/office/drawing/2014/main" id="{4BCA6BAF-43FB-47E6-B4CD-1BE18E739E5F}"/>
              </a:ext>
            </a:extLst>
          </p:cNvPr>
          <p:cNvSpPr/>
          <p:nvPr/>
        </p:nvSpPr>
        <p:spPr>
          <a:xfrm>
            <a:off x="2720917" y="4950354"/>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0" name="Multiplication Sign 69">
            <a:extLst>
              <a:ext uri="{FF2B5EF4-FFF2-40B4-BE49-F238E27FC236}">
                <a16:creationId xmlns:a16="http://schemas.microsoft.com/office/drawing/2014/main" id="{2BCE846A-C901-4A70-B6EF-92DAAC4A2E16}"/>
              </a:ext>
            </a:extLst>
          </p:cNvPr>
          <p:cNvSpPr/>
          <p:nvPr/>
        </p:nvSpPr>
        <p:spPr>
          <a:xfrm>
            <a:off x="2925633" y="509685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1" name="Multiplication Sign 70">
            <a:extLst>
              <a:ext uri="{FF2B5EF4-FFF2-40B4-BE49-F238E27FC236}">
                <a16:creationId xmlns:a16="http://schemas.microsoft.com/office/drawing/2014/main" id="{1CF4D09B-1B4F-4A37-ADE9-7B3845746C01}"/>
              </a:ext>
            </a:extLst>
          </p:cNvPr>
          <p:cNvSpPr/>
          <p:nvPr/>
        </p:nvSpPr>
        <p:spPr>
          <a:xfrm>
            <a:off x="2731826" y="515517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2" name="Multiplication Sign 71">
            <a:extLst>
              <a:ext uri="{FF2B5EF4-FFF2-40B4-BE49-F238E27FC236}">
                <a16:creationId xmlns:a16="http://schemas.microsoft.com/office/drawing/2014/main" id="{0E3A1DB3-0AB9-4C82-B0A8-D066CD0C5C02}"/>
              </a:ext>
            </a:extLst>
          </p:cNvPr>
          <p:cNvSpPr/>
          <p:nvPr/>
        </p:nvSpPr>
        <p:spPr>
          <a:xfrm>
            <a:off x="2540690" y="507191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3" name="Multiplication Sign 72">
            <a:extLst>
              <a:ext uri="{FF2B5EF4-FFF2-40B4-BE49-F238E27FC236}">
                <a16:creationId xmlns:a16="http://schemas.microsoft.com/office/drawing/2014/main" id="{ADBCEFC9-1FAA-424D-A89A-BA3D98985D80}"/>
              </a:ext>
            </a:extLst>
          </p:cNvPr>
          <p:cNvSpPr/>
          <p:nvPr/>
        </p:nvSpPr>
        <p:spPr>
          <a:xfrm>
            <a:off x="2419298" y="5201939"/>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4" name="Multiplication Sign 73">
            <a:extLst>
              <a:ext uri="{FF2B5EF4-FFF2-40B4-BE49-F238E27FC236}">
                <a16:creationId xmlns:a16="http://schemas.microsoft.com/office/drawing/2014/main" id="{876E19A6-9E8E-4826-A96A-6A84FC3803FF}"/>
              </a:ext>
            </a:extLst>
          </p:cNvPr>
          <p:cNvSpPr/>
          <p:nvPr/>
        </p:nvSpPr>
        <p:spPr>
          <a:xfrm>
            <a:off x="2611770" y="527763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5" name="Multiplication Sign 74">
            <a:extLst>
              <a:ext uri="{FF2B5EF4-FFF2-40B4-BE49-F238E27FC236}">
                <a16:creationId xmlns:a16="http://schemas.microsoft.com/office/drawing/2014/main" id="{760B3E66-76AE-4F0D-A0AA-A04ADC490EFC}"/>
              </a:ext>
            </a:extLst>
          </p:cNvPr>
          <p:cNvSpPr/>
          <p:nvPr/>
        </p:nvSpPr>
        <p:spPr>
          <a:xfrm>
            <a:off x="2801275" y="5317737"/>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6" name="Multiplication Sign 75">
            <a:extLst>
              <a:ext uri="{FF2B5EF4-FFF2-40B4-BE49-F238E27FC236}">
                <a16:creationId xmlns:a16="http://schemas.microsoft.com/office/drawing/2014/main" id="{3E37E302-66F8-42FC-AAA1-FD22C9406EB8}"/>
              </a:ext>
            </a:extLst>
          </p:cNvPr>
          <p:cNvSpPr/>
          <p:nvPr/>
        </p:nvSpPr>
        <p:spPr>
          <a:xfrm>
            <a:off x="3005991" y="527763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7" name="Multiplication Sign 76">
            <a:extLst>
              <a:ext uri="{FF2B5EF4-FFF2-40B4-BE49-F238E27FC236}">
                <a16:creationId xmlns:a16="http://schemas.microsoft.com/office/drawing/2014/main" id="{0BBC9EA7-C198-4A7E-9B83-27EE6586D7EA}"/>
              </a:ext>
            </a:extLst>
          </p:cNvPr>
          <p:cNvSpPr/>
          <p:nvPr/>
        </p:nvSpPr>
        <p:spPr>
          <a:xfrm>
            <a:off x="2214582" y="5345305"/>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8" name="Multiplication Sign 77">
            <a:extLst>
              <a:ext uri="{FF2B5EF4-FFF2-40B4-BE49-F238E27FC236}">
                <a16:creationId xmlns:a16="http://schemas.microsoft.com/office/drawing/2014/main" id="{25643046-2FD1-4D54-90F9-2574BA9D2C28}"/>
              </a:ext>
            </a:extLst>
          </p:cNvPr>
          <p:cNvSpPr/>
          <p:nvPr/>
        </p:nvSpPr>
        <p:spPr>
          <a:xfrm>
            <a:off x="2446504" y="5373017"/>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79" name="Text Placeholder 5">
                <a:extLst>
                  <a:ext uri="{FF2B5EF4-FFF2-40B4-BE49-F238E27FC236}">
                    <a16:creationId xmlns:a16="http://schemas.microsoft.com/office/drawing/2014/main" id="{A1A8640C-75FD-4AC2-8919-A9ED605E6F79}"/>
                  </a:ext>
                </a:extLst>
              </p:cNvPr>
              <p:cNvSpPr txBox="1">
                <a:spLocks/>
              </p:cNvSpPr>
              <p:nvPr/>
            </p:nvSpPr>
            <p:spPr>
              <a:xfrm>
                <a:off x="1764682" y="5696422"/>
                <a:ext cx="2359788" cy="3930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𝝁</m:t>
                      </m:r>
                    </m:oMath>
                  </m:oMathPara>
                </a14:m>
                <a:endParaRPr lang="en-NZ" altLang="ja-JP" sz="1600" b="1"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79" name="Text Placeholder 5">
                <a:extLst>
                  <a:ext uri="{FF2B5EF4-FFF2-40B4-BE49-F238E27FC236}">
                    <a16:creationId xmlns:a16="http://schemas.microsoft.com/office/drawing/2014/main" id="{A1A8640C-75FD-4AC2-8919-A9ED605E6F79}"/>
                  </a:ext>
                </a:extLst>
              </p:cNvPr>
              <p:cNvSpPr txBox="1">
                <a:spLocks noRot="1" noChangeAspect="1" noMove="1" noResize="1" noEditPoints="1" noAdjustHandles="1" noChangeArrowheads="1" noChangeShapeType="1" noTextEdit="1"/>
              </p:cNvSpPr>
              <p:nvPr/>
            </p:nvSpPr>
            <p:spPr>
              <a:xfrm>
                <a:off x="1764682" y="5696422"/>
                <a:ext cx="2359788" cy="393062"/>
              </a:xfrm>
              <a:prstGeom prst="rect">
                <a:avLst/>
              </a:prstGeom>
              <a:blipFill>
                <a:blip r:embed="rId3"/>
                <a:stretch>
                  <a:fillRect/>
                </a:stretch>
              </a:blipFill>
            </p:spPr>
            <p:txBody>
              <a:bodyPr/>
              <a:lstStyle/>
              <a:p>
                <a:r>
                  <a:rPr lang="en-NZ">
                    <a:noFill/>
                  </a:rPr>
                  <a:t> </a:t>
                </a:r>
              </a:p>
            </p:txBody>
          </p:sp>
        </mc:Fallback>
      </mc:AlternateContent>
      <p:sp>
        <p:nvSpPr>
          <p:cNvPr id="80" name="Text Placeholder 5">
            <a:extLst>
              <a:ext uri="{FF2B5EF4-FFF2-40B4-BE49-F238E27FC236}">
                <a16:creationId xmlns:a16="http://schemas.microsoft.com/office/drawing/2014/main" id="{CA7572FC-C9DB-4589-B79A-A80B4F80F877}"/>
              </a:ext>
            </a:extLst>
          </p:cNvPr>
          <p:cNvSpPr txBox="1">
            <a:spLocks/>
          </p:cNvSpPr>
          <p:nvPr/>
        </p:nvSpPr>
        <p:spPr>
          <a:xfrm>
            <a:off x="6140663" y="1416724"/>
            <a:ext cx="5456078" cy="13535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tx1"/>
                </a:solidFill>
              </a:rPr>
              <a:t>If </a:t>
            </a:r>
            <a:r>
              <a:rPr lang="en-NZ" altLang="ja-JP" sz="1400" b="1" i="1" dirty="0">
                <a:solidFill>
                  <a:schemeClr val="tx1"/>
                </a:solidFill>
              </a:rPr>
              <a:t>H</a:t>
            </a:r>
            <a:r>
              <a:rPr lang="en-NZ" altLang="ja-JP" sz="1400" b="1" i="1" baseline="-25000" dirty="0">
                <a:solidFill>
                  <a:schemeClr val="tx1"/>
                </a:solidFill>
              </a:rPr>
              <a:t>1</a:t>
            </a:r>
            <a:r>
              <a:rPr lang="en-NZ" altLang="ja-JP" sz="1400" dirty="0">
                <a:solidFill>
                  <a:schemeClr val="tx1"/>
                </a:solidFill>
              </a:rPr>
              <a:t> is true, there really are differences between the means of the different groups</a:t>
            </a:r>
          </a:p>
          <a:p>
            <a:pPr algn="just">
              <a:lnSpc>
                <a:spcPct val="100000"/>
              </a:lnSpc>
            </a:pPr>
            <a:endParaRPr lang="en-NZ" altLang="ja-JP" sz="1400" dirty="0">
              <a:solidFill>
                <a:schemeClr val="tx1"/>
              </a:solidFill>
            </a:endParaRPr>
          </a:p>
          <a:p>
            <a:pPr marL="285750" indent="-285750" algn="just">
              <a:lnSpc>
                <a:spcPct val="100000"/>
              </a:lnSpc>
              <a:buFont typeface="Symbol" panose="05050102010706020507" pitchFamily="18" charset="2"/>
              <a:buChar char="Þ"/>
            </a:pP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between</a:t>
            </a:r>
            <a:r>
              <a:rPr lang="en-NZ" altLang="ja-JP" sz="1400" dirty="0">
                <a:solidFill>
                  <a:schemeClr val="tx1"/>
                </a:solidFill>
              </a:rPr>
              <a:t> group means and the overall mean (</a:t>
            </a:r>
            <a:r>
              <a:rPr lang="en-NZ" altLang="ja-JP" sz="1400" b="1" dirty="0">
                <a:solidFill>
                  <a:srgbClr val="C00000"/>
                </a:solidFill>
              </a:rPr>
              <a:t>MST</a:t>
            </a:r>
            <a:r>
              <a:rPr lang="en-NZ" altLang="ja-JP" sz="1400" dirty="0">
                <a:solidFill>
                  <a:schemeClr val="tx1"/>
                </a:solidFill>
              </a:rPr>
              <a:t>) </a:t>
            </a:r>
            <a:br>
              <a:rPr lang="en-NZ" altLang="ja-JP" sz="1400" dirty="0">
                <a:solidFill>
                  <a:schemeClr val="tx1"/>
                </a:solidFill>
              </a:rPr>
            </a:br>
            <a:r>
              <a:rPr lang="en-NZ" altLang="ja-JP" sz="1400" dirty="0">
                <a:solidFill>
                  <a:schemeClr val="tx1"/>
                </a:solidFill>
              </a:rPr>
              <a:t>will be </a:t>
            </a:r>
            <a:r>
              <a:rPr lang="en-NZ" altLang="ja-JP" sz="1400" b="1" dirty="0">
                <a:solidFill>
                  <a:schemeClr val="tx1"/>
                </a:solidFill>
              </a:rPr>
              <a:t>greater</a:t>
            </a:r>
            <a:r>
              <a:rPr lang="en-NZ" altLang="ja-JP" sz="1400" dirty="0">
                <a:solidFill>
                  <a:schemeClr val="tx1"/>
                </a:solidFill>
              </a:rPr>
              <a:t> than </a:t>
            </a:r>
            <a:r>
              <a:rPr lang="en-NZ" altLang="ja-JP" sz="1400" dirty="0" err="1">
                <a:solidFill>
                  <a:schemeClr val="tx1"/>
                </a:solidFill>
              </a:rPr>
              <a:t>avg</a:t>
            </a:r>
            <a:r>
              <a:rPr lang="en-NZ" altLang="ja-JP" sz="1400" dirty="0">
                <a:solidFill>
                  <a:schemeClr val="tx1"/>
                </a:solidFill>
              </a:rPr>
              <a:t> variability </a:t>
            </a:r>
            <a:r>
              <a:rPr lang="en-NZ" altLang="ja-JP" sz="1400" b="1" dirty="0">
                <a:solidFill>
                  <a:schemeClr val="tx1"/>
                </a:solidFill>
              </a:rPr>
              <a:t>within</a:t>
            </a:r>
            <a:r>
              <a:rPr lang="en-NZ" altLang="ja-JP" sz="1400" dirty="0">
                <a:solidFill>
                  <a:schemeClr val="tx1"/>
                </a:solidFill>
              </a:rPr>
              <a:t> groups (</a:t>
            </a:r>
            <a:r>
              <a:rPr lang="en-NZ" altLang="ja-JP" sz="1400" b="1" dirty="0">
                <a:solidFill>
                  <a:srgbClr val="C00000"/>
                </a:solidFill>
              </a:rPr>
              <a:t>MSE</a:t>
            </a:r>
            <a:r>
              <a:rPr lang="en-NZ" altLang="ja-JP" sz="1400" dirty="0">
                <a:solidFill>
                  <a:schemeClr val="tx1"/>
                </a:solidFill>
              </a:rPr>
              <a:t>).</a:t>
            </a:r>
          </a:p>
          <a:p>
            <a:pPr marL="285750" indent="-285750" algn="just">
              <a:lnSpc>
                <a:spcPct val="100000"/>
              </a:lnSpc>
              <a:buFont typeface="Symbol" panose="05050102010706020507" pitchFamily="18" charset="2"/>
              <a:buChar char="Þ"/>
            </a:pPr>
            <a:endParaRPr lang="en-NZ" altLang="ja-JP" sz="1400" dirty="0">
              <a:solidFill>
                <a:schemeClr val="tx1"/>
              </a:solidFill>
            </a:endParaRPr>
          </a:p>
          <a:p>
            <a:pPr algn="just">
              <a:lnSpc>
                <a:spcPct val="100000"/>
              </a:lnSpc>
            </a:pPr>
            <a:r>
              <a:rPr lang="en-NZ" altLang="ja-JP" sz="1400" dirty="0">
                <a:solidFill>
                  <a:schemeClr val="tx1"/>
                </a:solidFill>
              </a:rPr>
              <a:t>  </a:t>
            </a: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p:pic>
        <p:nvPicPr>
          <p:cNvPr id="81" name="Picture 80">
            <a:extLst>
              <a:ext uri="{FF2B5EF4-FFF2-40B4-BE49-F238E27FC236}">
                <a16:creationId xmlns:a16="http://schemas.microsoft.com/office/drawing/2014/main" id="{B3D3C60F-1113-48C6-B247-BED3C0B04AB3}"/>
              </a:ext>
            </a:extLst>
          </p:cNvPr>
          <p:cNvPicPr>
            <a:picLocks noChangeAspect="1"/>
          </p:cNvPicPr>
          <p:nvPr/>
        </p:nvPicPr>
        <p:blipFill>
          <a:blip r:embed="rId2"/>
          <a:stretch>
            <a:fillRect/>
          </a:stretch>
        </p:blipFill>
        <p:spPr>
          <a:xfrm>
            <a:off x="9846046" y="3086228"/>
            <a:ext cx="1287154" cy="775868"/>
          </a:xfrm>
          <a:prstGeom prst="rect">
            <a:avLst/>
          </a:prstGeom>
        </p:spPr>
      </p:pic>
      <p:pic>
        <p:nvPicPr>
          <p:cNvPr id="82" name="Picture 81">
            <a:extLst>
              <a:ext uri="{FF2B5EF4-FFF2-40B4-BE49-F238E27FC236}">
                <a16:creationId xmlns:a16="http://schemas.microsoft.com/office/drawing/2014/main" id="{47C686D3-CD40-42DC-B3C2-AEA1457DBC9B}"/>
              </a:ext>
            </a:extLst>
          </p:cNvPr>
          <p:cNvPicPr>
            <a:picLocks noChangeAspect="1"/>
          </p:cNvPicPr>
          <p:nvPr/>
        </p:nvPicPr>
        <p:blipFill>
          <a:blip r:embed="rId2"/>
          <a:stretch>
            <a:fillRect/>
          </a:stretch>
        </p:blipFill>
        <p:spPr>
          <a:xfrm>
            <a:off x="6677953" y="3801688"/>
            <a:ext cx="1287154" cy="775868"/>
          </a:xfrm>
          <a:prstGeom prst="rect">
            <a:avLst/>
          </a:prstGeom>
        </p:spPr>
      </p:pic>
      <p:pic>
        <p:nvPicPr>
          <p:cNvPr id="83" name="Picture 82">
            <a:extLst>
              <a:ext uri="{FF2B5EF4-FFF2-40B4-BE49-F238E27FC236}">
                <a16:creationId xmlns:a16="http://schemas.microsoft.com/office/drawing/2014/main" id="{D38C3BED-6005-4040-A9B2-BDD5DE9B2091}"/>
              </a:ext>
            </a:extLst>
          </p:cNvPr>
          <p:cNvPicPr>
            <a:picLocks noChangeAspect="1"/>
          </p:cNvPicPr>
          <p:nvPr/>
        </p:nvPicPr>
        <p:blipFill>
          <a:blip r:embed="rId2"/>
          <a:stretch>
            <a:fillRect/>
          </a:stretch>
        </p:blipFill>
        <p:spPr>
          <a:xfrm>
            <a:off x="8381079" y="4780986"/>
            <a:ext cx="1287154" cy="775868"/>
          </a:xfrm>
          <a:prstGeom prst="rect">
            <a:avLst/>
          </a:prstGeom>
        </p:spPr>
      </p:pic>
      <p:cxnSp>
        <p:nvCxnSpPr>
          <p:cNvPr id="84" name="Straight Connector 83">
            <a:extLst>
              <a:ext uri="{FF2B5EF4-FFF2-40B4-BE49-F238E27FC236}">
                <a16:creationId xmlns:a16="http://schemas.microsoft.com/office/drawing/2014/main" id="{5F18C36D-8A31-4208-9890-D440A2E6A40F}"/>
              </a:ext>
            </a:extLst>
          </p:cNvPr>
          <p:cNvCxnSpPr>
            <a:cxnSpLocks/>
          </p:cNvCxnSpPr>
          <p:nvPr/>
        </p:nvCxnSpPr>
        <p:spPr>
          <a:xfrm>
            <a:off x="9024656" y="3070145"/>
            <a:ext cx="0" cy="27181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0F058D-D915-4226-B0EA-E9DF34E52E9E}"/>
              </a:ext>
            </a:extLst>
          </p:cNvPr>
          <p:cNvCxnSpPr>
            <a:cxnSpLocks/>
          </p:cNvCxnSpPr>
          <p:nvPr/>
        </p:nvCxnSpPr>
        <p:spPr>
          <a:xfrm>
            <a:off x="6216629" y="5616733"/>
            <a:ext cx="56160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Multiplication Sign 85">
            <a:extLst>
              <a:ext uri="{FF2B5EF4-FFF2-40B4-BE49-F238E27FC236}">
                <a16:creationId xmlns:a16="http://schemas.microsoft.com/office/drawing/2014/main" id="{DA75A986-19AD-4851-8959-418557A56EAF}"/>
              </a:ext>
            </a:extLst>
          </p:cNvPr>
          <p:cNvSpPr/>
          <p:nvPr/>
        </p:nvSpPr>
        <p:spPr>
          <a:xfrm>
            <a:off x="10489623" y="323169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7" name="Multiplication Sign 86">
            <a:extLst>
              <a:ext uri="{FF2B5EF4-FFF2-40B4-BE49-F238E27FC236}">
                <a16:creationId xmlns:a16="http://schemas.microsoft.com/office/drawing/2014/main" id="{22E625BA-A93E-4B86-A6CD-F936DD8F0994}"/>
              </a:ext>
            </a:extLst>
          </p:cNvPr>
          <p:cNvSpPr/>
          <p:nvPr/>
        </p:nvSpPr>
        <p:spPr>
          <a:xfrm>
            <a:off x="7219172" y="375660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8" name="Multiplication Sign 87">
            <a:extLst>
              <a:ext uri="{FF2B5EF4-FFF2-40B4-BE49-F238E27FC236}">
                <a16:creationId xmlns:a16="http://schemas.microsoft.com/office/drawing/2014/main" id="{7E14A057-ED71-43CA-89A8-B1329319FF0F}"/>
              </a:ext>
            </a:extLst>
          </p:cNvPr>
          <p:cNvSpPr/>
          <p:nvPr/>
        </p:nvSpPr>
        <p:spPr>
          <a:xfrm>
            <a:off x="8922298" y="472056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9" name="Multiplication Sign 88">
            <a:extLst>
              <a:ext uri="{FF2B5EF4-FFF2-40B4-BE49-F238E27FC236}">
                <a16:creationId xmlns:a16="http://schemas.microsoft.com/office/drawing/2014/main" id="{DE547FE2-5B94-425B-BAE5-10CCC9BE9354}"/>
              </a:ext>
            </a:extLst>
          </p:cNvPr>
          <p:cNvSpPr/>
          <p:nvPr/>
        </p:nvSpPr>
        <p:spPr>
          <a:xfrm>
            <a:off x="10387265" y="3034205"/>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0" name="Multiplication Sign 89">
            <a:extLst>
              <a:ext uri="{FF2B5EF4-FFF2-40B4-BE49-F238E27FC236}">
                <a16:creationId xmlns:a16="http://schemas.microsoft.com/office/drawing/2014/main" id="{CC4EE0AE-16FD-44CC-AE5F-12C545D4622B}"/>
              </a:ext>
            </a:extLst>
          </p:cNvPr>
          <p:cNvSpPr/>
          <p:nvPr/>
        </p:nvSpPr>
        <p:spPr>
          <a:xfrm>
            <a:off x="10284907" y="3228172"/>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1" name="Multiplication Sign 90">
            <a:extLst>
              <a:ext uri="{FF2B5EF4-FFF2-40B4-BE49-F238E27FC236}">
                <a16:creationId xmlns:a16="http://schemas.microsoft.com/office/drawing/2014/main" id="{44A5F26F-0396-4DC8-BF3A-E5848C43B96B}"/>
              </a:ext>
            </a:extLst>
          </p:cNvPr>
          <p:cNvSpPr/>
          <p:nvPr/>
        </p:nvSpPr>
        <p:spPr>
          <a:xfrm>
            <a:off x="10381030" y="344608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2" name="Multiplication Sign 91">
            <a:extLst>
              <a:ext uri="{FF2B5EF4-FFF2-40B4-BE49-F238E27FC236}">
                <a16:creationId xmlns:a16="http://schemas.microsoft.com/office/drawing/2014/main" id="{ABA6EB69-DE5E-4FC1-B6BF-133070976D8E}"/>
              </a:ext>
            </a:extLst>
          </p:cNvPr>
          <p:cNvSpPr/>
          <p:nvPr/>
        </p:nvSpPr>
        <p:spPr>
          <a:xfrm>
            <a:off x="10137982" y="3446084"/>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3" name="Multiplication Sign 92">
            <a:extLst>
              <a:ext uri="{FF2B5EF4-FFF2-40B4-BE49-F238E27FC236}">
                <a16:creationId xmlns:a16="http://schemas.microsoft.com/office/drawing/2014/main" id="{04167469-1356-4ACA-A5A7-F50E9B82FE24}"/>
              </a:ext>
            </a:extLst>
          </p:cNvPr>
          <p:cNvSpPr/>
          <p:nvPr/>
        </p:nvSpPr>
        <p:spPr>
          <a:xfrm>
            <a:off x="10397928" y="362315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4" name="Multiplication Sign 93">
            <a:extLst>
              <a:ext uri="{FF2B5EF4-FFF2-40B4-BE49-F238E27FC236}">
                <a16:creationId xmlns:a16="http://schemas.microsoft.com/office/drawing/2014/main" id="{6DA454BB-66E5-472B-A8EB-8792DB9062B7}"/>
              </a:ext>
            </a:extLst>
          </p:cNvPr>
          <p:cNvSpPr/>
          <p:nvPr/>
        </p:nvSpPr>
        <p:spPr>
          <a:xfrm>
            <a:off x="10618103" y="3623268"/>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5" name="Multiplication Sign 94">
            <a:extLst>
              <a:ext uri="{FF2B5EF4-FFF2-40B4-BE49-F238E27FC236}">
                <a16:creationId xmlns:a16="http://schemas.microsoft.com/office/drawing/2014/main" id="{DAF847E5-FD8C-4F45-9CD4-53A5629BFF89}"/>
              </a:ext>
            </a:extLst>
          </p:cNvPr>
          <p:cNvSpPr/>
          <p:nvPr/>
        </p:nvSpPr>
        <p:spPr>
          <a:xfrm>
            <a:off x="10832738" y="3635373"/>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6" name="Multiplication Sign 95">
            <a:extLst>
              <a:ext uri="{FF2B5EF4-FFF2-40B4-BE49-F238E27FC236}">
                <a16:creationId xmlns:a16="http://schemas.microsoft.com/office/drawing/2014/main" id="{B4BE1058-49AC-4132-A6E6-BE8804394445}"/>
              </a:ext>
            </a:extLst>
          </p:cNvPr>
          <p:cNvSpPr/>
          <p:nvPr/>
        </p:nvSpPr>
        <p:spPr>
          <a:xfrm>
            <a:off x="10192467" y="363576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7" name="Multiplication Sign 96">
            <a:extLst>
              <a:ext uri="{FF2B5EF4-FFF2-40B4-BE49-F238E27FC236}">
                <a16:creationId xmlns:a16="http://schemas.microsoft.com/office/drawing/2014/main" id="{F2ACE632-176E-4947-975A-3E140655FAFD}"/>
              </a:ext>
            </a:extLst>
          </p:cNvPr>
          <p:cNvSpPr/>
          <p:nvPr/>
        </p:nvSpPr>
        <p:spPr>
          <a:xfrm>
            <a:off x="9989315" y="3635767"/>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8" name="Multiplication Sign 97">
            <a:extLst>
              <a:ext uri="{FF2B5EF4-FFF2-40B4-BE49-F238E27FC236}">
                <a16:creationId xmlns:a16="http://schemas.microsoft.com/office/drawing/2014/main" id="{E8006963-986C-414C-8A81-C000BBC00DD5}"/>
              </a:ext>
            </a:extLst>
          </p:cNvPr>
          <p:cNvSpPr/>
          <p:nvPr/>
        </p:nvSpPr>
        <p:spPr>
          <a:xfrm>
            <a:off x="7114217" y="396304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9" name="Multiplication Sign 98">
            <a:extLst>
              <a:ext uri="{FF2B5EF4-FFF2-40B4-BE49-F238E27FC236}">
                <a16:creationId xmlns:a16="http://schemas.microsoft.com/office/drawing/2014/main" id="{D7A09082-27B5-4E91-A602-E3E0893A6ABC}"/>
              </a:ext>
            </a:extLst>
          </p:cNvPr>
          <p:cNvSpPr/>
          <p:nvPr/>
        </p:nvSpPr>
        <p:spPr>
          <a:xfrm>
            <a:off x="7333647" y="3963048"/>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0" name="Multiplication Sign 99">
            <a:extLst>
              <a:ext uri="{FF2B5EF4-FFF2-40B4-BE49-F238E27FC236}">
                <a16:creationId xmlns:a16="http://schemas.microsoft.com/office/drawing/2014/main" id="{E033EEF3-C6F2-40CF-A369-D976AF81CDE0}"/>
              </a:ext>
            </a:extLst>
          </p:cNvPr>
          <p:cNvSpPr/>
          <p:nvPr/>
        </p:nvSpPr>
        <p:spPr>
          <a:xfrm>
            <a:off x="7216575" y="4154961"/>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1" name="Multiplication Sign 100">
            <a:extLst>
              <a:ext uri="{FF2B5EF4-FFF2-40B4-BE49-F238E27FC236}">
                <a16:creationId xmlns:a16="http://schemas.microsoft.com/office/drawing/2014/main" id="{16FCBD36-B026-4C5E-B01B-7209AED75435}"/>
              </a:ext>
            </a:extLst>
          </p:cNvPr>
          <p:cNvSpPr/>
          <p:nvPr/>
        </p:nvSpPr>
        <p:spPr>
          <a:xfrm>
            <a:off x="7450719" y="4180237"/>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2" name="Multiplication Sign 101">
            <a:extLst>
              <a:ext uri="{FF2B5EF4-FFF2-40B4-BE49-F238E27FC236}">
                <a16:creationId xmlns:a16="http://schemas.microsoft.com/office/drawing/2014/main" id="{281553C2-0208-4670-9F63-748C46B9AB2B}"/>
              </a:ext>
            </a:extLst>
          </p:cNvPr>
          <p:cNvSpPr/>
          <p:nvPr/>
        </p:nvSpPr>
        <p:spPr>
          <a:xfrm>
            <a:off x="6986838" y="4192370"/>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3" name="Multiplication Sign 102">
            <a:extLst>
              <a:ext uri="{FF2B5EF4-FFF2-40B4-BE49-F238E27FC236}">
                <a16:creationId xmlns:a16="http://schemas.microsoft.com/office/drawing/2014/main" id="{D8B00C38-BA2C-499A-B04D-B1A7D4613BF1}"/>
              </a:ext>
            </a:extLst>
          </p:cNvPr>
          <p:cNvSpPr/>
          <p:nvPr/>
        </p:nvSpPr>
        <p:spPr>
          <a:xfrm>
            <a:off x="7657212" y="4374574"/>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4" name="Multiplication Sign 103">
            <a:extLst>
              <a:ext uri="{FF2B5EF4-FFF2-40B4-BE49-F238E27FC236}">
                <a16:creationId xmlns:a16="http://schemas.microsoft.com/office/drawing/2014/main" id="{8509BF52-63DE-4F88-BF7B-542598481819}"/>
              </a:ext>
            </a:extLst>
          </p:cNvPr>
          <p:cNvSpPr/>
          <p:nvPr/>
        </p:nvSpPr>
        <p:spPr>
          <a:xfrm>
            <a:off x="7424703" y="4372150"/>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5" name="Multiplication Sign 104">
            <a:extLst>
              <a:ext uri="{FF2B5EF4-FFF2-40B4-BE49-F238E27FC236}">
                <a16:creationId xmlns:a16="http://schemas.microsoft.com/office/drawing/2014/main" id="{9FFDE779-39C8-47F2-BA54-1792ACE87AE0}"/>
              </a:ext>
            </a:extLst>
          </p:cNvPr>
          <p:cNvSpPr/>
          <p:nvPr/>
        </p:nvSpPr>
        <p:spPr>
          <a:xfrm>
            <a:off x="7206268" y="4372150"/>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6" name="Multiplication Sign 105">
            <a:extLst>
              <a:ext uri="{FF2B5EF4-FFF2-40B4-BE49-F238E27FC236}">
                <a16:creationId xmlns:a16="http://schemas.microsoft.com/office/drawing/2014/main" id="{A8CFA458-00CA-41BF-A146-F11E132EDA4F}"/>
              </a:ext>
            </a:extLst>
          </p:cNvPr>
          <p:cNvSpPr/>
          <p:nvPr/>
        </p:nvSpPr>
        <p:spPr>
          <a:xfrm>
            <a:off x="6986838" y="4360083"/>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7" name="Multiplication Sign 106">
            <a:extLst>
              <a:ext uri="{FF2B5EF4-FFF2-40B4-BE49-F238E27FC236}">
                <a16:creationId xmlns:a16="http://schemas.microsoft.com/office/drawing/2014/main" id="{3C26A11B-EA9B-4467-9D7F-2BD6D0AC8C24}"/>
              </a:ext>
            </a:extLst>
          </p:cNvPr>
          <p:cNvSpPr/>
          <p:nvPr/>
        </p:nvSpPr>
        <p:spPr>
          <a:xfrm>
            <a:off x="6782122" y="4397425"/>
            <a:ext cx="204716" cy="242464"/>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8" name="Multiplication Sign 107">
            <a:extLst>
              <a:ext uri="{FF2B5EF4-FFF2-40B4-BE49-F238E27FC236}">
                <a16:creationId xmlns:a16="http://schemas.microsoft.com/office/drawing/2014/main" id="{39A891D1-8FDC-43F8-9ACB-62C4899A2D20}"/>
              </a:ext>
            </a:extLst>
          </p:cNvPr>
          <p:cNvSpPr/>
          <p:nvPr/>
        </p:nvSpPr>
        <p:spPr>
          <a:xfrm>
            <a:off x="9063184" y="490896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9" name="Multiplication Sign 108">
            <a:extLst>
              <a:ext uri="{FF2B5EF4-FFF2-40B4-BE49-F238E27FC236}">
                <a16:creationId xmlns:a16="http://schemas.microsoft.com/office/drawing/2014/main" id="{8CA4EB53-EA4A-4F68-B812-75ED24E83BE7}"/>
              </a:ext>
            </a:extLst>
          </p:cNvPr>
          <p:cNvSpPr/>
          <p:nvPr/>
        </p:nvSpPr>
        <p:spPr>
          <a:xfrm>
            <a:off x="10602644" y="3421951"/>
            <a:ext cx="204716" cy="24246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0" name="Multiplication Sign 109">
            <a:extLst>
              <a:ext uri="{FF2B5EF4-FFF2-40B4-BE49-F238E27FC236}">
                <a16:creationId xmlns:a16="http://schemas.microsoft.com/office/drawing/2014/main" id="{ABF985ED-5F05-4949-87BE-9343749C848D}"/>
              </a:ext>
            </a:extLst>
          </p:cNvPr>
          <p:cNvSpPr/>
          <p:nvPr/>
        </p:nvSpPr>
        <p:spPr>
          <a:xfrm>
            <a:off x="8768761" y="4903126"/>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1" name="Multiplication Sign 110">
            <a:extLst>
              <a:ext uri="{FF2B5EF4-FFF2-40B4-BE49-F238E27FC236}">
                <a16:creationId xmlns:a16="http://schemas.microsoft.com/office/drawing/2014/main" id="{9B2C505A-B3A4-4C42-98F2-A1BDFE50DB6B}"/>
              </a:ext>
            </a:extLst>
          </p:cNvPr>
          <p:cNvSpPr/>
          <p:nvPr/>
        </p:nvSpPr>
        <p:spPr>
          <a:xfrm>
            <a:off x="8922298" y="512789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2" name="Multiplication Sign 111">
            <a:extLst>
              <a:ext uri="{FF2B5EF4-FFF2-40B4-BE49-F238E27FC236}">
                <a16:creationId xmlns:a16="http://schemas.microsoft.com/office/drawing/2014/main" id="{41073D2D-AFDE-4D12-8886-CBDB72A69E4E}"/>
              </a:ext>
            </a:extLst>
          </p:cNvPr>
          <p:cNvSpPr/>
          <p:nvPr/>
        </p:nvSpPr>
        <p:spPr>
          <a:xfrm>
            <a:off x="9156443" y="5127892"/>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3" name="Multiplication Sign 112">
            <a:extLst>
              <a:ext uri="{FF2B5EF4-FFF2-40B4-BE49-F238E27FC236}">
                <a16:creationId xmlns:a16="http://schemas.microsoft.com/office/drawing/2014/main" id="{07082010-56E0-4F07-ABC0-4081AF740DDF}"/>
              </a:ext>
            </a:extLst>
          </p:cNvPr>
          <p:cNvSpPr/>
          <p:nvPr/>
        </p:nvSpPr>
        <p:spPr>
          <a:xfrm>
            <a:off x="8666403" y="5140649"/>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4" name="Multiplication Sign 113">
            <a:extLst>
              <a:ext uri="{FF2B5EF4-FFF2-40B4-BE49-F238E27FC236}">
                <a16:creationId xmlns:a16="http://schemas.microsoft.com/office/drawing/2014/main" id="{6E3CB912-806C-468D-930F-E37E9E604719}"/>
              </a:ext>
            </a:extLst>
          </p:cNvPr>
          <p:cNvSpPr/>
          <p:nvPr/>
        </p:nvSpPr>
        <p:spPr>
          <a:xfrm>
            <a:off x="9315666" y="5288433"/>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5" name="Multiplication Sign 114">
            <a:extLst>
              <a:ext uri="{FF2B5EF4-FFF2-40B4-BE49-F238E27FC236}">
                <a16:creationId xmlns:a16="http://schemas.microsoft.com/office/drawing/2014/main" id="{4E0DE76D-7965-41DD-B323-891BB8126954}"/>
              </a:ext>
            </a:extLst>
          </p:cNvPr>
          <p:cNvSpPr/>
          <p:nvPr/>
        </p:nvSpPr>
        <p:spPr>
          <a:xfrm>
            <a:off x="9075835" y="531628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6" name="Multiplication Sign 115">
            <a:extLst>
              <a:ext uri="{FF2B5EF4-FFF2-40B4-BE49-F238E27FC236}">
                <a16:creationId xmlns:a16="http://schemas.microsoft.com/office/drawing/2014/main" id="{E688B4BF-57EB-4AB5-8FBD-2152A799B04A}"/>
              </a:ext>
            </a:extLst>
          </p:cNvPr>
          <p:cNvSpPr/>
          <p:nvPr/>
        </p:nvSpPr>
        <p:spPr>
          <a:xfrm>
            <a:off x="8900477" y="5316288"/>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7" name="Multiplication Sign 116">
            <a:extLst>
              <a:ext uri="{FF2B5EF4-FFF2-40B4-BE49-F238E27FC236}">
                <a16:creationId xmlns:a16="http://schemas.microsoft.com/office/drawing/2014/main" id="{D20D5A96-820C-45DE-AE93-FC2E289945C7}"/>
              </a:ext>
            </a:extLst>
          </p:cNvPr>
          <p:cNvSpPr/>
          <p:nvPr/>
        </p:nvSpPr>
        <p:spPr>
          <a:xfrm>
            <a:off x="8706671" y="5343381"/>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8" name="Multiplication Sign 117">
            <a:extLst>
              <a:ext uri="{FF2B5EF4-FFF2-40B4-BE49-F238E27FC236}">
                <a16:creationId xmlns:a16="http://schemas.microsoft.com/office/drawing/2014/main" id="{1F1ED69E-0C89-40CA-90DA-8C27445A5230}"/>
              </a:ext>
            </a:extLst>
          </p:cNvPr>
          <p:cNvSpPr/>
          <p:nvPr/>
        </p:nvSpPr>
        <p:spPr>
          <a:xfrm>
            <a:off x="8527545" y="5372250"/>
            <a:ext cx="204716" cy="242464"/>
          </a:xfrm>
          <a:prstGeom prst="mathMultiply">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19" name="Straight Arrow Connector 118">
            <a:extLst>
              <a:ext uri="{FF2B5EF4-FFF2-40B4-BE49-F238E27FC236}">
                <a16:creationId xmlns:a16="http://schemas.microsoft.com/office/drawing/2014/main" id="{8986CB9F-7544-408B-AF8F-33D0322657F9}"/>
              </a:ext>
            </a:extLst>
          </p:cNvPr>
          <p:cNvCxnSpPr>
            <a:cxnSpLocks/>
          </p:cNvCxnSpPr>
          <p:nvPr/>
        </p:nvCxnSpPr>
        <p:spPr>
          <a:xfrm flipV="1">
            <a:off x="9040700" y="3411918"/>
            <a:ext cx="1465821" cy="214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D8F2A2B-6720-47B0-B50C-E9CB24812E94}"/>
              </a:ext>
            </a:extLst>
          </p:cNvPr>
          <p:cNvCxnSpPr>
            <a:cxnSpLocks/>
            <a:endCxn id="99" idx="3"/>
          </p:cNvCxnSpPr>
          <p:nvPr/>
        </p:nvCxnSpPr>
        <p:spPr>
          <a:xfrm flipH="1">
            <a:off x="7382815" y="4131395"/>
            <a:ext cx="1631438" cy="1588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Text Placeholder 5">
                <a:extLst>
                  <a:ext uri="{FF2B5EF4-FFF2-40B4-BE49-F238E27FC236}">
                    <a16:creationId xmlns:a16="http://schemas.microsoft.com/office/drawing/2014/main" id="{824FE1CA-E3B7-4635-83EE-B9118B769A83}"/>
                  </a:ext>
                </a:extLst>
              </p:cNvPr>
              <p:cNvSpPr txBox="1">
                <a:spLocks/>
              </p:cNvSpPr>
              <p:nvPr/>
            </p:nvSpPr>
            <p:spPr>
              <a:xfrm>
                <a:off x="7912735" y="3680008"/>
                <a:ext cx="89403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𝛼</m:t>
                        </m:r>
                      </m:e>
                      <m:sub>
                        <m:r>
                          <a:rPr lang="en-NZ" altLang="ja-JP" sz="1800" b="0" i="1" smtClean="0">
                            <a:solidFill>
                              <a:schemeClr val="tx1"/>
                            </a:solidFill>
                            <a:latin typeface="Cambria Math" panose="02040503050406030204" pitchFamily="18" charset="0"/>
                          </a:rPr>
                          <m:t>2</m:t>
                        </m:r>
                      </m:sub>
                    </m:sSub>
                    <m:r>
                      <a:rPr lang="en-NZ" altLang="ja-JP" sz="1800" b="0" i="1" smtClean="0">
                        <a:solidFill>
                          <a:schemeClr val="tx1"/>
                        </a:solidFill>
                        <a:latin typeface="Cambria Math" panose="02040503050406030204" pitchFamily="18" charset="0"/>
                      </a:rPr>
                      <m:t>&lt;0</m:t>
                    </m:r>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1" name="Text Placeholder 5">
                <a:extLst>
                  <a:ext uri="{FF2B5EF4-FFF2-40B4-BE49-F238E27FC236}">
                    <a16:creationId xmlns:a16="http://schemas.microsoft.com/office/drawing/2014/main" id="{824FE1CA-E3B7-4635-83EE-B9118B769A83}"/>
                  </a:ext>
                </a:extLst>
              </p:cNvPr>
              <p:cNvSpPr txBox="1">
                <a:spLocks noRot="1" noChangeAspect="1" noMove="1" noResize="1" noEditPoints="1" noAdjustHandles="1" noChangeArrowheads="1" noChangeShapeType="1" noTextEdit="1"/>
              </p:cNvSpPr>
              <p:nvPr/>
            </p:nvSpPr>
            <p:spPr>
              <a:xfrm>
                <a:off x="7912735" y="3680008"/>
                <a:ext cx="894033"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2" name="Text Placeholder 5">
                <a:extLst>
                  <a:ext uri="{FF2B5EF4-FFF2-40B4-BE49-F238E27FC236}">
                    <a16:creationId xmlns:a16="http://schemas.microsoft.com/office/drawing/2014/main" id="{BF70E587-4684-4378-A048-EA1A6717210C}"/>
                  </a:ext>
                </a:extLst>
              </p:cNvPr>
              <p:cNvSpPr txBox="1">
                <a:spLocks/>
              </p:cNvSpPr>
              <p:nvPr/>
            </p:nvSpPr>
            <p:spPr>
              <a:xfrm>
                <a:off x="9241408" y="3026349"/>
                <a:ext cx="89403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 xmlns:m="http://schemas.openxmlformats.org/officeDocument/2006/math">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𝛼</m:t>
                        </m:r>
                      </m:e>
                      <m:sub>
                        <m:r>
                          <a:rPr lang="en-NZ" altLang="ja-JP" sz="1800" b="0" i="1" smtClean="0">
                            <a:solidFill>
                              <a:schemeClr val="tx1"/>
                            </a:solidFill>
                            <a:latin typeface="Cambria Math" panose="02040503050406030204" pitchFamily="18" charset="0"/>
                          </a:rPr>
                          <m:t>1</m:t>
                        </m:r>
                      </m:sub>
                    </m:sSub>
                    <m:r>
                      <a:rPr lang="en-NZ" altLang="ja-JP" sz="1800" b="0" i="1" smtClean="0">
                        <a:solidFill>
                          <a:schemeClr val="tx1"/>
                        </a:solidFill>
                        <a:latin typeface="Cambria Math" panose="02040503050406030204" pitchFamily="18" charset="0"/>
                      </a:rPr>
                      <m:t>&gt;0</m:t>
                    </m:r>
                  </m:oMath>
                </a14:m>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22" name="Text Placeholder 5">
                <a:extLst>
                  <a:ext uri="{FF2B5EF4-FFF2-40B4-BE49-F238E27FC236}">
                    <a16:creationId xmlns:a16="http://schemas.microsoft.com/office/drawing/2014/main" id="{BF70E587-4684-4378-A048-EA1A6717210C}"/>
                  </a:ext>
                </a:extLst>
              </p:cNvPr>
              <p:cNvSpPr txBox="1">
                <a:spLocks noRot="1" noChangeAspect="1" noMove="1" noResize="1" noEditPoints="1" noAdjustHandles="1" noChangeArrowheads="1" noChangeShapeType="1" noTextEdit="1"/>
              </p:cNvSpPr>
              <p:nvPr/>
            </p:nvSpPr>
            <p:spPr>
              <a:xfrm>
                <a:off x="9241408" y="3026349"/>
                <a:ext cx="894033" cy="474953"/>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3" name="Text Placeholder 5">
                <a:extLst>
                  <a:ext uri="{FF2B5EF4-FFF2-40B4-BE49-F238E27FC236}">
                    <a16:creationId xmlns:a16="http://schemas.microsoft.com/office/drawing/2014/main" id="{9587BDA8-4CAE-4D10-8A40-0FC7D62F096E}"/>
                  </a:ext>
                </a:extLst>
              </p:cNvPr>
              <p:cNvSpPr txBox="1">
                <a:spLocks/>
              </p:cNvSpPr>
              <p:nvPr/>
            </p:nvSpPr>
            <p:spPr>
              <a:xfrm>
                <a:off x="7860806" y="5711183"/>
                <a:ext cx="2359788" cy="3930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𝝁</m:t>
                      </m:r>
                    </m:oMath>
                  </m:oMathPara>
                </a14:m>
                <a:endParaRPr lang="en-NZ" altLang="ja-JP" sz="1600" b="1" i="1" dirty="0">
                  <a:solidFill>
                    <a:schemeClr val="tx1"/>
                  </a:solidFill>
                </a:endParaRPr>
              </a:p>
              <a:p>
                <a:pPr algn="just">
                  <a:lnSpc>
                    <a:spcPct val="100000"/>
                  </a:lnSpc>
                </a:pPr>
                <a:endParaRPr lang="en-NZ" altLang="ja-JP" sz="1600" i="1" dirty="0">
                  <a:solidFill>
                    <a:schemeClr val="tx1"/>
                  </a:solidFill>
                </a:endParaRPr>
              </a:p>
            </p:txBody>
          </p:sp>
        </mc:Choice>
        <mc:Fallback xmlns="">
          <p:sp>
            <p:nvSpPr>
              <p:cNvPr id="123" name="Text Placeholder 5">
                <a:extLst>
                  <a:ext uri="{FF2B5EF4-FFF2-40B4-BE49-F238E27FC236}">
                    <a16:creationId xmlns:a16="http://schemas.microsoft.com/office/drawing/2014/main" id="{9587BDA8-4CAE-4D10-8A40-0FC7D62F096E}"/>
                  </a:ext>
                </a:extLst>
              </p:cNvPr>
              <p:cNvSpPr txBox="1">
                <a:spLocks noRot="1" noChangeAspect="1" noMove="1" noResize="1" noEditPoints="1" noAdjustHandles="1" noChangeArrowheads="1" noChangeShapeType="1" noTextEdit="1"/>
              </p:cNvSpPr>
              <p:nvPr/>
            </p:nvSpPr>
            <p:spPr>
              <a:xfrm>
                <a:off x="7860806" y="5711183"/>
                <a:ext cx="2359788" cy="393062"/>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6" name="Text Placeholder 5">
                <a:extLst>
                  <a:ext uri="{FF2B5EF4-FFF2-40B4-BE49-F238E27FC236}">
                    <a16:creationId xmlns:a16="http://schemas.microsoft.com/office/drawing/2014/main" id="{EEC64A09-78FF-9E70-D517-16E4433D85A9}"/>
                  </a:ext>
                </a:extLst>
              </p:cNvPr>
              <p:cNvSpPr txBox="1">
                <a:spLocks/>
              </p:cNvSpPr>
              <p:nvPr/>
            </p:nvSpPr>
            <p:spPr>
              <a:xfrm>
                <a:off x="3682204" y="4384441"/>
                <a:ext cx="2160318" cy="5649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C00000"/>
                          </a:solidFill>
                          <a:latin typeface="Cambria Math" panose="02040503050406030204" pitchFamily="18" charset="0"/>
                        </a:rPr>
                        <m:t>𝑭</m:t>
                      </m:r>
                      <m:r>
                        <a:rPr lang="en-NZ" altLang="ja-JP" sz="1800" b="1" i="1" smtClean="0">
                          <a:solidFill>
                            <a:srgbClr val="C00000"/>
                          </a:solidFill>
                          <a:latin typeface="Cambria Math" panose="02040503050406030204" pitchFamily="18" charset="0"/>
                        </a:rPr>
                        <m:t>  ≡   </m:t>
                      </m:r>
                      <m:f>
                        <m:fPr>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𝑴𝑺𝑻</m:t>
                          </m:r>
                        </m:num>
                        <m:den>
                          <m:r>
                            <a:rPr lang="en-NZ" altLang="ja-JP" sz="1800" b="1" i="1" smtClean="0">
                              <a:solidFill>
                                <a:srgbClr val="C00000"/>
                              </a:solidFill>
                              <a:latin typeface="Cambria Math" panose="02040503050406030204" pitchFamily="18" charset="0"/>
                            </a:rPr>
                            <m:t>𝑴𝑺𝑬</m:t>
                          </m:r>
                        </m:den>
                      </m:f>
                      <m: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ea typeface="Cambria Math" panose="02040503050406030204" pitchFamily="18" charset="0"/>
                        </a:rPr>
                        <m:t>≈</m:t>
                      </m:r>
                      <m:r>
                        <a:rPr lang="en-NZ" altLang="ja-JP" sz="1800" b="1" i="1" smtClean="0">
                          <a:solidFill>
                            <a:srgbClr val="C00000"/>
                          </a:solidFill>
                          <a:latin typeface="Cambria Math" panose="02040503050406030204" pitchFamily="18" charset="0"/>
                          <a:ea typeface="Cambria Math" panose="02040503050406030204" pitchFamily="18" charset="0"/>
                        </a:rPr>
                        <m:t>𝟏</m:t>
                      </m:r>
                    </m:oMath>
                  </m:oMathPara>
                </a14:m>
                <a:endParaRPr lang="en-NZ" altLang="ja-JP" sz="1800" b="1" dirty="0">
                  <a:solidFill>
                    <a:srgbClr val="C00000"/>
                  </a:solidFill>
                </a:endParaRPr>
              </a:p>
              <a:p>
                <a:pPr algn="just">
                  <a:lnSpc>
                    <a:spcPct val="100000"/>
                  </a:lnSpc>
                </a:pPr>
                <a:endParaRPr lang="en-NZ" altLang="ja-JP" sz="200" b="1" dirty="0">
                  <a:solidFill>
                    <a:srgbClr val="C00000"/>
                  </a:solidFill>
                </a:endParaRPr>
              </a:p>
              <a:p>
                <a:pPr algn="just">
                  <a:lnSpc>
                    <a:spcPct val="100000"/>
                  </a:lnSpc>
                </a:pPr>
                <a:endParaRPr lang="en-NZ" altLang="ja-JP" sz="200" b="1" dirty="0">
                  <a:solidFill>
                    <a:srgbClr val="C00000"/>
                  </a:solidFill>
                </a:endParaRPr>
              </a:p>
              <a:p>
                <a:pPr algn="just">
                  <a:lnSpc>
                    <a:spcPct val="100000"/>
                  </a:lnSpc>
                </a:pPr>
                <a:r>
                  <a:rPr lang="en-NZ" altLang="ja-JP" sz="1800" dirty="0">
                    <a:solidFill>
                      <a:srgbClr val="C00000"/>
                    </a:solidFill>
                  </a:rPr>
                  <a:t>  </a:t>
                </a:r>
              </a:p>
              <a:p>
                <a:pPr algn="just">
                  <a:lnSpc>
                    <a:spcPct val="100000"/>
                  </a:lnSpc>
                </a:pPr>
                <a:endParaRPr lang="en-NZ" altLang="ja-JP" sz="1800" dirty="0">
                  <a:solidFill>
                    <a:srgbClr val="C00000"/>
                  </a:solidFill>
                </a:endParaRPr>
              </a:p>
              <a:p>
                <a:pPr algn="just">
                  <a:lnSpc>
                    <a:spcPct val="100000"/>
                  </a:lnSpc>
                </a:pPr>
                <a:endParaRPr lang="en-NZ" altLang="ja-JP" sz="1800" i="1" dirty="0">
                  <a:solidFill>
                    <a:srgbClr val="C00000"/>
                  </a:solidFill>
                </a:endParaRPr>
              </a:p>
            </p:txBody>
          </p:sp>
        </mc:Choice>
        <mc:Fallback xmlns="">
          <p:sp>
            <p:nvSpPr>
              <p:cNvPr id="126" name="Text Placeholder 5">
                <a:extLst>
                  <a:ext uri="{FF2B5EF4-FFF2-40B4-BE49-F238E27FC236}">
                    <a16:creationId xmlns:a16="http://schemas.microsoft.com/office/drawing/2014/main" id="{EEC64A09-78FF-9E70-D517-16E4433D85A9}"/>
                  </a:ext>
                </a:extLst>
              </p:cNvPr>
              <p:cNvSpPr txBox="1">
                <a:spLocks noRot="1" noChangeAspect="1" noMove="1" noResize="1" noEditPoints="1" noAdjustHandles="1" noChangeArrowheads="1" noChangeShapeType="1" noTextEdit="1"/>
              </p:cNvSpPr>
              <p:nvPr/>
            </p:nvSpPr>
            <p:spPr>
              <a:xfrm>
                <a:off x="3682204" y="4384441"/>
                <a:ext cx="2160318" cy="564911"/>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8" name="Text Placeholder 5">
                <a:extLst>
                  <a:ext uri="{FF2B5EF4-FFF2-40B4-BE49-F238E27FC236}">
                    <a16:creationId xmlns:a16="http://schemas.microsoft.com/office/drawing/2014/main" id="{A46B44E3-B7BF-3027-5D78-56323BCC4FA6}"/>
                  </a:ext>
                </a:extLst>
              </p:cNvPr>
              <p:cNvSpPr txBox="1">
                <a:spLocks/>
              </p:cNvSpPr>
              <p:nvPr/>
            </p:nvSpPr>
            <p:spPr>
              <a:xfrm>
                <a:off x="9578779" y="4397905"/>
                <a:ext cx="2274514" cy="5649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C00000"/>
                          </a:solidFill>
                          <a:latin typeface="Cambria Math" panose="02040503050406030204" pitchFamily="18" charset="0"/>
                        </a:rPr>
                        <m:t>𝑭</m:t>
                      </m:r>
                      <m:r>
                        <a:rPr lang="en-NZ" altLang="ja-JP" sz="1800" b="1" i="1" smtClean="0">
                          <a:solidFill>
                            <a:srgbClr val="C00000"/>
                          </a:solidFill>
                          <a:latin typeface="Cambria Math" panose="02040503050406030204" pitchFamily="18" charset="0"/>
                        </a:rPr>
                        <m:t>  ≡   </m:t>
                      </m:r>
                      <m:f>
                        <m:fPr>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𝑴𝑺𝑻</m:t>
                          </m:r>
                        </m:num>
                        <m:den>
                          <m:r>
                            <a:rPr lang="en-NZ" altLang="ja-JP" sz="1800" b="1" i="1" smtClean="0">
                              <a:solidFill>
                                <a:srgbClr val="C00000"/>
                              </a:solidFill>
                              <a:latin typeface="Cambria Math" panose="02040503050406030204" pitchFamily="18" charset="0"/>
                            </a:rPr>
                            <m:t>𝑴𝑺𝑬</m:t>
                          </m:r>
                        </m:den>
                      </m:f>
                      <m:r>
                        <a:rPr lang="en-NZ" altLang="ja-JP" sz="1800" b="1" i="1" smtClean="0">
                          <a:solidFill>
                            <a:srgbClr val="C00000"/>
                          </a:solidFill>
                          <a:latin typeface="Cambria Math" panose="02040503050406030204" pitchFamily="18" charset="0"/>
                        </a:rPr>
                        <m:t> &gt;&gt;</m:t>
                      </m:r>
                      <m:r>
                        <a:rPr lang="en-NZ" altLang="ja-JP" sz="1800" b="1" i="1" smtClean="0">
                          <a:solidFill>
                            <a:srgbClr val="C00000"/>
                          </a:solidFill>
                          <a:latin typeface="Cambria Math" panose="02040503050406030204" pitchFamily="18" charset="0"/>
                          <a:ea typeface="Cambria Math" panose="02040503050406030204" pitchFamily="18" charset="0"/>
                        </a:rPr>
                        <m:t>𝟏</m:t>
                      </m:r>
                    </m:oMath>
                  </m:oMathPara>
                </a14:m>
                <a:endParaRPr lang="en-NZ" altLang="ja-JP" sz="1800" b="1" dirty="0">
                  <a:solidFill>
                    <a:srgbClr val="C00000"/>
                  </a:solidFill>
                </a:endParaRPr>
              </a:p>
              <a:p>
                <a:pPr algn="just">
                  <a:lnSpc>
                    <a:spcPct val="100000"/>
                  </a:lnSpc>
                </a:pPr>
                <a:endParaRPr lang="en-NZ" altLang="ja-JP" sz="200" b="1" dirty="0">
                  <a:solidFill>
                    <a:srgbClr val="C00000"/>
                  </a:solidFill>
                </a:endParaRPr>
              </a:p>
              <a:p>
                <a:pPr algn="just">
                  <a:lnSpc>
                    <a:spcPct val="100000"/>
                  </a:lnSpc>
                </a:pPr>
                <a:endParaRPr lang="en-NZ" altLang="ja-JP" sz="200" b="1" dirty="0">
                  <a:solidFill>
                    <a:srgbClr val="C00000"/>
                  </a:solidFill>
                </a:endParaRPr>
              </a:p>
              <a:p>
                <a:pPr algn="just">
                  <a:lnSpc>
                    <a:spcPct val="100000"/>
                  </a:lnSpc>
                </a:pPr>
                <a:r>
                  <a:rPr lang="en-NZ" altLang="ja-JP" sz="1800" dirty="0">
                    <a:solidFill>
                      <a:srgbClr val="C00000"/>
                    </a:solidFill>
                  </a:rPr>
                  <a:t>  </a:t>
                </a:r>
              </a:p>
              <a:p>
                <a:pPr algn="just">
                  <a:lnSpc>
                    <a:spcPct val="100000"/>
                  </a:lnSpc>
                </a:pPr>
                <a:endParaRPr lang="en-NZ" altLang="ja-JP" sz="1800" dirty="0">
                  <a:solidFill>
                    <a:srgbClr val="C00000"/>
                  </a:solidFill>
                </a:endParaRPr>
              </a:p>
              <a:p>
                <a:pPr algn="just">
                  <a:lnSpc>
                    <a:spcPct val="100000"/>
                  </a:lnSpc>
                </a:pPr>
                <a:endParaRPr lang="en-NZ" altLang="ja-JP" sz="1800" i="1" dirty="0">
                  <a:solidFill>
                    <a:srgbClr val="C00000"/>
                  </a:solidFill>
                </a:endParaRPr>
              </a:p>
            </p:txBody>
          </p:sp>
        </mc:Choice>
        <mc:Fallback xmlns="">
          <p:sp>
            <p:nvSpPr>
              <p:cNvPr id="128" name="Text Placeholder 5">
                <a:extLst>
                  <a:ext uri="{FF2B5EF4-FFF2-40B4-BE49-F238E27FC236}">
                    <a16:creationId xmlns:a16="http://schemas.microsoft.com/office/drawing/2014/main" id="{A46B44E3-B7BF-3027-5D78-56323BCC4FA6}"/>
                  </a:ext>
                </a:extLst>
              </p:cNvPr>
              <p:cNvSpPr txBox="1">
                <a:spLocks noRot="1" noChangeAspect="1" noMove="1" noResize="1" noEditPoints="1" noAdjustHandles="1" noChangeArrowheads="1" noChangeShapeType="1" noTextEdit="1"/>
              </p:cNvSpPr>
              <p:nvPr/>
            </p:nvSpPr>
            <p:spPr>
              <a:xfrm>
                <a:off x="9578779" y="4397905"/>
                <a:ext cx="2274514" cy="564911"/>
              </a:xfrm>
              <a:prstGeom prst="rect">
                <a:avLst/>
              </a:prstGeom>
              <a:blipFill>
                <a:blip r:embed="rId8"/>
                <a:stretch>
                  <a:fillRect/>
                </a:stretch>
              </a:blipFill>
            </p:spPr>
            <p:txBody>
              <a:bodyPr/>
              <a:lstStyle/>
              <a:p>
                <a:r>
                  <a:rPr lang="en-NZ">
                    <a:noFill/>
                  </a:rPr>
                  <a:t> </a:t>
                </a:r>
              </a:p>
            </p:txBody>
          </p:sp>
        </mc:Fallback>
      </mc:AlternateContent>
      <p:sp>
        <p:nvSpPr>
          <p:cNvPr id="129" name="Title 6">
            <a:extLst>
              <a:ext uri="{FF2B5EF4-FFF2-40B4-BE49-F238E27FC236}">
                <a16:creationId xmlns:a16="http://schemas.microsoft.com/office/drawing/2014/main" id="{23D3FF26-013B-CFE9-6DA7-49470400B4CF}"/>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2.3a – Deriving the F-Statistic:</a:t>
            </a:r>
            <a:endParaRPr lang="ja-JP" altLang="en-US" b="1" u="sng" dirty="0">
              <a:latin typeface="+mn-lt"/>
            </a:endParaRPr>
          </a:p>
        </p:txBody>
      </p:sp>
      <p:sp>
        <p:nvSpPr>
          <p:cNvPr id="130" name="Footer Placeholder 2">
            <a:extLst>
              <a:ext uri="{FF2B5EF4-FFF2-40B4-BE49-F238E27FC236}">
                <a16:creationId xmlns:a16="http://schemas.microsoft.com/office/drawing/2014/main" id="{C128AE21-4D11-4970-9FB0-A9A21818B5FF}"/>
              </a:ext>
            </a:extLst>
          </p:cNvPr>
          <p:cNvSpPr txBox="1">
            <a:spLocks/>
          </p:cNvSpPr>
          <p:nvPr/>
        </p:nvSpPr>
        <p:spPr>
          <a:xfrm>
            <a:off x="9144000" y="86139"/>
            <a:ext cx="294536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2.3 – Deriving the F-statistic</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2066079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26</a:t>
            </a:fld>
            <a:endParaRPr kumimoji="1" lang="ja-JP" altLang="en-US" dirty="0">
              <a:solidFill>
                <a:srgbClr val="575454">
                  <a:lumMod val="20000"/>
                  <a:lumOff val="80000"/>
                </a:srgbClr>
              </a:solidFill>
              <a:latin typeface="Coo Hew"/>
            </a:endParaRPr>
          </a:p>
        </p:txBody>
      </p:sp>
      <p:sp>
        <p:nvSpPr>
          <p:cNvPr id="8" name="Text Placeholder 5">
            <a:extLst>
              <a:ext uri="{FF2B5EF4-FFF2-40B4-BE49-F238E27FC236}">
                <a16:creationId xmlns:a16="http://schemas.microsoft.com/office/drawing/2014/main" id="{4698F60F-1497-4737-98D4-F910581ADCDE}"/>
              </a:ext>
            </a:extLst>
          </p:cNvPr>
          <p:cNvSpPr txBox="1">
            <a:spLocks/>
          </p:cNvSpPr>
          <p:nvPr/>
        </p:nvSpPr>
        <p:spPr>
          <a:xfrm>
            <a:off x="251224" y="1827039"/>
            <a:ext cx="10912645"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Thus the F-statistic provides a measure of evidence against the null hypothesis.</a:t>
            </a: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2.3a – Deriving the F-Statistic:</a:t>
            </a:r>
            <a:endParaRPr lang="ja-JP" altLang="en-US" b="1" u="sng" dirty="0">
              <a:latin typeface="+mn-lt"/>
            </a:endParaRPr>
          </a:p>
        </p:txBody>
      </p:sp>
      <p:sp>
        <p:nvSpPr>
          <p:cNvPr id="20" name="Text Placeholder 5">
            <a:extLst>
              <a:ext uri="{FF2B5EF4-FFF2-40B4-BE49-F238E27FC236}">
                <a16:creationId xmlns:a16="http://schemas.microsoft.com/office/drawing/2014/main" id="{084A2AD0-D49C-41A7-A7C0-7123BECEDDA1}"/>
              </a:ext>
            </a:extLst>
          </p:cNvPr>
          <p:cNvSpPr txBox="1">
            <a:spLocks/>
          </p:cNvSpPr>
          <p:nvPr/>
        </p:nvSpPr>
        <p:spPr>
          <a:xfrm>
            <a:off x="251224" y="2679845"/>
            <a:ext cx="10912645"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The bigger the F-statistic the more unlikely it is that the null hypothesis is true.</a:t>
            </a: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31" name="Text Placeholder 5">
            <a:extLst>
              <a:ext uri="{FF2B5EF4-FFF2-40B4-BE49-F238E27FC236}">
                <a16:creationId xmlns:a16="http://schemas.microsoft.com/office/drawing/2014/main" id="{2BF44658-3589-45B6-8885-2115C29CC281}"/>
              </a:ext>
            </a:extLst>
          </p:cNvPr>
          <p:cNvSpPr txBox="1">
            <a:spLocks/>
          </p:cNvSpPr>
          <p:nvPr/>
        </p:nvSpPr>
        <p:spPr>
          <a:xfrm>
            <a:off x="251224" y="3664989"/>
            <a:ext cx="10912645"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But how big does the F-statistic need to be in order to reject the null hypothesis?</a:t>
            </a: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32" name="Text Placeholder 5">
            <a:extLst>
              <a:ext uri="{FF2B5EF4-FFF2-40B4-BE49-F238E27FC236}">
                <a16:creationId xmlns:a16="http://schemas.microsoft.com/office/drawing/2014/main" id="{E4443DB1-A8C2-4B84-A4CB-7B3B5CC2F159}"/>
              </a:ext>
            </a:extLst>
          </p:cNvPr>
          <p:cNvSpPr txBox="1">
            <a:spLocks/>
          </p:cNvSpPr>
          <p:nvPr/>
        </p:nvSpPr>
        <p:spPr>
          <a:xfrm>
            <a:off x="251224" y="4694024"/>
            <a:ext cx="10912645" cy="4820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We need to know how the F-statistic is distributed</a:t>
            </a: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9" name="Footer Placeholder 2">
            <a:extLst>
              <a:ext uri="{FF2B5EF4-FFF2-40B4-BE49-F238E27FC236}">
                <a16:creationId xmlns:a16="http://schemas.microsoft.com/office/drawing/2014/main" id="{164501B1-6A00-FE65-6F6F-0DD4F63E81E8}"/>
              </a:ext>
            </a:extLst>
          </p:cNvPr>
          <p:cNvSpPr txBox="1">
            <a:spLocks/>
          </p:cNvSpPr>
          <p:nvPr/>
        </p:nvSpPr>
        <p:spPr>
          <a:xfrm>
            <a:off x="9144000" y="86139"/>
            <a:ext cx="294536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2.3 – Deriving the F-statistic</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64676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3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058" y="2844225"/>
            <a:ext cx="122001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2.4 – The Sampling Distribution of the F-Statistic</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003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28</a:t>
            </a:fld>
            <a:endParaRPr kumimoji="1" lang="ja-JP" altLang="en-US" dirty="0">
              <a:solidFill>
                <a:srgbClr val="575454">
                  <a:lumMod val="20000"/>
                  <a:lumOff val="80000"/>
                </a:srgbClr>
              </a:solidFill>
              <a:latin typeface="Coo Hew"/>
            </a:endParaRPr>
          </a:p>
        </p:txBody>
      </p:sp>
      <p:sp>
        <p:nvSpPr>
          <p:cNvPr id="33" name="Footer Placeholder 2">
            <a:extLst>
              <a:ext uri="{FF2B5EF4-FFF2-40B4-BE49-F238E27FC236}">
                <a16:creationId xmlns:a16="http://schemas.microsoft.com/office/drawing/2014/main" id="{CA11CAB6-BC94-43CA-B234-137ABDE494F3}"/>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F122B27A-909A-4EBE-AECD-599931FDAC23}"/>
                  </a:ext>
                </a:extLst>
              </p:cNvPr>
              <p:cNvSpPr txBox="1">
                <a:spLocks/>
              </p:cNvSpPr>
              <p:nvPr/>
            </p:nvSpPr>
            <p:spPr>
              <a:xfrm>
                <a:off x="359899" y="999228"/>
                <a:ext cx="9671206" cy="17464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We define the </a:t>
                </a:r>
                <a:r>
                  <a:rPr lang="en-NZ" altLang="ja-JP" sz="2000" b="1" dirty="0">
                    <a:solidFill>
                      <a:schemeClr val="tx1"/>
                    </a:solidFill>
                  </a:rPr>
                  <a:t>F-statistic</a:t>
                </a:r>
                <a:r>
                  <a:rPr lang="en-NZ" altLang="ja-JP" sz="2000" dirty="0">
                    <a:solidFill>
                      <a:schemeClr val="tx1"/>
                    </a:solidFill>
                  </a:rPr>
                  <a:t> for one way ANOVA such that </a:t>
                </a:r>
              </a:p>
              <a:p>
                <a:pPr algn="just">
                  <a:lnSpc>
                    <a:spcPct val="100000"/>
                  </a:lnSpc>
                </a:pPr>
                <a:endParaRPr lang="en-NZ" altLang="ja-JP" sz="20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2000" b="1" i="1" smtClean="0">
                          <a:solidFill>
                            <a:schemeClr val="tx1"/>
                          </a:solidFill>
                          <a:latin typeface="Cambria Math" panose="02040503050406030204" pitchFamily="18" charset="0"/>
                        </a:rPr>
                        <m:t>𝑭</m:t>
                      </m:r>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𝑴𝑺𝑻</m:t>
                          </m:r>
                        </m:num>
                        <m:den>
                          <m:r>
                            <a:rPr lang="en-NZ" altLang="ja-JP" sz="2000" b="1" i="1" smtClean="0">
                              <a:solidFill>
                                <a:schemeClr val="tx1"/>
                              </a:solidFill>
                              <a:latin typeface="Cambria Math" panose="02040503050406030204" pitchFamily="18" charset="0"/>
                            </a:rPr>
                            <m:t>𝑴𝑺𝑬</m:t>
                          </m:r>
                        </m:den>
                      </m:f>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f>
                            <m:fPr>
                              <m:type m:val="lin"/>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𝑺𝑺𝑻</m:t>
                              </m:r>
                              <m:r>
                                <a:rPr lang="en-NZ" altLang="ja-JP" sz="2000" b="1" i="1" smtClean="0">
                                  <a:solidFill>
                                    <a:schemeClr val="tx1"/>
                                  </a:solidFill>
                                  <a:latin typeface="Cambria Math" panose="02040503050406030204" pitchFamily="18" charset="0"/>
                                </a:rPr>
                                <m:t> </m:t>
                              </m:r>
                            </m:num>
                            <m:den>
                              <m:r>
                                <a:rPr lang="en-NZ" altLang="ja-JP" sz="2000" b="1" i="1" smtClean="0">
                                  <a:solidFill>
                                    <a:schemeClr val="tx1"/>
                                  </a:solidFill>
                                  <a:latin typeface="Cambria Math" panose="02040503050406030204" pitchFamily="18" charset="0"/>
                                </a:rPr>
                                <m:t> </m:t>
                              </m:r>
                              <m:d>
                                <m:dPr>
                                  <m:ctrlPr>
                                    <a:rPr lang="en-NZ" altLang="ja-JP" sz="2000" b="1" i="1" smtClean="0">
                                      <a:solidFill>
                                        <a:schemeClr val="tx1"/>
                                      </a:solidFill>
                                      <a:latin typeface="Cambria Math" panose="02040503050406030204" pitchFamily="18" charset="0"/>
                                    </a:rPr>
                                  </m:ctrlPr>
                                </m:dPr>
                                <m:e>
                                  <m:r>
                                    <a:rPr lang="en-NZ" altLang="ja-JP" sz="2000" b="1" i="1" smtClean="0">
                                      <a:solidFill>
                                        <a:schemeClr val="tx1"/>
                                      </a:solidFill>
                                      <a:latin typeface="Cambria Math" panose="02040503050406030204" pitchFamily="18" charset="0"/>
                                    </a:rPr>
                                    <m:t>𝒌</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e>
                              </m:d>
                            </m:den>
                          </m:f>
                        </m:num>
                        <m:den>
                          <m:f>
                            <m:fPr>
                              <m:type m:val="lin"/>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𝑺𝑺𝑬</m:t>
                              </m:r>
                              <m:r>
                                <a:rPr lang="en-NZ" altLang="ja-JP" sz="2000" b="1" i="1" smtClean="0">
                                  <a:solidFill>
                                    <a:schemeClr val="tx1"/>
                                  </a:solidFill>
                                  <a:latin typeface="Cambria Math" panose="02040503050406030204" pitchFamily="18" charset="0"/>
                                </a:rPr>
                                <m:t> </m:t>
                              </m:r>
                            </m:num>
                            <m:den>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𝒌</m:t>
                              </m:r>
                              <m:r>
                                <a:rPr lang="en-NZ" altLang="ja-JP" sz="2000" b="1" i="1" smtClean="0">
                                  <a:solidFill>
                                    <a:schemeClr val="tx1"/>
                                  </a:solidFill>
                                  <a:latin typeface="Cambria Math" panose="02040503050406030204" pitchFamily="18" charset="0"/>
                                </a:rPr>
                                <m:t> </m:t>
                              </m:r>
                              <m:d>
                                <m:dPr>
                                  <m:ctrlPr>
                                    <a:rPr lang="en-NZ" altLang="ja-JP" sz="2000" b="1" i="1" smtClean="0">
                                      <a:solidFill>
                                        <a:schemeClr val="tx1"/>
                                      </a:solidFill>
                                      <a:latin typeface="Cambria Math" panose="02040503050406030204" pitchFamily="18" charset="0"/>
                                    </a:rPr>
                                  </m:ctrlPr>
                                </m:dPr>
                                <m:e>
                                  <m:r>
                                    <a:rPr lang="en-NZ" altLang="ja-JP" sz="2000" b="1" i="1" smtClean="0">
                                      <a:solidFill>
                                        <a:schemeClr val="tx1"/>
                                      </a:solidFill>
                                      <a:latin typeface="Cambria Math" panose="02040503050406030204" pitchFamily="18" charset="0"/>
                                    </a:rPr>
                                    <m:t>𝒏</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e>
                              </m:d>
                            </m:den>
                          </m:f>
                        </m:den>
                      </m:f>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f>
                            <m:fPr>
                              <m:type m:val="lin"/>
                              <m:ctrlPr>
                                <a:rPr lang="en-NZ" altLang="ja-JP" sz="2000" b="1" i="1" smtClean="0">
                                  <a:solidFill>
                                    <a:schemeClr val="tx1"/>
                                  </a:solidFill>
                                  <a:latin typeface="Cambria Math" panose="02040503050406030204" pitchFamily="18" charset="0"/>
                                </a:rPr>
                              </m:ctrlPr>
                            </m:fPr>
                            <m:num>
                              <m:nary>
                                <m:naryPr>
                                  <m:chr m:val="∑"/>
                                  <m:ctrlPr>
                                    <a:rPr lang="en-NZ" altLang="ja-JP" sz="2000" b="1" i="1">
                                      <a:solidFill>
                                        <a:schemeClr val="tx1"/>
                                      </a:solidFill>
                                      <a:latin typeface="Cambria Math" panose="02040503050406030204" pitchFamily="18" charset="0"/>
                                    </a:rPr>
                                  </m:ctrlPr>
                                </m:naryPr>
                                <m:sub>
                                  <m:r>
                                    <m:rPr>
                                      <m:brk m:alnAt="23"/>
                                    </m:rP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sub>
                                <m:sup>
                                  <m:r>
                                    <a:rPr lang="en-NZ" altLang="ja-JP" sz="2000" b="1" i="1">
                                      <a:solidFill>
                                        <a:schemeClr val="tx1"/>
                                      </a:solidFill>
                                      <a:latin typeface="Cambria Math" panose="02040503050406030204" pitchFamily="18" charset="0"/>
                                    </a:rPr>
                                    <m:t>𝒌</m:t>
                                  </m:r>
                                </m:sup>
                                <m:e>
                                  <m:nary>
                                    <m:naryPr>
                                      <m:chr m:val="∑"/>
                                      <m:ctrlPr>
                                        <a:rPr lang="en-NZ" altLang="ja-JP" sz="2000" b="1" i="1">
                                          <a:solidFill>
                                            <a:schemeClr val="tx1"/>
                                          </a:solidFill>
                                          <a:latin typeface="Cambria Math" panose="02040503050406030204" pitchFamily="18" charset="0"/>
                                        </a:rPr>
                                      </m:ctrlPr>
                                    </m:naryPr>
                                    <m:sub>
                                      <m:r>
                                        <m:rPr>
                                          <m:brk m:alnAt="23"/>
                                        </m:rPr>
                                        <a:rPr lang="en-NZ" altLang="ja-JP" sz="2000" b="1" i="1">
                                          <a:solidFill>
                                            <a:schemeClr val="tx1"/>
                                          </a:solidFill>
                                          <a:latin typeface="Cambria Math" panose="02040503050406030204" pitchFamily="18" charset="0"/>
                                        </a:rPr>
                                        <m:t>𝒋</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sub>
                                    <m:sup>
                                      <m:r>
                                        <a:rPr lang="en-NZ" altLang="ja-JP" sz="2000" b="1" i="1">
                                          <a:solidFill>
                                            <a:schemeClr val="tx1"/>
                                          </a:solidFill>
                                          <a:latin typeface="Cambria Math" panose="02040503050406030204" pitchFamily="18" charset="0"/>
                                        </a:rPr>
                                        <m:t>𝒏</m:t>
                                      </m:r>
                                    </m:sup>
                                    <m:e>
                                      <m:sSup>
                                        <m:sSupPr>
                                          <m:ctrlPr>
                                            <a:rPr lang="en-NZ" altLang="ja-JP" sz="2000" b="1" i="1">
                                              <a:solidFill>
                                                <a:schemeClr val="tx1"/>
                                              </a:solidFill>
                                              <a:latin typeface="Cambria Math" panose="02040503050406030204" pitchFamily="18" charset="0"/>
                                            </a:rPr>
                                          </m:ctrlPr>
                                        </m:sSupPr>
                                        <m:e>
                                          <m:d>
                                            <m:dPr>
                                              <m:ctrlPr>
                                                <a:rPr lang="en-NZ" altLang="ja-JP" sz="2000" b="1" i="1">
                                                  <a:solidFill>
                                                    <a:schemeClr val="tx1"/>
                                                  </a:solidFill>
                                                  <a:latin typeface="Cambria Math" panose="02040503050406030204" pitchFamily="18" charset="0"/>
                                                </a:rPr>
                                              </m:ctrlPr>
                                            </m:dPr>
                                            <m:e>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acc>
                                                    <m:accPr>
                                                      <m:chr m:val="̅"/>
                                                      <m:ctrlPr>
                                                        <a:rPr lang="en-NZ" altLang="ja-JP" sz="2000" b="1" i="1">
                                                          <a:solidFill>
                                                            <a:schemeClr val="tx1"/>
                                                          </a:solidFill>
                                                          <a:latin typeface="Cambria Math" panose="02040503050406030204" pitchFamily="18" charset="0"/>
                                                        </a:rPr>
                                                      </m:ctrlPr>
                                                    </m:accPr>
                                                    <m:e>
                                                      <m:r>
                                                        <a:rPr lang="en-NZ" altLang="ja-JP" sz="2000" b="1" i="1">
                                                          <a:solidFill>
                                                            <a:schemeClr val="tx1"/>
                                                          </a:solidFill>
                                                          <a:latin typeface="Cambria Math" panose="02040503050406030204" pitchFamily="18" charset="0"/>
                                                        </a:rPr>
                                                        <m:t>𝒀</m:t>
                                                      </m:r>
                                                    </m:e>
                                                  </m:acc>
                                                </m:e>
                                                <m:sub>
                                                  <m: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ea typeface="Cambria Math" panose="02040503050406030204" pitchFamily="18" charset="0"/>
                                                    </a:rPr>
                                                    <m:t>∙</m:t>
                                                  </m:r>
                                                </m:sub>
                                              </m:sSub>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acc>
                                                    <m:accPr>
                                                      <m:chr m:val="̅"/>
                                                      <m:ctrlPr>
                                                        <a:rPr lang="en-NZ" altLang="ja-JP" sz="2000" b="1" i="1">
                                                          <a:solidFill>
                                                            <a:schemeClr val="tx1"/>
                                                          </a:solidFill>
                                                          <a:latin typeface="Cambria Math" panose="02040503050406030204" pitchFamily="18" charset="0"/>
                                                        </a:rPr>
                                                      </m:ctrlPr>
                                                    </m:accPr>
                                                    <m:e>
                                                      <m:r>
                                                        <a:rPr lang="en-NZ" altLang="ja-JP" sz="2000" b="1" i="1">
                                                          <a:solidFill>
                                                            <a:schemeClr val="tx1"/>
                                                          </a:solidFill>
                                                          <a:latin typeface="Cambria Math" panose="02040503050406030204" pitchFamily="18" charset="0"/>
                                                        </a:rPr>
                                                        <m:t>𝒀</m:t>
                                                      </m:r>
                                                    </m:e>
                                                  </m:acc>
                                                </m:e>
                                                <m:sub>
                                                  <m:r>
                                                    <a:rPr lang="en-NZ" altLang="ja-JP" sz="2000" b="1" i="1">
                                                      <a:solidFill>
                                                        <a:schemeClr val="tx1"/>
                                                      </a:solidFill>
                                                      <a:latin typeface="Cambria Math" panose="02040503050406030204" pitchFamily="18" charset="0"/>
                                                      <a:ea typeface="Cambria Math" panose="02040503050406030204" pitchFamily="18" charset="0"/>
                                                    </a:rPr>
                                                    <m:t>∙∙</m:t>
                                                  </m:r>
                                                </m:sub>
                                              </m:sSub>
                                            </m:e>
                                          </m:d>
                                        </m:e>
                                        <m:sup>
                                          <m:r>
                                            <a:rPr lang="en-NZ" altLang="ja-JP" sz="2000" b="1" i="1">
                                              <a:solidFill>
                                                <a:schemeClr val="tx1"/>
                                              </a:solidFill>
                                              <a:latin typeface="Cambria Math" panose="02040503050406030204" pitchFamily="18" charset="0"/>
                                            </a:rPr>
                                            <m:t>𝟐</m:t>
                                          </m:r>
                                        </m:sup>
                                      </m:sSup>
                                      <m:r>
                                        <a:rPr lang="en-NZ" altLang="ja-JP" sz="2000" b="1" i="1" smtClean="0">
                                          <a:solidFill>
                                            <a:schemeClr val="tx1"/>
                                          </a:solidFill>
                                          <a:latin typeface="Cambria Math" panose="02040503050406030204" pitchFamily="18" charset="0"/>
                                        </a:rPr>
                                        <m:t> </m:t>
                                      </m:r>
                                    </m:e>
                                  </m:nary>
                                </m:e>
                              </m:nary>
                            </m:num>
                            <m:den>
                              <m:r>
                                <a:rPr lang="en-NZ" altLang="ja-JP" sz="2000" b="1" i="1" smtClean="0">
                                  <a:solidFill>
                                    <a:schemeClr val="tx1"/>
                                  </a:solidFill>
                                  <a:latin typeface="Cambria Math" panose="02040503050406030204" pitchFamily="18" charset="0"/>
                                </a:rPr>
                                <m:t> </m:t>
                              </m:r>
                              <m:d>
                                <m:dPr>
                                  <m:ctrlPr>
                                    <a:rPr lang="en-NZ" altLang="ja-JP" sz="2000" b="1" i="1">
                                      <a:solidFill>
                                        <a:schemeClr val="tx1"/>
                                      </a:solidFill>
                                      <a:latin typeface="Cambria Math" panose="02040503050406030204" pitchFamily="18" charset="0"/>
                                    </a:rPr>
                                  </m:ctrlPr>
                                </m:dPr>
                                <m:e>
                                  <m:r>
                                    <a:rPr lang="en-NZ" altLang="ja-JP" sz="2000" b="1" i="1">
                                      <a:solidFill>
                                        <a:schemeClr val="tx1"/>
                                      </a:solidFill>
                                      <a:latin typeface="Cambria Math" panose="02040503050406030204" pitchFamily="18" charset="0"/>
                                    </a:rPr>
                                    <m:t>𝒌</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e>
                              </m:d>
                            </m:den>
                          </m:f>
                        </m:num>
                        <m:den>
                          <m:f>
                            <m:fPr>
                              <m:type m:val="lin"/>
                              <m:ctrlPr>
                                <a:rPr lang="en-NZ" altLang="ja-JP" sz="2000" b="1" i="1" smtClean="0">
                                  <a:solidFill>
                                    <a:schemeClr val="tx1"/>
                                  </a:solidFill>
                                  <a:latin typeface="Cambria Math" panose="02040503050406030204" pitchFamily="18" charset="0"/>
                                </a:rPr>
                              </m:ctrlPr>
                            </m:fPr>
                            <m:num>
                              <m:nary>
                                <m:naryPr>
                                  <m:chr m:val="∑"/>
                                  <m:ctrlPr>
                                    <a:rPr lang="en-NZ" altLang="ja-JP" sz="2000" b="1" i="1">
                                      <a:solidFill>
                                        <a:schemeClr val="tx1"/>
                                      </a:solidFill>
                                      <a:latin typeface="Cambria Math" panose="02040503050406030204" pitchFamily="18" charset="0"/>
                                    </a:rPr>
                                  </m:ctrlPr>
                                </m:naryPr>
                                <m:sub>
                                  <m:r>
                                    <m:rPr>
                                      <m:brk m:alnAt="23"/>
                                    </m:rP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sub>
                                <m:sup>
                                  <m:r>
                                    <a:rPr lang="en-NZ" altLang="ja-JP" sz="2000" b="1" i="1">
                                      <a:solidFill>
                                        <a:schemeClr val="tx1"/>
                                      </a:solidFill>
                                      <a:latin typeface="Cambria Math" panose="02040503050406030204" pitchFamily="18" charset="0"/>
                                    </a:rPr>
                                    <m:t>𝒌</m:t>
                                  </m:r>
                                </m:sup>
                                <m:e>
                                  <m:nary>
                                    <m:naryPr>
                                      <m:chr m:val="∑"/>
                                      <m:ctrlPr>
                                        <a:rPr lang="en-NZ" altLang="ja-JP" sz="2000" b="1" i="1">
                                          <a:solidFill>
                                            <a:schemeClr val="tx1"/>
                                          </a:solidFill>
                                          <a:latin typeface="Cambria Math" panose="02040503050406030204" pitchFamily="18" charset="0"/>
                                        </a:rPr>
                                      </m:ctrlPr>
                                    </m:naryPr>
                                    <m:sub>
                                      <m:r>
                                        <m:rPr>
                                          <m:brk m:alnAt="23"/>
                                        </m:rPr>
                                        <a:rPr lang="en-NZ" altLang="ja-JP" sz="2000" b="1" i="1">
                                          <a:solidFill>
                                            <a:schemeClr val="tx1"/>
                                          </a:solidFill>
                                          <a:latin typeface="Cambria Math" panose="02040503050406030204" pitchFamily="18" charset="0"/>
                                        </a:rPr>
                                        <m:t>𝒋</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sub>
                                    <m:sup>
                                      <m:r>
                                        <a:rPr lang="en-NZ" altLang="ja-JP" sz="2000" b="1" i="1">
                                          <a:solidFill>
                                            <a:schemeClr val="tx1"/>
                                          </a:solidFill>
                                          <a:latin typeface="Cambria Math" panose="02040503050406030204" pitchFamily="18" charset="0"/>
                                        </a:rPr>
                                        <m:t>𝒏</m:t>
                                      </m:r>
                                    </m:sup>
                                    <m:e>
                                      <m:sSup>
                                        <m:sSupPr>
                                          <m:ctrlPr>
                                            <a:rPr lang="en-NZ" altLang="ja-JP" sz="2000" b="1" i="1">
                                              <a:solidFill>
                                                <a:schemeClr val="tx1"/>
                                              </a:solidFill>
                                              <a:latin typeface="Cambria Math" panose="02040503050406030204" pitchFamily="18" charset="0"/>
                                            </a:rPr>
                                          </m:ctrlPr>
                                        </m:sSupPr>
                                        <m:e>
                                          <m:d>
                                            <m:dPr>
                                              <m:ctrlPr>
                                                <a:rPr lang="en-NZ" altLang="ja-JP" sz="2000" b="1" i="1">
                                                  <a:solidFill>
                                                    <a:schemeClr val="tx1"/>
                                                  </a:solidFill>
                                                  <a:latin typeface="Cambria Math" panose="02040503050406030204" pitchFamily="18" charset="0"/>
                                                </a:rPr>
                                              </m:ctrlPr>
                                            </m:dPr>
                                            <m:e>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𝒀</m:t>
                                                  </m:r>
                                                </m:e>
                                                <m:sub>
                                                  <m: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𝒋</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acc>
                                                    <m:accPr>
                                                      <m:chr m:val="̅"/>
                                                      <m:ctrlPr>
                                                        <a:rPr lang="en-NZ" altLang="ja-JP" sz="2000" b="1" i="1">
                                                          <a:solidFill>
                                                            <a:schemeClr val="tx1"/>
                                                          </a:solidFill>
                                                          <a:latin typeface="Cambria Math" panose="02040503050406030204" pitchFamily="18" charset="0"/>
                                                        </a:rPr>
                                                      </m:ctrlPr>
                                                    </m:accPr>
                                                    <m:e>
                                                      <m:r>
                                                        <a:rPr lang="en-NZ" altLang="ja-JP" sz="2000" b="1" i="1">
                                                          <a:solidFill>
                                                            <a:schemeClr val="tx1"/>
                                                          </a:solidFill>
                                                          <a:latin typeface="Cambria Math" panose="02040503050406030204" pitchFamily="18" charset="0"/>
                                                        </a:rPr>
                                                        <m:t>𝒀</m:t>
                                                      </m:r>
                                                    </m:e>
                                                  </m:acc>
                                                </m:e>
                                                <m:sub>
                                                  <m: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ea typeface="Cambria Math" panose="02040503050406030204" pitchFamily="18" charset="0"/>
                                                    </a:rPr>
                                                    <m:t>∙</m:t>
                                                  </m:r>
                                                </m:sub>
                                              </m:sSub>
                                            </m:e>
                                          </m:d>
                                        </m:e>
                                        <m:sup>
                                          <m:r>
                                            <a:rPr lang="en-NZ" altLang="ja-JP" sz="2000" b="1" i="1">
                                              <a:solidFill>
                                                <a:schemeClr val="tx1"/>
                                              </a:solidFill>
                                              <a:latin typeface="Cambria Math" panose="02040503050406030204" pitchFamily="18" charset="0"/>
                                            </a:rPr>
                                            <m:t>𝟐</m:t>
                                          </m:r>
                                        </m:sup>
                                      </m:sSup>
                                      <m:r>
                                        <a:rPr lang="en-NZ" altLang="ja-JP" sz="2000" b="1" i="1" smtClean="0">
                                          <a:solidFill>
                                            <a:schemeClr val="tx1"/>
                                          </a:solidFill>
                                          <a:latin typeface="Cambria Math" panose="02040503050406030204" pitchFamily="18" charset="0"/>
                                        </a:rPr>
                                        <m:t> </m:t>
                                      </m:r>
                                    </m:e>
                                  </m:nary>
                                </m:e>
                              </m:nary>
                            </m:num>
                            <m:den>
                              <m:r>
                                <a:rPr lang="en-NZ" altLang="ja-JP" sz="2000" b="1" i="1" smtClean="0">
                                  <a:solidFill>
                                    <a:schemeClr val="tx1"/>
                                  </a:solidFill>
                                  <a:latin typeface="Cambria Math" panose="02040503050406030204" pitchFamily="18" charset="0"/>
                                </a:rPr>
                                <m:t> </m:t>
                              </m:r>
                              <m:r>
                                <a:rPr lang="en-NZ" altLang="ja-JP" sz="2000" b="1" i="1">
                                  <a:solidFill>
                                    <a:schemeClr val="tx1"/>
                                  </a:solidFill>
                                  <a:latin typeface="Cambria Math" panose="02040503050406030204" pitchFamily="18" charset="0"/>
                                </a:rPr>
                                <m:t>𝒌</m:t>
                              </m:r>
                              <m:r>
                                <a:rPr lang="en-NZ" altLang="ja-JP" sz="2000" b="1" i="1">
                                  <a:solidFill>
                                    <a:schemeClr val="tx1"/>
                                  </a:solidFill>
                                  <a:latin typeface="Cambria Math" panose="02040503050406030204" pitchFamily="18" charset="0"/>
                                </a:rPr>
                                <m:t> </m:t>
                              </m:r>
                              <m:d>
                                <m:dPr>
                                  <m:ctrlPr>
                                    <a:rPr lang="en-NZ" altLang="ja-JP" sz="2000" b="1" i="1">
                                      <a:solidFill>
                                        <a:schemeClr val="tx1"/>
                                      </a:solidFill>
                                      <a:latin typeface="Cambria Math" panose="02040503050406030204" pitchFamily="18" charset="0"/>
                                    </a:rPr>
                                  </m:ctrlPr>
                                </m:dPr>
                                <m:e>
                                  <m:r>
                                    <a:rPr lang="en-NZ" altLang="ja-JP" sz="2000" b="1" i="1">
                                      <a:solidFill>
                                        <a:schemeClr val="tx1"/>
                                      </a:solidFill>
                                      <a:latin typeface="Cambria Math" panose="02040503050406030204" pitchFamily="18" charset="0"/>
                                    </a:rPr>
                                    <m:t>𝒏</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e>
                              </m:d>
                            </m:den>
                          </m:f>
                        </m:den>
                      </m:f>
                    </m:oMath>
                  </m:oMathPara>
                </a14:m>
                <a:endParaRPr lang="en-NZ" altLang="ja-JP" sz="2000" b="1" dirty="0">
                  <a:solidFill>
                    <a:schemeClr val="tx1"/>
                  </a:solidFill>
                </a:endParaRPr>
              </a:p>
              <a:p>
                <a:pPr algn="just">
                  <a:lnSpc>
                    <a:spcPct val="100000"/>
                  </a:lnSpc>
                </a:pPr>
                <a:endParaRPr lang="en-NZ" altLang="ja-JP" sz="2000" b="1" dirty="0">
                  <a:solidFill>
                    <a:schemeClr val="tx1"/>
                  </a:solidFill>
                </a:endParaRPr>
              </a:p>
              <a:p>
                <a:pPr algn="just">
                  <a:lnSpc>
                    <a:spcPct val="100000"/>
                  </a:lnSpc>
                </a:pPr>
                <a:endParaRPr lang="en-NZ" altLang="ja-JP" sz="2000" b="1" dirty="0">
                  <a:solidFill>
                    <a:schemeClr val="tx1"/>
                  </a:solidFill>
                </a:endParaRP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9" name="Text Placeholder 5">
                <a:extLst>
                  <a:ext uri="{FF2B5EF4-FFF2-40B4-BE49-F238E27FC236}">
                    <a16:creationId xmlns:a16="http://schemas.microsoft.com/office/drawing/2014/main" id="{F122B27A-909A-4EBE-AECD-599931FDAC23}"/>
                  </a:ext>
                </a:extLst>
              </p:cNvPr>
              <p:cNvSpPr txBox="1">
                <a:spLocks noRot="1" noChangeAspect="1" noMove="1" noResize="1" noEditPoints="1" noAdjustHandles="1" noChangeArrowheads="1" noChangeShapeType="1" noTextEdit="1"/>
              </p:cNvSpPr>
              <p:nvPr/>
            </p:nvSpPr>
            <p:spPr>
              <a:xfrm>
                <a:off x="359899" y="999228"/>
                <a:ext cx="9671206" cy="1746479"/>
              </a:xfrm>
              <a:prstGeom prst="rect">
                <a:avLst/>
              </a:prstGeom>
              <a:blipFill>
                <a:blip r:embed="rId2"/>
                <a:stretch>
                  <a:fillRect l="-630" t="-2098"/>
                </a:stretch>
              </a:blipFill>
            </p:spPr>
            <p:txBody>
              <a:bodyPr/>
              <a:lstStyle/>
              <a:p>
                <a:r>
                  <a:rPr lang="en-NZ">
                    <a:noFill/>
                  </a:rPr>
                  <a:t> </a:t>
                </a:r>
              </a:p>
            </p:txBody>
          </p:sp>
        </mc:Fallback>
      </mc:AlternateContent>
      <p:sp>
        <p:nvSpPr>
          <p:cNvPr id="10" name="Text Placeholder 5">
            <a:extLst>
              <a:ext uri="{FF2B5EF4-FFF2-40B4-BE49-F238E27FC236}">
                <a16:creationId xmlns:a16="http://schemas.microsoft.com/office/drawing/2014/main" id="{7577D86A-74CD-4A6C-AB00-2C37BB36004B}"/>
              </a:ext>
            </a:extLst>
          </p:cNvPr>
          <p:cNvSpPr txBox="1">
            <a:spLocks/>
          </p:cNvSpPr>
          <p:nvPr/>
        </p:nvSpPr>
        <p:spPr>
          <a:xfrm>
            <a:off x="359898" y="3091328"/>
            <a:ext cx="11008688"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If we had chosen a different sample, we would have obtained different </a:t>
            </a:r>
            <a:r>
              <a:rPr lang="en-NZ" altLang="ja-JP" sz="2000" b="1" i="1" dirty="0" err="1">
                <a:solidFill>
                  <a:schemeClr val="tx1"/>
                </a:solidFill>
              </a:rPr>
              <a:t>Y</a:t>
            </a:r>
            <a:r>
              <a:rPr lang="en-NZ" altLang="ja-JP" sz="2000" b="1" i="1" baseline="-25000" dirty="0" err="1">
                <a:solidFill>
                  <a:schemeClr val="tx1"/>
                </a:solidFill>
              </a:rPr>
              <a:t>i,j</a:t>
            </a:r>
            <a:r>
              <a:rPr lang="en-NZ" altLang="ja-JP" sz="2000" dirty="0">
                <a:solidFill>
                  <a:schemeClr val="tx1"/>
                </a:solidFill>
              </a:rPr>
              <a:t> values and hence a different value of the F-Statistic.</a:t>
            </a:r>
            <a:endParaRPr lang="en-NZ" altLang="ja-JP" sz="2000" i="1" dirty="0">
              <a:solidFill>
                <a:srgbClr val="C00000"/>
              </a:solidFill>
            </a:endParaRPr>
          </a:p>
        </p:txBody>
      </p:sp>
      <p:sp>
        <p:nvSpPr>
          <p:cNvPr id="11" name="Text Placeholder 5">
            <a:extLst>
              <a:ext uri="{FF2B5EF4-FFF2-40B4-BE49-F238E27FC236}">
                <a16:creationId xmlns:a16="http://schemas.microsoft.com/office/drawing/2014/main" id="{4715635E-C28B-4B0E-8C83-BAEB4047E410}"/>
              </a:ext>
            </a:extLst>
          </p:cNvPr>
          <p:cNvSpPr txBox="1">
            <a:spLocks/>
          </p:cNvSpPr>
          <p:nvPr/>
        </p:nvSpPr>
        <p:spPr>
          <a:xfrm>
            <a:off x="359898" y="4925119"/>
            <a:ext cx="11008688" cy="4731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In order to understand how the F-statistic is distributed, we begin by recapping the following rules for the distribution of normal random variables. </a:t>
            </a:r>
            <a:endParaRPr lang="en-NZ" altLang="ja-JP" sz="2000" b="1" dirty="0">
              <a:solidFill>
                <a:schemeClr val="tx1"/>
              </a:solidFill>
            </a:endParaRPr>
          </a:p>
          <a:p>
            <a:pPr algn="just">
              <a:lnSpc>
                <a:spcPct val="100000"/>
              </a:lnSpc>
            </a:pPr>
            <a:endParaRPr lang="en-NZ" altLang="ja-JP" sz="2000" b="1" dirty="0">
              <a:solidFill>
                <a:schemeClr val="tx1"/>
              </a:solidFill>
            </a:endParaRP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8" name="Title 6">
            <a:extLst>
              <a:ext uri="{FF2B5EF4-FFF2-40B4-BE49-F238E27FC236}">
                <a16:creationId xmlns:a16="http://schemas.microsoft.com/office/drawing/2014/main" id="{38B059CE-F26F-A09E-1345-A9AA04F4DC1C}"/>
              </a:ext>
            </a:extLst>
          </p:cNvPr>
          <p:cNvSpPr txBox="1">
            <a:spLocks/>
          </p:cNvSpPr>
          <p:nvPr/>
        </p:nvSpPr>
        <p:spPr>
          <a:xfrm>
            <a:off x="251224" y="237833"/>
            <a:ext cx="598580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2.4a – Three Required Rules:</a:t>
            </a:r>
            <a:endParaRPr lang="ja-JP" altLang="en-US" b="1" u="sng" dirty="0">
              <a:latin typeface="+mn-lt"/>
            </a:endParaRPr>
          </a:p>
        </p:txBody>
      </p:sp>
      <p:sp>
        <p:nvSpPr>
          <p:cNvPr id="12" name="Text Placeholder 5">
            <a:extLst>
              <a:ext uri="{FF2B5EF4-FFF2-40B4-BE49-F238E27FC236}">
                <a16:creationId xmlns:a16="http://schemas.microsoft.com/office/drawing/2014/main" id="{0F3DBD63-1293-35C8-DFFD-B8BAA040D20E}"/>
              </a:ext>
            </a:extLst>
          </p:cNvPr>
          <p:cNvSpPr txBox="1">
            <a:spLocks/>
          </p:cNvSpPr>
          <p:nvPr/>
        </p:nvSpPr>
        <p:spPr>
          <a:xfrm>
            <a:off x="359898" y="4080583"/>
            <a:ext cx="11008688" cy="4731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As such, the F-statistic is a random variable in its own right. We may ask how it is distributed.</a:t>
            </a:r>
            <a:endParaRPr lang="en-NZ" altLang="ja-JP" sz="2000" i="1" dirty="0">
              <a:solidFill>
                <a:srgbClr val="C00000"/>
              </a:solidFill>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2D8F7E5E-4B67-8CFF-AD56-359F58EF749E}"/>
                  </a:ext>
                </a:extLst>
              </p:cNvPr>
              <p:cNvSpPr txBox="1">
                <a:spLocks/>
              </p:cNvSpPr>
              <p:nvPr/>
            </p:nvSpPr>
            <p:spPr>
              <a:xfrm>
                <a:off x="9322946" y="1331124"/>
                <a:ext cx="2869054" cy="141458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endParaRPr lang="en-NZ" altLang="ja-JP" sz="14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400" i="1" smtClean="0">
                            <a:solidFill>
                              <a:schemeClr val="tx1"/>
                            </a:solidFill>
                            <a:latin typeface="Cambria Math" panose="02040503050406030204" pitchFamily="18" charset="0"/>
                          </a:rPr>
                        </m:ctrlPr>
                      </m:dPr>
                      <m:e>
                        <m:m>
                          <m:mPr>
                            <m:mcs>
                              <m:mc>
                                <m:mcPr>
                                  <m:count m:val="3"/>
                                  <m:mcJc m:val="center"/>
                                </m:mcPr>
                              </m:mc>
                            </m:mcs>
                            <m:ctrlPr>
                              <a:rPr lang="en-NZ" altLang="ja-JP" sz="1400" i="1" smtClean="0">
                                <a:solidFill>
                                  <a:schemeClr val="tx1"/>
                                </a:solidFill>
                                <a:latin typeface="Cambria Math" panose="02040503050406030204" pitchFamily="18" charset="0"/>
                              </a:rPr>
                            </m:ctrlPr>
                          </m:mPr>
                          <m:mr>
                            <m:e>
                              <m:sSub>
                                <m:sSubPr>
                                  <m:ctrlPr>
                                    <a:rPr lang="en-NZ" altLang="ja-JP" sz="1400" b="0" i="1" smtClean="0">
                                      <a:solidFill>
                                        <a:schemeClr val="tx1"/>
                                      </a:solidFill>
                                      <a:latin typeface="Cambria Math" panose="02040503050406030204" pitchFamily="18" charset="0"/>
                                    </a:rPr>
                                  </m:ctrlPr>
                                </m:sSubPr>
                                <m:e>
                                  <m:r>
                                    <m:rPr>
                                      <m:brk m:alnAt="7"/>
                                    </m:rPr>
                                    <a:rPr lang="en-NZ" altLang="ja-JP" sz="1400" b="0" i="1" smtClean="0">
                                      <a:solidFill>
                                        <a:schemeClr val="tx1"/>
                                      </a:solidFill>
                                      <a:latin typeface="Cambria Math" panose="02040503050406030204" pitchFamily="18" charset="0"/>
                                    </a:rPr>
                                    <m:t>𝑌</m:t>
                                  </m:r>
                                </m:e>
                                <m:sub>
                                  <m:r>
                                    <m:rPr>
                                      <m:brk m:alnAt="7"/>
                                    </m:rPr>
                                    <a:rPr lang="en-NZ" altLang="ja-JP" sz="1400" b="0" i="1" smtClean="0">
                                      <a:solidFill>
                                        <a:schemeClr val="tx1"/>
                                      </a:solidFill>
                                      <a:latin typeface="Cambria Math" panose="02040503050406030204" pitchFamily="18" charset="0"/>
                                    </a:rPr>
                                    <m:t>1</m:t>
                                  </m:r>
                                  <m:r>
                                    <a:rPr lang="en-NZ" altLang="ja-JP" sz="1400" b="0" i="1" smtClean="0">
                                      <a:solidFill>
                                        <a:schemeClr val="tx1"/>
                                      </a:solidFill>
                                      <a:latin typeface="Cambria Math" panose="02040503050406030204" pitchFamily="18" charset="0"/>
                                    </a:rPr>
                                    <m:t>,1</m:t>
                                  </m:r>
                                </m:sub>
                              </m:sSub>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m:rPr>
                                      <m:brk m:alnAt="7"/>
                                    </m:rPr>
                                    <a:rPr lang="en-NZ" altLang="ja-JP" sz="1400" i="1">
                                      <a:solidFill>
                                        <a:schemeClr val="tx1"/>
                                      </a:solidFill>
                                      <a:latin typeface="Cambria Math" panose="02040503050406030204" pitchFamily="18" charset="0"/>
                                    </a:rPr>
                                    <m:t>1</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2</m:t>
                                  </m:r>
                                </m:sub>
                              </m:sSub>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m:rPr>
                                            <m:brk m:alnAt="7"/>
                                          </m:rPr>
                                          <a:rPr lang="en-NZ" altLang="ja-JP" sz="1400" i="1">
                                            <a:solidFill>
                                              <a:schemeClr val="tx1"/>
                                            </a:solidFill>
                                            <a:latin typeface="Cambria Math" panose="02040503050406030204" pitchFamily="18" charset="0"/>
                                          </a:rPr>
                                          <m:t>1</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r>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,1</m:t>
                                  </m:r>
                                </m:sub>
                              </m:sSub>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2</m:t>
                                  </m:r>
                                </m:sub>
                              </m:sSub>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sSub>
                                      <m:sSubPr>
                                        <m:ctrlPr>
                                          <a:rPr lang="en-NZ" altLang="ja-JP" sz="1400" i="1">
                                            <a:solidFill>
                                              <a:schemeClr val="tx1"/>
                                            </a:solidFill>
                                            <a:latin typeface="Cambria Math" panose="02040503050406030204" pitchFamily="18" charset="0"/>
                                          </a:rPr>
                                        </m:ctrlPr>
                                      </m:sSubPr>
                                      <m:e>
                                        <m:r>
                                          <m:rPr>
                                            <m:brk m:alnAt="7"/>
                                          </m:rPr>
                                          <a:rPr lang="en-NZ" altLang="ja-JP" sz="1400" i="1">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2</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𝑌</m:t>
                                        </m:r>
                                      </m:e>
                                      <m:sub>
                                        <m:r>
                                          <a:rPr lang="en-NZ" altLang="ja-JP" sz="1400" b="0" i="1" smtClean="0">
                                            <a:solidFill>
                                              <a:schemeClr val="tx1"/>
                                            </a:solidFill>
                                            <a:latin typeface="Cambria Math" panose="02040503050406030204" pitchFamily="18" charset="0"/>
                                          </a:rPr>
                                          <m:t>𝑘</m:t>
                                        </m:r>
                                        <m:r>
                                          <a:rPr lang="en-NZ" altLang="ja-JP" sz="14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ea typeface="Cambria Math" panose="02040503050406030204" pitchFamily="18" charset="0"/>
                                      </a:rPr>
                                      <m:t>⋮</m:t>
                                    </m:r>
                                  </m:e>
                                </m:mr>
                                <m:mr>
                                  <m:e>
                                    <m:sSub>
                                      <m:sSubPr>
                                        <m:ctrlPr>
                                          <a:rPr lang="en-NZ" altLang="ja-JP" sz="1400" i="1" smtClean="0">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𝑌</m:t>
                                        </m:r>
                                      </m:e>
                                      <m:sub>
                                        <m:r>
                                          <a:rPr lang="en-NZ" altLang="ja-JP" sz="1400" i="1">
                                            <a:solidFill>
                                              <a:schemeClr val="tx1"/>
                                            </a:solidFill>
                                            <a:latin typeface="Cambria Math" panose="02040503050406030204" pitchFamily="18" charset="0"/>
                                          </a:rPr>
                                          <m:t>𝑘</m:t>
                                        </m:r>
                                        <m:r>
                                          <a:rPr lang="en-NZ" altLang="ja-JP" sz="1400" i="1">
                                            <a:solidFill>
                                              <a:schemeClr val="tx1"/>
                                            </a:solidFill>
                                            <a:latin typeface="Cambria Math" panose="02040503050406030204" pitchFamily="18" charset="0"/>
                                          </a:rPr>
                                          <m:t>,2</m:t>
                                        </m:r>
                                      </m:sub>
                                    </m:sSub>
                                  </m:e>
                                </m:mr>
                              </m:m>
                            </m:e>
                            <m:e>
                              <m:m>
                                <m:mPr>
                                  <m:mcs>
                                    <m:mc>
                                      <m:mcPr>
                                        <m:count m:val="2"/>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b="0" i="1" smtClean="0">
                                        <a:solidFill>
                                          <a:schemeClr val="tx1"/>
                                        </a:solidFill>
                                        <a:latin typeface="Cambria Math" panose="02040503050406030204" pitchFamily="18" charset="0"/>
                                      </a:rPr>
                                      <m:t>…</m:t>
                                    </m:r>
                                  </m:e>
                                  <m:e>
                                    <m:m>
                                      <m:mPr>
                                        <m:mcs>
                                          <m:mc>
                                            <m:mcPr>
                                              <m:count m:val="1"/>
                                              <m:mcJc m:val="center"/>
                                            </m:mcPr>
                                          </m:mc>
                                        </m:mcs>
                                        <m:ctrlPr>
                                          <a:rPr lang="en-NZ" altLang="ja-JP" sz="1400" i="1" smtClean="0">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ea typeface="Cambria Math" panose="02040503050406030204" pitchFamily="18" charset="0"/>
                                            </a:rPr>
                                            <m:t>⋮</m:t>
                                          </m:r>
                                        </m:e>
                                      </m:mr>
                                      <m:m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𝑌</m:t>
                                              </m:r>
                                            </m:e>
                                            <m:sub>
                                              <m:r>
                                                <a:rPr lang="en-NZ" altLang="ja-JP" sz="1400" i="1">
                                                  <a:solidFill>
                                                    <a:schemeClr val="tx1"/>
                                                  </a:solidFill>
                                                  <a:latin typeface="Cambria Math" panose="02040503050406030204" pitchFamily="18" charset="0"/>
                                                </a:rPr>
                                                <m:t>𝑘</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𝑛</m:t>
                                              </m:r>
                                            </m:sub>
                                          </m:sSub>
                                        </m:e>
                                      </m:mr>
                                    </m:m>
                                  </m:e>
                                </m:mr>
                              </m:m>
                            </m:e>
                          </m:mr>
                        </m:m>
                      </m:e>
                    </m:d>
                  </m:oMath>
                </a14:m>
                <a:r>
                  <a:rPr lang="en-NZ" altLang="ja-JP" sz="1400" dirty="0">
                    <a:solidFill>
                      <a:schemeClr val="tx1"/>
                    </a:solidFill>
                  </a:rPr>
                  <a:t> </a:t>
                </a:r>
              </a:p>
              <a:p>
                <a:pPr algn="ctr">
                  <a:lnSpc>
                    <a:spcPct val="100000"/>
                  </a:lnSpc>
                </a:pPr>
                <a:endParaRPr lang="en-NZ" altLang="ja-JP" sz="1400" dirty="0">
                  <a:solidFill>
                    <a:schemeClr val="tx1"/>
                  </a:solidFill>
                </a:endParaRPr>
              </a:p>
              <a:p>
                <a:pPr algn="just">
                  <a:lnSpc>
                    <a:spcPct val="100000"/>
                  </a:lnSpc>
                </a:pPr>
                <a:endParaRPr lang="en-NZ" altLang="ja-JP" sz="1400" dirty="0">
                  <a:solidFill>
                    <a:schemeClr val="tx1"/>
                  </a:solidFill>
                </a:endParaRPr>
              </a:p>
              <a:p>
                <a:pPr algn="just">
                  <a:lnSpc>
                    <a:spcPct val="100000"/>
                  </a:lnSpc>
                </a:pPr>
                <a:endParaRPr lang="en-NZ" altLang="ja-JP" sz="1400" i="1" dirty="0">
                  <a:solidFill>
                    <a:srgbClr val="C00000"/>
                  </a:solidFill>
                </a:endParaRPr>
              </a:p>
            </p:txBody>
          </p:sp>
        </mc:Choice>
        <mc:Fallback xmlns="">
          <p:sp>
            <p:nvSpPr>
              <p:cNvPr id="13" name="Text Placeholder 5">
                <a:extLst>
                  <a:ext uri="{FF2B5EF4-FFF2-40B4-BE49-F238E27FC236}">
                    <a16:creationId xmlns:a16="http://schemas.microsoft.com/office/drawing/2014/main" id="{2D8F7E5E-4B67-8CFF-AD56-359F58EF749E}"/>
                  </a:ext>
                </a:extLst>
              </p:cNvPr>
              <p:cNvSpPr txBox="1">
                <a:spLocks noRot="1" noChangeAspect="1" noMove="1" noResize="1" noEditPoints="1" noAdjustHandles="1" noChangeArrowheads="1" noChangeShapeType="1" noTextEdit="1"/>
              </p:cNvSpPr>
              <p:nvPr/>
            </p:nvSpPr>
            <p:spPr>
              <a:xfrm>
                <a:off x="9322946" y="1331124"/>
                <a:ext cx="2869054" cy="1414583"/>
              </a:xfrm>
              <a:prstGeom prst="rect">
                <a:avLst/>
              </a:prstGeom>
              <a:blipFill>
                <a:blip r:embed="rId3"/>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29468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29</a:t>
            </a:fld>
            <a:endParaRPr kumimoji="1" lang="ja-JP" altLang="en-US" dirty="0">
              <a:solidFill>
                <a:srgbClr val="575454">
                  <a:lumMod val="20000"/>
                  <a:lumOff val="80000"/>
                </a:srgbClr>
              </a:solidFill>
              <a:latin typeface="Coo Hew"/>
            </a:endParaRPr>
          </a:p>
        </p:txBody>
      </p:sp>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2.4a – Three Required Rules:</a:t>
            </a:r>
            <a:endParaRPr lang="ja-JP" altLang="en-US" b="1" u="sng" dirty="0">
              <a:latin typeface="+mn-lt"/>
            </a:endParaRPr>
          </a:p>
        </p:txBody>
      </p:sp>
      <p:sp>
        <p:nvSpPr>
          <p:cNvPr id="9" name="Text Placeholder 5">
            <a:extLst>
              <a:ext uri="{FF2B5EF4-FFF2-40B4-BE49-F238E27FC236}">
                <a16:creationId xmlns:a16="http://schemas.microsoft.com/office/drawing/2014/main" id="{F122B27A-909A-4EBE-AECD-599931FDAC23}"/>
              </a:ext>
            </a:extLst>
          </p:cNvPr>
          <p:cNvSpPr txBox="1">
            <a:spLocks/>
          </p:cNvSpPr>
          <p:nvPr/>
        </p:nvSpPr>
        <p:spPr>
          <a:xfrm>
            <a:off x="359899" y="1124280"/>
            <a:ext cx="1032174"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u="sng" dirty="0">
                <a:solidFill>
                  <a:schemeClr val="tx1"/>
                </a:solidFill>
              </a:rPr>
              <a:t>RULE 1:</a:t>
            </a:r>
          </a:p>
          <a:p>
            <a:pPr algn="just">
              <a:lnSpc>
                <a:spcPct val="100000"/>
              </a:lnSpc>
            </a:pPr>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1392073" y="1123352"/>
                <a:ext cx="9771796" cy="18518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If </a:t>
                </a:r>
                <a:r>
                  <a:rPr lang="en-NZ" altLang="ja-JP" sz="2000" b="1" i="1" dirty="0">
                    <a:solidFill>
                      <a:schemeClr val="tx1"/>
                    </a:solidFill>
                  </a:rPr>
                  <a:t>X</a:t>
                </a:r>
                <a:r>
                  <a:rPr lang="en-NZ" altLang="ja-JP" sz="2000" b="1" i="1" baseline="-25000" dirty="0">
                    <a:solidFill>
                      <a:schemeClr val="tx1"/>
                    </a:solidFill>
                  </a:rPr>
                  <a:t>1</a:t>
                </a:r>
                <a:r>
                  <a:rPr lang="en-NZ" altLang="ja-JP" sz="2000" b="1" i="1" dirty="0">
                    <a:solidFill>
                      <a:schemeClr val="tx1"/>
                    </a:solidFill>
                  </a:rPr>
                  <a:t> , … , </a:t>
                </a:r>
                <a:r>
                  <a:rPr lang="en-NZ" altLang="ja-JP" sz="2000" b="1" i="1" dirty="0" err="1">
                    <a:solidFill>
                      <a:schemeClr val="tx1"/>
                    </a:solidFill>
                  </a:rPr>
                  <a:t>X</a:t>
                </a:r>
                <a:r>
                  <a:rPr lang="en-NZ" altLang="ja-JP" sz="2000" b="1" i="1" baseline="-25000" dirty="0" err="1">
                    <a:solidFill>
                      <a:schemeClr val="tx1"/>
                    </a:solidFill>
                  </a:rPr>
                  <a:t>n</a:t>
                </a:r>
                <a:r>
                  <a:rPr lang="en-NZ" altLang="ja-JP" sz="2000" dirty="0">
                    <a:solidFill>
                      <a:schemeClr val="tx1"/>
                    </a:solidFill>
                  </a:rPr>
                  <a:t>   are   </a:t>
                </a:r>
                <a:r>
                  <a:rPr lang="en-NZ" altLang="ja-JP" sz="2000" dirty="0" err="1">
                    <a:solidFill>
                      <a:schemeClr val="tx1"/>
                    </a:solidFill>
                  </a:rPr>
                  <a:t>i.i.d</a:t>
                </a:r>
                <a:r>
                  <a:rPr lang="en-NZ" altLang="ja-JP" sz="2000" dirty="0">
                    <a:solidFill>
                      <a:schemeClr val="tx1"/>
                    </a:solidFill>
                  </a:rPr>
                  <a:t> random variables such that </a:t>
                </a: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𝑿</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r>
                      <a:rPr lang="en-NZ" altLang="ja-JP" sz="2000" b="1" i="1" smtClean="0">
                        <a:solidFill>
                          <a:schemeClr val="tx1"/>
                        </a:solidFill>
                        <a:latin typeface="Cambria Math" panose="02040503050406030204" pitchFamily="18" charset="0"/>
                      </a:rPr>
                      <m:t>𝑵</m:t>
                    </m:r>
                    <m:d>
                      <m:dPr>
                        <m:ctrlPr>
                          <a:rPr lang="en-NZ" altLang="ja-JP" sz="2000" b="1" i="1" smtClean="0">
                            <a:solidFill>
                              <a:schemeClr val="tx1"/>
                            </a:solidFill>
                            <a:latin typeface="Cambria Math" panose="02040503050406030204" pitchFamily="18" charset="0"/>
                          </a:rPr>
                        </m:ctrlPr>
                      </m:dPr>
                      <m:e>
                        <m:r>
                          <a:rPr lang="en-NZ" altLang="ja-JP" sz="2000" b="1" i="1" smtClean="0">
                            <a:solidFill>
                              <a:schemeClr val="tx1"/>
                            </a:solidFill>
                            <a:latin typeface="Cambria Math" panose="02040503050406030204" pitchFamily="18" charset="0"/>
                          </a:rPr>
                          <m:t>𝝁</m:t>
                        </m:r>
                        <m:r>
                          <a:rPr lang="en-NZ" altLang="ja-JP" sz="2000" b="1" i="1" smtClean="0">
                            <a:solidFill>
                              <a:schemeClr val="tx1"/>
                            </a:solidFill>
                            <a:latin typeface="Cambria Math" panose="02040503050406030204" pitchFamily="18" charset="0"/>
                          </a:rPr>
                          <m:t> , </m:t>
                        </m:r>
                        <m:sSup>
                          <m:sSupPr>
                            <m:ctrlPr>
                              <a:rPr lang="en-NZ" altLang="ja-JP" sz="2000" b="1" i="1" smtClean="0">
                                <a:solidFill>
                                  <a:schemeClr val="tx1"/>
                                </a:solidFill>
                                <a:latin typeface="Cambria Math" panose="02040503050406030204" pitchFamily="18" charset="0"/>
                              </a:rPr>
                            </m:ctrlPr>
                          </m:sSupPr>
                          <m:e>
                            <m:r>
                              <a:rPr lang="en-NZ" altLang="ja-JP" sz="2000" b="1" i="1" smtClean="0">
                                <a:solidFill>
                                  <a:schemeClr val="tx1"/>
                                </a:solidFill>
                                <a:latin typeface="Cambria Math" panose="02040503050406030204" pitchFamily="18" charset="0"/>
                              </a:rPr>
                              <m:t>𝝈</m:t>
                            </m:r>
                          </m:e>
                          <m:sup>
                            <m:r>
                              <a:rPr lang="en-NZ" altLang="ja-JP" sz="2000" b="1" i="1" smtClean="0">
                                <a:solidFill>
                                  <a:schemeClr val="tx1"/>
                                </a:solidFill>
                                <a:latin typeface="Cambria Math" panose="02040503050406030204" pitchFamily="18" charset="0"/>
                              </a:rPr>
                              <m:t>𝟐</m:t>
                            </m:r>
                          </m:sup>
                        </m:sSup>
                      </m:e>
                    </m:d>
                  </m:oMath>
                </a14:m>
                <a:r>
                  <a:rPr lang="en-NZ" altLang="ja-JP" sz="2000" b="0" dirty="0">
                    <a:solidFill>
                      <a:schemeClr val="tx1"/>
                    </a:solidFill>
                  </a:rPr>
                  <a:t>. Define</a:t>
                </a:r>
              </a:p>
              <a:p>
                <a:pPr algn="just">
                  <a:lnSpc>
                    <a:spcPct val="100000"/>
                  </a:lnSpc>
                </a:pPr>
                <a:endParaRPr lang="en-NZ" altLang="ja-JP" sz="600" b="0" dirty="0">
                  <a:solidFill>
                    <a:schemeClr val="tx1"/>
                  </a:solidFill>
                </a:endParaRPr>
              </a:p>
              <a:p>
                <a:pPr algn="just">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𝑾</m:t>
                      </m:r>
                      <m:r>
                        <a:rPr lang="en-NZ" altLang="ja-JP" sz="2000" b="1" i="1" smtClean="0">
                          <a:solidFill>
                            <a:schemeClr val="tx1"/>
                          </a:solidFill>
                          <a:latin typeface="Cambria Math" panose="02040503050406030204" pitchFamily="18" charset="0"/>
                        </a:rPr>
                        <m:t>= </m:t>
                      </m:r>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𝟏</m:t>
                          </m:r>
                        </m:num>
                        <m:den>
                          <m:sSup>
                            <m:sSupPr>
                              <m:ctrlPr>
                                <a:rPr lang="en-NZ" altLang="ja-JP" sz="2000" b="1" i="1" smtClean="0">
                                  <a:solidFill>
                                    <a:schemeClr val="tx1"/>
                                  </a:solidFill>
                                  <a:latin typeface="Cambria Math" panose="02040503050406030204" pitchFamily="18" charset="0"/>
                                </a:rPr>
                              </m:ctrlPr>
                            </m:sSupPr>
                            <m:e>
                              <m:r>
                                <a:rPr lang="en-NZ" altLang="ja-JP" sz="2000" b="1" i="1" smtClean="0">
                                  <a:solidFill>
                                    <a:schemeClr val="tx1"/>
                                  </a:solidFill>
                                  <a:latin typeface="Cambria Math" panose="02040503050406030204" pitchFamily="18" charset="0"/>
                                </a:rPr>
                                <m:t>𝝈</m:t>
                              </m:r>
                            </m:e>
                            <m:sup>
                              <m:r>
                                <a:rPr lang="en-NZ" altLang="ja-JP" sz="2000" b="1" i="1" smtClean="0">
                                  <a:solidFill>
                                    <a:schemeClr val="tx1"/>
                                  </a:solidFill>
                                  <a:latin typeface="Cambria Math" panose="02040503050406030204" pitchFamily="18" charset="0"/>
                                </a:rPr>
                                <m:t>𝟐</m:t>
                              </m:r>
                            </m:sup>
                          </m:sSup>
                        </m:den>
                      </m:f>
                      <m:r>
                        <a:rPr lang="en-NZ" altLang="ja-JP" sz="2000" b="1" i="1" smtClean="0">
                          <a:solidFill>
                            <a:schemeClr val="tx1"/>
                          </a:solidFill>
                          <a:latin typeface="Cambria Math" panose="02040503050406030204" pitchFamily="18" charset="0"/>
                        </a:rPr>
                        <m:t> </m:t>
                      </m:r>
                      <m:nary>
                        <m:naryPr>
                          <m:chr m:val="∑"/>
                          <m:ctrlPr>
                            <a:rPr lang="en-NZ" altLang="ja-JP" sz="2000" b="1" i="1" smtClean="0">
                              <a:solidFill>
                                <a:schemeClr val="tx1"/>
                              </a:solidFill>
                              <a:latin typeface="Cambria Math" panose="02040503050406030204" pitchFamily="18" charset="0"/>
                            </a:rPr>
                          </m:ctrlPr>
                        </m:naryPr>
                        <m:sub>
                          <m: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sub>
                        <m:sup>
                          <m:r>
                            <a:rPr lang="en-NZ" altLang="ja-JP" sz="2000" b="1" i="1" smtClean="0">
                              <a:solidFill>
                                <a:schemeClr val="tx1"/>
                              </a:solidFill>
                              <a:latin typeface="Cambria Math" panose="02040503050406030204" pitchFamily="18" charset="0"/>
                            </a:rPr>
                            <m:t>𝒏</m:t>
                          </m:r>
                        </m:sup>
                        <m:e>
                          <m:sSup>
                            <m:sSupPr>
                              <m:ctrlPr>
                                <a:rPr lang="en-NZ" altLang="ja-JP" sz="2000" b="1" i="1" smtClean="0">
                                  <a:solidFill>
                                    <a:schemeClr val="tx1"/>
                                  </a:solidFill>
                                  <a:latin typeface="Cambria Math" panose="02040503050406030204" pitchFamily="18" charset="0"/>
                                </a:rPr>
                              </m:ctrlPr>
                            </m:sSupPr>
                            <m:e>
                              <m:d>
                                <m:dPr>
                                  <m:ctrlPr>
                                    <a:rPr lang="en-NZ" altLang="ja-JP" sz="2000" b="1" i="1" smtClean="0">
                                      <a:solidFill>
                                        <a:schemeClr val="tx1"/>
                                      </a:solidFill>
                                      <a:latin typeface="Cambria Math" panose="02040503050406030204" pitchFamily="18" charset="0"/>
                                    </a:rPr>
                                  </m:ctrlPr>
                                </m:dPr>
                                <m:e>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𝑿</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acc>
                                    <m:accPr>
                                      <m:chr m:val="̅"/>
                                      <m:ctrlPr>
                                        <a:rPr lang="en-NZ" altLang="ja-JP" sz="2000" b="1" i="1" smtClean="0">
                                          <a:solidFill>
                                            <a:schemeClr val="tx1"/>
                                          </a:solidFill>
                                          <a:latin typeface="Cambria Math" panose="02040503050406030204" pitchFamily="18" charset="0"/>
                                        </a:rPr>
                                      </m:ctrlPr>
                                    </m:accPr>
                                    <m:e>
                                      <m:r>
                                        <a:rPr lang="en-NZ" altLang="ja-JP" sz="2000" b="1" i="1" smtClean="0">
                                          <a:solidFill>
                                            <a:schemeClr val="tx1"/>
                                          </a:solidFill>
                                          <a:latin typeface="Cambria Math" panose="02040503050406030204" pitchFamily="18" charset="0"/>
                                        </a:rPr>
                                        <m:t>𝑿</m:t>
                                      </m:r>
                                    </m:e>
                                  </m:acc>
                                </m:e>
                              </m:d>
                            </m:e>
                            <m:sup>
                              <m:r>
                                <a:rPr lang="en-NZ" altLang="ja-JP" sz="2000" b="1" i="1" smtClean="0">
                                  <a:solidFill>
                                    <a:schemeClr val="tx1"/>
                                  </a:solidFill>
                                  <a:latin typeface="Cambria Math" panose="02040503050406030204" pitchFamily="18" charset="0"/>
                                </a:rPr>
                                <m:t>𝟐</m:t>
                              </m:r>
                            </m:sup>
                          </m:sSup>
                        </m:e>
                      </m:nary>
                    </m:oMath>
                  </m:oMathPara>
                </a14:m>
                <a:endParaRPr lang="en-NZ" altLang="ja-JP" sz="2000" b="1" dirty="0">
                  <a:solidFill>
                    <a:schemeClr val="tx1"/>
                  </a:solidFill>
                </a:endParaRPr>
              </a:p>
              <a:p>
                <a:pPr algn="just">
                  <a:lnSpc>
                    <a:spcPct val="100000"/>
                  </a:lnSpc>
                </a:pPr>
                <a:endParaRPr lang="en-NZ" altLang="ja-JP" sz="600" b="1" dirty="0">
                  <a:solidFill>
                    <a:schemeClr val="tx1"/>
                  </a:solidFill>
                </a:endParaRPr>
              </a:p>
              <a:p>
                <a:pPr algn="just">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𝑾</m:t>
                      </m:r>
                      <m:r>
                        <a:rPr lang="en-NZ" altLang="ja-JP" sz="2000" b="1" i="1" smtClean="0">
                          <a:solidFill>
                            <a:schemeClr val="tx1"/>
                          </a:solidFill>
                          <a:latin typeface="Cambria Math" panose="02040503050406030204" pitchFamily="18" charset="0"/>
                        </a:rPr>
                        <m:t> ~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r>
                            <a:rPr lang="en-NZ" altLang="ja-JP" sz="2000" b="1" i="1" smtClean="0">
                              <a:solidFill>
                                <a:schemeClr val="tx1"/>
                              </a:solidFill>
                              <a:latin typeface="Cambria Math" panose="02040503050406030204" pitchFamily="18" charset="0"/>
                            </a:rPr>
                            <m:t>𝒏</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sub>
                        <m:sup>
                          <m:r>
                            <a:rPr lang="en-NZ" altLang="ja-JP" sz="2000" b="1" i="1" smtClean="0">
                              <a:solidFill>
                                <a:schemeClr val="tx1"/>
                              </a:solidFill>
                              <a:latin typeface="Cambria Math" panose="02040503050406030204" pitchFamily="18" charset="0"/>
                            </a:rPr>
                            <m:t>𝟐</m:t>
                          </m:r>
                        </m:sup>
                      </m:sSubSup>
                    </m:oMath>
                  </m:oMathPara>
                </a14:m>
                <a:endParaRPr lang="en-NZ" altLang="ja-JP" sz="2000" b="1" dirty="0">
                  <a:solidFill>
                    <a:schemeClr val="tx1"/>
                  </a:solidFill>
                </a:endParaRP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8" name="Text Placeholder 5">
                <a:extLst>
                  <a:ext uri="{FF2B5EF4-FFF2-40B4-BE49-F238E27FC236}">
                    <a16:creationId xmlns:a16="http://schemas.microsoft.com/office/drawing/2014/main" id="{48B79D50-9E13-4AD2-A06B-5130BB9354C5}"/>
                  </a:ext>
                </a:extLst>
              </p:cNvPr>
              <p:cNvSpPr txBox="1">
                <a:spLocks noRot="1" noChangeAspect="1" noMove="1" noResize="1" noEditPoints="1" noAdjustHandles="1" noChangeArrowheads="1" noChangeShapeType="1" noTextEdit="1"/>
              </p:cNvSpPr>
              <p:nvPr/>
            </p:nvSpPr>
            <p:spPr>
              <a:xfrm>
                <a:off x="1392073" y="1123352"/>
                <a:ext cx="9771796" cy="1851860"/>
              </a:xfrm>
              <a:prstGeom prst="rect">
                <a:avLst/>
              </a:prstGeom>
              <a:blipFill>
                <a:blip r:embed="rId2"/>
                <a:stretch>
                  <a:fillRect l="-624" t="-329"/>
                </a:stretch>
              </a:blipFill>
            </p:spPr>
            <p:txBody>
              <a:bodyPr/>
              <a:lstStyle/>
              <a:p>
                <a:r>
                  <a:rPr lang="en-NZ">
                    <a:noFill/>
                  </a:rPr>
                  <a:t> </a:t>
                </a:r>
              </a:p>
            </p:txBody>
          </p:sp>
        </mc:Fallback>
      </mc:AlternateContent>
      <p:sp>
        <p:nvSpPr>
          <p:cNvPr id="12" name="Text Placeholder 5">
            <a:extLst>
              <a:ext uri="{FF2B5EF4-FFF2-40B4-BE49-F238E27FC236}">
                <a16:creationId xmlns:a16="http://schemas.microsoft.com/office/drawing/2014/main" id="{98D9A3E4-A1CF-45F1-A4B8-68221F2E74BE}"/>
              </a:ext>
            </a:extLst>
          </p:cNvPr>
          <p:cNvSpPr txBox="1">
            <a:spLocks/>
          </p:cNvSpPr>
          <p:nvPr/>
        </p:nvSpPr>
        <p:spPr>
          <a:xfrm>
            <a:off x="359899" y="3118875"/>
            <a:ext cx="1032174"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u="sng" dirty="0">
                <a:solidFill>
                  <a:schemeClr val="tx1"/>
                </a:solidFill>
              </a:rPr>
              <a:t>RULE 2:</a:t>
            </a:r>
          </a:p>
          <a:p>
            <a:pPr algn="just">
              <a:lnSpc>
                <a:spcPct val="100000"/>
              </a:lnSpc>
            </a:pPr>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BEC5C57F-F4A6-4304-8328-3AC1D5E886D8}"/>
                  </a:ext>
                </a:extLst>
              </p:cNvPr>
              <p:cNvSpPr txBox="1">
                <a:spLocks/>
              </p:cNvSpPr>
              <p:nvPr/>
            </p:nvSpPr>
            <p:spPr>
              <a:xfrm>
                <a:off x="1392073" y="3117947"/>
                <a:ext cx="9771796" cy="14949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If </a:t>
                </a:r>
                <a:r>
                  <a:rPr lang="en-NZ" altLang="ja-JP" sz="2000" b="1" i="1" dirty="0">
                    <a:solidFill>
                      <a:schemeClr val="tx1"/>
                    </a:solidFill>
                  </a:rPr>
                  <a:t>W</a:t>
                </a:r>
                <a:r>
                  <a:rPr lang="en-NZ" altLang="ja-JP" sz="2000" b="1" i="1" baseline="-25000" dirty="0">
                    <a:solidFill>
                      <a:schemeClr val="tx1"/>
                    </a:solidFill>
                  </a:rPr>
                  <a:t>1</a:t>
                </a:r>
                <a:r>
                  <a:rPr lang="en-NZ" altLang="ja-JP" sz="2000" b="1" i="1" dirty="0">
                    <a:solidFill>
                      <a:schemeClr val="tx1"/>
                    </a:solidFill>
                  </a:rPr>
                  <a:t> , … , </a:t>
                </a:r>
                <a:r>
                  <a:rPr lang="en-NZ" altLang="ja-JP" sz="2000" b="1" i="1" dirty="0" err="1">
                    <a:solidFill>
                      <a:schemeClr val="tx1"/>
                    </a:solidFill>
                  </a:rPr>
                  <a:t>W</a:t>
                </a:r>
                <a:r>
                  <a:rPr lang="en-NZ" altLang="ja-JP" sz="2000" b="1" i="1" baseline="-25000" dirty="0" err="1">
                    <a:solidFill>
                      <a:schemeClr val="tx1"/>
                    </a:solidFill>
                  </a:rPr>
                  <a:t>k</a:t>
                </a:r>
                <a:r>
                  <a:rPr lang="en-NZ" altLang="ja-JP" sz="2000" dirty="0">
                    <a:solidFill>
                      <a:schemeClr val="tx1"/>
                    </a:solidFill>
                  </a:rPr>
                  <a:t>   are a set of independent random variables such that </a:t>
                </a: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𝑾</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𝒊</m:t>
                            </m:r>
                          </m:sub>
                        </m:sSub>
                      </m:sub>
                      <m:sup>
                        <m:r>
                          <a:rPr lang="en-NZ" altLang="ja-JP" sz="2000" b="1" i="1" smtClean="0">
                            <a:solidFill>
                              <a:schemeClr val="tx1"/>
                            </a:solidFill>
                            <a:latin typeface="Cambria Math" panose="02040503050406030204" pitchFamily="18" charset="0"/>
                          </a:rPr>
                          <m:t>𝟐</m:t>
                        </m:r>
                      </m:sup>
                    </m:sSubSup>
                  </m:oMath>
                </a14:m>
                <a:r>
                  <a:rPr lang="en-NZ" altLang="ja-JP" sz="2000" b="0" dirty="0">
                    <a:solidFill>
                      <a:schemeClr val="tx1"/>
                    </a:solidFill>
                  </a:rPr>
                  <a:t>. </a:t>
                </a:r>
                <a:r>
                  <a:rPr lang="en-NZ" altLang="ja-JP" sz="2000" dirty="0">
                    <a:solidFill>
                      <a:schemeClr val="tx1"/>
                    </a:solidFill>
                  </a:rPr>
                  <a:t>Then</a:t>
                </a:r>
                <a:endParaRPr lang="en-NZ" altLang="ja-JP" sz="2000" b="0" dirty="0">
                  <a:solidFill>
                    <a:schemeClr val="tx1"/>
                  </a:solidFill>
                </a:endParaRPr>
              </a:p>
              <a:p>
                <a:pPr algn="just">
                  <a:lnSpc>
                    <a:spcPct val="100000"/>
                  </a:lnSpc>
                </a:pPr>
                <a:endParaRPr lang="en-NZ" altLang="ja-JP" sz="600" b="0" dirty="0">
                  <a:solidFill>
                    <a:schemeClr val="tx1"/>
                  </a:solidFill>
                </a:endParaRPr>
              </a:p>
              <a:p>
                <a:pPr algn="just">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m:t>
                      </m:r>
                      <m:r>
                        <a:rPr lang="en-NZ" altLang="ja-JP" sz="2000" b="0" i="1" smtClean="0">
                          <a:solidFill>
                            <a:schemeClr val="tx1"/>
                          </a:solidFill>
                          <a:latin typeface="Cambria Math" panose="02040503050406030204" pitchFamily="18" charset="0"/>
                        </a:rPr>
                        <m:t>   </m:t>
                      </m:r>
                      <m:nary>
                        <m:naryPr>
                          <m:chr m:val="∑"/>
                          <m:ctrlPr>
                            <a:rPr lang="en-NZ" altLang="ja-JP" sz="2000" b="1" i="1" smtClean="0">
                              <a:solidFill>
                                <a:schemeClr val="tx1"/>
                              </a:solidFill>
                              <a:latin typeface="Cambria Math" panose="02040503050406030204" pitchFamily="18" charset="0"/>
                            </a:rPr>
                          </m:ctrlPr>
                        </m:naryPr>
                        <m:sub>
                          <m:r>
                            <m:rPr>
                              <m:brk m:alnAt="23"/>
                            </m:rP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sub>
                        <m:sup>
                          <m:r>
                            <a:rPr lang="en-NZ" altLang="ja-JP" sz="2000" b="1" i="1" smtClean="0">
                              <a:solidFill>
                                <a:schemeClr val="tx1"/>
                              </a:solidFill>
                              <a:latin typeface="Cambria Math" panose="02040503050406030204" pitchFamily="18" charset="0"/>
                            </a:rPr>
                            <m:t>𝒌</m:t>
                          </m:r>
                        </m:sup>
                        <m:e>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𝑾</m:t>
                              </m:r>
                            </m:e>
                            <m:sub>
                              <m:r>
                                <a:rPr lang="en-NZ" altLang="ja-JP" sz="2000" b="1" i="1" smtClean="0">
                                  <a:solidFill>
                                    <a:schemeClr val="tx1"/>
                                  </a:solidFill>
                                  <a:latin typeface="Cambria Math" panose="02040503050406030204" pitchFamily="18" charset="0"/>
                                </a:rPr>
                                <m:t>𝒊</m:t>
                              </m:r>
                            </m:sub>
                          </m:sSub>
                        </m:e>
                      </m:nary>
                      <m:r>
                        <a:rPr lang="en-NZ" altLang="ja-JP" sz="2000" b="1" i="1" smtClean="0">
                          <a:solidFill>
                            <a:schemeClr val="tx1"/>
                          </a:solidFill>
                          <a:latin typeface="Cambria Math" panose="02040503050406030204" pitchFamily="18" charset="0"/>
                        </a:rPr>
                        <m:t> ~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nary>
                            <m:naryPr>
                              <m:chr m:val="∑"/>
                              <m:ctrlPr>
                                <a:rPr lang="en-NZ" altLang="ja-JP" sz="2000" b="1" i="1" smtClean="0">
                                  <a:solidFill>
                                    <a:schemeClr val="tx1"/>
                                  </a:solidFill>
                                  <a:latin typeface="Cambria Math" panose="02040503050406030204" pitchFamily="18" charset="0"/>
                                </a:rPr>
                              </m:ctrlPr>
                            </m:naryPr>
                            <m:sub>
                              <m:r>
                                <m:rPr>
                                  <m:brk m:alnAt="23"/>
                                </m:rPr>
                                <a:rPr lang="en-NZ" altLang="ja-JP" sz="2000" b="1" i="1" smtClean="0">
                                  <a:solidFill>
                                    <a:schemeClr val="tx1"/>
                                  </a:solidFill>
                                  <a:latin typeface="Cambria Math" panose="02040503050406030204" pitchFamily="18" charset="0"/>
                                </a:rPr>
                                <m:t>𝒊</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sub>
                            <m:sup>
                              <m:r>
                                <a:rPr lang="en-NZ" altLang="ja-JP" sz="2000" b="1" i="1" smtClean="0">
                                  <a:solidFill>
                                    <a:schemeClr val="tx1"/>
                                  </a:solidFill>
                                  <a:latin typeface="Cambria Math" panose="02040503050406030204" pitchFamily="18" charset="0"/>
                                </a:rPr>
                                <m:t>𝒌</m:t>
                              </m:r>
                            </m:sup>
                            <m:e>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𝒏</m:t>
                                  </m:r>
                                </m:e>
                                <m:sub>
                                  <m:r>
                                    <a:rPr lang="en-NZ" altLang="ja-JP" sz="2000" b="1" i="1">
                                      <a:solidFill>
                                        <a:schemeClr val="tx1"/>
                                      </a:solidFill>
                                      <a:latin typeface="Cambria Math" panose="02040503050406030204" pitchFamily="18" charset="0"/>
                                    </a:rPr>
                                    <m:t>𝒊</m:t>
                                  </m:r>
                                </m:sub>
                              </m:sSub>
                            </m:e>
                          </m:nary>
                        </m:sub>
                        <m:sup>
                          <m:r>
                            <a:rPr lang="en-NZ" altLang="ja-JP" sz="2000" b="1" i="1" smtClean="0">
                              <a:solidFill>
                                <a:schemeClr val="tx1"/>
                              </a:solidFill>
                              <a:latin typeface="Cambria Math" panose="02040503050406030204" pitchFamily="18" charset="0"/>
                            </a:rPr>
                            <m:t>𝟐</m:t>
                          </m:r>
                        </m:sup>
                      </m:sSubSup>
                    </m:oMath>
                  </m:oMathPara>
                </a14:m>
                <a:endParaRPr lang="en-NZ" altLang="ja-JP" sz="2000" b="1" dirty="0">
                  <a:solidFill>
                    <a:schemeClr val="tx1"/>
                  </a:solidFill>
                </a:endParaRP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14" name="Text Placeholder 5">
                <a:extLst>
                  <a:ext uri="{FF2B5EF4-FFF2-40B4-BE49-F238E27FC236}">
                    <a16:creationId xmlns:a16="http://schemas.microsoft.com/office/drawing/2014/main" id="{BEC5C57F-F4A6-4304-8328-3AC1D5E886D8}"/>
                  </a:ext>
                </a:extLst>
              </p:cNvPr>
              <p:cNvSpPr txBox="1">
                <a:spLocks noRot="1" noChangeAspect="1" noMove="1" noResize="1" noEditPoints="1" noAdjustHandles="1" noChangeArrowheads="1" noChangeShapeType="1" noTextEdit="1"/>
              </p:cNvSpPr>
              <p:nvPr/>
            </p:nvSpPr>
            <p:spPr>
              <a:xfrm>
                <a:off x="1392073" y="3117947"/>
                <a:ext cx="9771796" cy="1494996"/>
              </a:xfrm>
              <a:prstGeom prst="rect">
                <a:avLst/>
              </a:prstGeom>
              <a:blipFill>
                <a:blip r:embed="rId3"/>
                <a:stretch>
                  <a:fillRect l="-624" t="-813"/>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4B582BA7-7A90-4BF6-9B9D-7682BC077235}"/>
              </a:ext>
            </a:extLst>
          </p:cNvPr>
          <p:cNvSpPr txBox="1">
            <a:spLocks/>
          </p:cNvSpPr>
          <p:nvPr/>
        </p:nvSpPr>
        <p:spPr>
          <a:xfrm>
            <a:off x="359899" y="5105919"/>
            <a:ext cx="1032174"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u="sng" dirty="0">
                <a:solidFill>
                  <a:schemeClr val="tx1"/>
                </a:solidFill>
              </a:rPr>
              <a:t>RULE 3:</a:t>
            </a:r>
          </a:p>
          <a:p>
            <a:pPr algn="just">
              <a:lnSpc>
                <a:spcPct val="100000"/>
              </a:lnSpc>
            </a:pPr>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B1367565-B8B1-467E-B4E2-5A9F56AEDE33}"/>
                  </a:ext>
                </a:extLst>
              </p:cNvPr>
              <p:cNvSpPr txBox="1">
                <a:spLocks/>
              </p:cNvSpPr>
              <p:nvPr/>
            </p:nvSpPr>
            <p:spPr>
              <a:xfrm>
                <a:off x="1392073" y="5053715"/>
                <a:ext cx="9771796" cy="149499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If </a:t>
                </a: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𝑾</m:t>
                        </m:r>
                      </m:e>
                      <m:sub>
                        <m:r>
                          <a:rPr lang="en-NZ" altLang="ja-JP" sz="2000" b="1" i="1" smtClean="0">
                            <a:solidFill>
                              <a:schemeClr val="tx1"/>
                            </a:solidFill>
                            <a:latin typeface="Cambria Math" panose="02040503050406030204" pitchFamily="18" charset="0"/>
                          </a:rPr>
                          <m:t>𝟏</m:t>
                        </m:r>
                      </m:sub>
                    </m:sSub>
                    <m:r>
                      <a:rPr lang="en-NZ" altLang="ja-JP" sz="2000" b="1" i="1" smtClean="0">
                        <a:solidFill>
                          <a:schemeClr val="tx1"/>
                        </a:solidFill>
                        <a:latin typeface="Cambria Math" panose="02040503050406030204" pitchFamily="18" charset="0"/>
                      </a:rPr>
                      <m:t> ~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𝟏</m:t>
                            </m:r>
                          </m:sub>
                        </m:sSub>
                      </m:sub>
                      <m:sup>
                        <m:r>
                          <a:rPr lang="en-NZ" altLang="ja-JP" sz="2000" b="1" i="1" smtClean="0">
                            <a:solidFill>
                              <a:schemeClr val="tx1"/>
                            </a:solidFill>
                            <a:latin typeface="Cambria Math" panose="02040503050406030204" pitchFamily="18" charset="0"/>
                          </a:rPr>
                          <m:t>𝟐</m:t>
                        </m:r>
                      </m:sup>
                    </m:sSubSup>
                  </m:oMath>
                </a14:m>
                <a:r>
                  <a:rPr lang="en-NZ" altLang="ja-JP" sz="2000" b="0" dirty="0">
                    <a:solidFill>
                      <a:schemeClr val="tx1"/>
                    </a:solidFill>
                  </a:rPr>
                  <a:t>  and   </a:t>
                </a: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𝑾</m:t>
                        </m:r>
                      </m:e>
                      <m:sub>
                        <m:r>
                          <a:rPr lang="en-NZ" altLang="ja-JP" sz="2000" b="1" i="1" smtClean="0">
                            <a:solidFill>
                              <a:schemeClr val="tx1"/>
                            </a:solidFill>
                            <a:latin typeface="Cambria Math" panose="02040503050406030204" pitchFamily="18" charset="0"/>
                          </a:rPr>
                          <m:t>𝟐</m:t>
                        </m:r>
                      </m:sub>
                    </m:sSub>
                    <m:r>
                      <a:rPr lang="en-NZ" altLang="ja-JP" sz="2000" b="1" i="1">
                        <a:solidFill>
                          <a:schemeClr val="tx1"/>
                        </a:solidFill>
                        <a:latin typeface="Cambria Math" panose="02040503050406030204" pitchFamily="18" charset="0"/>
                      </a:rPr>
                      <m:t> ~ </m:t>
                    </m:r>
                    <m:sSubSup>
                      <m:sSubSupPr>
                        <m:ctrlPr>
                          <a:rPr lang="en-NZ" altLang="ja-JP" sz="2000" b="1" i="1">
                            <a:solidFill>
                              <a:schemeClr val="tx1"/>
                            </a:solidFill>
                            <a:latin typeface="Cambria Math" panose="02040503050406030204" pitchFamily="18" charset="0"/>
                          </a:rPr>
                        </m:ctrlPr>
                      </m:sSubSupPr>
                      <m:e>
                        <m:r>
                          <a:rPr lang="en-NZ" altLang="ja-JP" sz="2000" b="1" i="1">
                            <a:solidFill>
                              <a:schemeClr val="tx1"/>
                            </a:solidFill>
                            <a:latin typeface="Cambria Math" panose="02040503050406030204" pitchFamily="18" charset="0"/>
                          </a:rPr>
                          <m:t>𝝌</m:t>
                        </m:r>
                      </m:e>
                      <m:sub>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𝟐</m:t>
                            </m:r>
                          </m:sub>
                        </m:sSub>
                      </m:sub>
                      <m:sup>
                        <m:r>
                          <a:rPr lang="en-NZ" altLang="ja-JP" sz="2000" b="1" i="1">
                            <a:solidFill>
                              <a:schemeClr val="tx1"/>
                            </a:solidFill>
                            <a:latin typeface="Cambria Math" panose="02040503050406030204" pitchFamily="18" charset="0"/>
                          </a:rPr>
                          <m:t>𝟐</m:t>
                        </m:r>
                      </m:sup>
                    </m:sSubSup>
                  </m:oMath>
                </a14:m>
                <a:r>
                  <a:rPr lang="en-NZ" altLang="ja-JP" sz="2000" b="0" dirty="0">
                    <a:solidFill>
                      <a:schemeClr val="tx1"/>
                    </a:solidFill>
                  </a:rPr>
                  <a:t>   are independent. Define </a:t>
                </a:r>
                <a14:m>
                  <m:oMath xmlns:m="http://schemas.openxmlformats.org/officeDocument/2006/math">
                    <m:r>
                      <a:rPr lang="en-NZ" altLang="ja-JP" sz="2000" b="1" i="1" smtClean="0">
                        <a:solidFill>
                          <a:schemeClr val="tx1"/>
                        </a:solidFill>
                        <a:latin typeface="Cambria Math" panose="02040503050406030204" pitchFamily="18" charset="0"/>
                      </a:rPr>
                      <m:t>𝑿</m:t>
                    </m:r>
                    <m:r>
                      <a:rPr lang="en-NZ" altLang="ja-JP" sz="2000" b="1" i="1" smtClean="0">
                        <a:solidFill>
                          <a:schemeClr val="tx1"/>
                        </a:solidFill>
                        <a:latin typeface="Cambria Math" panose="02040503050406030204" pitchFamily="18" charset="0"/>
                      </a:rPr>
                      <m:t>= </m:t>
                    </m:r>
                    <m:f>
                      <m:fPr>
                        <m:ctrlPr>
                          <a:rPr lang="en-NZ" altLang="ja-JP" sz="2000" b="1" i="1" smtClean="0">
                            <a:solidFill>
                              <a:schemeClr val="tx1"/>
                            </a:solidFill>
                            <a:latin typeface="Cambria Math" panose="02040503050406030204" pitchFamily="18" charset="0"/>
                          </a:rPr>
                        </m:ctrlPr>
                      </m:fPr>
                      <m:num>
                        <m:f>
                          <m:fPr>
                            <m:type m:val="lin"/>
                            <m:ctrlPr>
                              <a:rPr lang="en-NZ" altLang="ja-JP" sz="2000" b="1" i="1" smtClean="0">
                                <a:solidFill>
                                  <a:schemeClr val="tx1"/>
                                </a:solidFill>
                                <a:latin typeface="Cambria Math" panose="02040503050406030204" pitchFamily="18" charset="0"/>
                              </a:rPr>
                            </m:ctrlPr>
                          </m:fPr>
                          <m:num>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𝑾</m:t>
                                </m:r>
                              </m:e>
                              <m:sub>
                                <m:r>
                                  <a:rPr lang="en-NZ" altLang="ja-JP" sz="2000" b="1" i="1" smtClean="0">
                                    <a:solidFill>
                                      <a:schemeClr val="tx1"/>
                                    </a:solidFill>
                                    <a:latin typeface="Cambria Math" panose="02040503050406030204" pitchFamily="18" charset="0"/>
                                  </a:rPr>
                                  <m:t>𝟏</m:t>
                                </m:r>
                              </m:sub>
                            </m:sSub>
                          </m:num>
                          <m:den>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𝟏</m:t>
                                </m:r>
                              </m:sub>
                            </m:sSub>
                          </m:den>
                        </m:f>
                      </m:num>
                      <m:den>
                        <m:f>
                          <m:fPr>
                            <m:type m:val="lin"/>
                            <m:ctrlPr>
                              <a:rPr lang="en-NZ" altLang="ja-JP" sz="2000" b="1" i="1" smtClean="0">
                                <a:solidFill>
                                  <a:schemeClr val="tx1"/>
                                </a:solidFill>
                                <a:latin typeface="Cambria Math" panose="02040503050406030204" pitchFamily="18" charset="0"/>
                              </a:rPr>
                            </m:ctrlPr>
                          </m:fPr>
                          <m:num>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𝑾</m:t>
                                </m:r>
                              </m:e>
                              <m:sub>
                                <m:r>
                                  <a:rPr lang="en-NZ" altLang="ja-JP" sz="2000" b="1" i="1" smtClean="0">
                                    <a:solidFill>
                                      <a:schemeClr val="tx1"/>
                                    </a:solidFill>
                                    <a:latin typeface="Cambria Math" panose="02040503050406030204" pitchFamily="18" charset="0"/>
                                  </a:rPr>
                                  <m:t>𝟐</m:t>
                                </m:r>
                              </m:sub>
                            </m:sSub>
                          </m:num>
                          <m:den>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𝟐</m:t>
                                </m:r>
                              </m:sub>
                            </m:sSub>
                          </m:den>
                        </m:f>
                      </m:den>
                    </m:f>
                  </m:oMath>
                </a14:m>
                <a:r>
                  <a:rPr lang="en-NZ" altLang="ja-JP" sz="2000" b="0" dirty="0">
                    <a:solidFill>
                      <a:schemeClr val="tx1"/>
                    </a:solidFill>
                  </a:rPr>
                  <a:t> </a:t>
                </a:r>
              </a:p>
              <a:p>
                <a:pPr algn="just">
                  <a:lnSpc>
                    <a:spcPct val="100000"/>
                  </a:lnSpc>
                </a:pPr>
                <a:endParaRPr lang="en-NZ" altLang="ja-JP" sz="600" b="0" dirty="0">
                  <a:solidFill>
                    <a:schemeClr val="tx1"/>
                  </a:solidFill>
                </a:endParaRPr>
              </a:p>
              <a:p>
                <a:pPr algn="just">
                  <a:lnSpc>
                    <a:spcPct val="100000"/>
                  </a:lnSpc>
                </a:pPr>
                <a14:m>
                  <m:oMathPara xmlns:m="http://schemas.openxmlformats.org/officeDocument/2006/math">
                    <m:oMathParaPr>
                      <m:jc m:val="center"/>
                    </m:oMathParaPr>
                    <m:oMath xmlns:m="http://schemas.openxmlformats.org/officeDocument/2006/math">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𝑿</m:t>
                      </m:r>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𝑭</m:t>
                          </m:r>
                        </m:e>
                        <m: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𝟏</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𝒏</m:t>
                              </m:r>
                            </m:e>
                            <m:sub>
                              <m:r>
                                <a:rPr lang="en-NZ" altLang="ja-JP" sz="2000" b="1" i="1" smtClean="0">
                                  <a:solidFill>
                                    <a:schemeClr val="tx1"/>
                                  </a:solidFill>
                                  <a:latin typeface="Cambria Math" panose="02040503050406030204" pitchFamily="18" charset="0"/>
                                </a:rPr>
                                <m:t>𝟐</m:t>
                              </m:r>
                            </m:sub>
                          </m:sSub>
                        </m:sub>
                      </m:sSub>
                    </m:oMath>
                  </m:oMathPara>
                </a14:m>
                <a:endParaRPr lang="en-NZ" altLang="ja-JP" sz="2000" b="1" dirty="0">
                  <a:solidFill>
                    <a:schemeClr val="tx1"/>
                  </a:solidFill>
                </a:endParaRP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16" name="Text Placeholder 5">
                <a:extLst>
                  <a:ext uri="{FF2B5EF4-FFF2-40B4-BE49-F238E27FC236}">
                    <a16:creationId xmlns:a16="http://schemas.microsoft.com/office/drawing/2014/main" id="{B1367565-B8B1-467E-B4E2-5A9F56AEDE33}"/>
                  </a:ext>
                </a:extLst>
              </p:cNvPr>
              <p:cNvSpPr txBox="1">
                <a:spLocks noRot="1" noChangeAspect="1" noMove="1" noResize="1" noEditPoints="1" noAdjustHandles="1" noChangeArrowheads="1" noChangeShapeType="1" noTextEdit="1"/>
              </p:cNvSpPr>
              <p:nvPr/>
            </p:nvSpPr>
            <p:spPr>
              <a:xfrm>
                <a:off x="1392073" y="5053715"/>
                <a:ext cx="9771796" cy="1494996"/>
              </a:xfrm>
              <a:prstGeom prst="rect">
                <a:avLst/>
              </a:prstGeom>
              <a:blipFill>
                <a:blip r:embed="rId4"/>
                <a:stretch>
                  <a:fillRect l="-624"/>
                </a:stretch>
              </a:blipFill>
            </p:spPr>
            <p:txBody>
              <a:bodyPr/>
              <a:lstStyle/>
              <a:p>
                <a:r>
                  <a:rPr lang="en-NZ">
                    <a:noFill/>
                  </a:rPr>
                  <a:t> </a:t>
                </a:r>
              </a:p>
            </p:txBody>
          </p:sp>
        </mc:Fallback>
      </mc:AlternateContent>
      <p:sp>
        <p:nvSpPr>
          <p:cNvPr id="18" name="Footer Placeholder 2">
            <a:extLst>
              <a:ext uri="{FF2B5EF4-FFF2-40B4-BE49-F238E27FC236}">
                <a16:creationId xmlns:a16="http://schemas.microsoft.com/office/drawing/2014/main" id="{703B029D-942C-68FB-8296-7FBAAE093DFB}"/>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62063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30</a:t>
            </a:fld>
            <a:endParaRPr kumimoji="1" lang="ja-JP" altLang="en-US" dirty="0">
              <a:solidFill>
                <a:srgbClr val="575454">
                  <a:lumMod val="20000"/>
                  <a:lumOff val="80000"/>
                </a:srgbClr>
              </a:solidFill>
              <a:latin typeface="Coo Hew"/>
            </a:endParaRPr>
          </a:p>
        </p:txBody>
      </p:sp>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2.4b – Distribution of the F-Statistic:</a:t>
            </a:r>
            <a:endParaRPr lang="ja-JP" altLang="en-US" b="1" u="sng" dirty="0">
              <a:latin typeface="+mn-lt"/>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369974" y="996727"/>
                <a:ext cx="10754436" cy="16403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NZ" altLang="ja-JP" sz="2000" dirty="0">
                    <a:solidFill>
                      <a:schemeClr val="tx1"/>
                    </a:solidFill>
                  </a:rPr>
                  <a:t>By assumption the data in each group come from </a:t>
                </a:r>
                <a:r>
                  <a:rPr lang="en-NZ" altLang="ja-JP" sz="2000" i="1" dirty="0">
                    <a:solidFill>
                      <a:schemeClr val="tx1"/>
                    </a:solidFill>
                  </a:rPr>
                  <a:t>independent</a:t>
                </a:r>
                <a:r>
                  <a:rPr lang="en-NZ" altLang="ja-JP" sz="2000" dirty="0">
                    <a:solidFill>
                      <a:schemeClr val="tx1"/>
                    </a:solidFill>
                  </a:rPr>
                  <a:t> populations that are </a:t>
                </a:r>
                <a:r>
                  <a:rPr lang="en-NZ" altLang="ja-JP" sz="2000" i="1" dirty="0">
                    <a:solidFill>
                      <a:schemeClr val="tx1"/>
                    </a:solidFill>
                  </a:rPr>
                  <a:t>normally distributed </a:t>
                </a:r>
                <a:r>
                  <a:rPr lang="en-NZ" altLang="ja-JP" sz="2000" dirty="0">
                    <a:solidFill>
                      <a:schemeClr val="tx1"/>
                    </a:solidFill>
                  </a:rPr>
                  <a:t>and have </a:t>
                </a:r>
                <a:r>
                  <a:rPr lang="en-NZ" altLang="ja-JP" sz="2000" i="1" dirty="0">
                    <a:solidFill>
                      <a:schemeClr val="tx1"/>
                    </a:solidFill>
                  </a:rPr>
                  <a:t>equal variance </a:t>
                </a:r>
                <a14:m>
                  <m:oMath xmlns:m="http://schemas.openxmlformats.org/officeDocument/2006/math">
                    <m:sSup>
                      <m:sSupPr>
                        <m:ctrlPr>
                          <a:rPr lang="en-NZ" altLang="ja-JP" sz="2000" b="1" i="1" smtClean="0">
                            <a:solidFill>
                              <a:schemeClr val="tx1"/>
                            </a:solidFill>
                            <a:latin typeface="Cambria Math" panose="02040503050406030204" pitchFamily="18" charset="0"/>
                          </a:rPr>
                        </m:ctrlPr>
                      </m:sSupPr>
                      <m:e>
                        <m:r>
                          <a:rPr lang="en-NZ" altLang="ja-JP" sz="2000" b="1" i="1" smtClean="0">
                            <a:solidFill>
                              <a:schemeClr val="tx1"/>
                            </a:solidFill>
                            <a:latin typeface="Cambria Math" panose="02040503050406030204" pitchFamily="18" charset="0"/>
                          </a:rPr>
                          <m:t>𝝈</m:t>
                        </m:r>
                      </m:e>
                      <m:sup>
                        <m:r>
                          <a:rPr lang="en-NZ" altLang="ja-JP" sz="2000" b="1" i="1" smtClean="0">
                            <a:solidFill>
                              <a:schemeClr val="tx1"/>
                            </a:solidFill>
                            <a:latin typeface="Cambria Math" panose="02040503050406030204" pitchFamily="18" charset="0"/>
                          </a:rPr>
                          <m:t>𝟐</m:t>
                        </m:r>
                      </m:sup>
                    </m:sSup>
                  </m:oMath>
                </a14:m>
                <a:r>
                  <a:rPr lang="en-NZ" altLang="ja-JP" sz="2000" dirty="0">
                    <a:solidFill>
                      <a:schemeClr val="tx1"/>
                    </a:solidFill>
                  </a:rPr>
                  <a:t> </a:t>
                </a:r>
                <a:r>
                  <a:rPr lang="en-NZ" altLang="ja-JP" sz="2000" dirty="0">
                    <a:solidFill>
                      <a:schemeClr val="bg2">
                        <a:lumMod val="50000"/>
                      </a:schemeClr>
                    </a:solidFill>
                  </a:rPr>
                  <a:t>(the ANOVA conditions)</a:t>
                </a:r>
                <a:r>
                  <a:rPr lang="en-NZ" altLang="ja-JP" sz="2000" dirty="0">
                    <a:solidFill>
                      <a:schemeClr val="tx1"/>
                    </a:solidFill>
                  </a:rPr>
                  <a:t>. </a:t>
                </a:r>
                <a:br>
                  <a:rPr lang="en-NZ" altLang="ja-JP" sz="800" dirty="0">
                    <a:solidFill>
                      <a:schemeClr val="tx1"/>
                    </a:solidFill>
                  </a:rPr>
                </a:br>
                <a:br>
                  <a:rPr lang="en-NZ" altLang="ja-JP" sz="800" dirty="0">
                    <a:solidFill>
                      <a:schemeClr val="tx1"/>
                    </a:solidFill>
                  </a:rPr>
                </a:br>
                <a:r>
                  <a:rPr lang="en-NZ" altLang="ja-JP" sz="2000" dirty="0">
                    <a:solidFill>
                      <a:schemeClr val="tx1"/>
                    </a:solidFill>
                  </a:rPr>
                  <a:t>Under </a:t>
                </a:r>
                <a:r>
                  <a:rPr lang="en-NZ" altLang="ja-JP" sz="2000" b="1" i="1" dirty="0">
                    <a:solidFill>
                      <a:schemeClr val="tx1"/>
                    </a:solidFill>
                  </a:rPr>
                  <a:t>H</a:t>
                </a:r>
                <a:r>
                  <a:rPr lang="en-NZ" altLang="ja-JP" sz="2000" b="1" i="1" baseline="-25000" dirty="0">
                    <a:solidFill>
                      <a:schemeClr val="tx1"/>
                    </a:solidFill>
                  </a:rPr>
                  <a:t>0</a:t>
                </a:r>
                <a:r>
                  <a:rPr lang="en-NZ" altLang="ja-JP" sz="2000" b="1" i="1" dirty="0">
                    <a:solidFill>
                      <a:schemeClr val="tx1"/>
                    </a:solidFill>
                  </a:rPr>
                  <a:t> </a:t>
                </a:r>
                <a:r>
                  <a:rPr lang="en-NZ" altLang="ja-JP" sz="2000" dirty="0">
                    <a:solidFill>
                      <a:schemeClr val="tx1"/>
                    </a:solidFill>
                  </a:rPr>
                  <a:t>, the mean of all groups are the same and equal to </a:t>
                </a:r>
                <a14:m>
                  <m:oMath xmlns:m="http://schemas.openxmlformats.org/officeDocument/2006/math">
                    <m:r>
                      <a:rPr lang="en-NZ" altLang="ja-JP" sz="2000" b="1" i="1" smtClean="0">
                        <a:solidFill>
                          <a:schemeClr val="tx1"/>
                        </a:solidFill>
                        <a:latin typeface="Cambria Math" panose="02040503050406030204" pitchFamily="18" charset="0"/>
                      </a:rPr>
                      <m:t>𝝁</m:t>
                    </m:r>
                  </m:oMath>
                </a14:m>
                <a:r>
                  <a:rPr lang="en-NZ" altLang="ja-JP" sz="2000" dirty="0">
                    <a:solidFill>
                      <a:schemeClr val="tx1"/>
                    </a:solidFill>
                  </a:rPr>
                  <a:t>.</a:t>
                </a:r>
                <a:br>
                  <a:rPr lang="en-NZ" altLang="ja-JP" sz="2000" dirty="0">
                    <a:solidFill>
                      <a:schemeClr val="tx1"/>
                    </a:solidFill>
                  </a:rPr>
                </a:br>
                <a:r>
                  <a:rPr lang="en-NZ" altLang="ja-JP" sz="2000" dirty="0">
                    <a:solidFill>
                      <a:schemeClr val="tx1"/>
                    </a:solidFill>
                  </a:rPr>
                  <a:t>As such, </a:t>
                </a: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acc>
                          <m:accPr>
                            <m:chr m:val="̅"/>
                            <m:ctrlPr>
                              <a:rPr lang="en-NZ" altLang="ja-JP" sz="2000" b="1" i="1">
                                <a:solidFill>
                                  <a:schemeClr val="tx1"/>
                                </a:solidFill>
                                <a:latin typeface="Cambria Math" panose="02040503050406030204" pitchFamily="18" charset="0"/>
                              </a:rPr>
                            </m:ctrlPr>
                          </m:accPr>
                          <m:e>
                            <m:r>
                              <a:rPr lang="en-NZ" altLang="ja-JP" sz="2000" b="1" i="1">
                                <a:solidFill>
                                  <a:schemeClr val="tx1"/>
                                </a:solidFill>
                                <a:latin typeface="Cambria Math" panose="02040503050406030204" pitchFamily="18" charset="0"/>
                              </a:rPr>
                              <m:t>𝒀</m:t>
                            </m:r>
                          </m:e>
                        </m:acc>
                      </m:e>
                      <m:sub>
                        <m: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ea typeface="Cambria Math" panose="02040503050406030204" pitchFamily="18" charset="0"/>
                          </a:rPr>
                          <m:t>∙</m:t>
                        </m:r>
                      </m:sub>
                    </m:sSub>
                    <m:r>
                      <a:rPr lang="en-NZ" altLang="ja-JP" sz="2000" b="1" i="1" smtClean="0">
                        <a:solidFill>
                          <a:schemeClr val="tx1"/>
                        </a:solidFill>
                        <a:latin typeface="Cambria Math" panose="02040503050406030204" pitchFamily="18" charset="0"/>
                        <a:ea typeface="Cambria Math" panose="02040503050406030204" pitchFamily="18" charset="0"/>
                      </a:rPr>
                      <m:t> ~ </m:t>
                    </m:r>
                    <m:r>
                      <a:rPr lang="en-NZ" altLang="ja-JP" sz="2000" b="1" i="1" smtClean="0">
                        <a:solidFill>
                          <a:schemeClr val="tx1"/>
                        </a:solidFill>
                        <a:latin typeface="Cambria Math" panose="02040503050406030204" pitchFamily="18" charset="0"/>
                        <a:ea typeface="Cambria Math" panose="02040503050406030204" pitchFamily="18" charset="0"/>
                      </a:rPr>
                      <m:t>𝑵</m:t>
                    </m:r>
                    <m:r>
                      <a:rPr lang="en-NZ" altLang="ja-JP" sz="2000" b="1" i="1" smtClean="0">
                        <a:solidFill>
                          <a:schemeClr val="tx1"/>
                        </a:solidFill>
                        <a:latin typeface="Cambria Math" panose="02040503050406030204" pitchFamily="18" charset="0"/>
                        <a:ea typeface="Cambria Math" panose="02040503050406030204" pitchFamily="18" charset="0"/>
                      </a:rPr>
                      <m:t>( </m:t>
                    </m:r>
                    <m:r>
                      <a:rPr lang="en-NZ" altLang="ja-JP" sz="2000" b="1" i="1" smtClean="0">
                        <a:solidFill>
                          <a:schemeClr val="tx1"/>
                        </a:solidFill>
                        <a:latin typeface="Cambria Math" panose="02040503050406030204" pitchFamily="18" charset="0"/>
                        <a:ea typeface="Cambria Math" panose="02040503050406030204" pitchFamily="18" charset="0"/>
                      </a:rPr>
                      <m:t>𝝁</m:t>
                    </m:r>
                    <m:r>
                      <a:rPr lang="en-NZ" altLang="ja-JP" sz="2000" b="1" i="1" smtClean="0">
                        <a:solidFill>
                          <a:schemeClr val="tx1"/>
                        </a:solidFill>
                        <a:latin typeface="Cambria Math" panose="02040503050406030204" pitchFamily="18" charset="0"/>
                        <a:ea typeface="Cambria Math" panose="02040503050406030204" pitchFamily="18" charset="0"/>
                      </a:rPr>
                      <m:t> , </m:t>
                    </m:r>
                    <m:f>
                      <m:fPr>
                        <m:ctrlPr>
                          <a:rPr lang="en-NZ" altLang="ja-JP" sz="2000" b="1" i="1" smtClean="0">
                            <a:solidFill>
                              <a:schemeClr val="tx1"/>
                            </a:solidFill>
                            <a:latin typeface="Cambria Math" panose="02040503050406030204" pitchFamily="18" charset="0"/>
                            <a:ea typeface="Cambria Math" panose="02040503050406030204" pitchFamily="18" charset="0"/>
                          </a:rPr>
                        </m:ctrlPr>
                      </m:fPr>
                      <m:num>
                        <m:sSup>
                          <m:sSupPr>
                            <m:ctrlPr>
                              <a:rPr lang="en-NZ" altLang="ja-JP" sz="2000" b="1" i="1" smtClean="0">
                                <a:solidFill>
                                  <a:schemeClr val="tx1"/>
                                </a:solidFill>
                                <a:latin typeface="Cambria Math" panose="02040503050406030204" pitchFamily="18" charset="0"/>
                                <a:ea typeface="Cambria Math" panose="02040503050406030204" pitchFamily="18" charset="0"/>
                              </a:rPr>
                            </m:ctrlPr>
                          </m:sSupPr>
                          <m:e>
                            <m:r>
                              <a:rPr lang="en-NZ" altLang="ja-JP" sz="2000" b="1" i="1" smtClean="0">
                                <a:solidFill>
                                  <a:schemeClr val="tx1"/>
                                </a:solidFill>
                                <a:latin typeface="Cambria Math" panose="02040503050406030204" pitchFamily="18" charset="0"/>
                                <a:ea typeface="Cambria Math" panose="02040503050406030204" pitchFamily="18" charset="0"/>
                              </a:rPr>
                              <m:t>𝝈</m:t>
                            </m:r>
                          </m:e>
                          <m:sup>
                            <m:r>
                              <a:rPr lang="en-NZ" altLang="ja-JP" sz="2000" b="1" i="1" smtClean="0">
                                <a:solidFill>
                                  <a:schemeClr val="tx1"/>
                                </a:solidFill>
                                <a:latin typeface="Cambria Math" panose="02040503050406030204" pitchFamily="18" charset="0"/>
                                <a:ea typeface="Cambria Math" panose="02040503050406030204" pitchFamily="18" charset="0"/>
                              </a:rPr>
                              <m:t>𝟐</m:t>
                            </m:r>
                          </m:sup>
                        </m:sSup>
                      </m:num>
                      <m:den>
                        <m:r>
                          <a:rPr lang="en-NZ" altLang="ja-JP" sz="2000" b="1" i="1" smtClean="0">
                            <a:solidFill>
                              <a:schemeClr val="tx1"/>
                            </a:solidFill>
                            <a:latin typeface="Cambria Math" panose="02040503050406030204" pitchFamily="18" charset="0"/>
                            <a:ea typeface="Cambria Math" panose="02040503050406030204" pitchFamily="18" charset="0"/>
                          </a:rPr>
                          <m:t>𝒏</m:t>
                        </m:r>
                      </m:den>
                    </m:f>
                    <m:r>
                      <a:rPr lang="en-NZ" altLang="ja-JP" sz="2000" b="1" i="1" smtClean="0">
                        <a:solidFill>
                          <a:schemeClr val="tx1"/>
                        </a:solidFill>
                        <a:latin typeface="Cambria Math" panose="02040503050406030204" pitchFamily="18" charset="0"/>
                        <a:ea typeface="Cambria Math" panose="02040503050406030204" pitchFamily="18" charset="0"/>
                      </a:rPr>
                      <m:t> )</m:t>
                    </m:r>
                  </m:oMath>
                </a14:m>
                <a:r>
                  <a:rPr lang="en-NZ" altLang="ja-JP" sz="2000" dirty="0">
                    <a:solidFill>
                      <a:schemeClr val="tx1"/>
                    </a:solidFill>
                  </a:rPr>
                  <a:t>  by virtue of the fact that </a:t>
                </a:r>
                <a14:m>
                  <m:oMath xmlns:m="http://schemas.openxmlformats.org/officeDocument/2006/math">
                    <m:sSub>
                      <m:sSubPr>
                        <m:ctrlPr>
                          <a:rPr lang="en-NZ" altLang="ja-JP" sz="2000" b="1" i="1">
                            <a:solidFill>
                              <a:schemeClr val="tx1"/>
                            </a:solidFill>
                            <a:latin typeface="Cambria Math" panose="02040503050406030204" pitchFamily="18" charset="0"/>
                          </a:rPr>
                        </m:ctrlPr>
                      </m:sSubPr>
                      <m:e>
                        <m:acc>
                          <m:accPr>
                            <m:chr m:val="̅"/>
                            <m:ctrlPr>
                              <a:rPr lang="en-NZ" altLang="ja-JP" sz="2000" b="1" i="1">
                                <a:solidFill>
                                  <a:schemeClr val="tx1"/>
                                </a:solidFill>
                                <a:latin typeface="Cambria Math" panose="02040503050406030204" pitchFamily="18" charset="0"/>
                              </a:rPr>
                            </m:ctrlPr>
                          </m:accPr>
                          <m:e>
                            <m:r>
                              <a:rPr lang="en-NZ" altLang="ja-JP" sz="2000" b="1" i="1">
                                <a:solidFill>
                                  <a:schemeClr val="tx1"/>
                                </a:solidFill>
                                <a:latin typeface="Cambria Math" panose="02040503050406030204" pitchFamily="18" charset="0"/>
                              </a:rPr>
                              <m:t>𝒀</m:t>
                            </m:r>
                          </m:e>
                        </m:acc>
                      </m:e>
                      <m:sub>
                        <m:r>
                          <a:rPr lang="en-NZ" altLang="ja-JP" sz="2000" b="1" i="1">
                            <a:solidFill>
                              <a:schemeClr val="tx1"/>
                            </a:solidFill>
                            <a:latin typeface="Cambria Math" panose="02040503050406030204" pitchFamily="18" charset="0"/>
                          </a:rPr>
                          <m:t>𝒊</m:t>
                        </m:r>
                        <m:r>
                          <a:rPr lang="en-NZ" altLang="ja-JP" sz="2000" b="1" i="1">
                            <a:solidFill>
                              <a:schemeClr val="tx1"/>
                            </a:solidFill>
                            <a:latin typeface="Cambria Math" panose="02040503050406030204" pitchFamily="18" charset="0"/>
                            <a:ea typeface="Cambria Math" panose="02040503050406030204" pitchFamily="18" charset="0"/>
                          </a:rPr>
                          <m:t>∙</m:t>
                        </m:r>
                      </m:sub>
                    </m:sSub>
                  </m:oMath>
                </a14:m>
                <a:r>
                  <a:rPr lang="en-NZ" altLang="ja-JP" sz="2000" dirty="0">
                    <a:solidFill>
                      <a:schemeClr val="tx1"/>
                    </a:solidFill>
                  </a:rPr>
                  <a:t> is a sample mean.  </a:t>
                </a: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8" name="Text Placeholder 5">
                <a:extLst>
                  <a:ext uri="{FF2B5EF4-FFF2-40B4-BE49-F238E27FC236}">
                    <a16:creationId xmlns:a16="http://schemas.microsoft.com/office/drawing/2014/main" id="{48B79D50-9E13-4AD2-A06B-5130BB9354C5}"/>
                  </a:ext>
                </a:extLst>
              </p:cNvPr>
              <p:cNvSpPr txBox="1">
                <a:spLocks noRot="1" noChangeAspect="1" noMove="1" noResize="1" noEditPoints="1" noAdjustHandles="1" noChangeArrowheads="1" noChangeShapeType="1" noTextEdit="1"/>
              </p:cNvSpPr>
              <p:nvPr/>
            </p:nvSpPr>
            <p:spPr>
              <a:xfrm>
                <a:off x="369974" y="996727"/>
                <a:ext cx="10754436" cy="1640317"/>
              </a:xfrm>
              <a:prstGeom prst="rect">
                <a:avLst/>
              </a:prstGeom>
              <a:blipFill>
                <a:blip r:embed="rId2"/>
                <a:stretch>
                  <a:fillRect l="-624" t="-2602" b="-185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E015DD69-8869-4055-8355-0C845BE70E9D}"/>
                  </a:ext>
                </a:extLst>
              </p:cNvPr>
              <p:cNvSpPr txBox="1">
                <a:spLocks/>
              </p:cNvSpPr>
              <p:nvPr/>
            </p:nvSpPr>
            <p:spPr>
              <a:xfrm>
                <a:off x="1249779" y="3006494"/>
                <a:ext cx="3989696" cy="10027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𝑺𝑺𝑻</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den>
                      </m:f>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e>
                          </m:nary>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1" name="Text Placeholder 5">
                <a:extLst>
                  <a:ext uri="{FF2B5EF4-FFF2-40B4-BE49-F238E27FC236}">
                    <a16:creationId xmlns:a16="http://schemas.microsoft.com/office/drawing/2014/main" id="{E015DD69-8869-4055-8355-0C845BE70E9D}"/>
                  </a:ext>
                </a:extLst>
              </p:cNvPr>
              <p:cNvSpPr txBox="1">
                <a:spLocks noRot="1" noChangeAspect="1" noMove="1" noResize="1" noEditPoints="1" noAdjustHandles="1" noChangeArrowheads="1" noChangeShapeType="1" noTextEdit="1"/>
              </p:cNvSpPr>
              <p:nvPr/>
            </p:nvSpPr>
            <p:spPr>
              <a:xfrm>
                <a:off x="1249779" y="3006494"/>
                <a:ext cx="3989696" cy="100279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88DCAD25-545D-4C3B-AEA6-3F6C8FBAB667}"/>
                  </a:ext>
                </a:extLst>
              </p:cNvPr>
              <p:cNvSpPr txBox="1">
                <a:spLocks/>
              </p:cNvSpPr>
              <p:nvPr/>
            </p:nvSpPr>
            <p:spPr>
              <a:xfrm>
                <a:off x="8150201" y="5335333"/>
                <a:ext cx="2725003" cy="1051880"/>
              </a:xfrm>
              <a:prstGeom prst="rect">
                <a:avLst/>
              </a:prstGeom>
              <a:ln>
                <a:solidFill>
                  <a:schemeClr val="bg2">
                    <a:lumMod val="50000"/>
                  </a:schemeClr>
                </a:solid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u="sng" dirty="0">
                    <a:solidFill>
                      <a:srgbClr val="C00000"/>
                    </a:solidFill>
                    <a:latin typeface="Cambria Math" panose="02040503050406030204" pitchFamily="18" charset="0"/>
                  </a:rPr>
                  <a:t>Conclusion 1</a:t>
                </a:r>
              </a:p>
              <a:p>
                <a:pPr algn="just">
                  <a:lnSpc>
                    <a:spcPct val="100000"/>
                  </a:lnSpc>
                </a:pPr>
                <a14:m>
                  <m:oMathPara xmlns:m="http://schemas.openxmlformats.org/officeDocument/2006/math">
                    <m:oMathParaPr>
                      <m:jc m:val="center"/>
                    </m:oMathParaPr>
                    <m:oMath xmlns:m="http://schemas.openxmlformats.org/officeDocument/2006/math">
                      <m:r>
                        <a:rPr lang="en-NZ" altLang="ja-JP" sz="1800" b="1" i="1" smtClean="0">
                          <a:solidFill>
                            <a:srgbClr val="C00000"/>
                          </a:solidFill>
                          <a:latin typeface="Cambria Math" panose="02040503050406030204" pitchFamily="18" charset="0"/>
                        </a:rPr>
                        <m:t>⇒  </m:t>
                      </m:r>
                      <m:f>
                        <m:fPr>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𝟏</m:t>
                          </m:r>
                        </m:num>
                        <m:den>
                          <m:sSup>
                            <m:sSupPr>
                              <m:ctrlPr>
                                <a:rPr lang="en-NZ" altLang="ja-JP" sz="1800" b="1" i="1" smtClean="0">
                                  <a:solidFill>
                                    <a:srgbClr val="C00000"/>
                                  </a:solidFill>
                                  <a:latin typeface="Cambria Math" panose="02040503050406030204" pitchFamily="18" charset="0"/>
                                </a:rPr>
                              </m:ctrlPr>
                            </m:sSupPr>
                            <m:e>
                              <m:r>
                                <a:rPr lang="en-NZ" altLang="ja-JP" sz="1800" b="1" i="1" smtClean="0">
                                  <a:solidFill>
                                    <a:srgbClr val="C00000"/>
                                  </a:solidFill>
                                  <a:latin typeface="Cambria Math" panose="02040503050406030204" pitchFamily="18" charset="0"/>
                                </a:rPr>
                                <m:t>𝝈</m:t>
                              </m:r>
                            </m:e>
                            <m:sup>
                              <m:r>
                                <a:rPr lang="en-NZ" altLang="ja-JP" sz="1800" b="1" i="1" smtClean="0">
                                  <a:solidFill>
                                    <a:srgbClr val="C00000"/>
                                  </a:solidFill>
                                  <a:latin typeface="Cambria Math" panose="02040503050406030204" pitchFamily="18" charset="0"/>
                                </a:rPr>
                                <m:t>𝟐</m:t>
                              </m:r>
                            </m:sup>
                          </m:sSup>
                        </m:den>
                      </m:f>
                      <m: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𝑺𝑺𝑻</m:t>
                      </m:r>
                      <m:r>
                        <a:rPr lang="en-NZ" altLang="ja-JP" sz="1800" b="1" i="1" smtClean="0">
                          <a:solidFill>
                            <a:srgbClr val="C00000"/>
                          </a:solidFill>
                          <a:latin typeface="Cambria Math" panose="02040503050406030204" pitchFamily="18" charset="0"/>
                        </a:rPr>
                        <m:t>  ~ </m:t>
                      </m:r>
                      <m:sSubSup>
                        <m:sSubSupPr>
                          <m:ctrlPr>
                            <a:rPr lang="en-NZ" altLang="ja-JP" sz="1800" b="1" i="1">
                              <a:solidFill>
                                <a:srgbClr val="C00000"/>
                              </a:solidFill>
                              <a:latin typeface="Cambria Math" panose="02040503050406030204" pitchFamily="18" charset="0"/>
                            </a:rPr>
                          </m:ctrlPr>
                        </m:sSubSupPr>
                        <m:e>
                          <m:r>
                            <a:rPr lang="en-NZ" altLang="ja-JP" sz="1800" b="1" i="1">
                              <a:solidFill>
                                <a:srgbClr val="C00000"/>
                              </a:solidFill>
                              <a:latin typeface="Cambria Math" panose="02040503050406030204" pitchFamily="18" charset="0"/>
                            </a:rPr>
                            <m:t>𝝌</m:t>
                          </m:r>
                        </m:e>
                        <m:sub>
                          <m:r>
                            <a:rPr lang="en-NZ" altLang="ja-JP" sz="1800" b="1" i="1" smtClean="0">
                              <a:solidFill>
                                <a:srgbClr val="C00000"/>
                              </a:solidFill>
                              <a:latin typeface="Cambria Math" panose="02040503050406030204" pitchFamily="18" charset="0"/>
                            </a:rPr>
                            <m:t>𝒌</m:t>
                          </m:r>
                          <m:r>
                            <a:rPr lang="en-NZ" altLang="ja-JP" sz="1800" b="1" i="1" smtClean="0">
                              <a:solidFill>
                                <a:srgbClr val="C00000"/>
                              </a:solidFill>
                              <a:latin typeface="Cambria Math" panose="02040503050406030204" pitchFamily="18" charset="0"/>
                            </a:rPr>
                            <m:t>−</m:t>
                          </m:r>
                          <m:r>
                            <a:rPr lang="en-NZ" altLang="ja-JP" sz="1800" b="1" i="1" smtClean="0">
                              <a:solidFill>
                                <a:srgbClr val="C00000"/>
                              </a:solidFill>
                              <a:latin typeface="Cambria Math" panose="02040503050406030204" pitchFamily="18" charset="0"/>
                            </a:rPr>
                            <m:t>𝟏</m:t>
                          </m:r>
                        </m:sub>
                        <m:sup>
                          <m:r>
                            <a:rPr lang="en-NZ" altLang="ja-JP" sz="1800" b="1" i="1">
                              <a:solidFill>
                                <a:srgbClr val="C00000"/>
                              </a:solidFill>
                              <a:latin typeface="Cambria Math" panose="02040503050406030204" pitchFamily="18" charset="0"/>
                            </a:rPr>
                            <m:t>𝟐</m:t>
                          </m:r>
                        </m:sup>
                      </m:sSubSup>
                    </m:oMath>
                  </m:oMathPara>
                </a14:m>
                <a:endParaRPr lang="en-NZ" altLang="ja-JP" sz="1800" dirty="0">
                  <a:solidFill>
                    <a:srgbClr val="C00000"/>
                  </a:solidFill>
                </a:endParaRPr>
              </a:p>
              <a:p>
                <a:pPr algn="just">
                  <a:lnSpc>
                    <a:spcPct val="100000"/>
                  </a:lnSpc>
                </a:pPr>
                <a:endParaRPr lang="en-NZ" altLang="ja-JP" sz="1800" i="1" dirty="0">
                  <a:solidFill>
                    <a:srgbClr val="C00000"/>
                  </a:solidFill>
                </a:endParaRPr>
              </a:p>
            </p:txBody>
          </p:sp>
        </mc:Choice>
        <mc:Fallback xmlns="">
          <p:sp>
            <p:nvSpPr>
              <p:cNvPr id="29" name="Text Placeholder 5">
                <a:extLst>
                  <a:ext uri="{FF2B5EF4-FFF2-40B4-BE49-F238E27FC236}">
                    <a16:creationId xmlns:a16="http://schemas.microsoft.com/office/drawing/2014/main" id="{88DCAD25-545D-4C3B-AEA6-3F6C8FBAB667}"/>
                  </a:ext>
                </a:extLst>
              </p:cNvPr>
              <p:cNvSpPr txBox="1">
                <a:spLocks noRot="1" noChangeAspect="1" noMove="1" noResize="1" noEditPoints="1" noAdjustHandles="1" noChangeArrowheads="1" noChangeShapeType="1" noTextEdit="1"/>
              </p:cNvSpPr>
              <p:nvPr/>
            </p:nvSpPr>
            <p:spPr>
              <a:xfrm>
                <a:off x="8150201" y="5335333"/>
                <a:ext cx="2725003" cy="1051880"/>
              </a:xfrm>
              <a:prstGeom prst="rect">
                <a:avLst/>
              </a:prstGeom>
              <a:blipFill>
                <a:blip r:embed="rId4"/>
                <a:stretch>
                  <a:fillRect t="-2857"/>
                </a:stretch>
              </a:blipFill>
              <a:ln>
                <a:solidFill>
                  <a:schemeClr val="bg2">
                    <a:lumMod val="50000"/>
                  </a:schemeClr>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349330B6-8151-494F-A188-BFC7392527B6}"/>
                  </a:ext>
                </a:extLst>
              </p:cNvPr>
              <p:cNvSpPr txBox="1">
                <a:spLocks/>
              </p:cNvSpPr>
              <p:nvPr/>
            </p:nvSpPr>
            <p:spPr>
              <a:xfrm>
                <a:off x="2084566" y="3963185"/>
                <a:ext cx="3989696" cy="10027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den>
                      </m:f>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27" name="Text Placeholder 5">
                <a:extLst>
                  <a:ext uri="{FF2B5EF4-FFF2-40B4-BE49-F238E27FC236}">
                    <a16:creationId xmlns:a16="http://schemas.microsoft.com/office/drawing/2014/main" id="{349330B6-8151-494F-A188-BFC7392527B6}"/>
                  </a:ext>
                </a:extLst>
              </p:cNvPr>
              <p:cNvSpPr txBox="1">
                <a:spLocks noRot="1" noChangeAspect="1" noMove="1" noResize="1" noEditPoints="1" noAdjustHandles="1" noChangeArrowheads="1" noChangeShapeType="1" noTextEdit="1"/>
              </p:cNvSpPr>
              <p:nvPr/>
            </p:nvSpPr>
            <p:spPr>
              <a:xfrm>
                <a:off x="2084566" y="3963185"/>
                <a:ext cx="3989696" cy="1002793"/>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F33D0287-620E-46AA-A3C6-96D15B63C2B4}"/>
                  </a:ext>
                </a:extLst>
              </p:cNvPr>
              <p:cNvSpPr txBox="1">
                <a:spLocks/>
              </p:cNvSpPr>
              <p:nvPr/>
            </p:nvSpPr>
            <p:spPr>
              <a:xfrm>
                <a:off x="2084565" y="4884946"/>
                <a:ext cx="5953966" cy="10027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m:t>
                      </m:r>
                      <m:f>
                        <m:fPr>
                          <m:ctrlPr>
                            <a:rPr lang="en-NZ" altLang="ja-JP" sz="1800" b="1" i="1">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𝒏</m:t>
                          </m:r>
                          <m:r>
                            <a:rPr lang="en-NZ" altLang="ja-JP" sz="1800" b="1" i="1" smtClean="0">
                              <a:solidFill>
                                <a:schemeClr val="tx1"/>
                              </a:solidFill>
                              <a:latin typeface="Cambria Math" panose="02040503050406030204" pitchFamily="18" charset="0"/>
                            </a:rPr>
                            <m:t> </m:t>
                          </m:r>
                          <m:f>
                            <m:fPr>
                              <m:type m:val="lin"/>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den>
                          </m:f>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f>
                            <m:fPr>
                              <m:type m:val="lin"/>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𝒏</m:t>
                              </m:r>
                            </m:den>
                          </m:f>
                        </m:den>
                      </m:f>
                      <m:r>
                        <a:rPr lang="en-NZ" altLang="ja-JP" sz="1800" b="1" i="1" smtClean="0">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𝒏</m:t>
                          </m:r>
                        </m:den>
                      </m:f>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oMath>
                  </m:oMathPara>
                </a14:m>
                <a:endParaRPr lang="en-NZ" altLang="ja-JP" sz="1800" b="1"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30" name="Text Placeholder 5">
                <a:extLst>
                  <a:ext uri="{FF2B5EF4-FFF2-40B4-BE49-F238E27FC236}">
                    <a16:creationId xmlns:a16="http://schemas.microsoft.com/office/drawing/2014/main" id="{F33D0287-620E-46AA-A3C6-96D15B63C2B4}"/>
                  </a:ext>
                </a:extLst>
              </p:cNvPr>
              <p:cNvSpPr txBox="1">
                <a:spLocks noRot="1" noChangeAspect="1" noMove="1" noResize="1" noEditPoints="1" noAdjustHandles="1" noChangeArrowheads="1" noChangeShapeType="1" noTextEdit="1"/>
              </p:cNvSpPr>
              <p:nvPr/>
            </p:nvSpPr>
            <p:spPr>
              <a:xfrm>
                <a:off x="2084565" y="4884946"/>
                <a:ext cx="5953966" cy="1002793"/>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340E7431-4DD2-4050-BF1F-46CAAFFCCD5D}"/>
                  </a:ext>
                </a:extLst>
              </p:cNvPr>
              <p:cNvSpPr txBox="1">
                <a:spLocks/>
              </p:cNvSpPr>
              <p:nvPr/>
            </p:nvSpPr>
            <p:spPr>
              <a:xfrm>
                <a:off x="2084566" y="5922669"/>
                <a:ext cx="1501254" cy="6294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2000" b="1" i="1" smtClean="0">
                          <a:solidFill>
                            <a:schemeClr val="tx1"/>
                          </a:solidFill>
                          <a:latin typeface="Cambria Math" panose="02040503050406030204" pitchFamily="18" charset="0"/>
                        </a:rPr>
                        <m:t>~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r>
                            <a:rPr lang="en-NZ" altLang="ja-JP" sz="2000" b="1" i="1" smtClean="0">
                              <a:solidFill>
                                <a:schemeClr val="tx1"/>
                              </a:solidFill>
                              <a:latin typeface="Cambria Math" panose="02040503050406030204" pitchFamily="18" charset="0"/>
                            </a:rPr>
                            <m:t>𝒌</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sub>
                        <m:sup>
                          <m:r>
                            <a:rPr lang="en-NZ" altLang="ja-JP" sz="2000" b="1" i="1" smtClean="0">
                              <a:solidFill>
                                <a:schemeClr val="tx1"/>
                              </a:solidFill>
                              <a:latin typeface="Cambria Math" panose="02040503050406030204" pitchFamily="18" charset="0"/>
                            </a:rPr>
                            <m:t>𝟐</m:t>
                          </m:r>
                        </m:sup>
                      </m:sSubSup>
                    </m:oMath>
                  </m:oMathPara>
                </a14:m>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31" name="Text Placeholder 5">
                <a:extLst>
                  <a:ext uri="{FF2B5EF4-FFF2-40B4-BE49-F238E27FC236}">
                    <a16:creationId xmlns:a16="http://schemas.microsoft.com/office/drawing/2014/main" id="{340E7431-4DD2-4050-BF1F-46CAAFFCCD5D}"/>
                  </a:ext>
                </a:extLst>
              </p:cNvPr>
              <p:cNvSpPr txBox="1">
                <a:spLocks noRot="1" noChangeAspect="1" noMove="1" noResize="1" noEditPoints="1" noAdjustHandles="1" noChangeArrowheads="1" noChangeShapeType="1" noTextEdit="1"/>
              </p:cNvSpPr>
              <p:nvPr/>
            </p:nvSpPr>
            <p:spPr>
              <a:xfrm>
                <a:off x="2084566" y="5922669"/>
                <a:ext cx="1501254" cy="629437"/>
              </a:xfrm>
              <a:prstGeom prst="rect">
                <a:avLst/>
              </a:prstGeom>
              <a:blipFill>
                <a:blip r:embed="rId7"/>
                <a:stretch>
                  <a:fillRect/>
                </a:stretch>
              </a:blipFill>
            </p:spPr>
            <p:txBody>
              <a:bodyPr/>
              <a:lstStyle/>
              <a:p>
                <a:r>
                  <a:rPr lang="en-NZ">
                    <a:noFill/>
                  </a:rPr>
                  <a:t> </a:t>
                </a:r>
              </a:p>
            </p:txBody>
          </p:sp>
        </mc:Fallback>
      </mc:AlternateContent>
      <p:sp>
        <p:nvSpPr>
          <p:cNvPr id="32" name="TextBox 31">
            <a:extLst>
              <a:ext uri="{FF2B5EF4-FFF2-40B4-BE49-F238E27FC236}">
                <a16:creationId xmlns:a16="http://schemas.microsoft.com/office/drawing/2014/main" id="{F6C14844-7811-440E-A12F-7E8D69521034}"/>
              </a:ext>
            </a:extLst>
          </p:cNvPr>
          <p:cNvSpPr txBox="1"/>
          <p:nvPr/>
        </p:nvSpPr>
        <p:spPr>
          <a:xfrm>
            <a:off x="3585820" y="5997991"/>
            <a:ext cx="2069474" cy="369332"/>
          </a:xfrm>
          <a:prstGeom prst="rect">
            <a:avLst/>
          </a:prstGeom>
          <a:noFill/>
        </p:spPr>
        <p:txBody>
          <a:bodyPr wrap="square">
            <a:spAutoFit/>
          </a:bodyPr>
          <a:lstStyle/>
          <a:p>
            <a:r>
              <a:rPr lang="en-NZ" dirty="0">
                <a:solidFill>
                  <a:srgbClr val="002060"/>
                </a:solidFill>
              </a:rPr>
              <a:t>by Rule 1</a:t>
            </a:r>
          </a:p>
        </p:txBody>
      </p:sp>
      <p:sp>
        <p:nvSpPr>
          <p:cNvPr id="14" name="Footer Placeholder 2">
            <a:extLst>
              <a:ext uri="{FF2B5EF4-FFF2-40B4-BE49-F238E27FC236}">
                <a16:creationId xmlns:a16="http://schemas.microsoft.com/office/drawing/2014/main" id="{680413F8-F8EF-EAA6-FD0A-97A9B696EBC3}"/>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AB39F8E6-78A0-20D7-F3EF-3D0957E94D2B}"/>
                  </a:ext>
                </a:extLst>
              </p:cNvPr>
              <p:cNvSpPr txBox="1">
                <a:spLocks/>
              </p:cNvSpPr>
              <p:nvPr/>
            </p:nvSpPr>
            <p:spPr>
              <a:xfrm>
                <a:off x="6764454" y="3372441"/>
                <a:ext cx="5427546" cy="16403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b="1" u="sng" dirty="0">
                    <a:solidFill>
                      <a:srgbClr val="002060"/>
                    </a:solidFill>
                  </a:rPr>
                  <a:t>Rule 1</a:t>
                </a:r>
              </a:p>
              <a:p>
                <a:pPr algn="ctr">
                  <a:lnSpc>
                    <a:spcPct val="100000"/>
                  </a:lnSpc>
                </a:pPr>
                <a:r>
                  <a:rPr lang="en-NZ" altLang="ja-JP" sz="1400" dirty="0">
                    <a:solidFill>
                      <a:srgbClr val="002060"/>
                    </a:solidFill>
                  </a:rPr>
                  <a:t>If </a:t>
                </a:r>
                <a:r>
                  <a:rPr lang="en-NZ" altLang="ja-JP" sz="1400" b="1" i="1" dirty="0">
                    <a:solidFill>
                      <a:srgbClr val="002060"/>
                    </a:solidFill>
                  </a:rPr>
                  <a:t>X</a:t>
                </a:r>
                <a:r>
                  <a:rPr lang="en-NZ" altLang="ja-JP" sz="1400" b="1" i="1" baseline="-25000" dirty="0">
                    <a:solidFill>
                      <a:srgbClr val="002060"/>
                    </a:solidFill>
                  </a:rPr>
                  <a:t>1</a:t>
                </a:r>
                <a:r>
                  <a:rPr lang="en-NZ" altLang="ja-JP" sz="1400" b="1" i="1" dirty="0">
                    <a:solidFill>
                      <a:srgbClr val="002060"/>
                    </a:solidFill>
                  </a:rPr>
                  <a:t> , … , </a:t>
                </a:r>
                <a:r>
                  <a:rPr lang="en-NZ" altLang="ja-JP" sz="1400" b="1" i="1" dirty="0" err="1">
                    <a:solidFill>
                      <a:srgbClr val="002060"/>
                    </a:solidFill>
                  </a:rPr>
                  <a:t>X</a:t>
                </a:r>
                <a:r>
                  <a:rPr lang="en-NZ" altLang="ja-JP" sz="1400" b="1" i="1" baseline="-25000" dirty="0" err="1">
                    <a:solidFill>
                      <a:srgbClr val="002060"/>
                    </a:solidFill>
                  </a:rPr>
                  <a:t>n</a:t>
                </a:r>
                <a:r>
                  <a:rPr lang="en-NZ" altLang="ja-JP" sz="1400" dirty="0">
                    <a:solidFill>
                      <a:srgbClr val="002060"/>
                    </a:solidFill>
                  </a:rPr>
                  <a:t>   are   </a:t>
                </a:r>
                <a:r>
                  <a:rPr lang="en-NZ" altLang="ja-JP" sz="1400" dirty="0" err="1">
                    <a:solidFill>
                      <a:srgbClr val="002060"/>
                    </a:solidFill>
                  </a:rPr>
                  <a:t>i.i.d</a:t>
                </a:r>
                <a:r>
                  <a:rPr lang="en-NZ" altLang="ja-JP" sz="1400" dirty="0">
                    <a:solidFill>
                      <a:srgbClr val="002060"/>
                    </a:solidFill>
                  </a:rPr>
                  <a:t> random variables </a:t>
                </a:r>
                <a:br>
                  <a:rPr lang="en-NZ" altLang="ja-JP" sz="1400" dirty="0">
                    <a:solidFill>
                      <a:srgbClr val="002060"/>
                    </a:solidFill>
                  </a:rPr>
                </a:br>
                <a:r>
                  <a:rPr lang="en-NZ" altLang="ja-JP" sz="1400" dirty="0">
                    <a:solidFill>
                      <a:srgbClr val="002060"/>
                    </a:solidFill>
                  </a:rPr>
                  <a:t>such that </a:t>
                </a:r>
                <a14:m>
                  <m:oMath xmlns:m="http://schemas.openxmlformats.org/officeDocument/2006/math">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𝑿</m:t>
                        </m:r>
                      </m:e>
                      <m:sub>
                        <m:r>
                          <a:rPr lang="en-NZ" altLang="ja-JP" sz="1400" b="1" i="1" smtClean="0">
                            <a:solidFill>
                              <a:srgbClr val="002060"/>
                            </a:solidFill>
                            <a:latin typeface="Cambria Math" panose="02040503050406030204" pitchFamily="18" charset="0"/>
                          </a:rPr>
                          <m:t>𝒊</m:t>
                        </m:r>
                      </m:sub>
                    </m:sSub>
                    <m:r>
                      <a:rPr lang="en-NZ" altLang="ja-JP" sz="1400" b="1" i="1" smtClean="0">
                        <a:solidFill>
                          <a:srgbClr val="002060"/>
                        </a:solidFill>
                        <a:latin typeface="Cambria Math" panose="02040503050406030204" pitchFamily="18" charset="0"/>
                      </a:rPr>
                      <m:t> ~ </m:t>
                    </m:r>
                    <m:r>
                      <a:rPr lang="en-NZ" altLang="ja-JP" sz="1400" b="1" i="1" smtClean="0">
                        <a:solidFill>
                          <a:srgbClr val="002060"/>
                        </a:solidFill>
                        <a:latin typeface="Cambria Math" panose="02040503050406030204" pitchFamily="18" charset="0"/>
                      </a:rPr>
                      <m:t>𝑵</m:t>
                    </m:r>
                    <m:d>
                      <m:dPr>
                        <m:ctrlPr>
                          <a:rPr lang="en-NZ" altLang="ja-JP" sz="1400" b="1" i="1" smtClean="0">
                            <a:solidFill>
                              <a:srgbClr val="002060"/>
                            </a:solidFill>
                            <a:latin typeface="Cambria Math" panose="02040503050406030204" pitchFamily="18" charset="0"/>
                          </a:rPr>
                        </m:ctrlPr>
                      </m:dPr>
                      <m:e>
                        <m:r>
                          <a:rPr lang="en-NZ" altLang="ja-JP" sz="1400" b="1" i="1" smtClean="0">
                            <a:solidFill>
                              <a:srgbClr val="002060"/>
                            </a:solidFill>
                            <a:latin typeface="Cambria Math" panose="02040503050406030204" pitchFamily="18" charset="0"/>
                          </a:rPr>
                          <m:t>𝝁</m:t>
                        </m:r>
                        <m:r>
                          <a:rPr lang="en-NZ" altLang="ja-JP" sz="1400" b="1" i="1" smtClean="0">
                            <a:solidFill>
                              <a:srgbClr val="002060"/>
                            </a:solidFill>
                            <a:latin typeface="Cambria Math" panose="02040503050406030204" pitchFamily="18" charset="0"/>
                          </a:rPr>
                          <m:t> , </m:t>
                        </m:r>
                        <m:sSup>
                          <m:sSupPr>
                            <m:ctrlPr>
                              <a:rPr lang="en-NZ" altLang="ja-JP" sz="1400" b="1" i="1" smtClean="0">
                                <a:solidFill>
                                  <a:srgbClr val="002060"/>
                                </a:solidFill>
                                <a:latin typeface="Cambria Math" panose="02040503050406030204" pitchFamily="18" charset="0"/>
                              </a:rPr>
                            </m:ctrlPr>
                          </m:sSupPr>
                          <m:e>
                            <m:r>
                              <a:rPr lang="en-NZ" altLang="ja-JP" sz="1400" b="1" i="1" smtClean="0">
                                <a:solidFill>
                                  <a:srgbClr val="002060"/>
                                </a:solidFill>
                                <a:latin typeface="Cambria Math" panose="02040503050406030204" pitchFamily="18" charset="0"/>
                              </a:rPr>
                              <m:t>𝝈</m:t>
                            </m:r>
                          </m:e>
                          <m:sup>
                            <m:r>
                              <a:rPr lang="en-NZ" altLang="ja-JP" sz="1400" b="1" i="1" smtClean="0">
                                <a:solidFill>
                                  <a:srgbClr val="002060"/>
                                </a:solidFill>
                                <a:latin typeface="Cambria Math" panose="02040503050406030204" pitchFamily="18" charset="0"/>
                              </a:rPr>
                              <m:t>𝟐</m:t>
                            </m:r>
                          </m:sup>
                        </m:sSup>
                      </m:e>
                    </m:d>
                  </m:oMath>
                </a14:m>
                <a:endParaRPr lang="en-NZ" altLang="ja-JP" sz="200" b="0" dirty="0">
                  <a:solidFill>
                    <a:srgbClr val="002060"/>
                  </a:solidFill>
                </a:endParaRPr>
              </a:p>
              <a:p>
                <a:pPr algn="just">
                  <a:lnSpc>
                    <a:spcPct val="100000"/>
                  </a:lnSpc>
                </a:pPr>
                <a:endParaRPr lang="en-NZ" altLang="ja-JP" sz="200" b="0" dirty="0">
                  <a:solidFill>
                    <a:srgbClr val="002060"/>
                  </a:solidFill>
                </a:endParaRPr>
              </a:p>
              <a:p>
                <a:pPr algn="just">
                  <a:lnSpc>
                    <a:spcPct val="100000"/>
                  </a:lnSpc>
                </a:pPr>
                <a14:m>
                  <m:oMathPara xmlns:m="http://schemas.openxmlformats.org/officeDocument/2006/math">
                    <m:oMathParaPr>
                      <m:jc m:val="center"/>
                    </m:oMathParaPr>
                    <m:oMath xmlns:m="http://schemas.openxmlformats.org/officeDocument/2006/math">
                      <m:r>
                        <a:rPr lang="en-NZ" altLang="ja-JP" sz="1400" b="1" i="1" smtClean="0">
                          <a:solidFill>
                            <a:srgbClr val="002060"/>
                          </a:solidFill>
                          <a:latin typeface="Cambria Math" panose="02040503050406030204" pitchFamily="18" charset="0"/>
                        </a:rPr>
                        <m:t>𝑾</m:t>
                      </m:r>
                      <m:r>
                        <a:rPr lang="en-NZ" altLang="ja-JP" sz="1400" b="1" i="1" smtClean="0">
                          <a:solidFill>
                            <a:srgbClr val="002060"/>
                          </a:solidFill>
                          <a:latin typeface="Cambria Math" panose="02040503050406030204" pitchFamily="18" charset="0"/>
                        </a:rPr>
                        <m:t>= </m:t>
                      </m:r>
                      <m:f>
                        <m:fPr>
                          <m:ctrlPr>
                            <a:rPr lang="en-NZ" altLang="ja-JP" sz="1400" b="1" i="1" smtClean="0">
                              <a:solidFill>
                                <a:srgbClr val="002060"/>
                              </a:solidFill>
                              <a:latin typeface="Cambria Math" panose="02040503050406030204" pitchFamily="18" charset="0"/>
                            </a:rPr>
                          </m:ctrlPr>
                        </m:fPr>
                        <m:num>
                          <m:r>
                            <a:rPr lang="en-NZ" altLang="ja-JP" sz="1400" b="1" i="1" smtClean="0">
                              <a:solidFill>
                                <a:srgbClr val="002060"/>
                              </a:solidFill>
                              <a:latin typeface="Cambria Math" panose="02040503050406030204" pitchFamily="18" charset="0"/>
                            </a:rPr>
                            <m:t>𝟏</m:t>
                          </m:r>
                        </m:num>
                        <m:den>
                          <m:sSup>
                            <m:sSupPr>
                              <m:ctrlPr>
                                <a:rPr lang="en-NZ" altLang="ja-JP" sz="1400" b="1" i="1" smtClean="0">
                                  <a:solidFill>
                                    <a:srgbClr val="002060"/>
                                  </a:solidFill>
                                  <a:latin typeface="Cambria Math" panose="02040503050406030204" pitchFamily="18" charset="0"/>
                                </a:rPr>
                              </m:ctrlPr>
                            </m:sSupPr>
                            <m:e>
                              <m:r>
                                <a:rPr lang="en-NZ" altLang="ja-JP" sz="1400" b="1" i="1" smtClean="0">
                                  <a:solidFill>
                                    <a:srgbClr val="002060"/>
                                  </a:solidFill>
                                  <a:latin typeface="Cambria Math" panose="02040503050406030204" pitchFamily="18" charset="0"/>
                                </a:rPr>
                                <m:t>𝝈</m:t>
                              </m:r>
                            </m:e>
                            <m:sup>
                              <m:r>
                                <a:rPr lang="en-NZ" altLang="ja-JP" sz="1400" b="1" i="1" smtClean="0">
                                  <a:solidFill>
                                    <a:srgbClr val="002060"/>
                                  </a:solidFill>
                                  <a:latin typeface="Cambria Math" panose="02040503050406030204" pitchFamily="18" charset="0"/>
                                </a:rPr>
                                <m:t>𝟐</m:t>
                              </m:r>
                            </m:sup>
                          </m:sSup>
                        </m:den>
                      </m:f>
                      <m:r>
                        <a:rPr lang="en-NZ" altLang="ja-JP" sz="1400" b="1" i="1" smtClean="0">
                          <a:solidFill>
                            <a:srgbClr val="002060"/>
                          </a:solidFill>
                          <a:latin typeface="Cambria Math" panose="02040503050406030204" pitchFamily="18" charset="0"/>
                        </a:rPr>
                        <m:t> </m:t>
                      </m:r>
                      <m:nary>
                        <m:naryPr>
                          <m:chr m:val="∑"/>
                          <m:ctrlPr>
                            <a:rPr lang="en-NZ" altLang="ja-JP" sz="1400" b="1" i="1" smtClean="0">
                              <a:solidFill>
                                <a:srgbClr val="002060"/>
                              </a:solidFill>
                              <a:latin typeface="Cambria Math" panose="02040503050406030204" pitchFamily="18" charset="0"/>
                            </a:rPr>
                          </m:ctrlPr>
                        </m:naryPr>
                        <m:sub>
                          <m:r>
                            <a:rPr lang="en-NZ" altLang="ja-JP" sz="1400" b="1" i="1" smtClean="0">
                              <a:solidFill>
                                <a:srgbClr val="002060"/>
                              </a:solidFill>
                              <a:latin typeface="Cambria Math" panose="02040503050406030204" pitchFamily="18" charset="0"/>
                            </a:rPr>
                            <m:t>𝒊</m:t>
                          </m:r>
                          <m:r>
                            <a:rPr lang="en-NZ" altLang="ja-JP" sz="1400" b="1" i="1" smtClean="0">
                              <a:solidFill>
                                <a:srgbClr val="002060"/>
                              </a:solidFill>
                              <a:latin typeface="Cambria Math" panose="02040503050406030204" pitchFamily="18" charset="0"/>
                            </a:rPr>
                            <m:t>=</m:t>
                          </m:r>
                          <m:r>
                            <a:rPr lang="en-NZ" altLang="ja-JP" sz="1400" b="1" i="1" smtClean="0">
                              <a:solidFill>
                                <a:srgbClr val="002060"/>
                              </a:solidFill>
                              <a:latin typeface="Cambria Math" panose="02040503050406030204" pitchFamily="18" charset="0"/>
                            </a:rPr>
                            <m:t>𝟏</m:t>
                          </m:r>
                        </m:sub>
                        <m:sup>
                          <m:r>
                            <a:rPr lang="en-NZ" altLang="ja-JP" sz="1400" b="1" i="1" smtClean="0">
                              <a:solidFill>
                                <a:srgbClr val="002060"/>
                              </a:solidFill>
                              <a:latin typeface="Cambria Math" panose="02040503050406030204" pitchFamily="18" charset="0"/>
                            </a:rPr>
                            <m:t>𝒏</m:t>
                          </m:r>
                        </m:sup>
                        <m:e>
                          <m:sSup>
                            <m:sSupPr>
                              <m:ctrlPr>
                                <a:rPr lang="en-NZ" altLang="ja-JP" sz="1400" b="1" i="1" smtClean="0">
                                  <a:solidFill>
                                    <a:srgbClr val="002060"/>
                                  </a:solidFill>
                                  <a:latin typeface="Cambria Math" panose="02040503050406030204" pitchFamily="18" charset="0"/>
                                </a:rPr>
                              </m:ctrlPr>
                            </m:sSupPr>
                            <m:e>
                              <m:d>
                                <m:dPr>
                                  <m:ctrlPr>
                                    <a:rPr lang="en-NZ" altLang="ja-JP" sz="1400" b="1" i="1" smtClean="0">
                                      <a:solidFill>
                                        <a:srgbClr val="002060"/>
                                      </a:solidFill>
                                      <a:latin typeface="Cambria Math" panose="02040503050406030204" pitchFamily="18" charset="0"/>
                                    </a:rPr>
                                  </m:ctrlPr>
                                </m:dPr>
                                <m:e>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𝑿</m:t>
                                      </m:r>
                                    </m:e>
                                    <m:sub>
                                      <m:r>
                                        <a:rPr lang="en-NZ" altLang="ja-JP" sz="1400" b="1" i="1" smtClean="0">
                                          <a:solidFill>
                                            <a:srgbClr val="002060"/>
                                          </a:solidFill>
                                          <a:latin typeface="Cambria Math" panose="02040503050406030204" pitchFamily="18" charset="0"/>
                                        </a:rPr>
                                        <m:t>𝒊</m:t>
                                      </m:r>
                                    </m:sub>
                                  </m:sSub>
                                  <m:r>
                                    <a:rPr lang="en-NZ" altLang="ja-JP" sz="1400" b="1" i="1" smtClean="0">
                                      <a:solidFill>
                                        <a:srgbClr val="002060"/>
                                      </a:solidFill>
                                      <a:latin typeface="Cambria Math" panose="02040503050406030204" pitchFamily="18" charset="0"/>
                                    </a:rPr>
                                    <m:t> − </m:t>
                                  </m:r>
                                  <m:acc>
                                    <m:accPr>
                                      <m:chr m:val="̅"/>
                                      <m:ctrlPr>
                                        <a:rPr lang="en-NZ" altLang="ja-JP" sz="1400" b="1" i="1" smtClean="0">
                                          <a:solidFill>
                                            <a:srgbClr val="002060"/>
                                          </a:solidFill>
                                          <a:latin typeface="Cambria Math" panose="02040503050406030204" pitchFamily="18" charset="0"/>
                                        </a:rPr>
                                      </m:ctrlPr>
                                    </m:accPr>
                                    <m:e>
                                      <m:r>
                                        <a:rPr lang="en-NZ" altLang="ja-JP" sz="1400" b="1" i="1" smtClean="0">
                                          <a:solidFill>
                                            <a:srgbClr val="002060"/>
                                          </a:solidFill>
                                          <a:latin typeface="Cambria Math" panose="02040503050406030204" pitchFamily="18" charset="0"/>
                                        </a:rPr>
                                        <m:t>𝑿</m:t>
                                      </m:r>
                                    </m:e>
                                  </m:acc>
                                </m:e>
                              </m:d>
                            </m:e>
                            <m:sup>
                              <m:r>
                                <a:rPr lang="en-NZ" altLang="ja-JP" sz="1400" b="1" i="1" smtClean="0">
                                  <a:solidFill>
                                    <a:srgbClr val="002060"/>
                                  </a:solidFill>
                                  <a:latin typeface="Cambria Math" panose="02040503050406030204" pitchFamily="18" charset="0"/>
                                </a:rPr>
                                <m:t>𝟐</m:t>
                              </m:r>
                            </m:sup>
                          </m:sSup>
                        </m:e>
                      </m:nary>
                      <m:r>
                        <a:rPr lang="en-NZ" altLang="ja-JP" sz="1400" b="1" i="0" smtClean="0">
                          <a:solidFill>
                            <a:srgbClr val="002060"/>
                          </a:solidFill>
                          <a:latin typeface="Cambria Math" panose="02040503050406030204" pitchFamily="18" charset="0"/>
                        </a:rPr>
                        <m:t>    </m:t>
                      </m:r>
                      <m:r>
                        <a:rPr lang="en-NZ" altLang="ja-JP" sz="1400" b="1" i="1" smtClean="0">
                          <a:solidFill>
                            <a:srgbClr val="002060"/>
                          </a:solidFill>
                          <a:latin typeface="Cambria Math" panose="02040503050406030204" pitchFamily="18" charset="0"/>
                        </a:rPr>
                        <m:t>⇒    </m:t>
                      </m:r>
                      <m:r>
                        <a:rPr lang="en-NZ" altLang="ja-JP" sz="1400" b="1" i="1" smtClean="0">
                          <a:solidFill>
                            <a:srgbClr val="002060"/>
                          </a:solidFill>
                          <a:latin typeface="Cambria Math" panose="02040503050406030204" pitchFamily="18" charset="0"/>
                        </a:rPr>
                        <m:t>𝑾</m:t>
                      </m:r>
                      <m:r>
                        <a:rPr lang="en-NZ" altLang="ja-JP" sz="1400" b="1" i="1" smtClean="0">
                          <a:solidFill>
                            <a:srgbClr val="002060"/>
                          </a:solidFill>
                          <a:latin typeface="Cambria Math" panose="02040503050406030204" pitchFamily="18" charset="0"/>
                        </a:rPr>
                        <m:t> ~ </m:t>
                      </m:r>
                      <m:sSubSup>
                        <m:sSubSupPr>
                          <m:ctrlPr>
                            <a:rPr lang="en-NZ" altLang="ja-JP" sz="1400" b="1" i="1" smtClean="0">
                              <a:solidFill>
                                <a:srgbClr val="002060"/>
                              </a:solidFill>
                              <a:latin typeface="Cambria Math" panose="02040503050406030204" pitchFamily="18" charset="0"/>
                            </a:rPr>
                          </m:ctrlPr>
                        </m:sSubSupPr>
                        <m:e>
                          <m:r>
                            <a:rPr lang="en-NZ" altLang="ja-JP" sz="1400" b="1" i="1" smtClean="0">
                              <a:solidFill>
                                <a:srgbClr val="002060"/>
                              </a:solidFill>
                              <a:latin typeface="Cambria Math" panose="02040503050406030204" pitchFamily="18" charset="0"/>
                            </a:rPr>
                            <m:t>𝝌</m:t>
                          </m:r>
                        </m:e>
                        <m:sub>
                          <m:r>
                            <a:rPr lang="en-NZ" altLang="ja-JP" sz="1400" b="1" i="1" smtClean="0">
                              <a:solidFill>
                                <a:srgbClr val="002060"/>
                              </a:solidFill>
                              <a:latin typeface="Cambria Math" panose="02040503050406030204" pitchFamily="18" charset="0"/>
                            </a:rPr>
                            <m:t>𝒏</m:t>
                          </m:r>
                          <m:r>
                            <a:rPr lang="en-NZ" altLang="ja-JP" sz="1400" b="1" i="1" smtClean="0">
                              <a:solidFill>
                                <a:srgbClr val="002060"/>
                              </a:solidFill>
                              <a:latin typeface="Cambria Math" panose="02040503050406030204" pitchFamily="18" charset="0"/>
                            </a:rPr>
                            <m:t>−</m:t>
                          </m:r>
                          <m:r>
                            <a:rPr lang="en-NZ" altLang="ja-JP" sz="1400" b="1" i="1" smtClean="0">
                              <a:solidFill>
                                <a:srgbClr val="002060"/>
                              </a:solidFill>
                              <a:latin typeface="Cambria Math" panose="02040503050406030204" pitchFamily="18" charset="0"/>
                            </a:rPr>
                            <m:t>𝟏</m:t>
                          </m:r>
                        </m:sub>
                        <m:sup>
                          <m:r>
                            <a:rPr lang="en-NZ" altLang="ja-JP" sz="1400" b="1" i="1" smtClean="0">
                              <a:solidFill>
                                <a:srgbClr val="002060"/>
                              </a:solidFill>
                              <a:latin typeface="Cambria Math" panose="02040503050406030204" pitchFamily="18" charset="0"/>
                            </a:rPr>
                            <m:t>𝟐</m:t>
                          </m:r>
                        </m:sup>
                      </m:sSubSup>
                    </m:oMath>
                  </m:oMathPara>
                </a14:m>
                <a:endParaRPr lang="en-NZ" altLang="ja-JP" sz="1400" b="1" dirty="0">
                  <a:solidFill>
                    <a:srgbClr val="002060"/>
                  </a:solidFill>
                </a:endParaRPr>
              </a:p>
              <a:p>
                <a:pPr algn="just">
                  <a:lnSpc>
                    <a:spcPct val="100000"/>
                  </a:lnSpc>
                </a:pPr>
                <a:r>
                  <a:rPr lang="en-NZ" altLang="ja-JP" sz="1400" dirty="0">
                    <a:solidFill>
                      <a:srgbClr val="002060"/>
                    </a:solidFill>
                  </a:rPr>
                  <a:t>  </a:t>
                </a:r>
              </a:p>
              <a:p>
                <a:pPr algn="just">
                  <a:lnSpc>
                    <a:spcPct val="100000"/>
                  </a:lnSpc>
                </a:pPr>
                <a:endParaRPr lang="en-NZ" altLang="ja-JP" sz="1400" dirty="0">
                  <a:solidFill>
                    <a:srgbClr val="002060"/>
                  </a:solidFill>
                </a:endParaRPr>
              </a:p>
              <a:p>
                <a:pPr algn="just">
                  <a:lnSpc>
                    <a:spcPct val="100000"/>
                  </a:lnSpc>
                </a:pPr>
                <a:endParaRPr lang="en-NZ" altLang="ja-JP" sz="1400" i="1" dirty="0">
                  <a:solidFill>
                    <a:srgbClr val="002060"/>
                  </a:solidFill>
                </a:endParaRPr>
              </a:p>
            </p:txBody>
          </p:sp>
        </mc:Choice>
        <mc:Fallback xmlns="">
          <p:sp>
            <p:nvSpPr>
              <p:cNvPr id="12" name="Text Placeholder 5">
                <a:extLst>
                  <a:ext uri="{FF2B5EF4-FFF2-40B4-BE49-F238E27FC236}">
                    <a16:creationId xmlns:a16="http://schemas.microsoft.com/office/drawing/2014/main" id="{AB39F8E6-78A0-20D7-F3EF-3D0957E94D2B}"/>
                  </a:ext>
                </a:extLst>
              </p:cNvPr>
              <p:cNvSpPr txBox="1">
                <a:spLocks noRot="1" noChangeAspect="1" noMove="1" noResize="1" noEditPoints="1" noAdjustHandles="1" noChangeArrowheads="1" noChangeShapeType="1" noTextEdit="1"/>
              </p:cNvSpPr>
              <p:nvPr/>
            </p:nvSpPr>
            <p:spPr>
              <a:xfrm>
                <a:off x="6764454" y="3372441"/>
                <a:ext cx="5427546" cy="1640317"/>
              </a:xfrm>
              <a:prstGeom prst="rect">
                <a:avLst/>
              </a:prstGeom>
              <a:blipFill>
                <a:blip r:embed="rId8"/>
                <a:stretch>
                  <a:fillRect t="-743"/>
                </a:stretch>
              </a:blipFill>
            </p:spPr>
            <p:txBody>
              <a:bodyPr/>
              <a:lstStyle/>
              <a:p>
                <a:r>
                  <a:rPr lang="en-NZ">
                    <a:noFill/>
                  </a:rPr>
                  <a:t> </a:t>
                </a:r>
              </a:p>
            </p:txBody>
          </p:sp>
        </mc:Fallback>
      </mc:AlternateContent>
    </p:spTree>
    <p:extLst>
      <p:ext uri="{BB962C8B-B14F-4D97-AF65-F5344CB8AC3E}">
        <p14:creationId xmlns:p14="http://schemas.microsoft.com/office/powerpoint/2010/main" val="337391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9" grpId="0" animBg="1"/>
      <p:bldP spid="27" grpId="0"/>
      <p:bldP spid="30" grpId="0"/>
      <p:bldP spid="31" grpId="0"/>
      <p:bldP spid="32"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31</a:t>
            </a:fld>
            <a:endParaRPr kumimoji="1" lang="ja-JP" altLang="en-US" dirty="0">
              <a:solidFill>
                <a:srgbClr val="575454">
                  <a:lumMod val="20000"/>
                  <a:lumOff val="80000"/>
                </a:srgbClr>
              </a:solidFill>
              <a:latin typeface="Coo Hew"/>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369974" y="996728"/>
                <a:ext cx="10754436"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gn="just">
                  <a:lnSpc>
                    <a:spcPct val="100000"/>
                  </a:lnSpc>
                  <a:buFont typeface="+mj-lt"/>
                  <a:buAutoNum type="arabicPeriod" startAt="2"/>
                </a:pPr>
                <a:r>
                  <a:rPr lang="en-NZ" altLang="ja-JP" sz="2000" dirty="0">
                    <a:solidFill>
                      <a:schemeClr val="tx1"/>
                    </a:solidFill>
                  </a:rPr>
                  <a:t>Next, consider the distribution of   </a:t>
                </a:r>
                <a14:m>
                  <m:oMath xmlns:m="http://schemas.openxmlformats.org/officeDocument/2006/math">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𝟏</m:t>
                        </m:r>
                      </m:num>
                      <m:den>
                        <m:sSup>
                          <m:sSupPr>
                            <m:ctrlPr>
                              <a:rPr lang="en-NZ" altLang="ja-JP" sz="2000" b="1" i="1" smtClean="0">
                                <a:solidFill>
                                  <a:schemeClr val="tx1"/>
                                </a:solidFill>
                                <a:latin typeface="Cambria Math" panose="02040503050406030204" pitchFamily="18" charset="0"/>
                              </a:rPr>
                            </m:ctrlPr>
                          </m:sSupPr>
                          <m:e>
                            <m:r>
                              <a:rPr lang="en-NZ" altLang="ja-JP" sz="2000" b="1" i="1" smtClean="0">
                                <a:solidFill>
                                  <a:schemeClr val="tx1"/>
                                </a:solidFill>
                                <a:latin typeface="Cambria Math" panose="02040503050406030204" pitchFamily="18" charset="0"/>
                              </a:rPr>
                              <m:t>𝝈</m:t>
                            </m:r>
                          </m:e>
                          <m:sup>
                            <m:r>
                              <a:rPr lang="en-NZ" altLang="ja-JP" sz="2000" b="1" i="1" smtClean="0">
                                <a:solidFill>
                                  <a:schemeClr val="tx1"/>
                                </a:solidFill>
                                <a:latin typeface="Cambria Math" panose="02040503050406030204" pitchFamily="18" charset="0"/>
                              </a:rPr>
                              <m:t>𝟐</m:t>
                            </m:r>
                          </m:sup>
                        </m:sSup>
                      </m:den>
                    </m:f>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𝑺𝑺𝑬</m:t>
                    </m:r>
                  </m:oMath>
                </a14:m>
                <a:endParaRPr lang="en-NZ" altLang="ja-JP" sz="2000" b="1" dirty="0">
                  <a:solidFill>
                    <a:schemeClr val="tx1"/>
                  </a:solidFill>
                </a:endParaRPr>
              </a:p>
              <a:p>
                <a:pPr algn="just">
                  <a:lnSpc>
                    <a:spcPct val="100000"/>
                  </a:lnSpc>
                </a:pPr>
                <a:r>
                  <a:rPr lang="en-NZ" altLang="ja-JP" sz="2000" dirty="0">
                    <a:solidFill>
                      <a:schemeClr val="tx1"/>
                    </a:solidFill>
                  </a:rPr>
                  <a:t>  </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8" name="Text Placeholder 5">
                <a:extLst>
                  <a:ext uri="{FF2B5EF4-FFF2-40B4-BE49-F238E27FC236}">
                    <a16:creationId xmlns:a16="http://schemas.microsoft.com/office/drawing/2014/main" id="{48B79D50-9E13-4AD2-A06B-5130BB9354C5}"/>
                  </a:ext>
                </a:extLst>
              </p:cNvPr>
              <p:cNvSpPr txBox="1">
                <a:spLocks noRot="1" noChangeAspect="1" noMove="1" noResize="1" noEditPoints="1" noAdjustHandles="1" noChangeArrowheads="1" noChangeShapeType="1" noTextEdit="1"/>
              </p:cNvSpPr>
              <p:nvPr/>
            </p:nvSpPr>
            <p:spPr>
              <a:xfrm>
                <a:off x="369974" y="996728"/>
                <a:ext cx="10754436" cy="607201"/>
              </a:xfrm>
              <a:prstGeom prst="rect">
                <a:avLst/>
              </a:prstGeom>
              <a:blipFill>
                <a:blip r:embed="rId2"/>
                <a:stretch>
                  <a:fillRect l="-62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E015DD69-8869-4055-8355-0C845BE70E9D}"/>
                  </a:ext>
                </a:extLst>
              </p:cNvPr>
              <p:cNvSpPr txBox="1">
                <a:spLocks/>
              </p:cNvSpPr>
              <p:nvPr/>
            </p:nvSpPr>
            <p:spPr>
              <a:xfrm>
                <a:off x="738464" y="1603929"/>
                <a:ext cx="10754436" cy="10027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𝑺𝑺𝑬</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𝝈</m:t>
                              </m:r>
                            </m:e>
                            <m:sup>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𝒌</m:t>
                          </m:r>
                        </m:sup>
                        <m:e>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𝒊</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r>
                                <a:rPr lang="en-NZ" altLang="ja-JP" sz="1800" b="1" i="1">
                                  <a:solidFill>
                                    <a:schemeClr val="tx1"/>
                                  </a:solidFill>
                                  <a:latin typeface="Cambria Math" panose="02040503050406030204" pitchFamily="18" charset="0"/>
                                </a:rPr>
                                <m:t> </m:t>
                              </m:r>
                            </m:e>
                          </m:nary>
                        </m:e>
                      </m:nary>
                      <m:r>
                        <a:rPr lang="en-NZ" altLang="ja-JP" sz="1800" b="1" i="1" smtClean="0">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den>
                      </m:f>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r>
                            <a:rPr lang="en-NZ" altLang="ja-JP" sz="1800" b="1" i="1">
                              <a:solidFill>
                                <a:schemeClr val="tx1"/>
                              </a:solidFill>
                              <a:latin typeface="Cambria Math" panose="02040503050406030204" pitchFamily="18" charset="0"/>
                            </a:rPr>
                            <m:t> </m:t>
                          </m:r>
                          <m:d>
                            <m:dPr>
                              <m:begChr m:val="["/>
                              <m:endChr m:val="]"/>
                              <m:ctrlPr>
                                <a:rPr lang="en-NZ" altLang="ja-JP" sz="1800" b="1" i="1" smtClean="0">
                                  <a:solidFill>
                                    <a:schemeClr val="tx1"/>
                                  </a:solidFill>
                                  <a:latin typeface="Cambria Math" panose="02040503050406030204" pitchFamily="18" charset="0"/>
                                </a:rPr>
                              </m:ctrlPr>
                            </m:dPr>
                            <m:e>
                              <m:sSup>
                                <m:sSupPr>
                                  <m:ctrlPr>
                                    <a:rPr lang="en-NZ" altLang="ja-JP" sz="1800" b="1" i="1">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𝟐</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𝟐</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r>
                                <a:rPr lang="en-NZ" altLang="ja-JP" sz="1800" b="1" i="1" smtClean="0">
                                  <a:solidFill>
                                    <a:schemeClr val="tx1"/>
                                  </a:solidFill>
                                  <a:latin typeface="Cambria Math" panose="02040503050406030204" pitchFamily="18" charset="0"/>
                                </a:rPr>
                                <m:t> + …  +</m:t>
                              </m:r>
                              <m:sSup>
                                <m:sSupPr>
                                  <m:ctrlPr>
                                    <a:rPr lang="en-NZ" altLang="ja-JP" sz="1800" b="1" i="1">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d>
                        </m:e>
                      </m:nary>
                    </m:oMath>
                  </m:oMathPara>
                </a14:m>
                <a:endParaRPr lang="en-NZ" altLang="ja-JP" sz="1800" b="1" dirty="0">
                  <a:solidFill>
                    <a:schemeClr val="tx1"/>
                  </a:solidFill>
                </a:endParaRPr>
              </a:p>
              <a:p>
                <a:pPr algn="just">
                  <a:lnSpc>
                    <a:spcPct val="100000"/>
                  </a:lnSpc>
                </a:pPr>
                <a:r>
                  <a:rPr lang="en-NZ" altLang="ja-JP" sz="1800" dirty="0">
                    <a:solidFill>
                      <a:schemeClr val="tx1"/>
                    </a:solidFill>
                  </a:rPr>
                  <a:t>  </a:t>
                </a: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xmlns="">
          <p:sp>
            <p:nvSpPr>
              <p:cNvPr id="11" name="Text Placeholder 5">
                <a:extLst>
                  <a:ext uri="{FF2B5EF4-FFF2-40B4-BE49-F238E27FC236}">
                    <a16:creationId xmlns:a16="http://schemas.microsoft.com/office/drawing/2014/main" id="{E015DD69-8869-4055-8355-0C845BE70E9D}"/>
                  </a:ext>
                </a:extLst>
              </p:cNvPr>
              <p:cNvSpPr txBox="1">
                <a:spLocks noRot="1" noChangeAspect="1" noMove="1" noResize="1" noEditPoints="1" noAdjustHandles="1" noChangeArrowheads="1" noChangeShapeType="1" noTextEdit="1"/>
              </p:cNvSpPr>
              <p:nvPr/>
            </p:nvSpPr>
            <p:spPr>
              <a:xfrm>
                <a:off x="738464" y="1603929"/>
                <a:ext cx="10754436" cy="100279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A6B4BFBE-B59A-465B-811D-AC6A61C880ED}"/>
                  </a:ext>
                </a:extLst>
              </p:cNvPr>
              <p:cNvSpPr txBox="1">
                <a:spLocks/>
              </p:cNvSpPr>
              <p:nvPr/>
            </p:nvSpPr>
            <p:spPr>
              <a:xfrm>
                <a:off x="1569493" y="2606722"/>
                <a:ext cx="9884043" cy="8870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den>
                      </m:f>
                      <m:nary>
                        <m:naryPr>
                          <m:chr m:val="∑"/>
                          <m:ctrlPr>
                            <a:rPr lang="en-NZ" altLang="ja-JP" sz="1800" b="1" i="1" smtClean="0">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r>
                        <a:rPr lang="en-NZ" altLang="ja-JP" sz="1800" b="1" i="1" smtClean="0">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den>
                      </m:f>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𝟐</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𝟐</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r>
                        <a:rPr lang="en-NZ" altLang="ja-JP" sz="1800" b="1" i="1" smtClean="0">
                          <a:solidFill>
                            <a:schemeClr val="tx1"/>
                          </a:solidFill>
                          <a:latin typeface="Cambria Math" panose="02040503050406030204" pitchFamily="18" charset="0"/>
                        </a:rPr>
                        <m:t>   + …   +   </m:t>
                      </m:r>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𝟏</m:t>
                          </m:r>
                        </m:num>
                        <m:den>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𝝈</m:t>
                              </m:r>
                            </m:e>
                            <m:sup>
                              <m:r>
                                <a:rPr lang="en-NZ" altLang="ja-JP" sz="1800" b="1" i="1">
                                  <a:solidFill>
                                    <a:schemeClr val="tx1"/>
                                  </a:solidFill>
                                  <a:latin typeface="Cambria Math" panose="02040503050406030204" pitchFamily="18" charset="0"/>
                                </a:rPr>
                                <m:t>𝟐</m:t>
                              </m:r>
                            </m:sup>
                          </m:sSup>
                        </m:den>
                      </m:f>
                      <m:nary>
                        <m:naryPr>
                          <m:chr m:val="∑"/>
                          <m:ctrlPr>
                            <a:rPr lang="en-NZ" altLang="ja-JP" sz="1800" b="1" i="1">
                              <a:solidFill>
                                <a:schemeClr val="tx1"/>
                              </a:solidFill>
                              <a:latin typeface="Cambria Math" panose="02040503050406030204" pitchFamily="18" charset="0"/>
                            </a:rPr>
                          </m:ctrlPr>
                        </m:naryPr>
                        <m:sub>
                          <m:r>
                            <m:rPr>
                              <m:brk m:alnAt="23"/>
                            </m:rPr>
                            <a:rPr lang="en-NZ" altLang="ja-JP" sz="1800" b="1" i="1">
                              <a:solidFill>
                                <a:schemeClr val="tx1"/>
                              </a:solidFill>
                              <a:latin typeface="Cambria Math" panose="02040503050406030204" pitchFamily="18" charset="0"/>
                            </a:rPr>
                            <m:t>𝒋</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𝒏</m:t>
                          </m:r>
                        </m:sup>
                        <m:e>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smtClean="0">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𝒋</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acc>
                                        <m:accPr>
                                          <m:chr m:val="̅"/>
                                          <m:ctrlPr>
                                            <a:rPr lang="en-NZ" altLang="ja-JP" sz="1800" b="1" i="1">
                                              <a:solidFill>
                                                <a:schemeClr val="tx1"/>
                                              </a:solidFill>
                                              <a:latin typeface="Cambria Math" panose="02040503050406030204" pitchFamily="18" charset="0"/>
                                            </a:rPr>
                                          </m:ctrlPr>
                                        </m:accPr>
                                        <m:e>
                                          <m:r>
                                            <a:rPr lang="en-NZ" altLang="ja-JP" sz="1800" b="1" i="1">
                                              <a:solidFill>
                                                <a:schemeClr val="tx1"/>
                                              </a:solidFill>
                                              <a:latin typeface="Cambria Math" panose="02040503050406030204" pitchFamily="18" charset="0"/>
                                            </a:rPr>
                                            <m:t>𝒀</m:t>
                                          </m:r>
                                        </m:e>
                                      </m:acc>
                                    </m:e>
                                    <m:sub>
                                      <m:r>
                                        <a:rPr lang="en-NZ" altLang="ja-JP" sz="1800" b="1" i="1" smtClean="0">
                                          <a:solidFill>
                                            <a:schemeClr val="tx1"/>
                                          </a:solidFill>
                                          <a:latin typeface="Cambria Math" panose="02040503050406030204" pitchFamily="18" charset="0"/>
                                        </a:rPr>
                                        <m:t>𝒌</m:t>
                                      </m:r>
                                      <m:r>
                                        <a:rPr lang="en-NZ" altLang="ja-JP" sz="1800" b="1" i="1">
                                          <a:solidFill>
                                            <a:schemeClr val="tx1"/>
                                          </a:solidFill>
                                          <a:latin typeface="Cambria Math" panose="02040503050406030204" pitchFamily="18" charset="0"/>
                                          <a:ea typeface="Cambria Math" panose="02040503050406030204" pitchFamily="18" charset="0"/>
                                        </a:rPr>
                                        <m:t>∙</m:t>
                                      </m:r>
                                    </m:sub>
                                  </m:sSub>
                                </m:e>
                              </m:d>
                            </m:e>
                            <m:sup>
                              <m:r>
                                <a:rPr lang="en-NZ" altLang="ja-JP" sz="1800" b="1" i="1">
                                  <a:solidFill>
                                    <a:schemeClr val="tx1"/>
                                  </a:solidFill>
                                  <a:latin typeface="Cambria Math" panose="02040503050406030204" pitchFamily="18" charset="0"/>
                                </a:rPr>
                                <m:t>𝟐</m:t>
                              </m:r>
                            </m:sup>
                          </m:sSup>
                        </m:e>
                      </m:nary>
                    </m:oMath>
                  </m:oMathPara>
                </a14:m>
                <a:endParaRPr lang="en-NZ" altLang="ja-JP" sz="1800" i="1" dirty="0">
                  <a:solidFill>
                    <a:srgbClr val="C00000"/>
                  </a:solidFill>
                </a:endParaRPr>
              </a:p>
            </p:txBody>
          </p:sp>
        </mc:Choice>
        <mc:Fallback xmlns="">
          <p:sp>
            <p:nvSpPr>
              <p:cNvPr id="17" name="Text Placeholder 5">
                <a:extLst>
                  <a:ext uri="{FF2B5EF4-FFF2-40B4-BE49-F238E27FC236}">
                    <a16:creationId xmlns:a16="http://schemas.microsoft.com/office/drawing/2014/main" id="{A6B4BFBE-B59A-465B-811D-AC6A61C880ED}"/>
                  </a:ext>
                </a:extLst>
              </p:cNvPr>
              <p:cNvSpPr txBox="1">
                <a:spLocks noRot="1" noChangeAspect="1" noMove="1" noResize="1" noEditPoints="1" noAdjustHandles="1" noChangeArrowheads="1" noChangeShapeType="1" noTextEdit="1"/>
              </p:cNvSpPr>
              <p:nvPr/>
            </p:nvSpPr>
            <p:spPr>
              <a:xfrm>
                <a:off x="1569493" y="2606722"/>
                <a:ext cx="9884043" cy="887007"/>
              </a:xfrm>
              <a:prstGeom prst="rect">
                <a:avLst/>
              </a:prstGeom>
              <a:blipFill>
                <a:blip r:embed="rId4"/>
                <a:stretch>
                  <a:fillRect/>
                </a:stretch>
              </a:blipFill>
            </p:spPr>
            <p:txBody>
              <a:bodyPr/>
              <a:lstStyle/>
              <a:p>
                <a:r>
                  <a:rPr lang="en-NZ">
                    <a:noFill/>
                  </a:rPr>
                  <a:t> </a:t>
                </a:r>
              </a:p>
            </p:txBody>
          </p:sp>
        </mc:Fallback>
      </mc:AlternateContent>
      <p:sp>
        <p:nvSpPr>
          <p:cNvPr id="2" name="Right Brace 1">
            <a:extLst>
              <a:ext uri="{FF2B5EF4-FFF2-40B4-BE49-F238E27FC236}">
                <a16:creationId xmlns:a16="http://schemas.microsoft.com/office/drawing/2014/main" id="{5D31BB6E-3A2D-4B31-B5C7-E273CEC30F5E}"/>
              </a:ext>
            </a:extLst>
          </p:cNvPr>
          <p:cNvSpPr/>
          <p:nvPr/>
        </p:nvSpPr>
        <p:spPr>
          <a:xfrm rot="5400000">
            <a:off x="2839883" y="2788870"/>
            <a:ext cx="388504" cy="1738250"/>
          </a:xfrm>
          <a:prstGeom prst="righ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8" name="Right Brace 17">
            <a:extLst>
              <a:ext uri="{FF2B5EF4-FFF2-40B4-BE49-F238E27FC236}">
                <a16:creationId xmlns:a16="http://schemas.microsoft.com/office/drawing/2014/main" id="{FF5F75A4-FD7F-4244-93F3-F1297DD5688A}"/>
              </a:ext>
            </a:extLst>
          </p:cNvPr>
          <p:cNvSpPr/>
          <p:nvPr/>
        </p:nvSpPr>
        <p:spPr>
          <a:xfrm rot="5400000">
            <a:off x="5312402" y="2808770"/>
            <a:ext cx="388504" cy="1738250"/>
          </a:xfrm>
          <a:prstGeom prst="righ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9" name="Right Brace 18">
            <a:extLst>
              <a:ext uri="{FF2B5EF4-FFF2-40B4-BE49-F238E27FC236}">
                <a16:creationId xmlns:a16="http://schemas.microsoft.com/office/drawing/2014/main" id="{8264BD9F-9970-4A25-81E5-2D8FA646FFF3}"/>
              </a:ext>
            </a:extLst>
          </p:cNvPr>
          <p:cNvSpPr/>
          <p:nvPr/>
        </p:nvSpPr>
        <p:spPr>
          <a:xfrm rot="5400000">
            <a:off x="8622202" y="2788870"/>
            <a:ext cx="388504" cy="1738250"/>
          </a:xfrm>
          <a:prstGeom prst="righ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A958267-9326-48BB-85BE-0C425FE60A1E}"/>
                  </a:ext>
                </a:extLst>
              </p:cNvPr>
              <p:cNvSpPr txBox="1"/>
              <p:nvPr/>
            </p:nvSpPr>
            <p:spPr>
              <a:xfrm>
                <a:off x="2006112" y="3867202"/>
                <a:ext cx="2119734" cy="388504"/>
              </a:xfrm>
              <a:prstGeom prst="rect">
                <a:avLst/>
              </a:prstGeom>
              <a:noFill/>
            </p:spPr>
            <p:txBody>
              <a:bodyPr wrap="square">
                <a:spAutoFit/>
              </a:bodyPr>
              <a:lstStyle/>
              <a:p>
                <a:pPr algn="ctr"/>
                <a14:m>
                  <m:oMath xmlns:m="http://schemas.openxmlformats.org/officeDocument/2006/math">
                    <m:sSubSup>
                      <m:sSubSupPr>
                        <m:ctrlPr>
                          <a:rPr lang="en-NZ" altLang="ja-JP" sz="1800" b="1" i="1" smtClean="0">
                            <a:solidFill>
                              <a:srgbClr val="002060"/>
                            </a:solidFill>
                            <a:latin typeface="Cambria Math" panose="02040503050406030204" pitchFamily="18" charset="0"/>
                          </a:rPr>
                        </m:ctrlPr>
                      </m:sSubSupPr>
                      <m:e>
                        <m:r>
                          <a:rPr lang="en-NZ" altLang="ja-JP" sz="1800" b="1" i="1" smtClean="0">
                            <a:solidFill>
                              <a:srgbClr val="002060"/>
                            </a:solidFill>
                            <a:latin typeface="Cambria Math" panose="02040503050406030204" pitchFamily="18" charset="0"/>
                          </a:rPr>
                          <m:t>𝝌</m:t>
                        </m:r>
                      </m:e>
                      <m:sub>
                        <m:r>
                          <a:rPr lang="en-NZ" altLang="ja-JP" sz="1800" b="1" i="1" smtClean="0">
                            <a:solidFill>
                              <a:srgbClr val="002060"/>
                            </a:solidFill>
                            <a:latin typeface="Cambria Math" panose="02040503050406030204" pitchFamily="18" charset="0"/>
                          </a:rPr>
                          <m:t>𝒏</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𝟏</m:t>
                        </m:r>
                      </m:sub>
                      <m:sup>
                        <m:r>
                          <a:rPr lang="en-NZ" altLang="ja-JP" sz="1800" b="1" i="1" smtClean="0">
                            <a:solidFill>
                              <a:srgbClr val="002060"/>
                            </a:solidFill>
                            <a:latin typeface="Cambria Math" panose="02040503050406030204" pitchFamily="18" charset="0"/>
                          </a:rPr>
                          <m:t>𝟐</m:t>
                        </m:r>
                      </m:sup>
                    </m:sSubSup>
                  </m:oMath>
                </a14:m>
                <a:r>
                  <a:rPr lang="en-NZ" dirty="0">
                    <a:solidFill>
                      <a:srgbClr val="002060"/>
                    </a:solidFill>
                  </a:rPr>
                  <a:t> by Rule 1</a:t>
                </a:r>
              </a:p>
            </p:txBody>
          </p:sp>
        </mc:Choice>
        <mc:Fallback xmlns="">
          <p:sp>
            <p:nvSpPr>
              <p:cNvPr id="20" name="TextBox 19">
                <a:extLst>
                  <a:ext uri="{FF2B5EF4-FFF2-40B4-BE49-F238E27FC236}">
                    <a16:creationId xmlns:a16="http://schemas.microsoft.com/office/drawing/2014/main" id="{DA958267-9326-48BB-85BE-0C425FE60A1E}"/>
                  </a:ext>
                </a:extLst>
              </p:cNvPr>
              <p:cNvSpPr txBox="1">
                <a:spLocks noRot="1" noChangeAspect="1" noMove="1" noResize="1" noEditPoints="1" noAdjustHandles="1" noChangeArrowheads="1" noChangeShapeType="1" noTextEdit="1"/>
              </p:cNvSpPr>
              <p:nvPr/>
            </p:nvSpPr>
            <p:spPr>
              <a:xfrm>
                <a:off x="2006112" y="3867202"/>
                <a:ext cx="2119734" cy="388504"/>
              </a:xfrm>
              <a:prstGeom prst="rect">
                <a:avLst/>
              </a:prstGeom>
              <a:blipFill>
                <a:blip r:embed="rId5"/>
                <a:stretch>
                  <a:fillRect t="-3125" b="-234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B5CA635-090B-4BA4-8773-A19FF4810BD1}"/>
                  </a:ext>
                </a:extLst>
              </p:cNvPr>
              <p:cNvSpPr txBox="1"/>
              <p:nvPr/>
            </p:nvSpPr>
            <p:spPr>
              <a:xfrm>
                <a:off x="4514052" y="3857132"/>
                <a:ext cx="2119734" cy="388504"/>
              </a:xfrm>
              <a:prstGeom prst="rect">
                <a:avLst/>
              </a:prstGeom>
              <a:noFill/>
            </p:spPr>
            <p:txBody>
              <a:bodyPr wrap="square">
                <a:spAutoFit/>
              </a:bodyPr>
              <a:lstStyle/>
              <a:p>
                <a:pPr algn="ctr"/>
                <a14:m>
                  <m:oMath xmlns:m="http://schemas.openxmlformats.org/officeDocument/2006/math">
                    <m:sSubSup>
                      <m:sSubSupPr>
                        <m:ctrlPr>
                          <a:rPr lang="en-NZ" altLang="ja-JP" sz="1800" b="1" i="1" smtClean="0">
                            <a:solidFill>
                              <a:srgbClr val="002060"/>
                            </a:solidFill>
                            <a:latin typeface="Cambria Math" panose="02040503050406030204" pitchFamily="18" charset="0"/>
                          </a:rPr>
                        </m:ctrlPr>
                      </m:sSubSupPr>
                      <m:e>
                        <m:r>
                          <a:rPr lang="en-NZ" altLang="ja-JP" sz="1800" b="1" i="1" smtClean="0">
                            <a:solidFill>
                              <a:srgbClr val="002060"/>
                            </a:solidFill>
                            <a:latin typeface="Cambria Math" panose="02040503050406030204" pitchFamily="18" charset="0"/>
                          </a:rPr>
                          <m:t>𝝌</m:t>
                        </m:r>
                      </m:e>
                      <m:sub>
                        <m:r>
                          <a:rPr lang="en-NZ" altLang="ja-JP" sz="1800" b="1" i="1" smtClean="0">
                            <a:solidFill>
                              <a:srgbClr val="002060"/>
                            </a:solidFill>
                            <a:latin typeface="Cambria Math" panose="02040503050406030204" pitchFamily="18" charset="0"/>
                          </a:rPr>
                          <m:t>𝒏</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𝟏</m:t>
                        </m:r>
                      </m:sub>
                      <m:sup>
                        <m:r>
                          <a:rPr lang="en-NZ" altLang="ja-JP" sz="1800" b="1" i="1" smtClean="0">
                            <a:solidFill>
                              <a:srgbClr val="002060"/>
                            </a:solidFill>
                            <a:latin typeface="Cambria Math" panose="02040503050406030204" pitchFamily="18" charset="0"/>
                          </a:rPr>
                          <m:t>𝟐</m:t>
                        </m:r>
                      </m:sup>
                    </m:sSubSup>
                  </m:oMath>
                </a14:m>
                <a:r>
                  <a:rPr lang="en-NZ" dirty="0">
                    <a:solidFill>
                      <a:srgbClr val="002060"/>
                    </a:solidFill>
                  </a:rPr>
                  <a:t> by Rule 1</a:t>
                </a:r>
              </a:p>
            </p:txBody>
          </p:sp>
        </mc:Choice>
        <mc:Fallback xmlns="">
          <p:sp>
            <p:nvSpPr>
              <p:cNvPr id="21" name="TextBox 20">
                <a:extLst>
                  <a:ext uri="{FF2B5EF4-FFF2-40B4-BE49-F238E27FC236}">
                    <a16:creationId xmlns:a16="http://schemas.microsoft.com/office/drawing/2014/main" id="{BB5CA635-090B-4BA4-8773-A19FF4810BD1}"/>
                  </a:ext>
                </a:extLst>
              </p:cNvPr>
              <p:cNvSpPr txBox="1">
                <a:spLocks noRot="1" noChangeAspect="1" noMove="1" noResize="1" noEditPoints="1" noAdjustHandles="1" noChangeArrowheads="1" noChangeShapeType="1" noTextEdit="1"/>
              </p:cNvSpPr>
              <p:nvPr/>
            </p:nvSpPr>
            <p:spPr>
              <a:xfrm>
                <a:off x="4514052" y="3857132"/>
                <a:ext cx="2119734" cy="388504"/>
              </a:xfrm>
              <a:prstGeom prst="rect">
                <a:avLst/>
              </a:prstGeom>
              <a:blipFill>
                <a:blip r:embed="rId6"/>
                <a:stretch>
                  <a:fillRect t="-4762" b="-2539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DB4BED1-00ED-4FC7-AF03-B7D935E52649}"/>
                  </a:ext>
                </a:extLst>
              </p:cNvPr>
              <p:cNvSpPr txBox="1"/>
              <p:nvPr/>
            </p:nvSpPr>
            <p:spPr>
              <a:xfrm>
                <a:off x="7947329" y="3877032"/>
                <a:ext cx="2119734" cy="388504"/>
              </a:xfrm>
              <a:prstGeom prst="rect">
                <a:avLst/>
              </a:prstGeom>
              <a:noFill/>
            </p:spPr>
            <p:txBody>
              <a:bodyPr wrap="square">
                <a:spAutoFit/>
              </a:bodyPr>
              <a:lstStyle/>
              <a:p>
                <a:pPr algn="ctr"/>
                <a14:m>
                  <m:oMath xmlns:m="http://schemas.openxmlformats.org/officeDocument/2006/math">
                    <m:sSubSup>
                      <m:sSubSupPr>
                        <m:ctrlPr>
                          <a:rPr lang="en-NZ" altLang="ja-JP" sz="1800" b="1" i="1" smtClean="0">
                            <a:solidFill>
                              <a:srgbClr val="002060"/>
                            </a:solidFill>
                            <a:latin typeface="Cambria Math" panose="02040503050406030204" pitchFamily="18" charset="0"/>
                          </a:rPr>
                        </m:ctrlPr>
                      </m:sSubSupPr>
                      <m:e>
                        <m:r>
                          <a:rPr lang="en-NZ" altLang="ja-JP" sz="1800" b="1" i="1" smtClean="0">
                            <a:solidFill>
                              <a:srgbClr val="002060"/>
                            </a:solidFill>
                            <a:latin typeface="Cambria Math" panose="02040503050406030204" pitchFamily="18" charset="0"/>
                          </a:rPr>
                          <m:t>𝝌</m:t>
                        </m:r>
                      </m:e>
                      <m:sub>
                        <m:r>
                          <a:rPr lang="en-NZ" altLang="ja-JP" sz="1800" b="1" i="1" smtClean="0">
                            <a:solidFill>
                              <a:srgbClr val="002060"/>
                            </a:solidFill>
                            <a:latin typeface="Cambria Math" panose="02040503050406030204" pitchFamily="18" charset="0"/>
                          </a:rPr>
                          <m:t>𝒏</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𝟏</m:t>
                        </m:r>
                      </m:sub>
                      <m:sup>
                        <m:r>
                          <a:rPr lang="en-NZ" altLang="ja-JP" sz="1800" b="1" i="1" smtClean="0">
                            <a:solidFill>
                              <a:srgbClr val="002060"/>
                            </a:solidFill>
                            <a:latin typeface="Cambria Math" panose="02040503050406030204" pitchFamily="18" charset="0"/>
                          </a:rPr>
                          <m:t>𝟐</m:t>
                        </m:r>
                      </m:sup>
                    </m:sSubSup>
                  </m:oMath>
                </a14:m>
                <a:r>
                  <a:rPr lang="en-NZ" dirty="0">
                    <a:solidFill>
                      <a:srgbClr val="002060"/>
                    </a:solidFill>
                  </a:rPr>
                  <a:t> by Rule 1</a:t>
                </a:r>
              </a:p>
            </p:txBody>
          </p:sp>
        </mc:Choice>
        <mc:Fallback xmlns="">
          <p:sp>
            <p:nvSpPr>
              <p:cNvPr id="23" name="TextBox 22">
                <a:extLst>
                  <a:ext uri="{FF2B5EF4-FFF2-40B4-BE49-F238E27FC236}">
                    <a16:creationId xmlns:a16="http://schemas.microsoft.com/office/drawing/2014/main" id="{9DB4BED1-00ED-4FC7-AF03-B7D935E52649}"/>
                  </a:ext>
                </a:extLst>
              </p:cNvPr>
              <p:cNvSpPr txBox="1">
                <a:spLocks noRot="1" noChangeAspect="1" noMove="1" noResize="1" noEditPoints="1" noAdjustHandles="1" noChangeArrowheads="1" noChangeShapeType="1" noTextEdit="1"/>
              </p:cNvSpPr>
              <p:nvPr/>
            </p:nvSpPr>
            <p:spPr>
              <a:xfrm>
                <a:off x="7947329" y="3877032"/>
                <a:ext cx="2119734" cy="388504"/>
              </a:xfrm>
              <a:prstGeom prst="rect">
                <a:avLst/>
              </a:prstGeom>
              <a:blipFill>
                <a:blip r:embed="rId7"/>
                <a:stretch>
                  <a:fillRect t="-4688" b="-234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4736CD92-1DC4-4EC9-AE11-ABE35547A7DB}"/>
                  </a:ext>
                </a:extLst>
              </p:cNvPr>
              <p:cNvSpPr txBox="1">
                <a:spLocks/>
              </p:cNvSpPr>
              <p:nvPr/>
            </p:nvSpPr>
            <p:spPr>
              <a:xfrm>
                <a:off x="1589855" y="5630903"/>
                <a:ext cx="1501254" cy="6294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2000" b="1" i="1" smtClean="0">
                          <a:solidFill>
                            <a:schemeClr val="tx1"/>
                          </a:solidFill>
                          <a:latin typeface="Cambria Math" panose="02040503050406030204" pitchFamily="18" charset="0"/>
                        </a:rPr>
                        <m:t>~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d>
                            <m:dPr>
                              <m:ctrlPr>
                                <a:rPr lang="en-NZ" altLang="ja-JP" sz="2000" b="1" i="1" smtClean="0">
                                  <a:solidFill>
                                    <a:schemeClr val="tx1"/>
                                  </a:solidFill>
                                  <a:latin typeface="Cambria Math" panose="02040503050406030204" pitchFamily="18" charset="0"/>
                                </a:rPr>
                              </m:ctrlPr>
                            </m:dPr>
                            <m:e>
                              <m:r>
                                <a:rPr lang="en-NZ" altLang="ja-JP" sz="2000" b="1" i="1" smtClean="0">
                                  <a:solidFill>
                                    <a:schemeClr val="tx1"/>
                                  </a:solidFill>
                                  <a:latin typeface="Cambria Math" panose="02040503050406030204" pitchFamily="18" charset="0"/>
                                </a:rPr>
                                <m:t>𝒏</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e>
                          </m:d>
                          <m:r>
                            <a:rPr lang="en-NZ" altLang="ja-JP" sz="2000" b="1" i="1" smtClean="0">
                              <a:solidFill>
                                <a:schemeClr val="tx1"/>
                              </a:solidFill>
                              <a:latin typeface="Cambria Math" panose="02040503050406030204" pitchFamily="18" charset="0"/>
                            </a:rPr>
                            <m:t>𝒌</m:t>
                          </m:r>
                        </m:sub>
                        <m:sup>
                          <m:r>
                            <a:rPr lang="en-NZ" altLang="ja-JP" sz="2000" b="1" i="1" smtClean="0">
                              <a:solidFill>
                                <a:schemeClr val="tx1"/>
                              </a:solidFill>
                              <a:latin typeface="Cambria Math" panose="02040503050406030204" pitchFamily="18" charset="0"/>
                            </a:rPr>
                            <m:t>𝟐</m:t>
                          </m:r>
                        </m:sup>
                      </m:sSubSup>
                    </m:oMath>
                  </m:oMathPara>
                </a14:m>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24" name="Text Placeholder 5">
                <a:extLst>
                  <a:ext uri="{FF2B5EF4-FFF2-40B4-BE49-F238E27FC236}">
                    <a16:creationId xmlns:a16="http://schemas.microsoft.com/office/drawing/2014/main" id="{4736CD92-1DC4-4EC9-AE11-ABE35547A7DB}"/>
                  </a:ext>
                </a:extLst>
              </p:cNvPr>
              <p:cNvSpPr txBox="1">
                <a:spLocks noRot="1" noChangeAspect="1" noMove="1" noResize="1" noEditPoints="1" noAdjustHandles="1" noChangeArrowheads="1" noChangeShapeType="1" noTextEdit="1"/>
              </p:cNvSpPr>
              <p:nvPr/>
            </p:nvSpPr>
            <p:spPr>
              <a:xfrm>
                <a:off x="1589855" y="5630903"/>
                <a:ext cx="1501254" cy="629437"/>
              </a:xfrm>
              <a:prstGeom prst="rect">
                <a:avLst/>
              </a:prstGeom>
              <a:blipFill>
                <a:blip r:embed="rId8"/>
                <a:stretch>
                  <a:fillRect/>
                </a:stretch>
              </a:blipFill>
            </p:spPr>
            <p:txBody>
              <a:bodyPr/>
              <a:lstStyle/>
              <a:p>
                <a:r>
                  <a:rPr lang="en-NZ">
                    <a:noFill/>
                  </a:rPr>
                  <a:t> </a:t>
                </a:r>
              </a:p>
            </p:txBody>
          </p:sp>
        </mc:Fallback>
      </mc:AlternateContent>
      <p:sp>
        <p:nvSpPr>
          <p:cNvPr id="25" name="TextBox 24">
            <a:extLst>
              <a:ext uri="{FF2B5EF4-FFF2-40B4-BE49-F238E27FC236}">
                <a16:creationId xmlns:a16="http://schemas.microsoft.com/office/drawing/2014/main" id="{249CD2C6-56C4-4C03-8EAD-35FE4F8C127A}"/>
              </a:ext>
            </a:extLst>
          </p:cNvPr>
          <p:cNvSpPr txBox="1"/>
          <p:nvPr/>
        </p:nvSpPr>
        <p:spPr>
          <a:xfrm>
            <a:off x="3091109" y="5706225"/>
            <a:ext cx="2069474" cy="369332"/>
          </a:xfrm>
          <a:prstGeom prst="rect">
            <a:avLst/>
          </a:prstGeom>
          <a:noFill/>
        </p:spPr>
        <p:txBody>
          <a:bodyPr wrap="square">
            <a:spAutoFit/>
          </a:bodyPr>
          <a:lstStyle/>
          <a:p>
            <a:r>
              <a:rPr lang="en-NZ" dirty="0">
                <a:solidFill>
                  <a:srgbClr val="002060"/>
                </a:solidFill>
              </a:rPr>
              <a:t>by Rule 2</a:t>
            </a: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2BB227EB-1872-4C6C-A636-BABD4D63A59F}"/>
                  </a:ext>
                </a:extLst>
              </p:cNvPr>
              <p:cNvSpPr txBox="1">
                <a:spLocks/>
              </p:cNvSpPr>
              <p:nvPr/>
            </p:nvSpPr>
            <p:spPr>
              <a:xfrm>
                <a:off x="1569493" y="6261876"/>
                <a:ext cx="1501254" cy="6294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left"/>
                    </m:oMathParaPr>
                    <m:oMath xmlns:m="http://schemas.openxmlformats.org/officeDocument/2006/math">
                      <m:r>
                        <a:rPr lang="en-NZ" altLang="ja-JP" sz="2000" b="1" i="1" smtClean="0">
                          <a:solidFill>
                            <a:schemeClr val="tx1"/>
                          </a:solidFill>
                          <a:latin typeface="Cambria Math" panose="02040503050406030204" pitchFamily="18" charset="0"/>
                        </a:rPr>
                        <m:t>~  </m:t>
                      </m:r>
                      <m:sSubSup>
                        <m:sSubSupPr>
                          <m:ctrlPr>
                            <a:rPr lang="en-NZ" altLang="ja-JP" sz="2000" b="1" i="1" smtClean="0">
                              <a:solidFill>
                                <a:schemeClr val="tx1"/>
                              </a:solidFill>
                              <a:latin typeface="Cambria Math" panose="02040503050406030204" pitchFamily="18" charset="0"/>
                            </a:rPr>
                          </m:ctrlPr>
                        </m:sSubSupPr>
                        <m:e>
                          <m:r>
                            <a:rPr lang="en-NZ" altLang="ja-JP" sz="2000" b="1" i="1" smtClean="0">
                              <a:solidFill>
                                <a:schemeClr val="tx1"/>
                              </a:solidFill>
                              <a:latin typeface="Cambria Math" panose="02040503050406030204" pitchFamily="18" charset="0"/>
                            </a:rPr>
                            <m:t>𝝌</m:t>
                          </m:r>
                        </m:e>
                        <m:sub>
                          <m:r>
                            <a:rPr lang="en-NZ" altLang="ja-JP" sz="2000" b="1" i="1" smtClean="0">
                              <a:solidFill>
                                <a:schemeClr val="tx1"/>
                              </a:solidFill>
                              <a:latin typeface="Cambria Math" panose="02040503050406030204" pitchFamily="18" charset="0"/>
                            </a:rPr>
                            <m:t>𝑵</m:t>
                          </m:r>
                          <m:r>
                            <a:rPr lang="en-NZ" altLang="ja-JP" sz="2000" b="1" i="1" smtClean="0">
                              <a:solidFill>
                                <a:schemeClr val="tx1"/>
                              </a:solidFill>
                              <a:latin typeface="Cambria Math" panose="02040503050406030204" pitchFamily="18" charset="0"/>
                            </a:rPr>
                            <m:t> − </m:t>
                          </m:r>
                          <m:r>
                            <a:rPr lang="en-NZ" altLang="ja-JP" sz="2000" b="1" i="1" smtClean="0">
                              <a:solidFill>
                                <a:schemeClr val="tx1"/>
                              </a:solidFill>
                              <a:latin typeface="Cambria Math" panose="02040503050406030204" pitchFamily="18" charset="0"/>
                            </a:rPr>
                            <m:t>𝒌</m:t>
                          </m:r>
                        </m:sub>
                        <m:sup>
                          <m:r>
                            <a:rPr lang="en-NZ" altLang="ja-JP" sz="2000" b="1" i="1" smtClean="0">
                              <a:solidFill>
                                <a:schemeClr val="tx1"/>
                              </a:solidFill>
                              <a:latin typeface="Cambria Math" panose="02040503050406030204" pitchFamily="18" charset="0"/>
                            </a:rPr>
                            <m:t>𝟐</m:t>
                          </m:r>
                        </m:sup>
                      </m:sSubSup>
                    </m:oMath>
                  </m:oMathPara>
                </a14:m>
                <a:endParaRPr lang="en-NZ" altLang="ja-JP" sz="2000" dirty="0">
                  <a:solidFill>
                    <a:schemeClr val="tx1"/>
                  </a:solidFill>
                </a:endParaRPr>
              </a:p>
              <a:p>
                <a:pPr algn="just">
                  <a:lnSpc>
                    <a:spcPct val="100000"/>
                  </a:lnSpc>
                </a:pPr>
                <a:endParaRPr lang="en-NZ" altLang="ja-JP" sz="2000" i="1" dirty="0">
                  <a:solidFill>
                    <a:srgbClr val="C00000"/>
                  </a:solidFill>
                </a:endParaRPr>
              </a:p>
            </p:txBody>
          </p:sp>
        </mc:Choice>
        <mc:Fallback xmlns="">
          <p:sp>
            <p:nvSpPr>
              <p:cNvPr id="26" name="Text Placeholder 5">
                <a:extLst>
                  <a:ext uri="{FF2B5EF4-FFF2-40B4-BE49-F238E27FC236}">
                    <a16:creationId xmlns:a16="http://schemas.microsoft.com/office/drawing/2014/main" id="{2BB227EB-1872-4C6C-A636-BABD4D63A59F}"/>
                  </a:ext>
                </a:extLst>
              </p:cNvPr>
              <p:cNvSpPr txBox="1">
                <a:spLocks noRot="1" noChangeAspect="1" noMove="1" noResize="1" noEditPoints="1" noAdjustHandles="1" noChangeArrowheads="1" noChangeShapeType="1" noTextEdit="1"/>
              </p:cNvSpPr>
              <p:nvPr/>
            </p:nvSpPr>
            <p:spPr>
              <a:xfrm>
                <a:off x="1569493" y="6261876"/>
                <a:ext cx="1501254" cy="629437"/>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2C4AF2D-D07C-4F66-8764-391621E6D25A}"/>
                  </a:ext>
                </a:extLst>
              </p:cNvPr>
              <p:cNvSpPr txBox="1"/>
              <p:nvPr/>
            </p:nvSpPr>
            <p:spPr>
              <a:xfrm>
                <a:off x="3070747" y="6335662"/>
                <a:ext cx="4435522" cy="369332"/>
              </a:xfrm>
              <a:prstGeom prst="rect">
                <a:avLst/>
              </a:prstGeom>
              <a:noFill/>
            </p:spPr>
            <p:txBody>
              <a:bodyPr wrap="square">
                <a:spAutoFit/>
              </a:bodyPr>
              <a:lstStyle/>
              <a:p>
                <a:r>
                  <a:rPr lang="en-NZ" dirty="0">
                    <a:solidFill>
                      <a:srgbClr val="002060"/>
                    </a:solidFill>
                  </a:rPr>
                  <a:t>Since  </a:t>
                </a:r>
                <a14:m>
                  <m:oMath xmlns:m="http://schemas.openxmlformats.org/officeDocument/2006/math">
                    <m:r>
                      <a:rPr lang="en-NZ" b="1" i="1" smtClean="0">
                        <a:solidFill>
                          <a:srgbClr val="002060"/>
                        </a:solidFill>
                        <a:latin typeface="Cambria Math" panose="02040503050406030204" pitchFamily="18" charset="0"/>
                      </a:rPr>
                      <m:t>𝑵</m:t>
                    </m:r>
                    <m:r>
                      <a:rPr lang="en-NZ" b="1" i="1" smtClean="0">
                        <a:solidFill>
                          <a:srgbClr val="002060"/>
                        </a:solidFill>
                        <a:latin typeface="Cambria Math" panose="02040503050406030204" pitchFamily="18" charset="0"/>
                      </a:rPr>
                      <m:t>=</m:t>
                    </m:r>
                    <m:r>
                      <a:rPr lang="en-NZ" b="1" i="1" smtClean="0">
                        <a:solidFill>
                          <a:srgbClr val="002060"/>
                        </a:solidFill>
                        <a:latin typeface="Cambria Math" panose="02040503050406030204" pitchFamily="18" charset="0"/>
                      </a:rPr>
                      <m:t>𝒏𝒌</m:t>
                    </m:r>
                  </m:oMath>
                </a14:m>
                <a:r>
                  <a:rPr lang="en-NZ" b="1" dirty="0">
                    <a:solidFill>
                      <a:srgbClr val="002060"/>
                    </a:solidFill>
                  </a:rPr>
                  <a:t>  </a:t>
                </a:r>
                <a:r>
                  <a:rPr lang="en-NZ" dirty="0">
                    <a:solidFill>
                      <a:srgbClr val="002060"/>
                    </a:solidFill>
                  </a:rPr>
                  <a:t>for a balanced design</a:t>
                </a:r>
              </a:p>
            </p:txBody>
          </p:sp>
        </mc:Choice>
        <mc:Fallback xmlns="">
          <p:sp>
            <p:nvSpPr>
              <p:cNvPr id="28" name="TextBox 27">
                <a:extLst>
                  <a:ext uri="{FF2B5EF4-FFF2-40B4-BE49-F238E27FC236}">
                    <a16:creationId xmlns:a16="http://schemas.microsoft.com/office/drawing/2014/main" id="{12C4AF2D-D07C-4F66-8764-391621E6D25A}"/>
                  </a:ext>
                </a:extLst>
              </p:cNvPr>
              <p:cNvSpPr txBox="1">
                <a:spLocks noRot="1" noChangeAspect="1" noMove="1" noResize="1" noEditPoints="1" noAdjustHandles="1" noChangeArrowheads="1" noChangeShapeType="1" noTextEdit="1"/>
              </p:cNvSpPr>
              <p:nvPr/>
            </p:nvSpPr>
            <p:spPr>
              <a:xfrm>
                <a:off x="3070747" y="6335662"/>
                <a:ext cx="4435522" cy="369332"/>
              </a:xfrm>
              <a:prstGeom prst="rect">
                <a:avLst/>
              </a:prstGeom>
              <a:blipFill>
                <a:blip r:embed="rId10"/>
                <a:stretch>
                  <a:fillRect l="-1238" t="-8197" b="-2459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88DCAD25-545D-4C3B-AEA6-3F6C8FBAB667}"/>
                  </a:ext>
                </a:extLst>
              </p:cNvPr>
              <p:cNvSpPr txBox="1">
                <a:spLocks/>
              </p:cNvSpPr>
              <p:nvPr/>
            </p:nvSpPr>
            <p:spPr>
              <a:xfrm>
                <a:off x="8095397" y="5690335"/>
                <a:ext cx="2725003" cy="1051880"/>
              </a:xfrm>
              <a:prstGeom prst="rect">
                <a:avLst/>
              </a:prstGeom>
              <a:ln>
                <a:solidFill>
                  <a:schemeClr val="bg2">
                    <a:lumMod val="50000"/>
                  </a:schemeClr>
                </a:solid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u="sng" dirty="0">
                    <a:solidFill>
                      <a:srgbClr val="C00000"/>
                    </a:solidFill>
                    <a:latin typeface="Cambria Math" panose="02040503050406030204" pitchFamily="18" charset="0"/>
                  </a:rPr>
                  <a:t>Conclusion 2</a:t>
                </a:r>
              </a:p>
              <a:p>
                <a:pPr algn="just">
                  <a:lnSpc>
                    <a:spcPct val="100000"/>
                  </a:lnSpc>
                </a:pPr>
                <a14:m>
                  <m:oMathPara xmlns:m="http://schemas.openxmlformats.org/officeDocument/2006/math">
                    <m:oMathParaPr>
                      <m:jc m:val="center"/>
                    </m:oMathParaPr>
                    <m:oMath xmlns:m="http://schemas.openxmlformats.org/officeDocument/2006/math">
                      <m:r>
                        <a:rPr lang="en-NZ" altLang="ja-JP" sz="1800" b="1" i="1" smtClean="0">
                          <a:solidFill>
                            <a:srgbClr val="C00000"/>
                          </a:solidFill>
                          <a:latin typeface="Cambria Math" panose="02040503050406030204" pitchFamily="18" charset="0"/>
                        </a:rPr>
                        <m:t>⇒  </m:t>
                      </m:r>
                      <m:f>
                        <m:fPr>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𝟏</m:t>
                          </m:r>
                        </m:num>
                        <m:den>
                          <m:sSup>
                            <m:sSupPr>
                              <m:ctrlPr>
                                <a:rPr lang="en-NZ" altLang="ja-JP" sz="1800" b="1" i="1" smtClean="0">
                                  <a:solidFill>
                                    <a:srgbClr val="C00000"/>
                                  </a:solidFill>
                                  <a:latin typeface="Cambria Math" panose="02040503050406030204" pitchFamily="18" charset="0"/>
                                </a:rPr>
                              </m:ctrlPr>
                            </m:sSupPr>
                            <m:e>
                              <m:r>
                                <a:rPr lang="en-NZ" altLang="ja-JP" sz="1800" b="1" i="1" smtClean="0">
                                  <a:solidFill>
                                    <a:srgbClr val="C00000"/>
                                  </a:solidFill>
                                  <a:latin typeface="Cambria Math" panose="02040503050406030204" pitchFamily="18" charset="0"/>
                                </a:rPr>
                                <m:t>𝝈</m:t>
                              </m:r>
                            </m:e>
                            <m:sup>
                              <m:r>
                                <a:rPr lang="en-NZ" altLang="ja-JP" sz="1800" b="1" i="1" smtClean="0">
                                  <a:solidFill>
                                    <a:srgbClr val="C00000"/>
                                  </a:solidFill>
                                  <a:latin typeface="Cambria Math" panose="02040503050406030204" pitchFamily="18" charset="0"/>
                                </a:rPr>
                                <m:t>𝟐</m:t>
                              </m:r>
                            </m:sup>
                          </m:sSup>
                        </m:den>
                      </m:f>
                      <m: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𝑺𝑺𝑬</m:t>
                      </m:r>
                      <m:r>
                        <a:rPr lang="en-NZ" altLang="ja-JP" sz="1800" b="1" i="1" smtClean="0">
                          <a:solidFill>
                            <a:srgbClr val="C00000"/>
                          </a:solidFill>
                          <a:latin typeface="Cambria Math" panose="02040503050406030204" pitchFamily="18" charset="0"/>
                        </a:rPr>
                        <m:t>  ~ </m:t>
                      </m:r>
                      <m:sSubSup>
                        <m:sSubSupPr>
                          <m:ctrlPr>
                            <a:rPr lang="en-NZ" altLang="ja-JP" sz="1800" b="1" i="1">
                              <a:solidFill>
                                <a:srgbClr val="C00000"/>
                              </a:solidFill>
                              <a:latin typeface="Cambria Math" panose="02040503050406030204" pitchFamily="18" charset="0"/>
                            </a:rPr>
                          </m:ctrlPr>
                        </m:sSubSupPr>
                        <m:e>
                          <m:r>
                            <a:rPr lang="en-NZ" altLang="ja-JP" sz="1800" b="1" i="1">
                              <a:solidFill>
                                <a:srgbClr val="C00000"/>
                              </a:solidFill>
                              <a:latin typeface="Cambria Math" panose="02040503050406030204" pitchFamily="18" charset="0"/>
                            </a:rPr>
                            <m:t>𝝌</m:t>
                          </m:r>
                        </m:e>
                        <m:sub>
                          <m:r>
                            <a:rPr lang="en-NZ" altLang="ja-JP" sz="1800" b="1" i="1">
                              <a:solidFill>
                                <a:srgbClr val="C00000"/>
                              </a:solidFill>
                              <a:latin typeface="Cambria Math" panose="02040503050406030204" pitchFamily="18" charset="0"/>
                            </a:rPr>
                            <m:t>𝑵</m:t>
                          </m:r>
                          <m:r>
                            <a:rPr lang="en-NZ" altLang="ja-JP" sz="1800" b="1" i="1">
                              <a:solidFill>
                                <a:srgbClr val="C00000"/>
                              </a:solidFill>
                              <a:latin typeface="Cambria Math" panose="02040503050406030204" pitchFamily="18" charset="0"/>
                            </a:rPr>
                            <m:t> − </m:t>
                          </m:r>
                          <m:r>
                            <a:rPr lang="en-NZ" altLang="ja-JP" sz="1800" b="1" i="1">
                              <a:solidFill>
                                <a:srgbClr val="C00000"/>
                              </a:solidFill>
                              <a:latin typeface="Cambria Math" panose="02040503050406030204" pitchFamily="18" charset="0"/>
                            </a:rPr>
                            <m:t>𝒌</m:t>
                          </m:r>
                        </m:sub>
                        <m:sup>
                          <m:r>
                            <a:rPr lang="en-NZ" altLang="ja-JP" sz="1800" b="1" i="1">
                              <a:solidFill>
                                <a:srgbClr val="C00000"/>
                              </a:solidFill>
                              <a:latin typeface="Cambria Math" panose="02040503050406030204" pitchFamily="18" charset="0"/>
                            </a:rPr>
                            <m:t>𝟐</m:t>
                          </m:r>
                        </m:sup>
                      </m:sSubSup>
                    </m:oMath>
                  </m:oMathPara>
                </a14:m>
                <a:endParaRPr lang="en-NZ" altLang="ja-JP" sz="1800" dirty="0">
                  <a:solidFill>
                    <a:srgbClr val="C00000"/>
                  </a:solidFill>
                </a:endParaRPr>
              </a:p>
              <a:p>
                <a:pPr algn="just">
                  <a:lnSpc>
                    <a:spcPct val="100000"/>
                  </a:lnSpc>
                </a:pPr>
                <a:endParaRPr lang="en-NZ" altLang="ja-JP" sz="1800" i="1" dirty="0">
                  <a:solidFill>
                    <a:srgbClr val="C00000"/>
                  </a:solidFill>
                </a:endParaRPr>
              </a:p>
            </p:txBody>
          </p:sp>
        </mc:Choice>
        <mc:Fallback xmlns="">
          <p:sp>
            <p:nvSpPr>
              <p:cNvPr id="29" name="Text Placeholder 5">
                <a:extLst>
                  <a:ext uri="{FF2B5EF4-FFF2-40B4-BE49-F238E27FC236}">
                    <a16:creationId xmlns:a16="http://schemas.microsoft.com/office/drawing/2014/main" id="{88DCAD25-545D-4C3B-AEA6-3F6C8FBAB667}"/>
                  </a:ext>
                </a:extLst>
              </p:cNvPr>
              <p:cNvSpPr txBox="1">
                <a:spLocks noRot="1" noChangeAspect="1" noMove="1" noResize="1" noEditPoints="1" noAdjustHandles="1" noChangeArrowheads="1" noChangeShapeType="1" noTextEdit="1"/>
              </p:cNvSpPr>
              <p:nvPr/>
            </p:nvSpPr>
            <p:spPr>
              <a:xfrm>
                <a:off x="8095397" y="5690335"/>
                <a:ext cx="2725003" cy="1051880"/>
              </a:xfrm>
              <a:prstGeom prst="rect">
                <a:avLst/>
              </a:prstGeom>
              <a:blipFill>
                <a:blip r:embed="rId11"/>
                <a:stretch>
                  <a:fillRect t="-2857"/>
                </a:stretch>
              </a:blipFill>
              <a:ln>
                <a:solidFill>
                  <a:schemeClr val="bg2">
                    <a:lumMod val="50000"/>
                  </a:schemeClr>
                </a:solidFill>
              </a:ln>
            </p:spPr>
            <p:txBody>
              <a:bodyPr/>
              <a:lstStyle/>
              <a:p>
                <a:r>
                  <a:rPr lang="en-NZ">
                    <a:noFill/>
                  </a:rPr>
                  <a:t> </a:t>
                </a:r>
              </a:p>
            </p:txBody>
          </p:sp>
        </mc:Fallback>
      </mc:AlternateContent>
      <p:sp>
        <p:nvSpPr>
          <p:cNvPr id="27" name="Title 6">
            <a:extLst>
              <a:ext uri="{FF2B5EF4-FFF2-40B4-BE49-F238E27FC236}">
                <a16:creationId xmlns:a16="http://schemas.microsoft.com/office/drawing/2014/main" id="{2A5306FE-DE3A-9934-ADAC-F545E9B4393E}"/>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2.4b – Distribution of the F-Statistic:</a:t>
            </a:r>
            <a:endParaRPr lang="ja-JP" altLang="en-US" b="1" u="sng" dirty="0">
              <a:latin typeface="+mn-lt"/>
            </a:endParaRPr>
          </a:p>
        </p:txBody>
      </p:sp>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ED1D921C-BA2D-5176-0563-93BE78C5B78C}"/>
                  </a:ext>
                </a:extLst>
              </p:cNvPr>
              <p:cNvSpPr txBox="1">
                <a:spLocks/>
              </p:cNvSpPr>
              <p:nvPr/>
            </p:nvSpPr>
            <p:spPr>
              <a:xfrm>
                <a:off x="869870" y="4316606"/>
                <a:ext cx="5066906" cy="12055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b="1" u="sng" dirty="0">
                    <a:solidFill>
                      <a:srgbClr val="002060"/>
                    </a:solidFill>
                  </a:rPr>
                  <a:t>Rule 1</a:t>
                </a:r>
              </a:p>
              <a:p>
                <a:pPr>
                  <a:lnSpc>
                    <a:spcPct val="100000"/>
                  </a:lnSpc>
                </a:pPr>
                <a:r>
                  <a:rPr lang="en-NZ" altLang="ja-JP" sz="1400" dirty="0">
                    <a:solidFill>
                      <a:srgbClr val="002060"/>
                    </a:solidFill>
                  </a:rPr>
                  <a:t>If </a:t>
                </a:r>
                <a:r>
                  <a:rPr lang="en-NZ" altLang="ja-JP" sz="1400" b="1" i="1" dirty="0">
                    <a:solidFill>
                      <a:srgbClr val="002060"/>
                    </a:solidFill>
                  </a:rPr>
                  <a:t>X</a:t>
                </a:r>
                <a:r>
                  <a:rPr lang="en-NZ" altLang="ja-JP" sz="1400" b="1" i="1" baseline="-25000" dirty="0">
                    <a:solidFill>
                      <a:srgbClr val="002060"/>
                    </a:solidFill>
                  </a:rPr>
                  <a:t>1</a:t>
                </a:r>
                <a:r>
                  <a:rPr lang="en-NZ" altLang="ja-JP" sz="1400" b="1" i="1" dirty="0">
                    <a:solidFill>
                      <a:srgbClr val="002060"/>
                    </a:solidFill>
                  </a:rPr>
                  <a:t> , … , </a:t>
                </a:r>
                <a:r>
                  <a:rPr lang="en-NZ" altLang="ja-JP" sz="1400" b="1" i="1" dirty="0" err="1">
                    <a:solidFill>
                      <a:srgbClr val="002060"/>
                    </a:solidFill>
                  </a:rPr>
                  <a:t>X</a:t>
                </a:r>
                <a:r>
                  <a:rPr lang="en-NZ" altLang="ja-JP" sz="1400" b="1" i="1" baseline="-25000" dirty="0" err="1">
                    <a:solidFill>
                      <a:srgbClr val="002060"/>
                    </a:solidFill>
                  </a:rPr>
                  <a:t>n</a:t>
                </a:r>
                <a:r>
                  <a:rPr lang="en-NZ" altLang="ja-JP" sz="1400" dirty="0">
                    <a:solidFill>
                      <a:srgbClr val="002060"/>
                    </a:solidFill>
                  </a:rPr>
                  <a:t>   are   </a:t>
                </a:r>
                <a:r>
                  <a:rPr lang="en-NZ" altLang="ja-JP" sz="1400" dirty="0" err="1">
                    <a:solidFill>
                      <a:srgbClr val="002060"/>
                    </a:solidFill>
                  </a:rPr>
                  <a:t>i.i.d</a:t>
                </a:r>
                <a:r>
                  <a:rPr lang="en-NZ" altLang="ja-JP" sz="1400" dirty="0">
                    <a:solidFill>
                      <a:srgbClr val="002060"/>
                    </a:solidFill>
                  </a:rPr>
                  <a:t> random variables such that </a:t>
                </a:r>
                <a14:m>
                  <m:oMath xmlns:m="http://schemas.openxmlformats.org/officeDocument/2006/math">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𝑿</m:t>
                        </m:r>
                      </m:e>
                      <m:sub>
                        <m:r>
                          <a:rPr lang="en-NZ" altLang="ja-JP" sz="1400" b="1" i="1" smtClean="0">
                            <a:solidFill>
                              <a:srgbClr val="002060"/>
                            </a:solidFill>
                            <a:latin typeface="Cambria Math" panose="02040503050406030204" pitchFamily="18" charset="0"/>
                          </a:rPr>
                          <m:t>𝒊</m:t>
                        </m:r>
                      </m:sub>
                    </m:sSub>
                    <m:r>
                      <a:rPr lang="en-NZ" altLang="ja-JP" sz="1400" b="1" i="1" smtClean="0">
                        <a:solidFill>
                          <a:srgbClr val="002060"/>
                        </a:solidFill>
                        <a:latin typeface="Cambria Math" panose="02040503050406030204" pitchFamily="18" charset="0"/>
                      </a:rPr>
                      <m:t> ~ </m:t>
                    </m:r>
                    <m:r>
                      <a:rPr lang="en-NZ" altLang="ja-JP" sz="1400" b="1" i="1" smtClean="0">
                        <a:solidFill>
                          <a:srgbClr val="002060"/>
                        </a:solidFill>
                        <a:latin typeface="Cambria Math" panose="02040503050406030204" pitchFamily="18" charset="0"/>
                      </a:rPr>
                      <m:t>𝑵</m:t>
                    </m:r>
                    <m:d>
                      <m:dPr>
                        <m:ctrlPr>
                          <a:rPr lang="en-NZ" altLang="ja-JP" sz="1400" b="1" i="1" smtClean="0">
                            <a:solidFill>
                              <a:srgbClr val="002060"/>
                            </a:solidFill>
                            <a:latin typeface="Cambria Math" panose="02040503050406030204" pitchFamily="18" charset="0"/>
                          </a:rPr>
                        </m:ctrlPr>
                      </m:dPr>
                      <m:e>
                        <m:r>
                          <a:rPr lang="en-NZ" altLang="ja-JP" sz="1400" b="1" i="1" smtClean="0">
                            <a:solidFill>
                              <a:srgbClr val="002060"/>
                            </a:solidFill>
                            <a:latin typeface="Cambria Math" panose="02040503050406030204" pitchFamily="18" charset="0"/>
                          </a:rPr>
                          <m:t>𝝁</m:t>
                        </m:r>
                        <m:r>
                          <a:rPr lang="en-NZ" altLang="ja-JP" sz="1400" b="1" i="1" smtClean="0">
                            <a:solidFill>
                              <a:srgbClr val="002060"/>
                            </a:solidFill>
                            <a:latin typeface="Cambria Math" panose="02040503050406030204" pitchFamily="18" charset="0"/>
                          </a:rPr>
                          <m:t> , </m:t>
                        </m:r>
                        <m:sSup>
                          <m:sSupPr>
                            <m:ctrlPr>
                              <a:rPr lang="en-NZ" altLang="ja-JP" sz="1400" b="1" i="1" smtClean="0">
                                <a:solidFill>
                                  <a:srgbClr val="002060"/>
                                </a:solidFill>
                                <a:latin typeface="Cambria Math" panose="02040503050406030204" pitchFamily="18" charset="0"/>
                              </a:rPr>
                            </m:ctrlPr>
                          </m:sSupPr>
                          <m:e>
                            <m:r>
                              <a:rPr lang="en-NZ" altLang="ja-JP" sz="1400" b="1" i="1" smtClean="0">
                                <a:solidFill>
                                  <a:srgbClr val="002060"/>
                                </a:solidFill>
                                <a:latin typeface="Cambria Math" panose="02040503050406030204" pitchFamily="18" charset="0"/>
                              </a:rPr>
                              <m:t>𝝈</m:t>
                            </m:r>
                          </m:e>
                          <m:sup>
                            <m:r>
                              <a:rPr lang="en-NZ" altLang="ja-JP" sz="1400" b="1" i="1" smtClean="0">
                                <a:solidFill>
                                  <a:srgbClr val="002060"/>
                                </a:solidFill>
                                <a:latin typeface="Cambria Math" panose="02040503050406030204" pitchFamily="18" charset="0"/>
                              </a:rPr>
                              <m:t>𝟐</m:t>
                            </m:r>
                          </m:sup>
                        </m:sSup>
                      </m:e>
                    </m:d>
                  </m:oMath>
                </a14:m>
                <a:endParaRPr lang="en-NZ" altLang="ja-JP" sz="200" b="0" dirty="0">
                  <a:solidFill>
                    <a:srgbClr val="002060"/>
                  </a:solidFill>
                </a:endParaRPr>
              </a:p>
              <a:p>
                <a:pPr algn="just">
                  <a:lnSpc>
                    <a:spcPct val="100000"/>
                  </a:lnSpc>
                </a:pPr>
                <a:endParaRPr lang="en-NZ" altLang="ja-JP" sz="200" b="0" dirty="0">
                  <a:solidFill>
                    <a:srgbClr val="002060"/>
                  </a:solidFill>
                </a:endParaRPr>
              </a:p>
              <a:p>
                <a:pPr algn="just">
                  <a:lnSpc>
                    <a:spcPct val="100000"/>
                  </a:lnSpc>
                </a:pPr>
                <a14:m>
                  <m:oMathPara xmlns:m="http://schemas.openxmlformats.org/officeDocument/2006/math">
                    <m:oMathParaPr>
                      <m:jc m:val="left"/>
                    </m:oMathParaPr>
                    <m:oMath xmlns:m="http://schemas.openxmlformats.org/officeDocument/2006/math">
                      <m:r>
                        <a:rPr lang="en-NZ" altLang="ja-JP" sz="1400" b="1" i="1" smtClean="0">
                          <a:solidFill>
                            <a:srgbClr val="002060"/>
                          </a:solidFill>
                          <a:latin typeface="Cambria Math" panose="02040503050406030204" pitchFamily="18" charset="0"/>
                        </a:rPr>
                        <m:t>𝑾</m:t>
                      </m:r>
                      <m:r>
                        <a:rPr lang="en-NZ" altLang="ja-JP" sz="1400" b="1" i="1" smtClean="0">
                          <a:solidFill>
                            <a:srgbClr val="002060"/>
                          </a:solidFill>
                          <a:latin typeface="Cambria Math" panose="02040503050406030204" pitchFamily="18" charset="0"/>
                        </a:rPr>
                        <m:t>= </m:t>
                      </m:r>
                      <m:f>
                        <m:fPr>
                          <m:ctrlPr>
                            <a:rPr lang="en-NZ" altLang="ja-JP" sz="1400" b="1" i="1" smtClean="0">
                              <a:solidFill>
                                <a:srgbClr val="002060"/>
                              </a:solidFill>
                              <a:latin typeface="Cambria Math" panose="02040503050406030204" pitchFamily="18" charset="0"/>
                            </a:rPr>
                          </m:ctrlPr>
                        </m:fPr>
                        <m:num>
                          <m:r>
                            <a:rPr lang="en-NZ" altLang="ja-JP" sz="1400" b="1" i="1" smtClean="0">
                              <a:solidFill>
                                <a:srgbClr val="002060"/>
                              </a:solidFill>
                              <a:latin typeface="Cambria Math" panose="02040503050406030204" pitchFamily="18" charset="0"/>
                            </a:rPr>
                            <m:t>𝟏</m:t>
                          </m:r>
                        </m:num>
                        <m:den>
                          <m:sSup>
                            <m:sSupPr>
                              <m:ctrlPr>
                                <a:rPr lang="en-NZ" altLang="ja-JP" sz="1400" b="1" i="1" smtClean="0">
                                  <a:solidFill>
                                    <a:srgbClr val="002060"/>
                                  </a:solidFill>
                                  <a:latin typeface="Cambria Math" panose="02040503050406030204" pitchFamily="18" charset="0"/>
                                </a:rPr>
                              </m:ctrlPr>
                            </m:sSupPr>
                            <m:e>
                              <m:r>
                                <a:rPr lang="en-NZ" altLang="ja-JP" sz="1400" b="1" i="1" smtClean="0">
                                  <a:solidFill>
                                    <a:srgbClr val="002060"/>
                                  </a:solidFill>
                                  <a:latin typeface="Cambria Math" panose="02040503050406030204" pitchFamily="18" charset="0"/>
                                </a:rPr>
                                <m:t>𝝈</m:t>
                              </m:r>
                            </m:e>
                            <m:sup>
                              <m:r>
                                <a:rPr lang="en-NZ" altLang="ja-JP" sz="1400" b="1" i="1" smtClean="0">
                                  <a:solidFill>
                                    <a:srgbClr val="002060"/>
                                  </a:solidFill>
                                  <a:latin typeface="Cambria Math" panose="02040503050406030204" pitchFamily="18" charset="0"/>
                                </a:rPr>
                                <m:t>𝟐</m:t>
                              </m:r>
                            </m:sup>
                          </m:sSup>
                        </m:den>
                      </m:f>
                      <m:r>
                        <a:rPr lang="en-NZ" altLang="ja-JP" sz="1400" b="1" i="1" smtClean="0">
                          <a:solidFill>
                            <a:srgbClr val="002060"/>
                          </a:solidFill>
                          <a:latin typeface="Cambria Math" panose="02040503050406030204" pitchFamily="18" charset="0"/>
                        </a:rPr>
                        <m:t> </m:t>
                      </m:r>
                      <m:nary>
                        <m:naryPr>
                          <m:chr m:val="∑"/>
                          <m:ctrlPr>
                            <a:rPr lang="en-NZ" altLang="ja-JP" sz="1400" b="1" i="1" smtClean="0">
                              <a:solidFill>
                                <a:srgbClr val="002060"/>
                              </a:solidFill>
                              <a:latin typeface="Cambria Math" panose="02040503050406030204" pitchFamily="18" charset="0"/>
                            </a:rPr>
                          </m:ctrlPr>
                        </m:naryPr>
                        <m:sub>
                          <m:r>
                            <a:rPr lang="en-NZ" altLang="ja-JP" sz="1400" b="1" i="1" smtClean="0">
                              <a:solidFill>
                                <a:srgbClr val="002060"/>
                              </a:solidFill>
                              <a:latin typeface="Cambria Math" panose="02040503050406030204" pitchFamily="18" charset="0"/>
                            </a:rPr>
                            <m:t>𝒊</m:t>
                          </m:r>
                          <m:r>
                            <a:rPr lang="en-NZ" altLang="ja-JP" sz="1400" b="1" i="1" smtClean="0">
                              <a:solidFill>
                                <a:srgbClr val="002060"/>
                              </a:solidFill>
                              <a:latin typeface="Cambria Math" panose="02040503050406030204" pitchFamily="18" charset="0"/>
                            </a:rPr>
                            <m:t>=</m:t>
                          </m:r>
                          <m:r>
                            <a:rPr lang="en-NZ" altLang="ja-JP" sz="1400" b="1" i="1" smtClean="0">
                              <a:solidFill>
                                <a:srgbClr val="002060"/>
                              </a:solidFill>
                              <a:latin typeface="Cambria Math" panose="02040503050406030204" pitchFamily="18" charset="0"/>
                            </a:rPr>
                            <m:t>𝟏</m:t>
                          </m:r>
                        </m:sub>
                        <m:sup>
                          <m:r>
                            <a:rPr lang="en-NZ" altLang="ja-JP" sz="1400" b="1" i="1" smtClean="0">
                              <a:solidFill>
                                <a:srgbClr val="002060"/>
                              </a:solidFill>
                              <a:latin typeface="Cambria Math" panose="02040503050406030204" pitchFamily="18" charset="0"/>
                            </a:rPr>
                            <m:t>𝒏</m:t>
                          </m:r>
                        </m:sup>
                        <m:e>
                          <m:sSup>
                            <m:sSupPr>
                              <m:ctrlPr>
                                <a:rPr lang="en-NZ" altLang="ja-JP" sz="1400" b="1" i="1" smtClean="0">
                                  <a:solidFill>
                                    <a:srgbClr val="002060"/>
                                  </a:solidFill>
                                  <a:latin typeface="Cambria Math" panose="02040503050406030204" pitchFamily="18" charset="0"/>
                                </a:rPr>
                              </m:ctrlPr>
                            </m:sSupPr>
                            <m:e>
                              <m:d>
                                <m:dPr>
                                  <m:ctrlPr>
                                    <a:rPr lang="en-NZ" altLang="ja-JP" sz="1400" b="1" i="1" smtClean="0">
                                      <a:solidFill>
                                        <a:srgbClr val="002060"/>
                                      </a:solidFill>
                                      <a:latin typeface="Cambria Math" panose="02040503050406030204" pitchFamily="18" charset="0"/>
                                    </a:rPr>
                                  </m:ctrlPr>
                                </m:dPr>
                                <m:e>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𝑿</m:t>
                                      </m:r>
                                    </m:e>
                                    <m:sub>
                                      <m:r>
                                        <a:rPr lang="en-NZ" altLang="ja-JP" sz="1400" b="1" i="1" smtClean="0">
                                          <a:solidFill>
                                            <a:srgbClr val="002060"/>
                                          </a:solidFill>
                                          <a:latin typeface="Cambria Math" panose="02040503050406030204" pitchFamily="18" charset="0"/>
                                        </a:rPr>
                                        <m:t>𝒊</m:t>
                                      </m:r>
                                    </m:sub>
                                  </m:sSub>
                                  <m:r>
                                    <a:rPr lang="en-NZ" altLang="ja-JP" sz="1400" b="1" i="1" smtClean="0">
                                      <a:solidFill>
                                        <a:srgbClr val="002060"/>
                                      </a:solidFill>
                                      <a:latin typeface="Cambria Math" panose="02040503050406030204" pitchFamily="18" charset="0"/>
                                    </a:rPr>
                                    <m:t> − </m:t>
                                  </m:r>
                                  <m:acc>
                                    <m:accPr>
                                      <m:chr m:val="̅"/>
                                      <m:ctrlPr>
                                        <a:rPr lang="en-NZ" altLang="ja-JP" sz="1400" b="1" i="1" smtClean="0">
                                          <a:solidFill>
                                            <a:srgbClr val="002060"/>
                                          </a:solidFill>
                                          <a:latin typeface="Cambria Math" panose="02040503050406030204" pitchFamily="18" charset="0"/>
                                        </a:rPr>
                                      </m:ctrlPr>
                                    </m:accPr>
                                    <m:e>
                                      <m:r>
                                        <a:rPr lang="en-NZ" altLang="ja-JP" sz="1400" b="1" i="1" smtClean="0">
                                          <a:solidFill>
                                            <a:srgbClr val="002060"/>
                                          </a:solidFill>
                                          <a:latin typeface="Cambria Math" panose="02040503050406030204" pitchFamily="18" charset="0"/>
                                        </a:rPr>
                                        <m:t>𝑿</m:t>
                                      </m:r>
                                    </m:e>
                                  </m:acc>
                                </m:e>
                              </m:d>
                            </m:e>
                            <m:sup>
                              <m:r>
                                <a:rPr lang="en-NZ" altLang="ja-JP" sz="1400" b="1" i="1" smtClean="0">
                                  <a:solidFill>
                                    <a:srgbClr val="002060"/>
                                  </a:solidFill>
                                  <a:latin typeface="Cambria Math" panose="02040503050406030204" pitchFamily="18" charset="0"/>
                                </a:rPr>
                                <m:t>𝟐</m:t>
                              </m:r>
                            </m:sup>
                          </m:sSup>
                        </m:e>
                      </m:nary>
                      <m:r>
                        <a:rPr lang="en-NZ" altLang="ja-JP" sz="1400" b="1" i="0" smtClean="0">
                          <a:solidFill>
                            <a:srgbClr val="002060"/>
                          </a:solidFill>
                          <a:latin typeface="Cambria Math" panose="02040503050406030204" pitchFamily="18" charset="0"/>
                        </a:rPr>
                        <m:t>    </m:t>
                      </m:r>
                      <m:r>
                        <a:rPr lang="en-NZ" altLang="ja-JP" sz="1400" b="1" i="1" smtClean="0">
                          <a:solidFill>
                            <a:srgbClr val="002060"/>
                          </a:solidFill>
                          <a:latin typeface="Cambria Math" panose="02040503050406030204" pitchFamily="18" charset="0"/>
                        </a:rPr>
                        <m:t>⇒    </m:t>
                      </m:r>
                      <m:r>
                        <a:rPr lang="en-NZ" altLang="ja-JP" sz="1400" b="1" i="1" smtClean="0">
                          <a:solidFill>
                            <a:srgbClr val="002060"/>
                          </a:solidFill>
                          <a:latin typeface="Cambria Math" panose="02040503050406030204" pitchFamily="18" charset="0"/>
                        </a:rPr>
                        <m:t>𝑾</m:t>
                      </m:r>
                      <m:r>
                        <a:rPr lang="en-NZ" altLang="ja-JP" sz="1400" b="1" i="1" smtClean="0">
                          <a:solidFill>
                            <a:srgbClr val="002060"/>
                          </a:solidFill>
                          <a:latin typeface="Cambria Math" panose="02040503050406030204" pitchFamily="18" charset="0"/>
                        </a:rPr>
                        <m:t> ~ </m:t>
                      </m:r>
                      <m:sSubSup>
                        <m:sSubSupPr>
                          <m:ctrlPr>
                            <a:rPr lang="en-NZ" altLang="ja-JP" sz="1400" b="1" i="1" smtClean="0">
                              <a:solidFill>
                                <a:srgbClr val="002060"/>
                              </a:solidFill>
                              <a:latin typeface="Cambria Math" panose="02040503050406030204" pitchFamily="18" charset="0"/>
                            </a:rPr>
                          </m:ctrlPr>
                        </m:sSubSupPr>
                        <m:e>
                          <m:r>
                            <a:rPr lang="en-NZ" altLang="ja-JP" sz="1400" b="1" i="1" smtClean="0">
                              <a:solidFill>
                                <a:srgbClr val="002060"/>
                              </a:solidFill>
                              <a:latin typeface="Cambria Math" panose="02040503050406030204" pitchFamily="18" charset="0"/>
                            </a:rPr>
                            <m:t>𝝌</m:t>
                          </m:r>
                        </m:e>
                        <m:sub>
                          <m:r>
                            <a:rPr lang="en-NZ" altLang="ja-JP" sz="1400" b="1" i="1" smtClean="0">
                              <a:solidFill>
                                <a:srgbClr val="002060"/>
                              </a:solidFill>
                              <a:latin typeface="Cambria Math" panose="02040503050406030204" pitchFamily="18" charset="0"/>
                            </a:rPr>
                            <m:t>𝒏</m:t>
                          </m:r>
                          <m:r>
                            <a:rPr lang="en-NZ" altLang="ja-JP" sz="1400" b="1" i="1" smtClean="0">
                              <a:solidFill>
                                <a:srgbClr val="002060"/>
                              </a:solidFill>
                              <a:latin typeface="Cambria Math" panose="02040503050406030204" pitchFamily="18" charset="0"/>
                            </a:rPr>
                            <m:t>−</m:t>
                          </m:r>
                          <m:r>
                            <a:rPr lang="en-NZ" altLang="ja-JP" sz="1400" b="1" i="1" smtClean="0">
                              <a:solidFill>
                                <a:srgbClr val="002060"/>
                              </a:solidFill>
                              <a:latin typeface="Cambria Math" panose="02040503050406030204" pitchFamily="18" charset="0"/>
                            </a:rPr>
                            <m:t>𝟏</m:t>
                          </m:r>
                        </m:sub>
                        <m:sup>
                          <m:r>
                            <a:rPr lang="en-NZ" altLang="ja-JP" sz="1400" b="1" i="1" smtClean="0">
                              <a:solidFill>
                                <a:srgbClr val="002060"/>
                              </a:solidFill>
                              <a:latin typeface="Cambria Math" panose="02040503050406030204" pitchFamily="18" charset="0"/>
                            </a:rPr>
                            <m:t>𝟐</m:t>
                          </m:r>
                        </m:sup>
                      </m:sSubSup>
                    </m:oMath>
                  </m:oMathPara>
                </a14:m>
                <a:endParaRPr lang="en-NZ" altLang="ja-JP" sz="1400" b="1" dirty="0">
                  <a:solidFill>
                    <a:srgbClr val="002060"/>
                  </a:solidFill>
                </a:endParaRPr>
              </a:p>
            </p:txBody>
          </p:sp>
        </mc:Choice>
        <mc:Fallback xmlns="">
          <p:sp>
            <p:nvSpPr>
              <p:cNvPr id="30" name="Text Placeholder 5">
                <a:extLst>
                  <a:ext uri="{FF2B5EF4-FFF2-40B4-BE49-F238E27FC236}">
                    <a16:creationId xmlns:a16="http://schemas.microsoft.com/office/drawing/2014/main" id="{ED1D921C-BA2D-5176-0563-93BE78C5B78C}"/>
                  </a:ext>
                </a:extLst>
              </p:cNvPr>
              <p:cNvSpPr txBox="1">
                <a:spLocks noRot="1" noChangeAspect="1" noMove="1" noResize="1" noEditPoints="1" noAdjustHandles="1" noChangeArrowheads="1" noChangeShapeType="1" noTextEdit="1"/>
              </p:cNvSpPr>
              <p:nvPr/>
            </p:nvSpPr>
            <p:spPr>
              <a:xfrm>
                <a:off x="869870" y="4316606"/>
                <a:ext cx="5066906" cy="1205567"/>
              </a:xfrm>
              <a:prstGeom prst="rect">
                <a:avLst/>
              </a:prstGeom>
              <a:blipFill>
                <a:blip r:embed="rId12"/>
                <a:stretch>
                  <a:fillRect l="-361" t="-101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A9575874-240C-9F89-0932-67F233A0D809}"/>
                  </a:ext>
                </a:extLst>
              </p:cNvPr>
              <p:cNvSpPr txBox="1">
                <a:spLocks/>
              </p:cNvSpPr>
              <p:nvPr/>
            </p:nvSpPr>
            <p:spPr>
              <a:xfrm>
                <a:off x="6255224" y="4316606"/>
                <a:ext cx="5066906" cy="12055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b="1" u="sng" dirty="0">
                    <a:solidFill>
                      <a:srgbClr val="002060"/>
                    </a:solidFill>
                  </a:rPr>
                  <a:t>Rule 2</a:t>
                </a:r>
              </a:p>
              <a:p>
                <a:pPr algn="just">
                  <a:lnSpc>
                    <a:spcPct val="100000"/>
                  </a:lnSpc>
                </a:pPr>
                <a:r>
                  <a:rPr lang="en-NZ" altLang="ja-JP" sz="1400" dirty="0">
                    <a:solidFill>
                      <a:srgbClr val="002060"/>
                    </a:solidFill>
                  </a:rPr>
                  <a:t>If </a:t>
                </a:r>
                <a:r>
                  <a:rPr lang="en-NZ" altLang="ja-JP" sz="1400" b="1" i="1" dirty="0">
                    <a:solidFill>
                      <a:srgbClr val="002060"/>
                    </a:solidFill>
                  </a:rPr>
                  <a:t>W</a:t>
                </a:r>
                <a:r>
                  <a:rPr lang="en-NZ" altLang="ja-JP" sz="1400" b="1" i="1" baseline="-25000" dirty="0">
                    <a:solidFill>
                      <a:srgbClr val="002060"/>
                    </a:solidFill>
                  </a:rPr>
                  <a:t>1</a:t>
                </a:r>
                <a:r>
                  <a:rPr lang="en-NZ" altLang="ja-JP" sz="1400" b="1" i="1" dirty="0">
                    <a:solidFill>
                      <a:srgbClr val="002060"/>
                    </a:solidFill>
                  </a:rPr>
                  <a:t> , … , </a:t>
                </a:r>
                <a:r>
                  <a:rPr lang="en-NZ" altLang="ja-JP" sz="1400" b="1" i="1" dirty="0" err="1">
                    <a:solidFill>
                      <a:srgbClr val="002060"/>
                    </a:solidFill>
                  </a:rPr>
                  <a:t>W</a:t>
                </a:r>
                <a:r>
                  <a:rPr lang="en-NZ" altLang="ja-JP" sz="1400" b="1" i="1" baseline="-25000" dirty="0" err="1">
                    <a:solidFill>
                      <a:srgbClr val="002060"/>
                    </a:solidFill>
                  </a:rPr>
                  <a:t>k</a:t>
                </a:r>
                <a:r>
                  <a:rPr lang="en-NZ" altLang="ja-JP" sz="1400" dirty="0">
                    <a:solidFill>
                      <a:srgbClr val="002060"/>
                    </a:solidFill>
                  </a:rPr>
                  <a:t>  are a set of independent and such that </a:t>
                </a:r>
                <a14:m>
                  <m:oMath xmlns:m="http://schemas.openxmlformats.org/officeDocument/2006/math">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𝑾</m:t>
                        </m:r>
                      </m:e>
                      <m:sub>
                        <m:r>
                          <a:rPr lang="en-NZ" altLang="ja-JP" sz="1400" b="1" i="1" smtClean="0">
                            <a:solidFill>
                              <a:srgbClr val="002060"/>
                            </a:solidFill>
                            <a:latin typeface="Cambria Math" panose="02040503050406030204" pitchFamily="18" charset="0"/>
                          </a:rPr>
                          <m:t>𝒊</m:t>
                        </m:r>
                      </m:sub>
                    </m:sSub>
                    <m:r>
                      <a:rPr lang="en-NZ" altLang="ja-JP" sz="1400" b="1" i="1" smtClean="0">
                        <a:solidFill>
                          <a:srgbClr val="002060"/>
                        </a:solidFill>
                        <a:latin typeface="Cambria Math" panose="02040503050406030204" pitchFamily="18" charset="0"/>
                      </a:rPr>
                      <m:t> ~ </m:t>
                    </m:r>
                    <m:sSubSup>
                      <m:sSubSupPr>
                        <m:ctrlPr>
                          <a:rPr lang="en-NZ" altLang="ja-JP" sz="1400" b="1" i="1" smtClean="0">
                            <a:solidFill>
                              <a:srgbClr val="002060"/>
                            </a:solidFill>
                            <a:latin typeface="Cambria Math" panose="02040503050406030204" pitchFamily="18" charset="0"/>
                          </a:rPr>
                        </m:ctrlPr>
                      </m:sSubSupPr>
                      <m:e>
                        <m:r>
                          <a:rPr lang="en-NZ" altLang="ja-JP" sz="1400" b="1" i="1" smtClean="0">
                            <a:solidFill>
                              <a:srgbClr val="002060"/>
                            </a:solidFill>
                            <a:latin typeface="Cambria Math" panose="02040503050406030204" pitchFamily="18" charset="0"/>
                          </a:rPr>
                          <m:t>𝝌</m:t>
                        </m:r>
                      </m:e>
                      <m:sub>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𝒊</m:t>
                            </m:r>
                          </m:sub>
                        </m:sSub>
                      </m:sub>
                      <m:sup>
                        <m:r>
                          <a:rPr lang="en-NZ" altLang="ja-JP" sz="1400" b="1" i="1" smtClean="0">
                            <a:solidFill>
                              <a:srgbClr val="002060"/>
                            </a:solidFill>
                            <a:latin typeface="Cambria Math" panose="02040503050406030204" pitchFamily="18" charset="0"/>
                          </a:rPr>
                          <m:t>𝟐</m:t>
                        </m:r>
                      </m:sup>
                    </m:sSubSup>
                  </m:oMath>
                </a14:m>
                <a:r>
                  <a:rPr lang="en-NZ" altLang="ja-JP" sz="1400" b="0" dirty="0">
                    <a:solidFill>
                      <a:srgbClr val="002060"/>
                    </a:solidFill>
                  </a:rPr>
                  <a:t>.</a:t>
                </a:r>
              </a:p>
              <a:p>
                <a:pPr algn="just">
                  <a:lnSpc>
                    <a:spcPct val="100000"/>
                  </a:lnSpc>
                </a:pPr>
                <a14:m>
                  <m:oMathPara xmlns:m="http://schemas.openxmlformats.org/officeDocument/2006/math">
                    <m:oMathParaPr>
                      <m:jc m:val="left"/>
                    </m:oMathParaPr>
                    <m:oMath xmlns:m="http://schemas.openxmlformats.org/officeDocument/2006/math">
                      <m:r>
                        <a:rPr lang="en-NZ" altLang="ja-JP" sz="1400" b="1" i="1" smtClean="0">
                          <a:solidFill>
                            <a:srgbClr val="002060"/>
                          </a:solidFill>
                          <a:latin typeface="Cambria Math" panose="02040503050406030204" pitchFamily="18" charset="0"/>
                        </a:rPr>
                        <m:t>⇒</m:t>
                      </m:r>
                      <m:r>
                        <a:rPr lang="en-NZ" altLang="ja-JP" sz="1400" b="0" i="1" smtClean="0">
                          <a:solidFill>
                            <a:srgbClr val="002060"/>
                          </a:solidFill>
                          <a:latin typeface="Cambria Math" panose="02040503050406030204" pitchFamily="18" charset="0"/>
                        </a:rPr>
                        <m:t>   </m:t>
                      </m:r>
                      <m:nary>
                        <m:naryPr>
                          <m:chr m:val="∑"/>
                          <m:ctrlPr>
                            <a:rPr lang="en-NZ" altLang="ja-JP" sz="1400" b="1" i="1" smtClean="0">
                              <a:solidFill>
                                <a:srgbClr val="002060"/>
                              </a:solidFill>
                              <a:latin typeface="Cambria Math" panose="02040503050406030204" pitchFamily="18" charset="0"/>
                            </a:rPr>
                          </m:ctrlPr>
                        </m:naryPr>
                        <m:sub>
                          <m:r>
                            <m:rPr>
                              <m:brk m:alnAt="23"/>
                            </m:rPr>
                            <a:rPr lang="en-NZ" altLang="ja-JP" sz="1400" b="1" i="1" smtClean="0">
                              <a:solidFill>
                                <a:srgbClr val="002060"/>
                              </a:solidFill>
                              <a:latin typeface="Cambria Math" panose="02040503050406030204" pitchFamily="18" charset="0"/>
                            </a:rPr>
                            <m:t>𝒊</m:t>
                          </m:r>
                          <m:r>
                            <a:rPr lang="en-NZ" altLang="ja-JP" sz="1400" b="1" i="1" smtClean="0">
                              <a:solidFill>
                                <a:srgbClr val="002060"/>
                              </a:solidFill>
                              <a:latin typeface="Cambria Math" panose="02040503050406030204" pitchFamily="18" charset="0"/>
                            </a:rPr>
                            <m:t>=</m:t>
                          </m:r>
                          <m:r>
                            <a:rPr lang="en-NZ" altLang="ja-JP" sz="1400" b="1" i="1" smtClean="0">
                              <a:solidFill>
                                <a:srgbClr val="002060"/>
                              </a:solidFill>
                              <a:latin typeface="Cambria Math" panose="02040503050406030204" pitchFamily="18" charset="0"/>
                            </a:rPr>
                            <m:t>𝟏</m:t>
                          </m:r>
                        </m:sub>
                        <m:sup>
                          <m:r>
                            <a:rPr lang="en-NZ" altLang="ja-JP" sz="1400" b="1" i="1" smtClean="0">
                              <a:solidFill>
                                <a:srgbClr val="002060"/>
                              </a:solidFill>
                              <a:latin typeface="Cambria Math" panose="02040503050406030204" pitchFamily="18" charset="0"/>
                            </a:rPr>
                            <m:t>𝒌</m:t>
                          </m:r>
                        </m:sup>
                        <m:e>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𝑾</m:t>
                              </m:r>
                            </m:e>
                            <m:sub>
                              <m:r>
                                <a:rPr lang="en-NZ" altLang="ja-JP" sz="1400" b="1" i="1" smtClean="0">
                                  <a:solidFill>
                                    <a:srgbClr val="002060"/>
                                  </a:solidFill>
                                  <a:latin typeface="Cambria Math" panose="02040503050406030204" pitchFamily="18" charset="0"/>
                                </a:rPr>
                                <m:t>𝒊</m:t>
                              </m:r>
                            </m:sub>
                          </m:sSub>
                        </m:e>
                      </m:nary>
                      <m:r>
                        <a:rPr lang="en-NZ" altLang="ja-JP" sz="1400" b="1" i="1" smtClean="0">
                          <a:solidFill>
                            <a:srgbClr val="002060"/>
                          </a:solidFill>
                          <a:latin typeface="Cambria Math" panose="02040503050406030204" pitchFamily="18" charset="0"/>
                        </a:rPr>
                        <m:t> ~ </m:t>
                      </m:r>
                      <m:sSubSup>
                        <m:sSubSupPr>
                          <m:ctrlPr>
                            <a:rPr lang="en-NZ" altLang="ja-JP" sz="1400" b="1" i="1" smtClean="0">
                              <a:solidFill>
                                <a:srgbClr val="002060"/>
                              </a:solidFill>
                              <a:latin typeface="Cambria Math" panose="02040503050406030204" pitchFamily="18" charset="0"/>
                            </a:rPr>
                          </m:ctrlPr>
                        </m:sSubSupPr>
                        <m:e>
                          <m:r>
                            <a:rPr lang="en-NZ" altLang="ja-JP" sz="1400" b="1" i="1" smtClean="0">
                              <a:solidFill>
                                <a:srgbClr val="002060"/>
                              </a:solidFill>
                              <a:latin typeface="Cambria Math" panose="02040503050406030204" pitchFamily="18" charset="0"/>
                            </a:rPr>
                            <m:t>𝝌</m:t>
                          </m:r>
                        </m:e>
                        <m:sub>
                          <m:nary>
                            <m:naryPr>
                              <m:chr m:val="∑"/>
                              <m:ctrlPr>
                                <a:rPr lang="en-NZ" altLang="ja-JP" sz="1400" b="1" i="1" smtClean="0">
                                  <a:solidFill>
                                    <a:srgbClr val="002060"/>
                                  </a:solidFill>
                                  <a:latin typeface="Cambria Math" panose="02040503050406030204" pitchFamily="18" charset="0"/>
                                </a:rPr>
                              </m:ctrlPr>
                            </m:naryPr>
                            <m:sub>
                              <m:r>
                                <m:rPr>
                                  <m:brk m:alnAt="23"/>
                                </m:rPr>
                                <a:rPr lang="en-NZ" altLang="ja-JP" sz="1400" b="1" i="1" smtClean="0">
                                  <a:solidFill>
                                    <a:srgbClr val="002060"/>
                                  </a:solidFill>
                                  <a:latin typeface="Cambria Math" panose="02040503050406030204" pitchFamily="18" charset="0"/>
                                </a:rPr>
                                <m:t>𝒊</m:t>
                              </m:r>
                              <m:r>
                                <a:rPr lang="en-NZ" altLang="ja-JP" sz="1400" b="1" i="1" smtClean="0">
                                  <a:solidFill>
                                    <a:srgbClr val="002060"/>
                                  </a:solidFill>
                                  <a:latin typeface="Cambria Math" panose="02040503050406030204" pitchFamily="18" charset="0"/>
                                </a:rPr>
                                <m:t>=</m:t>
                              </m:r>
                              <m:r>
                                <a:rPr lang="en-NZ" altLang="ja-JP" sz="1400" b="1" i="1" smtClean="0">
                                  <a:solidFill>
                                    <a:srgbClr val="002060"/>
                                  </a:solidFill>
                                  <a:latin typeface="Cambria Math" panose="02040503050406030204" pitchFamily="18" charset="0"/>
                                </a:rPr>
                                <m:t>𝟏</m:t>
                              </m:r>
                            </m:sub>
                            <m:sup>
                              <m:r>
                                <a:rPr lang="en-NZ" altLang="ja-JP" sz="1400" b="1" i="1" smtClean="0">
                                  <a:solidFill>
                                    <a:srgbClr val="002060"/>
                                  </a:solidFill>
                                  <a:latin typeface="Cambria Math" panose="02040503050406030204" pitchFamily="18" charset="0"/>
                                </a:rPr>
                                <m:t>𝒌</m:t>
                              </m:r>
                            </m:sup>
                            <m:e>
                              <m:sSub>
                                <m:sSubPr>
                                  <m:ctrlPr>
                                    <a:rPr lang="en-NZ" altLang="ja-JP" sz="1400" b="1" i="1">
                                      <a:solidFill>
                                        <a:srgbClr val="002060"/>
                                      </a:solidFill>
                                      <a:latin typeface="Cambria Math" panose="02040503050406030204" pitchFamily="18" charset="0"/>
                                    </a:rPr>
                                  </m:ctrlPr>
                                </m:sSubPr>
                                <m:e>
                                  <m:r>
                                    <a:rPr lang="en-NZ" altLang="ja-JP" sz="1400" b="1" i="1">
                                      <a:solidFill>
                                        <a:srgbClr val="002060"/>
                                      </a:solidFill>
                                      <a:latin typeface="Cambria Math" panose="02040503050406030204" pitchFamily="18" charset="0"/>
                                    </a:rPr>
                                    <m:t>𝒏</m:t>
                                  </m:r>
                                </m:e>
                                <m:sub>
                                  <m:r>
                                    <a:rPr lang="en-NZ" altLang="ja-JP" sz="1400" b="1" i="1">
                                      <a:solidFill>
                                        <a:srgbClr val="002060"/>
                                      </a:solidFill>
                                      <a:latin typeface="Cambria Math" panose="02040503050406030204" pitchFamily="18" charset="0"/>
                                    </a:rPr>
                                    <m:t>𝒊</m:t>
                                  </m:r>
                                </m:sub>
                              </m:sSub>
                            </m:e>
                          </m:nary>
                        </m:sub>
                        <m:sup>
                          <m:r>
                            <a:rPr lang="en-NZ" altLang="ja-JP" sz="1400" b="1" i="1" smtClean="0">
                              <a:solidFill>
                                <a:srgbClr val="002060"/>
                              </a:solidFill>
                              <a:latin typeface="Cambria Math" panose="02040503050406030204" pitchFamily="18" charset="0"/>
                            </a:rPr>
                            <m:t>𝟐</m:t>
                          </m:r>
                        </m:sup>
                      </m:sSubSup>
                    </m:oMath>
                  </m:oMathPara>
                </a14:m>
                <a:endParaRPr lang="en-NZ" altLang="ja-JP" sz="1400" b="1" dirty="0">
                  <a:solidFill>
                    <a:srgbClr val="002060"/>
                  </a:solidFill>
                </a:endParaRPr>
              </a:p>
              <a:p>
                <a:pPr algn="just">
                  <a:lnSpc>
                    <a:spcPct val="100000"/>
                  </a:lnSpc>
                </a:pPr>
                <a:r>
                  <a:rPr lang="en-NZ" altLang="ja-JP" sz="1400" dirty="0">
                    <a:solidFill>
                      <a:srgbClr val="002060"/>
                    </a:solidFill>
                  </a:rPr>
                  <a:t>  </a:t>
                </a:r>
              </a:p>
              <a:p>
                <a:pPr algn="just">
                  <a:lnSpc>
                    <a:spcPct val="100000"/>
                  </a:lnSpc>
                </a:pPr>
                <a:endParaRPr lang="en-NZ" altLang="ja-JP" sz="1400" dirty="0">
                  <a:solidFill>
                    <a:srgbClr val="002060"/>
                  </a:solidFill>
                </a:endParaRPr>
              </a:p>
              <a:p>
                <a:pPr algn="just">
                  <a:lnSpc>
                    <a:spcPct val="100000"/>
                  </a:lnSpc>
                </a:pPr>
                <a:endParaRPr lang="en-NZ" altLang="ja-JP" sz="1400" i="1" dirty="0">
                  <a:solidFill>
                    <a:srgbClr val="002060"/>
                  </a:solidFill>
                </a:endParaRPr>
              </a:p>
            </p:txBody>
          </p:sp>
        </mc:Choice>
        <mc:Fallback xmlns="">
          <p:sp>
            <p:nvSpPr>
              <p:cNvPr id="32" name="Text Placeholder 5">
                <a:extLst>
                  <a:ext uri="{FF2B5EF4-FFF2-40B4-BE49-F238E27FC236}">
                    <a16:creationId xmlns:a16="http://schemas.microsoft.com/office/drawing/2014/main" id="{A9575874-240C-9F89-0932-67F233A0D809}"/>
                  </a:ext>
                </a:extLst>
              </p:cNvPr>
              <p:cNvSpPr txBox="1">
                <a:spLocks noRot="1" noChangeAspect="1" noMove="1" noResize="1" noEditPoints="1" noAdjustHandles="1" noChangeArrowheads="1" noChangeShapeType="1" noTextEdit="1"/>
              </p:cNvSpPr>
              <p:nvPr/>
            </p:nvSpPr>
            <p:spPr>
              <a:xfrm>
                <a:off x="6255224" y="4316606"/>
                <a:ext cx="5066906" cy="1205567"/>
              </a:xfrm>
              <a:prstGeom prst="rect">
                <a:avLst/>
              </a:prstGeom>
              <a:blipFill>
                <a:blip r:embed="rId13"/>
                <a:stretch>
                  <a:fillRect l="-361" t="-1010"/>
                </a:stretch>
              </a:blipFill>
            </p:spPr>
            <p:txBody>
              <a:bodyPr/>
              <a:lstStyle/>
              <a:p>
                <a:r>
                  <a:rPr lang="en-NZ">
                    <a:noFill/>
                  </a:rPr>
                  <a:t> </a:t>
                </a:r>
              </a:p>
            </p:txBody>
          </p:sp>
        </mc:Fallback>
      </mc:AlternateContent>
      <p:sp>
        <p:nvSpPr>
          <p:cNvPr id="33" name="Footer Placeholder 2">
            <a:extLst>
              <a:ext uri="{FF2B5EF4-FFF2-40B4-BE49-F238E27FC236}">
                <a16:creationId xmlns:a16="http://schemas.microsoft.com/office/drawing/2014/main" id="{D0100E08-249B-5162-3C4E-411B6E4E024D}"/>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412480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 grpId="0" animBg="1"/>
      <p:bldP spid="18" grpId="0" animBg="1"/>
      <p:bldP spid="19" grpId="0" animBg="1"/>
      <p:bldP spid="20" grpId="0"/>
      <p:bldP spid="21" grpId="0"/>
      <p:bldP spid="23" grpId="0"/>
      <p:bldP spid="24" grpId="0"/>
      <p:bldP spid="25" grpId="0"/>
      <p:bldP spid="26" grpId="0"/>
      <p:bldP spid="28" grpId="0"/>
      <p:bldP spid="29" grpId="0" animBg="1"/>
      <p:bldP spid="30" grpId="0"/>
      <p:bldP spid="3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32</a:t>
            </a:fld>
            <a:endParaRPr kumimoji="1" lang="ja-JP" altLang="en-US" dirty="0">
              <a:solidFill>
                <a:srgbClr val="575454">
                  <a:lumMod val="20000"/>
                  <a:lumOff val="80000"/>
                </a:srgbClr>
              </a:solidFill>
              <a:latin typeface="Coo Hew"/>
            </a:endParaRPr>
          </a:p>
        </p:txBody>
      </p:sp>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600502" y="1120639"/>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gn="just">
              <a:lnSpc>
                <a:spcPct val="100000"/>
              </a:lnSpc>
              <a:buFont typeface="+mj-lt"/>
              <a:buAutoNum type="arabicPeriod" startAt="3"/>
            </a:pPr>
            <a:r>
              <a:rPr lang="en-NZ" altLang="ja-JP" sz="2000" dirty="0">
                <a:solidFill>
                  <a:schemeClr val="tx1"/>
                </a:solidFill>
              </a:rPr>
              <a:t>Finally, using Conclusion 1 and Conclusion 2, we have that:</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E22745FB-2577-460B-B658-9884A6085EB3}"/>
                  </a:ext>
                </a:extLst>
              </p:cNvPr>
              <p:cNvSpPr txBox="1">
                <a:spLocks/>
              </p:cNvSpPr>
              <p:nvPr/>
            </p:nvSpPr>
            <p:spPr>
              <a:xfrm>
                <a:off x="873458" y="2252515"/>
                <a:ext cx="7697336" cy="14167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2000" b="1" i="1" smtClean="0">
                          <a:solidFill>
                            <a:schemeClr val="tx1"/>
                          </a:solidFill>
                          <a:latin typeface="Cambria Math" panose="02040503050406030204" pitchFamily="18" charset="0"/>
                        </a:rPr>
                        <m:t>𝑭</m:t>
                      </m:r>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𝑴𝑺𝑻</m:t>
                          </m:r>
                        </m:num>
                        <m:den>
                          <m:r>
                            <a:rPr lang="en-NZ" altLang="ja-JP" sz="2000" b="1" i="1" smtClean="0">
                              <a:solidFill>
                                <a:schemeClr val="tx1"/>
                              </a:solidFill>
                              <a:latin typeface="Cambria Math" panose="02040503050406030204" pitchFamily="18" charset="0"/>
                            </a:rPr>
                            <m:t>𝑴𝑺𝑬</m:t>
                          </m:r>
                        </m:den>
                      </m:f>
                      <m:r>
                        <a:rPr lang="en-NZ" altLang="ja-JP" sz="2000" b="1" i="1" smtClean="0">
                          <a:solidFill>
                            <a:schemeClr val="tx1"/>
                          </a:solidFill>
                          <a:latin typeface="Cambria Math" panose="02040503050406030204" pitchFamily="18" charset="0"/>
                        </a:rPr>
                        <m:t>    =    </m:t>
                      </m:r>
                      <m:f>
                        <m:fPr>
                          <m:ctrlPr>
                            <a:rPr lang="en-NZ" altLang="ja-JP" sz="2000" b="1" i="1" smtClean="0">
                              <a:solidFill>
                                <a:schemeClr val="tx1"/>
                              </a:solidFill>
                              <a:latin typeface="Cambria Math" panose="02040503050406030204" pitchFamily="18" charset="0"/>
                            </a:rPr>
                          </m:ctrlPr>
                        </m:fPr>
                        <m:num>
                          <m:f>
                            <m:fPr>
                              <m:type m:val="lin"/>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𝑺𝑺𝑻</m:t>
                              </m:r>
                              <m:r>
                                <a:rPr lang="en-NZ" altLang="ja-JP" sz="2000" b="1" i="1" smtClean="0">
                                  <a:solidFill>
                                    <a:schemeClr val="tx1"/>
                                  </a:solidFill>
                                  <a:latin typeface="Cambria Math" panose="02040503050406030204" pitchFamily="18" charset="0"/>
                                </a:rPr>
                                <m:t> </m:t>
                              </m:r>
                            </m:num>
                            <m:den>
                              <m:r>
                                <a:rPr lang="en-NZ" altLang="ja-JP" sz="2000" b="1" i="1" smtClean="0">
                                  <a:solidFill>
                                    <a:schemeClr val="tx1"/>
                                  </a:solidFill>
                                  <a:latin typeface="Cambria Math" panose="02040503050406030204" pitchFamily="18" charset="0"/>
                                </a:rPr>
                                <m:t> </m:t>
                              </m:r>
                              <m:d>
                                <m:dPr>
                                  <m:ctrlPr>
                                    <a:rPr lang="en-NZ" altLang="ja-JP" sz="2000" b="1" i="1" smtClean="0">
                                      <a:solidFill>
                                        <a:schemeClr val="tx1"/>
                                      </a:solidFill>
                                      <a:latin typeface="Cambria Math" panose="02040503050406030204" pitchFamily="18" charset="0"/>
                                    </a:rPr>
                                  </m:ctrlPr>
                                </m:dPr>
                                <m:e>
                                  <m:r>
                                    <a:rPr lang="en-NZ" altLang="ja-JP" sz="2000" b="1" i="1" smtClean="0">
                                      <a:solidFill>
                                        <a:schemeClr val="tx1"/>
                                      </a:solidFill>
                                      <a:latin typeface="Cambria Math" panose="02040503050406030204" pitchFamily="18" charset="0"/>
                                    </a:rPr>
                                    <m:t>𝒌</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e>
                              </m:d>
                            </m:den>
                          </m:f>
                        </m:num>
                        <m:den>
                          <m:f>
                            <m:fPr>
                              <m:type m:val="lin"/>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𝑺𝑺𝑬</m:t>
                              </m:r>
                              <m:r>
                                <a:rPr lang="en-NZ" altLang="ja-JP" sz="2000" b="1" i="1" smtClean="0">
                                  <a:solidFill>
                                    <a:schemeClr val="tx1"/>
                                  </a:solidFill>
                                  <a:latin typeface="Cambria Math" panose="02040503050406030204" pitchFamily="18" charset="0"/>
                                </a:rPr>
                                <m:t> </m:t>
                              </m:r>
                            </m:num>
                            <m:den>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𝒌</m:t>
                              </m:r>
                              <m:r>
                                <a:rPr lang="en-NZ" altLang="ja-JP" sz="2000" b="1" i="1" smtClean="0">
                                  <a:solidFill>
                                    <a:schemeClr val="tx1"/>
                                  </a:solidFill>
                                  <a:latin typeface="Cambria Math" panose="02040503050406030204" pitchFamily="18" charset="0"/>
                                </a:rPr>
                                <m:t> </m:t>
                              </m:r>
                              <m:d>
                                <m:dPr>
                                  <m:ctrlPr>
                                    <a:rPr lang="en-NZ" altLang="ja-JP" sz="2000" b="1" i="1" smtClean="0">
                                      <a:solidFill>
                                        <a:schemeClr val="tx1"/>
                                      </a:solidFill>
                                      <a:latin typeface="Cambria Math" panose="02040503050406030204" pitchFamily="18" charset="0"/>
                                    </a:rPr>
                                  </m:ctrlPr>
                                </m:dPr>
                                <m:e>
                                  <m:r>
                                    <a:rPr lang="en-NZ" altLang="ja-JP" sz="2000" b="1" i="1" smtClean="0">
                                      <a:solidFill>
                                        <a:schemeClr val="tx1"/>
                                      </a:solidFill>
                                      <a:latin typeface="Cambria Math" panose="02040503050406030204" pitchFamily="18" charset="0"/>
                                    </a:rPr>
                                    <m:t>𝒏</m:t>
                                  </m:r>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𝟏</m:t>
                                  </m:r>
                                </m:e>
                              </m:d>
                            </m:den>
                          </m:f>
                        </m:den>
                      </m:f>
                      <m:r>
                        <a:rPr lang="en-NZ" altLang="ja-JP" sz="2000" b="1" i="1" smtClean="0">
                          <a:solidFill>
                            <a:schemeClr val="tx1"/>
                          </a:solidFill>
                          <a:latin typeface="Cambria Math" panose="02040503050406030204" pitchFamily="18" charset="0"/>
                        </a:rPr>
                        <m:t>    =    </m:t>
                      </m:r>
                      <m:f>
                        <m:fPr>
                          <m:ctrlPr>
                            <a:rPr lang="en-NZ" altLang="ja-JP" sz="2000" b="1" i="1">
                              <a:solidFill>
                                <a:schemeClr val="tx1"/>
                              </a:solidFill>
                              <a:latin typeface="Cambria Math" panose="02040503050406030204" pitchFamily="18" charset="0"/>
                            </a:rPr>
                          </m:ctrlPr>
                        </m:fPr>
                        <m:num>
                          <m:f>
                            <m:fPr>
                              <m:ctrlPr>
                                <a:rPr lang="en-NZ" altLang="ja-JP" sz="2000" b="1" i="1" smtClean="0">
                                  <a:solidFill>
                                    <a:schemeClr val="tx1"/>
                                  </a:solidFill>
                                  <a:latin typeface="Cambria Math" panose="02040503050406030204" pitchFamily="18" charset="0"/>
                                </a:rPr>
                              </m:ctrlPr>
                            </m:fPr>
                            <m:num>
                              <m:r>
                                <a:rPr lang="en-NZ" altLang="ja-JP" sz="2000" b="1" i="1" smtClean="0">
                                  <a:solidFill>
                                    <a:schemeClr val="tx1"/>
                                  </a:solidFill>
                                  <a:latin typeface="Cambria Math" panose="02040503050406030204" pitchFamily="18" charset="0"/>
                                </a:rPr>
                                <m:t>𝟏</m:t>
                              </m:r>
                            </m:num>
                            <m:den>
                              <m:sSup>
                                <m:sSupPr>
                                  <m:ctrlPr>
                                    <a:rPr lang="en-NZ" altLang="ja-JP" sz="2000" b="1" i="1" smtClean="0">
                                      <a:solidFill>
                                        <a:schemeClr val="tx1"/>
                                      </a:solidFill>
                                      <a:latin typeface="Cambria Math" panose="02040503050406030204" pitchFamily="18" charset="0"/>
                                    </a:rPr>
                                  </m:ctrlPr>
                                </m:sSupPr>
                                <m:e>
                                  <m:r>
                                    <a:rPr lang="en-NZ" altLang="ja-JP" sz="2000" b="1" i="1" smtClean="0">
                                      <a:solidFill>
                                        <a:schemeClr val="tx1"/>
                                      </a:solidFill>
                                      <a:latin typeface="Cambria Math" panose="02040503050406030204" pitchFamily="18" charset="0"/>
                                    </a:rPr>
                                    <m:t>𝝈</m:t>
                                  </m:r>
                                </m:e>
                                <m:sup>
                                  <m:r>
                                    <a:rPr lang="en-NZ" altLang="ja-JP" sz="2000" b="1" i="1" smtClean="0">
                                      <a:solidFill>
                                        <a:schemeClr val="tx1"/>
                                      </a:solidFill>
                                      <a:latin typeface="Cambria Math" panose="02040503050406030204" pitchFamily="18" charset="0"/>
                                    </a:rPr>
                                    <m:t>𝟐</m:t>
                                  </m:r>
                                </m:sup>
                              </m:sSup>
                            </m:den>
                          </m:f>
                          <m:r>
                            <a:rPr lang="en-NZ" altLang="ja-JP" sz="2000" b="1" i="1" smtClean="0">
                              <a:solidFill>
                                <a:schemeClr val="tx1"/>
                              </a:solidFill>
                              <a:latin typeface="Cambria Math" panose="02040503050406030204" pitchFamily="18" charset="0"/>
                            </a:rPr>
                            <m:t>  </m:t>
                          </m:r>
                          <m:f>
                            <m:fPr>
                              <m:type m:val="lin"/>
                              <m:ctrlPr>
                                <a:rPr lang="en-NZ" altLang="ja-JP" sz="2000" b="1" i="1">
                                  <a:solidFill>
                                    <a:schemeClr val="tx1"/>
                                  </a:solidFill>
                                  <a:latin typeface="Cambria Math" panose="02040503050406030204" pitchFamily="18" charset="0"/>
                                </a:rPr>
                              </m:ctrlPr>
                            </m:fPr>
                            <m:num>
                              <m:r>
                                <a:rPr lang="en-NZ" altLang="ja-JP" sz="2000" b="1" i="1">
                                  <a:solidFill>
                                    <a:schemeClr val="tx1"/>
                                  </a:solidFill>
                                  <a:latin typeface="Cambria Math" panose="02040503050406030204" pitchFamily="18" charset="0"/>
                                </a:rPr>
                                <m:t>𝑺𝑺𝑻</m:t>
                              </m:r>
                              <m:r>
                                <a:rPr lang="en-NZ" altLang="ja-JP" sz="2000" b="1" i="1">
                                  <a:solidFill>
                                    <a:schemeClr val="tx1"/>
                                  </a:solidFill>
                                  <a:latin typeface="Cambria Math" panose="02040503050406030204" pitchFamily="18" charset="0"/>
                                </a:rPr>
                                <m:t> </m:t>
                              </m:r>
                            </m:num>
                            <m:den>
                              <m:r>
                                <a:rPr lang="en-NZ" altLang="ja-JP" sz="2000" b="1" i="1">
                                  <a:solidFill>
                                    <a:schemeClr val="tx1"/>
                                  </a:solidFill>
                                  <a:latin typeface="Cambria Math" panose="02040503050406030204" pitchFamily="18" charset="0"/>
                                </a:rPr>
                                <m:t> </m:t>
                              </m:r>
                              <m:d>
                                <m:dPr>
                                  <m:ctrlPr>
                                    <a:rPr lang="en-NZ" altLang="ja-JP" sz="2000" b="1" i="1">
                                      <a:solidFill>
                                        <a:schemeClr val="tx1"/>
                                      </a:solidFill>
                                      <a:latin typeface="Cambria Math" panose="02040503050406030204" pitchFamily="18" charset="0"/>
                                    </a:rPr>
                                  </m:ctrlPr>
                                </m:dPr>
                                <m:e>
                                  <m:r>
                                    <a:rPr lang="en-NZ" altLang="ja-JP" sz="2000" b="1" i="1">
                                      <a:solidFill>
                                        <a:schemeClr val="tx1"/>
                                      </a:solidFill>
                                      <a:latin typeface="Cambria Math" panose="02040503050406030204" pitchFamily="18" charset="0"/>
                                    </a:rPr>
                                    <m:t>𝒌</m:t>
                                  </m:r>
                                  <m:r>
                                    <a:rPr lang="en-NZ" altLang="ja-JP" sz="2000" b="1" i="1">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𝟏</m:t>
                                  </m:r>
                                </m:e>
                              </m:d>
                            </m:den>
                          </m:f>
                        </m:num>
                        <m:den>
                          <m:f>
                            <m:fPr>
                              <m:ctrlPr>
                                <a:rPr lang="en-NZ" altLang="ja-JP" sz="2000" b="1" i="1">
                                  <a:solidFill>
                                    <a:schemeClr val="tx1"/>
                                  </a:solidFill>
                                  <a:latin typeface="Cambria Math" panose="02040503050406030204" pitchFamily="18" charset="0"/>
                                </a:rPr>
                              </m:ctrlPr>
                            </m:fPr>
                            <m:num>
                              <m:r>
                                <a:rPr lang="en-NZ" altLang="ja-JP" sz="2000" b="1" i="1">
                                  <a:solidFill>
                                    <a:schemeClr val="tx1"/>
                                  </a:solidFill>
                                  <a:latin typeface="Cambria Math" panose="02040503050406030204" pitchFamily="18" charset="0"/>
                                </a:rPr>
                                <m:t>𝟏</m:t>
                              </m:r>
                            </m:num>
                            <m:den>
                              <m:sSup>
                                <m:sSupPr>
                                  <m:ctrlPr>
                                    <a:rPr lang="en-NZ" altLang="ja-JP" sz="2000" b="1" i="1">
                                      <a:solidFill>
                                        <a:schemeClr val="tx1"/>
                                      </a:solidFill>
                                      <a:latin typeface="Cambria Math" panose="02040503050406030204" pitchFamily="18" charset="0"/>
                                    </a:rPr>
                                  </m:ctrlPr>
                                </m:sSupPr>
                                <m:e>
                                  <m:r>
                                    <a:rPr lang="en-NZ" altLang="ja-JP" sz="2000" b="1" i="1">
                                      <a:solidFill>
                                        <a:schemeClr val="tx1"/>
                                      </a:solidFill>
                                      <a:latin typeface="Cambria Math" panose="02040503050406030204" pitchFamily="18" charset="0"/>
                                    </a:rPr>
                                    <m:t>𝝈</m:t>
                                  </m:r>
                                </m:e>
                                <m:sup>
                                  <m:r>
                                    <a:rPr lang="en-NZ" altLang="ja-JP" sz="2000" b="1" i="1">
                                      <a:solidFill>
                                        <a:schemeClr val="tx1"/>
                                      </a:solidFill>
                                      <a:latin typeface="Cambria Math" panose="02040503050406030204" pitchFamily="18" charset="0"/>
                                    </a:rPr>
                                    <m:t>𝟐</m:t>
                                  </m:r>
                                </m:sup>
                              </m:sSup>
                            </m:den>
                          </m:f>
                          <m:r>
                            <a:rPr lang="en-NZ" altLang="ja-JP" sz="2000" b="1" i="1" smtClean="0">
                              <a:solidFill>
                                <a:schemeClr val="tx1"/>
                              </a:solidFill>
                              <a:latin typeface="Cambria Math" panose="02040503050406030204" pitchFamily="18" charset="0"/>
                            </a:rPr>
                            <m:t> </m:t>
                          </m:r>
                          <m:f>
                            <m:fPr>
                              <m:type m:val="lin"/>
                              <m:ctrlPr>
                                <a:rPr lang="en-NZ" altLang="ja-JP" sz="2000" b="1" i="1">
                                  <a:solidFill>
                                    <a:schemeClr val="tx1"/>
                                  </a:solidFill>
                                  <a:latin typeface="Cambria Math" panose="02040503050406030204" pitchFamily="18" charset="0"/>
                                </a:rPr>
                              </m:ctrlPr>
                            </m:fPr>
                            <m:num>
                              <m:r>
                                <a:rPr lang="en-NZ" altLang="ja-JP" sz="2000" b="1" i="1">
                                  <a:solidFill>
                                    <a:schemeClr val="tx1"/>
                                  </a:solidFill>
                                  <a:latin typeface="Cambria Math" panose="02040503050406030204" pitchFamily="18" charset="0"/>
                                </a:rPr>
                                <m:t>𝑺𝑺𝑬</m:t>
                              </m:r>
                              <m:r>
                                <a:rPr lang="en-NZ" altLang="ja-JP" sz="2000" b="1" i="1">
                                  <a:solidFill>
                                    <a:schemeClr val="tx1"/>
                                  </a:solidFill>
                                  <a:latin typeface="Cambria Math" panose="02040503050406030204" pitchFamily="18" charset="0"/>
                                </a:rPr>
                                <m:t> </m:t>
                              </m:r>
                            </m:num>
                            <m:den>
                              <m:r>
                                <a:rPr lang="en-NZ" altLang="ja-JP" sz="2000" b="1" i="1">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𝑵</m:t>
                              </m:r>
                              <m:r>
                                <a:rPr lang="en-NZ" altLang="ja-JP" sz="2000" b="1" i="1" smtClean="0">
                                  <a:solidFill>
                                    <a:schemeClr val="tx1"/>
                                  </a:solidFill>
                                  <a:latin typeface="Cambria Math" panose="02040503050406030204" pitchFamily="18" charset="0"/>
                                </a:rPr>
                                <m:t> −</m:t>
                              </m:r>
                              <m:r>
                                <a:rPr lang="en-NZ" altLang="ja-JP" sz="2000" b="1" i="1" smtClean="0">
                                  <a:solidFill>
                                    <a:schemeClr val="tx1"/>
                                  </a:solidFill>
                                  <a:latin typeface="Cambria Math" panose="02040503050406030204" pitchFamily="18" charset="0"/>
                                </a:rPr>
                                <m:t>𝒌</m:t>
                              </m:r>
                            </m:den>
                          </m:f>
                        </m:den>
                      </m:f>
                    </m:oMath>
                  </m:oMathPara>
                </a14:m>
                <a:endParaRPr lang="en-NZ" altLang="ja-JP" sz="2000" b="1" dirty="0">
                  <a:solidFill>
                    <a:schemeClr val="tx1"/>
                  </a:solidFill>
                </a:endParaRPr>
              </a:p>
              <a:p>
                <a:pPr>
                  <a:lnSpc>
                    <a:spcPct val="100000"/>
                  </a:lnSpc>
                </a:pPr>
                <a:endParaRPr lang="en-NZ" altLang="ja-JP" sz="2000" b="1" dirty="0">
                  <a:solidFill>
                    <a:schemeClr val="tx1"/>
                  </a:solidFill>
                </a:endParaRPr>
              </a:p>
              <a:p>
                <a:pPr>
                  <a:lnSpc>
                    <a:spcPct val="100000"/>
                  </a:lnSpc>
                </a:pPr>
                <a:endParaRPr lang="en-NZ" altLang="ja-JP" sz="2000" b="1" dirty="0">
                  <a:solidFill>
                    <a:schemeClr val="tx1"/>
                  </a:solidFill>
                </a:endParaRPr>
              </a:p>
              <a:p>
                <a:pPr>
                  <a:lnSpc>
                    <a:spcPct val="100000"/>
                  </a:lnSpc>
                </a:pPr>
                <a:r>
                  <a:rPr lang="en-NZ" altLang="ja-JP" sz="2000" dirty="0">
                    <a:solidFill>
                      <a:schemeClr val="tx1"/>
                    </a:solidFill>
                  </a:rPr>
                  <a:t>  </a:t>
                </a:r>
              </a:p>
              <a:p>
                <a:pPr>
                  <a:lnSpc>
                    <a:spcPct val="100000"/>
                  </a:lnSpc>
                </a:pPr>
                <a:endParaRPr lang="en-NZ" altLang="ja-JP" sz="2000" dirty="0">
                  <a:solidFill>
                    <a:schemeClr val="tx1"/>
                  </a:solidFill>
                </a:endParaRPr>
              </a:p>
              <a:p>
                <a:pPr>
                  <a:lnSpc>
                    <a:spcPct val="100000"/>
                  </a:lnSpc>
                </a:pPr>
                <a:endParaRPr lang="en-NZ" altLang="ja-JP" sz="2000" i="1" dirty="0">
                  <a:solidFill>
                    <a:srgbClr val="C00000"/>
                  </a:solidFill>
                </a:endParaRPr>
              </a:p>
            </p:txBody>
          </p:sp>
        </mc:Choice>
        <mc:Fallback xmlns="">
          <p:sp>
            <p:nvSpPr>
              <p:cNvPr id="17" name="Text Placeholder 5">
                <a:extLst>
                  <a:ext uri="{FF2B5EF4-FFF2-40B4-BE49-F238E27FC236}">
                    <a16:creationId xmlns:a16="http://schemas.microsoft.com/office/drawing/2014/main" id="{E22745FB-2577-460B-B658-9884A6085EB3}"/>
                  </a:ext>
                </a:extLst>
              </p:cNvPr>
              <p:cNvSpPr txBox="1">
                <a:spLocks noRot="1" noChangeAspect="1" noMove="1" noResize="1" noEditPoints="1" noAdjustHandles="1" noChangeArrowheads="1" noChangeShapeType="1" noTextEdit="1"/>
              </p:cNvSpPr>
              <p:nvPr/>
            </p:nvSpPr>
            <p:spPr>
              <a:xfrm>
                <a:off x="873458" y="2252515"/>
                <a:ext cx="7697336" cy="1416718"/>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74AA5E58-78DC-4728-96E7-84EF58282C48}"/>
                  </a:ext>
                </a:extLst>
              </p:cNvPr>
              <p:cNvSpPr txBox="1">
                <a:spLocks/>
              </p:cNvSpPr>
              <p:nvPr/>
            </p:nvSpPr>
            <p:spPr>
              <a:xfrm>
                <a:off x="8425219" y="1310501"/>
                <a:ext cx="2725003" cy="1051880"/>
              </a:xfrm>
              <a:prstGeom prst="rect">
                <a:avLst/>
              </a:prstGeom>
              <a:ln>
                <a:no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f>
                        <m:fPr>
                          <m:ctrlPr>
                            <a:rPr lang="en-NZ" altLang="ja-JP" sz="1800" b="1" i="1" smtClean="0">
                              <a:solidFill>
                                <a:srgbClr val="002060"/>
                              </a:solidFill>
                              <a:latin typeface="Cambria Math" panose="02040503050406030204" pitchFamily="18" charset="0"/>
                            </a:rPr>
                          </m:ctrlPr>
                        </m:fPr>
                        <m:num>
                          <m:r>
                            <a:rPr lang="en-NZ" altLang="ja-JP" sz="1800" b="1" i="1" smtClean="0">
                              <a:solidFill>
                                <a:srgbClr val="002060"/>
                              </a:solidFill>
                              <a:latin typeface="Cambria Math" panose="02040503050406030204" pitchFamily="18" charset="0"/>
                            </a:rPr>
                            <m:t>𝟏</m:t>
                          </m:r>
                        </m:num>
                        <m:den>
                          <m:sSup>
                            <m:sSupPr>
                              <m:ctrlPr>
                                <a:rPr lang="en-NZ" altLang="ja-JP" sz="1800" b="1" i="1" smtClean="0">
                                  <a:solidFill>
                                    <a:srgbClr val="002060"/>
                                  </a:solidFill>
                                  <a:latin typeface="Cambria Math" panose="02040503050406030204" pitchFamily="18" charset="0"/>
                                </a:rPr>
                              </m:ctrlPr>
                            </m:sSupPr>
                            <m:e>
                              <m:r>
                                <a:rPr lang="en-NZ" altLang="ja-JP" sz="1800" b="1" i="1" smtClean="0">
                                  <a:solidFill>
                                    <a:srgbClr val="002060"/>
                                  </a:solidFill>
                                  <a:latin typeface="Cambria Math" panose="02040503050406030204" pitchFamily="18" charset="0"/>
                                </a:rPr>
                                <m:t>𝝈</m:t>
                              </m:r>
                            </m:e>
                            <m:sup>
                              <m:r>
                                <a:rPr lang="en-NZ" altLang="ja-JP" sz="1800" b="1" i="1" smtClean="0">
                                  <a:solidFill>
                                    <a:srgbClr val="002060"/>
                                  </a:solidFill>
                                  <a:latin typeface="Cambria Math" panose="02040503050406030204" pitchFamily="18" charset="0"/>
                                </a:rPr>
                                <m:t>𝟐</m:t>
                              </m:r>
                            </m:sup>
                          </m:sSup>
                        </m:den>
                      </m:f>
                      <m:r>
                        <a:rPr lang="en-NZ" altLang="ja-JP" sz="1800" b="1" i="1" smtClean="0">
                          <a:solidFill>
                            <a:srgbClr val="002060"/>
                          </a:solidFill>
                          <a:latin typeface="Cambria Math" panose="02040503050406030204" pitchFamily="18" charset="0"/>
                        </a:rPr>
                        <m:t> </m:t>
                      </m:r>
                      <m:r>
                        <a:rPr lang="en-NZ" altLang="ja-JP" sz="1800" b="1" i="1" smtClean="0">
                          <a:solidFill>
                            <a:srgbClr val="002060"/>
                          </a:solidFill>
                          <a:latin typeface="Cambria Math" panose="02040503050406030204" pitchFamily="18" charset="0"/>
                        </a:rPr>
                        <m:t>𝑺𝑺𝑻</m:t>
                      </m:r>
                      <m:r>
                        <a:rPr lang="en-NZ" altLang="ja-JP" sz="1800" b="1" i="1" smtClean="0">
                          <a:solidFill>
                            <a:srgbClr val="002060"/>
                          </a:solidFill>
                          <a:latin typeface="Cambria Math" panose="02040503050406030204" pitchFamily="18" charset="0"/>
                        </a:rPr>
                        <m:t>  ~ </m:t>
                      </m:r>
                      <m:sSubSup>
                        <m:sSubSupPr>
                          <m:ctrlPr>
                            <a:rPr lang="en-NZ" altLang="ja-JP" sz="1800" b="1" i="1">
                              <a:solidFill>
                                <a:srgbClr val="002060"/>
                              </a:solidFill>
                              <a:latin typeface="Cambria Math" panose="02040503050406030204" pitchFamily="18" charset="0"/>
                            </a:rPr>
                          </m:ctrlPr>
                        </m:sSubSupPr>
                        <m:e>
                          <m:r>
                            <a:rPr lang="en-NZ" altLang="ja-JP" sz="1800" b="1" i="1">
                              <a:solidFill>
                                <a:srgbClr val="002060"/>
                              </a:solidFill>
                              <a:latin typeface="Cambria Math" panose="02040503050406030204" pitchFamily="18" charset="0"/>
                            </a:rPr>
                            <m:t>𝝌</m:t>
                          </m:r>
                        </m:e>
                        <m:sub>
                          <m:r>
                            <a:rPr lang="en-NZ" altLang="ja-JP" sz="1800" b="1" i="1" smtClean="0">
                              <a:solidFill>
                                <a:srgbClr val="002060"/>
                              </a:solidFill>
                              <a:latin typeface="Cambria Math" panose="02040503050406030204" pitchFamily="18" charset="0"/>
                            </a:rPr>
                            <m:t>𝒌</m:t>
                          </m:r>
                          <m:r>
                            <a:rPr lang="en-NZ" altLang="ja-JP" sz="1800" b="1" i="1" smtClean="0">
                              <a:solidFill>
                                <a:srgbClr val="002060"/>
                              </a:solidFill>
                              <a:latin typeface="Cambria Math" panose="02040503050406030204" pitchFamily="18" charset="0"/>
                            </a:rPr>
                            <m:t>−</m:t>
                          </m:r>
                          <m:r>
                            <a:rPr lang="en-NZ" altLang="ja-JP" sz="1800" b="1" i="1" smtClean="0">
                              <a:solidFill>
                                <a:srgbClr val="002060"/>
                              </a:solidFill>
                              <a:latin typeface="Cambria Math" panose="02040503050406030204" pitchFamily="18" charset="0"/>
                            </a:rPr>
                            <m:t>𝟏</m:t>
                          </m:r>
                        </m:sub>
                        <m:sup>
                          <m:r>
                            <a:rPr lang="en-NZ" altLang="ja-JP" sz="1800" b="1" i="1">
                              <a:solidFill>
                                <a:srgbClr val="002060"/>
                              </a:solidFill>
                              <a:latin typeface="Cambria Math" panose="02040503050406030204" pitchFamily="18" charset="0"/>
                            </a:rPr>
                            <m:t>𝟐</m:t>
                          </m:r>
                        </m:sup>
                      </m:sSubSup>
                    </m:oMath>
                  </m:oMathPara>
                </a14:m>
                <a:endParaRPr lang="en-NZ" altLang="ja-JP" sz="1800" dirty="0">
                  <a:solidFill>
                    <a:srgbClr val="002060"/>
                  </a:solidFill>
                </a:endParaRPr>
              </a:p>
              <a:p>
                <a:pPr algn="just">
                  <a:lnSpc>
                    <a:spcPct val="100000"/>
                  </a:lnSpc>
                </a:pPr>
                <a:endParaRPr lang="en-NZ" altLang="ja-JP" sz="600" dirty="0">
                  <a:solidFill>
                    <a:srgbClr val="002060"/>
                  </a:solidFill>
                </a:endParaRPr>
              </a:p>
              <a:p>
                <a:pPr algn="ctr">
                  <a:lnSpc>
                    <a:spcPct val="100000"/>
                  </a:lnSpc>
                </a:pPr>
                <a:r>
                  <a:rPr lang="en-NZ" altLang="ja-JP" sz="1800" dirty="0">
                    <a:solidFill>
                      <a:srgbClr val="002060"/>
                    </a:solidFill>
                  </a:rPr>
                  <a:t>From Conclusion 1</a:t>
                </a:r>
              </a:p>
              <a:p>
                <a:pPr algn="just">
                  <a:lnSpc>
                    <a:spcPct val="100000"/>
                  </a:lnSpc>
                </a:pPr>
                <a:endParaRPr lang="en-NZ" altLang="ja-JP" sz="1800" i="1" dirty="0">
                  <a:solidFill>
                    <a:srgbClr val="002060"/>
                  </a:solidFill>
                </a:endParaRPr>
              </a:p>
            </p:txBody>
          </p:sp>
        </mc:Choice>
        <mc:Fallback xmlns="">
          <p:sp>
            <p:nvSpPr>
              <p:cNvPr id="18" name="Text Placeholder 5">
                <a:extLst>
                  <a:ext uri="{FF2B5EF4-FFF2-40B4-BE49-F238E27FC236}">
                    <a16:creationId xmlns:a16="http://schemas.microsoft.com/office/drawing/2014/main" id="{74AA5E58-78DC-4728-96E7-84EF58282C48}"/>
                  </a:ext>
                </a:extLst>
              </p:cNvPr>
              <p:cNvSpPr txBox="1">
                <a:spLocks noRot="1" noChangeAspect="1" noMove="1" noResize="1" noEditPoints="1" noAdjustHandles="1" noChangeArrowheads="1" noChangeShapeType="1" noTextEdit="1"/>
              </p:cNvSpPr>
              <p:nvPr/>
            </p:nvSpPr>
            <p:spPr>
              <a:xfrm>
                <a:off x="8425219" y="1310501"/>
                <a:ext cx="2725003" cy="1051880"/>
              </a:xfrm>
              <a:prstGeom prst="rect">
                <a:avLst/>
              </a:prstGeom>
              <a:blipFill>
                <a:blip r:embed="rId3"/>
                <a:stretch>
                  <a:fillRect b="-1734"/>
                </a:stretch>
              </a:blipFill>
              <a:ln>
                <a:noFill/>
              </a:ln>
            </p:spPr>
            <p:txBody>
              <a:bodyPr/>
              <a:lstStyle/>
              <a:p>
                <a:r>
                  <a:rPr lang="en-NZ">
                    <a:noFill/>
                  </a:rPr>
                  <a:t> </a:t>
                </a:r>
              </a:p>
            </p:txBody>
          </p:sp>
        </mc:Fallback>
      </mc:AlternateContent>
      <p:cxnSp>
        <p:nvCxnSpPr>
          <p:cNvPr id="3" name="Connector: Elbow 2">
            <a:extLst>
              <a:ext uri="{FF2B5EF4-FFF2-40B4-BE49-F238E27FC236}">
                <a16:creationId xmlns:a16="http://schemas.microsoft.com/office/drawing/2014/main" id="{B71A4753-C145-4B0B-A965-0D84BE70A89B}"/>
              </a:ext>
            </a:extLst>
          </p:cNvPr>
          <p:cNvCxnSpPr>
            <a:cxnSpLocks/>
            <a:stCxn id="21" idx="1"/>
          </p:cNvCxnSpPr>
          <p:nvPr/>
        </p:nvCxnSpPr>
        <p:spPr>
          <a:xfrm rot="5400000" flipH="1" flipV="1">
            <a:off x="7456548" y="500133"/>
            <a:ext cx="288680" cy="2475820"/>
          </a:xfrm>
          <a:prstGeom prst="bentConnector4">
            <a:avLst>
              <a:gd name="adj1" fmla="val -79188"/>
              <a:gd name="adj2" fmla="val -30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1" name="Right Brace 20">
            <a:extLst>
              <a:ext uri="{FF2B5EF4-FFF2-40B4-BE49-F238E27FC236}">
                <a16:creationId xmlns:a16="http://schemas.microsoft.com/office/drawing/2014/main" id="{B8E27579-4C29-446A-B64F-290DE00B46EB}"/>
              </a:ext>
            </a:extLst>
          </p:cNvPr>
          <p:cNvSpPr/>
          <p:nvPr/>
        </p:nvSpPr>
        <p:spPr>
          <a:xfrm rot="16200000">
            <a:off x="6151437" y="1642300"/>
            <a:ext cx="423080" cy="903245"/>
          </a:xfrm>
          <a:prstGeom prst="righ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6" name="Right Brace 25">
            <a:extLst>
              <a:ext uri="{FF2B5EF4-FFF2-40B4-BE49-F238E27FC236}">
                <a16:creationId xmlns:a16="http://schemas.microsoft.com/office/drawing/2014/main" id="{F5D9ADC5-0B36-414C-915E-4E7570E2BBE0}"/>
              </a:ext>
            </a:extLst>
          </p:cNvPr>
          <p:cNvSpPr/>
          <p:nvPr/>
        </p:nvSpPr>
        <p:spPr>
          <a:xfrm rot="5400000">
            <a:off x="6019908" y="3170162"/>
            <a:ext cx="423080" cy="903245"/>
          </a:xfrm>
          <a:prstGeom prst="rightBrace">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cxnSp>
        <p:nvCxnSpPr>
          <p:cNvPr id="27" name="Connector: Elbow 26">
            <a:extLst>
              <a:ext uri="{FF2B5EF4-FFF2-40B4-BE49-F238E27FC236}">
                <a16:creationId xmlns:a16="http://schemas.microsoft.com/office/drawing/2014/main" id="{DFD962DB-71AA-4AC5-837D-5E004509730E}"/>
              </a:ext>
            </a:extLst>
          </p:cNvPr>
          <p:cNvCxnSpPr>
            <a:cxnSpLocks/>
          </p:cNvCxnSpPr>
          <p:nvPr/>
        </p:nvCxnSpPr>
        <p:spPr>
          <a:xfrm>
            <a:off x="6231448" y="3833324"/>
            <a:ext cx="2571358" cy="206041"/>
          </a:xfrm>
          <a:prstGeom prst="bentConnector3">
            <a:avLst>
              <a:gd name="adj1" fmla="val -422"/>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916C97CF-3B61-4DB9-8EE0-032FF5E7A3B5}"/>
                  </a:ext>
                </a:extLst>
              </p:cNvPr>
              <p:cNvSpPr txBox="1">
                <a:spLocks/>
              </p:cNvSpPr>
              <p:nvPr/>
            </p:nvSpPr>
            <p:spPr>
              <a:xfrm>
                <a:off x="8399407" y="3717697"/>
                <a:ext cx="2725003" cy="1051880"/>
              </a:xfrm>
              <a:prstGeom prst="rect">
                <a:avLst/>
              </a:prstGeom>
              <a:ln>
                <a:noFill/>
              </a:ln>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
                    </m:oMathParaPr>
                    <m:oMath xmlns:m="http://schemas.openxmlformats.org/officeDocument/2006/math">
                      <m:r>
                        <a:rPr lang="en-NZ" altLang="ja-JP" sz="1800" b="1" i="1" smtClean="0">
                          <a:solidFill>
                            <a:srgbClr val="002060"/>
                          </a:solidFill>
                          <a:latin typeface="Cambria Math" panose="02040503050406030204" pitchFamily="18" charset="0"/>
                        </a:rPr>
                        <m:t> </m:t>
                      </m:r>
                      <m:f>
                        <m:fPr>
                          <m:ctrlPr>
                            <a:rPr lang="en-NZ" altLang="ja-JP" sz="1800" b="1" i="1" smtClean="0">
                              <a:solidFill>
                                <a:srgbClr val="002060"/>
                              </a:solidFill>
                              <a:latin typeface="Cambria Math" panose="02040503050406030204" pitchFamily="18" charset="0"/>
                            </a:rPr>
                          </m:ctrlPr>
                        </m:fPr>
                        <m:num>
                          <m:r>
                            <a:rPr lang="en-NZ" altLang="ja-JP" sz="1800" b="1" i="1" smtClean="0">
                              <a:solidFill>
                                <a:srgbClr val="002060"/>
                              </a:solidFill>
                              <a:latin typeface="Cambria Math" panose="02040503050406030204" pitchFamily="18" charset="0"/>
                            </a:rPr>
                            <m:t>𝟏</m:t>
                          </m:r>
                        </m:num>
                        <m:den>
                          <m:sSup>
                            <m:sSupPr>
                              <m:ctrlPr>
                                <a:rPr lang="en-NZ" altLang="ja-JP" sz="1800" b="1" i="1" smtClean="0">
                                  <a:solidFill>
                                    <a:srgbClr val="002060"/>
                                  </a:solidFill>
                                  <a:latin typeface="Cambria Math" panose="02040503050406030204" pitchFamily="18" charset="0"/>
                                </a:rPr>
                              </m:ctrlPr>
                            </m:sSupPr>
                            <m:e>
                              <m:r>
                                <a:rPr lang="en-NZ" altLang="ja-JP" sz="1800" b="1" i="1" smtClean="0">
                                  <a:solidFill>
                                    <a:srgbClr val="002060"/>
                                  </a:solidFill>
                                  <a:latin typeface="Cambria Math" panose="02040503050406030204" pitchFamily="18" charset="0"/>
                                </a:rPr>
                                <m:t>𝝈</m:t>
                              </m:r>
                            </m:e>
                            <m:sup>
                              <m:r>
                                <a:rPr lang="en-NZ" altLang="ja-JP" sz="1800" b="1" i="1" smtClean="0">
                                  <a:solidFill>
                                    <a:srgbClr val="002060"/>
                                  </a:solidFill>
                                  <a:latin typeface="Cambria Math" panose="02040503050406030204" pitchFamily="18" charset="0"/>
                                </a:rPr>
                                <m:t>𝟐</m:t>
                              </m:r>
                            </m:sup>
                          </m:sSup>
                        </m:den>
                      </m:f>
                      <m:r>
                        <a:rPr lang="en-NZ" altLang="ja-JP" sz="1800" b="1" i="1" smtClean="0">
                          <a:solidFill>
                            <a:srgbClr val="002060"/>
                          </a:solidFill>
                          <a:latin typeface="Cambria Math" panose="02040503050406030204" pitchFamily="18" charset="0"/>
                        </a:rPr>
                        <m:t> </m:t>
                      </m:r>
                      <m:r>
                        <a:rPr lang="en-NZ" altLang="ja-JP" sz="1800" b="1" i="1" smtClean="0">
                          <a:solidFill>
                            <a:srgbClr val="002060"/>
                          </a:solidFill>
                          <a:latin typeface="Cambria Math" panose="02040503050406030204" pitchFamily="18" charset="0"/>
                        </a:rPr>
                        <m:t>𝑺𝑺𝑬</m:t>
                      </m:r>
                      <m:r>
                        <a:rPr lang="en-NZ" altLang="ja-JP" sz="1800" b="1" i="1" smtClean="0">
                          <a:solidFill>
                            <a:srgbClr val="002060"/>
                          </a:solidFill>
                          <a:latin typeface="Cambria Math" panose="02040503050406030204" pitchFamily="18" charset="0"/>
                        </a:rPr>
                        <m:t>  ~ </m:t>
                      </m:r>
                      <m:sSubSup>
                        <m:sSubSupPr>
                          <m:ctrlPr>
                            <a:rPr lang="en-NZ" altLang="ja-JP" sz="1800" b="1" i="1">
                              <a:solidFill>
                                <a:srgbClr val="002060"/>
                              </a:solidFill>
                              <a:latin typeface="Cambria Math" panose="02040503050406030204" pitchFamily="18" charset="0"/>
                            </a:rPr>
                          </m:ctrlPr>
                        </m:sSubSupPr>
                        <m:e>
                          <m:r>
                            <a:rPr lang="en-NZ" altLang="ja-JP" sz="1800" b="1" i="1">
                              <a:solidFill>
                                <a:srgbClr val="002060"/>
                              </a:solidFill>
                              <a:latin typeface="Cambria Math" panose="02040503050406030204" pitchFamily="18" charset="0"/>
                            </a:rPr>
                            <m:t>𝝌</m:t>
                          </m:r>
                        </m:e>
                        <m:sub>
                          <m:r>
                            <a:rPr lang="en-NZ" altLang="ja-JP" sz="1800" b="1" i="1">
                              <a:solidFill>
                                <a:srgbClr val="002060"/>
                              </a:solidFill>
                              <a:latin typeface="Cambria Math" panose="02040503050406030204" pitchFamily="18" charset="0"/>
                            </a:rPr>
                            <m:t>𝑵</m:t>
                          </m:r>
                          <m:r>
                            <a:rPr lang="en-NZ" altLang="ja-JP" sz="1800" b="1" i="1">
                              <a:solidFill>
                                <a:srgbClr val="002060"/>
                              </a:solidFill>
                              <a:latin typeface="Cambria Math" panose="02040503050406030204" pitchFamily="18" charset="0"/>
                            </a:rPr>
                            <m:t> − </m:t>
                          </m:r>
                          <m:r>
                            <a:rPr lang="en-NZ" altLang="ja-JP" sz="1800" b="1" i="1">
                              <a:solidFill>
                                <a:srgbClr val="002060"/>
                              </a:solidFill>
                              <a:latin typeface="Cambria Math" panose="02040503050406030204" pitchFamily="18" charset="0"/>
                            </a:rPr>
                            <m:t>𝒌</m:t>
                          </m:r>
                        </m:sub>
                        <m:sup>
                          <m:r>
                            <a:rPr lang="en-NZ" altLang="ja-JP" sz="1800" b="1" i="1">
                              <a:solidFill>
                                <a:srgbClr val="002060"/>
                              </a:solidFill>
                              <a:latin typeface="Cambria Math" panose="02040503050406030204" pitchFamily="18" charset="0"/>
                            </a:rPr>
                            <m:t>𝟐</m:t>
                          </m:r>
                        </m:sup>
                      </m:sSubSup>
                    </m:oMath>
                  </m:oMathPara>
                </a14:m>
                <a:endParaRPr lang="en-NZ" altLang="ja-JP" sz="1800" dirty="0">
                  <a:solidFill>
                    <a:srgbClr val="002060"/>
                  </a:solidFill>
                </a:endParaRPr>
              </a:p>
              <a:p>
                <a:pPr algn="just">
                  <a:lnSpc>
                    <a:spcPct val="100000"/>
                  </a:lnSpc>
                </a:pPr>
                <a:endParaRPr lang="en-NZ" altLang="ja-JP" sz="600" dirty="0">
                  <a:solidFill>
                    <a:srgbClr val="002060"/>
                  </a:solidFill>
                </a:endParaRPr>
              </a:p>
              <a:p>
                <a:pPr algn="ctr">
                  <a:lnSpc>
                    <a:spcPct val="100000"/>
                  </a:lnSpc>
                </a:pPr>
                <a:r>
                  <a:rPr lang="en-NZ" altLang="ja-JP" sz="1800" dirty="0">
                    <a:solidFill>
                      <a:srgbClr val="002060"/>
                    </a:solidFill>
                  </a:rPr>
                  <a:t>From Conclusion 2</a:t>
                </a:r>
              </a:p>
              <a:p>
                <a:pPr algn="just">
                  <a:lnSpc>
                    <a:spcPct val="100000"/>
                  </a:lnSpc>
                </a:pPr>
                <a:endParaRPr lang="en-NZ" altLang="ja-JP" sz="1800" i="1" dirty="0">
                  <a:solidFill>
                    <a:srgbClr val="002060"/>
                  </a:solidFill>
                </a:endParaRPr>
              </a:p>
            </p:txBody>
          </p:sp>
        </mc:Choice>
        <mc:Fallback xmlns="">
          <p:sp>
            <p:nvSpPr>
              <p:cNvPr id="34" name="Text Placeholder 5">
                <a:extLst>
                  <a:ext uri="{FF2B5EF4-FFF2-40B4-BE49-F238E27FC236}">
                    <a16:creationId xmlns:a16="http://schemas.microsoft.com/office/drawing/2014/main" id="{916C97CF-3B61-4DB9-8EE0-032FF5E7A3B5}"/>
                  </a:ext>
                </a:extLst>
              </p:cNvPr>
              <p:cNvSpPr txBox="1">
                <a:spLocks noRot="1" noChangeAspect="1" noMove="1" noResize="1" noEditPoints="1" noAdjustHandles="1" noChangeArrowheads="1" noChangeShapeType="1" noTextEdit="1"/>
              </p:cNvSpPr>
              <p:nvPr/>
            </p:nvSpPr>
            <p:spPr>
              <a:xfrm>
                <a:off x="8399407" y="3717697"/>
                <a:ext cx="2725003" cy="1051880"/>
              </a:xfrm>
              <a:prstGeom prst="rect">
                <a:avLst/>
              </a:prstGeom>
              <a:blipFill>
                <a:blip r:embed="rId4"/>
                <a:stretch>
                  <a:fillRect b="-2326"/>
                </a:stretch>
              </a:blipFill>
              <a:ln>
                <a:no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FC4C6F3B-C700-423F-8E74-C93FA4862B97}"/>
                  </a:ext>
                </a:extLst>
              </p:cNvPr>
              <p:cNvSpPr txBox="1">
                <a:spLocks/>
              </p:cNvSpPr>
              <p:nvPr/>
            </p:nvSpPr>
            <p:spPr>
              <a:xfrm>
                <a:off x="600502" y="5801435"/>
                <a:ext cx="283418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r>
                        <a:rPr lang="en-NZ" altLang="ja-JP" sz="2400" b="1" i="1" smtClean="0">
                          <a:solidFill>
                            <a:schemeClr val="tx1"/>
                          </a:solidFill>
                          <a:latin typeface="Cambria Math" panose="02040503050406030204" pitchFamily="18" charset="0"/>
                        </a:rPr>
                        <m:t>⇒ </m:t>
                      </m:r>
                      <m:r>
                        <a:rPr lang="en-NZ" altLang="ja-JP" sz="2400" b="1" i="1" smtClean="0">
                          <a:solidFill>
                            <a:srgbClr val="C00000"/>
                          </a:solidFill>
                          <a:latin typeface="Cambria Math" panose="02040503050406030204" pitchFamily="18" charset="0"/>
                        </a:rPr>
                        <m:t>𝑭</m:t>
                      </m:r>
                      <m:r>
                        <a:rPr lang="en-NZ" altLang="ja-JP" sz="2400" b="1" i="1" smtClean="0">
                          <a:solidFill>
                            <a:srgbClr val="C00000"/>
                          </a:solidFill>
                          <a:latin typeface="Cambria Math" panose="02040503050406030204" pitchFamily="18" charset="0"/>
                        </a:rPr>
                        <m:t>  ~  </m:t>
                      </m:r>
                      <m:sSub>
                        <m:sSubPr>
                          <m:ctrlPr>
                            <a:rPr lang="en-NZ" altLang="ja-JP" sz="2400" b="1" i="1" smtClean="0">
                              <a:solidFill>
                                <a:srgbClr val="C00000"/>
                              </a:solidFill>
                              <a:latin typeface="Cambria Math" panose="02040503050406030204" pitchFamily="18" charset="0"/>
                            </a:rPr>
                          </m:ctrlPr>
                        </m:sSubPr>
                        <m:e>
                          <m:r>
                            <a:rPr lang="en-NZ" altLang="ja-JP" sz="2400" b="1" i="1" smtClean="0">
                              <a:solidFill>
                                <a:srgbClr val="C00000"/>
                              </a:solidFill>
                              <a:latin typeface="Cambria Math" panose="02040503050406030204" pitchFamily="18" charset="0"/>
                            </a:rPr>
                            <m:t>𝑭</m:t>
                          </m:r>
                        </m:e>
                        <m:sub>
                          <m:r>
                            <a:rPr lang="en-NZ" altLang="ja-JP" sz="2400" b="1" i="1" smtClean="0">
                              <a:solidFill>
                                <a:srgbClr val="C00000"/>
                              </a:solidFill>
                              <a:latin typeface="Cambria Math" panose="02040503050406030204" pitchFamily="18" charset="0"/>
                            </a:rPr>
                            <m:t>𝒌</m:t>
                          </m:r>
                          <m:r>
                            <a:rPr lang="en-NZ" altLang="ja-JP" sz="2400" b="1" i="1" smtClean="0">
                              <a:solidFill>
                                <a:srgbClr val="C00000"/>
                              </a:solidFill>
                              <a:latin typeface="Cambria Math" panose="02040503050406030204" pitchFamily="18" charset="0"/>
                            </a:rPr>
                            <m:t>−</m:t>
                          </m:r>
                          <m:r>
                            <a:rPr lang="en-NZ" altLang="ja-JP" sz="2400" b="1" i="1" smtClean="0">
                              <a:solidFill>
                                <a:srgbClr val="C00000"/>
                              </a:solidFill>
                              <a:latin typeface="Cambria Math" panose="02040503050406030204" pitchFamily="18" charset="0"/>
                            </a:rPr>
                            <m:t>𝟏</m:t>
                          </m:r>
                          <m:r>
                            <a:rPr lang="en-NZ" altLang="ja-JP" sz="2400" b="1" i="1" smtClean="0">
                              <a:solidFill>
                                <a:srgbClr val="C00000"/>
                              </a:solidFill>
                              <a:latin typeface="Cambria Math" panose="02040503050406030204" pitchFamily="18" charset="0"/>
                            </a:rPr>
                            <m:t> ,   </m:t>
                          </m:r>
                          <m:r>
                            <a:rPr lang="en-NZ" altLang="ja-JP" sz="2400" b="1" i="1" smtClean="0">
                              <a:solidFill>
                                <a:srgbClr val="C00000"/>
                              </a:solidFill>
                              <a:latin typeface="Cambria Math" panose="02040503050406030204" pitchFamily="18" charset="0"/>
                            </a:rPr>
                            <m:t>𝑵</m:t>
                          </m:r>
                          <m:r>
                            <a:rPr lang="en-NZ" altLang="ja-JP" sz="2400" b="1" i="1" smtClean="0">
                              <a:solidFill>
                                <a:srgbClr val="C00000"/>
                              </a:solidFill>
                              <a:latin typeface="Cambria Math" panose="02040503050406030204" pitchFamily="18" charset="0"/>
                            </a:rPr>
                            <m:t> −</m:t>
                          </m:r>
                          <m:r>
                            <a:rPr lang="en-NZ" altLang="ja-JP" sz="2400" b="1" i="1" smtClean="0">
                              <a:solidFill>
                                <a:srgbClr val="C00000"/>
                              </a:solidFill>
                              <a:latin typeface="Cambria Math" panose="02040503050406030204" pitchFamily="18" charset="0"/>
                            </a:rPr>
                            <m:t>𝒌</m:t>
                          </m:r>
                        </m:sub>
                      </m:sSub>
                    </m:oMath>
                  </m:oMathPara>
                </a14:m>
                <a:endParaRPr lang="en-NZ" altLang="ja-JP" sz="2400" b="1" dirty="0">
                  <a:solidFill>
                    <a:schemeClr val="tx1"/>
                  </a:solidFill>
                </a:endParaRPr>
              </a:p>
              <a:p>
                <a:pPr>
                  <a:lnSpc>
                    <a:spcPct val="100000"/>
                  </a:lnSpc>
                </a:pPr>
                <a:endParaRPr lang="en-NZ" altLang="ja-JP" sz="2400" b="1" dirty="0">
                  <a:solidFill>
                    <a:schemeClr val="tx1"/>
                  </a:solidFill>
                </a:endParaRPr>
              </a:p>
              <a:p>
                <a:pPr>
                  <a:lnSpc>
                    <a:spcPct val="100000"/>
                  </a:lnSpc>
                </a:pPr>
                <a:endParaRPr lang="en-NZ" altLang="ja-JP" sz="2400" b="1" dirty="0">
                  <a:solidFill>
                    <a:schemeClr val="tx1"/>
                  </a:solidFill>
                </a:endParaRPr>
              </a:p>
              <a:p>
                <a:pPr>
                  <a:lnSpc>
                    <a:spcPct val="100000"/>
                  </a:lnSpc>
                </a:pPr>
                <a:r>
                  <a:rPr lang="en-NZ" altLang="ja-JP" sz="2400" dirty="0">
                    <a:solidFill>
                      <a:schemeClr val="tx1"/>
                    </a:solidFill>
                  </a:rPr>
                  <a:t>  </a:t>
                </a:r>
              </a:p>
              <a:p>
                <a:pPr>
                  <a:lnSpc>
                    <a:spcPct val="100000"/>
                  </a:lnSpc>
                </a:pPr>
                <a:endParaRPr lang="en-NZ" altLang="ja-JP" sz="2400" dirty="0">
                  <a:solidFill>
                    <a:schemeClr val="tx1"/>
                  </a:solidFill>
                </a:endParaRPr>
              </a:p>
              <a:p>
                <a:pPr>
                  <a:lnSpc>
                    <a:spcPct val="100000"/>
                  </a:lnSpc>
                </a:pPr>
                <a:endParaRPr lang="en-NZ" altLang="ja-JP" sz="2400" i="1" dirty="0">
                  <a:solidFill>
                    <a:srgbClr val="C00000"/>
                  </a:solidFill>
                </a:endParaRPr>
              </a:p>
            </p:txBody>
          </p:sp>
        </mc:Choice>
        <mc:Fallback xmlns="">
          <p:sp>
            <p:nvSpPr>
              <p:cNvPr id="35" name="Text Placeholder 5">
                <a:extLst>
                  <a:ext uri="{FF2B5EF4-FFF2-40B4-BE49-F238E27FC236}">
                    <a16:creationId xmlns:a16="http://schemas.microsoft.com/office/drawing/2014/main" id="{FC4C6F3B-C700-423F-8E74-C93FA4862B97}"/>
                  </a:ext>
                </a:extLst>
              </p:cNvPr>
              <p:cNvSpPr txBox="1">
                <a:spLocks noRot="1" noChangeAspect="1" noMove="1" noResize="1" noEditPoints="1" noAdjustHandles="1" noChangeArrowheads="1" noChangeShapeType="1" noTextEdit="1"/>
              </p:cNvSpPr>
              <p:nvPr/>
            </p:nvSpPr>
            <p:spPr>
              <a:xfrm>
                <a:off x="600502" y="5801435"/>
                <a:ext cx="2834183" cy="675343"/>
              </a:xfrm>
              <a:prstGeom prst="rect">
                <a:avLst/>
              </a:prstGeom>
              <a:blipFill>
                <a:blip r:embed="rId5"/>
                <a:stretch>
                  <a:fillRect/>
                </a:stretch>
              </a:blipFill>
            </p:spPr>
            <p:txBody>
              <a:bodyPr/>
              <a:lstStyle/>
              <a:p>
                <a:r>
                  <a:rPr lang="en-NZ">
                    <a:noFill/>
                  </a:rPr>
                  <a:t> </a:t>
                </a:r>
              </a:p>
            </p:txBody>
          </p:sp>
        </mc:Fallback>
      </mc:AlternateContent>
      <p:sp>
        <p:nvSpPr>
          <p:cNvPr id="36" name="TextBox 35">
            <a:extLst>
              <a:ext uri="{FF2B5EF4-FFF2-40B4-BE49-F238E27FC236}">
                <a16:creationId xmlns:a16="http://schemas.microsoft.com/office/drawing/2014/main" id="{19C706CC-93AA-4DE9-B21C-1F92185D28FC}"/>
              </a:ext>
            </a:extLst>
          </p:cNvPr>
          <p:cNvSpPr txBox="1"/>
          <p:nvPr/>
        </p:nvSpPr>
        <p:spPr>
          <a:xfrm>
            <a:off x="3434685" y="5921032"/>
            <a:ext cx="2069474" cy="369332"/>
          </a:xfrm>
          <a:prstGeom prst="rect">
            <a:avLst/>
          </a:prstGeom>
          <a:noFill/>
        </p:spPr>
        <p:txBody>
          <a:bodyPr wrap="square">
            <a:spAutoFit/>
          </a:bodyPr>
          <a:lstStyle/>
          <a:p>
            <a:r>
              <a:rPr lang="en-NZ" dirty="0">
                <a:solidFill>
                  <a:srgbClr val="002060"/>
                </a:solidFill>
              </a:rPr>
              <a:t>by Rule 3</a:t>
            </a:r>
          </a:p>
        </p:txBody>
      </p:sp>
      <p:sp>
        <p:nvSpPr>
          <p:cNvPr id="15" name="Title 6">
            <a:extLst>
              <a:ext uri="{FF2B5EF4-FFF2-40B4-BE49-F238E27FC236}">
                <a16:creationId xmlns:a16="http://schemas.microsoft.com/office/drawing/2014/main" id="{E3897931-613C-487A-CC0B-1A39CF426D72}"/>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2.4b – Distribution of the F-Statistic:</a:t>
            </a:r>
            <a:endParaRPr lang="ja-JP" altLang="en-US" b="1" u="sng" dirty="0">
              <a:latin typeface="+mn-lt"/>
            </a:endParaRPr>
          </a:p>
        </p:txBody>
      </p:sp>
      <p:sp>
        <p:nvSpPr>
          <p:cNvPr id="19" name="Footer Placeholder 2">
            <a:extLst>
              <a:ext uri="{FF2B5EF4-FFF2-40B4-BE49-F238E27FC236}">
                <a16:creationId xmlns:a16="http://schemas.microsoft.com/office/drawing/2014/main" id="{1F87AA68-D4B6-19DB-82C3-CFAE2D09CB9C}"/>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96542A5E-3A95-2D54-60B4-5E9EB0D7D667}"/>
                  </a:ext>
                </a:extLst>
              </p:cNvPr>
              <p:cNvSpPr txBox="1">
                <a:spLocks/>
              </p:cNvSpPr>
              <p:nvPr/>
            </p:nvSpPr>
            <p:spPr>
              <a:xfrm>
                <a:off x="580031" y="4190885"/>
                <a:ext cx="5295331" cy="12084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b="1" u="sng" dirty="0">
                    <a:solidFill>
                      <a:srgbClr val="002060"/>
                    </a:solidFill>
                  </a:rPr>
                  <a:t>Rule 3</a:t>
                </a:r>
                <a:br>
                  <a:rPr lang="en-NZ" altLang="ja-JP" sz="1400" dirty="0">
                    <a:solidFill>
                      <a:srgbClr val="002060"/>
                    </a:solidFill>
                  </a:rPr>
                </a:br>
                <a:r>
                  <a:rPr lang="en-NZ" altLang="ja-JP" sz="1400" dirty="0">
                    <a:solidFill>
                      <a:srgbClr val="002060"/>
                    </a:solidFill>
                  </a:rPr>
                  <a:t>If </a:t>
                </a:r>
                <a14:m>
                  <m:oMath xmlns:m="http://schemas.openxmlformats.org/officeDocument/2006/math">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𝑾</m:t>
                        </m:r>
                      </m:e>
                      <m:sub>
                        <m:r>
                          <a:rPr lang="en-NZ" altLang="ja-JP" sz="1400" b="1" i="1" smtClean="0">
                            <a:solidFill>
                              <a:srgbClr val="002060"/>
                            </a:solidFill>
                            <a:latin typeface="Cambria Math" panose="02040503050406030204" pitchFamily="18" charset="0"/>
                          </a:rPr>
                          <m:t>𝟏</m:t>
                        </m:r>
                      </m:sub>
                    </m:sSub>
                    <m:r>
                      <a:rPr lang="en-NZ" altLang="ja-JP" sz="1400" b="1" i="1" smtClean="0">
                        <a:solidFill>
                          <a:srgbClr val="002060"/>
                        </a:solidFill>
                        <a:latin typeface="Cambria Math" panose="02040503050406030204" pitchFamily="18" charset="0"/>
                      </a:rPr>
                      <m:t> ~ </m:t>
                    </m:r>
                    <m:sSubSup>
                      <m:sSubSupPr>
                        <m:ctrlPr>
                          <a:rPr lang="en-NZ" altLang="ja-JP" sz="1400" b="1" i="1" smtClean="0">
                            <a:solidFill>
                              <a:srgbClr val="002060"/>
                            </a:solidFill>
                            <a:latin typeface="Cambria Math" panose="02040503050406030204" pitchFamily="18" charset="0"/>
                          </a:rPr>
                        </m:ctrlPr>
                      </m:sSubSupPr>
                      <m:e>
                        <m:r>
                          <a:rPr lang="en-NZ" altLang="ja-JP" sz="1400" b="1" i="1" smtClean="0">
                            <a:solidFill>
                              <a:srgbClr val="002060"/>
                            </a:solidFill>
                            <a:latin typeface="Cambria Math" panose="02040503050406030204" pitchFamily="18" charset="0"/>
                          </a:rPr>
                          <m:t>𝝌</m:t>
                        </m:r>
                      </m:e>
                      <m:sub>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𝟏</m:t>
                            </m:r>
                          </m:sub>
                        </m:sSub>
                      </m:sub>
                      <m:sup>
                        <m:r>
                          <a:rPr lang="en-NZ" altLang="ja-JP" sz="1400" b="1" i="1" smtClean="0">
                            <a:solidFill>
                              <a:srgbClr val="002060"/>
                            </a:solidFill>
                            <a:latin typeface="Cambria Math" panose="02040503050406030204" pitchFamily="18" charset="0"/>
                          </a:rPr>
                          <m:t>𝟐</m:t>
                        </m:r>
                      </m:sup>
                    </m:sSubSup>
                  </m:oMath>
                </a14:m>
                <a:r>
                  <a:rPr lang="en-NZ" altLang="ja-JP" sz="1400" b="0" dirty="0">
                    <a:solidFill>
                      <a:srgbClr val="002060"/>
                    </a:solidFill>
                  </a:rPr>
                  <a:t>  and   </a:t>
                </a:r>
                <a14:m>
                  <m:oMath xmlns:m="http://schemas.openxmlformats.org/officeDocument/2006/math">
                    <m:sSub>
                      <m:sSubPr>
                        <m:ctrlPr>
                          <a:rPr lang="en-NZ" altLang="ja-JP" sz="1400" b="1" i="1">
                            <a:solidFill>
                              <a:srgbClr val="002060"/>
                            </a:solidFill>
                            <a:latin typeface="Cambria Math" panose="02040503050406030204" pitchFamily="18" charset="0"/>
                          </a:rPr>
                        </m:ctrlPr>
                      </m:sSubPr>
                      <m:e>
                        <m:r>
                          <a:rPr lang="en-NZ" altLang="ja-JP" sz="1400" b="1" i="1">
                            <a:solidFill>
                              <a:srgbClr val="002060"/>
                            </a:solidFill>
                            <a:latin typeface="Cambria Math" panose="02040503050406030204" pitchFamily="18" charset="0"/>
                          </a:rPr>
                          <m:t>𝑾</m:t>
                        </m:r>
                      </m:e>
                      <m:sub>
                        <m:r>
                          <a:rPr lang="en-NZ" altLang="ja-JP" sz="1400" b="1" i="1" smtClean="0">
                            <a:solidFill>
                              <a:srgbClr val="002060"/>
                            </a:solidFill>
                            <a:latin typeface="Cambria Math" panose="02040503050406030204" pitchFamily="18" charset="0"/>
                          </a:rPr>
                          <m:t>𝟐</m:t>
                        </m:r>
                      </m:sub>
                    </m:sSub>
                    <m:r>
                      <a:rPr lang="en-NZ" altLang="ja-JP" sz="1400" b="1" i="1">
                        <a:solidFill>
                          <a:srgbClr val="002060"/>
                        </a:solidFill>
                        <a:latin typeface="Cambria Math" panose="02040503050406030204" pitchFamily="18" charset="0"/>
                      </a:rPr>
                      <m:t> ~ </m:t>
                    </m:r>
                    <m:sSubSup>
                      <m:sSubSupPr>
                        <m:ctrlPr>
                          <a:rPr lang="en-NZ" altLang="ja-JP" sz="1400" b="1" i="1">
                            <a:solidFill>
                              <a:srgbClr val="002060"/>
                            </a:solidFill>
                            <a:latin typeface="Cambria Math" panose="02040503050406030204" pitchFamily="18" charset="0"/>
                          </a:rPr>
                        </m:ctrlPr>
                      </m:sSubSupPr>
                      <m:e>
                        <m:r>
                          <a:rPr lang="en-NZ" altLang="ja-JP" sz="1400" b="1" i="1">
                            <a:solidFill>
                              <a:srgbClr val="002060"/>
                            </a:solidFill>
                            <a:latin typeface="Cambria Math" panose="02040503050406030204" pitchFamily="18" charset="0"/>
                          </a:rPr>
                          <m:t>𝝌</m:t>
                        </m:r>
                      </m:e>
                      <m:sub>
                        <m:sSub>
                          <m:sSubPr>
                            <m:ctrlPr>
                              <a:rPr lang="en-NZ" altLang="ja-JP" sz="1400" b="1" i="1">
                                <a:solidFill>
                                  <a:srgbClr val="002060"/>
                                </a:solidFill>
                                <a:latin typeface="Cambria Math" panose="02040503050406030204" pitchFamily="18" charset="0"/>
                              </a:rPr>
                            </m:ctrlPr>
                          </m:sSubPr>
                          <m:e>
                            <m:r>
                              <a:rPr lang="en-NZ" altLang="ja-JP" sz="1400" b="1" i="1">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𝟐</m:t>
                            </m:r>
                          </m:sub>
                        </m:sSub>
                      </m:sub>
                      <m:sup>
                        <m:r>
                          <a:rPr lang="en-NZ" altLang="ja-JP" sz="1400" b="1" i="1">
                            <a:solidFill>
                              <a:srgbClr val="002060"/>
                            </a:solidFill>
                            <a:latin typeface="Cambria Math" panose="02040503050406030204" pitchFamily="18" charset="0"/>
                          </a:rPr>
                          <m:t>𝟐</m:t>
                        </m:r>
                      </m:sup>
                    </m:sSubSup>
                  </m:oMath>
                </a14:m>
                <a:r>
                  <a:rPr lang="en-NZ" altLang="ja-JP" sz="1400" b="0" dirty="0">
                    <a:solidFill>
                      <a:srgbClr val="002060"/>
                    </a:solidFill>
                  </a:rPr>
                  <a:t>   are independent and </a:t>
                </a:r>
                <a14:m>
                  <m:oMath xmlns:m="http://schemas.openxmlformats.org/officeDocument/2006/math">
                    <m:r>
                      <a:rPr lang="en-NZ" altLang="ja-JP" sz="1400" b="1" i="1" smtClean="0">
                        <a:solidFill>
                          <a:srgbClr val="002060"/>
                        </a:solidFill>
                        <a:latin typeface="Cambria Math" panose="02040503050406030204" pitchFamily="18" charset="0"/>
                      </a:rPr>
                      <m:t>𝑿</m:t>
                    </m:r>
                    <m:r>
                      <a:rPr lang="en-NZ" altLang="ja-JP" sz="1400" b="1" i="1" smtClean="0">
                        <a:solidFill>
                          <a:srgbClr val="002060"/>
                        </a:solidFill>
                        <a:latin typeface="Cambria Math" panose="02040503050406030204" pitchFamily="18" charset="0"/>
                      </a:rPr>
                      <m:t>= </m:t>
                    </m:r>
                    <m:f>
                      <m:fPr>
                        <m:ctrlPr>
                          <a:rPr lang="en-NZ" altLang="ja-JP" sz="1400" b="1" i="1" smtClean="0">
                            <a:solidFill>
                              <a:srgbClr val="002060"/>
                            </a:solidFill>
                            <a:latin typeface="Cambria Math" panose="02040503050406030204" pitchFamily="18" charset="0"/>
                          </a:rPr>
                        </m:ctrlPr>
                      </m:fPr>
                      <m:num>
                        <m:f>
                          <m:fPr>
                            <m:type m:val="lin"/>
                            <m:ctrlPr>
                              <a:rPr lang="en-NZ" altLang="ja-JP" sz="1400" b="1" i="1" smtClean="0">
                                <a:solidFill>
                                  <a:srgbClr val="002060"/>
                                </a:solidFill>
                                <a:latin typeface="Cambria Math" panose="02040503050406030204" pitchFamily="18" charset="0"/>
                              </a:rPr>
                            </m:ctrlPr>
                          </m:fPr>
                          <m:num>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𝑾</m:t>
                                </m:r>
                              </m:e>
                              <m:sub>
                                <m:r>
                                  <a:rPr lang="en-NZ" altLang="ja-JP" sz="1400" b="1" i="1" smtClean="0">
                                    <a:solidFill>
                                      <a:srgbClr val="002060"/>
                                    </a:solidFill>
                                    <a:latin typeface="Cambria Math" panose="02040503050406030204" pitchFamily="18" charset="0"/>
                                  </a:rPr>
                                  <m:t>𝟏</m:t>
                                </m:r>
                              </m:sub>
                            </m:sSub>
                          </m:num>
                          <m:den>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𝟏</m:t>
                                </m:r>
                              </m:sub>
                            </m:sSub>
                          </m:den>
                        </m:f>
                      </m:num>
                      <m:den>
                        <m:f>
                          <m:fPr>
                            <m:type m:val="lin"/>
                            <m:ctrlPr>
                              <a:rPr lang="en-NZ" altLang="ja-JP" sz="1400" b="1" i="1" smtClean="0">
                                <a:solidFill>
                                  <a:srgbClr val="002060"/>
                                </a:solidFill>
                                <a:latin typeface="Cambria Math" panose="02040503050406030204" pitchFamily="18" charset="0"/>
                              </a:rPr>
                            </m:ctrlPr>
                          </m:fPr>
                          <m:num>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𝑾</m:t>
                                </m:r>
                              </m:e>
                              <m:sub>
                                <m:r>
                                  <a:rPr lang="en-NZ" altLang="ja-JP" sz="1400" b="1" i="1" smtClean="0">
                                    <a:solidFill>
                                      <a:srgbClr val="002060"/>
                                    </a:solidFill>
                                    <a:latin typeface="Cambria Math" panose="02040503050406030204" pitchFamily="18" charset="0"/>
                                  </a:rPr>
                                  <m:t>𝟐</m:t>
                                </m:r>
                              </m:sub>
                            </m:sSub>
                          </m:num>
                          <m:den>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𝟐</m:t>
                                </m:r>
                              </m:sub>
                            </m:sSub>
                          </m:den>
                        </m:f>
                      </m:den>
                    </m:f>
                  </m:oMath>
                </a14:m>
                <a:r>
                  <a:rPr lang="en-NZ" altLang="ja-JP" sz="1400" b="0" dirty="0">
                    <a:solidFill>
                      <a:srgbClr val="002060"/>
                    </a:solidFill>
                  </a:rPr>
                  <a:t> </a:t>
                </a:r>
              </a:p>
              <a:p>
                <a:pPr algn="just">
                  <a:lnSpc>
                    <a:spcPct val="100000"/>
                  </a:lnSpc>
                </a:pPr>
                <a:endParaRPr lang="en-NZ" altLang="ja-JP" sz="1400" b="0" dirty="0">
                  <a:solidFill>
                    <a:srgbClr val="002060"/>
                  </a:solidFill>
                </a:endParaRPr>
              </a:p>
              <a:p>
                <a:pPr algn="just">
                  <a:lnSpc>
                    <a:spcPct val="100000"/>
                  </a:lnSpc>
                </a:pPr>
                <a14:m>
                  <m:oMathPara xmlns:m="http://schemas.openxmlformats.org/officeDocument/2006/math">
                    <m:oMathParaPr>
                      <m:jc m:val="left"/>
                    </m:oMathParaPr>
                    <m:oMath xmlns:m="http://schemas.openxmlformats.org/officeDocument/2006/math">
                      <m:r>
                        <a:rPr lang="en-NZ" altLang="ja-JP" sz="1400" b="1" i="1" smtClean="0">
                          <a:solidFill>
                            <a:srgbClr val="002060"/>
                          </a:solidFill>
                          <a:latin typeface="Cambria Math" panose="02040503050406030204" pitchFamily="18" charset="0"/>
                        </a:rPr>
                        <m:t>⇒   </m:t>
                      </m:r>
                      <m:r>
                        <a:rPr lang="en-NZ" altLang="ja-JP" sz="1400" b="1" i="1" smtClean="0">
                          <a:solidFill>
                            <a:srgbClr val="002060"/>
                          </a:solidFill>
                          <a:latin typeface="Cambria Math" panose="02040503050406030204" pitchFamily="18" charset="0"/>
                        </a:rPr>
                        <m:t>𝑿</m:t>
                      </m:r>
                      <m:r>
                        <a:rPr lang="en-NZ" altLang="ja-JP" sz="1400" b="1" i="1" smtClean="0">
                          <a:solidFill>
                            <a:srgbClr val="002060"/>
                          </a:solidFill>
                          <a:latin typeface="Cambria Math" panose="02040503050406030204" pitchFamily="18" charset="0"/>
                        </a:rPr>
                        <m:t> ~ </m:t>
                      </m:r>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𝑭</m:t>
                          </m:r>
                        </m:e>
                        <m:sub>
                          <m:r>
                            <a:rPr lang="en-NZ" altLang="ja-JP" sz="1400" b="1" i="1" smtClean="0">
                              <a:solidFill>
                                <a:srgbClr val="002060"/>
                              </a:solidFill>
                              <a:latin typeface="Cambria Math" panose="02040503050406030204" pitchFamily="18" charset="0"/>
                            </a:rPr>
                            <m:t> </m:t>
                          </m:r>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𝟏</m:t>
                              </m:r>
                            </m:sub>
                          </m:sSub>
                          <m:r>
                            <a:rPr lang="en-NZ" altLang="ja-JP" sz="1400" b="1" i="1" smtClean="0">
                              <a:solidFill>
                                <a:srgbClr val="002060"/>
                              </a:solidFill>
                              <a:latin typeface="Cambria Math" panose="02040503050406030204" pitchFamily="18" charset="0"/>
                            </a:rPr>
                            <m:t> ,  </m:t>
                          </m:r>
                          <m:sSub>
                            <m:sSubPr>
                              <m:ctrlPr>
                                <a:rPr lang="en-NZ" altLang="ja-JP" sz="1400" b="1" i="1" smtClean="0">
                                  <a:solidFill>
                                    <a:srgbClr val="002060"/>
                                  </a:solidFill>
                                  <a:latin typeface="Cambria Math" panose="02040503050406030204" pitchFamily="18" charset="0"/>
                                </a:rPr>
                              </m:ctrlPr>
                            </m:sSubPr>
                            <m:e>
                              <m:r>
                                <a:rPr lang="en-NZ" altLang="ja-JP" sz="1400" b="1" i="1" smtClean="0">
                                  <a:solidFill>
                                    <a:srgbClr val="002060"/>
                                  </a:solidFill>
                                  <a:latin typeface="Cambria Math" panose="02040503050406030204" pitchFamily="18" charset="0"/>
                                </a:rPr>
                                <m:t>𝒏</m:t>
                              </m:r>
                            </m:e>
                            <m:sub>
                              <m:r>
                                <a:rPr lang="en-NZ" altLang="ja-JP" sz="1400" b="1" i="1" smtClean="0">
                                  <a:solidFill>
                                    <a:srgbClr val="002060"/>
                                  </a:solidFill>
                                  <a:latin typeface="Cambria Math" panose="02040503050406030204" pitchFamily="18" charset="0"/>
                                </a:rPr>
                                <m:t>𝟐</m:t>
                              </m:r>
                            </m:sub>
                          </m:sSub>
                        </m:sub>
                      </m:sSub>
                    </m:oMath>
                  </m:oMathPara>
                </a14:m>
                <a:endParaRPr lang="en-NZ" altLang="ja-JP" sz="1400" b="1" dirty="0">
                  <a:solidFill>
                    <a:srgbClr val="002060"/>
                  </a:solidFill>
                </a:endParaRPr>
              </a:p>
            </p:txBody>
          </p:sp>
        </mc:Choice>
        <mc:Fallback xmlns="">
          <p:sp>
            <p:nvSpPr>
              <p:cNvPr id="16" name="Text Placeholder 5">
                <a:extLst>
                  <a:ext uri="{FF2B5EF4-FFF2-40B4-BE49-F238E27FC236}">
                    <a16:creationId xmlns:a16="http://schemas.microsoft.com/office/drawing/2014/main" id="{96542A5E-3A95-2D54-60B4-5E9EB0D7D667}"/>
                  </a:ext>
                </a:extLst>
              </p:cNvPr>
              <p:cNvSpPr txBox="1">
                <a:spLocks noRot="1" noChangeAspect="1" noMove="1" noResize="1" noEditPoints="1" noAdjustHandles="1" noChangeArrowheads="1" noChangeShapeType="1" noTextEdit="1"/>
              </p:cNvSpPr>
              <p:nvPr/>
            </p:nvSpPr>
            <p:spPr>
              <a:xfrm>
                <a:off x="580031" y="4190885"/>
                <a:ext cx="5295331" cy="1208495"/>
              </a:xfrm>
              <a:prstGeom prst="rect">
                <a:avLst/>
              </a:prstGeom>
              <a:blipFill>
                <a:blip r:embed="rId6"/>
                <a:stretch>
                  <a:fillRect l="-345" t="-503"/>
                </a:stretch>
              </a:blipFill>
            </p:spPr>
            <p:txBody>
              <a:bodyPr/>
              <a:lstStyle/>
              <a:p>
                <a:r>
                  <a:rPr lang="en-NZ">
                    <a:noFill/>
                  </a:rPr>
                  <a:t> </a:t>
                </a:r>
              </a:p>
            </p:txBody>
          </p:sp>
        </mc:Fallback>
      </mc:AlternateContent>
    </p:spTree>
    <p:extLst>
      <p:ext uri="{BB962C8B-B14F-4D97-AF65-F5344CB8AC3E}">
        <p14:creationId xmlns:p14="http://schemas.microsoft.com/office/powerpoint/2010/main" val="113661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animBg="1"/>
      <p:bldP spid="26" grpId="0" animBg="1"/>
      <p:bldP spid="34" grpId="0"/>
      <p:bldP spid="35" grpId="0"/>
      <p:bldP spid="36"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F2B5B-518C-316D-C09C-89FC32621B2A}"/>
              </a:ext>
            </a:extLst>
          </p:cNvPr>
          <p:cNvPicPr>
            <a:picLocks noChangeAspect="1"/>
          </p:cNvPicPr>
          <p:nvPr/>
        </p:nvPicPr>
        <p:blipFill>
          <a:blip r:embed="rId2"/>
          <a:stretch>
            <a:fillRect/>
          </a:stretch>
        </p:blipFill>
        <p:spPr>
          <a:xfrm>
            <a:off x="6660468" y="4876263"/>
            <a:ext cx="3664760" cy="1833388"/>
          </a:xfrm>
          <a:prstGeom prst="rect">
            <a:avLst/>
          </a:prstGeom>
        </p:spPr>
      </p:pic>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AE50A56B-56FB-8A3A-01BC-F58E719FAEEE}"/>
                  </a:ext>
                </a:extLst>
              </p:cNvPr>
              <p:cNvSpPr txBox="1">
                <a:spLocks/>
              </p:cNvSpPr>
              <p:nvPr/>
            </p:nvSpPr>
            <p:spPr>
              <a:xfrm>
                <a:off x="8170116" y="5891616"/>
                <a:ext cx="80915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𝑭</m:t>
                          </m:r>
                        </m:e>
                        <m:sub>
                          <m:r>
                            <a:rPr lang="en-NZ" altLang="ja-JP" sz="1600" b="1" i="1" smtClean="0">
                              <a:solidFill>
                                <a:srgbClr val="C00000"/>
                              </a:solidFill>
                              <a:latin typeface="Cambria Math" panose="02040503050406030204" pitchFamily="18" charset="0"/>
                            </a:rPr>
                            <m:t>𝒐𝒃𝒔</m:t>
                          </m:r>
                        </m:sub>
                      </m:sSub>
                    </m:oMath>
                  </m:oMathPara>
                </a14:m>
                <a:endParaRPr lang="en-NZ" altLang="ja-JP" sz="1600" dirty="0">
                  <a:solidFill>
                    <a:srgbClr val="C00000"/>
                  </a:solidFill>
                </a:endParaRPr>
              </a:p>
            </p:txBody>
          </p:sp>
        </mc:Choice>
        <mc:Fallback xmlns="">
          <p:sp>
            <p:nvSpPr>
              <p:cNvPr id="33" name="Text Placeholder 5">
                <a:extLst>
                  <a:ext uri="{FF2B5EF4-FFF2-40B4-BE49-F238E27FC236}">
                    <a16:creationId xmlns:a16="http://schemas.microsoft.com/office/drawing/2014/main" id="{AE50A56B-56FB-8A3A-01BC-F58E719FAEEE}"/>
                  </a:ext>
                </a:extLst>
              </p:cNvPr>
              <p:cNvSpPr txBox="1">
                <a:spLocks noRot="1" noChangeAspect="1" noMove="1" noResize="1" noEditPoints="1" noAdjustHandles="1" noChangeArrowheads="1" noChangeShapeType="1" noTextEdit="1"/>
              </p:cNvSpPr>
              <p:nvPr/>
            </p:nvSpPr>
            <p:spPr>
              <a:xfrm>
                <a:off x="8170116" y="5891616"/>
                <a:ext cx="809159" cy="398844"/>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33</a:t>
            </a:fld>
            <a:endParaRPr kumimoji="1" lang="ja-JP" altLang="en-US" dirty="0">
              <a:solidFill>
                <a:srgbClr val="575454">
                  <a:lumMod val="20000"/>
                  <a:lumOff val="80000"/>
                </a:srgbClr>
              </a:solidFill>
              <a:latin typeface="Coo Hew"/>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3583496"/>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use the sample data to calculate the observed test statistic </a:t>
                </a:r>
                <a:r>
                  <a:rPr lang="en-NZ" altLang="ja-JP" sz="1600" b="1" i="1" dirty="0">
                    <a:solidFill>
                      <a:schemeClr val="tx1"/>
                    </a:solidFill>
                  </a:rPr>
                  <a:t>F</a:t>
                </a:r>
                <a:r>
                  <a:rPr lang="en-NZ" altLang="ja-JP" sz="1600" dirty="0">
                    <a:solidFill>
                      <a:schemeClr val="tx1"/>
                    </a:solidFill>
                  </a:rPr>
                  <a:t> using the formula:</a:t>
                </a:r>
              </a:p>
              <a:p>
                <a:pPr algn="just">
                  <a:lnSpc>
                    <a:spcPct val="100000"/>
                  </a:lnSpc>
                </a:pPr>
                <a:endParaRPr lang="en-NZ" altLang="ja-JP" sz="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𝑴𝑺𝑻</m:t>
                          </m:r>
                        </m:num>
                        <m:den>
                          <m:r>
                            <a:rPr lang="en-NZ" altLang="ja-JP" sz="1600" b="1" i="1" smtClean="0">
                              <a:solidFill>
                                <a:schemeClr val="tx1"/>
                              </a:solidFill>
                              <a:latin typeface="Cambria Math" panose="02040503050406030204" pitchFamily="18" charset="0"/>
                            </a:rPr>
                            <m:t>𝑴𝑺𝑬</m:t>
                          </m:r>
                        </m:den>
                      </m:f>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f>
                            <m:fPr>
                              <m:type m:val="lin"/>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𝑺𝑺𝑻</m:t>
                              </m:r>
                              <m:r>
                                <a:rPr lang="en-NZ" altLang="ja-JP" sz="1600" b="1" i="1" smtClean="0">
                                  <a:solidFill>
                                    <a:schemeClr val="tx1"/>
                                  </a:solidFill>
                                  <a:latin typeface="Cambria Math" panose="02040503050406030204" pitchFamily="18" charset="0"/>
                                </a:rPr>
                                <m:t> </m:t>
                              </m:r>
                            </m:num>
                            <m:den>
                              <m:r>
                                <a:rPr lang="en-NZ" altLang="ja-JP" sz="1600" b="1" i="1" smtClean="0">
                                  <a:solidFill>
                                    <a:schemeClr val="tx1"/>
                                  </a:solidFill>
                                  <a:latin typeface="Cambria Math" panose="02040503050406030204" pitchFamily="18" charset="0"/>
                                </a:rPr>
                                <m:t> </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𝒌</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den>
                          </m:f>
                        </m:num>
                        <m:den>
                          <m:f>
                            <m:fPr>
                              <m:type m:val="lin"/>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𝑺𝑺𝑬</m:t>
                              </m:r>
                              <m:r>
                                <a:rPr lang="en-NZ" altLang="ja-JP" sz="1600" b="1" i="1" smtClean="0">
                                  <a:solidFill>
                                    <a:schemeClr val="tx1"/>
                                  </a:solidFill>
                                  <a:latin typeface="Cambria Math" panose="02040503050406030204" pitchFamily="18" charset="0"/>
                                </a:rPr>
                                <m:t> </m:t>
                              </m:r>
                            </m:num>
                            <m:den>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𝒌</m:t>
                              </m:r>
                              <m:r>
                                <a:rPr lang="en-NZ" altLang="ja-JP" sz="1600" b="1" i="1" smtClean="0">
                                  <a:solidFill>
                                    <a:schemeClr val="tx1"/>
                                  </a:solidFill>
                                  <a:latin typeface="Cambria Math" panose="02040503050406030204" pitchFamily="18" charset="0"/>
                                </a:rPr>
                                <m:t> </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den>
                          </m:f>
                        </m:den>
                      </m:f>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f>
                            <m:fPr>
                              <m:type m:val="lin"/>
                              <m:ctrlPr>
                                <a:rPr lang="en-NZ" altLang="ja-JP" sz="1600" b="1" i="1" smtClean="0">
                                  <a:solidFill>
                                    <a:schemeClr val="tx1"/>
                                  </a:solidFill>
                                  <a:latin typeface="Cambria Math" panose="02040503050406030204" pitchFamily="18" charset="0"/>
                                </a:rPr>
                              </m:ctrlPr>
                            </m:fPr>
                            <m:num>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𝒌</m:t>
                                  </m:r>
                                </m:sup>
                                <m:e>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𝒋</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𝒏</m:t>
                                      </m:r>
                                    </m:sup>
                                    <m:e>
                                      <m:sSup>
                                        <m:sSupPr>
                                          <m:ctrlPr>
                                            <a:rPr lang="en-NZ" altLang="ja-JP" sz="1600" b="1" i="1">
                                              <a:solidFill>
                                                <a:schemeClr val="tx1"/>
                                              </a:solidFill>
                                              <a:latin typeface="Cambria Math" panose="02040503050406030204" pitchFamily="18" charset="0"/>
                                            </a:rPr>
                                          </m:ctrlPr>
                                        </m:sSupPr>
                                        <m:e>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ea typeface="Cambria Math" panose="02040503050406030204" pitchFamily="18" charset="0"/>
                                                    </a:rPr>
                                                    <m:t>∙∙</m:t>
                                                  </m:r>
                                                </m:sub>
                                              </m:sSub>
                                            </m:e>
                                          </m:d>
                                        </m:e>
                                        <m:sup>
                                          <m:r>
                                            <a:rPr lang="en-NZ" altLang="ja-JP" sz="1600" b="1" i="1">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 </m:t>
                                      </m:r>
                                    </m:e>
                                  </m:nary>
                                </m:e>
                              </m:nary>
                            </m:num>
                            <m:den>
                              <m:r>
                                <a:rPr lang="en-NZ" altLang="ja-JP" sz="1600" b="1" i="1" smtClean="0">
                                  <a:solidFill>
                                    <a:schemeClr val="tx1"/>
                                  </a:solidFill>
                                  <a:latin typeface="Cambria Math" panose="02040503050406030204" pitchFamily="18" charset="0"/>
                                </a:rPr>
                                <m:t> </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𝒌</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e>
                              </m:d>
                            </m:den>
                          </m:f>
                        </m:num>
                        <m:den>
                          <m:f>
                            <m:fPr>
                              <m:type m:val="lin"/>
                              <m:ctrlPr>
                                <a:rPr lang="en-NZ" altLang="ja-JP" sz="1600" b="1" i="1" smtClean="0">
                                  <a:solidFill>
                                    <a:schemeClr val="tx1"/>
                                  </a:solidFill>
                                  <a:latin typeface="Cambria Math" panose="02040503050406030204" pitchFamily="18" charset="0"/>
                                </a:rPr>
                              </m:ctrlPr>
                            </m:fPr>
                            <m:num>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𝒌</m:t>
                                  </m:r>
                                </m:sup>
                                <m:e>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𝒋</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𝒏</m:t>
                                      </m:r>
                                    </m:sup>
                                    <m:e>
                                      <m:sSup>
                                        <m:sSupPr>
                                          <m:ctrlPr>
                                            <a:rPr lang="en-NZ" altLang="ja-JP" sz="1600" b="1" i="1">
                                              <a:solidFill>
                                                <a:schemeClr val="tx1"/>
                                              </a:solidFill>
                                              <a:latin typeface="Cambria Math" panose="02040503050406030204" pitchFamily="18" charset="0"/>
                                            </a:rPr>
                                          </m:ctrlPr>
                                        </m:sSupPr>
                                        <m:e>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e>
                                          </m:d>
                                        </m:e>
                                        <m:sup>
                                          <m:r>
                                            <a:rPr lang="en-NZ" altLang="ja-JP" sz="1600" b="1" i="1">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 </m:t>
                                      </m:r>
                                    </m:e>
                                  </m:nary>
                                </m:e>
                              </m:nary>
                            </m:num>
                            <m:den>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𝒌</m:t>
                              </m:r>
                              <m:r>
                                <a:rPr lang="en-NZ" altLang="ja-JP" sz="1600" b="1" i="1">
                                  <a:solidFill>
                                    <a:schemeClr val="tx1"/>
                                  </a:solidFill>
                                  <a:latin typeface="Cambria Math" panose="02040503050406030204" pitchFamily="18" charset="0"/>
                                </a:rPr>
                                <m:t> </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𝒏</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e>
                              </m:d>
                            </m:den>
                          </m:f>
                        </m:den>
                      </m:f>
                    </m:oMath>
                  </m:oMathPara>
                </a14:m>
                <a:endParaRPr lang="en-NZ" altLang="ja-JP" sz="1600" i="1" dirty="0">
                  <a:solidFill>
                    <a:srgbClr val="C00000"/>
                  </a:solidFill>
                </a:endParaRPr>
              </a:p>
            </p:txBody>
          </p:sp>
        </mc:Choice>
        <mc:Fallback xmlns="">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3583496"/>
                <a:ext cx="11472203" cy="1021587"/>
              </a:xfrm>
              <a:prstGeom prst="rect">
                <a:avLst/>
              </a:prstGeom>
              <a:blipFill>
                <a:blip r:embed="rId4"/>
                <a:stretch>
                  <a:fillRect l="-266" t="-1796" b="-5988"/>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251223" y="2298735"/>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want to test the hypothesis that the means of all the groups are equal, i.e.</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oMath>
                </a14:m>
                <a:endParaRPr lang="en-NZ" altLang="ja-JP" sz="1600" dirty="0">
                  <a:solidFill>
                    <a:schemeClr val="tx1"/>
                  </a:solidFill>
                </a:endParaRPr>
              </a:p>
            </p:txBody>
          </p:sp>
        </mc:Choice>
        <mc:Fallback xmlns="">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C4A4FEE8-CFD1-4003-AD06-D508D11C4922}"/>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9" name="Text Placeholder 5">
                <a:extLst>
                  <a:ext uri="{FF2B5EF4-FFF2-40B4-BE49-F238E27FC236}">
                    <a16:creationId xmlns:a16="http://schemas.microsoft.com/office/drawing/2014/main" id="{C4A4FEE8-CFD1-4003-AD06-D508D11C4922}"/>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707CDE52-52E3-4005-BDF2-6C34DD97E41D}"/>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30" name="Text Placeholder 5">
                <a:extLst>
                  <a:ext uri="{FF2B5EF4-FFF2-40B4-BE49-F238E27FC236}">
                    <a16:creationId xmlns:a16="http://schemas.microsoft.com/office/drawing/2014/main" id="{707CDE52-52E3-4005-BDF2-6C34DD97E41D}"/>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0B023A64-E0ED-4C3C-9566-D9FAFD2E6133}"/>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1" name="Text Placeholder 5">
                <a:extLst>
                  <a:ext uri="{FF2B5EF4-FFF2-40B4-BE49-F238E27FC236}">
                    <a16:creationId xmlns:a16="http://schemas.microsoft.com/office/drawing/2014/main" id="{0B023A64-E0ED-4C3C-9566-D9FAFD2E6133}"/>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8"/>
                <a:stretch>
                  <a:fillRect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6402FBED-F34C-4A15-91A8-0CADC18271CE}"/>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xmlns="">
          <p:sp>
            <p:nvSpPr>
              <p:cNvPr id="32" name="Text Placeholder 5">
                <a:extLst>
                  <a:ext uri="{FF2B5EF4-FFF2-40B4-BE49-F238E27FC236}">
                    <a16:creationId xmlns:a16="http://schemas.microsoft.com/office/drawing/2014/main" id="{6402FBED-F34C-4A15-91A8-0CADC18271CE}"/>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9"/>
                <a:stretch>
                  <a:fillRect b="-1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78518" y="4876263"/>
                <a:ext cx="5958508" cy="4488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b="1" u="sng" dirty="0">
                    <a:solidFill>
                      <a:srgbClr val="C00000"/>
                    </a:solidFill>
                  </a:rPr>
                  <a:t>If</a:t>
                </a:r>
                <a:r>
                  <a:rPr lang="en-NZ" altLang="ja-JP" sz="1600" dirty="0">
                    <a:solidFill>
                      <a:srgbClr val="C00000"/>
                    </a:solidFill>
                  </a:rPr>
                  <a:t> </a:t>
                </a:r>
                <a:r>
                  <a:rPr lang="en-NZ" altLang="ja-JP" sz="1600" dirty="0">
                    <a:solidFill>
                      <a:schemeClr val="tx1"/>
                    </a:solidFill>
                  </a:rPr>
                  <a:t>the ANOVA conditions are satisfied then </a:t>
                </a:r>
                <a14:m>
                  <m:oMath xmlns:m="http://schemas.openxmlformats.org/officeDocument/2006/math">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𝒌</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𝑵</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𝒌</m:t>
                        </m:r>
                      </m:sub>
                    </m:sSub>
                  </m:oMath>
                </a14:m>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We look to see where </a:t>
                </a:r>
                <a:r>
                  <a:rPr lang="en-NZ" altLang="ja-JP" sz="1600" b="1" i="1" dirty="0">
                    <a:solidFill>
                      <a:schemeClr val="tx1"/>
                    </a:solidFill>
                  </a:rPr>
                  <a:t>F</a:t>
                </a:r>
                <a:r>
                  <a:rPr lang="en-NZ" altLang="ja-JP" sz="1600" b="1" i="1" baseline="-25000" dirty="0">
                    <a:solidFill>
                      <a:schemeClr val="tx1"/>
                    </a:solidFill>
                  </a:rPr>
                  <a:t>obs </a:t>
                </a:r>
                <a:r>
                  <a:rPr lang="en-NZ" altLang="ja-JP" sz="1600" dirty="0">
                    <a:solidFill>
                      <a:schemeClr val="tx1"/>
                    </a:solidFill>
                  </a:rPr>
                  <a:t>lies in the distribution of </a:t>
                </a:r>
                <a:r>
                  <a:rPr lang="en-NZ" altLang="ja-JP" sz="1600" b="1" i="1" dirty="0">
                    <a:solidFill>
                      <a:schemeClr val="tx1"/>
                    </a:solidFill>
                  </a:rPr>
                  <a:t>F</a:t>
                </a:r>
                <a:r>
                  <a:rPr lang="en-NZ" altLang="ja-JP" sz="1600" b="1" i="1" baseline="-25000" dirty="0">
                    <a:solidFill>
                      <a:schemeClr val="tx1"/>
                    </a:solidFill>
                  </a:rPr>
                  <a:t> k-1 , N-k</a:t>
                </a:r>
                <a:r>
                  <a:rPr lang="en-NZ" altLang="ja-JP" sz="1600" dirty="0">
                    <a:solidFill>
                      <a:schemeClr val="tx1"/>
                    </a:solidFill>
                  </a:rPr>
                  <a:t> </a:t>
                </a:r>
                <a:endParaRPr lang="en-NZ" altLang="ja-JP" sz="1600" b="1" dirty="0">
                  <a:solidFill>
                    <a:schemeClr val="tx1"/>
                  </a:solidFill>
                </a:endParaRPr>
              </a:p>
              <a:p>
                <a:pPr algn="just">
                  <a:lnSpc>
                    <a:spcPct val="100000"/>
                  </a:lnSpc>
                </a:pPr>
                <a:endParaRPr lang="en-NZ" altLang="ja-JP" sz="1600" b="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Choice>
        <mc:Fallback xmlns="">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78518" y="4876263"/>
                <a:ext cx="5958508" cy="448852"/>
              </a:xfrm>
              <a:prstGeom prst="rect">
                <a:avLst/>
              </a:prstGeom>
              <a:blipFill>
                <a:blip r:embed="rId10"/>
                <a:stretch>
                  <a:fillRect l="-614" t="-2703" b="-4864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8" name="Text Placeholder 5">
                <a:extLst>
                  <a:ext uri="{FF2B5EF4-FFF2-40B4-BE49-F238E27FC236}">
                    <a16:creationId xmlns:a16="http://schemas.microsoft.com/office/drawing/2014/main" id="{91F5E52D-05D1-4BA0-9B12-457FB8B51379}"/>
                  </a:ext>
                </a:extLst>
              </p:cNvPr>
              <p:cNvSpPr txBox="1">
                <a:spLocks/>
              </p:cNvSpPr>
              <p:nvPr/>
            </p:nvSpPr>
            <p:spPr>
              <a:xfrm>
                <a:off x="278517" y="5485575"/>
                <a:ext cx="5844778" cy="4071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In particular, the p-value of the test is calculated as </a:t>
                </a:r>
                <a14:m>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0" smtClean="0">
                        <a:solidFill>
                          <a:schemeClr val="tx1"/>
                        </a:solidFill>
                        <a:latin typeface="Cambria Math" panose="02040503050406030204" pitchFamily="18" charset="0"/>
                      </a:rPr>
                      <m:t>. </m:t>
                    </m:r>
                  </m:oMath>
                </a14:m>
                <a:endParaRPr lang="en-NZ" altLang="ja-JP" sz="1600" b="1" dirty="0">
                  <a:solidFill>
                    <a:schemeClr val="tx1"/>
                  </a:solidFill>
                </a:endParaRPr>
              </a:p>
              <a:p>
                <a:pPr algn="just">
                  <a:lnSpc>
                    <a:spcPct val="100000"/>
                  </a:lnSpc>
                </a:pPr>
                <a:endParaRPr lang="en-NZ" altLang="ja-JP" sz="1600" b="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Choice>
        <mc:Fallback xmlns="">
          <p:sp>
            <p:nvSpPr>
              <p:cNvPr id="38" name="Text Placeholder 5">
                <a:extLst>
                  <a:ext uri="{FF2B5EF4-FFF2-40B4-BE49-F238E27FC236}">
                    <a16:creationId xmlns:a16="http://schemas.microsoft.com/office/drawing/2014/main" id="{91F5E52D-05D1-4BA0-9B12-457FB8B51379}"/>
                  </a:ext>
                </a:extLst>
              </p:cNvPr>
              <p:cNvSpPr txBox="1">
                <a:spLocks noRot="1" noChangeAspect="1" noMove="1" noResize="1" noEditPoints="1" noAdjustHandles="1" noChangeArrowheads="1" noChangeShapeType="1" noTextEdit="1"/>
              </p:cNvSpPr>
              <p:nvPr/>
            </p:nvSpPr>
            <p:spPr>
              <a:xfrm>
                <a:off x="278517" y="5485575"/>
                <a:ext cx="5844778" cy="407199"/>
              </a:xfrm>
              <a:prstGeom prst="rect">
                <a:avLst/>
              </a:prstGeom>
              <a:blipFill>
                <a:blip r:embed="rId11"/>
                <a:stretch>
                  <a:fillRect l="-626" t="-4478" b="-1493"/>
                </a:stretch>
              </a:blipFill>
            </p:spPr>
            <p:txBody>
              <a:bodyPr/>
              <a:lstStyle/>
              <a:p>
                <a:r>
                  <a:rPr lang="en-NZ">
                    <a:noFill/>
                  </a:rPr>
                  <a:t> </a:t>
                </a:r>
              </a:p>
            </p:txBody>
          </p:sp>
        </mc:Fallback>
      </mc:AlternateContent>
      <p:sp>
        <p:nvSpPr>
          <p:cNvPr id="39" name="Text Placeholder 5">
            <a:extLst>
              <a:ext uri="{FF2B5EF4-FFF2-40B4-BE49-F238E27FC236}">
                <a16:creationId xmlns:a16="http://schemas.microsoft.com/office/drawing/2014/main" id="{A70D6EAD-B290-4FD1-B949-1D090DBEB701}"/>
              </a:ext>
            </a:extLst>
          </p:cNvPr>
          <p:cNvSpPr txBox="1">
            <a:spLocks/>
          </p:cNvSpPr>
          <p:nvPr/>
        </p:nvSpPr>
        <p:spPr>
          <a:xfrm>
            <a:off x="251222" y="5836491"/>
            <a:ext cx="5767439" cy="78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The greater the value of the observed test statistic </a:t>
            </a:r>
            <a:r>
              <a:rPr lang="en-NZ" altLang="ja-JP" sz="1600" b="1" i="1" dirty="0">
                <a:solidFill>
                  <a:schemeClr val="tx1"/>
                </a:solidFill>
              </a:rPr>
              <a:t>F</a:t>
            </a:r>
            <a:r>
              <a:rPr lang="en-NZ" altLang="ja-JP" sz="1600" b="1" i="1" baseline="-25000" dirty="0">
                <a:solidFill>
                  <a:schemeClr val="tx1"/>
                </a:solidFill>
              </a:rPr>
              <a:t>obs </a:t>
            </a:r>
            <a:r>
              <a:rPr lang="en-NZ" altLang="ja-JP" sz="1600" dirty="0">
                <a:solidFill>
                  <a:schemeClr val="tx1"/>
                </a:solidFill>
              </a:rPr>
              <a:t>, the </a:t>
            </a:r>
            <a:br>
              <a:rPr lang="en-NZ" altLang="ja-JP" sz="1600" dirty="0">
                <a:solidFill>
                  <a:schemeClr val="tx1"/>
                </a:solidFill>
              </a:rPr>
            </a:br>
            <a:r>
              <a:rPr lang="en-NZ" altLang="ja-JP" sz="1600" dirty="0">
                <a:solidFill>
                  <a:schemeClr val="tx1"/>
                </a:solidFill>
              </a:rPr>
              <a:t>smaller this p-value will be and the more evidence we have against </a:t>
            </a:r>
            <a:br>
              <a:rPr lang="en-NZ" altLang="ja-JP" sz="1600" dirty="0">
                <a:solidFill>
                  <a:schemeClr val="tx1"/>
                </a:solidFill>
              </a:rPr>
            </a:br>
            <a:r>
              <a:rPr lang="en-NZ" altLang="ja-JP" sz="1600" dirty="0">
                <a:solidFill>
                  <a:schemeClr val="tx1"/>
                </a:solidFill>
              </a:rPr>
              <a:t>the null hypothesis.</a:t>
            </a:r>
          </a:p>
          <a:p>
            <a:pPr algn="just">
              <a:lnSpc>
                <a:spcPct val="100000"/>
              </a:lnSpc>
            </a:pPr>
            <a:endParaRPr lang="en-NZ" altLang="ja-JP" sz="1600" b="1" dirty="0">
              <a:solidFill>
                <a:schemeClr val="tx1"/>
              </a:solidFill>
            </a:endParaRPr>
          </a:p>
          <a:p>
            <a:pPr algn="just">
              <a:lnSpc>
                <a:spcPct val="100000"/>
              </a:lnSpc>
            </a:pPr>
            <a:endParaRPr lang="en-NZ" altLang="ja-JP" sz="1600" b="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21" name="Title 6">
            <a:extLst>
              <a:ext uri="{FF2B5EF4-FFF2-40B4-BE49-F238E27FC236}">
                <a16:creationId xmlns:a16="http://schemas.microsoft.com/office/drawing/2014/main" id="{C21EEF3F-F54B-923E-A662-A305BFB91B0F}"/>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2.4b – Distribution of the F-Statistic:</a:t>
            </a:r>
            <a:endParaRPr lang="ja-JP" altLang="en-US" b="1" u="sng" dirty="0">
              <a:latin typeface="+mn-lt"/>
            </a:endParaRPr>
          </a:p>
        </p:txBody>
      </p:sp>
      <p:sp>
        <p:nvSpPr>
          <p:cNvPr id="27" name="Footer Placeholder 2">
            <a:extLst>
              <a:ext uri="{FF2B5EF4-FFF2-40B4-BE49-F238E27FC236}">
                <a16:creationId xmlns:a16="http://schemas.microsoft.com/office/drawing/2014/main" id="{E217C915-E90C-EF5C-C692-76DA7473D37E}"/>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89733653-5326-A3B7-028D-8FB5D3C37F72}"/>
                  </a:ext>
                </a:extLst>
              </p:cNvPr>
              <p:cNvSpPr txBox="1">
                <a:spLocks/>
              </p:cNvSpPr>
              <p:nvPr/>
            </p:nvSpPr>
            <p:spPr>
              <a:xfrm>
                <a:off x="8785579" y="5895228"/>
                <a:ext cx="134463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m:t>
                      </m:r>
                    </m:oMath>
                  </m:oMathPara>
                </a14:m>
                <a:endParaRPr lang="en-NZ" altLang="ja-JP" sz="1600" dirty="0">
                  <a:solidFill>
                    <a:schemeClr val="tx1"/>
                  </a:solidFill>
                </a:endParaRPr>
              </a:p>
            </p:txBody>
          </p:sp>
        </mc:Choice>
        <mc:Fallback xmlns="">
          <p:sp>
            <p:nvSpPr>
              <p:cNvPr id="26" name="Text Placeholder 5">
                <a:extLst>
                  <a:ext uri="{FF2B5EF4-FFF2-40B4-BE49-F238E27FC236}">
                    <a16:creationId xmlns:a16="http://schemas.microsoft.com/office/drawing/2014/main" id="{89733653-5326-A3B7-028D-8FB5D3C37F72}"/>
                  </a:ext>
                </a:extLst>
              </p:cNvPr>
              <p:cNvSpPr txBox="1">
                <a:spLocks noRot="1" noChangeAspect="1" noMove="1" noResize="1" noEditPoints="1" noAdjustHandles="1" noChangeArrowheads="1" noChangeShapeType="1" noTextEdit="1"/>
              </p:cNvSpPr>
              <p:nvPr/>
            </p:nvSpPr>
            <p:spPr>
              <a:xfrm>
                <a:off x="8785579" y="5895228"/>
                <a:ext cx="1344639" cy="398844"/>
              </a:xfrm>
              <a:prstGeom prst="rect">
                <a:avLst/>
              </a:prstGeom>
              <a:blipFill>
                <a:blip r:embed="rId12"/>
                <a:stretch>
                  <a:fillRect/>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AA0882C0-2E92-BBD9-6A8F-2C3516DCEF0A}"/>
              </a:ext>
            </a:extLst>
          </p:cNvPr>
          <p:cNvCxnSpPr>
            <a:cxnSpLocks/>
            <a:stCxn id="33" idx="2"/>
          </p:cNvCxnSpPr>
          <p:nvPr/>
        </p:nvCxnSpPr>
        <p:spPr>
          <a:xfrm flipH="1">
            <a:off x="8573858" y="6290460"/>
            <a:ext cx="838" cy="22986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719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4" grpId="0"/>
      <p:bldP spid="25" grpId="0"/>
      <p:bldP spid="28" grpId="0"/>
      <p:bldP spid="29" grpId="0"/>
      <p:bldP spid="30" grpId="0"/>
      <p:bldP spid="31" grpId="0"/>
      <p:bldP spid="32" grpId="0"/>
      <p:bldP spid="37" grpId="0"/>
      <p:bldP spid="38" grpId="0"/>
      <p:bldP spid="39" grpId="0"/>
      <p:bldP spid="2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34</a:t>
            </a:fld>
            <a:endParaRPr kumimoji="1" lang="ja-JP" altLang="en-US" dirty="0">
              <a:solidFill>
                <a:srgbClr val="575454">
                  <a:lumMod val="20000"/>
                  <a:lumOff val="80000"/>
                </a:srgbClr>
              </a:solidFill>
              <a:latin typeface="Coo Hew"/>
            </a:endParaRPr>
          </a:p>
        </p:txBody>
      </p:sp>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574690" y="1793037"/>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NZ" altLang="ja-JP" sz="2000" dirty="0">
                <a:solidFill>
                  <a:schemeClr val="tx1"/>
                </a:solidFill>
              </a:rPr>
              <a:t>If any of the ANOVA conditions are violated…</a:t>
            </a:r>
          </a:p>
          <a:p>
            <a:pPr algn="just">
              <a:lnSpc>
                <a:spcPct val="100000"/>
              </a:lnSpc>
            </a:pPr>
            <a:endParaRPr lang="en-NZ" altLang="ja-JP" sz="2000" dirty="0">
              <a:solidFill>
                <a:schemeClr val="tx1"/>
              </a:solidFill>
            </a:endParaRPr>
          </a:p>
          <a:p>
            <a:pPr algn="just">
              <a:lnSpc>
                <a:spcPct val="100000"/>
              </a:lnSpc>
            </a:pPr>
            <a:endParaRPr lang="en-NZ" altLang="ja-JP" sz="2000" i="1" dirty="0">
              <a:solidFill>
                <a:srgbClr val="C00000"/>
              </a:solidFill>
            </a:endParaRPr>
          </a:p>
        </p:txBody>
      </p:sp>
      <p:sp>
        <p:nvSpPr>
          <p:cNvPr id="15" name="Text Placeholder 5">
            <a:extLst>
              <a:ext uri="{FF2B5EF4-FFF2-40B4-BE49-F238E27FC236}">
                <a16:creationId xmlns:a16="http://schemas.microsoft.com/office/drawing/2014/main" id="{8843EDBC-C379-48EE-8229-3369198A84C8}"/>
              </a:ext>
            </a:extLst>
          </p:cNvPr>
          <p:cNvSpPr txBox="1">
            <a:spLocks/>
          </p:cNvSpPr>
          <p:nvPr/>
        </p:nvSpPr>
        <p:spPr>
          <a:xfrm>
            <a:off x="574690" y="1144393"/>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b="1" dirty="0">
                <a:solidFill>
                  <a:srgbClr val="C00000"/>
                </a:solidFill>
              </a:rPr>
              <a:t>WARNING</a:t>
            </a:r>
            <a:r>
              <a:rPr lang="en-NZ" altLang="ja-JP" sz="2000" dirty="0">
                <a:solidFill>
                  <a:schemeClr val="tx1"/>
                </a:solidFill>
              </a:rPr>
              <a:t>:</a:t>
            </a:r>
          </a:p>
        </p:txBody>
      </p:sp>
      <p:sp>
        <p:nvSpPr>
          <p:cNvPr id="19" name="Text Placeholder 5">
            <a:extLst>
              <a:ext uri="{FF2B5EF4-FFF2-40B4-BE49-F238E27FC236}">
                <a16:creationId xmlns:a16="http://schemas.microsoft.com/office/drawing/2014/main" id="{630DE725-A063-4BF0-B020-D45D6A34349A}"/>
              </a:ext>
            </a:extLst>
          </p:cNvPr>
          <p:cNvSpPr txBox="1">
            <a:spLocks/>
          </p:cNvSpPr>
          <p:nvPr/>
        </p:nvSpPr>
        <p:spPr>
          <a:xfrm>
            <a:off x="1414819" y="2242079"/>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20" name="Right Brace 19">
            <a:extLst>
              <a:ext uri="{FF2B5EF4-FFF2-40B4-BE49-F238E27FC236}">
                <a16:creationId xmlns:a16="http://schemas.microsoft.com/office/drawing/2014/main" id="{FBD81532-B475-4919-BD2F-DA351FBE8906}"/>
              </a:ext>
            </a:extLst>
          </p:cNvPr>
          <p:cNvSpPr/>
          <p:nvPr/>
        </p:nvSpPr>
        <p:spPr>
          <a:xfrm>
            <a:off x="4985983" y="2309375"/>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3" name="Text Placeholder 5">
            <a:extLst>
              <a:ext uri="{FF2B5EF4-FFF2-40B4-BE49-F238E27FC236}">
                <a16:creationId xmlns:a16="http://schemas.microsoft.com/office/drawing/2014/main" id="{657F2344-1147-45C0-BCD7-3989352DD1F2}"/>
              </a:ext>
            </a:extLst>
          </p:cNvPr>
          <p:cNvSpPr txBox="1">
            <a:spLocks/>
          </p:cNvSpPr>
          <p:nvPr/>
        </p:nvSpPr>
        <p:spPr>
          <a:xfrm>
            <a:off x="5332607" y="2515900"/>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24" name="Text Placeholder 5">
            <a:extLst>
              <a:ext uri="{FF2B5EF4-FFF2-40B4-BE49-F238E27FC236}">
                <a16:creationId xmlns:a16="http://schemas.microsoft.com/office/drawing/2014/main" id="{85032861-FF11-45A2-B5F2-D154A0B6A6B5}"/>
              </a:ext>
            </a:extLst>
          </p:cNvPr>
          <p:cNvSpPr txBox="1">
            <a:spLocks/>
          </p:cNvSpPr>
          <p:nvPr/>
        </p:nvSpPr>
        <p:spPr>
          <a:xfrm>
            <a:off x="846161" y="3258657"/>
            <a:ext cx="10278249"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000" dirty="0">
                <a:solidFill>
                  <a:schemeClr val="tx1"/>
                </a:solidFill>
              </a:rPr>
              <a:t>… then Rule 1 does not hold*.</a:t>
            </a:r>
            <a:endParaRPr lang="en-NZ" altLang="ja-JP" sz="2000" i="1" dirty="0">
              <a:solidFill>
                <a:srgbClr val="C00000"/>
              </a:solidFill>
            </a:endParaRPr>
          </a:p>
        </p:txBody>
      </p:sp>
      <p:sp>
        <p:nvSpPr>
          <p:cNvPr id="25" name="Text Placeholder 5">
            <a:extLst>
              <a:ext uri="{FF2B5EF4-FFF2-40B4-BE49-F238E27FC236}">
                <a16:creationId xmlns:a16="http://schemas.microsoft.com/office/drawing/2014/main" id="{03B19434-EBF3-423C-90C6-A67A77E1E8E0}"/>
              </a:ext>
            </a:extLst>
          </p:cNvPr>
          <p:cNvSpPr txBox="1">
            <a:spLocks/>
          </p:cNvSpPr>
          <p:nvPr/>
        </p:nvSpPr>
        <p:spPr>
          <a:xfrm>
            <a:off x="574690" y="4050357"/>
            <a:ext cx="10549720" cy="748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NZ" altLang="ja-JP" sz="2000" dirty="0">
                <a:solidFill>
                  <a:schemeClr val="tx1"/>
                </a:solidFill>
              </a:rPr>
              <a:t>If any of the ANOVA conditions are violated then although we can still calculate the F-statistic, this will no longer follow an </a:t>
            </a:r>
            <a:r>
              <a:rPr lang="en-NZ" altLang="ja-JP" sz="2000" b="1" i="1" dirty="0">
                <a:solidFill>
                  <a:schemeClr val="tx1"/>
                </a:solidFill>
              </a:rPr>
              <a:t>F</a:t>
            </a:r>
            <a:r>
              <a:rPr lang="en-NZ" altLang="ja-JP" sz="2000" b="1" i="1" baseline="-25000" dirty="0">
                <a:solidFill>
                  <a:schemeClr val="tx1"/>
                </a:solidFill>
              </a:rPr>
              <a:t>k-1 , N-k</a:t>
            </a:r>
            <a:r>
              <a:rPr lang="en-NZ" altLang="ja-JP" sz="2000" dirty="0">
                <a:solidFill>
                  <a:schemeClr val="tx1"/>
                </a:solidFill>
              </a:rPr>
              <a:t> distribution. </a:t>
            </a:r>
            <a:endParaRPr lang="en-NZ" altLang="ja-JP" sz="2000" i="1" dirty="0">
              <a:solidFill>
                <a:srgbClr val="C00000"/>
              </a:solidFill>
            </a:endParaRPr>
          </a:p>
        </p:txBody>
      </p:sp>
      <p:sp>
        <p:nvSpPr>
          <p:cNvPr id="14" name="Title 6">
            <a:extLst>
              <a:ext uri="{FF2B5EF4-FFF2-40B4-BE49-F238E27FC236}">
                <a16:creationId xmlns:a16="http://schemas.microsoft.com/office/drawing/2014/main" id="{C005C2B8-AA89-6A77-6084-8AD7F9ED2B44}"/>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2.4b – Distribution of the F-Statistic:</a:t>
            </a:r>
            <a:endParaRPr lang="ja-JP" altLang="en-US" b="1" u="sng" dirty="0">
              <a:latin typeface="+mn-lt"/>
            </a:endParaRPr>
          </a:p>
        </p:txBody>
      </p:sp>
      <p:sp>
        <p:nvSpPr>
          <p:cNvPr id="18" name="Footer Placeholder 2">
            <a:extLst>
              <a:ext uri="{FF2B5EF4-FFF2-40B4-BE49-F238E27FC236}">
                <a16:creationId xmlns:a16="http://schemas.microsoft.com/office/drawing/2014/main" id="{4C428175-1192-7855-2D1A-C9F8954F8811}"/>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219FC023-E8B2-378C-0BEE-378FADBAAE82}"/>
              </a:ext>
            </a:extLst>
          </p:cNvPr>
          <p:cNvSpPr txBox="1">
            <a:spLocks/>
          </p:cNvSpPr>
          <p:nvPr/>
        </p:nvSpPr>
        <p:spPr>
          <a:xfrm>
            <a:off x="163773" y="6523630"/>
            <a:ext cx="5949682" cy="3277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bg2">
                    <a:lumMod val="50000"/>
                  </a:schemeClr>
                </a:solidFill>
              </a:rPr>
              <a:t>*None of the rules hold if independence is violated.</a:t>
            </a:r>
          </a:p>
          <a:p>
            <a:pPr algn="just">
              <a:lnSpc>
                <a:spcPct val="100000"/>
              </a:lnSpc>
            </a:pPr>
            <a:endParaRPr lang="en-NZ" altLang="ja-JP" sz="1400" dirty="0">
              <a:solidFill>
                <a:schemeClr val="bg2">
                  <a:lumMod val="50000"/>
                </a:schemeClr>
              </a:solidFill>
            </a:endParaRPr>
          </a:p>
          <a:p>
            <a:pPr algn="just">
              <a:lnSpc>
                <a:spcPct val="100000"/>
              </a:lnSpc>
            </a:pPr>
            <a:endParaRPr lang="en-NZ" altLang="ja-JP" sz="1400" i="1" dirty="0">
              <a:solidFill>
                <a:schemeClr val="bg2">
                  <a:lumMod val="50000"/>
                </a:schemeClr>
              </a:solidFill>
            </a:endParaRPr>
          </a:p>
        </p:txBody>
      </p:sp>
      <p:sp>
        <p:nvSpPr>
          <p:cNvPr id="17" name="Text Placeholder 5">
            <a:extLst>
              <a:ext uri="{FF2B5EF4-FFF2-40B4-BE49-F238E27FC236}">
                <a16:creationId xmlns:a16="http://schemas.microsoft.com/office/drawing/2014/main" id="{9403B08B-0A10-F86B-0B94-2DE5E4762BDB}"/>
              </a:ext>
            </a:extLst>
          </p:cNvPr>
          <p:cNvSpPr txBox="1">
            <a:spLocks/>
          </p:cNvSpPr>
          <p:nvPr/>
        </p:nvSpPr>
        <p:spPr>
          <a:xfrm>
            <a:off x="574690" y="5212902"/>
            <a:ext cx="10549720" cy="7486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NZ" altLang="ja-JP" sz="2000" dirty="0">
                <a:solidFill>
                  <a:schemeClr val="tx1"/>
                </a:solidFill>
              </a:rPr>
              <a:t>Consequently, the p-value produced from the ANOVA test will be meaningless. </a:t>
            </a:r>
          </a:p>
          <a:p>
            <a:pPr>
              <a:lnSpc>
                <a:spcPct val="100000"/>
              </a:lnSpc>
            </a:pPr>
            <a:endParaRPr lang="en-NZ" altLang="ja-JP" sz="2000" dirty="0">
              <a:solidFill>
                <a:schemeClr val="tx1"/>
              </a:solidFill>
            </a:endParaRPr>
          </a:p>
          <a:p>
            <a:pPr>
              <a:lnSpc>
                <a:spcPct val="100000"/>
              </a:lnSpc>
            </a:pPr>
            <a:endParaRPr lang="en-NZ" altLang="ja-JP" sz="2000" i="1" dirty="0">
              <a:solidFill>
                <a:srgbClr val="C00000"/>
              </a:solidFill>
            </a:endParaRPr>
          </a:p>
        </p:txBody>
      </p:sp>
    </p:spTree>
    <p:extLst>
      <p:ext uri="{BB962C8B-B14F-4D97-AF65-F5344CB8AC3E}">
        <p14:creationId xmlns:p14="http://schemas.microsoft.com/office/powerpoint/2010/main" val="423355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058" y="2844225"/>
            <a:ext cx="122001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2.5 – Computational Examples in R</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500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0C015E5D-9E2B-45B8-AC58-82E3CC24CA30}"/>
              </a:ext>
            </a:extLst>
          </p:cNvPr>
          <p:cNvSpPr txBox="1">
            <a:spLocks/>
          </p:cNvSpPr>
          <p:nvPr/>
        </p:nvSpPr>
        <p:spPr>
          <a:xfrm>
            <a:off x="251224" y="903964"/>
            <a:ext cx="704286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8" name="Text Placeholder 5">
            <a:extLst>
              <a:ext uri="{FF2B5EF4-FFF2-40B4-BE49-F238E27FC236}">
                <a16:creationId xmlns:a16="http://schemas.microsoft.com/office/drawing/2014/main" id="{DBDFA9CA-0156-4774-AFD2-6D46D022669C}"/>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9" name="Text Placeholder 5">
            <a:extLst>
              <a:ext uri="{FF2B5EF4-FFF2-40B4-BE49-F238E27FC236}">
                <a16:creationId xmlns:a16="http://schemas.microsoft.com/office/drawing/2014/main" id="{03C6385E-6590-4F83-8DFC-AFE0EE88C9B4}"/>
              </a:ext>
            </a:extLst>
          </p:cNvPr>
          <p:cNvSpPr txBox="1">
            <a:spLocks/>
          </p:cNvSpPr>
          <p:nvPr/>
        </p:nvSpPr>
        <p:spPr>
          <a:xfrm>
            <a:off x="251222" y="2142721"/>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interested in whether or not the means of these groups are the same.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3" name="Right Brace 12">
            <a:extLst>
              <a:ext uri="{FF2B5EF4-FFF2-40B4-BE49-F238E27FC236}">
                <a16:creationId xmlns:a16="http://schemas.microsoft.com/office/drawing/2014/main" id="{EC2DE50E-D838-4373-99D3-3E9F4D2D1270}"/>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4" name="Text Placeholder 5">
            <a:extLst>
              <a:ext uri="{FF2B5EF4-FFF2-40B4-BE49-F238E27FC236}">
                <a16:creationId xmlns:a16="http://schemas.microsoft.com/office/drawing/2014/main" id="{B9DB0087-5FC8-490B-915C-3EBD064BC0EC}"/>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p:sp>
        <p:nvSpPr>
          <p:cNvPr id="16" name="Text Placeholder 5">
            <a:extLst>
              <a:ext uri="{FF2B5EF4-FFF2-40B4-BE49-F238E27FC236}">
                <a16:creationId xmlns:a16="http://schemas.microsoft.com/office/drawing/2014/main" id="{CA69F85D-7873-4407-866A-478E6F232E33}"/>
              </a:ext>
            </a:extLst>
          </p:cNvPr>
          <p:cNvSpPr txBox="1">
            <a:spLocks/>
          </p:cNvSpPr>
          <p:nvPr/>
        </p:nvSpPr>
        <p:spPr>
          <a:xfrm>
            <a:off x="251225" y="2752557"/>
            <a:ext cx="5330710"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model the </a:t>
            </a:r>
            <a:r>
              <a:rPr lang="en-NZ" altLang="ja-JP" sz="1600" b="1" i="1" dirty="0" err="1">
                <a:solidFill>
                  <a:schemeClr val="tx1"/>
                </a:solidFill>
              </a:rPr>
              <a:t>j</a:t>
            </a:r>
            <a:r>
              <a:rPr lang="en-NZ" altLang="ja-JP" sz="1600" b="1" i="1" baseline="30000" dirty="0" err="1">
                <a:solidFill>
                  <a:schemeClr val="tx1"/>
                </a:solidFill>
              </a:rPr>
              <a:t>th</a:t>
            </a:r>
            <a:r>
              <a:rPr lang="en-NZ" altLang="ja-JP" sz="1600" dirty="0">
                <a:solidFill>
                  <a:schemeClr val="tx1"/>
                </a:solidFill>
              </a:rPr>
              <a:t> observation in group </a:t>
            </a:r>
            <a:r>
              <a:rPr lang="en-NZ" altLang="ja-JP" sz="1600" b="1" i="1" dirty="0" err="1">
                <a:solidFill>
                  <a:schemeClr val="tx1"/>
                </a:solidFill>
              </a:rPr>
              <a:t>i</a:t>
            </a:r>
            <a:r>
              <a:rPr lang="en-NZ" altLang="ja-JP" sz="1600" dirty="0">
                <a:solidFill>
                  <a:schemeClr val="tx1"/>
                </a:solidFill>
              </a:rPr>
              <a:t> as:</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mc:Choice xmlns:a14="http://schemas.microsoft.com/office/drawing/2010/main" Requires="a14">
          <p:sp>
            <p:nvSpPr>
              <p:cNvPr id="17" name="Text Placeholder 5">
                <a:extLst>
                  <a:ext uri="{FF2B5EF4-FFF2-40B4-BE49-F238E27FC236}">
                    <a16:creationId xmlns:a16="http://schemas.microsoft.com/office/drawing/2014/main" id="{0147D05C-3746-46B2-96A4-6929D39D5E9E}"/>
                  </a:ext>
                </a:extLst>
              </p:cNvPr>
              <p:cNvSpPr txBox="1">
                <a:spLocks/>
              </p:cNvSpPr>
              <p:nvPr/>
            </p:nvSpPr>
            <p:spPr>
              <a:xfrm>
                <a:off x="251222" y="3160571"/>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𝒀</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𝝁</m:t>
                    </m:r>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𝜶</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𝝁</m:t>
                        </m:r>
                      </m:e>
                      <m:sub>
                        <m:r>
                          <a:rPr lang="en-NZ" altLang="ja-JP" sz="1600" b="1" i="1" smtClean="0">
                            <a:solidFill>
                              <a:srgbClr val="C00000"/>
                            </a:solidFill>
                            <a:latin typeface="Cambria Math" panose="02040503050406030204" pitchFamily="18" charset="0"/>
                          </a:rPr>
                          <m:t>𝒊</m:t>
                        </m:r>
                      </m:sub>
                    </m:sSub>
                    <m:r>
                      <a:rPr lang="en-NZ" altLang="ja-JP" sz="1600" b="1" i="1" smtClean="0">
                        <a:solidFill>
                          <a:srgbClr val="C00000"/>
                        </a:solidFill>
                        <a:latin typeface="Cambria Math" panose="02040503050406030204" pitchFamily="18" charset="0"/>
                      </a:rPr>
                      <m:t>  +   </m:t>
                    </m:r>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𝝐</m:t>
                        </m:r>
                      </m:e>
                      <m:sub>
                        <m:r>
                          <a:rPr lang="en-NZ" altLang="ja-JP" sz="1600" b="1" i="1" smtClean="0">
                            <a:solidFill>
                              <a:srgbClr val="C00000"/>
                            </a:solidFill>
                            <a:latin typeface="Cambria Math" panose="02040503050406030204" pitchFamily="18" charset="0"/>
                          </a:rPr>
                          <m:t>𝒊</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𝒋</m:t>
                        </m:r>
                      </m:sub>
                    </m:sSub>
                  </m:oMath>
                </a14:m>
                <a:r>
                  <a:rPr lang="en-NZ" altLang="ja-JP" sz="1600" b="1" dirty="0">
                    <a:solidFill>
                      <a:srgbClr val="C00000"/>
                    </a:solidFill>
                  </a:rPr>
                  <a:t>  </a:t>
                </a:r>
              </a:p>
              <a:p>
                <a:pPr algn="just">
                  <a:lnSpc>
                    <a:spcPct val="100000"/>
                  </a:lnSpc>
                </a:pPr>
                <a:endParaRPr lang="en-NZ" altLang="ja-JP" sz="1600" b="1" dirty="0">
                  <a:solidFill>
                    <a:srgbClr val="C00000"/>
                  </a:solidFill>
                </a:endParaRPr>
              </a:p>
              <a:p>
                <a:pPr algn="just">
                  <a:lnSpc>
                    <a:spcPct val="100000"/>
                  </a:lnSpc>
                </a:pPr>
                <a:endParaRPr lang="en-NZ" altLang="ja-JP" sz="1600" b="1" i="1" dirty="0">
                  <a:solidFill>
                    <a:srgbClr val="C00000"/>
                  </a:solidFill>
                </a:endParaRPr>
              </a:p>
            </p:txBody>
          </p:sp>
        </mc:Choice>
        <mc:Fallback>
          <p:sp>
            <p:nvSpPr>
              <p:cNvPr id="17" name="Text Placeholder 5">
                <a:extLst>
                  <a:ext uri="{FF2B5EF4-FFF2-40B4-BE49-F238E27FC236}">
                    <a16:creationId xmlns:a16="http://schemas.microsoft.com/office/drawing/2014/main" id="{0147D05C-3746-46B2-96A4-6929D39D5E9E}"/>
                  </a:ext>
                </a:extLst>
              </p:cNvPr>
              <p:cNvSpPr txBox="1">
                <a:spLocks noRot="1" noChangeAspect="1" noMove="1" noResize="1" noEditPoints="1" noAdjustHandles="1" noChangeArrowheads="1" noChangeShapeType="1" noTextEdit="1"/>
              </p:cNvSpPr>
              <p:nvPr/>
            </p:nvSpPr>
            <p:spPr>
              <a:xfrm>
                <a:off x="251222" y="3160571"/>
                <a:ext cx="799759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19" name="Text Placeholder 5">
                <a:extLst>
                  <a:ext uri="{FF2B5EF4-FFF2-40B4-BE49-F238E27FC236}">
                    <a16:creationId xmlns:a16="http://schemas.microsoft.com/office/drawing/2014/main" id="{BBC7D6E9-B2D1-47B0-B8A8-30C6A2FC74AA}"/>
                  </a:ext>
                </a:extLst>
              </p:cNvPr>
              <p:cNvSpPr txBox="1">
                <a:spLocks/>
              </p:cNvSpPr>
              <p:nvPr/>
            </p:nvSpPr>
            <p:spPr>
              <a:xfrm>
                <a:off x="291145" y="3638380"/>
                <a:ext cx="628605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l-GR" altLang="ja-JP" sz="1600" b="1" i="1" dirty="0">
                    <a:solidFill>
                      <a:schemeClr val="tx1"/>
                    </a:solidFill>
                  </a:rPr>
                  <a:t>μ</a:t>
                </a:r>
                <a:r>
                  <a:rPr lang="en-NZ" altLang="ja-JP" sz="1600" dirty="0">
                    <a:solidFill>
                      <a:schemeClr val="tx1"/>
                    </a:solidFill>
                  </a:rPr>
                  <a:t> is the overall mean    </a:t>
                </a:r>
                <a:r>
                  <a:rPr lang="en-NZ" altLang="ja-JP" sz="1600" i="1" dirty="0">
                    <a:solidFill>
                      <a:schemeClr val="bg2">
                        <a:lumMod val="50000"/>
                      </a:schemeClr>
                    </a:solidFill>
                  </a:rPr>
                  <a:t>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a:t>
                </a:r>
                <a:r>
                  <a:rPr lang="en-NZ" altLang="ja-JP" sz="1600" dirty="0">
                    <a:solidFill>
                      <a:schemeClr val="tx1"/>
                    </a:solidFill>
                  </a:rPr>
                  <a:t>is the mean of group </a:t>
                </a:r>
                <a:r>
                  <a:rPr lang="en-NZ" altLang="ja-JP" sz="1600" b="1" i="1" dirty="0" err="1">
                    <a:solidFill>
                      <a:schemeClr val="tx1"/>
                    </a:solidFill>
                  </a:rPr>
                  <a:t>i</a:t>
                </a:r>
                <a:r>
                  <a:rPr lang="en-NZ" altLang="ja-JP" sz="1600" dirty="0">
                    <a:solidFill>
                      <a:schemeClr val="tx1"/>
                    </a:solidFill>
                  </a:rPr>
                  <a:t>   </a:t>
                </a:r>
              </a:p>
              <a:p>
                <a:pPr algn="just">
                  <a:lnSpc>
                    <a:spcPct val="100000"/>
                  </a:lnSpc>
                </a:pPr>
                <a:r>
                  <a:rPr lang="en-NZ" altLang="ja-JP" sz="1600" b="1" i="1" dirty="0">
                    <a:solidFill>
                      <a:schemeClr val="tx1"/>
                    </a:solidFill>
                  </a:rPr>
                  <a:t>α</a:t>
                </a:r>
                <a:r>
                  <a:rPr lang="en-NZ" altLang="ja-JP" sz="1600" b="1" i="1" baseline="-25000" dirty="0" err="1">
                    <a:solidFill>
                      <a:schemeClr val="tx1"/>
                    </a:solidFill>
                  </a:rPr>
                  <a:t>i</a:t>
                </a:r>
                <a:r>
                  <a:rPr lang="en-NZ" altLang="ja-JP" sz="1600" b="1" i="1" baseline="-25000" dirty="0">
                    <a:solidFill>
                      <a:schemeClr val="tx1"/>
                    </a:solidFill>
                  </a:rPr>
                  <a:t> </a:t>
                </a:r>
                <a:r>
                  <a:rPr lang="en-NZ" altLang="ja-JP" sz="1600" b="1" i="1" dirty="0">
                    <a:solidFill>
                      <a:schemeClr val="tx1"/>
                    </a:solidFill>
                  </a:rPr>
                  <a:t> ≡ </a:t>
                </a:r>
                <a:r>
                  <a:rPr lang="el-GR" altLang="ja-JP" sz="1600" b="1" i="1" dirty="0">
                    <a:solidFill>
                      <a:schemeClr val="tx1"/>
                    </a:solidFill>
                  </a:rPr>
                  <a:t>μ</a:t>
                </a:r>
                <a:r>
                  <a:rPr lang="en-NZ" altLang="ja-JP" sz="1600" b="1" i="1" baseline="-25000" dirty="0" err="1">
                    <a:solidFill>
                      <a:schemeClr val="tx1"/>
                    </a:solidFill>
                  </a:rPr>
                  <a:t>i</a:t>
                </a:r>
                <a:r>
                  <a:rPr lang="en-NZ" altLang="ja-JP" sz="1600" b="1" i="1" dirty="0">
                    <a:solidFill>
                      <a:schemeClr val="tx1"/>
                    </a:solidFill>
                  </a:rPr>
                  <a:t>  - </a:t>
                </a:r>
                <a:r>
                  <a:rPr lang="el-GR" altLang="ja-JP" sz="1600" b="1" i="1" dirty="0">
                    <a:solidFill>
                      <a:schemeClr val="tx1"/>
                    </a:solidFill>
                  </a:rPr>
                  <a:t>μ </a:t>
                </a:r>
                <a:r>
                  <a:rPr lang="en-NZ" altLang="ja-JP" sz="1600" dirty="0">
                    <a:solidFill>
                      <a:schemeClr val="tx1"/>
                    </a:solidFill>
                  </a:rPr>
                  <a:t>is the ‘effect’ of group </a:t>
                </a:r>
                <a:r>
                  <a:rPr lang="en-NZ" altLang="ja-JP" sz="1600" b="1" i="1" dirty="0" err="1">
                    <a:solidFill>
                      <a:schemeClr val="tx1"/>
                    </a:solidFill>
                  </a:rPr>
                  <a:t>i</a:t>
                </a:r>
                <a:r>
                  <a:rPr lang="en-NZ" altLang="ja-JP" sz="1600" b="1" i="1" dirty="0">
                    <a:solidFill>
                      <a:schemeClr val="tx1"/>
                    </a:solidFill>
                  </a:rPr>
                  <a: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𝝐</m:t>
                        </m:r>
                      </m:e>
                      <m:sub>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 </m:t>
                    </m:r>
                    <m:r>
                      <a:rPr lang="en-NZ" altLang="ja-JP" sz="1600" b="1" i="1" smtClean="0">
                        <a:solidFill>
                          <a:schemeClr val="tx1"/>
                        </a:solidFill>
                        <a:latin typeface="Cambria Math" panose="02040503050406030204" pitchFamily="18" charset="0"/>
                        <a:ea typeface="Cambria Math" panose="02040503050406030204" pitchFamily="18" charset="0"/>
                      </a:rPr>
                      <m:t>𝑵</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m:rPr>
                        <m:nor/>
                      </m:rPr>
                      <a:rPr lang="el-GR" altLang="ja-JP" sz="1600" b="1" i="1" dirty="0">
                        <a:solidFill>
                          <a:schemeClr val="tx1"/>
                        </a:solidFill>
                      </a:rPr>
                      <m:t>σ</m:t>
                    </m:r>
                    <m:r>
                      <m:rPr>
                        <m:nor/>
                      </m:rPr>
                      <a:rPr lang="en-NZ" altLang="ja-JP" sz="1600" b="1" i="1" baseline="30000" dirty="0">
                        <a:solidFill>
                          <a:schemeClr val="tx1"/>
                        </a:solidFill>
                      </a:rPr>
                      <m:t>2</m:t>
                    </m:r>
                    <m:r>
                      <a:rPr lang="en-NZ" altLang="ja-JP" sz="1600" b="1" i="1" smtClean="0">
                        <a:solidFill>
                          <a:schemeClr val="tx1"/>
                        </a:solidFill>
                        <a:latin typeface="Cambria Math" panose="02040503050406030204" pitchFamily="18" charset="0"/>
                        <a:ea typeface="Cambria Math" panose="02040503050406030204" pitchFamily="18" charset="0"/>
                      </a:rPr>
                      <m:t>)</m:t>
                    </m:r>
                  </m:oMath>
                </a14:m>
                <a:r>
                  <a:rPr lang="en-NZ" altLang="ja-JP" sz="1600" b="1" i="1" dirty="0">
                    <a:solidFill>
                      <a:schemeClr val="tx1"/>
                    </a:solidFill>
                  </a:rPr>
                  <a:t> </a:t>
                </a:r>
                <a:r>
                  <a:rPr lang="en-NZ" altLang="ja-JP" sz="1600" dirty="0">
                    <a:solidFill>
                      <a:schemeClr val="tx1"/>
                    </a:solidFill>
                  </a:rPr>
                  <a:t> </a:t>
                </a:r>
              </a:p>
              <a:p>
                <a:pPr algn="just">
                  <a:lnSpc>
                    <a:spcPct val="100000"/>
                  </a:lnSpc>
                </a:pPr>
                <a:endParaRPr lang="en-NZ" altLang="ja-JP" sz="1600" i="1" dirty="0">
                  <a:solidFill>
                    <a:srgbClr val="C00000"/>
                  </a:solidFill>
                </a:endParaRPr>
              </a:p>
            </p:txBody>
          </p:sp>
        </mc:Choice>
        <mc:Fallback>
          <p:sp>
            <p:nvSpPr>
              <p:cNvPr id="19" name="Text Placeholder 5">
                <a:extLst>
                  <a:ext uri="{FF2B5EF4-FFF2-40B4-BE49-F238E27FC236}">
                    <a16:creationId xmlns:a16="http://schemas.microsoft.com/office/drawing/2014/main" id="{BBC7D6E9-B2D1-47B0-B8A8-30C6A2FC74AA}"/>
                  </a:ext>
                </a:extLst>
              </p:cNvPr>
              <p:cNvSpPr txBox="1">
                <a:spLocks noRot="1" noChangeAspect="1" noMove="1" noResize="1" noEditPoints="1" noAdjustHandles="1" noChangeArrowheads="1" noChangeShapeType="1" noTextEdit="1"/>
              </p:cNvSpPr>
              <p:nvPr/>
            </p:nvSpPr>
            <p:spPr>
              <a:xfrm>
                <a:off x="291145" y="3638380"/>
                <a:ext cx="6286057" cy="815449"/>
              </a:xfrm>
              <a:prstGeom prst="rect">
                <a:avLst/>
              </a:prstGeom>
              <a:blipFill>
                <a:blip r:embed="rId3"/>
                <a:stretch>
                  <a:fillRect l="-582" t="-223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D7FE01F1-59F4-41A1-93D3-01009A102329}"/>
              </a:ext>
            </a:extLst>
          </p:cNvPr>
          <p:cNvSpPr txBox="1">
            <a:spLocks/>
          </p:cNvSpPr>
          <p:nvPr/>
        </p:nvSpPr>
        <p:spPr>
          <a:xfrm>
            <a:off x="303774" y="4681490"/>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want to test the hypothesis that the means of all the groups are equal, i.e.</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mc:Choice xmlns:a14="http://schemas.microsoft.com/office/drawing/2010/main" Requires="a14">
          <p:sp>
            <p:nvSpPr>
              <p:cNvPr id="22" name="Text Placeholder 5">
                <a:extLst>
                  <a:ext uri="{FF2B5EF4-FFF2-40B4-BE49-F238E27FC236}">
                    <a16:creationId xmlns:a16="http://schemas.microsoft.com/office/drawing/2014/main" id="{442D6107-9452-4B90-9F9B-C97B42EE92C9}"/>
                  </a:ext>
                </a:extLst>
              </p:cNvPr>
              <p:cNvSpPr txBox="1">
                <a:spLocks/>
              </p:cNvSpPr>
              <p:nvPr/>
            </p:nvSpPr>
            <p:spPr>
              <a:xfrm>
                <a:off x="291145" y="515644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𝒑</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𝑝</m:t>
                    </m:r>
                  </m:oMath>
                </a14:m>
                <a:endParaRPr lang="en-NZ" altLang="ja-JP" sz="1600" dirty="0">
                  <a:solidFill>
                    <a:schemeClr val="tx1"/>
                  </a:solidFill>
                </a:endParaRPr>
              </a:p>
            </p:txBody>
          </p:sp>
        </mc:Choice>
        <mc:Fallback>
          <p:sp>
            <p:nvSpPr>
              <p:cNvPr id="22" name="Text Placeholder 5">
                <a:extLst>
                  <a:ext uri="{FF2B5EF4-FFF2-40B4-BE49-F238E27FC236}">
                    <a16:creationId xmlns:a16="http://schemas.microsoft.com/office/drawing/2014/main" id="{442D6107-9452-4B90-9F9B-C97B42EE92C9}"/>
                  </a:ext>
                </a:extLst>
              </p:cNvPr>
              <p:cNvSpPr txBox="1">
                <a:spLocks noRot="1" noChangeAspect="1" noMove="1" noResize="1" noEditPoints="1" noAdjustHandles="1" noChangeArrowheads="1" noChangeShapeType="1" noTextEdit="1"/>
              </p:cNvSpPr>
              <p:nvPr/>
            </p:nvSpPr>
            <p:spPr>
              <a:xfrm>
                <a:off x="291145" y="5156443"/>
                <a:ext cx="3507477" cy="102158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3" name="Text Placeholder 5">
                <a:extLst>
                  <a:ext uri="{FF2B5EF4-FFF2-40B4-BE49-F238E27FC236}">
                    <a16:creationId xmlns:a16="http://schemas.microsoft.com/office/drawing/2014/main" id="{6804A2D9-4809-4727-B333-0D8130B184C8}"/>
                  </a:ext>
                </a:extLst>
              </p:cNvPr>
              <p:cNvSpPr txBox="1">
                <a:spLocks/>
              </p:cNvSpPr>
              <p:nvPr/>
            </p:nvSpPr>
            <p:spPr>
              <a:xfrm>
                <a:off x="4570742" y="519386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p:sp>
            <p:nvSpPr>
              <p:cNvPr id="23" name="Text Placeholder 5">
                <a:extLst>
                  <a:ext uri="{FF2B5EF4-FFF2-40B4-BE49-F238E27FC236}">
                    <a16:creationId xmlns:a16="http://schemas.microsoft.com/office/drawing/2014/main" id="{6804A2D9-4809-4727-B333-0D8130B184C8}"/>
                  </a:ext>
                </a:extLst>
              </p:cNvPr>
              <p:cNvSpPr txBox="1">
                <a:spLocks noRot="1" noChangeAspect="1" noMove="1" noResize="1" noEditPoints="1" noAdjustHandles="1" noChangeArrowheads="1" noChangeShapeType="1" noTextEdit="1"/>
              </p:cNvSpPr>
              <p:nvPr/>
            </p:nvSpPr>
            <p:spPr>
              <a:xfrm>
                <a:off x="4570742" y="5193868"/>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4" name="Text Placeholder 5">
                <a:extLst>
                  <a:ext uri="{FF2B5EF4-FFF2-40B4-BE49-F238E27FC236}">
                    <a16:creationId xmlns:a16="http://schemas.microsoft.com/office/drawing/2014/main" id="{2631F459-0907-4AB7-8D86-826BF5F70F99}"/>
                  </a:ext>
                </a:extLst>
              </p:cNvPr>
              <p:cNvSpPr txBox="1">
                <a:spLocks/>
              </p:cNvSpPr>
              <p:nvPr/>
            </p:nvSpPr>
            <p:spPr>
              <a:xfrm>
                <a:off x="5919828" y="3600955"/>
                <a:ext cx="5108307" cy="815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and apply the constraint</a:t>
                </a:r>
              </a:p>
              <a:p>
                <a:pPr algn="just">
                  <a:lnSpc>
                    <a:spcPct val="100000"/>
                  </a:lnSpc>
                </a:pPr>
                <a14:m>
                  <m:oMathPara xmlns:m="http://schemas.openxmlformats.org/officeDocument/2006/math">
                    <m:oMathParaPr>
                      <m:jc m:val="centerGroup"/>
                    </m:oMathParaPr>
                    <m:oMath xmlns:m="http://schemas.openxmlformats.org/officeDocument/2006/math">
                      <m:nary>
                        <m:naryPr>
                          <m:chr m:val="∑"/>
                          <m:ctrlPr>
                            <a:rPr lang="en-NZ" altLang="ja-JP" sz="160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𝛼</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=0    </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     </m:t>
                      </m:r>
                      <m:f>
                        <m:fPr>
                          <m:ctrlPr>
                            <a:rPr lang="en-NZ" altLang="ja-JP" sz="1600" b="0" i="1" smtClean="0">
                              <a:solidFill>
                                <a:schemeClr val="tx1"/>
                              </a:solidFill>
                              <a:latin typeface="Cambria Math" panose="02040503050406030204" pitchFamily="18" charset="0"/>
                            </a:rPr>
                          </m:ctrlPr>
                        </m:fPr>
                        <m:num>
                          <m:r>
                            <a:rPr lang="en-NZ" altLang="ja-JP" sz="1600" b="0" i="1" smtClean="0">
                              <a:solidFill>
                                <a:schemeClr val="tx1"/>
                              </a:solidFill>
                              <a:latin typeface="Cambria Math" panose="02040503050406030204" pitchFamily="18" charset="0"/>
                            </a:rPr>
                            <m:t>1</m:t>
                          </m:r>
                        </m:num>
                        <m:den>
                          <m:r>
                            <a:rPr lang="en-NZ" altLang="ja-JP" sz="1600" b="0" i="1" smtClean="0">
                              <a:solidFill>
                                <a:schemeClr val="tx1"/>
                              </a:solidFill>
                              <a:latin typeface="Cambria Math" panose="02040503050406030204" pitchFamily="18" charset="0"/>
                            </a:rPr>
                            <m:t>𝑘</m:t>
                          </m:r>
                        </m:den>
                      </m:f>
                      <m:nary>
                        <m:naryPr>
                          <m:chr m:val="∑"/>
                          <m:ctrlPr>
                            <a:rPr lang="en-NZ" altLang="ja-JP" sz="1600" b="0" i="1" smtClean="0">
                              <a:solidFill>
                                <a:schemeClr val="tx1"/>
                              </a:solidFill>
                              <a:latin typeface="Cambria Math" panose="02040503050406030204" pitchFamily="18" charset="0"/>
                            </a:rPr>
                          </m:ctrlPr>
                        </m:naryPr>
                        <m:sub>
                          <m:r>
                            <m:rPr>
                              <m:brk m:alnAt="23"/>
                            </m:rP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m:t>
                          </m:r>
                        </m:sub>
                        <m:sup>
                          <m:r>
                            <a:rPr lang="en-NZ" altLang="ja-JP" sz="1600" b="0" i="1" smtClean="0">
                              <a:solidFill>
                                <a:schemeClr val="tx1"/>
                              </a:solidFill>
                              <a:latin typeface="Cambria Math" panose="02040503050406030204" pitchFamily="18" charset="0"/>
                            </a:rPr>
                            <m:t>𝑘</m:t>
                          </m:r>
                        </m:sup>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𝜇</m:t>
                              </m:r>
                            </m:e>
                            <m:sub>
                              <m:r>
                                <a:rPr lang="en-NZ" altLang="ja-JP" sz="1600" b="0" i="1" smtClean="0">
                                  <a:solidFill>
                                    <a:schemeClr val="tx1"/>
                                  </a:solidFill>
                                  <a:latin typeface="Cambria Math" panose="02040503050406030204" pitchFamily="18" charset="0"/>
                                </a:rPr>
                                <m:t>𝑖</m:t>
                              </m:r>
                            </m:sub>
                          </m:sSub>
                        </m:e>
                      </m:nary>
                      <m:r>
                        <a:rPr lang="en-NZ" altLang="ja-JP" sz="1600" b="0" i="1" smtClean="0">
                          <a:solidFill>
                            <a:schemeClr val="tx1"/>
                          </a:solidFill>
                          <a:latin typeface="Cambria Math" panose="02040503050406030204" pitchFamily="18" charset="0"/>
                        </a:rPr>
                        <m:t> =  </m:t>
                      </m:r>
                      <m:r>
                        <a:rPr lang="en-NZ" altLang="ja-JP" sz="1600" b="0" i="1" smtClean="0">
                          <a:solidFill>
                            <a:schemeClr val="tx1"/>
                          </a:solidFill>
                          <a:latin typeface="Cambria Math" panose="02040503050406030204" pitchFamily="18" charset="0"/>
                        </a:rPr>
                        <m:t>𝜇</m:t>
                      </m:r>
                    </m:oMath>
                  </m:oMathPara>
                </a14:m>
                <a:endParaRPr lang="en-NZ" altLang="ja-JP" sz="1600" i="1" dirty="0">
                  <a:solidFill>
                    <a:schemeClr val="tx1"/>
                  </a:solidFill>
                </a:endParaRPr>
              </a:p>
            </p:txBody>
          </p:sp>
        </mc:Choice>
        <mc:Fallback>
          <p:sp>
            <p:nvSpPr>
              <p:cNvPr id="24" name="Text Placeholder 5">
                <a:extLst>
                  <a:ext uri="{FF2B5EF4-FFF2-40B4-BE49-F238E27FC236}">
                    <a16:creationId xmlns:a16="http://schemas.microsoft.com/office/drawing/2014/main" id="{2631F459-0907-4AB7-8D86-826BF5F70F99}"/>
                  </a:ext>
                </a:extLst>
              </p:cNvPr>
              <p:cNvSpPr txBox="1">
                <a:spLocks noRot="1" noChangeAspect="1" noMove="1" noResize="1" noEditPoints="1" noAdjustHandles="1" noChangeArrowheads="1" noChangeShapeType="1" noTextEdit="1"/>
              </p:cNvSpPr>
              <p:nvPr/>
            </p:nvSpPr>
            <p:spPr>
              <a:xfrm>
                <a:off x="5919828" y="3600955"/>
                <a:ext cx="5108307" cy="815449"/>
              </a:xfrm>
              <a:prstGeom prst="rect">
                <a:avLst/>
              </a:prstGeom>
              <a:blipFill>
                <a:blip r:embed="rId6"/>
                <a:stretch>
                  <a:fillRect t="-2256" b="-21805"/>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5" name="Text Placeholder 5">
                <a:extLst>
                  <a:ext uri="{FF2B5EF4-FFF2-40B4-BE49-F238E27FC236}">
                    <a16:creationId xmlns:a16="http://schemas.microsoft.com/office/drawing/2014/main" id="{E6B353AD-6E0D-476C-A8E0-0C6718C65928}"/>
                  </a:ext>
                </a:extLst>
              </p:cNvPr>
              <p:cNvSpPr txBox="1">
                <a:spLocks/>
              </p:cNvSpPr>
              <p:nvPr/>
            </p:nvSpPr>
            <p:spPr>
              <a:xfrm>
                <a:off x="8684523" y="518418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p:sp>
            <p:nvSpPr>
              <p:cNvPr id="25" name="Text Placeholder 5">
                <a:extLst>
                  <a:ext uri="{FF2B5EF4-FFF2-40B4-BE49-F238E27FC236}">
                    <a16:creationId xmlns:a16="http://schemas.microsoft.com/office/drawing/2014/main" id="{E6B353AD-6E0D-476C-A8E0-0C6718C65928}"/>
                  </a:ext>
                </a:extLst>
              </p:cNvPr>
              <p:cNvSpPr txBox="1">
                <a:spLocks noRot="1" noChangeAspect="1" noMove="1" noResize="1" noEditPoints="1" noAdjustHandles="1" noChangeArrowheads="1" noChangeShapeType="1" noTextEdit="1"/>
              </p:cNvSpPr>
              <p:nvPr/>
            </p:nvSpPr>
            <p:spPr>
              <a:xfrm>
                <a:off x="8684523" y="518418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6" name="Text Placeholder 5">
                <a:extLst>
                  <a:ext uri="{FF2B5EF4-FFF2-40B4-BE49-F238E27FC236}">
                    <a16:creationId xmlns:a16="http://schemas.microsoft.com/office/drawing/2014/main" id="{D5A5292B-25F0-4CA7-A0E9-ACC35A46CD01}"/>
                  </a:ext>
                </a:extLst>
              </p:cNvPr>
              <p:cNvSpPr txBox="1">
                <a:spLocks/>
              </p:cNvSpPr>
              <p:nvPr/>
            </p:nvSpPr>
            <p:spPr>
              <a:xfrm>
                <a:off x="3838431" y="539234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p:sp>
            <p:nvSpPr>
              <p:cNvPr id="26" name="Text Placeholder 5">
                <a:extLst>
                  <a:ext uri="{FF2B5EF4-FFF2-40B4-BE49-F238E27FC236}">
                    <a16:creationId xmlns:a16="http://schemas.microsoft.com/office/drawing/2014/main" id="{D5A5292B-25F0-4CA7-A0E9-ACC35A46CD01}"/>
                  </a:ext>
                </a:extLst>
              </p:cNvPr>
              <p:cNvSpPr txBox="1">
                <a:spLocks noRot="1" noChangeAspect="1" noMove="1" noResize="1" noEditPoints="1" noAdjustHandles="1" noChangeArrowheads="1" noChangeShapeType="1" noTextEdit="1"/>
              </p:cNvSpPr>
              <p:nvPr/>
            </p:nvSpPr>
            <p:spPr>
              <a:xfrm>
                <a:off x="3838431" y="5392346"/>
                <a:ext cx="628508" cy="365125"/>
              </a:xfrm>
              <a:prstGeom prst="rect">
                <a:avLst/>
              </a:prstGeom>
              <a:blipFill>
                <a:blip r:embed="rId8"/>
                <a:stretch>
                  <a:fillRect b="-16949"/>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7" name="Text Placeholder 5">
                <a:extLst>
                  <a:ext uri="{FF2B5EF4-FFF2-40B4-BE49-F238E27FC236}">
                    <a16:creationId xmlns:a16="http://schemas.microsoft.com/office/drawing/2014/main" id="{8F447797-39BB-4962-8C2C-504823700802}"/>
                  </a:ext>
                </a:extLst>
              </p:cNvPr>
              <p:cNvSpPr txBox="1">
                <a:spLocks/>
              </p:cNvSpPr>
              <p:nvPr/>
            </p:nvSpPr>
            <p:spPr>
              <a:xfrm>
                <a:off x="7876890" y="538243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p:sp>
            <p:nvSpPr>
              <p:cNvPr id="27" name="Text Placeholder 5">
                <a:extLst>
                  <a:ext uri="{FF2B5EF4-FFF2-40B4-BE49-F238E27FC236}">
                    <a16:creationId xmlns:a16="http://schemas.microsoft.com/office/drawing/2014/main" id="{8F447797-39BB-4962-8C2C-504823700802}"/>
                  </a:ext>
                </a:extLst>
              </p:cNvPr>
              <p:cNvSpPr txBox="1">
                <a:spLocks noRot="1" noChangeAspect="1" noMove="1" noResize="1" noEditPoints="1" noAdjustHandles="1" noChangeArrowheads="1" noChangeShapeType="1" noTextEdit="1"/>
              </p:cNvSpPr>
              <p:nvPr/>
            </p:nvSpPr>
            <p:spPr>
              <a:xfrm>
                <a:off x="7876890" y="5382432"/>
                <a:ext cx="628508" cy="365125"/>
              </a:xfrm>
              <a:prstGeom prst="rect">
                <a:avLst/>
              </a:prstGeom>
              <a:blipFill>
                <a:blip r:embed="rId9"/>
                <a:stretch>
                  <a:fillRect b="-15000"/>
                </a:stretch>
              </a:blipFill>
            </p:spPr>
            <p:txBody>
              <a:bodyPr/>
              <a:lstStyle/>
              <a:p>
                <a:r>
                  <a:rPr lang="en-NZ">
                    <a:noFill/>
                  </a:rPr>
                  <a:t> </a:t>
                </a:r>
              </a:p>
            </p:txBody>
          </p:sp>
        </mc:Fallback>
      </mc:AlternateContent>
      <p:sp>
        <p:nvSpPr>
          <p:cNvPr id="28" name="Slide Number Placeholder 3">
            <a:extLst>
              <a:ext uri="{FF2B5EF4-FFF2-40B4-BE49-F238E27FC236}">
                <a16:creationId xmlns:a16="http://schemas.microsoft.com/office/drawing/2014/main" id="{765C6191-57EC-4F1D-A2DB-FCC39A970C3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36</a:t>
            </a:fld>
            <a:endParaRPr kumimoji="1" lang="ja-JP" altLang="en-US" dirty="0">
              <a:solidFill>
                <a:srgbClr val="575454">
                  <a:lumMod val="20000"/>
                  <a:lumOff val="80000"/>
                </a:srgbClr>
              </a:solidFill>
              <a:latin typeface="Coo Hew"/>
            </a:endParaRPr>
          </a:p>
        </p:txBody>
      </p:sp>
      <p:sp>
        <p:nvSpPr>
          <p:cNvPr id="30" name="Title 6">
            <a:extLst>
              <a:ext uri="{FF2B5EF4-FFF2-40B4-BE49-F238E27FC236}">
                <a16:creationId xmlns:a16="http://schemas.microsoft.com/office/drawing/2014/main" id="{E63026C8-BC0B-4275-933F-0B99ABB87349}"/>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Recap of the Last Two Lectures:</a:t>
            </a:r>
            <a:endParaRPr lang="ja-JP" altLang="en-US" b="1" u="sng" dirty="0">
              <a:latin typeface="+mn-lt"/>
            </a:endParaRPr>
          </a:p>
        </p:txBody>
      </p:sp>
      <mc:AlternateContent xmlns:mc="http://schemas.openxmlformats.org/markup-compatibility/2006">
        <mc:Choice xmlns:a14="http://schemas.microsoft.com/office/drawing/2010/main" Requires="a14">
          <p:sp>
            <p:nvSpPr>
              <p:cNvPr id="29" name="Text Placeholder 5">
                <a:extLst>
                  <a:ext uri="{FF2B5EF4-FFF2-40B4-BE49-F238E27FC236}">
                    <a16:creationId xmlns:a16="http://schemas.microsoft.com/office/drawing/2014/main" id="{DC1FD3F1-C207-9E11-1CCB-9EBDBB17CD82}"/>
                  </a:ext>
                </a:extLst>
              </p:cNvPr>
              <p:cNvSpPr txBox="1">
                <a:spLocks/>
              </p:cNvSpPr>
              <p:nvPr/>
            </p:nvSpPr>
            <p:spPr>
              <a:xfrm>
                <a:off x="7661690" y="1189073"/>
                <a:ext cx="3857767" cy="183895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dirty="0">
                    <a:solidFill>
                      <a:schemeClr val="tx1"/>
                    </a:solidFill>
                    <a:latin typeface="Cambria Math" panose="02040503050406030204" pitchFamily="18" charset="0"/>
                  </a:rPr>
                  <a:t>We then fit the model to some data</a:t>
                </a: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ctr">
                  <a:lnSpc>
                    <a:spcPct val="100000"/>
                  </a:lnSpc>
                </a:pPr>
                <a:endParaRPr lang="en-NZ" altLang="ja-JP" sz="200" dirty="0">
                  <a:solidFill>
                    <a:schemeClr val="tx1"/>
                  </a:solidFill>
                </a:endParaRPr>
              </a:p>
              <a:p>
                <a:pPr algn="ctr">
                  <a:lnSpc>
                    <a:spcPct val="100000"/>
                  </a:lnSpc>
                </a:pPr>
                <a:endParaRPr lang="en-NZ" altLang="ja-JP" sz="200" dirty="0">
                  <a:solidFill>
                    <a:schemeClr val="tx1"/>
                  </a:solidFill>
                </a:endParaRPr>
              </a:p>
              <a:p>
                <a:pPr algn="ctr">
                  <a:lnSpc>
                    <a:spcPct val="100000"/>
                  </a:lnSpc>
                </a:pPr>
                <a:r>
                  <a:rPr lang="en-NZ" altLang="ja-JP" sz="1400" dirty="0">
                    <a:solidFill>
                      <a:schemeClr val="tx1"/>
                    </a:solidFill>
                  </a:rPr>
                  <a:t>in order to estimate the constants </a:t>
                </a:r>
                <a14:m>
                  <m:oMath xmlns:m="http://schemas.openxmlformats.org/officeDocument/2006/math">
                    <m:r>
                      <a:rPr lang="en-NZ" altLang="ja-JP" sz="1400" b="0" i="1" smtClean="0">
                        <a:solidFill>
                          <a:schemeClr val="tx1"/>
                        </a:solidFill>
                        <a:latin typeface="Cambria Math" panose="02040503050406030204" pitchFamily="18" charset="0"/>
                      </a:rPr>
                      <m:t>𝜇</m:t>
                    </m:r>
                    <m:r>
                      <a:rPr lang="en-NZ" altLang="ja-JP" sz="1400" b="0" i="1" smtClean="0">
                        <a:solidFill>
                          <a:schemeClr val="tx1"/>
                        </a:solidFill>
                        <a:latin typeface="Cambria Math" panose="02040503050406030204" pitchFamily="18" charset="0"/>
                      </a:rPr>
                      <m:t>, </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𝜇</m:t>
                        </m:r>
                      </m:e>
                      <m:sub>
                        <m:r>
                          <a:rPr lang="en-NZ" altLang="ja-JP" sz="1400" b="0" i="1" smtClean="0">
                            <a:solidFill>
                              <a:schemeClr val="tx1"/>
                            </a:solidFill>
                            <a:latin typeface="Cambria Math" panose="02040503050406030204" pitchFamily="18" charset="0"/>
                          </a:rPr>
                          <m:t>𝑖</m:t>
                        </m:r>
                      </m:sub>
                    </m:sSub>
                    <m:r>
                      <a:rPr lang="en-NZ" altLang="ja-JP" sz="1400" b="0" i="1" smtClean="0">
                        <a:solidFill>
                          <a:schemeClr val="tx1"/>
                        </a:solidFill>
                        <a:latin typeface="Cambria Math" panose="02040503050406030204" pitchFamily="18" charset="0"/>
                      </a:rPr>
                      <m:t>,</m:t>
                    </m:r>
                  </m:oMath>
                </a14:m>
                <a:r>
                  <a:rPr lang="en-NZ" altLang="ja-JP" sz="1400" dirty="0">
                    <a:solidFill>
                      <a:schemeClr val="tx1"/>
                    </a:solidFill>
                  </a:rPr>
                  <a:t> </a:t>
                </a:r>
                <a14:m>
                  <m:oMath xmlns:m="http://schemas.openxmlformats.org/officeDocument/2006/math">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𝛼</m:t>
                        </m:r>
                      </m:e>
                      <m:sub>
                        <m:r>
                          <a:rPr lang="en-NZ" altLang="ja-JP" sz="1400" b="0" i="1" smtClean="0">
                            <a:solidFill>
                              <a:schemeClr val="tx1"/>
                            </a:solidFill>
                            <a:latin typeface="Cambria Math" panose="02040503050406030204" pitchFamily="18" charset="0"/>
                          </a:rPr>
                          <m:t>𝑖</m:t>
                        </m:r>
                      </m:sub>
                    </m:sSub>
                  </m:oMath>
                </a14:m>
                <a:r>
                  <a:rPr lang="en-NZ" altLang="ja-JP" sz="1400" dirty="0">
                    <a:solidFill>
                      <a:schemeClr val="tx1"/>
                    </a:solidFill>
                  </a:rPr>
                  <a:t> and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𝜎</m:t>
                        </m:r>
                      </m:e>
                      <m:sup>
                        <m:r>
                          <a:rPr lang="en-NZ" altLang="ja-JP" sz="1400" b="0" i="1" smtClean="0">
                            <a:solidFill>
                              <a:schemeClr val="tx1"/>
                            </a:solidFill>
                            <a:latin typeface="Cambria Math" panose="02040503050406030204" pitchFamily="18" charset="0"/>
                          </a:rPr>
                          <m:t>2</m:t>
                        </m:r>
                      </m:sup>
                    </m:sSup>
                  </m:oMath>
                </a14:m>
                <a:endParaRPr lang="en-NZ" altLang="ja-JP" sz="14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p:sp>
            <p:nvSpPr>
              <p:cNvPr id="29" name="Text Placeholder 5">
                <a:extLst>
                  <a:ext uri="{FF2B5EF4-FFF2-40B4-BE49-F238E27FC236}">
                    <a16:creationId xmlns:a16="http://schemas.microsoft.com/office/drawing/2014/main" id="{DC1FD3F1-C207-9E11-1CCB-9EBDBB17CD82}"/>
                  </a:ext>
                </a:extLst>
              </p:cNvPr>
              <p:cNvSpPr txBox="1">
                <a:spLocks noRot="1" noChangeAspect="1" noMove="1" noResize="1" noEditPoints="1" noAdjustHandles="1" noChangeArrowheads="1" noChangeShapeType="1" noTextEdit="1"/>
              </p:cNvSpPr>
              <p:nvPr/>
            </p:nvSpPr>
            <p:spPr>
              <a:xfrm>
                <a:off x="7661690" y="1189073"/>
                <a:ext cx="3857767" cy="1838955"/>
              </a:xfrm>
              <a:prstGeom prst="rect">
                <a:avLst/>
              </a:prstGeom>
              <a:blipFill>
                <a:blip r:embed="rId10"/>
                <a:stretch>
                  <a:fillRect t="-993" b="-2980"/>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3" name="Text Placeholder 5">
                <a:extLst>
                  <a:ext uri="{FF2B5EF4-FFF2-40B4-BE49-F238E27FC236}">
                    <a16:creationId xmlns:a16="http://schemas.microsoft.com/office/drawing/2014/main" id="{0DBDCE23-3D6D-CA83-D328-DBF7C51918C9}"/>
                  </a:ext>
                </a:extLst>
              </p:cNvPr>
              <p:cNvSpPr txBox="1">
                <a:spLocks/>
              </p:cNvSpPr>
              <p:nvPr/>
            </p:nvSpPr>
            <p:spPr>
              <a:xfrm>
                <a:off x="6481796" y="3190601"/>
                <a:ext cx="235978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e>
                        <m:sub>
                          <m:r>
                            <a:rPr lang="en-NZ" altLang="ja-JP" sz="1600" b="0" i="1" smtClean="0">
                              <a:solidFill>
                                <a:schemeClr val="bg2">
                                  <a:lumMod val="50000"/>
                                </a:schemeClr>
                              </a:solidFill>
                              <a:latin typeface="Cambria Math" panose="02040503050406030204" pitchFamily="18" charset="0"/>
                            </a:rPr>
                            <m:t>𝑖</m:t>
                          </m:r>
                        </m:sub>
                      </m:sSub>
                      <m:r>
                        <a:rPr lang="en-NZ" altLang="ja-JP" sz="1600" b="0" i="1" smtClean="0">
                          <a:solidFill>
                            <a:schemeClr val="bg2">
                              <a:lumMod val="50000"/>
                            </a:schemeClr>
                          </a:solidFill>
                          <a:latin typeface="Cambria Math" panose="02040503050406030204" pitchFamily="18" charset="0"/>
                        </a:rPr>
                        <m:t>  </m:t>
                      </m:r>
                      <m:r>
                        <m:rPr>
                          <m:lit/>
                        </m:rPr>
                        <a:rPr lang="en-NZ" altLang="ja-JP" sz="1600" b="0" i="1" smtClean="0">
                          <a:solidFill>
                            <a:schemeClr val="bg2">
                              <a:lumMod val="50000"/>
                            </a:schemeClr>
                          </a:solidFill>
                          <a:latin typeface="Cambria Math" panose="02040503050406030204" pitchFamily="18" charset="0"/>
                        </a:rPr>
                        <m:t> </m:t>
                      </m:r>
                      <m:r>
                        <a:rPr lang="en-NZ" altLang="ja-JP" sz="1600" b="0" i="1" smtClean="0">
                          <a:solidFill>
                            <a:schemeClr val="bg2">
                              <a:lumMod val="50000"/>
                            </a:schemeClr>
                          </a:solidFill>
                          <a:latin typeface="Cambria Math" panose="02040503050406030204" pitchFamily="18" charset="0"/>
                        </a:rPr>
                        <m:t>≡   </m:t>
                      </m:r>
                      <m:sSub>
                        <m:sSubPr>
                          <m:ctrlPr>
                            <a:rPr lang="en-NZ" altLang="ja-JP" sz="1600" b="0" i="1" smtClean="0">
                              <a:solidFill>
                                <a:schemeClr val="bg2">
                                  <a:lumMod val="50000"/>
                                </a:schemeClr>
                              </a:solidFill>
                              <a:latin typeface="Cambria Math" panose="02040503050406030204" pitchFamily="18" charset="0"/>
                            </a:rPr>
                          </m:ctrlPr>
                        </m:sSubPr>
                        <m:e>
                          <m:r>
                            <a:rPr lang="en-NZ" altLang="ja-JP" sz="1600" b="0" i="1" smtClean="0">
                              <a:solidFill>
                                <a:schemeClr val="bg2">
                                  <a:lumMod val="50000"/>
                                </a:schemeClr>
                              </a:solidFill>
                              <a:latin typeface="Cambria Math" panose="02040503050406030204" pitchFamily="18" charset="0"/>
                            </a:rPr>
                            <m:t>𝜇</m:t>
                          </m:r>
                          <m:r>
                            <a:rPr lang="en-NZ" altLang="ja-JP" sz="1600" b="0" i="1" smtClean="0">
                              <a:solidFill>
                                <a:schemeClr val="bg2">
                                  <a:lumMod val="50000"/>
                                </a:schemeClr>
                              </a:solidFill>
                              <a:latin typeface="Cambria Math" panose="02040503050406030204" pitchFamily="18" charset="0"/>
                            </a:rPr>
                            <m:t> + </m:t>
                          </m:r>
                          <m:r>
                            <a:rPr lang="en-NZ" altLang="ja-JP" sz="1600" b="0" i="1" smtClean="0">
                              <a:solidFill>
                                <a:schemeClr val="bg2">
                                  <a:lumMod val="50000"/>
                                </a:schemeClr>
                              </a:solidFill>
                              <a:latin typeface="Cambria Math" panose="02040503050406030204" pitchFamily="18" charset="0"/>
                            </a:rPr>
                            <m:t>𝛼</m:t>
                          </m:r>
                        </m:e>
                        <m:sub>
                          <m:r>
                            <a:rPr lang="en-NZ" altLang="ja-JP" sz="1600" b="0" i="1" smtClean="0">
                              <a:solidFill>
                                <a:schemeClr val="bg2">
                                  <a:lumMod val="50000"/>
                                </a:schemeClr>
                              </a:solidFill>
                              <a:latin typeface="Cambria Math" panose="02040503050406030204" pitchFamily="18" charset="0"/>
                            </a:rPr>
                            <m:t>𝑖</m:t>
                          </m:r>
                        </m:sub>
                      </m:sSub>
                    </m:oMath>
                  </m:oMathPara>
                </a14:m>
                <a:endParaRPr lang="en-NZ" altLang="ja-JP" sz="1600" i="1" dirty="0">
                  <a:solidFill>
                    <a:schemeClr val="bg2">
                      <a:lumMod val="50000"/>
                    </a:schemeClr>
                  </a:solidFill>
                </a:endParaRPr>
              </a:p>
              <a:p>
                <a:pPr algn="just">
                  <a:lnSpc>
                    <a:spcPct val="100000"/>
                  </a:lnSpc>
                </a:pPr>
                <a:endParaRPr lang="en-NZ" altLang="ja-JP" sz="1600" i="1" dirty="0">
                  <a:solidFill>
                    <a:srgbClr val="C00000"/>
                  </a:solidFill>
                </a:endParaRPr>
              </a:p>
            </p:txBody>
          </p:sp>
        </mc:Choice>
        <mc:Fallback>
          <p:sp>
            <p:nvSpPr>
              <p:cNvPr id="33" name="Text Placeholder 5">
                <a:extLst>
                  <a:ext uri="{FF2B5EF4-FFF2-40B4-BE49-F238E27FC236}">
                    <a16:creationId xmlns:a16="http://schemas.microsoft.com/office/drawing/2014/main" id="{0DBDCE23-3D6D-CA83-D328-DBF7C51918C9}"/>
                  </a:ext>
                </a:extLst>
              </p:cNvPr>
              <p:cNvSpPr txBox="1">
                <a:spLocks noRot="1" noChangeAspect="1" noMove="1" noResize="1" noEditPoints="1" noAdjustHandles="1" noChangeArrowheads="1" noChangeShapeType="1" noTextEdit="1"/>
              </p:cNvSpPr>
              <p:nvPr/>
            </p:nvSpPr>
            <p:spPr>
              <a:xfrm>
                <a:off x="6481796" y="3190601"/>
                <a:ext cx="2359788" cy="474953"/>
              </a:xfrm>
              <a:prstGeom prst="rect">
                <a:avLst/>
              </a:prstGeom>
              <a:blipFill>
                <a:blip r:embed="rId11"/>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136256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1" grpId="0"/>
      <p:bldP spid="22" grpId="0"/>
      <p:bldP spid="23" grpId="0"/>
      <p:bldP spid="24" grpId="0"/>
      <p:bldP spid="25" grpId="0"/>
      <p:bldP spid="26" grpId="0"/>
      <p:bldP spid="27" grpId="0"/>
      <p:bldP spid="29" grpId="0"/>
      <p:bldP spid="3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DF2B5B-518C-316D-C09C-89FC32621B2A}"/>
              </a:ext>
            </a:extLst>
          </p:cNvPr>
          <p:cNvPicPr>
            <a:picLocks noChangeAspect="1"/>
          </p:cNvPicPr>
          <p:nvPr/>
        </p:nvPicPr>
        <p:blipFill>
          <a:blip r:embed="rId2"/>
          <a:stretch>
            <a:fillRect/>
          </a:stretch>
        </p:blipFill>
        <p:spPr>
          <a:xfrm>
            <a:off x="6660468" y="4876263"/>
            <a:ext cx="3664760" cy="1833388"/>
          </a:xfrm>
          <a:prstGeom prst="rect">
            <a:avLst/>
          </a:prstGeom>
        </p:spPr>
      </p:pic>
      <mc:AlternateContent xmlns:mc="http://schemas.openxmlformats.org/markup-compatibility/2006">
        <mc:Choice xmlns:a14="http://schemas.microsoft.com/office/drawing/2010/main" Requires="a14">
          <p:sp>
            <p:nvSpPr>
              <p:cNvPr id="33" name="Text Placeholder 5">
                <a:extLst>
                  <a:ext uri="{FF2B5EF4-FFF2-40B4-BE49-F238E27FC236}">
                    <a16:creationId xmlns:a16="http://schemas.microsoft.com/office/drawing/2014/main" id="{AE50A56B-56FB-8A3A-01BC-F58E719FAEEE}"/>
                  </a:ext>
                </a:extLst>
              </p:cNvPr>
              <p:cNvSpPr txBox="1">
                <a:spLocks/>
              </p:cNvSpPr>
              <p:nvPr/>
            </p:nvSpPr>
            <p:spPr>
              <a:xfrm>
                <a:off x="8170116" y="5891616"/>
                <a:ext cx="80915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𝑭</m:t>
                          </m:r>
                        </m:e>
                        <m:sub>
                          <m:r>
                            <a:rPr lang="en-NZ" altLang="ja-JP" sz="1600" b="1" i="1" smtClean="0">
                              <a:solidFill>
                                <a:srgbClr val="C00000"/>
                              </a:solidFill>
                              <a:latin typeface="Cambria Math" panose="02040503050406030204" pitchFamily="18" charset="0"/>
                            </a:rPr>
                            <m:t>𝒐𝒃𝒔</m:t>
                          </m:r>
                        </m:sub>
                      </m:sSub>
                    </m:oMath>
                  </m:oMathPara>
                </a14:m>
                <a:endParaRPr lang="en-NZ" altLang="ja-JP" sz="1600" dirty="0">
                  <a:solidFill>
                    <a:srgbClr val="C00000"/>
                  </a:solidFill>
                </a:endParaRPr>
              </a:p>
            </p:txBody>
          </p:sp>
        </mc:Choice>
        <mc:Fallback>
          <p:sp>
            <p:nvSpPr>
              <p:cNvPr id="33" name="Text Placeholder 5">
                <a:extLst>
                  <a:ext uri="{FF2B5EF4-FFF2-40B4-BE49-F238E27FC236}">
                    <a16:creationId xmlns:a16="http://schemas.microsoft.com/office/drawing/2014/main" id="{AE50A56B-56FB-8A3A-01BC-F58E719FAEEE}"/>
                  </a:ext>
                </a:extLst>
              </p:cNvPr>
              <p:cNvSpPr txBox="1">
                <a:spLocks noRot="1" noChangeAspect="1" noMove="1" noResize="1" noEditPoints="1" noAdjustHandles="1" noChangeArrowheads="1" noChangeShapeType="1" noTextEdit="1"/>
              </p:cNvSpPr>
              <p:nvPr/>
            </p:nvSpPr>
            <p:spPr>
              <a:xfrm>
                <a:off x="8170116" y="5891616"/>
                <a:ext cx="809159" cy="398844"/>
              </a:xfrm>
              <a:prstGeom prst="rect">
                <a:avLst/>
              </a:prstGeom>
              <a:blipFill>
                <a:blip r:embed="rId3"/>
                <a:stretch>
                  <a:fillRect/>
                </a:stretch>
              </a:blipFill>
            </p:spPr>
            <p:txBody>
              <a:bodyPr/>
              <a:lstStyle/>
              <a:p>
                <a:r>
                  <a:rPr lang="en-NZ">
                    <a:noFill/>
                  </a:rPr>
                  <a:t> </a:t>
                </a:r>
              </a:p>
            </p:txBody>
          </p:sp>
        </mc:Fallback>
      </mc:AlternateContent>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37</a:t>
            </a:fld>
            <a:endParaRPr kumimoji="1" lang="ja-JP" altLang="en-US" dirty="0">
              <a:solidFill>
                <a:srgbClr val="575454">
                  <a:lumMod val="20000"/>
                  <a:lumOff val="80000"/>
                </a:srgbClr>
              </a:solidFill>
              <a:latin typeface="Coo Hew"/>
            </a:endParaRPr>
          </a:p>
        </p:txBody>
      </p:sp>
      <p:sp>
        <p:nvSpPr>
          <p:cNvPr id="15" name="Text Placeholder 5">
            <a:extLst>
              <a:ext uri="{FF2B5EF4-FFF2-40B4-BE49-F238E27FC236}">
                <a16:creationId xmlns:a16="http://schemas.microsoft.com/office/drawing/2014/main" id="{ABFB436D-82C6-44DA-929D-276DC8D9D5B6}"/>
              </a:ext>
            </a:extLst>
          </p:cNvPr>
          <p:cNvSpPr txBox="1">
            <a:spLocks/>
          </p:cNvSpPr>
          <p:nvPr/>
        </p:nvSpPr>
        <p:spPr>
          <a:xfrm>
            <a:off x="251223" y="903964"/>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Suppose that we have a total of </a:t>
            </a:r>
            <a:r>
              <a:rPr lang="en-NZ" altLang="ja-JP" sz="1600" b="1" i="1" dirty="0" err="1">
                <a:solidFill>
                  <a:schemeClr val="tx1"/>
                </a:solidFill>
              </a:rPr>
              <a:t>i</a:t>
            </a:r>
            <a:r>
              <a:rPr lang="en-NZ" altLang="ja-JP" sz="1600" b="1" i="1" dirty="0">
                <a:solidFill>
                  <a:schemeClr val="tx1"/>
                </a:solidFill>
              </a:rPr>
              <a:t> = 1, …, k</a:t>
            </a:r>
            <a:r>
              <a:rPr lang="en-NZ" altLang="ja-JP" sz="1600" dirty="0">
                <a:solidFill>
                  <a:schemeClr val="tx1"/>
                </a:solidFill>
              </a:rPr>
              <a:t> population groups that are…</a:t>
            </a: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16" name="Text Placeholder 5">
            <a:extLst>
              <a:ext uri="{FF2B5EF4-FFF2-40B4-BE49-F238E27FC236}">
                <a16:creationId xmlns:a16="http://schemas.microsoft.com/office/drawing/2014/main" id="{C68DBC3A-A498-4137-AE68-899A285A8924}"/>
              </a:ext>
            </a:extLst>
          </p:cNvPr>
          <p:cNvSpPr txBox="1">
            <a:spLocks/>
          </p:cNvSpPr>
          <p:nvPr/>
        </p:nvSpPr>
        <p:spPr>
          <a:xfrm>
            <a:off x="760742" y="1259064"/>
            <a:ext cx="3571164" cy="10888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indent="-400050" algn="just">
              <a:lnSpc>
                <a:spcPct val="100000"/>
              </a:lnSpc>
              <a:buFont typeface="+mj-lt"/>
              <a:buAutoNum type="romanUcPeriod"/>
            </a:pPr>
            <a:r>
              <a:rPr lang="en-NZ" altLang="ja-JP" sz="1600" dirty="0">
                <a:solidFill>
                  <a:schemeClr val="tx1"/>
                </a:solidFill>
              </a:rPr>
              <a:t>Independent</a:t>
            </a:r>
          </a:p>
          <a:p>
            <a:pPr marL="400050" indent="-400050" algn="just">
              <a:lnSpc>
                <a:spcPct val="100000"/>
              </a:lnSpc>
              <a:buFont typeface="+mj-lt"/>
              <a:buAutoNum type="romanUcPeriod"/>
            </a:pPr>
            <a:r>
              <a:rPr lang="en-NZ" altLang="ja-JP" sz="1600" dirty="0">
                <a:solidFill>
                  <a:schemeClr val="tx1"/>
                </a:solidFill>
              </a:rPr>
              <a:t>Normally distributed</a:t>
            </a:r>
          </a:p>
          <a:p>
            <a:pPr marL="400050" indent="-400050" algn="just">
              <a:lnSpc>
                <a:spcPct val="100000"/>
              </a:lnSpc>
              <a:buFont typeface="+mj-lt"/>
              <a:buAutoNum type="romanUcPeriod"/>
            </a:pPr>
            <a:r>
              <a:rPr lang="en-NZ" altLang="ja-JP" sz="1600" dirty="0">
                <a:solidFill>
                  <a:schemeClr val="tx1"/>
                </a:solidFill>
              </a:rPr>
              <a:t>Have equal variance </a:t>
            </a:r>
            <a:r>
              <a:rPr lang="el-GR" altLang="ja-JP" sz="1600" b="1" i="1" dirty="0">
                <a:solidFill>
                  <a:schemeClr val="tx1"/>
                </a:solidFill>
              </a:rPr>
              <a:t>σ</a:t>
            </a:r>
            <a:r>
              <a:rPr lang="en-NZ" altLang="ja-JP" sz="1600" b="1" i="1" baseline="30000" dirty="0">
                <a:solidFill>
                  <a:schemeClr val="tx1"/>
                </a:solidFill>
              </a:rPr>
              <a:t>2</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20" name="Right Brace 19">
            <a:extLst>
              <a:ext uri="{FF2B5EF4-FFF2-40B4-BE49-F238E27FC236}">
                <a16:creationId xmlns:a16="http://schemas.microsoft.com/office/drawing/2014/main" id="{3488411A-84EE-4E85-8662-46928347B953}"/>
              </a:ext>
            </a:extLst>
          </p:cNvPr>
          <p:cNvSpPr/>
          <p:nvPr/>
        </p:nvSpPr>
        <p:spPr>
          <a:xfrm>
            <a:off x="4331906" y="1326360"/>
            <a:ext cx="404885" cy="8163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3" name="Text Placeholder 5">
            <a:extLst>
              <a:ext uri="{FF2B5EF4-FFF2-40B4-BE49-F238E27FC236}">
                <a16:creationId xmlns:a16="http://schemas.microsoft.com/office/drawing/2014/main" id="{BEC30F93-6E99-4892-908F-2EF5BEEE396F}"/>
              </a:ext>
            </a:extLst>
          </p:cNvPr>
          <p:cNvSpPr txBox="1">
            <a:spLocks/>
          </p:cNvSpPr>
          <p:nvPr/>
        </p:nvSpPr>
        <p:spPr>
          <a:xfrm>
            <a:off x="4678530" y="1532885"/>
            <a:ext cx="23774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bg2">
                    <a:lumMod val="50000"/>
                  </a:schemeClr>
                </a:solidFill>
              </a:rPr>
              <a:t>ANOVA Conditions:</a:t>
            </a:r>
          </a:p>
          <a:p>
            <a:pPr algn="just">
              <a:lnSpc>
                <a:spcPct val="100000"/>
              </a:lnSpc>
            </a:pPr>
            <a:r>
              <a:rPr lang="en-NZ" altLang="ja-JP" sz="1600" dirty="0">
                <a:solidFill>
                  <a:schemeClr val="bg2">
                    <a:lumMod val="50000"/>
                  </a:schemeClr>
                </a:solidFill>
              </a:rPr>
              <a:t>  </a:t>
            </a:r>
          </a:p>
          <a:p>
            <a:pPr algn="just">
              <a:lnSpc>
                <a:spcPct val="100000"/>
              </a:lnSpc>
            </a:pPr>
            <a:endParaRPr lang="en-NZ" altLang="ja-JP" sz="1600" dirty="0">
              <a:solidFill>
                <a:schemeClr val="bg2">
                  <a:lumMod val="50000"/>
                </a:schemeClr>
              </a:solidFill>
            </a:endParaRPr>
          </a:p>
          <a:p>
            <a:pPr algn="just">
              <a:lnSpc>
                <a:spcPct val="100000"/>
              </a:lnSpc>
            </a:pPr>
            <a:endParaRPr lang="en-NZ" altLang="ja-JP" sz="1600" i="1" dirty="0">
              <a:solidFill>
                <a:schemeClr val="bg2">
                  <a:lumMod val="50000"/>
                </a:schemeClr>
              </a:solidFill>
            </a:endParaRPr>
          </a:p>
        </p:txBody>
      </p:sp>
      <mc:AlternateContent xmlns:mc="http://schemas.openxmlformats.org/markup-compatibility/2006">
        <mc:Choice xmlns:a14="http://schemas.microsoft.com/office/drawing/2010/main" Requires="a14">
          <p:sp>
            <p:nvSpPr>
              <p:cNvPr id="24" name="Text Placeholder 5">
                <a:extLst>
                  <a:ext uri="{FF2B5EF4-FFF2-40B4-BE49-F238E27FC236}">
                    <a16:creationId xmlns:a16="http://schemas.microsoft.com/office/drawing/2014/main" id="{C3E82D89-4446-4262-B614-2D50E85B7728}"/>
                  </a:ext>
                </a:extLst>
              </p:cNvPr>
              <p:cNvSpPr txBox="1">
                <a:spLocks/>
              </p:cNvSpPr>
              <p:nvPr/>
            </p:nvSpPr>
            <p:spPr>
              <a:xfrm>
                <a:off x="251222" y="3583496"/>
                <a:ext cx="11472203"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use the sample data to calculate the observed test statistic </a:t>
                </a:r>
                <a:r>
                  <a:rPr lang="en-NZ" altLang="ja-JP" sz="1600" b="1" i="1" dirty="0">
                    <a:solidFill>
                      <a:schemeClr val="tx1"/>
                    </a:solidFill>
                  </a:rPr>
                  <a:t>F</a:t>
                </a:r>
                <a:r>
                  <a:rPr lang="en-NZ" altLang="ja-JP" sz="1600" dirty="0">
                    <a:solidFill>
                      <a:schemeClr val="tx1"/>
                    </a:solidFill>
                  </a:rPr>
                  <a:t> using the formula:</a:t>
                </a:r>
              </a:p>
              <a:p>
                <a:pPr algn="just">
                  <a:lnSpc>
                    <a:spcPct val="100000"/>
                  </a:lnSpc>
                </a:pPr>
                <a:endParaRPr lang="en-NZ" altLang="ja-JP" sz="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𝑴𝑺𝑻</m:t>
                          </m:r>
                        </m:num>
                        <m:den>
                          <m:r>
                            <a:rPr lang="en-NZ" altLang="ja-JP" sz="1600" b="1" i="1" smtClean="0">
                              <a:solidFill>
                                <a:schemeClr val="tx1"/>
                              </a:solidFill>
                              <a:latin typeface="Cambria Math" panose="02040503050406030204" pitchFamily="18" charset="0"/>
                            </a:rPr>
                            <m:t>𝑴𝑺𝑬</m:t>
                          </m:r>
                        </m:den>
                      </m:f>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f>
                            <m:fPr>
                              <m:type m:val="lin"/>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𝑺𝑺𝑻</m:t>
                              </m:r>
                              <m:r>
                                <a:rPr lang="en-NZ" altLang="ja-JP" sz="1600" b="1" i="1" smtClean="0">
                                  <a:solidFill>
                                    <a:schemeClr val="tx1"/>
                                  </a:solidFill>
                                  <a:latin typeface="Cambria Math" panose="02040503050406030204" pitchFamily="18" charset="0"/>
                                </a:rPr>
                                <m:t> </m:t>
                              </m:r>
                            </m:num>
                            <m:den>
                              <m:r>
                                <a:rPr lang="en-NZ" altLang="ja-JP" sz="1600" b="1" i="1" smtClean="0">
                                  <a:solidFill>
                                    <a:schemeClr val="tx1"/>
                                  </a:solidFill>
                                  <a:latin typeface="Cambria Math" panose="02040503050406030204" pitchFamily="18" charset="0"/>
                                </a:rPr>
                                <m:t> </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𝒌</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den>
                          </m:f>
                        </m:num>
                        <m:den>
                          <m:f>
                            <m:fPr>
                              <m:type m:val="lin"/>
                              <m:ctrlPr>
                                <a:rPr lang="en-NZ" altLang="ja-JP" sz="1600" b="1" i="1" smtClean="0">
                                  <a:solidFill>
                                    <a:schemeClr val="tx1"/>
                                  </a:solidFill>
                                  <a:latin typeface="Cambria Math" panose="02040503050406030204" pitchFamily="18" charset="0"/>
                                </a:rPr>
                              </m:ctrlPr>
                            </m:fPr>
                            <m:num>
                              <m:r>
                                <a:rPr lang="en-NZ" altLang="ja-JP" sz="1600" b="1" i="1" smtClean="0">
                                  <a:solidFill>
                                    <a:schemeClr val="tx1"/>
                                  </a:solidFill>
                                  <a:latin typeface="Cambria Math" panose="02040503050406030204" pitchFamily="18" charset="0"/>
                                </a:rPr>
                                <m:t>𝑺𝑺𝑬</m:t>
                              </m:r>
                              <m:r>
                                <a:rPr lang="en-NZ" altLang="ja-JP" sz="1600" b="1" i="1" smtClean="0">
                                  <a:solidFill>
                                    <a:schemeClr val="tx1"/>
                                  </a:solidFill>
                                  <a:latin typeface="Cambria Math" panose="02040503050406030204" pitchFamily="18" charset="0"/>
                                </a:rPr>
                                <m:t> </m:t>
                              </m:r>
                            </m:num>
                            <m:den>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𝒌</m:t>
                              </m:r>
                              <m:r>
                                <a:rPr lang="en-NZ" altLang="ja-JP" sz="1600" b="1" i="1" smtClean="0">
                                  <a:solidFill>
                                    <a:schemeClr val="tx1"/>
                                  </a:solidFill>
                                  <a:latin typeface="Cambria Math" panose="02040503050406030204" pitchFamily="18" charset="0"/>
                                </a:rPr>
                                <m:t> </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𝒏</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den>
                          </m:f>
                        </m:den>
                      </m:f>
                      <m:r>
                        <a:rPr lang="en-NZ" altLang="ja-JP" sz="1600" b="1" i="1" smtClean="0">
                          <a:solidFill>
                            <a:schemeClr val="tx1"/>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f>
                            <m:fPr>
                              <m:type m:val="lin"/>
                              <m:ctrlPr>
                                <a:rPr lang="en-NZ" altLang="ja-JP" sz="1600" b="1" i="1" smtClean="0">
                                  <a:solidFill>
                                    <a:schemeClr val="tx1"/>
                                  </a:solidFill>
                                  <a:latin typeface="Cambria Math" panose="02040503050406030204" pitchFamily="18" charset="0"/>
                                </a:rPr>
                              </m:ctrlPr>
                            </m:fPr>
                            <m:num>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𝒌</m:t>
                                  </m:r>
                                </m:sup>
                                <m:e>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𝒋</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𝒏</m:t>
                                      </m:r>
                                    </m:sup>
                                    <m:e>
                                      <m:sSup>
                                        <m:sSupPr>
                                          <m:ctrlPr>
                                            <a:rPr lang="en-NZ" altLang="ja-JP" sz="1600" b="1" i="1">
                                              <a:solidFill>
                                                <a:schemeClr val="tx1"/>
                                              </a:solidFill>
                                              <a:latin typeface="Cambria Math" panose="02040503050406030204" pitchFamily="18" charset="0"/>
                                            </a:rPr>
                                          </m:ctrlPr>
                                        </m:sSupPr>
                                        <m:e>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ea typeface="Cambria Math" panose="02040503050406030204" pitchFamily="18" charset="0"/>
                                                    </a:rPr>
                                                    <m:t>∙∙</m:t>
                                                  </m:r>
                                                </m:sub>
                                              </m:sSub>
                                            </m:e>
                                          </m:d>
                                        </m:e>
                                        <m:sup>
                                          <m:r>
                                            <a:rPr lang="en-NZ" altLang="ja-JP" sz="1600" b="1" i="1">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 </m:t>
                                      </m:r>
                                    </m:e>
                                  </m:nary>
                                </m:e>
                              </m:nary>
                            </m:num>
                            <m:den>
                              <m:r>
                                <a:rPr lang="en-NZ" altLang="ja-JP" sz="1600" b="1" i="1" smtClean="0">
                                  <a:solidFill>
                                    <a:schemeClr val="tx1"/>
                                  </a:solidFill>
                                  <a:latin typeface="Cambria Math" panose="02040503050406030204" pitchFamily="18" charset="0"/>
                                </a:rPr>
                                <m:t> </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𝒌</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e>
                              </m:d>
                            </m:den>
                          </m:f>
                        </m:num>
                        <m:den>
                          <m:f>
                            <m:fPr>
                              <m:type m:val="lin"/>
                              <m:ctrlPr>
                                <a:rPr lang="en-NZ" altLang="ja-JP" sz="1600" b="1" i="1" smtClean="0">
                                  <a:solidFill>
                                    <a:schemeClr val="tx1"/>
                                  </a:solidFill>
                                  <a:latin typeface="Cambria Math" panose="02040503050406030204" pitchFamily="18" charset="0"/>
                                </a:rPr>
                              </m:ctrlPr>
                            </m:fPr>
                            <m:num>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𝒌</m:t>
                                  </m:r>
                                </m:sup>
                                <m:e>
                                  <m:nary>
                                    <m:naryPr>
                                      <m:chr m:val="∑"/>
                                      <m:ctrlPr>
                                        <a:rPr lang="en-NZ" altLang="ja-JP" sz="1600" b="1" i="1">
                                          <a:solidFill>
                                            <a:schemeClr val="tx1"/>
                                          </a:solidFill>
                                          <a:latin typeface="Cambria Math" panose="02040503050406030204" pitchFamily="18" charset="0"/>
                                        </a:rPr>
                                      </m:ctrlPr>
                                    </m:naryPr>
                                    <m:sub>
                                      <m:r>
                                        <m:rPr>
                                          <m:brk m:alnAt="23"/>
                                        </m:rPr>
                                        <a:rPr lang="en-NZ" altLang="ja-JP" sz="1600" b="1" i="1">
                                          <a:solidFill>
                                            <a:schemeClr val="tx1"/>
                                          </a:solidFill>
                                          <a:latin typeface="Cambria Math" panose="02040503050406030204" pitchFamily="18" charset="0"/>
                                        </a:rPr>
                                        <m:t>𝒋</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sub>
                                    <m:sup>
                                      <m:r>
                                        <a:rPr lang="en-NZ" altLang="ja-JP" sz="1600" b="1" i="1">
                                          <a:solidFill>
                                            <a:schemeClr val="tx1"/>
                                          </a:solidFill>
                                          <a:latin typeface="Cambria Math" panose="02040503050406030204" pitchFamily="18" charset="0"/>
                                        </a:rPr>
                                        <m:t>𝒏</m:t>
                                      </m:r>
                                    </m:sup>
                                    <m:e>
                                      <m:sSup>
                                        <m:sSupPr>
                                          <m:ctrlPr>
                                            <a:rPr lang="en-NZ" altLang="ja-JP" sz="1600" b="1" i="1">
                                              <a:solidFill>
                                                <a:schemeClr val="tx1"/>
                                              </a:solidFill>
                                              <a:latin typeface="Cambria Math" panose="02040503050406030204" pitchFamily="18" charset="0"/>
                                            </a:rPr>
                                          </m:ctrlPr>
                                        </m:sSupPr>
                                        <m:e>
                                          <m:d>
                                            <m:dPr>
                                              <m:ctrlPr>
                                                <a:rPr lang="en-NZ" altLang="ja-JP" sz="1600" b="1" i="1">
                                                  <a:solidFill>
                                                    <a:schemeClr val="tx1"/>
                                                  </a:solidFill>
                                                  <a:latin typeface="Cambria Math" panose="02040503050406030204" pitchFamily="18" charset="0"/>
                                                </a:rPr>
                                              </m:ctrlPr>
                                            </m:dPr>
                                            <m:e>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𝒀</m:t>
                                                  </m:r>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 </m:t>
                                              </m:r>
                                              <m:sSub>
                                                <m:sSubPr>
                                                  <m:ctrlPr>
                                                    <a:rPr lang="en-NZ" altLang="ja-JP" sz="1600" b="1" i="1">
                                                      <a:solidFill>
                                                        <a:schemeClr val="tx1"/>
                                                      </a:solidFill>
                                                      <a:latin typeface="Cambria Math" panose="02040503050406030204" pitchFamily="18" charset="0"/>
                                                    </a:rPr>
                                                  </m:ctrlPr>
                                                </m:sSubPr>
                                                <m:e>
                                                  <m:acc>
                                                    <m:accPr>
                                                      <m:chr m:val="̅"/>
                                                      <m:ctrlPr>
                                                        <a:rPr lang="en-NZ" altLang="ja-JP" sz="1600" b="1" i="1">
                                                          <a:solidFill>
                                                            <a:schemeClr val="tx1"/>
                                                          </a:solidFill>
                                                          <a:latin typeface="Cambria Math" panose="02040503050406030204" pitchFamily="18" charset="0"/>
                                                        </a:rPr>
                                                      </m:ctrlPr>
                                                    </m:accPr>
                                                    <m:e>
                                                      <m:r>
                                                        <a:rPr lang="en-NZ" altLang="ja-JP" sz="1600" b="1" i="1">
                                                          <a:solidFill>
                                                            <a:schemeClr val="tx1"/>
                                                          </a:solidFill>
                                                          <a:latin typeface="Cambria Math" panose="02040503050406030204" pitchFamily="18" charset="0"/>
                                                        </a:rPr>
                                                        <m:t>𝒀</m:t>
                                                      </m:r>
                                                    </m:e>
                                                  </m:acc>
                                                </m:e>
                                                <m:sub>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ea typeface="Cambria Math" panose="02040503050406030204" pitchFamily="18" charset="0"/>
                                                    </a:rPr>
                                                    <m:t>∙</m:t>
                                                  </m:r>
                                                </m:sub>
                                              </m:sSub>
                                            </m:e>
                                          </m:d>
                                        </m:e>
                                        <m:sup>
                                          <m:r>
                                            <a:rPr lang="en-NZ" altLang="ja-JP" sz="1600" b="1" i="1">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 </m:t>
                                      </m:r>
                                    </m:e>
                                  </m:nary>
                                </m:e>
                              </m:nary>
                            </m:num>
                            <m:den>
                              <m:r>
                                <a:rPr lang="en-NZ" altLang="ja-JP" sz="1600" b="1" i="1" smtClean="0">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𝒌</m:t>
                              </m:r>
                              <m:r>
                                <a:rPr lang="en-NZ" altLang="ja-JP" sz="1600" b="1" i="1">
                                  <a:solidFill>
                                    <a:schemeClr val="tx1"/>
                                  </a:solidFill>
                                  <a:latin typeface="Cambria Math" panose="02040503050406030204" pitchFamily="18" charset="0"/>
                                </a:rPr>
                                <m:t> </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𝒏</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e>
                              </m:d>
                            </m:den>
                          </m:f>
                        </m:den>
                      </m:f>
                    </m:oMath>
                  </m:oMathPara>
                </a14:m>
                <a:endParaRPr lang="en-NZ" altLang="ja-JP" sz="1600" i="1" dirty="0">
                  <a:solidFill>
                    <a:srgbClr val="C00000"/>
                  </a:solidFill>
                </a:endParaRPr>
              </a:p>
            </p:txBody>
          </p:sp>
        </mc:Choice>
        <mc:Fallback>
          <p:sp>
            <p:nvSpPr>
              <p:cNvPr id="24" name="Text Placeholder 5">
                <a:extLst>
                  <a:ext uri="{FF2B5EF4-FFF2-40B4-BE49-F238E27FC236}">
                    <a16:creationId xmlns:a16="http://schemas.microsoft.com/office/drawing/2014/main" id="{C3E82D89-4446-4262-B614-2D50E85B7728}"/>
                  </a:ext>
                </a:extLst>
              </p:cNvPr>
              <p:cNvSpPr txBox="1">
                <a:spLocks noRot="1" noChangeAspect="1" noMove="1" noResize="1" noEditPoints="1" noAdjustHandles="1" noChangeArrowheads="1" noChangeShapeType="1" noTextEdit="1"/>
              </p:cNvSpPr>
              <p:nvPr/>
            </p:nvSpPr>
            <p:spPr>
              <a:xfrm>
                <a:off x="251222" y="3583496"/>
                <a:ext cx="11472203" cy="1021587"/>
              </a:xfrm>
              <a:prstGeom prst="rect">
                <a:avLst/>
              </a:prstGeom>
              <a:blipFill>
                <a:blip r:embed="rId4"/>
                <a:stretch>
                  <a:fillRect l="-266" t="-1796" b="-5988"/>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02DDBF7E-EE07-46AD-BFC8-7B3E224881C6}"/>
              </a:ext>
            </a:extLst>
          </p:cNvPr>
          <p:cNvSpPr txBox="1">
            <a:spLocks/>
          </p:cNvSpPr>
          <p:nvPr/>
        </p:nvSpPr>
        <p:spPr>
          <a:xfrm>
            <a:off x="251223" y="2298735"/>
            <a:ext cx="1123210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want to test the hypothesis that the means of all the groups are equal, i.e.</a:t>
            </a:r>
            <a:endParaRPr lang="en-NZ" altLang="ja-JP" sz="1600" b="1" i="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AlternateContent xmlns:mc="http://schemas.openxmlformats.org/markup-compatibility/2006">
        <mc:Choice xmlns:a14="http://schemas.microsoft.com/office/drawing/2010/main" Requires="a14">
          <p:sp>
            <p:nvSpPr>
              <p:cNvPr id="28" name="Text Placeholder 5">
                <a:extLst>
                  <a:ext uri="{FF2B5EF4-FFF2-40B4-BE49-F238E27FC236}">
                    <a16:creationId xmlns:a16="http://schemas.microsoft.com/office/drawing/2014/main" id="{EA9CB319-6E2B-4F82-BF2F-DD9249BF6E21}"/>
                  </a:ext>
                </a:extLst>
              </p:cNvPr>
              <p:cNvSpPr txBox="1">
                <a:spLocks/>
              </p:cNvSpPr>
              <p:nvPr/>
            </p:nvSpPr>
            <p:spPr>
              <a:xfrm>
                <a:off x="251223" y="2641033"/>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a:solidFill>
                          <a:schemeClr val="tx1"/>
                        </a:solidFill>
                        <a:latin typeface="Cambria Math" panose="02040503050406030204" pitchFamily="18" charset="0"/>
                      </a:rPr>
                      <m:t>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𝒋</m:t>
                        </m:r>
                      </m:sub>
                    </m:sSub>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𝑗</m:t>
                    </m:r>
                  </m:oMath>
                </a14:m>
                <a:endParaRPr lang="en-NZ" altLang="ja-JP" sz="1600" dirty="0">
                  <a:solidFill>
                    <a:schemeClr val="tx1"/>
                  </a:solidFill>
                </a:endParaRPr>
              </a:p>
            </p:txBody>
          </p:sp>
        </mc:Choice>
        <mc:Fallback>
          <p:sp>
            <p:nvSpPr>
              <p:cNvPr id="28" name="Text Placeholder 5">
                <a:extLst>
                  <a:ext uri="{FF2B5EF4-FFF2-40B4-BE49-F238E27FC236}">
                    <a16:creationId xmlns:a16="http://schemas.microsoft.com/office/drawing/2014/main" id="{EA9CB319-6E2B-4F82-BF2F-DD9249BF6E21}"/>
                  </a:ext>
                </a:extLst>
              </p:cNvPr>
              <p:cNvSpPr txBox="1">
                <a:spLocks noRot="1" noChangeAspect="1" noMove="1" noResize="1" noEditPoints="1" noAdjustHandles="1" noChangeArrowheads="1" noChangeShapeType="1" noTextEdit="1"/>
              </p:cNvSpPr>
              <p:nvPr/>
            </p:nvSpPr>
            <p:spPr>
              <a:xfrm>
                <a:off x="251223" y="2641033"/>
                <a:ext cx="3507477" cy="1021587"/>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9" name="Text Placeholder 5">
                <a:extLst>
                  <a:ext uri="{FF2B5EF4-FFF2-40B4-BE49-F238E27FC236}">
                    <a16:creationId xmlns:a16="http://schemas.microsoft.com/office/drawing/2014/main" id="{C4A4FEE8-CFD1-4003-AD06-D508D11C4922}"/>
                  </a:ext>
                </a:extLst>
              </p:cNvPr>
              <p:cNvSpPr txBox="1">
                <a:spLocks/>
              </p:cNvSpPr>
              <p:nvPr/>
            </p:nvSpPr>
            <p:spPr>
              <a:xfrm>
                <a:off x="4530820" y="2678458"/>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𝝁</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p:sp>
            <p:nvSpPr>
              <p:cNvPr id="29" name="Text Placeholder 5">
                <a:extLst>
                  <a:ext uri="{FF2B5EF4-FFF2-40B4-BE49-F238E27FC236}">
                    <a16:creationId xmlns:a16="http://schemas.microsoft.com/office/drawing/2014/main" id="{C4A4FEE8-CFD1-4003-AD06-D508D11C4922}"/>
                  </a:ext>
                </a:extLst>
              </p:cNvPr>
              <p:cNvSpPr txBox="1">
                <a:spLocks noRot="1" noChangeAspect="1" noMove="1" noResize="1" noEditPoints="1" noAdjustHandles="1" noChangeArrowheads="1" noChangeShapeType="1" noTextEdit="1"/>
              </p:cNvSpPr>
              <p:nvPr/>
            </p:nvSpPr>
            <p:spPr>
              <a:xfrm>
                <a:off x="4530820" y="2678458"/>
                <a:ext cx="3507477" cy="102158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0" name="Text Placeholder 5">
                <a:extLst>
                  <a:ext uri="{FF2B5EF4-FFF2-40B4-BE49-F238E27FC236}">
                    <a16:creationId xmlns:a16="http://schemas.microsoft.com/office/drawing/2014/main" id="{707CDE52-52E3-4005-BDF2-6C34DD97E41D}"/>
                  </a:ext>
                </a:extLst>
              </p:cNvPr>
              <p:cNvSpPr txBox="1">
                <a:spLocks/>
              </p:cNvSpPr>
              <p:nvPr/>
            </p:nvSpPr>
            <p:spPr>
              <a:xfrm>
                <a:off x="8644601" y="2668779"/>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𝑘</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p:sp>
            <p:nvSpPr>
              <p:cNvPr id="30" name="Text Placeholder 5">
                <a:extLst>
                  <a:ext uri="{FF2B5EF4-FFF2-40B4-BE49-F238E27FC236}">
                    <a16:creationId xmlns:a16="http://schemas.microsoft.com/office/drawing/2014/main" id="{707CDE52-52E3-4005-BDF2-6C34DD97E41D}"/>
                  </a:ext>
                </a:extLst>
              </p:cNvPr>
              <p:cNvSpPr txBox="1">
                <a:spLocks noRot="1" noChangeAspect="1" noMove="1" noResize="1" noEditPoints="1" noAdjustHandles="1" noChangeArrowheads="1" noChangeShapeType="1" noTextEdit="1"/>
              </p:cNvSpPr>
              <p:nvPr/>
            </p:nvSpPr>
            <p:spPr>
              <a:xfrm>
                <a:off x="8644601" y="2668779"/>
                <a:ext cx="3507477" cy="102158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1" name="Text Placeholder 5">
                <a:extLst>
                  <a:ext uri="{FF2B5EF4-FFF2-40B4-BE49-F238E27FC236}">
                    <a16:creationId xmlns:a16="http://schemas.microsoft.com/office/drawing/2014/main" id="{0B023A64-E0ED-4C3C-9566-D9FAFD2E6133}"/>
                  </a:ext>
                </a:extLst>
              </p:cNvPr>
              <p:cNvSpPr txBox="1">
                <a:spLocks/>
              </p:cNvSpPr>
              <p:nvPr/>
            </p:nvSpPr>
            <p:spPr>
              <a:xfrm>
                <a:off x="3798509" y="2876936"/>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p:sp>
            <p:nvSpPr>
              <p:cNvPr id="31" name="Text Placeholder 5">
                <a:extLst>
                  <a:ext uri="{FF2B5EF4-FFF2-40B4-BE49-F238E27FC236}">
                    <a16:creationId xmlns:a16="http://schemas.microsoft.com/office/drawing/2014/main" id="{0B023A64-E0ED-4C3C-9566-D9FAFD2E6133}"/>
                  </a:ext>
                </a:extLst>
              </p:cNvPr>
              <p:cNvSpPr txBox="1">
                <a:spLocks noRot="1" noChangeAspect="1" noMove="1" noResize="1" noEditPoints="1" noAdjustHandles="1" noChangeArrowheads="1" noChangeShapeType="1" noTextEdit="1"/>
              </p:cNvSpPr>
              <p:nvPr/>
            </p:nvSpPr>
            <p:spPr>
              <a:xfrm>
                <a:off x="3798509" y="2876936"/>
                <a:ext cx="628508" cy="365125"/>
              </a:xfrm>
              <a:prstGeom prst="rect">
                <a:avLst/>
              </a:prstGeom>
              <a:blipFill>
                <a:blip r:embed="rId8"/>
                <a:stretch>
                  <a:fillRect b="-15000"/>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2" name="Text Placeholder 5">
                <a:extLst>
                  <a:ext uri="{FF2B5EF4-FFF2-40B4-BE49-F238E27FC236}">
                    <a16:creationId xmlns:a16="http://schemas.microsoft.com/office/drawing/2014/main" id="{6402FBED-F34C-4A15-91A8-0CADC18271CE}"/>
                  </a:ext>
                </a:extLst>
              </p:cNvPr>
              <p:cNvSpPr txBox="1">
                <a:spLocks/>
              </p:cNvSpPr>
              <p:nvPr/>
            </p:nvSpPr>
            <p:spPr>
              <a:xfrm>
                <a:off x="7836968" y="2867022"/>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2400" b="0" i="1" smtClean="0">
                          <a:solidFill>
                            <a:schemeClr val="tx1"/>
                          </a:solidFill>
                          <a:latin typeface="Cambria Math" panose="02040503050406030204" pitchFamily="18" charset="0"/>
                        </a:rPr>
                        <m:t>↔</m:t>
                      </m:r>
                    </m:oMath>
                  </m:oMathPara>
                </a14:m>
                <a:endParaRPr lang="en-NZ" altLang="ja-JP" sz="2400" i="1" dirty="0">
                  <a:solidFill>
                    <a:schemeClr val="tx1"/>
                  </a:solidFill>
                </a:endParaRPr>
              </a:p>
            </p:txBody>
          </p:sp>
        </mc:Choice>
        <mc:Fallback>
          <p:sp>
            <p:nvSpPr>
              <p:cNvPr id="32" name="Text Placeholder 5">
                <a:extLst>
                  <a:ext uri="{FF2B5EF4-FFF2-40B4-BE49-F238E27FC236}">
                    <a16:creationId xmlns:a16="http://schemas.microsoft.com/office/drawing/2014/main" id="{6402FBED-F34C-4A15-91A8-0CADC18271CE}"/>
                  </a:ext>
                </a:extLst>
              </p:cNvPr>
              <p:cNvSpPr txBox="1">
                <a:spLocks noRot="1" noChangeAspect="1" noMove="1" noResize="1" noEditPoints="1" noAdjustHandles="1" noChangeArrowheads="1" noChangeShapeType="1" noTextEdit="1"/>
              </p:cNvSpPr>
              <p:nvPr/>
            </p:nvSpPr>
            <p:spPr>
              <a:xfrm>
                <a:off x="7836968" y="2867022"/>
                <a:ext cx="628508" cy="365125"/>
              </a:xfrm>
              <a:prstGeom prst="rect">
                <a:avLst/>
              </a:prstGeom>
              <a:blipFill>
                <a:blip r:embed="rId9"/>
                <a:stretch>
                  <a:fillRect b="-16667"/>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7" name="Text Placeholder 5">
                <a:extLst>
                  <a:ext uri="{FF2B5EF4-FFF2-40B4-BE49-F238E27FC236}">
                    <a16:creationId xmlns:a16="http://schemas.microsoft.com/office/drawing/2014/main" id="{54942512-63EA-41CC-995A-663D369F8F6F}"/>
                  </a:ext>
                </a:extLst>
              </p:cNvPr>
              <p:cNvSpPr txBox="1">
                <a:spLocks/>
              </p:cNvSpPr>
              <p:nvPr/>
            </p:nvSpPr>
            <p:spPr>
              <a:xfrm>
                <a:off x="278518" y="4876263"/>
                <a:ext cx="5958508" cy="4488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b="1" u="sng" dirty="0">
                    <a:solidFill>
                      <a:srgbClr val="C00000"/>
                    </a:solidFill>
                  </a:rPr>
                  <a:t>If</a:t>
                </a:r>
                <a:r>
                  <a:rPr lang="en-NZ" altLang="ja-JP" sz="1600" dirty="0">
                    <a:solidFill>
                      <a:srgbClr val="C00000"/>
                    </a:solidFill>
                  </a:rPr>
                  <a:t> </a:t>
                </a:r>
                <a:r>
                  <a:rPr lang="en-NZ" altLang="ja-JP" sz="1600" dirty="0">
                    <a:solidFill>
                      <a:schemeClr val="tx1"/>
                    </a:solidFill>
                  </a:rPr>
                  <a:t>the ANOVA conditions are satisfied then </a:t>
                </a:r>
                <a14:m>
                  <m:oMath xmlns:m="http://schemas.openxmlformats.org/officeDocument/2006/math">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𝒌</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𝑵</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𝒌</m:t>
                        </m:r>
                      </m:sub>
                    </m:sSub>
                  </m:oMath>
                </a14:m>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We look to see where </a:t>
                </a:r>
                <a:r>
                  <a:rPr lang="en-NZ" altLang="ja-JP" sz="1600" b="1" i="1" dirty="0">
                    <a:solidFill>
                      <a:schemeClr val="tx1"/>
                    </a:solidFill>
                  </a:rPr>
                  <a:t>F</a:t>
                </a:r>
                <a:r>
                  <a:rPr lang="en-NZ" altLang="ja-JP" sz="1600" b="1" i="1" baseline="-25000" dirty="0">
                    <a:solidFill>
                      <a:schemeClr val="tx1"/>
                    </a:solidFill>
                  </a:rPr>
                  <a:t>obs </a:t>
                </a:r>
                <a:r>
                  <a:rPr lang="en-NZ" altLang="ja-JP" sz="1600" dirty="0">
                    <a:solidFill>
                      <a:schemeClr val="tx1"/>
                    </a:solidFill>
                  </a:rPr>
                  <a:t>lies in the distribution of </a:t>
                </a:r>
                <a:r>
                  <a:rPr lang="en-NZ" altLang="ja-JP" sz="1600" b="1" i="1" dirty="0">
                    <a:solidFill>
                      <a:schemeClr val="tx1"/>
                    </a:solidFill>
                  </a:rPr>
                  <a:t>F</a:t>
                </a:r>
                <a:r>
                  <a:rPr lang="en-NZ" altLang="ja-JP" sz="1600" b="1" i="1" baseline="-25000" dirty="0">
                    <a:solidFill>
                      <a:schemeClr val="tx1"/>
                    </a:solidFill>
                  </a:rPr>
                  <a:t> k-1 , N-k</a:t>
                </a:r>
                <a:r>
                  <a:rPr lang="en-NZ" altLang="ja-JP" sz="1600" dirty="0">
                    <a:solidFill>
                      <a:schemeClr val="tx1"/>
                    </a:solidFill>
                  </a:rPr>
                  <a:t> </a:t>
                </a:r>
                <a:endParaRPr lang="en-NZ" altLang="ja-JP" sz="1600" b="1" dirty="0">
                  <a:solidFill>
                    <a:schemeClr val="tx1"/>
                  </a:solidFill>
                </a:endParaRPr>
              </a:p>
              <a:p>
                <a:pPr algn="just">
                  <a:lnSpc>
                    <a:spcPct val="100000"/>
                  </a:lnSpc>
                </a:pPr>
                <a:endParaRPr lang="en-NZ" altLang="ja-JP" sz="1600" b="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Choice>
        <mc:Fallback>
          <p:sp>
            <p:nvSpPr>
              <p:cNvPr id="37" name="Text Placeholder 5">
                <a:extLst>
                  <a:ext uri="{FF2B5EF4-FFF2-40B4-BE49-F238E27FC236}">
                    <a16:creationId xmlns:a16="http://schemas.microsoft.com/office/drawing/2014/main" id="{54942512-63EA-41CC-995A-663D369F8F6F}"/>
                  </a:ext>
                </a:extLst>
              </p:cNvPr>
              <p:cNvSpPr txBox="1">
                <a:spLocks noRot="1" noChangeAspect="1" noMove="1" noResize="1" noEditPoints="1" noAdjustHandles="1" noChangeArrowheads="1" noChangeShapeType="1" noTextEdit="1"/>
              </p:cNvSpPr>
              <p:nvPr/>
            </p:nvSpPr>
            <p:spPr>
              <a:xfrm>
                <a:off x="278518" y="4876263"/>
                <a:ext cx="5958508" cy="448852"/>
              </a:xfrm>
              <a:prstGeom prst="rect">
                <a:avLst/>
              </a:prstGeom>
              <a:blipFill>
                <a:blip r:embed="rId10"/>
                <a:stretch>
                  <a:fillRect l="-614" t="-2703" b="-48649"/>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8" name="Text Placeholder 5">
                <a:extLst>
                  <a:ext uri="{FF2B5EF4-FFF2-40B4-BE49-F238E27FC236}">
                    <a16:creationId xmlns:a16="http://schemas.microsoft.com/office/drawing/2014/main" id="{91F5E52D-05D1-4BA0-9B12-457FB8B51379}"/>
                  </a:ext>
                </a:extLst>
              </p:cNvPr>
              <p:cNvSpPr txBox="1">
                <a:spLocks/>
              </p:cNvSpPr>
              <p:nvPr/>
            </p:nvSpPr>
            <p:spPr>
              <a:xfrm>
                <a:off x="278517" y="5485575"/>
                <a:ext cx="5844778" cy="4071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In particular, the p-value of the test is calculated as </a:t>
                </a:r>
                <a14:m>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0" smtClean="0">
                        <a:solidFill>
                          <a:schemeClr val="tx1"/>
                        </a:solidFill>
                        <a:latin typeface="Cambria Math" panose="02040503050406030204" pitchFamily="18" charset="0"/>
                      </a:rPr>
                      <m:t>. </m:t>
                    </m:r>
                  </m:oMath>
                </a14:m>
                <a:endParaRPr lang="en-NZ" altLang="ja-JP" sz="1600" b="1" dirty="0">
                  <a:solidFill>
                    <a:schemeClr val="tx1"/>
                  </a:solidFill>
                </a:endParaRPr>
              </a:p>
              <a:p>
                <a:pPr algn="just">
                  <a:lnSpc>
                    <a:spcPct val="100000"/>
                  </a:lnSpc>
                </a:pPr>
                <a:endParaRPr lang="en-NZ" altLang="ja-JP" sz="1600" b="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mc:Choice>
        <mc:Fallback>
          <p:sp>
            <p:nvSpPr>
              <p:cNvPr id="38" name="Text Placeholder 5">
                <a:extLst>
                  <a:ext uri="{FF2B5EF4-FFF2-40B4-BE49-F238E27FC236}">
                    <a16:creationId xmlns:a16="http://schemas.microsoft.com/office/drawing/2014/main" id="{91F5E52D-05D1-4BA0-9B12-457FB8B51379}"/>
                  </a:ext>
                </a:extLst>
              </p:cNvPr>
              <p:cNvSpPr txBox="1">
                <a:spLocks noRot="1" noChangeAspect="1" noMove="1" noResize="1" noEditPoints="1" noAdjustHandles="1" noChangeArrowheads="1" noChangeShapeType="1" noTextEdit="1"/>
              </p:cNvSpPr>
              <p:nvPr/>
            </p:nvSpPr>
            <p:spPr>
              <a:xfrm>
                <a:off x="278517" y="5485575"/>
                <a:ext cx="5844778" cy="407199"/>
              </a:xfrm>
              <a:prstGeom prst="rect">
                <a:avLst/>
              </a:prstGeom>
              <a:blipFill>
                <a:blip r:embed="rId11"/>
                <a:stretch>
                  <a:fillRect l="-626" t="-4478" b="-1493"/>
                </a:stretch>
              </a:blipFill>
            </p:spPr>
            <p:txBody>
              <a:bodyPr/>
              <a:lstStyle/>
              <a:p>
                <a:r>
                  <a:rPr lang="en-NZ">
                    <a:noFill/>
                  </a:rPr>
                  <a:t> </a:t>
                </a:r>
              </a:p>
            </p:txBody>
          </p:sp>
        </mc:Fallback>
      </mc:AlternateContent>
      <p:sp>
        <p:nvSpPr>
          <p:cNvPr id="39" name="Text Placeholder 5">
            <a:extLst>
              <a:ext uri="{FF2B5EF4-FFF2-40B4-BE49-F238E27FC236}">
                <a16:creationId xmlns:a16="http://schemas.microsoft.com/office/drawing/2014/main" id="{A70D6EAD-B290-4FD1-B949-1D090DBEB701}"/>
              </a:ext>
            </a:extLst>
          </p:cNvPr>
          <p:cNvSpPr txBox="1">
            <a:spLocks/>
          </p:cNvSpPr>
          <p:nvPr/>
        </p:nvSpPr>
        <p:spPr>
          <a:xfrm>
            <a:off x="251222" y="5836491"/>
            <a:ext cx="5767439" cy="787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The greater the value of the observed test statistic </a:t>
            </a:r>
            <a:r>
              <a:rPr lang="en-NZ" altLang="ja-JP" sz="1600" b="1" i="1" dirty="0">
                <a:solidFill>
                  <a:schemeClr val="tx1"/>
                </a:solidFill>
              </a:rPr>
              <a:t>F</a:t>
            </a:r>
            <a:r>
              <a:rPr lang="en-NZ" altLang="ja-JP" sz="1600" b="1" i="1" baseline="-25000" dirty="0">
                <a:solidFill>
                  <a:schemeClr val="tx1"/>
                </a:solidFill>
              </a:rPr>
              <a:t>obs </a:t>
            </a:r>
            <a:r>
              <a:rPr lang="en-NZ" altLang="ja-JP" sz="1600" dirty="0">
                <a:solidFill>
                  <a:schemeClr val="tx1"/>
                </a:solidFill>
              </a:rPr>
              <a:t>, the </a:t>
            </a:r>
            <a:br>
              <a:rPr lang="en-NZ" altLang="ja-JP" sz="1600" dirty="0">
                <a:solidFill>
                  <a:schemeClr val="tx1"/>
                </a:solidFill>
              </a:rPr>
            </a:br>
            <a:r>
              <a:rPr lang="en-NZ" altLang="ja-JP" sz="1600" dirty="0">
                <a:solidFill>
                  <a:schemeClr val="tx1"/>
                </a:solidFill>
              </a:rPr>
              <a:t>smaller this p-value will be and the more evidence we have against </a:t>
            </a:r>
            <a:br>
              <a:rPr lang="en-NZ" altLang="ja-JP" sz="1600" dirty="0">
                <a:solidFill>
                  <a:schemeClr val="tx1"/>
                </a:solidFill>
              </a:rPr>
            </a:br>
            <a:r>
              <a:rPr lang="en-NZ" altLang="ja-JP" sz="1600" dirty="0">
                <a:solidFill>
                  <a:schemeClr val="tx1"/>
                </a:solidFill>
              </a:rPr>
              <a:t>the null hypothesis.</a:t>
            </a:r>
          </a:p>
          <a:p>
            <a:pPr algn="just">
              <a:lnSpc>
                <a:spcPct val="100000"/>
              </a:lnSpc>
            </a:pPr>
            <a:endParaRPr lang="en-NZ" altLang="ja-JP" sz="1600" b="1" dirty="0">
              <a:solidFill>
                <a:schemeClr val="tx1"/>
              </a:solidFill>
            </a:endParaRPr>
          </a:p>
          <a:p>
            <a:pPr algn="just">
              <a:lnSpc>
                <a:spcPct val="100000"/>
              </a:lnSpc>
            </a:pPr>
            <a:endParaRPr lang="en-NZ" altLang="ja-JP" sz="1600" b="1" dirty="0">
              <a:solidFill>
                <a:schemeClr val="tx1"/>
              </a:solidFill>
            </a:endParaRPr>
          </a:p>
          <a:p>
            <a:pPr algn="just">
              <a:lnSpc>
                <a:spcPct val="100000"/>
              </a:lnSpc>
            </a:pPr>
            <a:r>
              <a:rPr lang="en-NZ" altLang="ja-JP" sz="1600" dirty="0">
                <a:solidFill>
                  <a:schemeClr val="tx1"/>
                </a:solidFill>
              </a:rPr>
              <a:t>  </a:t>
            </a:r>
          </a:p>
          <a:p>
            <a:pPr algn="just">
              <a:lnSpc>
                <a:spcPct val="100000"/>
              </a:lnSpc>
            </a:pPr>
            <a:endParaRPr lang="en-NZ" altLang="ja-JP" sz="1600" dirty="0">
              <a:solidFill>
                <a:schemeClr val="tx1"/>
              </a:solidFill>
            </a:endParaRPr>
          </a:p>
          <a:p>
            <a:pPr algn="just">
              <a:lnSpc>
                <a:spcPct val="100000"/>
              </a:lnSpc>
            </a:pPr>
            <a:endParaRPr lang="en-NZ" altLang="ja-JP" sz="1600" i="1" dirty="0">
              <a:solidFill>
                <a:srgbClr val="C00000"/>
              </a:solidFill>
            </a:endParaRPr>
          </a:p>
        </p:txBody>
      </p:sp>
      <p:sp>
        <p:nvSpPr>
          <p:cNvPr id="27" name="Footer Placeholder 2">
            <a:extLst>
              <a:ext uri="{FF2B5EF4-FFF2-40B4-BE49-F238E27FC236}">
                <a16:creationId xmlns:a16="http://schemas.microsoft.com/office/drawing/2014/main" id="{E217C915-E90C-EF5C-C692-76DA7473D37E}"/>
              </a:ext>
            </a:extLst>
          </p:cNvPr>
          <p:cNvSpPr txBox="1">
            <a:spLocks/>
          </p:cNvSpPr>
          <p:nvPr/>
        </p:nvSpPr>
        <p:spPr>
          <a:xfrm>
            <a:off x="7820168" y="86139"/>
            <a:ext cx="426919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2.4 – The Distribution of the F-Statistic</a:t>
            </a:r>
            <a:endParaRPr kumimoji="1" lang="ja-JP" altLang="en-US" sz="1600" dirty="0">
              <a:solidFill>
                <a:srgbClr val="DEDDDD"/>
              </a:solidFill>
              <a:latin typeface="Gidole"/>
            </a:endParaRPr>
          </a:p>
        </p:txBody>
      </p:sp>
      <mc:AlternateContent xmlns:mc="http://schemas.openxmlformats.org/markup-compatibility/2006">
        <mc:Choice xmlns:a14="http://schemas.microsoft.com/office/drawing/2010/main" Requires="a14">
          <p:sp>
            <p:nvSpPr>
              <p:cNvPr id="26" name="Text Placeholder 5">
                <a:extLst>
                  <a:ext uri="{FF2B5EF4-FFF2-40B4-BE49-F238E27FC236}">
                    <a16:creationId xmlns:a16="http://schemas.microsoft.com/office/drawing/2014/main" id="{89733653-5326-A3B7-028D-8FB5D3C37F72}"/>
                  </a:ext>
                </a:extLst>
              </p:cNvPr>
              <p:cNvSpPr txBox="1">
                <a:spLocks/>
              </p:cNvSpPr>
              <p:nvPr/>
            </p:nvSpPr>
            <p:spPr>
              <a:xfrm>
                <a:off x="8785579" y="5895228"/>
                <a:ext cx="1344639" cy="398844"/>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m:t>
                      </m:r>
                    </m:oMath>
                  </m:oMathPara>
                </a14:m>
                <a:endParaRPr lang="en-NZ" altLang="ja-JP" sz="1600" dirty="0">
                  <a:solidFill>
                    <a:schemeClr val="tx1"/>
                  </a:solidFill>
                </a:endParaRPr>
              </a:p>
            </p:txBody>
          </p:sp>
        </mc:Choice>
        <mc:Fallback>
          <p:sp>
            <p:nvSpPr>
              <p:cNvPr id="26" name="Text Placeholder 5">
                <a:extLst>
                  <a:ext uri="{FF2B5EF4-FFF2-40B4-BE49-F238E27FC236}">
                    <a16:creationId xmlns:a16="http://schemas.microsoft.com/office/drawing/2014/main" id="{89733653-5326-A3B7-028D-8FB5D3C37F72}"/>
                  </a:ext>
                </a:extLst>
              </p:cNvPr>
              <p:cNvSpPr txBox="1">
                <a:spLocks noRot="1" noChangeAspect="1" noMove="1" noResize="1" noEditPoints="1" noAdjustHandles="1" noChangeArrowheads="1" noChangeShapeType="1" noTextEdit="1"/>
              </p:cNvSpPr>
              <p:nvPr/>
            </p:nvSpPr>
            <p:spPr>
              <a:xfrm>
                <a:off x="8785579" y="5895228"/>
                <a:ext cx="1344639" cy="398844"/>
              </a:xfrm>
              <a:prstGeom prst="rect">
                <a:avLst/>
              </a:prstGeom>
              <a:blipFill>
                <a:blip r:embed="rId12"/>
                <a:stretch>
                  <a:fillRect/>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AA0882C0-2E92-BBD9-6A8F-2C3516DCEF0A}"/>
              </a:ext>
            </a:extLst>
          </p:cNvPr>
          <p:cNvCxnSpPr>
            <a:cxnSpLocks/>
            <a:stCxn id="33" idx="2"/>
          </p:cNvCxnSpPr>
          <p:nvPr/>
        </p:nvCxnSpPr>
        <p:spPr>
          <a:xfrm flipH="1">
            <a:off x="8573858" y="6290460"/>
            <a:ext cx="838" cy="22986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Title 6">
            <a:extLst>
              <a:ext uri="{FF2B5EF4-FFF2-40B4-BE49-F238E27FC236}">
                <a16:creationId xmlns:a16="http://schemas.microsoft.com/office/drawing/2014/main" id="{4B6DDD8F-80C3-1431-251A-73CFF783A2A3}"/>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Recap of the Last Two Lectures:</a:t>
            </a:r>
            <a:endParaRPr lang="ja-JP" altLang="en-US" b="1" u="sng" dirty="0">
              <a:latin typeface="+mn-lt"/>
            </a:endParaRPr>
          </a:p>
        </p:txBody>
      </p:sp>
      <mc:AlternateContent xmlns:mc="http://schemas.openxmlformats.org/markup-compatibility/2006">
        <mc:Choice xmlns:a14="http://schemas.microsoft.com/office/drawing/2010/main" Requires="a14">
          <p:sp>
            <p:nvSpPr>
              <p:cNvPr id="35" name="Text Placeholder 5">
                <a:extLst>
                  <a:ext uri="{FF2B5EF4-FFF2-40B4-BE49-F238E27FC236}">
                    <a16:creationId xmlns:a16="http://schemas.microsoft.com/office/drawing/2014/main" id="{9893E68C-8CA5-6D37-135C-EC63D2635A6B}"/>
                  </a:ext>
                </a:extLst>
              </p:cNvPr>
              <p:cNvSpPr txBox="1">
                <a:spLocks/>
              </p:cNvSpPr>
              <p:nvPr/>
            </p:nvSpPr>
            <p:spPr>
              <a:xfrm>
                <a:off x="7671553" y="996728"/>
                <a:ext cx="3857767" cy="1621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endParaRPr lang="en-NZ" altLang="ja-JP" sz="200" i="1" dirty="0">
                  <a:solidFill>
                    <a:schemeClr val="tx1"/>
                  </a:solidFill>
                  <a:latin typeface="Cambria Math" panose="02040503050406030204" pitchFamily="18" charset="0"/>
                </a:endParaRPr>
              </a:p>
              <a:p>
                <a:pPr algn="ctr">
                  <a:lnSpc>
                    <a:spcPct val="100000"/>
                  </a:lnSpc>
                </a:pPr>
                <a14:m>
                  <m:oMath xmlns:m="http://schemas.openxmlformats.org/officeDocument/2006/math">
                    <m:d>
                      <m:dPr>
                        <m:begChr m:val="["/>
                        <m:endChr m:val="]"/>
                        <m:ctrlPr>
                          <a:rPr lang="en-NZ" altLang="ja-JP" sz="1800" i="1" smtClean="0">
                            <a:solidFill>
                              <a:schemeClr val="tx1"/>
                            </a:solidFill>
                            <a:latin typeface="Cambria Math" panose="02040503050406030204" pitchFamily="18" charset="0"/>
                          </a:rPr>
                        </m:ctrlPr>
                      </m:dPr>
                      <m:e>
                        <m:m>
                          <m:mPr>
                            <m:mcs>
                              <m:mc>
                                <m:mcPr>
                                  <m:count m:val="3"/>
                                  <m:mcJc m:val="center"/>
                                </m:mcPr>
                              </m:mc>
                            </m:mcs>
                            <m:ctrlPr>
                              <a:rPr lang="en-NZ" altLang="ja-JP" sz="1800" i="1" smtClean="0">
                                <a:solidFill>
                                  <a:schemeClr val="tx1"/>
                                </a:solidFill>
                                <a:latin typeface="Cambria Math" panose="02040503050406030204" pitchFamily="18" charset="0"/>
                              </a:rPr>
                            </m:ctrlPr>
                          </m:mPr>
                          <m:mr>
                            <m:e>
                              <m:sSub>
                                <m:sSubPr>
                                  <m:ctrlPr>
                                    <a:rPr lang="en-NZ" altLang="ja-JP" sz="1800" b="0" i="1" smtClean="0">
                                      <a:solidFill>
                                        <a:schemeClr val="tx1"/>
                                      </a:solidFill>
                                      <a:latin typeface="Cambria Math" panose="02040503050406030204" pitchFamily="18" charset="0"/>
                                    </a:rPr>
                                  </m:ctrlPr>
                                </m:sSubPr>
                                <m:e>
                                  <m:r>
                                    <m:rPr>
                                      <m:brk m:alnAt="7"/>
                                    </m:rPr>
                                    <a:rPr lang="en-NZ" altLang="ja-JP" sz="1800" b="0" i="1" smtClean="0">
                                      <a:solidFill>
                                        <a:schemeClr val="tx1"/>
                                      </a:solidFill>
                                      <a:latin typeface="Cambria Math" panose="02040503050406030204" pitchFamily="18" charset="0"/>
                                    </a:rPr>
                                    <m:t>𝑌</m:t>
                                  </m:r>
                                </m:e>
                                <m:sub>
                                  <m:r>
                                    <m:rPr>
                                      <m:brk m:alnAt="7"/>
                                    </m:rPr>
                                    <a:rPr lang="en-NZ" altLang="ja-JP" sz="1800" b="0" i="1" smtClean="0">
                                      <a:solidFill>
                                        <a:schemeClr val="tx1"/>
                                      </a:solidFill>
                                      <a:latin typeface="Cambria Math" panose="02040503050406030204" pitchFamily="18" charset="0"/>
                                    </a:rPr>
                                    <m:t>1</m:t>
                                  </m:r>
                                  <m:r>
                                    <a:rPr lang="en-NZ" altLang="ja-JP" sz="1800" b="0" i="1" smtClean="0">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m:rPr>
                                            <m:brk m:alnAt="7"/>
                                          </m:rPr>
                                          <a:rPr lang="en-NZ" altLang="ja-JP" sz="1800" i="1">
                                            <a:solidFill>
                                              <a:schemeClr val="tx1"/>
                                            </a:solidFill>
                                            <a:latin typeface="Cambria Math" panose="02040503050406030204" pitchFamily="18" charset="0"/>
                                          </a:rPr>
                                          <m:t>1</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,1</m:t>
                                  </m:r>
                                </m:sub>
                              </m:sSub>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2</m:t>
                                  </m:r>
                                </m:sub>
                              </m:sSub>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sSub>
                                      <m:sSubPr>
                                        <m:ctrlPr>
                                          <a:rPr lang="en-NZ" altLang="ja-JP" sz="1800" i="1">
                                            <a:solidFill>
                                              <a:schemeClr val="tx1"/>
                                            </a:solidFill>
                                            <a:latin typeface="Cambria Math" panose="02040503050406030204" pitchFamily="18" charset="0"/>
                                          </a:rPr>
                                        </m:ctrlPr>
                                      </m:sSubPr>
                                      <m:e>
                                        <m:r>
                                          <m:rPr>
                                            <m:brk m:alnAt="7"/>
                                          </m:rPr>
                                          <a:rPr lang="en-NZ" altLang="ja-JP" sz="1800" i="1">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2</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r>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smtClean="0">
                                        <a:solidFill>
                                          <a:schemeClr val="tx1"/>
                                        </a:solidFill>
                                        <a:latin typeface="Cambria Math" panose="02040503050406030204" pitchFamily="18" charset="0"/>
                                        <a:ea typeface="Cambria Math" panose="02040503050406030204" pitchFamily="18" charset="0"/>
                                      </a:rPr>
                                      <m:t>⋮</m:t>
                                    </m:r>
                                  </m:e>
                                </m:mr>
                                <m:mr>
                                  <m:e>
                                    <m:sSub>
                                      <m:sSubPr>
                                        <m:ctrlPr>
                                          <a:rPr lang="en-NZ" altLang="ja-JP" sz="1800" b="0" i="1" smtClean="0">
                                            <a:solidFill>
                                              <a:schemeClr val="tx1"/>
                                            </a:solidFill>
                                            <a:latin typeface="Cambria Math" panose="02040503050406030204" pitchFamily="18" charset="0"/>
                                          </a:rPr>
                                        </m:ctrlPr>
                                      </m:sSubPr>
                                      <m:e>
                                        <m:r>
                                          <a:rPr lang="en-NZ" altLang="ja-JP" sz="1800" b="0" i="1" smtClean="0">
                                            <a:solidFill>
                                              <a:schemeClr val="tx1"/>
                                            </a:solidFill>
                                            <a:latin typeface="Cambria Math" panose="02040503050406030204" pitchFamily="18" charset="0"/>
                                          </a:rPr>
                                          <m:t>𝑌</m:t>
                                        </m:r>
                                      </m:e>
                                      <m:sub>
                                        <m:r>
                                          <a:rPr lang="en-NZ" altLang="ja-JP" sz="1800" b="0" i="1" smtClean="0">
                                            <a:solidFill>
                                              <a:schemeClr val="tx1"/>
                                            </a:solidFill>
                                            <a:latin typeface="Cambria Math" panose="02040503050406030204" pitchFamily="18" charset="0"/>
                                          </a:rPr>
                                          <m:t>𝑘</m:t>
                                        </m:r>
                                        <m:r>
                                          <a:rPr lang="en-NZ" altLang="ja-JP" sz="1800" b="0" i="1" smtClean="0">
                                            <a:solidFill>
                                              <a:schemeClr val="tx1"/>
                                            </a:solidFill>
                                            <a:latin typeface="Cambria Math" panose="02040503050406030204" pitchFamily="18" charset="0"/>
                                          </a:rPr>
                                          <m:t>,1</m:t>
                                        </m:r>
                                      </m:sub>
                                    </m:sSub>
                                  </m:e>
                                </m:mr>
                              </m:m>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smtClean="0">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,2</m:t>
                                        </m:r>
                                      </m:sub>
                                    </m:sSub>
                                  </m:e>
                                </m:mr>
                              </m:m>
                            </m:e>
                            <m:e>
                              <m:m>
                                <m:mPr>
                                  <m:mcs>
                                    <m:mc>
                                      <m:mcPr>
                                        <m:count m:val="2"/>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b="0" i="1" smtClean="0">
                                        <a:solidFill>
                                          <a:schemeClr val="tx1"/>
                                        </a:solidFill>
                                        <a:latin typeface="Cambria Math" panose="02040503050406030204" pitchFamily="18" charset="0"/>
                                      </a:rPr>
                                      <m:t>…</m:t>
                                    </m:r>
                                  </m:e>
                                  <m:e>
                                    <m:m>
                                      <m:mPr>
                                        <m:mcs>
                                          <m:mc>
                                            <m:mcPr>
                                              <m:count m:val="1"/>
                                              <m:mcJc m:val="center"/>
                                            </m:mcPr>
                                          </m:mc>
                                        </m:mcs>
                                        <m:ctrlPr>
                                          <a:rPr lang="en-NZ" altLang="ja-JP" sz="1800" i="1" smtClean="0">
                                            <a:solidFill>
                                              <a:schemeClr val="tx1"/>
                                            </a:solidFill>
                                            <a:latin typeface="Cambria Math" panose="02040503050406030204" pitchFamily="18" charset="0"/>
                                          </a:rPr>
                                        </m:ctrlPr>
                                      </m:mPr>
                                      <m:mr>
                                        <m:e>
                                          <m:r>
                                            <m:rPr>
                                              <m:brk m:alnAt="7"/>
                                            </m:rPr>
                                            <a:rPr lang="en-NZ" altLang="ja-JP" sz="1800" i="1">
                                              <a:solidFill>
                                                <a:schemeClr val="tx1"/>
                                              </a:solidFill>
                                              <a:latin typeface="Cambria Math" panose="02040503050406030204" pitchFamily="18" charset="0"/>
                                              <a:ea typeface="Cambria Math" panose="02040503050406030204" pitchFamily="18" charset="0"/>
                                            </a:rPr>
                                            <m:t>⋮</m:t>
                                          </m:r>
                                        </m:e>
                                      </m:mr>
                                      <m:mr>
                                        <m:e>
                                          <m:sSub>
                                            <m:sSubPr>
                                              <m:ctrlPr>
                                                <a:rPr lang="en-NZ" altLang="ja-JP" sz="1800" i="1">
                                                  <a:solidFill>
                                                    <a:schemeClr val="tx1"/>
                                                  </a:solidFill>
                                                  <a:latin typeface="Cambria Math" panose="02040503050406030204" pitchFamily="18" charset="0"/>
                                                </a:rPr>
                                              </m:ctrlPr>
                                            </m:sSubPr>
                                            <m:e>
                                              <m:r>
                                                <a:rPr lang="en-NZ" altLang="ja-JP" sz="1800" i="1">
                                                  <a:solidFill>
                                                    <a:schemeClr val="tx1"/>
                                                  </a:solidFill>
                                                  <a:latin typeface="Cambria Math" panose="02040503050406030204" pitchFamily="18" charset="0"/>
                                                </a:rPr>
                                                <m:t>𝑌</m:t>
                                              </m:r>
                                            </m:e>
                                            <m:sub>
                                              <m:r>
                                                <a:rPr lang="en-NZ" altLang="ja-JP" sz="1800" i="1">
                                                  <a:solidFill>
                                                    <a:schemeClr val="tx1"/>
                                                  </a:solidFill>
                                                  <a:latin typeface="Cambria Math" panose="02040503050406030204" pitchFamily="18" charset="0"/>
                                                </a:rPr>
                                                <m:t>𝑘</m:t>
                                              </m:r>
                                              <m:r>
                                                <a:rPr lang="en-NZ" altLang="ja-JP" sz="1800" i="1">
                                                  <a:solidFill>
                                                    <a:schemeClr val="tx1"/>
                                                  </a:solidFill>
                                                  <a:latin typeface="Cambria Math" panose="02040503050406030204" pitchFamily="18" charset="0"/>
                                                </a:rPr>
                                                <m:t>,</m:t>
                                              </m:r>
                                              <m:r>
                                                <a:rPr lang="en-NZ" altLang="ja-JP" sz="1800" b="0" i="1" smtClean="0">
                                                  <a:solidFill>
                                                    <a:schemeClr val="tx1"/>
                                                  </a:solidFill>
                                                  <a:latin typeface="Cambria Math" panose="02040503050406030204" pitchFamily="18" charset="0"/>
                                                </a:rPr>
                                                <m:t>𝑛</m:t>
                                              </m:r>
                                            </m:sub>
                                          </m:sSub>
                                        </m:e>
                                      </m:mr>
                                    </m:m>
                                  </m:e>
                                </m:mr>
                              </m:m>
                            </m:e>
                          </m:mr>
                        </m:m>
                      </m:e>
                    </m:d>
                  </m:oMath>
                </a14:m>
                <a:r>
                  <a:rPr lang="en-NZ" altLang="ja-JP" sz="1800" dirty="0">
                    <a:solidFill>
                      <a:schemeClr val="tx1"/>
                    </a:solidFill>
                  </a:rPr>
                  <a:t> </a:t>
                </a:r>
              </a:p>
              <a:p>
                <a:pPr algn="ctr">
                  <a:lnSpc>
                    <a:spcPct val="100000"/>
                  </a:lnSpc>
                </a:pPr>
                <a:endParaRPr lang="en-NZ" altLang="ja-JP" sz="200" dirty="0">
                  <a:solidFill>
                    <a:schemeClr val="tx1"/>
                  </a:solidFill>
                </a:endParaRPr>
              </a:p>
              <a:p>
                <a:pPr algn="ctr">
                  <a:lnSpc>
                    <a:spcPct val="100000"/>
                  </a:lnSpc>
                </a:pPr>
                <a:endParaRPr lang="en-NZ" altLang="ja-JP" sz="1400" dirty="0">
                  <a:solidFill>
                    <a:schemeClr val="tx1"/>
                  </a:solidFill>
                </a:endParaRPr>
              </a:p>
              <a:p>
                <a:pPr algn="just">
                  <a:lnSpc>
                    <a:spcPct val="100000"/>
                  </a:lnSpc>
                </a:pPr>
                <a:endParaRPr lang="en-NZ" altLang="ja-JP" sz="1800" dirty="0">
                  <a:solidFill>
                    <a:schemeClr val="tx1"/>
                  </a:solidFill>
                </a:endParaRPr>
              </a:p>
              <a:p>
                <a:pPr algn="just">
                  <a:lnSpc>
                    <a:spcPct val="100000"/>
                  </a:lnSpc>
                </a:pPr>
                <a:endParaRPr lang="en-NZ" altLang="ja-JP" sz="1800" i="1" dirty="0">
                  <a:solidFill>
                    <a:srgbClr val="C00000"/>
                  </a:solidFill>
                </a:endParaRPr>
              </a:p>
            </p:txBody>
          </p:sp>
        </mc:Choice>
        <mc:Fallback>
          <p:sp>
            <p:nvSpPr>
              <p:cNvPr id="35" name="Text Placeholder 5">
                <a:extLst>
                  <a:ext uri="{FF2B5EF4-FFF2-40B4-BE49-F238E27FC236}">
                    <a16:creationId xmlns:a16="http://schemas.microsoft.com/office/drawing/2014/main" id="{9893E68C-8CA5-6D37-135C-EC63D2635A6B}"/>
                  </a:ext>
                </a:extLst>
              </p:cNvPr>
              <p:cNvSpPr txBox="1">
                <a:spLocks noRot="1" noChangeAspect="1" noMove="1" noResize="1" noEditPoints="1" noAdjustHandles="1" noChangeArrowheads="1" noChangeShapeType="1" noTextEdit="1"/>
              </p:cNvSpPr>
              <p:nvPr/>
            </p:nvSpPr>
            <p:spPr>
              <a:xfrm>
                <a:off x="7671553" y="996728"/>
                <a:ext cx="3857767" cy="1621449"/>
              </a:xfrm>
              <a:prstGeom prst="rect">
                <a:avLst/>
              </a:prstGeom>
              <a:blipFill>
                <a:blip r:embed="rId13"/>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59560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4" grpId="0"/>
      <p:bldP spid="37" grpId="0"/>
      <p:bldP spid="38" grpId="0"/>
      <p:bldP spid="39" grpId="0"/>
      <p:bldP spid="2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D83881-A67F-4C10-A219-A549EE4795C8}"/>
              </a:ext>
            </a:extLst>
          </p:cNvPr>
          <p:cNvPicPr>
            <a:picLocks noChangeAspect="1"/>
          </p:cNvPicPr>
          <p:nvPr/>
        </p:nvPicPr>
        <p:blipFill>
          <a:blip r:embed="rId2"/>
          <a:stretch>
            <a:fillRect/>
          </a:stretch>
        </p:blipFill>
        <p:spPr>
          <a:xfrm>
            <a:off x="790717" y="4226703"/>
            <a:ext cx="6797438" cy="2393464"/>
          </a:xfrm>
          <a:prstGeom prst="rect">
            <a:avLst/>
          </a:prstGeom>
        </p:spPr>
      </p:pic>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38</a:t>
            </a:fld>
            <a:endParaRPr kumimoji="1" lang="ja-JP" altLang="en-US" dirty="0">
              <a:solidFill>
                <a:srgbClr val="575454">
                  <a:lumMod val="20000"/>
                  <a:lumOff val="80000"/>
                </a:srgbClr>
              </a:solidFill>
              <a:latin typeface="Coo Hew"/>
            </a:endParaRPr>
          </a:p>
        </p:txBody>
      </p:sp>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 – Computational Examples:</a:t>
            </a:r>
            <a:endParaRPr lang="ja-JP" altLang="en-US" b="1" u="sng" dirty="0">
              <a:latin typeface="+mn-lt"/>
            </a:endParaRPr>
          </a:p>
        </p:txBody>
      </p:sp>
      <p:sp>
        <p:nvSpPr>
          <p:cNvPr id="33" name="Footer Placeholder 2">
            <a:extLst>
              <a:ext uri="{FF2B5EF4-FFF2-40B4-BE49-F238E27FC236}">
                <a16:creationId xmlns:a16="http://schemas.microsoft.com/office/drawing/2014/main" id="{CA11CAB6-BC94-43CA-B234-137ABDE494F3}"/>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27" name="Text Placeholder 5">
            <a:extLst>
              <a:ext uri="{FF2B5EF4-FFF2-40B4-BE49-F238E27FC236}">
                <a16:creationId xmlns:a16="http://schemas.microsoft.com/office/drawing/2014/main" id="{E8F22C3C-563C-4CB2-AB2D-4584C93231D3}"/>
              </a:ext>
            </a:extLst>
          </p:cNvPr>
          <p:cNvSpPr txBox="1">
            <a:spLocks/>
          </p:cNvSpPr>
          <p:nvPr/>
        </p:nvSpPr>
        <p:spPr>
          <a:xfrm>
            <a:off x="435811" y="909730"/>
            <a:ext cx="999107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There are two methods for obtaining the results of an ANOVA procedure in R</a:t>
            </a:r>
            <a:endParaRPr lang="ja-JP" altLang="en-NZ" sz="2200" dirty="0">
              <a:solidFill>
                <a:schemeClr val="tx1"/>
              </a:solidFill>
            </a:endParaRPr>
          </a:p>
        </p:txBody>
      </p:sp>
      <p:sp>
        <p:nvSpPr>
          <p:cNvPr id="16" name="Text Placeholder 5">
            <a:extLst>
              <a:ext uri="{FF2B5EF4-FFF2-40B4-BE49-F238E27FC236}">
                <a16:creationId xmlns:a16="http://schemas.microsoft.com/office/drawing/2014/main" id="{B1A6570D-7364-4FE2-ABB1-988FB2BE0AA2}"/>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2.5 - Obtaining ANOVA Results</a:t>
            </a:r>
            <a:endParaRPr lang="en-US" altLang="ja-JP" sz="1200" b="1" i="1" dirty="0">
              <a:solidFill>
                <a:srgbClr val="C00000"/>
              </a:solidFill>
            </a:endParaRPr>
          </a:p>
        </p:txBody>
      </p:sp>
      <p:sp>
        <p:nvSpPr>
          <p:cNvPr id="19" name="Text Placeholder 5">
            <a:extLst>
              <a:ext uri="{FF2B5EF4-FFF2-40B4-BE49-F238E27FC236}">
                <a16:creationId xmlns:a16="http://schemas.microsoft.com/office/drawing/2014/main" id="{F7FDB808-00A5-455E-8B16-021C5F0AFE73}"/>
              </a:ext>
            </a:extLst>
          </p:cNvPr>
          <p:cNvSpPr txBox="1">
            <a:spLocks/>
          </p:cNvSpPr>
          <p:nvPr/>
        </p:nvSpPr>
        <p:spPr>
          <a:xfrm>
            <a:off x="458557" y="1532184"/>
            <a:ext cx="8721838"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rabicPeriod"/>
            </a:pPr>
            <a:r>
              <a:rPr lang="en-NZ" altLang="ja-JP" sz="1800" b="1" dirty="0">
                <a:solidFill>
                  <a:schemeClr val="tx1"/>
                </a:solidFill>
              </a:rPr>
              <a:t>Fit a linear model using the </a:t>
            </a:r>
            <a:r>
              <a:rPr lang="en-NZ" altLang="ja-JP" sz="1800" b="1" dirty="0" err="1">
                <a:solidFill>
                  <a:schemeClr val="tx1"/>
                </a:solidFill>
              </a:rPr>
              <a:t>lm</a:t>
            </a:r>
            <a:r>
              <a:rPr lang="en-NZ" altLang="ja-JP" sz="1800" b="1" dirty="0">
                <a:solidFill>
                  <a:schemeClr val="tx1"/>
                </a:solidFill>
              </a:rPr>
              <a:t>() command</a:t>
            </a:r>
            <a:endParaRPr lang="ja-JP" altLang="en-NZ" sz="1800" b="1" dirty="0">
              <a:solidFill>
                <a:schemeClr val="tx1"/>
              </a:solidFill>
            </a:endParaRPr>
          </a:p>
        </p:txBody>
      </p:sp>
      <p:pic>
        <p:nvPicPr>
          <p:cNvPr id="3" name="Picture 2">
            <a:extLst>
              <a:ext uri="{FF2B5EF4-FFF2-40B4-BE49-F238E27FC236}">
                <a16:creationId xmlns:a16="http://schemas.microsoft.com/office/drawing/2014/main" id="{BD6D0B61-B09F-4A4E-96B3-AF55E4FE987E}"/>
              </a:ext>
            </a:extLst>
          </p:cNvPr>
          <p:cNvPicPr>
            <a:picLocks noChangeAspect="1"/>
          </p:cNvPicPr>
          <p:nvPr/>
        </p:nvPicPr>
        <p:blipFill>
          <a:blip r:embed="rId3"/>
          <a:stretch>
            <a:fillRect/>
          </a:stretch>
        </p:blipFill>
        <p:spPr>
          <a:xfrm>
            <a:off x="791357" y="2008286"/>
            <a:ext cx="6796798" cy="1728359"/>
          </a:xfrm>
          <a:prstGeom prst="rect">
            <a:avLst/>
          </a:prstGeom>
        </p:spPr>
      </p:pic>
      <p:sp>
        <p:nvSpPr>
          <p:cNvPr id="20" name="Text Placeholder 5">
            <a:extLst>
              <a:ext uri="{FF2B5EF4-FFF2-40B4-BE49-F238E27FC236}">
                <a16:creationId xmlns:a16="http://schemas.microsoft.com/office/drawing/2014/main" id="{490BA294-D6D5-4761-BF02-37A6D8C5D1A0}"/>
              </a:ext>
            </a:extLst>
          </p:cNvPr>
          <p:cNvSpPr txBox="1">
            <a:spLocks/>
          </p:cNvSpPr>
          <p:nvPr/>
        </p:nvSpPr>
        <p:spPr>
          <a:xfrm>
            <a:off x="458557" y="3862372"/>
            <a:ext cx="364941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rabicPeriod" startAt="2"/>
            </a:pPr>
            <a:r>
              <a:rPr lang="en-NZ" altLang="ja-JP" sz="1800" b="1" dirty="0">
                <a:solidFill>
                  <a:schemeClr val="tx1"/>
                </a:solidFill>
              </a:rPr>
              <a:t>Using the </a:t>
            </a:r>
            <a:r>
              <a:rPr lang="en-NZ" altLang="ja-JP" sz="1800" b="1" dirty="0" err="1">
                <a:solidFill>
                  <a:schemeClr val="tx1"/>
                </a:solidFill>
              </a:rPr>
              <a:t>aov</a:t>
            </a:r>
            <a:r>
              <a:rPr lang="en-NZ" altLang="ja-JP" sz="1800" b="1" dirty="0">
                <a:solidFill>
                  <a:schemeClr val="tx1"/>
                </a:solidFill>
              </a:rPr>
              <a:t>() command</a:t>
            </a:r>
            <a:endParaRPr lang="ja-JP" altLang="en-NZ" sz="1800" b="1" dirty="0">
              <a:solidFill>
                <a:schemeClr val="tx1"/>
              </a:solidFill>
            </a:endParaRPr>
          </a:p>
        </p:txBody>
      </p:sp>
      <p:sp>
        <p:nvSpPr>
          <p:cNvPr id="23" name="Text Placeholder 5">
            <a:extLst>
              <a:ext uri="{FF2B5EF4-FFF2-40B4-BE49-F238E27FC236}">
                <a16:creationId xmlns:a16="http://schemas.microsoft.com/office/drawing/2014/main" id="{5308AEE5-5F22-4580-B93D-28C8EA53888F}"/>
              </a:ext>
            </a:extLst>
          </p:cNvPr>
          <p:cNvSpPr txBox="1">
            <a:spLocks/>
          </p:cNvSpPr>
          <p:nvPr/>
        </p:nvSpPr>
        <p:spPr>
          <a:xfrm>
            <a:off x="4369590" y="3862372"/>
            <a:ext cx="6437130"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bg2">
                    <a:lumMod val="50000"/>
                  </a:schemeClr>
                </a:solidFill>
              </a:rPr>
              <a:t>Allows you to do post-hoc Tukey HSD tests as well</a:t>
            </a:r>
            <a:endParaRPr lang="ja-JP" altLang="en-NZ" sz="1800" dirty="0">
              <a:solidFill>
                <a:schemeClr val="bg2">
                  <a:lumMod val="50000"/>
                </a:schemeClr>
              </a:solidFill>
            </a:endParaRPr>
          </a:p>
        </p:txBody>
      </p:sp>
    </p:spTree>
    <p:extLst>
      <p:ext uri="{BB962C8B-B14F-4D97-AF65-F5344CB8AC3E}">
        <p14:creationId xmlns:p14="http://schemas.microsoft.com/office/powerpoint/2010/main" val="26301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a:extLst>
              <a:ext uri="{FF2B5EF4-FFF2-40B4-BE49-F238E27FC236}">
                <a16:creationId xmlns:a16="http://schemas.microsoft.com/office/drawing/2014/main" id="{F42142F2-738D-4672-99F6-24FF16CC3E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39</a:t>
            </a:fld>
            <a:endParaRPr kumimoji="1" lang="ja-JP" altLang="en-US" dirty="0">
              <a:solidFill>
                <a:srgbClr val="575454">
                  <a:lumMod val="20000"/>
                  <a:lumOff val="80000"/>
                </a:srgbClr>
              </a:solidFill>
              <a:latin typeface="Coo Hew"/>
            </a:endParaRPr>
          </a:p>
        </p:txBody>
      </p:sp>
      <p:sp>
        <p:nvSpPr>
          <p:cNvPr id="13" name="Title 6">
            <a:extLst>
              <a:ext uri="{FF2B5EF4-FFF2-40B4-BE49-F238E27FC236}">
                <a16:creationId xmlns:a16="http://schemas.microsoft.com/office/drawing/2014/main" id="{4608B7DC-2ED7-406E-A6EF-D24931214F66}"/>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 – Computational Examples:</a:t>
            </a:r>
            <a:endParaRPr lang="ja-JP" altLang="en-US" b="1" u="sng" dirty="0">
              <a:latin typeface="+mn-lt"/>
            </a:endParaRPr>
          </a:p>
        </p:txBody>
      </p:sp>
      <p:sp>
        <p:nvSpPr>
          <p:cNvPr id="33" name="Footer Placeholder 2">
            <a:extLst>
              <a:ext uri="{FF2B5EF4-FFF2-40B4-BE49-F238E27FC236}">
                <a16:creationId xmlns:a16="http://schemas.microsoft.com/office/drawing/2014/main" id="{CA11CAB6-BC94-43CA-B234-137ABDE494F3}"/>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8" name="Text Placeholder 5">
            <a:extLst>
              <a:ext uri="{FF2B5EF4-FFF2-40B4-BE49-F238E27FC236}">
                <a16:creationId xmlns:a16="http://schemas.microsoft.com/office/drawing/2014/main" id="{48B79D50-9E13-4AD2-A06B-5130BB9354C5}"/>
              </a:ext>
            </a:extLst>
          </p:cNvPr>
          <p:cNvSpPr txBox="1">
            <a:spLocks/>
          </p:cNvSpPr>
          <p:nvPr/>
        </p:nvSpPr>
        <p:spPr>
          <a:xfrm>
            <a:off x="397269" y="1159756"/>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Arial" panose="020B0604020202020204" pitchFamily="34" charset="0"/>
              <a:buChar char="•"/>
            </a:pPr>
            <a:r>
              <a:rPr lang="en-NZ" altLang="ja-JP" sz="2200" dirty="0">
                <a:solidFill>
                  <a:schemeClr val="tx1"/>
                </a:solidFill>
              </a:rPr>
              <a:t>When conducting ANOVA, there are three basic steps to follow:</a:t>
            </a:r>
          </a:p>
          <a:p>
            <a:pPr algn="just">
              <a:lnSpc>
                <a:spcPct val="100000"/>
              </a:lnSpc>
            </a:pPr>
            <a:endParaRPr lang="en-NZ" altLang="ja-JP" sz="2200" dirty="0">
              <a:solidFill>
                <a:schemeClr val="tx1"/>
              </a:solidFill>
            </a:endParaRPr>
          </a:p>
          <a:p>
            <a:pPr algn="just">
              <a:lnSpc>
                <a:spcPct val="100000"/>
              </a:lnSpc>
            </a:pPr>
            <a:endParaRPr lang="en-NZ" altLang="ja-JP" sz="2200" i="1" dirty="0">
              <a:solidFill>
                <a:srgbClr val="C00000"/>
              </a:solidFill>
            </a:endParaRPr>
          </a:p>
        </p:txBody>
      </p:sp>
      <p:sp>
        <p:nvSpPr>
          <p:cNvPr id="14" name="Text Placeholder 5">
            <a:extLst>
              <a:ext uri="{FF2B5EF4-FFF2-40B4-BE49-F238E27FC236}">
                <a16:creationId xmlns:a16="http://schemas.microsoft.com/office/drawing/2014/main" id="{FDB3B737-2C8F-4E17-9C79-082304896914}"/>
              </a:ext>
            </a:extLst>
          </p:cNvPr>
          <p:cNvSpPr txBox="1">
            <a:spLocks/>
          </p:cNvSpPr>
          <p:nvPr/>
        </p:nvSpPr>
        <p:spPr>
          <a:xfrm>
            <a:off x="518615" y="1869717"/>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chemeClr val="tx1"/>
                </a:solidFill>
              </a:rPr>
              <a:t>Step 1:</a:t>
            </a:r>
            <a:endParaRPr lang="en-US" altLang="ja-JP" sz="2200" b="1" i="1" dirty="0">
              <a:solidFill>
                <a:schemeClr val="tx1"/>
              </a:solidFill>
            </a:endParaRPr>
          </a:p>
        </p:txBody>
      </p:sp>
      <p:sp>
        <p:nvSpPr>
          <p:cNvPr id="17" name="Text Placeholder 5">
            <a:extLst>
              <a:ext uri="{FF2B5EF4-FFF2-40B4-BE49-F238E27FC236}">
                <a16:creationId xmlns:a16="http://schemas.microsoft.com/office/drawing/2014/main" id="{1DCF3750-2F2F-43CB-A19C-733F1F943023}"/>
              </a:ext>
            </a:extLst>
          </p:cNvPr>
          <p:cNvSpPr txBox="1">
            <a:spLocks/>
          </p:cNvSpPr>
          <p:nvPr/>
        </p:nvSpPr>
        <p:spPr>
          <a:xfrm>
            <a:off x="1681689" y="1869717"/>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Read in the data and obtain numeric and graphical summaries</a:t>
            </a:r>
            <a:endParaRPr lang="ja-JP" altLang="en-NZ" sz="2200" dirty="0">
              <a:solidFill>
                <a:schemeClr val="tx1"/>
              </a:solidFill>
            </a:endParaRPr>
          </a:p>
        </p:txBody>
      </p:sp>
      <p:sp>
        <p:nvSpPr>
          <p:cNvPr id="18" name="Text Placeholder 5">
            <a:extLst>
              <a:ext uri="{FF2B5EF4-FFF2-40B4-BE49-F238E27FC236}">
                <a16:creationId xmlns:a16="http://schemas.microsoft.com/office/drawing/2014/main" id="{F0A94F10-E918-42BF-A159-7EAAA658C8E9}"/>
              </a:ext>
            </a:extLst>
          </p:cNvPr>
          <p:cNvSpPr txBox="1">
            <a:spLocks/>
          </p:cNvSpPr>
          <p:nvPr/>
        </p:nvSpPr>
        <p:spPr>
          <a:xfrm>
            <a:off x="518615" y="2958240"/>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chemeClr val="tx1"/>
                </a:solidFill>
              </a:rPr>
              <a:t>Step 2:</a:t>
            </a:r>
            <a:endParaRPr lang="en-US" altLang="ja-JP" sz="2200" b="1" i="1" dirty="0">
              <a:solidFill>
                <a:schemeClr val="tx1"/>
              </a:solidFill>
            </a:endParaRPr>
          </a:p>
        </p:txBody>
      </p:sp>
      <p:sp>
        <p:nvSpPr>
          <p:cNvPr id="21" name="Text Placeholder 5">
            <a:extLst>
              <a:ext uri="{FF2B5EF4-FFF2-40B4-BE49-F238E27FC236}">
                <a16:creationId xmlns:a16="http://schemas.microsoft.com/office/drawing/2014/main" id="{B22B2866-8940-4ADF-A3F1-62F04A015991}"/>
              </a:ext>
            </a:extLst>
          </p:cNvPr>
          <p:cNvSpPr txBox="1">
            <a:spLocks/>
          </p:cNvSpPr>
          <p:nvPr/>
        </p:nvSpPr>
        <p:spPr>
          <a:xfrm>
            <a:off x="1681689" y="2958240"/>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Fit the ANOVA model and conduct hypothesis tests</a:t>
            </a:r>
            <a:endParaRPr lang="ja-JP" altLang="en-NZ" sz="2200" dirty="0">
              <a:solidFill>
                <a:schemeClr val="tx1"/>
              </a:solidFill>
            </a:endParaRPr>
          </a:p>
        </p:txBody>
      </p:sp>
      <p:sp>
        <p:nvSpPr>
          <p:cNvPr id="26" name="Text Placeholder 5">
            <a:extLst>
              <a:ext uri="{FF2B5EF4-FFF2-40B4-BE49-F238E27FC236}">
                <a16:creationId xmlns:a16="http://schemas.microsoft.com/office/drawing/2014/main" id="{58250026-0CD9-4950-9BBF-A30BF6522CAB}"/>
              </a:ext>
            </a:extLst>
          </p:cNvPr>
          <p:cNvSpPr txBox="1">
            <a:spLocks/>
          </p:cNvSpPr>
          <p:nvPr/>
        </p:nvSpPr>
        <p:spPr>
          <a:xfrm>
            <a:off x="518615" y="4622023"/>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chemeClr val="tx1"/>
                </a:solidFill>
              </a:rPr>
              <a:t>Step 3:</a:t>
            </a:r>
            <a:endParaRPr lang="en-US" altLang="ja-JP" sz="2200" b="1" i="1" dirty="0">
              <a:solidFill>
                <a:schemeClr val="tx1"/>
              </a:solidFill>
            </a:endParaRPr>
          </a:p>
        </p:txBody>
      </p:sp>
      <p:sp>
        <p:nvSpPr>
          <p:cNvPr id="27" name="Text Placeholder 5">
            <a:extLst>
              <a:ext uri="{FF2B5EF4-FFF2-40B4-BE49-F238E27FC236}">
                <a16:creationId xmlns:a16="http://schemas.microsoft.com/office/drawing/2014/main" id="{E8F22C3C-563C-4CB2-AB2D-4584C93231D3}"/>
              </a:ext>
            </a:extLst>
          </p:cNvPr>
          <p:cNvSpPr txBox="1">
            <a:spLocks/>
          </p:cNvSpPr>
          <p:nvPr/>
        </p:nvSpPr>
        <p:spPr>
          <a:xfrm>
            <a:off x="1681689" y="4622023"/>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Conduct post-hoc tests</a:t>
            </a:r>
            <a:endParaRPr lang="ja-JP" altLang="en-NZ" sz="2200" dirty="0">
              <a:solidFill>
                <a:schemeClr val="tx1"/>
              </a:solidFill>
            </a:endParaRPr>
          </a:p>
        </p:txBody>
      </p:sp>
      <p:sp>
        <p:nvSpPr>
          <p:cNvPr id="28" name="Text Placeholder 5">
            <a:extLst>
              <a:ext uri="{FF2B5EF4-FFF2-40B4-BE49-F238E27FC236}">
                <a16:creationId xmlns:a16="http://schemas.microsoft.com/office/drawing/2014/main" id="{B0CE6CEC-CFC1-4DEC-B65C-AFDA73AA8606}"/>
              </a:ext>
            </a:extLst>
          </p:cNvPr>
          <p:cNvSpPr txBox="1">
            <a:spLocks/>
          </p:cNvSpPr>
          <p:nvPr/>
        </p:nvSpPr>
        <p:spPr>
          <a:xfrm>
            <a:off x="1681689" y="2210494"/>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bg2">
                    <a:lumMod val="50000"/>
                  </a:schemeClr>
                </a:solidFill>
              </a:rPr>
              <a:t>Does this suggest that there may be a difference in means between some groups?</a:t>
            </a:r>
            <a:endParaRPr lang="ja-JP" altLang="en-NZ" sz="1800" dirty="0">
              <a:solidFill>
                <a:schemeClr val="bg2">
                  <a:lumMod val="50000"/>
                </a:schemeClr>
              </a:solidFill>
            </a:endParaRPr>
          </a:p>
        </p:txBody>
      </p:sp>
      <p:sp>
        <p:nvSpPr>
          <p:cNvPr id="29" name="Text Placeholder 5">
            <a:extLst>
              <a:ext uri="{FF2B5EF4-FFF2-40B4-BE49-F238E27FC236}">
                <a16:creationId xmlns:a16="http://schemas.microsoft.com/office/drawing/2014/main" id="{75A58852-8136-4D27-A52E-E4D1FCBC91A0}"/>
              </a:ext>
            </a:extLst>
          </p:cNvPr>
          <p:cNvSpPr txBox="1">
            <a:spLocks/>
          </p:cNvSpPr>
          <p:nvPr/>
        </p:nvSpPr>
        <p:spPr>
          <a:xfrm>
            <a:off x="1681689" y="3337681"/>
            <a:ext cx="9509476" cy="7293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bg2">
                    <a:lumMod val="50000"/>
                  </a:schemeClr>
                </a:solidFill>
              </a:rPr>
              <a:t>Estimate model coefficient values.</a:t>
            </a:r>
            <a:br>
              <a:rPr lang="en-NZ" altLang="ja-JP" sz="1800" dirty="0">
                <a:solidFill>
                  <a:schemeClr val="bg2">
                    <a:lumMod val="50000"/>
                  </a:schemeClr>
                </a:solidFill>
              </a:rPr>
            </a:br>
            <a:r>
              <a:rPr lang="en-NZ" altLang="ja-JP" sz="1800" dirty="0">
                <a:solidFill>
                  <a:schemeClr val="bg2">
                    <a:lumMod val="50000"/>
                  </a:schemeClr>
                </a:solidFill>
              </a:rPr>
              <a:t>Calculate the observed F-statistic and the associated p-value.</a:t>
            </a:r>
          </a:p>
          <a:p>
            <a:pPr algn="just">
              <a:lnSpc>
                <a:spcPct val="100000"/>
              </a:lnSpc>
            </a:pPr>
            <a:r>
              <a:rPr lang="en-NZ" altLang="ja-JP" sz="1800" dirty="0">
                <a:solidFill>
                  <a:schemeClr val="bg2">
                    <a:lumMod val="50000"/>
                  </a:schemeClr>
                </a:solidFill>
              </a:rPr>
              <a:t>Does this provide evidence against the null hypothesis that all means are equal?</a:t>
            </a:r>
            <a:endParaRPr lang="ja-JP" altLang="en-NZ" sz="1800" dirty="0">
              <a:solidFill>
                <a:schemeClr val="bg2">
                  <a:lumMod val="50000"/>
                </a:schemeClr>
              </a:solidFill>
            </a:endParaRPr>
          </a:p>
        </p:txBody>
      </p:sp>
      <p:sp>
        <p:nvSpPr>
          <p:cNvPr id="30" name="Text Placeholder 5">
            <a:extLst>
              <a:ext uri="{FF2B5EF4-FFF2-40B4-BE49-F238E27FC236}">
                <a16:creationId xmlns:a16="http://schemas.microsoft.com/office/drawing/2014/main" id="{FFE2A569-3BE4-4C09-93EF-C71A63344307}"/>
              </a:ext>
            </a:extLst>
          </p:cNvPr>
          <p:cNvSpPr txBox="1">
            <a:spLocks/>
          </p:cNvSpPr>
          <p:nvPr/>
        </p:nvSpPr>
        <p:spPr>
          <a:xfrm>
            <a:off x="1720402" y="5024491"/>
            <a:ext cx="9509476" cy="7293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bg2">
                    <a:lumMod val="50000"/>
                  </a:schemeClr>
                </a:solidFill>
              </a:rPr>
              <a:t>If there is evidence against the null hypothesis we conduct pairwise Tukey Honestly Significant Difference Tests* to determine which groups have significantly different means.</a:t>
            </a:r>
            <a:endParaRPr lang="ja-JP" altLang="en-NZ" sz="1800" dirty="0">
              <a:solidFill>
                <a:schemeClr val="bg2">
                  <a:lumMod val="50000"/>
                </a:schemeClr>
              </a:solidFill>
            </a:endParaRPr>
          </a:p>
        </p:txBody>
      </p:sp>
      <p:sp>
        <p:nvSpPr>
          <p:cNvPr id="31" name="Text Placeholder 5">
            <a:extLst>
              <a:ext uri="{FF2B5EF4-FFF2-40B4-BE49-F238E27FC236}">
                <a16:creationId xmlns:a16="http://schemas.microsoft.com/office/drawing/2014/main" id="{C5408F2A-CDD8-478B-937A-63B1659DA765}"/>
              </a:ext>
            </a:extLst>
          </p:cNvPr>
          <p:cNvSpPr txBox="1">
            <a:spLocks/>
          </p:cNvSpPr>
          <p:nvPr/>
        </p:nvSpPr>
        <p:spPr>
          <a:xfrm>
            <a:off x="251224" y="6308833"/>
            <a:ext cx="7200454"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bg2">
                    <a:lumMod val="50000"/>
                  </a:schemeClr>
                </a:solidFill>
              </a:rPr>
              <a:t>* Tukey HSD tests test for pairwise differences in means amongst groups in such a way that appropriate adjustments are made for multiple testing and the probability of incurring Type I errors  </a:t>
            </a:r>
            <a:endParaRPr lang="ja-JP" altLang="en-NZ" sz="1200" dirty="0">
              <a:solidFill>
                <a:schemeClr val="bg2">
                  <a:lumMod val="50000"/>
                </a:schemeClr>
              </a:solidFill>
            </a:endParaRPr>
          </a:p>
        </p:txBody>
      </p:sp>
    </p:spTree>
    <p:extLst>
      <p:ext uri="{BB962C8B-B14F-4D97-AF65-F5344CB8AC3E}">
        <p14:creationId xmlns:p14="http://schemas.microsoft.com/office/powerpoint/2010/main" val="407496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21" grpId="0"/>
      <p:bldP spid="26" grpId="0"/>
      <p:bldP spid="27" grpId="0"/>
      <p:bldP spid="28" grpId="0"/>
      <p:bldP spid="29" grpId="0"/>
      <p:bldP spid="30" grpId="0"/>
      <p:bldP spid="3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9769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A group of researchers are interested in whether the IQs of students studying different degrees differ. They take a sample of 1,000 Art, Biology, Chemistry, Philosophy and Statistics students and make them sit an IQ test. The data pertaining to these tests is contained in the csv file entitled ‘IQ Tests (All Subjects)’. </a:t>
            </a:r>
            <a:endParaRPr lang="en-US" altLang="ja-JP" sz="1800" dirty="0">
              <a:solidFill>
                <a:srgbClr val="0070C0"/>
              </a:solidFill>
            </a:endParaRPr>
          </a:p>
        </p:txBody>
      </p:sp>
      <p:graphicFrame>
        <p:nvGraphicFramePr>
          <p:cNvPr id="6" name="Table 5">
            <a:extLst>
              <a:ext uri="{FF2B5EF4-FFF2-40B4-BE49-F238E27FC236}">
                <a16:creationId xmlns:a16="http://schemas.microsoft.com/office/drawing/2014/main" id="{28393A69-0B7A-48CE-AB17-94E0C54FF37F}"/>
              </a:ext>
            </a:extLst>
          </p:cNvPr>
          <p:cNvGraphicFramePr>
            <a:graphicFrameLocks noGrp="1"/>
          </p:cNvGraphicFramePr>
          <p:nvPr/>
        </p:nvGraphicFramePr>
        <p:xfrm>
          <a:off x="532263" y="2003698"/>
          <a:ext cx="5112130" cy="4457700"/>
        </p:xfrm>
        <a:graphic>
          <a:graphicData uri="http://schemas.openxmlformats.org/drawingml/2006/table">
            <a:tbl>
              <a:tblPr/>
              <a:tblGrid>
                <a:gridCol w="839953">
                  <a:extLst>
                    <a:ext uri="{9D8B030D-6E8A-4147-A177-3AD203B41FA5}">
                      <a16:colId xmlns:a16="http://schemas.microsoft.com/office/drawing/2014/main" val="2290176556"/>
                    </a:ext>
                  </a:extLst>
                </a:gridCol>
                <a:gridCol w="696463">
                  <a:extLst>
                    <a:ext uri="{9D8B030D-6E8A-4147-A177-3AD203B41FA5}">
                      <a16:colId xmlns:a16="http://schemas.microsoft.com/office/drawing/2014/main" val="2815517956"/>
                    </a:ext>
                  </a:extLst>
                </a:gridCol>
                <a:gridCol w="887105">
                  <a:extLst>
                    <a:ext uri="{9D8B030D-6E8A-4147-A177-3AD203B41FA5}">
                      <a16:colId xmlns:a16="http://schemas.microsoft.com/office/drawing/2014/main" val="1903702345"/>
                    </a:ext>
                  </a:extLst>
                </a:gridCol>
                <a:gridCol w="968991">
                  <a:extLst>
                    <a:ext uri="{9D8B030D-6E8A-4147-A177-3AD203B41FA5}">
                      <a16:colId xmlns:a16="http://schemas.microsoft.com/office/drawing/2014/main" val="810638113"/>
                    </a:ext>
                  </a:extLst>
                </a:gridCol>
                <a:gridCol w="928048">
                  <a:extLst>
                    <a:ext uri="{9D8B030D-6E8A-4147-A177-3AD203B41FA5}">
                      <a16:colId xmlns:a16="http://schemas.microsoft.com/office/drawing/2014/main" val="857308638"/>
                    </a:ext>
                  </a:extLst>
                </a:gridCol>
                <a:gridCol w="791570">
                  <a:extLst>
                    <a:ext uri="{9D8B030D-6E8A-4147-A177-3AD203B41FA5}">
                      <a16:colId xmlns:a16="http://schemas.microsoft.com/office/drawing/2014/main" val="4138880677"/>
                    </a:ext>
                  </a:extLst>
                </a:gridCol>
              </a:tblGrid>
              <a:tr h="201578">
                <a:tc>
                  <a:txBody>
                    <a:bodyPr/>
                    <a:lstStyle/>
                    <a:p>
                      <a:pPr algn="ctr" fontAlgn="b"/>
                      <a:r>
                        <a:rPr lang="en-NZ" sz="1400" b="1" i="0" u="none" strike="noStrike">
                          <a:solidFill>
                            <a:srgbClr val="FFFFFF"/>
                          </a:solidFill>
                          <a:effectLst/>
                          <a:latin typeface="Calibri" panose="020F0502020204030204" pitchFamily="34" charset="0"/>
                        </a:rPr>
                        <a:t>Student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Art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400" b="1" i="0" u="none" strike="noStrike">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273914221"/>
                  </a:ext>
                </a:extLst>
              </a:tr>
              <a:tr h="201578">
                <a:tc>
                  <a:txBody>
                    <a:bodyPr/>
                    <a:lstStyle/>
                    <a:p>
                      <a:pPr algn="ctr" fontAlgn="b"/>
                      <a:r>
                        <a:rPr lang="en-NZ" sz="14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90940709"/>
                  </a:ext>
                </a:extLst>
              </a:tr>
              <a:tr h="201578">
                <a:tc>
                  <a:txBody>
                    <a:bodyPr/>
                    <a:lstStyle/>
                    <a:p>
                      <a:pPr algn="ctr" fontAlgn="b"/>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11734305"/>
                  </a:ext>
                </a:extLst>
              </a:tr>
              <a:tr h="201578">
                <a:tc>
                  <a:txBody>
                    <a:bodyPr/>
                    <a:lstStyle/>
                    <a:p>
                      <a:pPr algn="ctr" fontAlgn="b"/>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35157223"/>
                  </a:ext>
                </a:extLst>
              </a:tr>
              <a:tr h="201578">
                <a:tc>
                  <a:txBody>
                    <a:bodyPr/>
                    <a:lstStyle/>
                    <a:p>
                      <a:pPr algn="ctr" fontAlgn="b"/>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70711240"/>
                  </a:ext>
                </a:extLst>
              </a:tr>
              <a:tr h="201578">
                <a:tc>
                  <a:txBody>
                    <a:bodyPr/>
                    <a:lstStyle/>
                    <a:p>
                      <a:pPr algn="ctr" fontAlgn="b"/>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69988802"/>
                  </a:ext>
                </a:extLst>
              </a:tr>
              <a:tr h="201578">
                <a:tc>
                  <a:txBody>
                    <a:bodyPr/>
                    <a:lstStyle/>
                    <a:p>
                      <a:pPr algn="ctr" fontAlgn="b"/>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691709888"/>
                  </a:ext>
                </a:extLst>
              </a:tr>
              <a:tr h="201578">
                <a:tc>
                  <a:txBody>
                    <a:bodyPr/>
                    <a:lstStyle/>
                    <a:p>
                      <a:pPr algn="ctr" fontAlgn="b"/>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32494788"/>
                  </a:ext>
                </a:extLst>
              </a:tr>
              <a:tr h="201578">
                <a:tc>
                  <a:txBody>
                    <a:bodyPr/>
                    <a:lstStyle/>
                    <a:p>
                      <a:pPr algn="ctr" fontAlgn="b"/>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7758159"/>
                  </a:ext>
                </a:extLst>
              </a:tr>
              <a:tr h="201578">
                <a:tc>
                  <a:txBody>
                    <a:bodyPr/>
                    <a:lstStyle/>
                    <a:p>
                      <a:pPr algn="ctr" fontAlgn="b"/>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880423"/>
                  </a:ext>
                </a:extLst>
              </a:tr>
              <a:tr h="201578">
                <a:tc>
                  <a:txBody>
                    <a:bodyPr/>
                    <a:lstStyle/>
                    <a:p>
                      <a:pPr algn="ctr" fontAlgn="b"/>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32983865"/>
                  </a:ext>
                </a:extLst>
              </a:tr>
              <a:tr h="201578">
                <a:tc>
                  <a:txBody>
                    <a:bodyPr/>
                    <a:lstStyle/>
                    <a:p>
                      <a:pPr algn="ctr" fontAlgn="b"/>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2414132"/>
                  </a:ext>
                </a:extLst>
              </a:tr>
              <a:tr h="201578">
                <a:tc>
                  <a:txBody>
                    <a:bodyPr/>
                    <a:lstStyle/>
                    <a:p>
                      <a:pPr algn="ctr" fontAlgn="b"/>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42805783"/>
                  </a:ext>
                </a:extLst>
              </a:tr>
              <a:tr h="201578">
                <a:tc>
                  <a:txBody>
                    <a:bodyPr/>
                    <a:lstStyle/>
                    <a:p>
                      <a:pPr algn="ctr" fontAlgn="b"/>
                      <a:r>
                        <a:rPr lang="en-NZ" sz="14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207454382"/>
                  </a:ext>
                </a:extLst>
              </a:tr>
              <a:tr h="201578">
                <a:tc>
                  <a:txBody>
                    <a:bodyPr/>
                    <a:lstStyle/>
                    <a:p>
                      <a:pPr algn="ctr" fontAlgn="b"/>
                      <a:r>
                        <a:rPr lang="en-NZ" sz="14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33894883"/>
                  </a:ext>
                </a:extLst>
              </a:tr>
              <a:tr h="201578">
                <a:tc>
                  <a:txBody>
                    <a:bodyPr/>
                    <a:lstStyle/>
                    <a:p>
                      <a:pPr algn="ctr" fontAlgn="b"/>
                      <a:r>
                        <a:rPr lang="en-NZ" sz="14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582969852"/>
                  </a:ext>
                </a:extLst>
              </a:tr>
              <a:tr h="201578">
                <a:tc>
                  <a:txBody>
                    <a:bodyPr/>
                    <a:lstStyle/>
                    <a:p>
                      <a:pPr algn="ctr" fontAlgn="b"/>
                      <a:r>
                        <a:rPr lang="en-NZ" sz="1400" b="0" i="0" u="none" strike="noStrike">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054645854"/>
                  </a:ext>
                </a:extLst>
              </a:tr>
              <a:tr h="201578">
                <a:tc>
                  <a:txBody>
                    <a:bodyPr/>
                    <a:lstStyle/>
                    <a:p>
                      <a:pPr algn="ctr" fontAlgn="b"/>
                      <a:r>
                        <a:rPr lang="en-NZ" sz="14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206710553"/>
                  </a:ext>
                </a:extLst>
              </a:tr>
              <a:tr h="201578">
                <a:tc>
                  <a:txBody>
                    <a:bodyPr/>
                    <a:lstStyle/>
                    <a:p>
                      <a:pPr algn="ctr" fontAlgn="b"/>
                      <a:r>
                        <a:rPr lang="en-NZ" sz="14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9914487"/>
                  </a:ext>
                </a:extLst>
              </a:tr>
              <a:tr h="201578">
                <a:tc>
                  <a:txBody>
                    <a:bodyPr/>
                    <a:lstStyle/>
                    <a:p>
                      <a:pPr algn="ctr" fontAlgn="b"/>
                      <a:r>
                        <a:rPr lang="en-NZ" sz="1400" b="0" i="0" u="none" strike="noStrike">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374082989"/>
                  </a:ext>
                </a:extLst>
              </a:tr>
            </a:tbl>
          </a:graphicData>
        </a:graphic>
      </p:graphicFrame>
      <p:sp>
        <p:nvSpPr>
          <p:cNvPr id="16" name="Text Placeholder 5">
            <a:extLst>
              <a:ext uri="{FF2B5EF4-FFF2-40B4-BE49-F238E27FC236}">
                <a16:creationId xmlns:a16="http://schemas.microsoft.com/office/drawing/2014/main" id="{FA4ED09E-B65D-4B75-AD86-D0367FBE8184}"/>
              </a:ext>
            </a:extLst>
          </p:cNvPr>
          <p:cNvSpPr txBox="1">
            <a:spLocks/>
          </p:cNvSpPr>
          <p:nvPr/>
        </p:nvSpPr>
        <p:spPr>
          <a:xfrm>
            <a:off x="5883322" y="2062037"/>
            <a:ext cx="5405650" cy="4371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A snapshot of the results is shown adjacent.</a:t>
            </a:r>
            <a:endParaRPr lang="en-US" altLang="ja-JP" sz="1800" dirty="0">
              <a:solidFill>
                <a:srgbClr val="0070C0"/>
              </a:solidFill>
            </a:endParaRP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40</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2" name="Text Placeholder 5">
            <a:extLst>
              <a:ext uri="{FF2B5EF4-FFF2-40B4-BE49-F238E27FC236}">
                <a16:creationId xmlns:a16="http://schemas.microsoft.com/office/drawing/2014/main" id="{74B00F12-81CA-4C21-8561-E5E7397B758E}"/>
              </a:ext>
            </a:extLst>
          </p:cNvPr>
          <p:cNvSpPr txBox="1">
            <a:spLocks/>
          </p:cNvSpPr>
          <p:nvPr/>
        </p:nvSpPr>
        <p:spPr>
          <a:xfrm>
            <a:off x="5883322" y="2653096"/>
            <a:ext cx="5405650"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Do students studying different degrees have different mean IQs?</a:t>
            </a:r>
            <a:endParaRPr lang="en-US" altLang="ja-JP" sz="1800" dirty="0">
              <a:solidFill>
                <a:srgbClr val="0070C0"/>
              </a:solidFill>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itle 6">
            <a:extLst>
              <a:ext uri="{FF2B5EF4-FFF2-40B4-BE49-F238E27FC236}">
                <a16:creationId xmlns:a16="http://schemas.microsoft.com/office/drawing/2014/main" id="{A8A653B6-A995-4BBE-877F-1AE03CF0250B}"/>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Tree>
    <p:extLst>
      <p:ext uri="{BB962C8B-B14F-4D97-AF65-F5344CB8AC3E}">
        <p14:creationId xmlns:p14="http://schemas.microsoft.com/office/powerpoint/2010/main" val="38314534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41</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960486"/>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1:</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960486"/>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Read in the data and obtain numeric and graphical summaries</a:t>
            </a:r>
            <a:endParaRPr lang="ja-JP" altLang="en-NZ" sz="2200" dirty="0">
              <a:solidFill>
                <a:srgbClr val="0070C0"/>
              </a:solidFill>
            </a:endParaRPr>
          </a:p>
        </p:txBody>
      </p:sp>
      <p:pic>
        <p:nvPicPr>
          <p:cNvPr id="4" name="Picture 3">
            <a:extLst>
              <a:ext uri="{FF2B5EF4-FFF2-40B4-BE49-F238E27FC236}">
                <a16:creationId xmlns:a16="http://schemas.microsoft.com/office/drawing/2014/main" id="{F803569E-30D0-49FA-B1F8-B1557C3F66B5}"/>
              </a:ext>
            </a:extLst>
          </p:cNvPr>
          <p:cNvPicPr>
            <a:picLocks noChangeAspect="1"/>
          </p:cNvPicPr>
          <p:nvPr/>
        </p:nvPicPr>
        <p:blipFill>
          <a:blip r:embed="rId2"/>
          <a:stretch>
            <a:fillRect/>
          </a:stretch>
        </p:blipFill>
        <p:spPr>
          <a:xfrm>
            <a:off x="450376" y="1863908"/>
            <a:ext cx="7420257" cy="1141578"/>
          </a:xfrm>
          <a:prstGeom prst="rect">
            <a:avLst/>
          </a:prstGeom>
        </p:spPr>
      </p:pic>
      <p:pic>
        <p:nvPicPr>
          <p:cNvPr id="9" name="Picture 8">
            <a:extLst>
              <a:ext uri="{FF2B5EF4-FFF2-40B4-BE49-F238E27FC236}">
                <a16:creationId xmlns:a16="http://schemas.microsoft.com/office/drawing/2014/main" id="{A32FC57E-C19B-47FA-8D85-B6C706C8E0A8}"/>
              </a:ext>
            </a:extLst>
          </p:cNvPr>
          <p:cNvPicPr>
            <a:picLocks noChangeAspect="1"/>
          </p:cNvPicPr>
          <p:nvPr/>
        </p:nvPicPr>
        <p:blipFill>
          <a:blip r:embed="rId3"/>
          <a:stretch>
            <a:fillRect/>
          </a:stretch>
        </p:blipFill>
        <p:spPr>
          <a:xfrm>
            <a:off x="450376" y="3190875"/>
            <a:ext cx="7153900" cy="548612"/>
          </a:xfrm>
          <a:prstGeom prst="rect">
            <a:avLst/>
          </a:prstGeom>
        </p:spPr>
      </p:pic>
      <p:pic>
        <p:nvPicPr>
          <p:cNvPr id="19" name="Picture 18">
            <a:extLst>
              <a:ext uri="{FF2B5EF4-FFF2-40B4-BE49-F238E27FC236}">
                <a16:creationId xmlns:a16="http://schemas.microsoft.com/office/drawing/2014/main" id="{0055BEE5-5C87-4014-88A9-DCEDB0A62852}"/>
              </a:ext>
            </a:extLst>
          </p:cNvPr>
          <p:cNvPicPr>
            <a:picLocks noChangeAspect="1"/>
          </p:cNvPicPr>
          <p:nvPr/>
        </p:nvPicPr>
        <p:blipFill>
          <a:blip r:embed="rId4"/>
          <a:stretch>
            <a:fillRect/>
          </a:stretch>
        </p:blipFill>
        <p:spPr>
          <a:xfrm>
            <a:off x="875091" y="3824334"/>
            <a:ext cx="6158722" cy="535541"/>
          </a:xfrm>
          <a:prstGeom prst="rect">
            <a:avLst/>
          </a:prstGeom>
        </p:spPr>
      </p:pic>
      <p:pic>
        <p:nvPicPr>
          <p:cNvPr id="21" name="Picture 20">
            <a:extLst>
              <a:ext uri="{FF2B5EF4-FFF2-40B4-BE49-F238E27FC236}">
                <a16:creationId xmlns:a16="http://schemas.microsoft.com/office/drawing/2014/main" id="{545F05B8-AE27-409B-BE51-67A44094EEE8}"/>
              </a:ext>
            </a:extLst>
          </p:cNvPr>
          <p:cNvPicPr>
            <a:picLocks noChangeAspect="1"/>
          </p:cNvPicPr>
          <p:nvPr/>
        </p:nvPicPr>
        <p:blipFill>
          <a:blip r:embed="rId5"/>
          <a:stretch>
            <a:fillRect/>
          </a:stretch>
        </p:blipFill>
        <p:spPr>
          <a:xfrm>
            <a:off x="450376" y="4537719"/>
            <a:ext cx="6697380" cy="566974"/>
          </a:xfrm>
          <a:prstGeom prst="rect">
            <a:avLst/>
          </a:prstGeom>
        </p:spPr>
      </p:pic>
      <p:pic>
        <p:nvPicPr>
          <p:cNvPr id="23" name="Picture 22">
            <a:extLst>
              <a:ext uri="{FF2B5EF4-FFF2-40B4-BE49-F238E27FC236}">
                <a16:creationId xmlns:a16="http://schemas.microsoft.com/office/drawing/2014/main" id="{374ECB54-B991-4D9B-91AE-1F001C509618}"/>
              </a:ext>
            </a:extLst>
          </p:cNvPr>
          <p:cNvPicPr>
            <a:picLocks noChangeAspect="1"/>
          </p:cNvPicPr>
          <p:nvPr/>
        </p:nvPicPr>
        <p:blipFill>
          <a:blip r:embed="rId6"/>
          <a:stretch>
            <a:fillRect/>
          </a:stretch>
        </p:blipFill>
        <p:spPr>
          <a:xfrm>
            <a:off x="481738" y="5407625"/>
            <a:ext cx="6738256" cy="566973"/>
          </a:xfrm>
          <a:prstGeom prst="rect">
            <a:avLst/>
          </a:prstGeom>
        </p:spPr>
      </p:pic>
      <p:sp>
        <p:nvSpPr>
          <p:cNvPr id="27" name="Title 6">
            <a:extLst>
              <a:ext uri="{FF2B5EF4-FFF2-40B4-BE49-F238E27FC236}">
                <a16:creationId xmlns:a16="http://schemas.microsoft.com/office/drawing/2014/main" id="{20C78B7D-6AAF-4C0F-968D-778B2A54D97A}"/>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Tree>
    <p:extLst>
      <p:ext uri="{BB962C8B-B14F-4D97-AF65-F5344CB8AC3E}">
        <p14:creationId xmlns:p14="http://schemas.microsoft.com/office/powerpoint/2010/main" val="11357087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42</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960486"/>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1:</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960486"/>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Read in the data and obtain numeric and graphical summaries</a:t>
            </a:r>
            <a:endParaRPr lang="ja-JP" altLang="en-NZ" sz="2200" dirty="0">
              <a:solidFill>
                <a:srgbClr val="0070C0"/>
              </a:solidFill>
            </a:endParaRPr>
          </a:p>
        </p:txBody>
      </p:sp>
      <p:pic>
        <p:nvPicPr>
          <p:cNvPr id="3" name="Picture 2">
            <a:extLst>
              <a:ext uri="{FF2B5EF4-FFF2-40B4-BE49-F238E27FC236}">
                <a16:creationId xmlns:a16="http://schemas.microsoft.com/office/drawing/2014/main" id="{DD7E263E-FAC8-4E67-9A41-9D8C957FFF6C}"/>
              </a:ext>
            </a:extLst>
          </p:cNvPr>
          <p:cNvPicPr>
            <a:picLocks noChangeAspect="1"/>
          </p:cNvPicPr>
          <p:nvPr/>
        </p:nvPicPr>
        <p:blipFill>
          <a:blip r:embed="rId2"/>
          <a:stretch>
            <a:fillRect/>
          </a:stretch>
        </p:blipFill>
        <p:spPr>
          <a:xfrm>
            <a:off x="409433" y="1431246"/>
            <a:ext cx="6168789" cy="4394206"/>
          </a:xfrm>
          <a:prstGeom prst="rect">
            <a:avLst/>
          </a:prstGeom>
        </p:spPr>
      </p:pic>
      <p:graphicFrame>
        <p:nvGraphicFramePr>
          <p:cNvPr id="6" name="Table 5">
            <a:extLst>
              <a:ext uri="{FF2B5EF4-FFF2-40B4-BE49-F238E27FC236}">
                <a16:creationId xmlns:a16="http://schemas.microsoft.com/office/drawing/2014/main" id="{1D7DCDD7-65FC-4DED-AADC-F0B96E5BA599}"/>
              </a:ext>
            </a:extLst>
          </p:cNvPr>
          <p:cNvGraphicFramePr>
            <a:graphicFrameLocks noGrp="1"/>
          </p:cNvGraphicFramePr>
          <p:nvPr>
            <p:extLst>
              <p:ext uri="{D42A27DB-BD31-4B8C-83A1-F6EECF244321}">
                <p14:modId xmlns:p14="http://schemas.microsoft.com/office/powerpoint/2010/main" val="4001231714"/>
              </p:ext>
            </p:extLst>
          </p:nvPr>
        </p:nvGraphicFramePr>
        <p:xfrm>
          <a:off x="6598832" y="2096267"/>
          <a:ext cx="5163125" cy="3064163"/>
        </p:xfrm>
        <a:graphic>
          <a:graphicData uri="http://schemas.openxmlformats.org/drawingml/2006/table">
            <a:tbl>
              <a:tblPr/>
              <a:tblGrid>
                <a:gridCol w="866135">
                  <a:extLst>
                    <a:ext uri="{9D8B030D-6E8A-4147-A177-3AD203B41FA5}">
                      <a16:colId xmlns:a16="http://schemas.microsoft.com/office/drawing/2014/main" val="754517029"/>
                    </a:ext>
                  </a:extLst>
                </a:gridCol>
                <a:gridCol w="635104">
                  <a:extLst>
                    <a:ext uri="{9D8B030D-6E8A-4147-A177-3AD203B41FA5}">
                      <a16:colId xmlns:a16="http://schemas.microsoft.com/office/drawing/2014/main" val="581536964"/>
                    </a:ext>
                  </a:extLst>
                </a:gridCol>
                <a:gridCol w="709365">
                  <a:extLst>
                    <a:ext uri="{9D8B030D-6E8A-4147-A177-3AD203B41FA5}">
                      <a16:colId xmlns:a16="http://schemas.microsoft.com/office/drawing/2014/main" val="945585838"/>
                    </a:ext>
                  </a:extLst>
                </a:gridCol>
                <a:gridCol w="950788">
                  <a:extLst>
                    <a:ext uri="{9D8B030D-6E8A-4147-A177-3AD203B41FA5}">
                      <a16:colId xmlns:a16="http://schemas.microsoft.com/office/drawing/2014/main" val="4076170757"/>
                    </a:ext>
                  </a:extLst>
                </a:gridCol>
                <a:gridCol w="1097102">
                  <a:extLst>
                    <a:ext uri="{9D8B030D-6E8A-4147-A177-3AD203B41FA5}">
                      <a16:colId xmlns:a16="http://schemas.microsoft.com/office/drawing/2014/main" val="1415417441"/>
                    </a:ext>
                  </a:extLst>
                </a:gridCol>
                <a:gridCol w="904631">
                  <a:extLst>
                    <a:ext uri="{9D8B030D-6E8A-4147-A177-3AD203B41FA5}">
                      <a16:colId xmlns:a16="http://schemas.microsoft.com/office/drawing/2014/main" val="2202165634"/>
                    </a:ext>
                  </a:extLst>
                </a:gridCol>
              </a:tblGrid>
              <a:tr h="552311">
                <a:tc>
                  <a:txBody>
                    <a:bodyPr/>
                    <a:lstStyle/>
                    <a:p>
                      <a:pPr algn="ctr" fontAlgn="ctr"/>
                      <a:r>
                        <a:rPr lang="en-NZ" sz="1600" b="0" i="0" u="none" strike="noStrike">
                          <a:solidFill>
                            <a:srgbClr val="000000"/>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Art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dirty="0">
                          <a:solidFill>
                            <a:srgbClr val="FFFFFF"/>
                          </a:solidFill>
                          <a:effectLst/>
                          <a:latin typeface="Calibri" panose="020F0502020204030204" pitchFamily="34" charset="0"/>
                        </a:rPr>
                        <a:t>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994783304"/>
                  </a:ext>
                </a:extLst>
              </a:tr>
              <a:tr h="281446">
                <a:tc>
                  <a:txBody>
                    <a:bodyPr/>
                    <a:lstStyle/>
                    <a:p>
                      <a:pPr algn="ctr" fontAlgn="ctr"/>
                      <a:r>
                        <a:rPr lang="en-NZ" sz="1600" b="1" i="0" u="none" strike="noStrike" dirty="0">
                          <a:solidFill>
                            <a:srgbClr val="FFFFFF"/>
                          </a:solidFill>
                          <a:effectLst/>
                          <a:latin typeface="Calibri" panose="020F0502020204030204" pitchFamily="34" charset="0"/>
                        </a:rPr>
                        <a:t>Min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0405788"/>
                  </a:ext>
                </a:extLst>
              </a:tr>
              <a:tr h="281446">
                <a:tc>
                  <a:txBody>
                    <a:bodyPr/>
                    <a:lstStyle/>
                    <a:p>
                      <a:pPr algn="ctr" fontAlgn="ctr"/>
                      <a:r>
                        <a:rPr lang="en-NZ" sz="1600" b="1" i="0" u="none" strike="noStrike" dirty="0">
                          <a:solidFill>
                            <a:srgbClr val="FFFFFF"/>
                          </a:solidFill>
                          <a:effectLst/>
                          <a:latin typeface="Calibri" panose="020F0502020204030204" pitchFamily="34" charset="0"/>
                        </a:rPr>
                        <a:t>1st Qu.</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62354270"/>
                  </a:ext>
                </a:extLst>
              </a:tr>
              <a:tr h="552311">
                <a:tc>
                  <a:txBody>
                    <a:bodyPr/>
                    <a:lstStyle/>
                    <a:p>
                      <a:pPr algn="ctr" fontAlgn="ctr"/>
                      <a:r>
                        <a:rPr lang="en-NZ" sz="1600" b="1" i="0" u="none" strike="noStrike" dirty="0">
                          <a:solidFill>
                            <a:srgbClr val="FFFFFF"/>
                          </a:solidFill>
                          <a:effectLst/>
                          <a:latin typeface="Calibri" panose="020F0502020204030204" pitchFamily="34" charset="0"/>
                        </a:rPr>
                        <a:t>Median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66764878"/>
                  </a:ext>
                </a:extLst>
              </a:tr>
              <a:tr h="281446">
                <a:tc>
                  <a:txBody>
                    <a:bodyPr/>
                    <a:lstStyle/>
                    <a:p>
                      <a:pPr algn="ctr" fontAlgn="ctr"/>
                      <a:r>
                        <a:rPr lang="en-NZ" sz="1600" b="1" i="0" u="none" strike="noStrike" dirty="0">
                          <a:solidFill>
                            <a:srgbClr val="FFFFFF"/>
                          </a:solidFill>
                          <a:effectLst/>
                          <a:latin typeface="Calibri" panose="020F0502020204030204" pitchFamily="34" charset="0"/>
                        </a:rPr>
                        <a:t>Mean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C00000"/>
                          </a:solidFill>
                          <a:effectLst/>
                          <a:latin typeface="Calibri" panose="020F0502020204030204" pitchFamily="34" charset="0"/>
                        </a:rPr>
                        <a:t>98.4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99.15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99.86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101.3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102.0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31403905"/>
                  </a:ext>
                </a:extLst>
              </a:tr>
              <a:tr h="552311">
                <a:tc>
                  <a:txBody>
                    <a:bodyPr/>
                    <a:lstStyle/>
                    <a:p>
                      <a:pPr algn="ctr" fontAlgn="ctr"/>
                      <a:r>
                        <a:rPr lang="en-NZ" sz="1600" b="1" i="0" u="none" strike="noStrike" dirty="0">
                          <a:solidFill>
                            <a:srgbClr val="FFFFFF"/>
                          </a:solidFill>
                          <a:effectLst/>
                          <a:latin typeface="Calibri" panose="020F0502020204030204" pitchFamily="34" charset="0"/>
                        </a:rPr>
                        <a:t>3rd Qu.</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105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109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44368842"/>
                  </a:ext>
                </a:extLst>
              </a:tr>
              <a:tr h="281446">
                <a:tc>
                  <a:txBody>
                    <a:bodyPr/>
                    <a:lstStyle/>
                    <a:p>
                      <a:pPr algn="ctr" fontAlgn="ctr"/>
                      <a:r>
                        <a:rPr lang="en-NZ" sz="1600" b="1" i="0" u="none" strike="noStrike" dirty="0">
                          <a:solidFill>
                            <a:srgbClr val="FFFFFF"/>
                          </a:solidFill>
                          <a:effectLst/>
                          <a:latin typeface="Calibri" panose="020F0502020204030204" pitchFamily="34" charset="0"/>
                        </a:rPr>
                        <a:t>Max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a:solidFill>
                            <a:srgbClr val="000000"/>
                          </a:solidFill>
                          <a:effectLst/>
                          <a:latin typeface="Calibri" panose="020F0502020204030204" pitchFamily="34" charset="0"/>
                        </a:rPr>
                        <a:t>128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132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134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40949073"/>
                  </a:ext>
                </a:extLst>
              </a:tr>
              <a:tr h="281446">
                <a:tc>
                  <a:txBody>
                    <a:bodyPr/>
                    <a:lstStyle/>
                    <a:p>
                      <a:pPr algn="ctr" fontAlgn="ctr"/>
                      <a:r>
                        <a:rPr lang="en-NZ" sz="1600" b="1" i="0" u="none" strike="noStrike" dirty="0">
                          <a:solidFill>
                            <a:schemeClr val="bg1"/>
                          </a:solidFill>
                          <a:effectLst/>
                          <a:latin typeface="Calibri" panose="020F0502020204030204" pitchFamily="34" charset="0"/>
                        </a:rPr>
                        <a:t>S.D.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0" i="0" u="none" strike="noStrike" dirty="0">
                          <a:solidFill>
                            <a:srgbClr val="C00000"/>
                          </a:solidFill>
                          <a:effectLst/>
                          <a:latin typeface="Calibri" panose="020F0502020204030204" pitchFamily="34" charset="0"/>
                        </a:rPr>
                        <a:t>10.18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9.60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10.01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10.15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C00000"/>
                          </a:solidFill>
                          <a:effectLst/>
                          <a:latin typeface="Calibri" panose="020F0502020204030204" pitchFamily="34" charset="0"/>
                        </a:rPr>
                        <a:t>9.86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93658028"/>
                  </a:ext>
                </a:extLst>
              </a:tr>
            </a:tbl>
          </a:graphicData>
        </a:graphic>
      </p:graphicFrame>
      <p:sp>
        <p:nvSpPr>
          <p:cNvPr id="17" name="Title 6">
            <a:extLst>
              <a:ext uri="{FF2B5EF4-FFF2-40B4-BE49-F238E27FC236}">
                <a16:creationId xmlns:a16="http://schemas.microsoft.com/office/drawing/2014/main" id="{E6940BEB-EFA3-4128-B623-80DF49CCF084}"/>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Tree>
    <p:extLst>
      <p:ext uri="{BB962C8B-B14F-4D97-AF65-F5344CB8AC3E}">
        <p14:creationId xmlns:p14="http://schemas.microsoft.com/office/powerpoint/2010/main" val="1715779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43</a:t>
            </a:fld>
            <a:endParaRPr kumimoji="1" lang="ja-JP" altLang="en-US" dirty="0">
              <a:solidFill>
                <a:srgbClr val="575454">
                  <a:lumMod val="20000"/>
                  <a:lumOff val="80000"/>
                </a:srgbClr>
              </a:solidFill>
              <a:latin typeface="Coo Hew"/>
            </a:endParaRPr>
          </a:p>
        </p:txBody>
      </p:sp>
      <p:sp>
        <p:nvSpPr>
          <p:cNvPr id="10" name="Title 6">
            <a:extLst>
              <a:ext uri="{FF2B5EF4-FFF2-40B4-BE49-F238E27FC236}">
                <a16:creationId xmlns:a16="http://schemas.microsoft.com/office/drawing/2014/main" id="{6C3BAE98-AF00-4622-A76B-31ADCAC732AA}"/>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960486"/>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2:</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960486"/>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Fit the model and conduct hypothesis tests</a:t>
            </a:r>
          </a:p>
        </p:txBody>
      </p:sp>
      <p:sp>
        <p:nvSpPr>
          <p:cNvPr id="16" name="Text Placeholder 5">
            <a:extLst>
              <a:ext uri="{FF2B5EF4-FFF2-40B4-BE49-F238E27FC236}">
                <a16:creationId xmlns:a16="http://schemas.microsoft.com/office/drawing/2014/main" id="{74B69715-32C3-4ABB-AF91-43077C59567A}"/>
              </a:ext>
            </a:extLst>
          </p:cNvPr>
          <p:cNvSpPr txBox="1">
            <a:spLocks/>
          </p:cNvSpPr>
          <p:nvPr/>
        </p:nvSpPr>
        <p:spPr>
          <a:xfrm>
            <a:off x="374054" y="2941191"/>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However, by default, R fits the model…</a:t>
            </a:r>
            <a:endParaRPr lang="en-NZ" altLang="ja-JP" sz="2200" i="1" dirty="0">
              <a:solidFill>
                <a:srgbClr val="C00000"/>
              </a:solidFill>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7BFAD77-CAFF-4153-AD0D-18CC7252E65B}"/>
                  </a:ext>
                </a:extLst>
              </p:cNvPr>
              <p:cNvSpPr txBox="1">
                <a:spLocks/>
              </p:cNvSpPr>
              <p:nvPr/>
            </p:nvSpPr>
            <p:spPr>
              <a:xfrm>
                <a:off x="1148687" y="3403692"/>
                <a:ext cx="989462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m:t>
                        </m:r>
                        <m:r>
                          <a:rPr lang="en-NZ" altLang="ja-JP" sz="2200" b="1" i="1" smtClean="0">
                            <a:solidFill>
                              <a:srgbClr val="C00000"/>
                            </a:solidFill>
                            <a:latin typeface="Cambria Math" panose="02040503050406030204" pitchFamily="18" charset="0"/>
                          </a:rPr>
                          <m:t>,</m:t>
                        </m:r>
                        <m:r>
                          <a:rPr lang="en-NZ" altLang="ja-JP" sz="2200" b="1" i="1" smtClean="0">
                            <a:solidFill>
                              <a:srgbClr val="C00000"/>
                            </a:solidFill>
                            <a:latin typeface="Cambria Math" panose="02040503050406030204" pitchFamily="18" charset="0"/>
                          </a:rPr>
                          <m:t>𝒋</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0070C0"/>
                            </a:solidFill>
                            <a:latin typeface="Cambria Math" panose="02040503050406030204" pitchFamily="18" charset="0"/>
                          </a:rPr>
                        </m:ctrlPr>
                      </m:sSubPr>
                      <m:e>
                        <m:r>
                          <a:rPr lang="en-NZ" altLang="ja-JP" sz="2200" b="1" i="1" smtClean="0">
                            <a:solidFill>
                              <a:srgbClr val="0070C0"/>
                            </a:solidFill>
                            <a:latin typeface="Cambria Math" panose="02040503050406030204" pitchFamily="18" charset="0"/>
                          </a:rPr>
                          <m:t>𝝁</m:t>
                        </m:r>
                      </m:e>
                      <m:sub>
                        <m:r>
                          <a:rPr lang="en-NZ" altLang="ja-JP" sz="2200" b="1" i="1" smtClean="0">
                            <a:solidFill>
                              <a:srgbClr val="0070C0"/>
                            </a:solidFill>
                            <a:latin typeface="Cambria Math" panose="02040503050406030204" pitchFamily="18" charset="0"/>
                          </a:rPr>
                          <m:t>𝟏</m:t>
                        </m:r>
                      </m:sub>
                    </m:sSub>
                    <m:r>
                      <a:rPr lang="en-NZ" altLang="ja-JP" sz="2200" b="1" i="1" smtClean="0">
                        <a:solidFill>
                          <a:srgbClr val="0070C0"/>
                        </a:solidFill>
                        <a:latin typeface="Cambria Math" panose="02040503050406030204" pitchFamily="18" charset="0"/>
                      </a:rPr>
                      <m:t>  </m:t>
                    </m:r>
                    <m:r>
                      <a:rPr lang="en-NZ" altLang="ja-JP" sz="2200" b="1" i="1" smtClean="0">
                        <a:solidFill>
                          <a:srgbClr val="C00000"/>
                        </a:solidFill>
                        <a:latin typeface="Cambria Math" panose="02040503050406030204" pitchFamily="18" charset="0"/>
                      </a:rPr>
                      <m:t>+   </m:t>
                    </m:r>
                    <m:r>
                      <a:rPr lang="en-NZ" altLang="ja-JP" sz="2200" b="1" i="1">
                        <a:solidFill>
                          <a:srgbClr val="C00000"/>
                        </a:solidFill>
                        <a:latin typeface="Cambria Math" panose="02040503050406030204" pitchFamily="18" charset="0"/>
                      </a:rPr>
                      <m:t>𝝁</m:t>
                    </m:r>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𝜶</m:t>
                        </m:r>
                      </m:e>
                      <m:sub>
                        <m:r>
                          <a:rPr lang="en-NZ" altLang="ja-JP" sz="2200" b="1" i="1" smtClean="0">
                            <a:solidFill>
                              <a:srgbClr val="C00000"/>
                            </a:solidFill>
                            <a:latin typeface="Cambria Math" panose="02040503050406030204" pitchFamily="18" charset="0"/>
                          </a:rPr>
                          <m:t>𝒊</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0070C0"/>
                            </a:solidFill>
                            <a:latin typeface="Cambria Math" panose="02040503050406030204" pitchFamily="18" charset="0"/>
                          </a:rPr>
                        </m:ctrlPr>
                      </m:sSubPr>
                      <m:e>
                        <m:r>
                          <a:rPr lang="en-NZ" altLang="ja-JP" sz="2200" b="1" i="1" smtClean="0">
                            <a:solidFill>
                              <a:srgbClr val="0070C0"/>
                            </a:solidFill>
                            <a:latin typeface="Cambria Math" panose="02040503050406030204" pitchFamily="18" charset="0"/>
                          </a:rPr>
                          <m:t>𝝁</m:t>
                        </m:r>
                      </m:e>
                      <m:sub>
                        <m:r>
                          <a:rPr lang="en-NZ" altLang="ja-JP" sz="2200" b="1" i="1" smtClean="0">
                            <a:solidFill>
                              <a:srgbClr val="0070C0"/>
                            </a:solidFill>
                            <a:latin typeface="Cambria Math" panose="02040503050406030204" pitchFamily="18" charset="0"/>
                          </a:rPr>
                          <m:t>𝟏</m:t>
                        </m:r>
                      </m:sub>
                    </m:sSub>
                    <m:r>
                      <a:rPr lang="en-NZ" altLang="ja-JP" sz="2200" b="1" i="1" smtClean="0">
                        <a:solidFill>
                          <a:srgbClr val="0070C0"/>
                        </a:solidFill>
                        <a:latin typeface="Cambria Math" panose="02040503050406030204" pitchFamily="18" charset="0"/>
                      </a:rPr>
                      <m:t>  </m:t>
                    </m:r>
                    <m:r>
                      <a:rPr lang="en-NZ" altLang="ja-JP" sz="2200" b="1" i="1" smtClean="0">
                        <a:solidFill>
                          <a:srgbClr val="C00000"/>
                        </a:solidFill>
                        <a:latin typeface="Cambria Math" panose="02040503050406030204" pitchFamily="18" charset="0"/>
                      </a:rPr>
                      <m:t>+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𝝐</m:t>
                        </m:r>
                      </m:e>
                      <m:sub>
                        <m:r>
                          <a:rPr lang="en-NZ" altLang="ja-JP" sz="2200" b="1" i="1" smtClean="0">
                            <a:solidFill>
                              <a:srgbClr val="C00000"/>
                            </a:solidFill>
                            <a:latin typeface="Cambria Math" panose="02040503050406030204" pitchFamily="18" charset="0"/>
                          </a:rPr>
                          <m:t>𝒊</m:t>
                        </m:r>
                        <m:r>
                          <a:rPr lang="en-NZ" altLang="ja-JP" sz="2200" b="1" i="1" smtClean="0">
                            <a:solidFill>
                              <a:srgbClr val="C00000"/>
                            </a:solidFill>
                            <a:latin typeface="Cambria Math" panose="02040503050406030204" pitchFamily="18" charset="0"/>
                          </a:rPr>
                          <m:t>,</m:t>
                        </m:r>
                        <m:r>
                          <a:rPr lang="en-NZ" altLang="ja-JP" sz="2200" b="1" i="1" smtClean="0">
                            <a:solidFill>
                              <a:srgbClr val="C00000"/>
                            </a:solidFill>
                            <a:latin typeface="Cambria Math" panose="02040503050406030204" pitchFamily="18" charset="0"/>
                          </a:rPr>
                          <m:t>𝒋</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0070C0"/>
                            </a:solidFill>
                            <a:latin typeface="Cambria Math" panose="02040503050406030204" pitchFamily="18" charset="0"/>
                          </a:rPr>
                        </m:ctrlPr>
                      </m:sSubPr>
                      <m:e>
                        <m:r>
                          <a:rPr lang="en-NZ" altLang="ja-JP" sz="2200" b="1" i="1" smtClean="0">
                            <a:solidFill>
                              <a:srgbClr val="0070C0"/>
                            </a:solidFill>
                            <a:latin typeface="Cambria Math" panose="02040503050406030204" pitchFamily="18" charset="0"/>
                          </a:rPr>
                          <m:t>𝝁</m:t>
                        </m:r>
                      </m:e>
                      <m:sub>
                        <m:r>
                          <a:rPr lang="en-NZ" altLang="ja-JP" sz="2200" b="1" i="1" smtClean="0">
                            <a:solidFill>
                              <a:srgbClr val="0070C0"/>
                            </a:solidFill>
                            <a:latin typeface="Cambria Math" panose="02040503050406030204" pitchFamily="18" charset="0"/>
                          </a:rPr>
                          <m:t>𝟏</m:t>
                        </m:r>
                      </m:sub>
                    </m:sSub>
                    <m:r>
                      <a:rPr lang="en-NZ" altLang="ja-JP" sz="2200" b="1" i="1" smtClean="0">
                        <a:solidFill>
                          <a:srgbClr val="0070C0"/>
                        </a:solidFill>
                        <a:latin typeface="Cambria Math" panose="02040503050406030204" pitchFamily="18" charset="0"/>
                      </a:rPr>
                      <m:t>  </m:t>
                    </m:r>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𝝁</m:t>
                        </m:r>
                      </m:e>
                      <m:sub>
                        <m:r>
                          <a:rPr lang="en-NZ" altLang="ja-JP" sz="2200" b="1" i="1" smtClean="0">
                            <a:solidFill>
                              <a:srgbClr val="C00000"/>
                            </a:solidFill>
                            <a:latin typeface="Cambria Math" panose="02040503050406030204" pitchFamily="18" charset="0"/>
                          </a:rPr>
                          <m:t>𝒊</m:t>
                        </m:r>
                      </m:sub>
                    </m:sSub>
                    <m:r>
                      <a:rPr lang="en-NZ" altLang="ja-JP" sz="2200" b="1" i="1" smtClean="0">
                        <a:solidFill>
                          <a:srgbClr val="C00000"/>
                        </a:solidFill>
                        <a:latin typeface="Cambria Math" panose="02040503050406030204" pitchFamily="18" charset="0"/>
                      </a:rPr>
                      <m:t> −</m:t>
                    </m:r>
                    <m:sSub>
                      <m:sSubPr>
                        <m:ctrlPr>
                          <a:rPr lang="en-NZ" altLang="ja-JP" sz="2200" b="1" i="1" smtClean="0">
                            <a:solidFill>
                              <a:srgbClr val="0070C0"/>
                            </a:solidFill>
                            <a:latin typeface="Cambria Math" panose="02040503050406030204" pitchFamily="18" charset="0"/>
                          </a:rPr>
                        </m:ctrlPr>
                      </m:sSubPr>
                      <m:e>
                        <m:r>
                          <a:rPr lang="en-NZ" altLang="ja-JP" sz="2200" b="1" i="1" smtClean="0">
                            <a:solidFill>
                              <a:srgbClr val="0070C0"/>
                            </a:solidFill>
                            <a:latin typeface="Cambria Math" panose="02040503050406030204" pitchFamily="18" charset="0"/>
                          </a:rPr>
                          <m:t>𝝁</m:t>
                        </m:r>
                      </m:e>
                      <m:sub>
                        <m:r>
                          <a:rPr lang="en-NZ" altLang="ja-JP" sz="2200" b="1" i="1" smtClean="0">
                            <a:solidFill>
                              <a:srgbClr val="0070C0"/>
                            </a:solidFill>
                            <a:latin typeface="Cambria Math" panose="02040503050406030204" pitchFamily="18" charset="0"/>
                          </a:rPr>
                          <m:t>𝟏</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𝝐</m:t>
                        </m:r>
                      </m:e>
                      <m:sub>
                        <m:r>
                          <a:rPr lang="en-NZ" altLang="ja-JP" sz="2200" b="1" i="1" smtClean="0">
                            <a:solidFill>
                              <a:srgbClr val="C00000"/>
                            </a:solidFill>
                            <a:latin typeface="Cambria Math" panose="02040503050406030204" pitchFamily="18" charset="0"/>
                          </a:rPr>
                          <m:t>𝒊</m:t>
                        </m:r>
                        <m:r>
                          <a:rPr lang="en-NZ" altLang="ja-JP" sz="2200" b="1" i="1" smtClean="0">
                            <a:solidFill>
                              <a:srgbClr val="C00000"/>
                            </a:solidFill>
                            <a:latin typeface="Cambria Math" panose="02040503050406030204" pitchFamily="18" charset="0"/>
                          </a:rPr>
                          <m:t>,</m:t>
                        </m:r>
                        <m:r>
                          <a:rPr lang="en-NZ" altLang="ja-JP" sz="2200" b="1" i="1" smtClean="0">
                            <a:solidFill>
                              <a:srgbClr val="C00000"/>
                            </a:solidFill>
                            <a:latin typeface="Cambria Math" panose="02040503050406030204" pitchFamily="18" charset="0"/>
                          </a:rPr>
                          <m:t>𝒋</m:t>
                        </m:r>
                      </m:sub>
                    </m:sSub>
                  </m:oMath>
                </a14:m>
                <a:r>
                  <a:rPr lang="en-NZ" altLang="ja-JP" sz="2200" b="1" dirty="0">
                    <a:solidFill>
                      <a:srgbClr val="C00000"/>
                    </a:solidFill>
                  </a:rPr>
                  <a:t>  </a:t>
                </a:r>
              </a:p>
              <a:p>
                <a:pPr algn="just">
                  <a:lnSpc>
                    <a:spcPct val="100000"/>
                  </a:lnSpc>
                </a:pPr>
                <a:endParaRPr lang="en-NZ" altLang="ja-JP" sz="2200" b="1" dirty="0">
                  <a:solidFill>
                    <a:srgbClr val="C00000"/>
                  </a:solidFill>
                </a:endParaRPr>
              </a:p>
              <a:p>
                <a:pPr algn="just">
                  <a:lnSpc>
                    <a:spcPct val="100000"/>
                  </a:lnSpc>
                </a:pPr>
                <a:endParaRPr lang="en-NZ" altLang="ja-JP" sz="2200" b="1" i="1" dirty="0">
                  <a:solidFill>
                    <a:srgbClr val="C00000"/>
                  </a:solidFill>
                </a:endParaRPr>
              </a:p>
            </p:txBody>
          </p:sp>
        </mc:Choice>
        <mc:Fallback xmlns="">
          <p:sp>
            <p:nvSpPr>
              <p:cNvPr id="19" name="Text Placeholder 5">
                <a:extLst>
                  <a:ext uri="{FF2B5EF4-FFF2-40B4-BE49-F238E27FC236}">
                    <a16:creationId xmlns:a16="http://schemas.microsoft.com/office/drawing/2014/main" id="{B7BFAD77-CAFF-4153-AD0D-18CC7252E65B}"/>
                  </a:ext>
                </a:extLst>
              </p:cNvPr>
              <p:cNvSpPr txBox="1">
                <a:spLocks noRot="1" noChangeAspect="1" noMove="1" noResize="1" noEditPoints="1" noAdjustHandles="1" noChangeArrowheads="1" noChangeShapeType="1" noTextEdit="1"/>
              </p:cNvSpPr>
              <p:nvPr/>
            </p:nvSpPr>
            <p:spPr>
              <a:xfrm>
                <a:off x="1148687" y="3403692"/>
                <a:ext cx="9894627" cy="474953"/>
              </a:xfrm>
              <a:prstGeom prst="rect">
                <a:avLst/>
              </a:prstGeom>
              <a:blipFill>
                <a:blip r:embed="rId2"/>
                <a:stretch>
                  <a:fillRect b="-641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736B0C48-30F2-40E3-BF9A-F250E1515421}"/>
                  </a:ext>
                </a:extLst>
              </p:cNvPr>
              <p:cNvSpPr txBox="1">
                <a:spLocks/>
              </p:cNvSpPr>
              <p:nvPr/>
            </p:nvSpPr>
            <p:spPr>
              <a:xfrm>
                <a:off x="2097204" y="2017458"/>
                <a:ext cx="799759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𝒀</m:t>
                        </m:r>
                      </m:e>
                      <m:sub>
                        <m:r>
                          <a:rPr lang="en-NZ" altLang="ja-JP" sz="2200" b="1" i="1" smtClean="0">
                            <a:solidFill>
                              <a:srgbClr val="C00000"/>
                            </a:solidFill>
                            <a:latin typeface="Cambria Math" panose="02040503050406030204" pitchFamily="18" charset="0"/>
                          </a:rPr>
                          <m:t>𝒊</m:t>
                        </m:r>
                        <m:r>
                          <a:rPr lang="en-NZ" altLang="ja-JP" sz="2200" b="1" i="1" smtClean="0">
                            <a:solidFill>
                              <a:srgbClr val="C00000"/>
                            </a:solidFill>
                            <a:latin typeface="Cambria Math" panose="02040503050406030204" pitchFamily="18" charset="0"/>
                          </a:rPr>
                          <m:t>,</m:t>
                        </m:r>
                        <m:r>
                          <a:rPr lang="en-NZ" altLang="ja-JP" sz="2200" b="1" i="1" smtClean="0">
                            <a:solidFill>
                              <a:srgbClr val="C00000"/>
                            </a:solidFill>
                            <a:latin typeface="Cambria Math" panose="02040503050406030204" pitchFamily="18" charset="0"/>
                          </a:rPr>
                          <m:t>𝒋</m:t>
                        </m:r>
                      </m:sub>
                    </m:sSub>
                    <m:r>
                      <a:rPr lang="en-NZ" altLang="ja-JP" sz="2200" b="1" i="1" smtClean="0">
                        <a:solidFill>
                          <a:srgbClr val="C00000"/>
                        </a:solidFill>
                        <a:latin typeface="Cambria Math" panose="02040503050406030204" pitchFamily="18" charset="0"/>
                      </a:rPr>
                      <m:t>   =     </m:t>
                    </m:r>
                    <m:r>
                      <a:rPr lang="en-NZ" altLang="ja-JP" sz="2200" b="1" i="1" smtClean="0">
                        <a:solidFill>
                          <a:srgbClr val="C00000"/>
                        </a:solidFill>
                        <a:latin typeface="Cambria Math" panose="02040503050406030204" pitchFamily="18" charset="0"/>
                      </a:rPr>
                      <m:t>𝝁</m:t>
                    </m:r>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𝜶</m:t>
                        </m:r>
                      </m:e>
                      <m:sub>
                        <m:r>
                          <a:rPr lang="en-NZ" altLang="ja-JP" sz="2200" b="1" i="1" smtClean="0">
                            <a:solidFill>
                              <a:srgbClr val="C00000"/>
                            </a:solidFill>
                            <a:latin typeface="Cambria Math" panose="02040503050406030204" pitchFamily="18" charset="0"/>
                          </a:rPr>
                          <m:t>𝒊</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𝝐</m:t>
                        </m:r>
                      </m:e>
                      <m:sub>
                        <m:r>
                          <a:rPr lang="en-NZ" altLang="ja-JP" sz="2200" b="1" i="1" smtClean="0">
                            <a:solidFill>
                              <a:srgbClr val="C00000"/>
                            </a:solidFill>
                            <a:latin typeface="Cambria Math" panose="02040503050406030204" pitchFamily="18" charset="0"/>
                          </a:rPr>
                          <m:t>𝒊</m:t>
                        </m:r>
                        <m:r>
                          <a:rPr lang="en-NZ" altLang="ja-JP" sz="2200" b="1" i="1" smtClean="0">
                            <a:solidFill>
                              <a:srgbClr val="C00000"/>
                            </a:solidFill>
                            <a:latin typeface="Cambria Math" panose="02040503050406030204" pitchFamily="18" charset="0"/>
                          </a:rPr>
                          <m:t>,</m:t>
                        </m:r>
                        <m:r>
                          <a:rPr lang="en-NZ" altLang="ja-JP" sz="2200" b="1" i="1" smtClean="0">
                            <a:solidFill>
                              <a:srgbClr val="C00000"/>
                            </a:solidFill>
                            <a:latin typeface="Cambria Math" panose="02040503050406030204" pitchFamily="18" charset="0"/>
                          </a:rPr>
                          <m:t>𝒋</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𝝁</m:t>
                        </m:r>
                      </m:e>
                      <m:sub>
                        <m:r>
                          <a:rPr lang="en-NZ" altLang="ja-JP" sz="2200" b="1" i="1" smtClean="0">
                            <a:solidFill>
                              <a:srgbClr val="C00000"/>
                            </a:solidFill>
                            <a:latin typeface="Cambria Math" panose="02040503050406030204" pitchFamily="18" charset="0"/>
                          </a:rPr>
                          <m:t>𝒊</m:t>
                        </m:r>
                      </m:sub>
                    </m:sSub>
                    <m:r>
                      <a:rPr lang="en-NZ" altLang="ja-JP" sz="2200" b="1" i="1" smtClean="0">
                        <a:solidFill>
                          <a:srgbClr val="C00000"/>
                        </a:solidFill>
                        <a:latin typeface="Cambria Math" panose="02040503050406030204" pitchFamily="18" charset="0"/>
                      </a:rPr>
                      <m:t>  +   </m:t>
                    </m:r>
                    <m:sSub>
                      <m:sSubPr>
                        <m:ctrlPr>
                          <a:rPr lang="en-NZ" altLang="ja-JP" sz="2200" b="1" i="1" smtClean="0">
                            <a:solidFill>
                              <a:srgbClr val="C00000"/>
                            </a:solidFill>
                            <a:latin typeface="Cambria Math" panose="02040503050406030204" pitchFamily="18" charset="0"/>
                          </a:rPr>
                        </m:ctrlPr>
                      </m:sSubPr>
                      <m:e>
                        <m:r>
                          <a:rPr lang="en-NZ" altLang="ja-JP" sz="2200" b="1" i="1" smtClean="0">
                            <a:solidFill>
                              <a:srgbClr val="C00000"/>
                            </a:solidFill>
                            <a:latin typeface="Cambria Math" panose="02040503050406030204" pitchFamily="18" charset="0"/>
                          </a:rPr>
                          <m:t>𝝐</m:t>
                        </m:r>
                      </m:e>
                      <m:sub>
                        <m:r>
                          <a:rPr lang="en-NZ" altLang="ja-JP" sz="2200" b="1" i="1" smtClean="0">
                            <a:solidFill>
                              <a:srgbClr val="C00000"/>
                            </a:solidFill>
                            <a:latin typeface="Cambria Math" panose="02040503050406030204" pitchFamily="18" charset="0"/>
                          </a:rPr>
                          <m:t>𝒊</m:t>
                        </m:r>
                        <m:r>
                          <a:rPr lang="en-NZ" altLang="ja-JP" sz="2200" b="1" i="1" smtClean="0">
                            <a:solidFill>
                              <a:srgbClr val="C00000"/>
                            </a:solidFill>
                            <a:latin typeface="Cambria Math" panose="02040503050406030204" pitchFamily="18" charset="0"/>
                          </a:rPr>
                          <m:t>,</m:t>
                        </m:r>
                        <m:r>
                          <a:rPr lang="en-NZ" altLang="ja-JP" sz="2200" b="1" i="1" smtClean="0">
                            <a:solidFill>
                              <a:srgbClr val="C00000"/>
                            </a:solidFill>
                            <a:latin typeface="Cambria Math" panose="02040503050406030204" pitchFamily="18" charset="0"/>
                          </a:rPr>
                          <m:t>𝒋</m:t>
                        </m:r>
                      </m:sub>
                    </m:sSub>
                  </m:oMath>
                </a14:m>
                <a:r>
                  <a:rPr lang="en-NZ" altLang="ja-JP" sz="2200" b="1" dirty="0">
                    <a:solidFill>
                      <a:srgbClr val="C00000"/>
                    </a:solidFill>
                  </a:rPr>
                  <a:t>  </a:t>
                </a:r>
              </a:p>
              <a:p>
                <a:pPr algn="just">
                  <a:lnSpc>
                    <a:spcPct val="100000"/>
                  </a:lnSpc>
                </a:pPr>
                <a:endParaRPr lang="en-NZ" altLang="ja-JP" sz="2200" b="1" dirty="0">
                  <a:solidFill>
                    <a:srgbClr val="C00000"/>
                  </a:solidFill>
                </a:endParaRPr>
              </a:p>
              <a:p>
                <a:pPr algn="just">
                  <a:lnSpc>
                    <a:spcPct val="100000"/>
                  </a:lnSpc>
                </a:pPr>
                <a:endParaRPr lang="en-NZ" altLang="ja-JP" sz="2200" b="1" i="1" dirty="0">
                  <a:solidFill>
                    <a:srgbClr val="C00000"/>
                  </a:solidFill>
                </a:endParaRPr>
              </a:p>
            </p:txBody>
          </p:sp>
        </mc:Choice>
        <mc:Fallback xmlns="">
          <p:sp>
            <p:nvSpPr>
              <p:cNvPr id="20" name="Text Placeholder 5">
                <a:extLst>
                  <a:ext uri="{FF2B5EF4-FFF2-40B4-BE49-F238E27FC236}">
                    <a16:creationId xmlns:a16="http://schemas.microsoft.com/office/drawing/2014/main" id="{736B0C48-30F2-40E3-BF9A-F250E1515421}"/>
                  </a:ext>
                </a:extLst>
              </p:cNvPr>
              <p:cNvSpPr txBox="1">
                <a:spLocks noRot="1" noChangeAspect="1" noMove="1" noResize="1" noEditPoints="1" noAdjustHandles="1" noChangeArrowheads="1" noChangeShapeType="1" noTextEdit="1"/>
              </p:cNvSpPr>
              <p:nvPr/>
            </p:nvSpPr>
            <p:spPr>
              <a:xfrm>
                <a:off x="2097204" y="2017458"/>
                <a:ext cx="7997592" cy="474953"/>
              </a:xfrm>
              <a:prstGeom prst="rect">
                <a:avLst/>
              </a:prstGeom>
              <a:blipFill>
                <a:blip r:embed="rId3"/>
                <a:stretch>
                  <a:fillRect b="-6410"/>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F6B3E8B4-1E63-4974-B3C0-BF3A7F51685D}"/>
              </a:ext>
            </a:extLst>
          </p:cNvPr>
          <p:cNvSpPr txBox="1">
            <a:spLocks/>
          </p:cNvSpPr>
          <p:nvPr/>
        </p:nvSpPr>
        <p:spPr>
          <a:xfrm>
            <a:off x="374054" y="1558369"/>
            <a:ext cx="10549720" cy="4625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When conducting ANOVA, we want to fit the model:</a:t>
            </a:r>
            <a:endParaRPr lang="en-NZ" altLang="ja-JP" sz="2200" i="1" dirty="0">
              <a:solidFill>
                <a:srgbClr val="C00000"/>
              </a:solidFill>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D97BC2CA-3529-4BFF-8426-0B95F78AE6BD}"/>
                  </a:ext>
                </a:extLst>
              </p:cNvPr>
              <p:cNvSpPr txBox="1">
                <a:spLocks/>
              </p:cNvSpPr>
              <p:nvPr/>
            </p:nvSpPr>
            <p:spPr>
              <a:xfrm>
                <a:off x="374054" y="3912780"/>
                <a:ext cx="10549720" cy="8442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…where </a:t>
                </a:r>
                <a14:m>
                  <m:oMath xmlns:m="http://schemas.openxmlformats.org/officeDocument/2006/math">
                    <m:sSub>
                      <m:sSubPr>
                        <m:ctrlPr>
                          <a:rPr lang="en-NZ" altLang="ja-JP" sz="2200" b="1" i="1" smtClean="0">
                            <a:solidFill>
                              <a:schemeClr val="tx1"/>
                            </a:solidFill>
                            <a:latin typeface="Cambria Math" panose="02040503050406030204" pitchFamily="18" charset="0"/>
                          </a:rPr>
                        </m:ctrlPr>
                      </m:sSubPr>
                      <m:e>
                        <m:r>
                          <a:rPr lang="en-NZ" altLang="ja-JP" sz="2200" b="1" i="1" smtClean="0">
                            <a:solidFill>
                              <a:schemeClr val="tx1"/>
                            </a:solidFill>
                            <a:latin typeface="Cambria Math" panose="02040503050406030204" pitchFamily="18" charset="0"/>
                          </a:rPr>
                          <m:t>𝝁</m:t>
                        </m:r>
                      </m:e>
                      <m:sub>
                        <m:r>
                          <a:rPr lang="en-NZ" altLang="ja-JP" sz="2200" b="1" i="1" smtClean="0">
                            <a:solidFill>
                              <a:schemeClr val="tx1"/>
                            </a:solidFill>
                            <a:latin typeface="Cambria Math" panose="02040503050406030204" pitchFamily="18" charset="0"/>
                          </a:rPr>
                          <m:t>𝟏</m:t>
                        </m:r>
                      </m:sub>
                    </m:sSub>
                  </m:oMath>
                </a14:m>
                <a:r>
                  <a:rPr lang="en-NZ" altLang="ja-JP" sz="2200" i="1" dirty="0">
                    <a:solidFill>
                      <a:schemeClr val="tx1"/>
                    </a:solidFill>
                  </a:rPr>
                  <a:t> </a:t>
                </a:r>
                <a:r>
                  <a:rPr lang="en-NZ" altLang="ja-JP" sz="2200" dirty="0">
                    <a:solidFill>
                      <a:schemeClr val="tx1"/>
                    </a:solidFill>
                  </a:rPr>
                  <a:t>is the mean of the group used as the </a:t>
                </a:r>
                <a:r>
                  <a:rPr lang="en-NZ" altLang="ja-JP" sz="2200" b="1" dirty="0">
                    <a:solidFill>
                      <a:schemeClr val="tx1"/>
                    </a:solidFill>
                  </a:rPr>
                  <a:t>reference level.</a:t>
                </a:r>
              </a:p>
              <a:p>
                <a:pPr algn="just">
                  <a:lnSpc>
                    <a:spcPct val="100000"/>
                  </a:lnSpc>
                </a:pPr>
                <a:r>
                  <a:rPr lang="en-NZ" altLang="ja-JP" sz="2200" dirty="0">
                    <a:solidFill>
                      <a:schemeClr val="tx1"/>
                    </a:solidFill>
                  </a:rPr>
                  <a:t>In R, the group that is first numerically or alphabetically is used as the reference level.</a:t>
                </a:r>
              </a:p>
            </p:txBody>
          </p:sp>
        </mc:Choice>
        <mc:Fallback xmlns="">
          <p:sp>
            <p:nvSpPr>
              <p:cNvPr id="22" name="Text Placeholder 5">
                <a:extLst>
                  <a:ext uri="{FF2B5EF4-FFF2-40B4-BE49-F238E27FC236}">
                    <a16:creationId xmlns:a16="http://schemas.microsoft.com/office/drawing/2014/main" id="{D97BC2CA-3529-4BFF-8426-0B95F78AE6BD}"/>
                  </a:ext>
                </a:extLst>
              </p:cNvPr>
              <p:cNvSpPr txBox="1">
                <a:spLocks noRot="1" noChangeAspect="1" noMove="1" noResize="1" noEditPoints="1" noAdjustHandles="1" noChangeArrowheads="1" noChangeShapeType="1" noTextEdit="1"/>
              </p:cNvSpPr>
              <p:nvPr/>
            </p:nvSpPr>
            <p:spPr>
              <a:xfrm>
                <a:off x="374054" y="3912780"/>
                <a:ext cx="10549720" cy="844213"/>
              </a:xfrm>
              <a:prstGeom prst="rect">
                <a:avLst/>
              </a:prstGeom>
              <a:blipFill>
                <a:blip r:embed="rId4"/>
                <a:stretch>
                  <a:fillRect l="-751" t="-5072" b="-5072"/>
                </a:stretch>
              </a:blipFill>
            </p:spPr>
            <p:txBody>
              <a:bodyPr/>
              <a:lstStyle/>
              <a:p>
                <a:r>
                  <a:rPr lang="en-NZ">
                    <a:noFill/>
                  </a:rPr>
                  <a:t> </a:t>
                </a:r>
              </a:p>
            </p:txBody>
          </p:sp>
        </mc:Fallback>
      </mc:AlternateContent>
      <p:sp>
        <p:nvSpPr>
          <p:cNvPr id="23" name="Text Placeholder 5">
            <a:extLst>
              <a:ext uri="{FF2B5EF4-FFF2-40B4-BE49-F238E27FC236}">
                <a16:creationId xmlns:a16="http://schemas.microsoft.com/office/drawing/2014/main" id="{DF345EAC-6D85-4107-A8FE-A93D4ECF7954}"/>
              </a:ext>
            </a:extLst>
          </p:cNvPr>
          <p:cNvSpPr txBox="1">
            <a:spLocks/>
          </p:cNvSpPr>
          <p:nvPr/>
        </p:nvSpPr>
        <p:spPr>
          <a:xfrm>
            <a:off x="251224" y="5346617"/>
            <a:ext cx="11340274" cy="8442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This obviously makes no difference to what we are doing…</a:t>
            </a:r>
          </a:p>
          <a:p>
            <a:pPr algn="just">
              <a:lnSpc>
                <a:spcPct val="100000"/>
              </a:lnSpc>
            </a:pPr>
            <a:r>
              <a:rPr lang="en-NZ" altLang="ja-JP" sz="2200" dirty="0">
                <a:solidFill>
                  <a:schemeClr val="tx1"/>
                </a:solidFill>
              </a:rPr>
              <a:t>… only to how we interpret the results produced.</a:t>
            </a:r>
          </a:p>
        </p:txBody>
      </p:sp>
    </p:spTree>
    <p:extLst>
      <p:ext uri="{BB962C8B-B14F-4D97-AF65-F5344CB8AC3E}">
        <p14:creationId xmlns:p14="http://schemas.microsoft.com/office/powerpoint/2010/main" val="354104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2" grpId="0"/>
      <p:bldP spid="2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44</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960486"/>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2:</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960486"/>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Fit the model and conduct hypothesis tests</a:t>
            </a:r>
          </a:p>
        </p:txBody>
      </p:sp>
      <p:pic>
        <p:nvPicPr>
          <p:cNvPr id="3" name="Picture 2">
            <a:extLst>
              <a:ext uri="{FF2B5EF4-FFF2-40B4-BE49-F238E27FC236}">
                <a16:creationId xmlns:a16="http://schemas.microsoft.com/office/drawing/2014/main" id="{1F19B2A8-319E-4BD5-889B-71407CF9E4CE}"/>
              </a:ext>
            </a:extLst>
          </p:cNvPr>
          <p:cNvPicPr>
            <a:picLocks noChangeAspect="1"/>
          </p:cNvPicPr>
          <p:nvPr/>
        </p:nvPicPr>
        <p:blipFill>
          <a:blip r:embed="rId2"/>
          <a:stretch>
            <a:fillRect/>
          </a:stretch>
        </p:blipFill>
        <p:spPr>
          <a:xfrm>
            <a:off x="810323" y="1570482"/>
            <a:ext cx="7910596" cy="4472938"/>
          </a:xfrm>
          <a:prstGeom prst="rect">
            <a:avLst/>
          </a:prstGeom>
        </p:spPr>
      </p:pic>
      <p:sp>
        <p:nvSpPr>
          <p:cNvPr id="24" name="Title 6">
            <a:extLst>
              <a:ext uri="{FF2B5EF4-FFF2-40B4-BE49-F238E27FC236}">
                <a16:creationId xmlns:a16="http://schemas.microsoft.com/office/drawing/2014/main" id="{3CEBE2A3-9BBA-4B10-83AD-AF0866E3DD28}"/>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Tree>
    <p:extLst>
      <p:ext uri="{BB962C8B-B14F-4D97-AF65-F5344CB8AC3E}">
        <p14:creationId xmlns:p14="http://schemas.microsoft.com/office/powerpoint/2010/main" val="29276417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45</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6" name="Text Placeholder 5">
            <a:extLst>
              <a:ext uri="{FF2B5EF4-FFF2-40B4-BE49-F238E27FC236}">
                <a16:creationId xmlns:a16="http://schemas.microsoft.com/office/drawing/2014/main" id="{AE09DACF-DD7C-4DDB-907F-E9D9B5C62D2B}"/>
              </a:ext>
            </a:extLst>
          </p:cNvPr>
          <p:cNvSpPr txBox="1">
            <a:spLocks/>
          </p:cNvSpPr>
          <p:nvPr/>
        </p:nvSpPr>
        <p:spPr>
          <a:xfrm>
            <a:off x="6791059" y="3171465"/>
            <a:ext cx="4778672" cy="12709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200" b="1" dirty="0">
                <a:solidFill>
                  <a:srgbClr val="C00000"/>
                </a:solidFill>
              </a:rPr>
              <a:t>How do we interpret this results table?</a:t>
            </a:r>
            <a:endParaRPr lang="en-NZ" altLang="ja-JP" sz="3200" b="1" i="1" dirty="0">
              <a:solidFill>
                <a:srgbClr val="C00000"/>
              </a:solidFill>
            </a:endParaRPr>
          </a:p>
        </p:txBody>
      </p:sp>
      <p:sp>
        <p:nvSpPr>
          <p:cNvPr id="22" name="Text Placeholder 5">
            <a:extLst>
              <a:ext uri="{FF2B5EF4-FFF2-40B4-BE49-F238E27FC236}">
                <a16:creationId xmlns:a16="http://schemas.microsoft.com/office/drawing/2014/main" id="{B8674758-7926-0595-D35C-9AFED66B7436}"/>
              </a:ext>
            </a:extLst>
          </p:cNvPr>
          <p:cNvSpPr txBox="1">
            <a:spLocks/>
          </p:cNvSpPr>
          <p:nvPr/>
        </p:nvSpPr>
        <p:spPr>
          <a:xfrm>
            <a:off x="251224" y="728870"/>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2:</a:t>
            </a:r>
            <a:endParaRPr lang="en-US" altLang="ja-JP" sz="2200" b="1" i="1" dirty="0">
              <a:solidFill>
                <a:srgbClr val="0070C0"/>
              </a:solidFill>
            </a:endParaRPr>
          </a:p>
        </p:txBody>
      </p:sp>
      <p:sp>
        <p:nvSpPr>
          <p:cNvPr id="23" name="Text Placeholder 5">
            <a:extLst>
              <a:ext uri="{FF2B5EF4-FFF2-40B4-BE49-F238E27FC236}">
                <a16:creationId xmlns:a16="http://schemas.microsoft.com/office/drawing/2014/main" id="{675FA87F-3480-2581-4BB1-6FD352740D73}"/>
              </a:ext>
            </a:extLst>
          </p:cNvPr>
          <p:cNvSpPr txBox="1">
            <a:spLocks/>
          </p:cNvSpPr>
          <p:nvPr/>
        </p:nvSpPr>
        <p:spPr>
          <a:xfrm>
            <a:off x="1414298" y="728870"/>
            <a:ext cx="523447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Fit the model and conduct hypothesis tests</a:t>
            </a:r>
          </a:p>
        </p:txBody>
      </p:sp>
      <p:sp>
        <p:nvSpPr>
          <p:cNvPr id="24" name="Title 6">
            <a:extLst>
              <a:ext uri="{FF2B5EF4-FFF2-40B4-BE49-F238E27FC236}">
                <a16:creationId xmlns:a16="http://schemas.microsoft.com/office/drawing/2014/main" id="{7BEC6311-0332-3412-B231-F214A0C12DA6}"/>
              </a:ext>
            </a:extLst>
          </p:cNvPr>
          <p:cNvSpPr txBox="1">
            <a:spLocks/>
          </p:cNvSpPr>
          <p:nvPr/>
        </p:nvSpPr>
        <p:spPr>
          <a:xfrm>
            <a:off x="239266" y="115201"/>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
        <p:nvSpPr>
          <p:cNvPr id="25" name="Text Placeholder 5">
            <a:extLst>
              <a:ext uri="{FF2B5EF4-FFF2-40B4-BE49-F238E27FC236}">
                <a16:creationId xmlns:a16="http://schemas.microsoft.com/office/drawing/2014/main" id="{F7DCDF31-BF2B-EFF8-C8E3-4FAC5E2934FF}"/>
              </a:ext>
            </a:extLst>
          </p:cNvPr>
          <p:cNvSpPr txBox="1">
            <a:spLocks/>
          </p:cNvSpPr>
          <p:nvPr/>
        </p:nvSpPr>
        <p:spPr>
          <a:xfrm>
            <a:off x="403534" y="1225896"/>
            <a:ext cx="4870673" cy="7636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accent6">
                    <a:lumMod val="75000"/>
                  </a:schemeClr>
                </a:solidFill>
              </a:rPr>
              <a:t># 2.1c - Creating the ANOVA model</a:t>
            </a:r>
          </a:p>
          <a:p>
            <a:pPr algn="just">
              <a:lnSpc>
                <a:spcPct val="100000"/>
              </a:lnSpc>
            </a:pPr>
            <a:r>
              <a:rPr lang="en-NZ" altLang="ja-JP" sz="1400" dirty="0">
                <a:solidFill>
                  <a:schemeClr val="bg2">
                    <a:lumMod val="50000"/>
                  </a:schemeClr>
                </a:solidFill>
              </a:rPr>
              <a:t>IQ2c &lt;- </a:t>
            </a:r>
            <a:r>
              <a:rPr lang="en-NZ" altLang="ja-JP" sz="1400" dirty="0" err="1">
                <a:solidFill>
                  <a:schemeClr val="bg2">
                    <a:lumMod val="50000"/>
                  </a:schemeClr>
                </a:solidFill>
              </a:rPr>
              <a:t>lm</a:t>
            </a:r>
            <a:r>
              <a:rPr lang="en-NZ" altLang="ja-JP" sz="1400" dirty="0">
                <a:solidFill>
                  <a:schemeClr val="bg2">
                    <a:lumMod val="50000"/>
                  </a:schemeClr>
                </a:solidFill>
              </a:rPr>
              <a:t>(IQ ~ Group, data=IQ2b)</a:t>
            </a:r>
          </a:p>
          <a:p>
            <a:pPr algn="just">
              <a:lnSpc>
                <a:spcPct val="100000"/>
              </a:lnSpc>
            </a:pPr>
            <a:r>
              <a:rPr lang="en-NZ" altLang="ja-JP" sz="1400" dirty="0">
                <a:solidFill>
                  <a:schemeClr val="bg2">
                    <a:lumMod val="50000"/>
                  </a:schemeClr>
                </a:solidFill>
              </a:rPr>
              <a:t>summary(IQ2c)</a:t>
            </a:r>
          </a:p>
        </p:txBody>
      </p:sp>
      <p:pic>
        <p:nvPicPr>
          <p:cNvPr id="26" name="Picture 25">
            <a:extLst>
              <a:ext uri="{FF2B5EF4-FFF2-40B4-BE49-F238E27FC236}">
                <a16:creationId xmlns:a16="http://schemas.microsoft.com/office/drawing/2014/main" id="{425D3353-F0BB-6284-5310-9AE051640389}"/>
              </a:ext>
            </a:extLst>
          </p:cNvPr>
          <p:cNvPicPr>
            <a:picLocks noChangeAspect="1"/>
          </p:cNvPicPr>
          <p:nvPr/>
        </p:nvPicPr>
        <p:blipFill>
          <a:blip r:embed="rId2"/>
          <a:stretch>
            <a:fillRect/>
          </a:stretch>
        </p:blipFill>
        <p:spPr>
          <a:xfrm>
            <a:off x="216520" y="2024789"/>
            <a:ext cx="6722935" cy="4109183"/>
          </a:xfrm>
          <a:prstGeom prst="rect">
            <a:avLst/>
          </a:prstGeom>
        </p:spPr>
      </p:pic>
    </p:spTree>
    <p:extLst>
      <p:ext uri="{BB962C8B-B14F-4D97-AF65-F5344CB8AC3E}">
        <p14:creationId xmlns:p14="http://schemas.microsoft.com/office/powerpoint/2010/main" val="4139400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5B3BF65-D8F1-67D0-EB13-51EC62F060ED}"/>
              </a:ext>
            </a:extLst>
          </p:cNvPr>
          <p:cNvPicPr>
            <a:picLocks noChangeAspect="1"/>
          </p:cNvPicPr>
          <p:nvPr/>
        </p:nvPicPr>
        <p:blipFill>
          <a:blip r:embed="rId2"/>
          <a:stretch>
            <a:fillRect/>
          </a:stretch>
        </p:blipFill>
        <p:spPr>
          <a:xfrm>
            <a:off x="216520" y="2024789"/>
            <a:ext cx="6722935" cy="4109183"/>
          </a:xfrm>
          <a:prstGeom prst="rect">
            <a:avLst/>
          </a:prstGeom>
        </p:spPr>
      </p:pic>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46</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4AAE5B09-63C0-429C-BB0B-07485CDF7213}"/>
                  </a:ext>
                </a:extLst>
              </p:cNvPr>
              <p:cNvGraphicFramePr>
                <a:graphicFrameLocks noGrp="1"/>
              </p:cNvGraphicFramePr>
              <p:nvPr>
                <p:extLst>
                  <p:ext uri="{D42A27DB-BD31-4B8C-83A1-F6EECF244321}">
                    <p14:modId xmlns:p14="http://schemas.microsoft.com/office/powerpoint/2010/main" val="2694650596"/>
                  </p:ext>
                </p:extLst>
              </p:nvPr>
            </p:nvGraphicFramePr>
            <p:xfrm>
              <a:off x="7010554" y="2329364"/>
              <a:ext cx="4892249" cy="2120421"/>
            </p:xfrm>
            <a:graphic>
              <a:graphicData uri="http://schemas.openxmlformats.org/drawingml/2006/table">
                <a:tbl>
                  <a:tblPr/>
                  <a:tblGrid>
                    <a:gridCol w="1494468">
                      <a:extLst>
                        <a:ext uri="{9D8B030D-6E8A-4147-A177-3AD203B41FA5}">
                          <a16:colId xmlns:a16="http://schemas.microsoft.com/office/drawing/2014/main" val="320672396"/>
                        </a:ext>
                      </a:extLst>
                    </a:gridCol>
                    <a:gridCol w="1057619">
                      <a:extLst>
                        <a:ext uri="{9D8B030D-6E8A-4147-A177-3AD203B41FA5}">
                          <a16:colId xmlns:a16="http://schemas.microsoft.com/office/drawing/2014/main" val="2243237618"/>
                        </a:ext>
                      </a:extLst>
                    </a:gridCol>
                    <a:gridCol w="1222872">
                      <a:extLst>
                        <a:ext uri="{9D8B030D-6E8A-4147-A177-3AD203B41FA5}">
                          <a16:colId xmlns:a16="http://schemas.microsoft.com/office/drawing/2014/main" val="3135728834"/>
                        </a:ext>
                      </a:extLst>
                    </a:gridCol>
                    <a:gridCol w="1117290">
                      <a:extLst>
                        <a:ext uri="{9D8B030D-6E8A-4147-A177-3AD203B41FA5}">
                          <a16:colId xmlns:a16="http://schemas.microsoft.com/office/drawing/2014/main" val="3959028922"/>
                        </a:ext>
                      </a:extLst>
                    </a:gridCol>
                  </a:tblGrid>
                  <a:tr h="597656">
                    <a:tc>
                      <a:txBody>
                        <a:bodyPr/>
                        <a:lstStyle/>
                        <a:p>
                          <a:pPr algn="ctr" fontAlgn="ctr"/>
                          <a:r>
                            <a:rPr lang="en-NZ" sz="1600" b="1" i="0" u="none" strike="noStrike" dirty="0">
                              <a:solidFill>
                                <a:srgbClr val="FFFFFF"/>
                              </a:solidFill>
                              <a:effectLst/>
                              <a:latin typeface="Calibri" panose="020F0502020204030204" pitchFamily="34" charset="0"/>
                            </a:rPr>
                            <a:t>Coefficient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1" i="0" u="none" strike="noStrike" dirty="0">
                              <a:solidFill>
                                <a:srgbClr val="FFFFFF"/>
                              </a:solidFill>
                              <a:effectLst/>
                              <a:latin typeface="Calibri" panose="020F0502020204030204" pitchFamily="34" charset="0"/>
                            </a:rPr>
                            <a:t>Parameter Estimated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1" i="0" u="none" strike="noStrike" dirty="0">
                              <a:solidFill>
                                <a:srgbClr val="FFFFFF"/>
                              </a:solidFill>
                              <a:effectLst/>
                              <a:latin typeface="Calibri" panose="020F0502020204030204" pitchFamily="34" charset="0"/>
                            </a:rPr>
                            <a:t>R Estimate Given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1" i="0" u="none" strike="noStrike" dirty="0">
                              <a:solidFill>
                                <a:srgbClr val="FFFFFF"/>
                              </a:solidFill>
                              <a:effectLst/>
                              <a:latin typeface="Calibri" panose="020F0502020204030204" pitchFamily="34" charset="0"/>
                            </a:rPr>
                            <a:t>Parameter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330954568"/>
                      </a:ext>
                    </a:extLst>
                  </a:tr>
                  <a:tr h="304553">
                    <a:tc>
                      <a:txBody>
                        <a:bodyPr/>
                        <a:lstStyle/>
                        <a:p>
                          <a:pPr algn="ctr" fontAlgn="ctr"/>
                          <a:r>
                            <a:rPr lang="en-NZ" sz="1600" b="0" i="0" u="none" strike="noStrike" dirty="0">
                              <a:solidFill>
                                <a:srgbClr val="000000"/>
                              </a:solidFill>
                              <a:effectLst/>
                              <a:latin typeface="Calibri" panose="020F0502020204030204" pitchFamily="34" charset="0"/>
                            </a:rPr>
                            <a:t>(Intercept)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14:m>
                            <m:oMath xmlns:m="http://schemas.openxmlformats.org/officeDocument/2006/math">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1</m:t>
                                  </m:r>
                                </m:sub>
                              </m:sSub>
                            </m:oMath>
                          </a14:m>
                          <a:r>
                            <a:rPr lang="en-NZ" sz="1600" b="0" i="0" u="none" strike="noStrike" dirty="0">
                              <a:solidFill>
                                <a:srgbClr val="000000"/>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98.400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98.400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89693637"/>
                      </a:ext>
                    </a:extLst>
                  </a:tr>
                  <a:tr h="304553">
                    <a:tc>
                      <a:txBody>
                        <a:bodyPr/>
                        <a:lstStyle/>
                        <a:p>
                          <a:pPr algn="ctr" fontAlgn="ctr"/>
                          <a:r>
                            <a:rPr lang="en-NZ" sz="1600" b="0" i="0" u="none" strike="noStrike" dirty="0">
                              <a:solidFill>
                                <a:srgbClr val="000000"/>
                              </a:solidFill>
                              <a:effectLst/>
                              <a:latin typeface="Calibri" panose="020F0502020204030204" pitchFamily="34" charset="0"/>
                            </a:rPr>
                            <a:t>Group 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14:m>
                            <m:oMath xmlns:m="http://schemas.openxmlformats.org/officeDocument/2006/math">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2</m:t>
                                  </m:r>
                                </m:sub>
                              </m:sSub>
                              <m:r>
                                <a:rPr lang="en-NZ" sz="1600" b="0" i="1" u="none" strike="noStrike" smtClean="0">
                                  <a:solidFill>
                                    <a:srgbClr val="000000"/>
                                  </a:solidFill>
                                  <a:effectLst/>
                                  <a:latin typeface="Cambria Math" panose="02040503050406030204" pitchFamily="18" charset="0"/>
                                </a:rPr>
                                <m:t> −</m:t>
                              </m:r>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1</m:t>
                                  </m:r>
                                </m:sub>
                              </m:sSub>
                            </m:oMath>
                          </a14:m>
                          <a:r>
                            <a:rPr lang="en-NZ" sz="1600" b="0" i="0" u="none" strike="noStrike" dirty="0">
                              <a:solidFill>
                                <a:srgbClr val="000000"/>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a:solidFill>
                                <a:srgbClr val="000000"/>
                              </a:solidFill>
                              <a:effectLst/>
                              <a:latin typeface="Calibri" panose="020F0502020204030204" pitchFamily="34" charset="0"/>
                            </a:rPr>
                            <a:t>0.748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99.148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13659188"/>
                      </a:ext>
                    </a:extLst>
                  </a:tr>
                  <a:tr h="304553">
                    <a:tc>
                      <a:txBody>
                        <a:bodyPr/>
                        <a:lstStyle/>
                        <a:p>
                          <a:pPr algn="ctr" fontAlgn="ctr"/>
                          <a:r>
                            <a:rPr lang="en-NZ" sz="1600" b="0" i="0" u="none" strike="noStrike">
                              <a:solidFill>
                                <a:srgbClr val="000000"/>
                              </a:solidFill>
                              <a:effectLst/>
                              <a:latin typeface="Calibri" panose="020F0502020204030204" pitchFamily="34" charset="0"/>
                            </a:rPr>
                            <a:t>Group 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3</m:t>
                                    </m:r>
                                  </m:sub>
                                </m:sSub>
                                <m:r>
                                  <a:rPr lang="en-NZ" sz="1600" b="0" i="1" u="none" strike="noStrike" smtClean="0">
                                    <a:solidFill>
                                      <a:srgbClr val="000000"/>
                                    </a:solidFill>
                                    <a:effectLst/>
                                    <a:latin typeface="Cambria Math" panose="02040503050406030204" pitchFamily="18" charset="0"/>
                                  </a:rPr>
                                  <m:t> −</m:t>
                                </m:r>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1</m:t>
                                    </m:r>
                                  </m:sub>
                                </m:sSub>
                              </m:oMath>
                            </m:oMathPara>
                          </a14:m>
                          <a:endParaRPr lang="en-NZ" sz="16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1.455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99.855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77391880"/>
                      </a:ext>
                    </a:extLst>
                  </a:tr>
                  <a:tr h="304553">
                    <a:tc>
                      <a:txBody>
                        <a:bodyPr/>
                        <a:lstStyle/>
                        <a:p>
                          <a:pPr algn="ctr" fontAlgn="ctr"/>
                          <a:r>
                            <a:rPr lang="en-NZ" sz="1600" b="0" i="0" u="none" strike="noStrike">
                              <a:solidFill>
                                <a:srgbClr val="000000"/>
                              </a:solidFill>
                              <a:effectLst/>
                              <a:latin typeface="Calibri" panose="020F0502020204030204" pitchFamily="34" charset="0"/>
                            </a:rPr>
                            <a:t>Group 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4</m:t>
                                  </m:r>
                                </m:sub>
                              </m:sSub>
                              <m:r>
                                <a:rPr lang="en-NZ" sz="1600" b="0" i="1" u="none" strike="noStrike" smtClean="0">
                                  <a:solidFill>
                                    <a:srgbClr val="000000"/>
                                  </a:solidFill>
                                  <a:effectLst/>
                                  <a:latin typeface="Cambria Math" panose="02040503050406030204" pitchFamily="18" charset="0"/>
                                </a:rPr>
                                <m:t> −</m:t>
                              </m:r>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1</m:t>
                                  </m:r>
                                </m:sub>
                              </m:sSub>
                              <m:r>
                                <m:rPr>
                                  <m:nor/>
                                </m:rPr>
                                <a:rPr lang="en-NZ" sz="1600" b="0" i="0" u="none" strike="noStrike" dirty="0" smtClean="0">
                                  <a:solidFill>
                                    <a:srgbClr val="000000"/>
                                  </a:solidFill>
                                  <a:effectLst/>
                                  <a:latin typeface="Calibri" panose="020F0502020204030204" pitchFamily="34" charset="0"/>
                                </a:rPr>
                                <m:t> </m:t>
                              </m:r>
                            </m:oMath>
                          </a14:m>
                          <a:r>
                            <a:rPr lang="en-NZ" sz="1600" b="0" i="0" u="none" strike="noStrike" dirty="0">
                              <a:solidFill>
                                <a:srgbClr val="000000"/>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2.913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101.313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18657533"/>
                      </a:ext>
                    </a:extLst>
                  </a:tr>
                  <a:tr h="304553">
                    <a:tc>
                      <a:txBody>
                        <a:bodyPr/>
                        <a:lstStyle/>
                        <a:p>
                          <a:pPr algn="ctr" fontAlgn="ctr"/>
                          <a:r>
                            <a:rPr lang="en-NZ" sz="1600" b="0" i="0" u="none" strike="noStrike">
                              <a:solidFill>
                                <a:srgbClr val="000000"/>
                              </a:solidFill>
                              <a:effectLst/>
                              <a:latin typeface="Calibri" panose="020F0502020204030204" pitchFamily="34" charset="0"/>
                            </a:rPr>
                            <a:t>Group 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 </a:t>
                          </a:r>
                          <a14:m>
                            <m:oMath xmlns:m="http://schemas.openxmlformats.org/officeDocument/2006/math">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5</m:t>
                                  </m:r>
                                </m:sub>
                              </m:sSub>
                              <m:r>
                                <a:rPr lang="en-NZ" sz="1600" b="0" i="1" u="none" strike="noStrike" smtClean="0">
                                  <a:solidFill>
                                    <a:srgbClr val="000000"/>
                                  </a:solidFill>
                                  <a:effectLst/>
                                  <a:latin typeface="Cambria Math" panose="02040503050406030204" pitchFamily="18" charset="0"/>
                                </a:rPr>
                                <m:t> −</m:t>
                              </m:r>
                              <m:sSub>
                                <m:sSubPr>
                                  <m:ctrlPr>
                                    <a:rPr lang="en-NZ" sz="1600" b="0" i="1" u="none" strike="noStrike" smtClean="0">
                                      <a:solidFill>
                                        <a:srgbClr val="000000"/>
                                      </a:solidFill>
                                      <a:effectLst/>
                                      <a:latin typeface="Cambria Math" panose="02040503050406030204" pitchFamily="18" charset="0"/>
                                    </a:rPr>
                                  </m:ctrlPr>
                                </m:sSubPr>
                                <m:e>
                                  <m:r>
                                    <a:rPr lang="en-NZ" sz="1600" b="0" i="1" u="none" strike="noStrike" smtClean="0">
                                      <a:solidFill>
                                        <a:srgbClr val="000000"/>
                                      </a:solidFill>
                                      <a:effectLst/>
                                      <a:latin typeface="Cambria Math" panose="02040503050406030204" pitchFamily="18" charset="0"/>
                                    </a:rPr>
                                    <m:t>𝜇</m:t>
                                  </m:r>
                                </m:e>
                                <m:sub>
                                  <m:r>
                                    <a:rPr lang="en-NZ" sz="1600" b="0" i="1" u="none" strike="noStrike" smtClean="0">
                                      <a:solidFill>
                                        <a:srgbClr val="000000"/>
                                      </a:solidFill>
                                      <a:effectLst/>
                                      <a:latin typeface="Cambria Math" panose="02040503050406030204" pitchFamily="18" charset="0"/>
                                    </a:rPr>
                                    <m:t>1</m:t>
                                  </m:r>
                                </m:sub>
                              </m:sSub>
                              <m:r>
                                <a:rPr lang="en-NZ" sz="1600" b="0" i="1" u="none" strike="noStrike" smtClean="0">
                                  <a:solidFill>
                                    <a:srgbClr val="000000"/>
                                  </a:solidFill>
                                  <a:effectLst/>
                                  <a:latin typeface="Cambria Math" panose="02040503050406030204" pitchFamily="18" charset="0"/>
                                </a:rPr>
                                <m:t>  </m:t>
                              </m:r>
                            </m:oMath>
                          </a14:m>
                          <a:endParaRPr lang="en-NZ" sz="16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3.634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102.034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0741011"/>
                      </a:ext>
                    </a:extLst>
                  </a:tr>
                </a:tbl>
              </a:graphicData>
            </a:graphic>
          </p:graphicFrame>
        </mc:Choice>
        <mc:Fallback>
          <p:graphicFrame>
            <p:nvGraphicFramePr>
              <p:cNvPr id="5" name="Table 4">
                <a:extLst>
                  <a:ext uri="{FF2B5EF4-FFF2-40B4-BE49-F238E27FC236}">
                    <a16:creationId xmlns:a16="http://schemas.microsoft.com/office/drawing/2014/main" id="{4AAE5B09-63C0-429C-BB0B-07485CDF7213}"/>
                  </a:ext>
                </a:extLst>
              </p:cNvPr>
              <p:cNvGraphicFramePr>
                <a:graphicFrameLocks noGrp="1"/>
              </p:cNvGraphicFramePr>
              <p:nvPr>
                <p:extLst>
                  <p:ext uri="{D42A27DB-BD31-4B8C-83A1-F6EECF244321}">
                    <p14:modId xmlns:p14="http://schemas.microsoft.com/office/powerpoint/2010/main" val="2694650596"/>
                  </p:ext>
                </p:extLst>
              </p:nvPr>
            </p:nvGraphicFramePr>
            <p:xfrm>
              <a:off x="7010554" y="2329364"/>
              <a:ext cx="4892249" cy="2120421"/>
            </p:xfrm>
            <a:graphic>
              <a:graphicData uri="http://schemas.openxmlformats.org/drawingml/2006/table">
                <a:tbl>
                  <a:tblPr/>
                  <a:tblGrid>
                    <a:gridCol w="1494468">
                      <a:extLst>
                        <a:ext uri="{9D8B030D-6E8A-4147-A177-3AD203B41FA5}">
                          <a16:colId xmlns:a16="http://schemas.microsoft.com/office/drawing/2014/main" val="320672396"/>
                        </a:ext>
                      </a:extLst>
                    </a:gridCol>
                    <a:gridCol w="1057619">
                      <a:extLst>
                        <a:ext uri="{9D8B030D-6E8A-4147-A177-3AD203B41FA5}">
                          <a16:colId xmlns:a16="http://schemas.microsoft.com/office/drawing/2014/main" val="2243237618"/>
                        </a:ext>
                      </a:extLst>
                    </a:gridCol>
                    <a:gridCol w="1222872">
                      <a:extLst>
                        <a:ext uri="{9D8B030D-6E8A-4147-A177-3AD203B41FA5}">
                          <a16:colId xmlns:a16="http://schemas.microsoft.com/office/drawing/2014/main" val="3135728834"/>
                        </a:ext>
                      </a:extLst>
                    </a:gridCol>
                    <a:gridCol w="1117290">
                      <a:extLst>
                        <a:ext uri="{9D8B030D-6E8A-4147-A177-3AD203B41FA5}">
                          <a16:colId xmlns:a16="http://schemas.microsoft.com/office/drawing/2014/main" val="3959028922"/>
                        </a:ext>
                      </a:extLst>
                    </a:gridCol>
                  </a:tblGrid>
                  <a:tr h="597656">
                    <a:tc>
                      <a:txBody>
                        <a:bodyPr/>
                        <a:lstStyle/>
                        <a:p>
                          <a:pPr algn="ctr" fontAlgn="ctr"/>
                          <a:r>
                            <a:rPr lang="en-NZ" sz="1600" b="1" i="0" u="none" strike="noStrike" dirty="0">
                              <a:solidFill>
                                <a:srgbClr val="FFFFFF"/>
                              </a:solidFill>
                              <a:effectLst/>
                              <a:latin typeface="Calibri" panose="020F0502020204030204" pitchFamily="34" charset="0"/>
                            </a:rPr>
                            <a:t>Coefficient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1" i="0" u="none" strike="noStrike" dirty="0">
                              <a:solidFill>
                                <a:srgbClr val="FFFFFF"/>
                              </a:solidFill>
                              <a:effectLst/>
                              <a:latin typeface="Calibri" panose="020F0502020204030204" pitchFamily="34" charset="0"/>
                            </a:rPr>
                            <a:t>Parameter Estimated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1" i="0" u="none" strike="noStrike" dirty="0">
                              <a:solidFill>
                                <a:srgbClr val="FFFFFF"/>
                              </a:solidFill>
                              <a:effectLst/>
                              <a:latin typeface="Calibri" panose="020F0502020204030204" pitchFamily="34" charset="0"/>
                            </a:rPr>
                            <a:t>R Estimate Given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600" b="1" i="0" u="none" strike="noStrike" dirty="0">
                              <a:solidFill>
                                <a:srgbClr val="FFFFFF"/>
                              </a:solidFill>
                              <a:effectLst/>
                              <a:latin typeface="Calibri" panose="020F0502020204030204" pitchFamily="34" charset="0"/>
                            </a:rPr>
                            <a:t>Parameter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330954568"/>
                      </a:ext>
                    </a:extLst>
                  </a:tr>
                  <a:tr h="304553">
                    <a:tc>
                      <a:txBody>
                        <a:bodyPr/>
                        <a:lstStyle/>
                        <a:p>
                          <a:pPr algn="ctr" fontAlgn="ctr"/>
                          <a:r>
                            <a:rPr lang="en-NZ" sz="1600" b="0" i="0" u="none" strike="noStrike" dirty="0">
                              <a:solidFill>
                                <a:srgbClr val="000000"/>
                              </a:solidFill>
                              <a:effectLst/>
                              <a:latin typeface="Calibri" panose="020F0502020204030204" pitchFamily="34" charset="0"/>
                            </a:rPr>
                            <a:t>(Intercept)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41379" t="-198000" r="-221264" b="-432000"/>
                          </a:stretch>
                        </a:blipFill>
                      </a:tcPr>
                    </a:tc>
                    <a:tc>
                      <a:txBody>
                        <a:bodyPr/>
                        <a:lstStyle/>
                        <a:p>
                          <a:pPr algn="ctr" fontAlgn="ctr"/>
                          <a:r>
                            <a:rPr lang="en-NZ" sz="1600" b="0" i="0" u="none" strike="noStrike" dirty="0">
                              <a:solidFill>
                                <a:srgbClr val="000000"/>
                              </a:solidFill>
                              <a:effectLst/>
                              <a:latin typeface="Calibri" panose="020F0502020204030204" pitchFamily="34" charset="0"/>
                            </a:rPr>
                            <a:t>98.400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98.400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89693637"/>
                      </a:ext>
                    </a:extLst>
                  </a:tr>
                  <a:tr h="304553">
                    <a:tc>
                      <a:txBody>
                        <a:bodyPr/>
                        <a:lstStyle/>
                        <a:p>
                          <a:pPr algn="ctr" fontAlgn="ctr"/>
                          <a:r>
                            <a:rPr lang="en-NZ" sz="1600" b="0" i="0" u="none" strike="noStrike" dirty="0">
                              <a:solidFill>
                                <a:srgbClr val="000000"/>
                              </a:solidFill>
                              <a:effectLst/>
                              <a:latin typeface="Calibri" panose="020F0502020204030204" pitchFamily="34" charset="0"/>
                            </a:rPr>
                            <a:t>Group Biology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41379" t="-298000" r="-221264" b="-332000"/>
                          </a:stretch>
                        </a:blipFill>
                      </a:tcPr>
                    </a:tc>
                    <a:tc>
                      <a:txBody>
                        <a:bodyPr/>
                        <a:lstStyle/>
                        <a:p>
                          <a:pPr algn="ctr" fontAlgn="ctr"/>
                          <a:r>
                            <a:rPr lang="en-NZ" sz="1600" b="0" i="0" u="none" strike="noStrike">
                              <a:solidFill>
                                <a:srgbClr val="000000"/>
                              </a:solidFill>
                              <a:effectLst/>
                              <a:latin typeface="Calibri" panose="020F0502020204030204" pitchFamily="34" charset="0"/>
                            </a:rPr>
                            <a:t>0.748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99.148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13659188"/>
                      </a:ext>
                    </a:extLst>
                  </a:tr>
                  <a:tr h="304553">
                    <a:tc>
                      <a:txBody>
                        <a:bodyPr/>
                        <a:lstStyle/>
                        <a:p>
                          <a:pPr algn="ctr" fontAlgn="ctr"/>
                          <a:r>
                            <a:rPr lang="en-NZ" sz="1600" b="0" i="0" u="none" strike="noStrike">
                              <a:solidFill>
                                <a:srgbClr val="000000"/>
                              </a:solidFill>
                              <a:effectLst/>
                              <a:latin typeface="Calibri" panose="020F0502020204030204" pitchFamily="34" charset="0"/>
                            </a:rPr>
                            <a:t>Group Chemistry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41379" t="-398000" r="-221264" b="-232000"/>
                          </a:stretch>
                        </a:blipFill>
                      </a:tcPr>
                    </a:tc>
                    <a:tc>
                      <a:txBody>
                        <a:bodyPr/>
                        <a:lstStyle/>
                        <a:p>
                          <a:pPr algn="ctr" fontAlgn="ctr"/>
                          <a:r>
                            <a:rPr lang="en-NZ" sz="1600" b="0" i="0" u="none" strike="noStrike" dirty="0">
                              <a:solidFill>
                                <a:srgbClr val="000000"/>
                              </a:solidFill>
                              <a:effectLst/>
                              <a:latin typeface="Calibri" panose="020F0502020204030204" pitchFamily="34" charset="0"/>
                            </a:rPr>
                            <a:t>1.455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99.855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77391880"/>
                      </a:ext>
                    </a:extLst>
                  </a:tr>
                  <a:tr h="304553">
                    <a:tc>
                      <a:txBody>
                        <a:bodyPr/>
                        <a:lstStyle/>
                        <a:p>
                          <a:pPr algn="ctr" fontAlgn="ctr"/>
                          <a:r>
                            <a:rPr lang="en-NZ" sz="1600" b="0" i="0" u="none" strike="noStrike">
                              <a:solidFill>
                                <a:srgbClr val="000000"/>
                              </a:solidFill>
                              <a:effectLst/>
                              <a:latin typeface="Calibri" panose="020F0502020204030204" pitchFamily="34" charset="0"/>
                            </a:rPr>
                            <a:t>Group Philosophy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41379" t="-498000" r="-221264" b="-132000"/>
                          </a:stretch>
                        </a:blipFill>
                      </a:tcPr>
                    </a:tc>
                    <a:tc>
                      <a:txBody>
                        <a:bodyPr/>
                        <a:lstStyle/>
                        <a:p>
                          <a:pPr algn="ctr" fontAlgn="ctr"/>
                          <a:r>
                            <a:rPr lang="en-NZ" sz="1600" b="0" i="0" u="none" strike="noStrike" dirty="0">
                              <a:solidFill>
                                <a:srgbClr val="000000"/>
                              </a:solidFill>
                              <a:effectLst/>
                              <a:latin typeface="Calibri" panose="020F0502020204030204" pitchFamily="34" charset="0"/>
                            </a:rPr>
                            <a:t>2.913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101.313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18657533"/>
                      </a:ext>
                    </a:extLst>
                  </a:tr>
                  <a:tr h="304553">
                    <a:tc>
                      <a:txBody>
                        <a:bodyPr/>
                        <a:lstStyle/>
                        <a:p>
                          <a:pPr algn="ctr" fontAlgn="ctr"/>
                          <a:r>
                            <a:rPr lang="en-NZ" sz="1600" b="0" i="0" u="none" strike="noStrike">
                              <a:solidFill>
                                <a:srgbClr val="000000"/>
                              </a:solidFill>
                              <a:effectLst/>
                              <a:latin typeface="Calibri" panose="020F0502020204030204" pitchFamily="34" charset="0"/>
                            </a:rPr>
                            <a:t>Group Statistics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3"/>
                          <a:stretch>
                            <a:fillRect l="-141379" t="-598000" r="-221264" b="-32000"/>
                          </a:stretch>
                        </a:blipFill>
                      </a:tcPr>
                    </a:tc>
                    <a:tc>
                      <a:txBody>
                        <a:bodyPr/>
                        <a:lstStyle/>
                        <a:p>
                          <a:pPr algn="ctr" fontAlgn="ctr"/>
                          <a:r>
                            <a:rPr lang="en-NZ" sz="1600" b="0" i="0" u="none" strike="noStrike" dirty="0">
                              <a:solidFill>
                                <a:srgbClr val="000000"/>
                              </a:solidFill>
                              <a:effectLst/>
                              <a:latin typeface="Calibri" panose="020F0502020204030204" pitchFamily="34" charset="0"/>
                            </a:rPr>
                            <a:t>3.634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r>
                            <a:rPr lang="en-NZ" sz="1600" b="0" i="0" u="none" strike="noStrike" dirty="0">
                              <a:solidFill>
                                <a:srgbClr val="000000"/>
                              </a:solidFill>
                              <a:effectLst/>
                              <a:latin typeface="Calibri" panose="020F0502020204030204" pitchFamily="34" charset="0"/>
                            </a:rPr>
                            <a:t>102.034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0741011"/>
                      </a:ext>
                    </a:extLst>
                  </a:tr>
                </a:tbl>
              </a:graphicData>
            </a:graphic>
          </p:graphicFrame>
        </mc:Fallback>
      </mc:AlternateContent>
      <p:sp>
        <p:nvSpPr>
          <p:cNvPr id="6" name="Oval 5">
            <a:extLst>
              <a:ext uri="{FF2B5EF4-FFF2-40B4-BE49-F238E27FC236}">
                <a16:creationId xmlns:a16="http://schemas.microsoft.com/office/drawing/2014/main" id="{97499E18-5696-4D47-8360-152958AFB8BC}"/>
              </a:ext>
            </a:extLst>
          </p:cNvPr>
          <p:cNvSpPr/>
          <p:nvPr/>
        </p:nvSpPr>
        <p:spPr>
          <a:xfrm>
            <a:off x="1769660" y="3270173"/>
            <a:ext cx="1241946" cy="17196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8" name="Straight Arrow Connector 7">
            <a:extLst>
              <a:ext uri="{FF2B5EF4-FFF2-40B4-BE49-F238E27FC236}">
                <a16:creationId xmlns:a16="http://schemas.microsoft.com/office/drawing/2014/main" id="{227D81E0-6A19-444A-AA5E-11B31F1817D1}"/>
              </a:ext>
            </a:extLst>
          </p:cNvPr>
          <p:cNvCxnSpPr>
            <a:cxnSpLocks/>
          </p:cNvCxnSpPr>
          <p:nvPr/>
        </p:nvCxnSpPr>
        <p:spPr>
          <a:xfrm flipV="1">
            <a:off x="2982381" y="2707187"/>
            <a:ext cx="3957074" cy="1237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E09DACF-DD7C-4DDB-907F-E9D9B5C62D2B}"/>
              </a:ext>
            </a:extLst>
          </p:cNvPr>
          <p:cNvSpPr txBox="1">
            <a:spLocks/>
          </p:cNvSpPr>
          <p:nvPr/>
        </p:nvSpPr>
        <p:spPr>
          <a:xfrm>
            <a:off x="7124131" y="1555392"/>
            <a:ext cx="4778672" cy="7340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In the </a:t>
            </a:r>
            <a:r>
              <a:rPr lang="en-NZ" altLang="ja-JP" sz="1800" b="1" dirty="0">
                <a:solidFill>
                  <a:schemeClr val="tx1"/>
                </a:solidFill>
              </a:rPr>
              <a:t>Estimate</a:t>
            </a:r>
            <a:r>
              <a:rPr lang="en-NZ" altLang="ja-JP" sz="1800" dirty="0">
                <a:solidFill>
                  <a:schemeClr val="tx1"/>
                </a:solidFill>
              </a:rPr>
              <a:t> column of the </a:t>
            </a:r>
            <a:r>
              <a:rPr lang="en-NZ" altLang="ja-JP" sz="1800" b="1" dirty="0">
                <a:solidFill>
                  <a:schemeClr val="tx1"/>
                </a:solidFill>
              </a:rPr>
              <a:t>Coefficients</a:t>
            </a:r>
            <a:r>
              <a:rPr lang="en-NZ" altLang="ja-JP" sz="1800" dirty="0">
                <a:solidFill>
                  <a:schemeClr val="tx1"/>
                </a:solidFill>
              </a:rPr>
              <a:t> </a:t>
            </a:r>
            <a:br>
              <a:rPr lang="en-NZ" altLang="ja-JP" sz="1800" dirty="0">
                <a:solidFill>
                  <a:schemeClr val="tx1"/>
                </a:solidFill>
              </a:rPr>
            </a:br>
            <a:r>
              <a:rPr lang="en-NZ" altLang="ja-JP" sz="1800" dirty="0">
                <a:solidFill>
                  <a:schemeClr val="tx1"/>
                </a:solidFill>
              </a:rPr>
              <a:t>table we have</a:t>
            </a:r>
            <a:endParaRPr lang="en-NZ" altLang="ja-JP" sz="1800" i="1" dirty="0">
              <a:solidFill>
                <a:srgbClr val="C00000"/>
              </a:solidFill>
            </a:endParaRPr>
          </a:p>
        </p:txBody>
      </p:sp>
      <p:sp>
        <p:nvSpPr>
          <p:cNvPr id="17" name="Text Placeholder 5">
            <a:extLst>
              <a:ext uri="{FF2B5EF4-FFF2-40B4-BE49-F238E27FC236}">
                <a16:creationId xmlns:a16="http://schemas.microsoft.com/office/drawing/2014/main" id="{4AEDCC8A-A295-4E08-BEB4-BF55176A7B3B}"/>
              </a:ext>
            </a:extLst>
          </p:cNvPr>
          <p:cNvSpPr txBox="1">
            <a:spLocks/>
          </p:cNvSpPr>
          <p:nvPr/>
        </p:nvSpPr>
        <p:spPr>
          <a:xfrm>
            <a:off x="7010553" y="5280871"/>
            <a:ext cx="4892249" cy="6698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600" dirty="0">
                <a:solidFill>
                  <a:schemeClr val="tx1"/>
                </a:solidFill>
              </a:rPr>
              <a:t>Positive values</a:t>
            </a:r>
          </a:p>
          <a:p>
            <a:pPr algn="ctr">
              <a:lnSpc>
                <a:spcPct val="100000"/>
              </a:lnSpc>
            </a:pPr>
            <a:r>
              <a:rPr lang="en-NZ" altLang="ja-JP" sz="1600" dirty="0">
                <a:solidFill>
                  <a:schemeClr val="tx1"/>
                </a:solidFill>
              </a:rPr>
              <a:t>=&gt; the mean of the reference group (Arts) is smaller than the mean of the other groups</a:t>
            </a:r>
            <a:endParaRPr lang="en-NZ" altLang="ja-JP" sz="1600" i="1" dirty="0">
              <a:solidFill>
                <a:srgbClr val="C00000"/>
              </a:solidFill>
            </a:endParaRPr>
          </a:p>
        </p:txBody>
      </p:sp>
      <p:sp>
        <p:nvSpPr>
          <p:cNvPr id="21" name="Left Brace 20">
            <a:extLst>
              <a:ext uri="{FF2B5EF4-FFF2-40B4-BE49-F238E27FC236}">
                <a16:creationId xmlns:a16="http://schemas.microsoft.com/office/drawing/2014/main" id="{7B73B51D-92CD-4443-BDBA-9DD2B3F6B012}"/>
              </a:ext>
            </a:extLst>
          </p:cNvPr>
          <p:cNvSpPr/>
          <p:nvPr/>
        </p:nvSpPr>
        <p:spPr>
          <a:xfrm>
            <a:off x="9569723" y="3326220"/>
            <a:ext cx="271186" cy="97998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cxnSp>
        <p:nvCxnSpPr>
          <p:cNvPr id="28" name="Connector: Elbow 27">
            <a:extLst>
              <a:ext uri="{FF2B5EF4-FFF2-40B4-BE49-F238E27FC236}">
                <a16:creationId xmlns:a16="http://schemas.microsoft.com/office/drawing/2014/main" id="{610336C8-41CE-420A-A09D-75A1A565B788}"/>
              </a:ext>
            </a:extLst>
          </p:cNvPr>
          <p:cNvCxnSpPr>
            <a:cxnSpLocks/>
            <a:endCxn id="17" idx="0"/>
          </p:cNvCxnSpPr>
          <p:nvPr/>
        </p:nvCxnSpPr>
        <p:spPr>
          <a:xfrm rot="5400000">
            <a:off x="8819291" y="4470114"/>
            <a:ext cx="1448144" cy="173370"/>
          </a:xfrm>
          <a:prstGeom prst="bentConnector3">
            <a:avLst>
              <a:gd name="adj1" fmla="val -173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72A813B2-207B-47C2-497E-968C85834684}"/>
              </a:ext>
            </a:extLst>
          </p:cNvPr>
          <p:cNvSpPr txBox="1">
            <a:spLocks/>
          </p:cNvSpPr>
          <p:nvPr/>
        </p:nvSpPr>
        <p:spPr>
          <a:xfrm>
            <a:off x="1414298" y="728870"/>
            <a:ext cx="523447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Fit the model and conduct hypothesis tests</a:t>
            </a:r>
          </a:p>
        </p:txBody>
      </p:sp>
      <p:sp>
        <p:nvSpPr>
          <p:cNvPr id="22" name="Title 6">
            <a:extLst>
              <a:ext uri="{FF2B5EF4-FFF2-40B4-BE49-F238E27FC236}">
                <a16:creationId xmlns:a16="http://schemas.microsoft.com/office/drawing/2014/main" id="{CF04CC00-0445-04B4-7C81-C8BC760FC473}"/>
              </a:ext>
            </a:extLst>
          </p:cNvPr>
          <p:cNvSpPr txBox="1">
            <a:spLocks/>
          </p:cNvSpPr>
          <p:nvPr/>
        </p:nvSpPr>
        <p:spPr>
          <a:xfrm>
            <a:off x="239266" y="115201"/>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
        <p:nvSpPr>
          <p:cNvPr id="23" name="Text Placeholder 5">
            <a:extLst>
              <a:ext uri="{FF2B5EF4-FFF2-40B4-BE49-F238E27FC236}">
                <a16:creationId xmlns:a16="http://schemas.microsoft.com/office/drawing/2014/main" id="{2ADEE3CD-BB91-8621-C766-1651EE2262C0}"/>
              </a:ext>
            </a:extLst>
          </p:cNvPr>
          <p:cNvSpPr txBox="1">
            <a:spLocks/>
          </p:cNvSpPr>
          <p:nvPr/>
        </p:nvSpPr>
        <p:spPr>
          <a:xfrm>
            <a:off x="403534" y="1225896"/>
            <a:ext cx="4870673" cy="7636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accent6">
                    <a:lumMod val="75000"/>
                  </a:schemeClr>
                </a:solidFill>
              </a:rPr>
              <a:t># 2.1c - Creating the ANOVA model</a:t>
            </a:r>
          </a:p>
          <a:p>
            <a:pPr algn="just">
              <a:lnSpc>
                <a:spcPct val="100000"/>
              </a:lnSpc>
            </a:pPr>
            <a:r>
              <a:rPr lang="en-NZ" altLang="ja-JP" sz="1400" dirty="0">
                <a:solidFill>
                  <a:schemeClr val="bg2">
                    <a:lumMod val="50000"/>
                  </a:schemeClr>
                </a:solidFill>
              </a:rPr>
              <a:t>IQ2c &lt;- </a:t>
            </a:r>
            <a:r>
              <a:rPr lang="en-NZ" altLang="ja-JP" sz="1400" dirty="0" err="1">
                <a:solidFill>
                  <a:schemeClr val="bg2">
                    <a:lumMod val="50000"/>
                  </a:schemeClr>
                </a:solidFill>
              </a:rPr>
              <a:t>lm</a:t>
            </a:r>
            <a:r>
              <a:rPr lang="en-NZ" altLang="ja-JP" sz="1400" dirty="0">
                <a:solidFill>
                  <a:schemeClr val="bg2">
                    <a:lumMod val="50000"/>
                  </a:schemeClr>
                </a:solidFill>
              </a:rPr>
              <a:t>(IQ ~ Group, data=IQ2b)</a:t>
            </a:r>
          </a:p>
          <a:p>
            <a:pPr algn="just">
              <a:lnSpc>
                <a:spcPct val="100000"/>
              </a:lnSpc>
            </a:pPr>
            <a:r>
              <a:rPr lang="en-NZ" altLang="ja-JP" sz="1400" dirty="0">
                <a:solidFill>
                  <a:schemeClr val="bg2">
                    <a:lumMod val="50000"/>
                  </a:schemeClr>
                </a:solidFill>
              </a:rPr>
              <a:t>summary(IQ2c)</a:t>
            </a:r>
          </a:p>
        </p:txBody>
      </p:sp>
    </p:spTree>
    <p:extLst>
      <p:ext uri="{BB962C8B-B14F-4D97-AF65-F5344CB8AC3E}">
        <p14:creationId xmlns:p14="http://schemas.microsoft.com/office/powerpoint/2010/main" val="311608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47</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728870"/>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2:</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728870"/>
            <a:ext cx="523447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Fit the model and conduct hypothesis tests</a:t>
            </a:r>
          </a:p>
        </p:txBody>
      </p:sp>
      <p:pic>
        <p:nvPicPr>
          <p:cNvPr id="4" name="Picture 3">
            <a:extLst>
              <a:ext uri="{FF2B5EF4-FFF2-40B4-BE49-F238E27FC236}">
                <a16:creationId xmlns:a16="http://schemas.microsoft.com/office/drawing/2014/main" id="{8B4EE467-849A-47FE-AAF0-888251786458}"/>
              </a:ext>
            </a:extLst>
          </p:cNvPr>
          <p:cNvPicPr>
            <a:picLocks noChangeAspect="1"/>
          </p:cNvPicPr>
          <p:nvPr/>
        </p:nvPicPr>
        <p:blipFill>
          <a:blip r:embed="rId2"/>
          <a:stretch>
            <a:fillRect/>
          </a:stretch>
        </p:blipFill>
        <p:spPr>
          <a:xfrm>
            <a:off x="216520" y="2024789"/>
            <a:ext cx="6722935" cy="4109183"/>
          </a:xfrm>
          <a:prstGeom prst="rect">
            <a:avLst/>
          </a:prstGeom>
        </p:spPr>
      </p:pic>
      <p:sp>
        <p:nvSpPr>
          <p:cNvPr id="6" name="Oval 5">
            <a:extLst>
              <a:ext uri="{FF2B5EF4-FFF2-40B4-BE49-F238E27FC236}">
                <a16:creationId xmlns:a16="http://schemas.microsoft.com/office/drawing/2014/main" id="{97499E18-5696-4D47-8360-152958AFB8BC}"/>
              </a:ext>
            </a:extLst>
          </p:cNvPr>
          <p:cNvSpPr/>
          <p:nvPr/>
        </p:nvSpPr>
        <p:spPr>
          <a:xfrm>
            <a:off x="4612943" y="3379899"/>
            <a:ext cx="1705970" cy="15111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8" name="Straight Arrow Connector 7">
            <a:extLst>
              <a:ext uri="{FF2B5EF4-FFF2-40B4-BE49-F238E27FC236}">
                <a16:creationId xmlns:a16="http://schemas.microsoft.com/office/drawing/2014/main" id="{227D81E0-6A19-444A-AA5E-11B31F1817D1}"/>
              </a:ext>
            </a:extLst>
          </p:cNvPr>
          <p:cNvCxnSpPr>
            <a:cxnSpLocks/>
          </p:cNvCxnSpPr>
          <p:nvPr/>
        </p:nvCxnSpPr>
        <p:spPr>
          <a:xfrm flipV="1">
            <a:off x="6318913" y="2127043"/>
            <a:ext cx="1610436" cy="18352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E09DACF-DD7C-4DDB-907F-E9D9B5C62D2B}"/>
              </a:ext>
            </a:extLst>
          </p:cNvPr>
          <p:cNvSpPr txBox="1">
            <a:spLocks/>
          </p:cNvSpPr>
          <p:nvPr/>
        </p:nvSpPr>
        <p:spPr>
          <a:xfrm>
            <a:off x="7196809" y="1292665"/>
            <a:ext cx="4778672" cy="7340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The column </a:t>
            </a:r>
            <a:r>
              <a:rPr lang="en-NZ" altLang="ja-JP" sz="1800" b="1" dirty="0" err="1">
                <a:solidFill>
                  <a:schemeClr val="tx1"/>
                </a:solidFill>
              </a:rPr>
              <a:t>Pr</a:t>
            </a:r>
            <a:r>
              <a:rPr lang="en-NZ" altLang="ja-JP" sz="1800" b="1" dirty="0">
                <a:solidFill>
                  <a:schemeClr val="tx1"/>
                </a:solidFill>
              </a:rPr>
              <a:t>(&gt;|t|) </a:t>
            </a:r>
            <a:r>
              <a:rPr lang="en-NZ" altLang="ja-JP" sz="1800" dirty="0">
                <a:solidFill>
                  <a:schemeClr val="tx1"/>
                </a:solidFill>
              </a:rPr>
              <a:t>gives p-values for the hypothesis tests</a:t>
            </a:r>
            <a:br>
              <a:rPr lang="en-NZ" altLang="ja-JP" sz="1800" dirty="0">
                <a:solidFill>
                  <a:schemeClr val="tx1"/>
                </a:solidFill>
              </a:rPr>
            </a:br>
            <a:endParaRPr lang="en-NZ" altLang="ja-JP" sz="1800" i="1" dirty="0">
              <a:solidFill>
                <a:srgbClr val="C00000"/>
              </a:solidFill>
            </a:endParaRPr>
          </a:p>
        </p:txBody>
      </p:sp>
      <mc:AlternateContent xmlns:mc="http://schemas.openxmlformats.org/markup-compatibility/2006">
        <mc:Choice xmlns:a14="http://schemas.microsoft.com/office/drawing/2010/main" Requires="a14">
          <p:sp>
            <p:nvSpPr>
              <p:cNvPr id="19" name="Text Placeholder 5">
                <a:extLst>
                  <a:ext uri="{FF2B5EF4-FFF2-40B4-BE49-F238E27FC236}">
                    <a16:creationId xmlns:a16="http://schemas.microsoft.com/office/drawing/2014/main" id="{A96AA4CD-16ED-4CBE-B1B0-E97D555DD342}"/>
                  </a:ext>
                </a:extLst>
              </p:cNvPr>
              <p:cNvSpPr txBox="1">
                <a:spLocks/>
              </p:cNvSpPr>
              <p:nvPr/>
            </p:nvSpPr>
            <p:spPr>
              <a:xfrm>
                <a:off x="7796403" y="2084916"/>
                <a:ext cx="3507477" cy="1021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𝟏</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𝝁</m:t>
                          </m:r>
                        </m:e>
                        <m:sub>
                          <m:r>
                            <a:rPr lang="en-NZ" altLang="ja-JP" sz="2000" b="1" i="1" smtClean="0">
                              <a:solidFill>
                                <a:schemeClr val="tx1"/>
                              </a:solidFill>
                              <a:latin typeface="Cambria Math" panose="02040503050406030204" pitchFamily="18" charset="0"/>
                            </a:rPr>
                            <m:t>𝟏</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m:oMathPara>
                </a14:m>
                <a:endParaRPr lang="en-NZ" altLang="ja-JP" sz="1600" dirty="0">
                  <a:solidFill>
                    <a:schemeClr val="tx1"/>
                  </a:solidFill>
                </a:endParaRPr>
              </a:p>
            </p:txBody>
          </p:sp>
        </mc:Choice>
        <mc:Fallback>
          <p:sp>
            <p:nvSpPr>
              <p:cNvPr id="19" name="Text Placeholder 5">
                <a:extLst>
                  <a:ext uri="{FF2B5EF4-FFF2-40B4-BE49-F238E27FC236}">
                    <a16:creationId xmlns:a16="http://schemas.microsoft.com/office/drawing/2014/main" id="{A96AA4CD-16ED-4CBE-B1B0-E97D555DD342}"/>
                  </a:ext>
                </a:extLst>
              </p:cNvPr>
              <p:cNvSpPr txBox="1">
                <a:spLocks noRot="1" noChangeAspect="1" noMove="1" noResize="1" noEditPoints="1" noAdjustHandles="1" noChangeArrowheads="1" noChangeShapeType="1" noTextEdit="1"/>
              </p:cNvSpPr>
              <p:nvPr/>
            </p:nvSpPr>
            <p:spPr>
              <a:xfrm>
                <a:off x="7796403" y="2084916"/>
                <a:ext cx="3507477" cy="1021587"/>
              </a:xfrm>
              <a:prstGeom prst="rect">
                <a:avLst/>
              </a:prstGeom>
              <a:blipFill>
                <a:blip r:embed="rId3"/>
                <a:stretch>
                  <a:fillRect/>
                </a:stretch>
              </a:blipFill>
            </p:spPr>
            <p:txBody>
              <a:bodyPr/>
              <a:lstStyle/>
              <a:p>
                <a:r>
                  <a:rPr lang="en-NZ">
                    <a:noFill/>
                  </a:rPr>
                  <a:t> </a:t>
                </a:r>
              </a:p>
            </p:txBody>
          </p:sp>
        </mc:Fallback>
      </mc:AlternateContent>
      <p:sp>
        <p:nvSpPr>
          <p:cNvPr id="22" name="Oval 21">
            <a:extLst>
              <a:ext uri="{FF2B5EF4-FFF2-40B4-BE49-F238E27FC236}">
                <a16:creationId xmlns:a16="http://schemas.microsoft.com/office/drawing/2014/main" id="{3F2CF457-5785-48F4-B4F0-27CF4EE172FC}"/>
              </a:ext>
            </a:extLst>
          </p:cNvPr>
          <p:cNvSpPr/>
          <p:nvPr/>
        </p:nvSpPr>
        <p:spPr>
          <a:xfrm>
            <a:off x="95535" y="5215153"/>
            <a:ext cx="6509982" cy="412171"/>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0070C0"/>
              </a:solidFill>
            </a:endParaRPr>
          </a:p>
        </p:txBody>
      </p:sp>
      <mc:AlternateContent xmlns:mc="http://schemas.openxmlformats.org/markup-compatibility/2006">
        <mc:Choice xmlns:a14="http://schemas.microsoft.com/office/drawing/2010/main" Requires="a14">
          <p:sp>
            <p:nvSpPr>
              <p:cNvPr id="24" name="Text Placeholder 5">
                <a:extLst>
                  <a:ext uri="{FF2B5EF4-FFF2-40B4-BE49-F238E27FC236}">
                    <a16:creationId xmlns:a16="http://schemas.microsoft.com/office/drawing/2014/main" id="{7BF49BA1-F286-4B61-B05A-6D274302A171}"/>
                  </a:ext>
                </a:extLst>
              </p:cNvPr>
              <p:cNvSpPr txBox="1">
                <a:spLocks/>
              </p:cNvSpPr>
              <p:nvPr/>
            </p:nvSpPr>
            <p:spPr>
              <a:xfrm>
                <a:off x="7310693" y="3451231"/>
                <a:ext cx="4778672" cy="12282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chemeClr val="tx1"/>
                    </a:solidFill>
                  </a:rPr>
                  <a:t>Residual standard error gives an estimate of the common standard deviation of the groups, i.e.</a:t>
                </a:r>
              </a:p>
              <a:p>
                <a:pPr algn="ctr">
                  <a:lnSpc>
                    <a:spcPct val="100000"/>
                  </a:lnSpc>
                </a:pPr>
                <a14:m>
                  <m:oMathPara xmlns:m="http://schemas.openxmlformats.org/officeDocument/2006/math">
                    <m:oMathParaPr>
                      <m:jc m:val="centerGroup"/>
                    </m:oMathParaPr>
                    <m:oMath xmlns:m="http://schemas.openxmlformats.org/officeDocument/2006/math">
                      <m:acc>
                        <m:accPr>
                          <m:chr m:val="̂"/>
                          <m:ctrlPr>
                            <a:rPr lang="en-NZ" altLang="ja-JP" sz="1800" b="1" i="1" smtClean="0">
                              <a:solidFill>
                                <a:schemeClr val="tx1"/>
                              </a:solidFill>
                              <a:latin typeface="Cambria Math" panose="02040503050406030204" pitchFamily="18" charset="0"/>
                            </a:rPr>
                          </m:ctrlPr>
                        </m:accPr>
                        <m:e>
                          <m:r>
                            <a:rPr lang="en-NZ" altLang="ja-JP" sz="1800" b="1" i="1" smtClean="0">
                              <a:solidFill>
                                <a:schemeClr val="tx1"/>
                              </a:solidFill>
                              <a:latin typeface="Cambria Math" panose="02040503050406030204" pitchFamily="18" charset="0"/>
                            </a:rPr>
                            <m:t>𝝈</m:t>
                          </m:r>
                        </m:e>
                      </m:acc>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𝒔</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𝟗</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𝟗𝟔𝟔</m:t>
                      </m:r>
                    </m:oMath>
                  </m:oMathPara>
                </a14:m>
                <a:br>
                  <a:rPr lang="en-NZ" altLang="ja-JP" sz="1800" dirty="0">
                    <a:solidFill>
                      <a:schemeClr val="tx1"/>
                    </a:solidFill>
                  </a:rPr>
                </a:br>
                <a:endParaRPr lang="en-NZ" altLang="ja-JP" sz="1800" i="1" dirty="0">
                  <a:solidFill>
                    <a:srgbClr val="C00000"/>
                  </a:solidFill>
                </a:endParaRPr>
              </a:p>
            </p:txBody>
          </p:sp>
        </mc:Choice>
        <mc:Fallback>
          <p:sp>
            <p:nvSpPr>
              <p:cNvPr id="24" name="Text Placeholder 5">
                <a:extLst>
                  <a:ext uri="{FF2B5EF4-FFF2-40B4-BE49-F238E27FC236}">
                    <a16:creationId xmlns:a16="http://schemas.microsoft.com/office/drawing/2014/main" id="{7BF49BA1-F286-4B61-B05A-6D274302A171}"/>
                  </a:ext>
                </a:extLst>
              </p:cNvPr>
              <p:cNvSpPr txBox="1">
                <a:spLocks noRot="1" noChangeAspect="1" noMove="1" noResize="1" noEditPoints="1" noAdjustHandles="1" noChangeArrowheads="1" noChangeShapeType="1" noTextEdit="1"/>
              </p:cNvSpPr>
              <p:nvPr/>
            </p:nvSpPr>
            <p:spPr>
              <a:xfrm>
                <a:off x="7310693" y="3451231"/>
                <a:ext cx="4778672" cy="1228217"/>
              </a:xfrm>
              <a:prstGeom prst="rect">
                <a:avLst/>
              </a:prstGeom>
              <a:blipFill>
                <a:blip r:embed="rId4"/>
                <a:stretch>
                  <a:fillRect t="-2475" r="-383"/>
                </a:stretch>
              </a:blipFill>
            </p:spPr>
            <p:txBody>
              <a:bodyPr/>
              <a:lstStyle/>
              <a:p>
                <a:r>
                  <a:rPr lang="en-NZ">
                    <a:noFill/>
                  </a:rPr>
                  <a:t> </a:t>
                </a:r>
              </a:p>
            </p:txBody>
          </p:sp>
        </mc:Fallback>
      </mc:AlternateContent>
      <p:cxnSp>
        <p:nvCxnSpPr>
          <p:cNvPr id="25" name="Straight Arrow Connector 24">
            <a:extLst>
              <a:ext uri="{FF2B5EF4-FFF2-40B4-BE49-F238E27FC236}">
                <a16:creationId xmlns:a16="http://schemas.microsoft.com/office/drawing/2014/main" id="{83CD7BD0-4986-4E64-B384-BA0EF21A9A83}"/>
              </a:ext>
            </a:extLst>
          </p:cNvPr>
          <p:cNvCxnSpPr>
            <a:cxnSpLocks/>
            <a:stCxn id="22" idx="6"/>
          </p:cNvCxnSpPr>
          <p:nvPr/>
        </p:nvCxnSpPr>
        <p:spPr>
          <a:xfrm flipV="1">
            <a:off x="6605517" y="4135272"/>
            <a:ext cx="1014504" cy="1285967"/>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21044F2-9DD5-4A65-92FA-418C8250B595}"/>
              </a:ext>
            </a:extLst>
          </p:cNvPr>
          <p:cNvSpPr/>
          <p:nvPr/>
        </p:nvSpPr>
        <p:spPr>
          <a:xfrm>
            <a:off x="95535" y="5677783"/>
            <a:ext cx="6509982" cy="4121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30" name="Straight Arrow Connector 29">
            <a:extLst>
              <a:ext uri="{FF2B5EF4-FFF2-40B4-BE49-F238E27FC236}">
                <a16:creationId xmlns:a16="http://schemas.microsoft.com/office/drawing/2014/main" id="{818EA720-5BD3-4294-B505-739BC14A890A}"/>
              </a:ext>
            </a:extLst>
          </p:cNvPr>
          <p:cNvCxnSpPr>
            <a:cxnSpLocks/>
            <a:endCxn id="32" idx="1"/>
          </p:cNvCxnSpPr>
          <p:nvPr/>
        </p:nvCxnSpPr>
        <p:spPr>
          <a:xfrm flipV="1">
            <a:off x="6648777" y="5380402"/>
            <a:ext cx="971244" cy="5271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Text Placeholder 5">
                <a:extLst>
                  <a:ext uri="{FF2B5EF4-FFF2-40B4-BE49-F238E27FC236}">
                    <a16:creationId xmlns:a16="http://schemas.microsoft.com/office/drawing/2014/main" id="{03BB467D-C649-423D-A92E-1EFD534F949B}"/>
                  </a:ext>
                </a:extLst>
              </p:cNvPr>
              <p:cNvSpPr txBox="1">
                <a:spLocks/>
              </p:cNvSpPr>
              <p:nvPr/>
            </p:nvSpPr>
            <p:spPr>
              <a:xfrm>
                <a:off x="7620021" y="4766293"/>
                <a:ext cx="4571979" cy="12282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800" dirty="0">
                    <a:solidFill>
                      <a:schemeClr val="tx1"/>
                    </a:solidFill>
                  </a:rPr>
                  <a:t>F-statistic, degrees of freedom and p-value for the global hypothesis test</a:t>
                </a:r>
              </a:p>
              <a:p>
                <a:pPr algn="ctr">
                  <a:lnSpc>
                    <a:spcPct val="100000"/>
                  </a:lnSpc>
                </a:pPr>
                <a14:m>
                  <m:oMathPara xmlns:m="http://schemas.openxmlformats.org/officeDocument/2006/math">
                    <m:oMathParaPr>
                      <m:jc m:val="centerGroup"/>
                    </m:oMathParaPr>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a:solidFill>
                                <a:schemeClr val="tx1"/>
                              </a:solidFill>
                              <a:latin typeface="Cambria Math" panose="02040503050406030204" pitchFamily="18" charset="0"/>
                            </a:rPr>
                            <m:t>𝟎</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𝝁</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𝝁</m:t>
                      </m:r>
                      <m:r>
                        <m:rPr>
                          <m:nor/>
                        </m:rPr>
                        <a:rPr lang="en-NZ" altLang="ja-JP" sz="1800" b="1" i="1" dirty="0">
                          <a:solidFill>
                            <a:schemeClr val="tx1"/>
                          </a:solidFill>
                          <a:latin typeface="Cambria Math" panose="02040503050406030204" pitchFamily="18" charset="0"/>
                        </a:rPr>
                        <m:t>  </m:t>
                      </m:r>
                      <m:r>
                        <m:rPr>
                          <m:nor/>
                        </m:rPr>
                        <a:rPr lang="en-NZ" altLang="ja-JP" sz="1400" dirty="0">
                          <a:solidFill>
                            <a:schemeClr val="tx1"/>
                          </a:solidFill>
                          <a:latin typeface="Cambria Math" panose="02040503050406030204" pitchFamily="18" charset="0"/>
                        </a:rPr>
                        <m:t>for</m:t>
                      </m:r>
                      <m:r>
                        <m:rPr>
                          <m:nor/>
                        </m:rPr>
                        <a:rPr lang="en-NZ" altLang="ja-JP" sz="1400" dirty="0">
                          <a:solidFill>
                            <a:schemeClr val="tx1"/>
                          </a:solidFill>
                          <a:latin typeface="Cambria Math" panose="02040503050406030204" pitchFamily="18" charset="0"/>
                        </a:rPr>
                        <m:t> </m:t>
                      </m:r>
                      <m:r>
                        <m:rPr>
                          <m:nor/>
                        </m:rPr>
                        <a:rPr lang="en-NZ" altLang="ja-JP" sz="1400" dirty="0">
                          <a:solidFill>
                            <a:schemeClr val="tx1"/>
                          </a:solidFill>
                          <a:latin typeface="Cambria Math" panose="02040503050406030204" pitchFamily="18" charset="0"/>
                        </a:rPr>
                        <m:t>all</m:t>
                      </m:r>
                      <m:r>
                        <m:rPr>
                          <m:nor/>
                        </m:rPr>
                        <a:rPr lang="en-NZ" altLang="ja-JP" sz="1400" dirty="0">
                          <a:solidFill>
                            <a:schemeClr val="tx1"/>
                          </a:solidFill>
                          <a:latin typeface="Cambria Math" panose="02040503050406030204" pitchFamily="18" charset="0"/>
                        </a:rPr>
                        <m:t> </m:t>
                      </m:r>
                      <m:r>
                        <a:rPr lang="en-NZ" altLang="ja-JP" sz="1400" i="1">
                          <a:solidFill>
                            <a:schemeClr val="tx1"/>
                          </a:solidFill>
                          <a:latin typeface="Cambria Math" panose="02040503050406030204" pitchFamily="18" charset="0"/>
                        </a:rPr>
                        <m:t>𝑖</m:t>
                      </m:r>
                      <m:r>
                        <a:rPr lang="en-NZ" altLang="ja-JP" sz="1400" i="1">
                          <a:solidFill>
                            <a:schemeClr val="tx1"/>
                          </a:solidFill>
                          <a:latin typeface="Cambria Math" panose="02040503050406030204" pitchFamily="18" charset="0"/>
                        </a:rPr>
                        <m:t>=1, …, 5</m:t>
                      </m:r>
                      <m:r>
                        <m:rPr>
                          <m:nor/>
                        </m:rPr>
                        <a:rPr lang="en-NZ" altLang="ja-JP" sz="1400" dirty="0">
                          <a:solidFill>
                            <a:schemeClr val="tx1"/>
                          </a:solidFill>
                          <a:latin typeface="Cambria Math" panose="02040503050406030204" pitchFamily="18" charset="0"/>
                        </a:rPr>
                        <m:t> </m:t>
                      </m:r>
                    </m:oMath>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a:solidFill>
                                <a:schemeClr val="tx1"/>
                              </a:solidFill>
                              <a:latin typeface="Cambria Math" panose="02040503050406030204" pitchFamily="18" charset="0"/>
                            </a:rPr>
                            <m:t>𝟏</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𝝁</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𝝁</m:t>
                      </m:r>
                      <m:r>
                        <m:rPr>
                          <m:nor/>
                        </m:rPr>
                        <a:rPr lang="en-NZ" altLang="ja-JP" sz="1800" b="1" dirty="0">
                          <a:solidFill>
                            <a:schemeClr val="tx1"/>
                          </a:solidFill>
                        </a:rPr>
                        <m:t>  </m:t>
                      </m:r>
                      <m:r>
                        <m:rPr>
                          <m:nor/>
                        </m:rPr>
                        <a:rPr lang="en-NZ" altLang="ja-JP" sz="1400" dirty="0">
                          <a:solidFill>
                            <a:schemeClr val="tx1"/>
                          </a:solidFill>
                        </a:rPr>
                        <m:t>for</m:t>
                      </m:r>
                      <m:r>
                        <m:rPr>
                          <m:nor/>
                        </m:rPr>
                        <a:rPr lang="en-NZ" altLang="ja-JP" sz="1400" dirty="0">
                          <a:solidFill>
                            <a:schemeClr val="tx1"/>
                          </a:solidFill>
                        </a:rPr>
                        <m:t> </m:t>
                      </m:r>
                      <m:r>
                        <m:rPr>
                          <m:nor/>
                        </m:rPr>
                        <a:rPr lang="en-NZ" altLang="ja-JP" sz="1400" dirty="0">
                          <a:solidFill>
                            <a:schemeClr val="tx1"/>
                          </a:solidFill>
                        </a:rPr>
                        <m:t>some</m:t>
                      </m:r>
                      <m:r>
                        <m:rPr>
                          <m:nor/>
                        </m:rPr>
                        <a:rPr lang="en-NZ" altLang="ja-JP" sz="1400" dirty="0">
                          <a:solidFill>
                            <a:schemeClr val="tx1"/>
                          </a:solidFill>
                        </a:rPr>
                        <m:t> </m:t>
                      </m:r>
                      <m:r>
                        <a:rPr lang="en-NZ" altLang="ja-JP" sz="1400" i="1">
                          <a:solidFill>
                            <a:schemeClr val="tx1"/>
                          </a:solidFill>
                          <a:latin typeface="Cambria Math" panose="02040503050406030204" pitchFamily="18" charset="0"/>
                        </a:rPr>
                        <m:t>𝑖</m:t>
                      </m:r>
                    </m:oMath>
                  </m:oMathPara>
                </a14:m>
                <a:br>
                  <a:rPr lang="en-NZ" altLang="ja-JP" sz="1800" dirty="0">
                    <a:solidFill>
                      <a:schemeClr val="tx1"/>
                    </a:solidFill>
                  </a:rPr>
                </a:br>
                <a:endParaRPr lang="en-NZ" altLang="ja-JP" sz="1800" i="1" dirty="0">
                  <a:solidFill>
                    <a:srgbClr val="C00000"/>
                  </a:solidFill>
                </a:endParaRPr>
              </a:p>
            </p:txBody>
          </p:sp>
        </mc:Choice>
        <mc:Fallback>
          <p:sp>
            <p:nvSpPr>
              <p:cNvPr id="32" name="Text Placeholder 5">
                <a:extLst>
                  <a:ext uri="{FF2B5EF4-FFF2-40B4-BE49-F238E27FC236}">
                    <a16:creationId xmlns:a16="http://schemas.microsoft.com/office/drawing/2014/main" id="{03BB467D-C649-423D-A92E-1EFD534F949B}"/>
                  </a:ext>
                </a:extLst>
              </p:cNvPr>
              <p:cNvSpPr txBox="1">
                <a:spLocks noRot="1" noChangeAspect="1" noMove="1" noResize="1" noEditPoints="1" noAdjustHandles="1" noChangeArrowheads="1" noChangeShapeType="1" noTextEdit="1"/>
              </p:cNvSpPr>
              <p:nvPr/>
            </p:nvSpPr>
            <p:spPr>
              <a:xfrm>
                <a:off x="7620021" y="4766293"/>
                <a:ext cx="4571979" cy="1228217"/>
              </a:xfrm>
              <a:prstGeom prst="rect">
                <a:avLst/>
              </a:prstGeom>
              <a:blipFill>
                <a:blip r:embed="rId5"/>
                <a:stretch>
                  <a:fillRect l="-1067" t="-2985"/>
                </a:stretch>
              </a:blipFill>
            </p:spPr>
            <p:txBody>
              <a:bodyPr/>
              <a:lstStyle/>
              <a:p>
                <a:r>
                  <a:rPr lang="en-NZ">
                    <a:noFill/>
                  </a:rPr>
                  <a:t> </a:t>
                </a:r>
              </a:p>
            </p:txBody>
          </p:sp>
        </mc:Fallback>
      </mc:AlternateContent>
      <p:sp>
        <p:nvSpPr>
          <p:cNvPr id="36" name="Text Placeholder 5">
            <a:extLst>
              <a:ext uri="{FF2B5EF4-FFF2-40B4-BE49-F238E27FC236}">
                <a16:creationId xmlns:a16="http://schemas.microsoft.com/office/drawing/2014/main" id="{9B621B80-F4FB-4E4B-BCCE-599EF339DE1C}"/>
              </a:ext>
            </a:extLst>
          </p:cNvPr>
          <p:cNvSpPr txBox="1">
            <a:spLocks/>
          </p:cNvSpPr>
          <p:nvPr/>
        </p:nvSpPr>
        <p:spPr>
          <a:xfrm>
            <a:off x="705134" y="6169222"/>
            <a:ext cx="10781731" cy="439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C00000"/>
                </a:solidFill>
              </a:rPr>
              <a:t>Very strong evidence against the null hypothesis that the mean of all groups is the same</a:t>
            </a:r>
            <a:br>
              <a:rPr lang="en-NZ" altLang="ja-JP" sz="1800" b="1" dirty="0">
                <a:solidFill>
                  <a:srgbClr val="C00000"/>
                </a:solidFill>
              </a:rPr>
            </a:br>
            <a:endParaRPr lang="en-NZ" altLang="ja-JP" sz="1800" b="1" i="1" dirty="0">
              <a:solidFill>
                <a:srgbClr val="C00000"/>
              </a:solidFill>
            </a:endParaRPr>
          </a:p>
        </p:txBody>
      </p:sp>
      <p:sp>
        <p:nvSpPr>
          <p:cNvPr id="37" name="Title 6">
            <a:extLst>
              <a:ext uri="{FF2B5EF4-FFF2-40B4-BE49-F238E27FC236}">
                <a16:creationId xmlns:a16="http://schemas.microsoft.com/office/drawing/2014/main" id="{22321C55-94F8-4636-8B49-DBBEDD5950B8}"/>
              </a:ext>
            </a:extLst>
          </p:cNvPr>
          <p:cNvSpPr txBox="1">
            <a:spLocks/>
          </p:cNvSpPr>
          <p:nvPr/>
        </p:nvSpPr>
        <p:spPr>
          <a:xfrm>
            <a:off x="239266" y="115201"/>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
        <p:nvSpPr>
          <p:cNvPr id="20" name="Text Placeholder 5">
            <a:extLst>
              <a:ext uri="{FF2B5EF4-FFF2-40B4-BE49-F238E27FC236}">
                <a16:creationId xmlns:a16="http://schemas.microsoft.com/office/drawing/2014/main" id="{9295DF6F-C22B-C6AE-81F9-3152887801BF}"/>
              </a:ext>
            </a:extLst>
          </p:cNvPr>
          <p:cNvSpPr txBox="1">
            <a:spLocks/>
          </p:cNvSpPr>
          <p:nvPr/>
        </p:nvSpPr>
        <p:spPr>
          <a:xfrm>
            <a:off x="403534" y="1225896"/>
            <a:ext cx="4870673" cy="7636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accent6">
                    <a:lumMod val="75000"/>
                  </a:schemeClr>
                </a:solidFill>
              </a:rPr>
              <a:t># 2.1c - Creating the ANOVA model</a:t>
            </a:r>
          </a:p>
          <a:p>
            <a:pPr algn="just">
              <a:lnSpc>
                <a:spcPct val="100000"/>
              </a:lnSpc>
            </a:pPr>
            <a:r>
              <a:rPr lang="en-NZ" altLang="ja-JP" sz="1400" dirty="0">
                <a:solidFill>
                  <a:schemeClr val="bg2">
                    <a:lumMod val="50000"/>
                  </a:schemeClr>
                </a:solidFill>
              </a:rPr>
              <a:t>IQ2c &lt;- </a:t>
            </a:r>
            <a:r>
              <a:rPr lang="en-NZ" altLang="ja-JP" sz="1400" dirty="0" err="1">
                <a:solidFill>
                  <a:schemeClr val="bg2">
                    <a:lumMod val="50000"/>
                  </a:schemeClr>
                </a:solidFill>
              </a:rPr>
              <a:t>lm</a:t>
            </a:r>
            <a:r>
              <a:rPr lang="en-NZ" altLang="ja-JP" sz="1400" dirty="0">
                <a:solidFill>
                  <a:schemeClr val="bg2">
                    <a:lumMod val="50000"/>
                  </a:schemeClr>
                </a:solidFill>
              </a:rPr>
              <a:t>(IQ ~ Group, data=IQ2b)</a:t>
            </a:r>
          </a:p>
          <a:p>
            <a:pPr algn="just">
              <a:lnSpc>
                <a:spcPct val="100000"/>
              </a:lnSpc>
            </a:pPr>
            <a:r>
              <a:rPr lang="en-NZ" altLang="ja-JP" sz="1400" dirty="0">
                <a:solidFill>
                  <a:schemeClr val="bg2">
                    <a:lumMod val="50000"/>
                  </a:schemeClr>
                </a:solidFill>
              </a:rPr>
              <a:t>summary(IQ2c)</a:t>
            </a:r>
          </a:p>
        </p:txBody>
      </p:sp>
    </p:spTree>
    <p:extLst>
      <p:ext uri="{BB962C8B-B14F-4D97-AF65-F5344CB8AC3E}">
        <p14:creationId xmlns:p14="http://schemas.microsoft.com/office/powerpoint/2010/main" val="221170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P spid="29" grpId="0" animBg="1"/>
      <p:bldP spid="32" grpId="0"/>
      <p:bldP spid="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48</a:t>
            </a:fld>
            <a:endParaRPr kumimoji="1" lang="ja-JP" altLang="en-US" dirty="0">
              <a:solidFill>
                <a:srgbClr val="575454">
                  <a:lumMod val="20000"/>
                  <a:lumOff val="80000"/>
                </a:srgbClr>
              </a:solidFill>
              <a:latin typeface="Coo Hew"/>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728870"/>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2:</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728870"/>
            <a:ext cx="523447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Fit the model and conduct hypothesis tests</a:t>
            </a:r>
          </a:p>
        </p:txBody>
      </p:sp>
      <p:sp>
        <p:nvSpPr>
          <p:cNvPr id="37" name="Title 6">
            <a:extLst>
              <a:ext uri="{FF2B5EF4-FFF2-40B4-BE49-F238E27FC236}">
                <a16:creationId xmlns:a16="http://schemas.microsoft.com/office/drawing/2014/main" id="{22321C55-94F8-4636-8B49-DBBEDD5950B8}"/>
              </a:ext>
            </a:extLst>
          </p:cNvPr>
          <p:cNvSpPr txBox="1">
            <a:spLocks/>
          </p:cNvSpPr>
          <p:nvPr/>
        </p:nvSpPr>
        <p:spPr>
          <a:xfrm>
            <a:off x="239266" y="115201"/>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
        <p:nvSpPr>
          <p:cNvPr id="20" name="Text Placeholder 5">
            <a:extLst>
              <a:ext uri="{FF2B5EF4-FFF2-40B4-BE49-F238E27FC236}">
                <a16:creationId xmlns:a16="http://schemas.microsoft.com/office/drawing/2014/main" id="{9295DF6F-C22B-C6AE-81F9-3152887801BF}"/>
              </a:ext>
            </a:extLst>
          </p:cNvPr>
          <p:cNvSpPr txBox="1">
            <a:spLocks/>
          </p:cNvSpPr>
          <p:nvPr/>
        </p:nvSpPr>
        <p:spPr>
          <a:xfrm>
            <a:off x="430830" y="1412571"/>
            <a:ext cx="4870673" cy="7636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accent6">
                    <a:lumMod val="75000"/>
                  </a:schemeClr>
                </a:solidFill>
              </a:rPr>
              <a:t># 2.1d - Obtaining the summary ANOVA table</a:t>
            </a:r>
          </a:p>
          <a:p>
            <a:pPr algn="just">
              <a:lnSpc>
                <a:spcPct val="100000"/>
              </a:lnSpc>
            </a:pPr>
            <a:r>
              <a:rPr lang="en-NZ" altLang="ja-JP" sz="1800" dirty="0">
                <a:solidFill>
                  <a:schemeClr val="bg2">
                    <a:lumMod val="50000"/>
                  </a:schemeClr>
                </a:solidFill>
              </a:rPr>
              <a:t>IQ2d &lt;- </a:t>
            </a:r>
            <a:r>
              <a:rPr lang="en-NZ" altLang="ja-JP" sz="1800" dirty="0" err="1">
                <a:solidFill>
                  <a:schemeClr val="bg2">
                    <a:lumMod val="50000"/>
                  </a:schemeClr>
                </a:solidFill>
              </a:rPr>
              <a:t>anova</a:t>
            </a:r>
            <a:r>
              <a:rPr lang="en-NZ" altLang="ja-JP" sz="1800" dirty="0">
                <a:solidFill>
                  <a:schemeClr val="bg2">
                    <a:lumMod val="50000"/>
                  </a:schemeClr>
                </a:solidFill>
              </a:rPr>
              <a:t>(IQ2c)</a:t>
            </a:r>
          </a:p>
          <a:p>
            <a:pPr algn="just">
              <a:lnSpc>
                <a:spcPct val="100000"/>
              </a:lnSpc>
            </a:pPr>
            <a:r>
              <a:rPr lang="en-NZ" altLang="ja-JP" sz="1800" dirty="0">
                <a:solidFill>
                  <a:schemeClr val="bg2">
                    <a:lumMod val="50000"/>
                  </a:schemeClr>
                </a:solidFill>
              </a:rPr>
              <a:t>IQ2d</a:t>
            </a:r>
          </a:p>
        </p:txBody>
      </p:sp>
      <p:pic>
        <p:nvPicPr>
          <p:cNvPr id="3" name="Picture 2">
            <a:extLst>
              <a:ext uri="{FF2B5EF4-FFF2-40B4-BE49-F238E27FC236}">
                <a16:creationId xmlns:a16="http://schemas.microsoft.com/office/drawing/2014/main" id="{07B48E8E-364B-3870-F78F-5291B36C629C}"/>
              </a:ext>
            </a:extLst>
          </p:cNvPr>
          <p:cNvPicPr>
            <a:picLocks noChangeAspect="1"/>
          </p:cNvPicPr>
          <p:nvPr/>
        </p:nvPicPr>
        <p:blipFill>
          <a:blip r:embed="rId2"/>
          <a:stretch>
            <a:fillRect/>
          </a:stretch>
        </p:blipFill>
        <p:spPr>
          <a:xfrm>
            <a:off x="430830" y="2797453"/>
            <a:ext cx="7195723" cy="1612375"/>
          </a:xfrm>
          <a:prstGeom prst="rect">
            <a:avLst/>
          </a:prstGeom>
        </p:spPr>
      </p:pic>
      <mc:AlternateContent xmlns:mc="http://schemas.openxmlformats.org/markup-compatibility/2006">
        <mc:Choice xmlns:a14="http://schemas.microsoft.com/office/drawing/2010/main" Requires="a14">
          <p:sp>
            <p:nvSpPr>
              <p:cNvPr id="26" name="Text Placeholder 5">
                <a:extLst>
                  <a:ext uri="{FF2B5EF4-FFF2-40B4-BE49-F238E27FC236}">
                    <a16:creationId xmlns:a16="http://schemas.microsoft.com/office/drawing/2014/main" id="{1E21DC07-F4DD-82F5-4C57-9A1D8C4C52A8}"/>
                  </a:ext>
                </a:extLst>
              </p:cNvPr>
              <p:cNvSpPr txBox="1">
                <a:spLocks/>
              </p:cNvSpPr>
              <p:nvPr/>
            </p:nvSpPr>
            <p:spPr>
              <a:xfrm>
                <a:off x="7676274" y="4395276"/>
                <a:ext cx="4473266" cy="1322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endParaRPr lang="en-NZ" altLang="ja-JP" sz="1800" b="1" i="1" dirty="0">
                  <a:solidFill>
                    <a:srgbClr val="C0000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00B050"/>
                          </a:solidFill>
                          <a:latin typeface="Cambria Math" panose="02040503050406030204" pitchFamily="18" charset="0"/>
                        </a:rPr>
                        <m:t>𝑭</m:t>
                      </m:r>
                      <m:r>
                        <a:rPr lang="en-NZ" altLang="ja-JP" sz="1600" b="1" i="1" smtClean="0">
                          <a:solidFill>
                            <a:srgbClr val="00B050"/>
                          </a:solidFill>
                          <a:latin typeface="Cambria Math" panose="02040503050406030204" pitchFamily="18" charset="0"/>
                        </a:rPr>
                        <m:t>=</m:t>
                      </m:r>
                      <m:f>
                        <m:fPr>
                          <m:ctrlPr>
                            <a:rPr lang="en-NZ" altLang="ja-JP" sz="1600" b="1" i="1" smtClean="0">
                              <a:solidFill>
                                <a:srgbClr val="00B050"/>
                              </a:solidFill>
                              <a:latin typeface="Cambria Math" panose="02040503050406030204" pitchFamily="18" charset="0"/>
                            </a:rPr>
                          </m:ctrlPr>
                        </m:fPr>
                        <m:num>
                          <m:r>
                            <a:rPr lang="en-NZ" altLang="ja-JP" sz="1600" b="1" i="1" smtClean="0">
                              <a:solidFill>
                                <a:srgbClr val="00B050"/>
                              </a:solidFill>
                              <a:latin typeface="Cambria Math" panose="02040503050406030204" pitchFamily="18" charset="0"/>
                            </a:rPr>
                            <m:t>𝑴𝑺𝑻</m:t>
                          </m:r>
                        </m:num>
                        <m:den>
                          <m:r>
                            <a:rPr lang="en-NZ" altLang="ja-JP" sz="1600" b="1" i="1" smtClean="0">
                              <a:solidFill>
                                <a:srgbClr val="00B050"/>
                              </a:solidFill>
                              <a:latin typeface="Cambria Math" panose="02040503050406030204" pitchFamily="18" charset="0"/>
                            </a:rPr>
                            <m:t>𝑴𝑺𝑬</m:t>
                          </m:r>
                        </m:den>
                      </m:f>
                      <m:r>
                        <a:rPr lang="en-NZ" altLang="ja-JP" sz="1600" b="1" i="1" smtClean="0">
                          <a:solidFill>
                            <a:srgbClr val="00B050"/>
                          </a:solidFill>
                          <a:latin typeface="Cambria Math" panose="02040503050406030204" pitchFamily="18" charset="0"/>
                        </a:rPr>
                        <m:t>=</m:t>
                      </m:r>
                      <m:f>
                        <m:fPr>
                          <m:ctrlPr>
                            <a:rPr lang="en-NZ" altLang="ja-JP" sz="1600" b="1" i="1" smtClean="0">
                              <a:solidFill>
                                <a:srgbClr val="00B050"/>
                              </a:solidFill>
                              <a:latin typeface="Cambria Math" panose="02040503050406030204" pitchFamily="18" charset="0"/>
                            </a:rPr>
                          </m:ctrlPr>
                        </m:fPr>
                        <m:num>
                          <m:r>
                            <a:rPr lang="en-NZ" altLang="ja-JP" sz="1600" b="1" i="1">
                              <a:solidFill>
                                <a:srgbClr val="00B050"/>
                              </a:solidFill>
                              <a:latin typeface="Cambria Math" panose="02040503050406030204" pitchFamily="18" charset="0"/>
                            </a:rPr>
                            <m:t>𝟐</m:t>
                          </m:r>
                          <m:r>
                            <a:rPr lang="en-NZ" altLang="ja-JP" sz="1600" b="1" i="1">
                              <a:solidFill>
                                <a:srgbClr val="00B050"/>
                              </a:solidFill>
                              <a:latin typeface="Cambria Math" panose="02040503050406030204" pitchFamily="18" charset="0"/>
                            </a:rPr>
                            <m:t>,</m:t>
                          </m:r>
                          <m:r>
                            <a:rPr lang="en-NZ" altLang="ja-JP" sz="1600" b="1" i="1">
                              <a:solidFill>
                                <a:srgbClr val="00B050"/>
                              </a:solidFill>
                              <a:latin typeface="Cambria Math" panose="02040503050406030204" pitchFamily="18" charset="0"/>
                            </a:rPr>
                            <m:t>𝟐𝟔𝟑</m:t>
                          </m:r>
                          <m:r>
                            <a:rPr lang="en-NZ" altLang="ja-JP" sz="1600" b="1" i="1">
                              <a:solidFill>
                                <a:srgbClr val="00B050"/>
                              </a:solidFill>
                              <a:latin typeface="Cambria Math" panose="02040503050406030204" pitchFamily="18" charset="0"/>
                            </a:rPr>
                            <m:t>.</m:t>
                          </m:r>
                          <m:r>
                            <a:rPr lang="en-NZ" altLang="ja-JP" sz="1600" b="1" i="1">
                              <a:solidFill>
                                <a:srgbClr val="00B050"/>
                              </a:solidFill>
                              <a:latin typeface="Cambria Math" panose="02040503050406030204" pitchFamily="18" charset="0"/>
                            </a:rPr>
                            <m:t>𝟖𝟗</m:t>
                          </m:r>
                        </m:num>
                        <m:den>
                          <m:r>
                            <a:rPr lang="en-NZ" altLang="ja-JP" sz="1600" b="1" i="1">
                              <a:solidFill>
                                <a:srgbClr val="00B050"/>
                              </a:solidFill>
                              <a:latin typeface="Cambria Math" panose="02040503050406030204" pitchFamily="18" charset="0"/>
                            </a:rPr>
                            <m:t>𝟗𝟗</m:t>
                          </m:r>
                          <m:r>
                            <a:rPr lang="en-NZ" altLang="ja-JP" sz="1600" b="1" i="1">
                              <a:solidFill>
                                <a:srgbClr val="00B050"/>
                              </a:solidFill>
                              <a:latin typeface="Cambria Math" panose="02040503050406030204" pitchFamily="18" charset="0"/>
                            </a:rPr>
                            <m:t>.</m:t>
                          </m:r>
                          <m:r>
                            <a:rPr lang="en-NZ" altLang="ja-JP" sz="1600" b="1" i="1">
                              <a:solidFill>
                                <a:srgbClr val="00B050"/>
                              </a:solidFill>
                              <a:latin typeface="Cambria Math" panose="02040503050406030204" pitchFamily="18" charset="0"/>
                            </a:rPr>
                            <m:t>𝟑𝟐</m:t>
                          </m:r>
                        </m:den>
                      </m:f>
                      <m:r>
                        <a:rPr lang="en-NZ" altLang="ja-JP" sz="1600" b="1" i="1" smtClean="0">
                          <a:solidFill>
                            <a:srgbClr val="00B050"/>
                          </a:solidFill>
                          <a:latin typeface="Cambria Math" panose="02040503050406030204" pitchFamily="18" charset="0"/>
                        </a:rPr>
                        <m:t>=</m:t>
                      </m:r>
                      <m:r>
                        <a:rPr lang="en-NZ" altLang="ja-JP" sz="1600" b="1" i="1" smtClean="0">
                          <a:solidFill>
                            <a:srgbClr val="00B050"/>
                          </a:solidFill>
                          <a:latin typeface="Cambria Math" panose="02040503050406030204" pitchFamily="18" charset="0"/>
                        </a:rPr>
                        <m:t>𝟐𝟐</m:t>
                      </m:r>
                      <m:r>
                        <a:rPr lang="en-NZ" altLang="ja-JP" sz="1600" b="1" i="1" smtClean="0">
                          <a:solidFill>
                            <a:srgbClr val="00B050"/>
                          </a:solidFill>
                          <a:latin typeface="Cambria Math" panose="02040503050406030204" pitchFamily="18" charset="0"/>
                        </a:rPr>
                        <m:t>.</m:t>
                      </m:r>
                      <m:r>
                        <a:rPr lang="en-NZ" altLang="ja-JP" sz="1600" b="1" i="1" smtClean="0">
                          <a:solidFill>
                            <a:srgbClr val="00B050"/>
                          </a:solidFill>
                          <a:latin typeface="Cambria Math" panose="02040503050406030204" pitchFamily="18" charset="0"/>
                        </a:rPr>
                        <m:t>𝟕𝟗𝟒</m:t>
                      </m:r>
                    </m:oMath>
                  </m:oMathPara>
                </a14:m>
                <a:br>
                  <a:rPr lang="en-NZ" altLang="ja-JP" sz="1800" b="1" i="1" dirty="0">
                    <a:solidFill>
                      <a:srgbClr val="00B050"/>
                    </a:solidFill>
                  </a:rPr>
                </a:br>
                <a:endParaRPr lang="en-NZ" altLang="ja-JP" sz="1800" b="1" i="1" dirty="0">
                  <a:solidFill>
                    <a:srgbClr val="00B050"/>
                  </a:solidFill>
                </a:endParaRPr>
              </a:p>
              <a:p>
                <a:pPr algn="just">
                  <a:lnSpc>
                    <a:spcPct val="100000"/>
                  </a:lnSpc>
                </a:pPr>
                <a:endParaRPr lang="en-NZ" altLang="ja-JP" sz="200" b="1" i="1" dirty="0">
                  <a:solidFill>
                    <a:srgbClr val="00B050"/>
                  </a:solidFill>
                </a:endParaRPr>
              </a:p>
              <a:p>
                <a:pPr algn="just">
                  <a:lnSpc>
                    <a:spcPct val="100000"/>
                  </a:lnSpc>
                </a:pPr>
                <a:endParaRPr lang="en-NZ" altLang="ja-JP" sz="200" b="1" i="1" dirty="0">
                  <a:solidFill>
                    <a:srgbClr val="00B050"/>
                  </a:solidFill>
                </a:endParaRPr>
              </a:p>
              <a:p>
                <a:pPr algn="just">
                  <a:lnSpc>
                    <a:spcPct val="100000"/>
                  </a:lnSpc>
                </a:pPr>
                <a:endParaRPr lang="en-NZ" altLang="ja-JP" sz="200" b="1" i="1" dirty="0">
                  <a:solidFill>
                    <a:srgbClr val="00B05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00B050"/>
                          </a:solidFill>
                          <a:latin typeface="Cambria Math" panose="02040503050406030204" pitchFamily="18" charset="0"/>
                        </a:rPr>
                        <m:t>𝑷</m:t>
                      </m:r>
                      <m:d>
                        <m:dPr>
                          <m:ctrlPr>
                            <a:rPr lang="en-NZ" altLang="ja-JP" sz="1600" b="1" i="1" smtClean="0">
                              <a:solidFill>
                                <a:srgbClr val="00B050"/>
                              </a:solidFill>
                              <a:latin typeface="Cambria Math" panose="02040503050406030204" pitchFamily="18" charset="0"/>
                            </a:rPr>
                          </m:ctrlPr>
                        </m:dPr>
                        <m:e>
                          <m:r>
                            <a:rPr lang="en-NZ" altLang="ja-JP" sz="1600" b="1" i="1" smtClean="0">
                              <a:solidFill>
                                <a:srgbClr val="00B050"/>
                              </a:solidFill>
                              <a:latin typeface="Cambria Math" panose="02040503050406030204" pitchFamily="18" charset="0"/>
                            </a:rPr>
                            <m:t>𝑭</m:t>
                          </m:r>
                          <m:r>
                            <a:rPr lang="en-NZ" altLang="ja-JP" sz="1600" b="1" i="1" smtClean="0">
                              <a:solidFill>
                                <a:srgbClr val="00B050"/>
                              </a:solidFill>
                              <a:latin typeface="Cambria Math" panose="02040503050406030204" pitchFamily="18" charset="0"/>
                            </a:rPr>
                            <m:t>≥</m:t>
                          </m:r>
                          <m:sSub>
                            <m:sSubPr>
                              <m:ctrlPr>
                                <a:rPr lang="en-NZ" altLang="ja-JP" sz="1600" b="1" i="1" smtClean="0">
                                  <a:solidFill>
                                    <a:srgbClr val="00B050"/>
                                  </a:solidFill>
                                  <a:latin typeface="Cambria Math" panose="02040503050406030204" pitchFamily="18" charset="0"/>
                                </a:rPr>
                              </m:ctrlPr>
                            </m:sSubPr>
                            <m:e>
                              <m:r>
                                <a:rPr lang="en-NZ" altLang="ja-JP" sz="1600" b="1" i="1" smtClean="0">
                                  <a:solidFill>
                                    <a:srgbClr val="00B050"/>
                                  </a:solidFill>
                                  <a:latin typeface="Cambria Math" panose="02040503050406030204" pitchFamily="18" charset="0"/>
                                </a:rPr>
                                <m:t>𝑭</m:t>
                              </m:r>
                            </m:e>
                            <m:sub>
                              <m:r>
                                <a:rPr lang="en-NZ" altLang="ja-JP" sz="1600" b="1" i="1" smtClean="0">
                                  <a:solidFill>
                                    <a:srgbClr val="00B050"/>
                                  </a:solidFill>
                                  <a:latin typeface="Cambria Math" panose="02040503050406030204" pitchFamily="18" charset="0"/>
                                </a:rPr>
                                <m:t>𝑶𝒃𝒔</m:t>
                              </m:r>
                            </m:sub>
                          </m:sSub>
                        </m:e>
                      </m:d>
                      <m:r>
                        <a:rPr lang="en-NZ" altLang="ja-JP" sz="1600" b="1" i="1" smtClean="0">
                          <a:solidFill>
                            <a:srgbClr val="00B050"/>
                          </a:solidFill>
                          <a:latin typeface="Cambria Math" panose="02040503050406030204" pitchFamily="18" charset="0"/>
                        </a:rPr>
                        <m:t>&lt;</m:t>
                      </m:r>
                      <m:r>
                        <a:rPr lang="en-NZ" altLang="ja-JP" sz="1600" b="1" i="1" smtClean="0">
                          <a:solidFill>
                            <a:srgbClr val="00B050"/>
                          </a:solidFill>
                          <a:latin typeface="Cambria Math" panose="02040503050406030204" pitchFamily="18" charset="0"/>
                        </a:rPr>
                        <m:t>𝟐</m:t>
                      </m:r>
                      <m:r>
                        <a:rPr lang="en-NZ" altLang="ja-JP" sz="1600" b="1" i="1" smtClean="0">
                          <a:solidFill>
                            <a:srgbClr val="00B050"/>
                          </a:solidFill>
                          <a:latin typeface="Cambria Math" panose="02040503050406030204" pitchFamily="18" charset="0"/>
                        </a:rPr>
                        <m:t>.</m:t>
                      </m:r>
                      <m:r>
                        <a:rPr lang="en-NZ" altLang="ja-JP" sz="1600" b="1" i="1" smtClean="0">
                          <a:solidFill>
                            <a:srgbClr val="00B050"/>
                          </a:solidFill>
                          <a:latin typeface="Cambria Math" panose="02040503050406030204" pitchFamily="18" charset="0"/>
                        </a:rPr>
                        <m:t>𝟐</m:t>
                      </m:r>
                      <m:sSup>
                        <m:sSupPr>
                          <m:ctrlPr>
                            <a:rPr lang="en-NZ" altLang="ja-JP" sz="1600" b="1" i="1" smtClean="0">
                              <a:solidFill>
                                <a:srgbClr val="00B050"/>
                              </a:solidFill>
                              <a:latin typeface="Cambria Math" panose="02040503050406030204" pitchFamily="18" charset="0"/>
                            </a:rPr>
                          </m:ctrlPr>
                        </m:sSupPr>
                        <m:e>
                          <m:r>
                            <a:rPr lang="en-NZ" altLang="ja-JP" sz="1600" b="1" i="1" smtClean="0">
                              <a:solidFill>
                                <a:srgbClr val="00B050"/>
                              </a:solidFill>
                              <a:latin typeface="Cambria Math" panose="02040503050406030204" pitchFamily="18" charset="0"/>
                            </a:rPr>
                            <m:t>𝒆</m:t>
                          </m:r>
                        </m:e>
                        <m:sup>
                          <m:r>
                            <a:rPr lang="en-NZ" altLang="ja-JP" sz="1600" b="1" i="1" smtClean="0">
                              <a:solidFill>
                                <a:srgbClr val="00B050"/>
                              </a:solidFill>
                              <a:latin typeface="Cambria Math" panose="02040503050406030204" pitchFamily="18" charset="0"/>
                            </a:rPr>
                            <m:t>−</m:t>
                          </m:r>
                          <m:r>
                            <a:rPr lang="en-NZ" altLang="ja-JP" sz="1600" b="1" i="1" smtClean="0">
                              <a:solidFill>
                                <a:srgbClr val="00B050"/>
                              </a:solidFill>
                              <a:latin typeface="Cambria Math" panose="02040503050406030204" pitchFamily="18" charset="0"/>
                            </a:rPr>
                            <m:t>𝟏𝟔</m:t>
                          </m:r>
                        </m:sup>
                      </m:sSup>
                    </m:oMath>
                  </m:oMathPara>
                </a14:m>
                <a:endParaRPr lang="en-NZ" altLang="ja-JP" sz="1600" b="1" i="1" dirty="0">
                  <a:solidFill>
                    <a:srgbClr val="00B050"/>
                  </a:solidFill>
                </a:endParaRPr>
              </a:p>
            </p:txBody>
          </p:sp>
        </mc:Choice>
        <mc:Fallback>
          <p:sp>
            <p:nvSpPr>
              <p:cNvPr id="26" name="Text Placeholder 5">
                <a:extLst>
                  <a:ext uri="{FF2B5EF4-FFF2-40B4-BE49-F238E27FC236}">
                    <a16:creationId xmlns:a16="http://schemas.microsoft.com/office/drawing/2014/main" id="{1E21DC07-F4DD-82F5-4C57-9A1D8C4C52A8}"/>
                  </a:ext>
                </a:extLst>
              </p:cNvPr>
              <p:cNvSpPr txBox="1">
                <a:spLocks noRot="1" noChangeAspect="1" noMove="1" noResize="1" noEditPoints="1" noAdjustHandles="1" noChangeArrowheads="1" noChangeShapeType="1" noTextEdit="1"/>
              </p:cNvSpPr>
              <p:nvPr/>
            </p:nvSpPr>
            <p:spPr>
              <a:xfrm>
                <a:off x="7676274" y="4395276"/>
                <a:ext cx="4473266" cy="1322237"/>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28" name="Text Placeholder 5">
                <a:extLst>
                  <a:ext uri="{FF2B5EF4-FFF2-40B4-BE49-F238E27FC236}">
                    <a16:creationId xmlns:a16="http://schemas.microsoft.com/office/drawing/2014/main" id="{64A5C125-7E3D-725E-90F3-BC5AEA874189}"/>
                  </a:ext>
                </a:extLst>
              </p:cNvPr>
              <p:cNvSpPr txBox="1">
                <a:spLocks/>
              </p:cNvSpPr>
              <p:nvPr/>
            </p:nvSpPr>
            <p:spPr>
              <a:xfrm>
                <a:off x="7612808" y="2797453"/>
                <a:ext cx="4473266" cy="14538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002060"/>
                          </a:solidFill>
                          <a:latin typeface="Cambria Math" panose="02040503050406030204" pitchFamily="18" charset="0"/>
                        </a:rPr>
                        <m:t>𝑺𝑺𝑬</m:t>
                      </m:r>
                      <m:r>
                        <a:rPr lang="en-NZ" altLang="ja-JP" sz="1600" b="1" i="1">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𝟒𝟔𝟗</m:t>
                      </m:r>
                      <m:r>
                        <a:rPr lang="en-NZ" altLang="ja-JP" sz="1600" b="1" i="1" smtClean="0">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𝟎𝟗𝟖</m:t>
                      </m:r>
                    </m:oMath>
                  </m:oMathPara>
                </a14:m>
                <a:endParaRPr lang="en-NZ" altLang="ja-JP" sz="1600" b="1" i="1" dirty="0">
                  <a:solidFill>
                    <a:srgbClr val="002060"/>
                  </a:solidFill>
                </a:endParaRPr>
              </a:p>
              <a:p>
                <a:pPr algn="just">
                  <a:lnSpc>
                    <a:spcPct val="100000"/>
                  </a:lnSpc>
                </a:pPr>
                <a:endParaRPr lang="en-NZ" altLang="ja-JP" sz="200" b="1" i="1" dirty="0">
                  <a:solidFill>
                    <a:srgbClr val="002060"/>
                  </a:solidFill>
                </a:endParaRPr>
              </a:p>
              <a:p>
                <a:pPr algn="just">
                  <a:lnSpc>
                    <a:spcPct val="100000"/>
                  </a:lnSpc>
                </a:pPr>
                <a:endParaRPr lang="en-NZ" altLang="ja-JP" sz="200" b="1" i="1" dirty="0">
                  <a:solidFill>
                    <a:srgbClr val="00206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a:solidFill>
                            <a:srgbClr val="002060"/>
                          </a:solidFill>
                          <a:latin typeface="Cambria Math" panose="02040503050406030204" pitchFamily="18" charset="0"/>
                        </a:rPr>
                        <m:t>𝑫𝒇</m:t>
                      </m:r>
                      <m:r>
                        <a:rPr lang="en-NZ" altLang="ja-JP" sz="1600" b="1" i="1">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𝒌</m:t>
                      </m:r>
                      <m:d>
                        <m:dPr>
                          <m:ctrlPr>
                            <a:rPr lang="en-NZ" altLang="ja-JP" sz="1600" b="1" i="1">
                              <a:solidFill>
                                <a:srgbClr val="002060"/>
                              </a:solidFill>
                              <a:latin typeface="Cambria Math" panose="02040503050406030204" pitchFamily="18" charset="0"/>
                            </a:rPr>
                          </m:ctrlPr>
                        </m:dPr>
                        <m:e>
                          <m:r>
                            <a:rPr lang="en-NZ" altLang="ja-JP" sz="1600" b="1" i="1" smtClean="0">
                              <a:solidFill>
                                <a:srgbClr val="002060"/>
                              </a:solidFill>
                              <a:latin typeface="Cambria Math" panose="02040503050406030204" pitchFamily="18" charset="0"/>
                            </a:rPr>
                            <m:t>𝒏</m:t>
                          </m:r>
                          <m:r>
                            <a:rPr lang="en-NZ" altLang="ja-JP" sz="1600" b="1" i="1">
                              <a:solidFill>
                                <a:srgbClr val="002060"/>
                              </a:solidFill>
                              <a:latin typeface="Cambria Math" panose="02040503050406030204" pitchFamily="18" charset="0"/>
                            </a:rPr>
                            <m:t>−</m:t>
                          </m:r>
                          <m:r>
                            <a:rPr lang="en-NZ" altLang="ja-JP" sz="1600" b="1" i="1">
                              <a:solidFill>
                                <a:srgbClr val="002060"/>
                              </a:solidFill>
                              <a:latin typeface="Cambria Math" panose="02040503050406030204" pitchFamily="18" charset="0"/>
                            </a:rPr>
                            <m:t>𝟏</m:t>
                          </m:r>
                        </m:e>
                      </m:d>
                      <m:r>
                        <a:rPr lang="en-NZ" altLang="ja-JP" sz="1600" b="1" i="1" smtClean="0">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𝟒</m:t>
                      </m:r>
                      <m:r>
                        <a:rPr lang="en-NZ" altLang="ja-JP" sz="1600" b="1" i="1" smtClean="0">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𝟗𝟗𝟓</m:t>
                      </m:r>
                    </m:oMath>
                  </m:oMathPara>
                </a14:m>
                <a:endParaRPr lang="en-NZ" altLang="ja-JP" sz="1600" b="1" i="1" dirty="0">
                  <a:solidFill>
                    <a:srgbClr val="002060"/>
                  </a:solidFill>
                </a:endParaRPr>
              </a:p>
              <a:p>
                <a:pPr algn="just">
                  <a:lnSpc>
                    <a:spcPct val="100000"/>
                  </a:lnSpc>
                </a:pPr>
                <a:endParaRPr lang="en-NZ" altLang="ja-JP" sz="200" b="1" i="1" dirty="0">
                  <a:solidFill>
                    <a:srgbClr val="002060"/>
                  </a:solidFill>
                </a:endParaRPr>
              </a:p>
              <a:p>
                <a:pPr algn="just">
                  <a:lnSpc>
                    <a:spcPct val="100000"/>
                  </a:lnSpc>
                </a:pPr>
                <a:endParaRPr lang="en-NZ" altLang="ja-JP" sz="200" b="1" i="1" dirty="0">
                  <a:solidFill>
                    <a:srgbClr val="00206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a:solidFill>
                            <a:srgbClr val="002060"/>
                          </a:solidFill>
                          <a:latin typeface="Cambria Math" panose="02040503050406030204" pitchFamily="18" charset="0"/>
                        </a:rPr>
                        <m:t>𝑴𝑺</m:t>
                      </m:r>
                      <m:r>
                        <a:rPr lang="en-NZ" altLang="ja-JP" sz="1600" b="1" i="1" smtClean="0">
                          <a:solidFill>
                            <a:srgbClr val="002060"/>
                          </a:solidFill>
                          <a:latin typeface="Cambria Math" panose="02040503050406030204" pitchFamily="18" charset="0"/>
                        </a:rPr>
                        <m:t>𝑬</m:t>
                      </m:r>
                      <m:r>
                        <a:rPr lang="en-NZ" altLang="ja-JP" sz="1600" b="1" i="1">
                          <a:solidFill>
                            <a:srgbClr val="002060"/>
                          </a:solidFill>
                          <a:latin typeface="Cambria Math" panose="02040503050406030204" pitchFamily="18" charset="0"/>
                        </a:rPr>
                        <m:t> =</m:t>
                      </m:r>
                      <m:f>
                        <m:fPr>
                          <m:ctrlPr>
                            <a:rPr lang="en-NZ" altLang="ja-JP" sz="1600" b="1" i="1">
                              <a:solidFill>
                                <a:srgbClr val="002060"/>
                              </a:solidFill>
                              <a:latin typeface="Cambria Math" panose="02040503050406030204" pitchFamily="18" charset="0"/>
                            </a:rPr>
                          </m:ctrlPr>
                        </m:fPr>
                        <m:num>
                          <m:r>
                            <a:rPr lang="en-NZ" altLang="ja-JP" sz="1600" b="1" i="1">
                              <a:solidFill>
                                <a:srgbClr val="002060"/>
                              </a:solidFill>
                              <a:latin typeface="Cambria Math" panose="02040503050406030204" pitchFamily="18" charset="0"/>
                            </a:rPr>
                            <m:t>𝑺𝑺</m:t>
                          </m:r>
                          <m:r>
                            <a:rPr lang="en-NZ" altLang="ja-JP" sz="1600" b="1" i="1" smtClean="0">
                              <a:solidFill>
                                <a:srgbClr val="002060"/>
                              </a:solidFill>
                              <a:latin typeface="Cambria Math" panose="02040503050406030204" pitchFamily="18" charset="0"/>
                            </a:rPr>
                            <m:t>𝑬</m:t>
                          </m:r>
                        </m:num>
                        <m:den>
                          <m:r>
                            <a:rPr lang="en-NZ" altLang="ja-JP" sz="1600" b="1" i="1" smtClean="0">
                              <a:solidFill>
                                <a:srgbClr val="002060"/>
                              </a:solidFill>
                              <a:latin typeface="Cambria Math" panose="02040503050406030204" pitchFamily="18" charset="0"/>
                            </a:rPr>
                            <m:t>𝒌</m:t>
                          </m:r>
                          <m:r>
                            <a:rPr lang="en-NZ" altLang="ja-JP" sz="1600" b="1" i="1" smtClean="0">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𝒏</m:t>
                          </m:r>
                          <m:r>
                            <a:rPr lang="en-NZ" altLang="ja-JP" sz="1600" b="1" i="1">
                              <a:solidFill>
                                <a:srgbClr val="002060"/>
                              </a:solidFill>
                              <a:latin typeface="Cambria Math" panose="02040503050406030204" pitchFamily="18" charset="0"/>
                            </a:rPr>
                            <m:t>−</m:t>
                          </m:r>
                          <m:r>
                            <a:rPr lang="en-NZ" altLang="ja-JP" sz="1600" b="1" i="1">
                              <a:solidFill>
                                <a:srgbClr val="002060"/>
                              </a:solidFill>
                              <a:latin typeface="Cambria Math" panose="02040503050406030204" pitchFamily="18" charset="0"/>
                            </a:rPr>
                            <m:t>𝟏</m:t>
                          </m:r>
                          <m:r>
                            <a:rPr lang="en-NZ" altLang="ja-JP" sz="1600" b="1" i="1" smtClean="0">
                              <a:solidFill>
                                <a:srgbClr val="002060"/>
                              </a:solidFill>
                              <a:latin typeface="Cambria Math" panose="02040503050406030204" pitchFamily="18" charset="0"/>
                            </a:rPr>
                            <m:t>)</m:t>
                          </m:r>
                        </m:den>
                      </m:f>
                      <m:r>
                        <a:rPr lang="en-NZ" altLang="ja-JP" sz="1600" b="1" i="1">
                          <a:solidFill>
                            <a:srgbClr val="002060"/>
                          </a:solidFill>
                          <a:latin typeface="Cambria Math" panose="02040503050406030204" pitchFamily="18" charset="0"/>
                        </a:rPr>
                        <m:t> = </m:t>
                      </m:r>
                      <m:f>
                        <m:fPr>
                          <m:ctrlPr>
                            <a:rPr lang="en-NZ" altLang="ja-JP" sz="1600" b="1" i="1">
                              <a:solidFill>
                                <a:srgbClr val="002060"/>
                              </a:solidFill>
                              <a:latin typeface="Cambria Math" panose="02040503050406030204" pitchFamily="18" charset="0"/>
                            </a:rPr>
                          </m:ctrlPr>
                        </m:fPr>
                        <m:num>
                          <m:r>
                            <a:rPr lang="en-NZ" altLang="ja-JP" sz="1600" b="1" i="1">
                              <a:solidFill>
                                <a:srgbClr val="002060"/>
                              </a:solidFill>
                              <a:latin typeface="Cambria Math" panose="02040503050406030204" pitchFamily="18" charset="0"/>
                            </a:rPr>
                            <m:t>𝟒𝟔𝟗</m:t>
                          </m:r>
                          <m:r>
                            <a:rPr lang="en-NZ" altLang="ja-JP" sz="1600" b="1" i="1">
                              <a:solidFill>
                                <a:srgbClr val="002060"/>
                              </a:solidFill>
                              <a:latin typeface="Cambria Math" panose="02040503050406030204" pitchFamily="18" charset="0"/>
                            </a:rPr>
                            <m:t>,</m:t>
                          </m:r>
                          <m:r>
                            <a:rPr lang="en-NZ" altLang="ja-JP" sz="1600" b="1" i="1">
                              <a:solidFill>
                                <a:srgbClr val="002060"/>
                              </a:solidFill>
                              <a:latin typeface="Cambria Math" panose="02040503050406030204" pitchFamily="18" charset="0"/>
                            </a:rPr>
                            <m:t>𝟎𝟗𝟖</m:t>
                          </m:r>
                          <m:r>
                            <m:rPr>
                              <m:nor/>
                            </m:rPr>
                            <a:rPr lang="en-NZ" altLang="ja-JP" sz="1600" b="1" i="1" dirty="0">
                              <a:solidFill>
                                <a:srgbClr val="002060"/>
                              </a:solidFill>
                            </a:rPr>
                            <m:t> </m:t>
                          </m:r>
                        </m:num>
                        <m:den>
                          <m:r>
                            <a:rPr lang="en-NZ" altLang="ja-JP" sz="1600" b="1" i="1">
                              <a:solidFill>
                                <a:srgbClr val="002060"/>
                              </a:solidFill>
                              <a:latin typeface="Cambria Math" panose="02040503050406030204" pitchFamily="18" charset="0"/>
                            </a:rPr>
                            <m:t>𝟒</m:t>
                          </m:r>
                          <m:r>
                            <a:rPr lang="en-NZ" altLang="ja-JP" sz="1600" b="1" i="1" smtClean="0">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𝟗𝟗𝟓</m:t>
                          </m:r>
                        </m:den>
                      </m:f>
                      <m:r>
                        <a:rPr lang="en-NZ" altLang="ja-JP" sz="1600" b="1" i="1">
                          <a:solidFill>
                            <a:srgbClr val="002060"/>
                          </a:solidFill>
                          <a:latin typeface="Cambria Math" panose="02040503050406030204" pitchFamily="18" charset="0"/>
                        </a:rPr>
                        <m:t> =</m:t>
                      </m:r>
                      <m:r>
                        <a:rPr lang="en-NZ" altLang="ja-JP" sz="1600" b="1" i="1" smtClean="0">
                          <a:solidFill>
                            <a:srgbClr val="002060"/>
                          </a:solidFill>
                          <a:latin typeface="Cambria Math" panose="02040503050406030204" pitchFamily="18" charset="0"/>
                        </a:rPr>
                        <m:t>𝟗𝟗</m:t>
                      </m:r>
                      <m:r>
                        <a:rPr lang="en-NZ" altLang="ja-JP" sz="1600" b="1" i="1" smtClean="0">
                          <a:solidFill>
                            <a:srgbClr val="002060"/>
                          </a:solidFill>
                          <a:latin typeface="Cambria Math" panose="02040503050406030204" pitchFamily="18" charset="0"/>
                        </a:rPr>
                        <m:t>.</m:t>
                      </m:r>
                      <m:r>
                        <a:rPr lang="en-NZ" altLang="ja-JP" sz="1600" b="1" i="1" smtClean="0">
                          <a:solidFill>
                            <a:srgbClr val="002060"/>
                          </a:solidFill>
                          <a:latin typeface="Cambria Math" panose="02040503050406030204" pitchFamily="18" charset="0"/>
                        </a:rPr>
                        <m:t>𝟑𝟐</m:t>
                      </m:r>
                    </m:oMath>
                  </m:oMathPara>
                </a14:m>
                <a:br>
                  <a:rPr lang="en-NZ" altLang="ja-JP" sz="1800" b="1" i="1" dirty="0">
                    <a:solidFill>
                      <a:srgbClr val="C00000"/>
                    </a:solidFill>
                  </a:rPr>
                </a:br>
                <a:endParaRPr lang="en-NZ" altLang="ja-JP" sz="1800" b="1" i="1" dirty="0">
                  <a:solidFill>
                    <a:srgbClr val="C00000"/>
                  </a:solidFill>
                </a:endParaRPr>
              </a:p>
            </p:txBody>
          </p:sp>
        </mc:Choice>
        <mc:Fallback>
          <p:sp>
            <p:nvSpPr>
              <p:cNvPr id="28" name="Text Placeholder 5">
                <a:extLst>
                  <a:ext uri="{FF2B5EF4-FFF2-40B4-BE49-F238E27FC236}">
                    <a16:creationId xmlns:a16="http://schemas.microsoft.com/office/drawing/2014/main" id="{64A5C125-7E3D-725E-90F3-BC5AEA874189}"/>
                  </a:ext>
                </a:extLst>
              </p:cNvPr>
              <p:cNvSpPr txBox="1">
                <a:spLocks noRot="1" noChangeAspect="1" noMove="1" noResize="1" noEditPoints="1" noAdjustHandles="1" noChangeArrowheads="1" noChangeShapeType="1" noTextEdit="1"/>
              </p:cNvSpPr>
              <p:nvPr/>
            </p:nvSpPr>
            <p:spPr>
              <a:xfrm>
                <a:off x="7612808" y="2797453"/>
                <a:ext cx="4473266" cy="1453812"/>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31" name="Text Placeholder 5">
                <a:extLst>
                  <a:ext uri="{FF2B5EF4-FFF2-40B4-BE49-F238E27FC236}">
                    <a16:creationId xmlns:a16="http://schemas.microsoft.com/office/drawing/2014/main" id="{41FA1C00-1F47-4312-6B2B-A3EABDCB53D4}"/>
                  </a:ext>
                </a:extLst>
              </p:cNvPr>
              <p:cNvSpPr txBox="1">
                <a:spLocks/>
              </p:cNvSpPr>
              <p:nvPr/>
            </p:nvSpPr>
            <p:spPr>
              <a:xfrm>
                <a:off x="7612808" y="1199630"/>
                <a:ext cx="4473266" cy="14538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C00000"/>
                          </a:solidFill>
                          <a:latin typeface="Cambria Math" panose="02040503050406030204" pitchFamily="18" charset="0"/>
                        </a:rPr>
                        <m:t>𝑺𝑺𝑻</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𝟗</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𝟎𝟓𝟔</m:t>
                      </m:r>
                    </m:oMath>
                  </m:oMathPara>
                </a14:m>
                <a:endParaRPr lang="en-NZ" altLang="ja-JP" sz="1600" b="1" i="1" dirty="0">
                  <a:solidFill>
                    <a:srgbClr val="C00000"/>
                  </a:solidFill>
                </a:endParaRPr>
              </a:p>
              <a:p>
                <a:pPr algn="just">
                  <a:lnSpc>
                    <a:spcPct val="100000"/>
                  </a:lnSpc>
                </a:pPr>
                <a:endParaRPr lang="en-NZ" altLang="ja-JP" sz="200" b="1" i="1" dirty="0">
                  <a:solidFill>
                    <a:srgbClr val="C00000"/>
                  </a:solidFill>
                </a:endParaRPr>
              </a:p>
              <a:p>
                <a:pPr algn="just">
                  <a:lnSpc>
                    <a:spcPct val="100000"/>
                  </a:lnSpc>
                </a:pPr>
                <a:endParaRPr lang="en-NZ" altLang="ja-JP" sz="200" b="1" i="1" dirty="0">
                  <a:solidFill>
                    <a:srgbClr val="C0000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C00000"/>
                          </a:solidFill>
                          <a:latin typeface="Cambria Math" panose="02040503050406030204" pitchFamily="18" charset="0"/>
                        </a:rPr>
                        <m:t>𝑫𝒇</m:t>
                      </m:r>
                      <m:r>
                        <a:rPr lang="en-NZ" altLang="ja-JP" sz="1600" b="1" i="1" smtClean="0">
                          <a:solidFill>
                            <a:srgbClr val="C00000"/>
                          </a:solidFill>
                          <a:latin typeface="Cambria Math" panose="02040503050406030204" pitchFamily="18" charset="0"/>
                        </a:rPr>
                        <m:t>=</m:t>
                      </m:r>
                      <m:d>
                        <m:dPr>
                          <m:ctrlPr>
                            <a:rPr lang="en-NZ" altLang="ja-JP" sz="1600" b="1" i="1" smtClean="0">
                              <a:solidFill>
                                <a:srgbClr val="C00000"/>
                              </a:solidFill>
                              <a:latin typeface="Cambria Math" panose="02040503050406030204" pitchFamily="18" charset="0"/>
                            </a:rPr>
                          </m:ctrlPr>
                        </m:dPr>
                        <m:e>
                          <m:r>
                            <a:rPr lang="en-NZ" altLang="ja-JP" sz="1600" b="1" i="1" smtClean="0">
                              <a:solidFill>
                                <a:srgbClr val="C00000"/>
                              </a:solidFill>
                              <a:latin typeface="Cambria Math" panose="02040503050406030204" pitchFamily="18" charset="0"/>
                            </a:rPr>
                            <m:t>𝒌</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𝟏</m:t>
                          </m:r>
                        </m:e>
                      </m:d>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𝟒</m:t>
                      </m:r>
                    </m:oMath>
                  </m:oMathPara>
                </a14:m>
                <a:endParaRPr lang="en-NZ" altLang="ja-JP" sz="1600" b="1" i="1" dirty="0">
                  <a:solidFill>
                    <a:srgbClr val="C00000"/>
                  </a:solidFill>
                </a:endParaRPr>
              </a:p>
              <a:p>
                <a:pPr algn="just">
                  <a:lnSpc>
                    <a:spcPct val="100000"/>
                  </a:lnSpc>
                </a:pPr>
                <a:endParaRPr lang="en-NZ" altLang="ja-JP" sz="200" b="1" i="1" dirty="0">
                  <a:solidFill>
                    <a:srgbClr val="C00000"/>
                  </a:solidFill>
                </a:endParaRPr>
              </a:p>
              <a:p>
                <a:pPr algn="just">
                  <a:lnSpc>
                    <a:spcPct val="100000"/>
                  </a:lnSpc>
                </a:pPr>
                <a:endParaRPr lang="en-NZ" altLang="ja-JP" sz="200" b="1" i="1" dirty="0">
                  <a:solidFill>
                    <a:srgbClr val="C00000"/>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C00000"/>
                          </a:solidFill>
                          <a:latin typeface="Cambria Math" panose="02040503050406030204" pitchFamily="18" charset="0"/>
                        </a:rPr>
                        <m:t>𝑴𝑺𝑻</m:t>
                      </m:r>
                      <m:r>
                        <a:rPr lang="en-NZ" altLang="ja-JP" sz="1600" b="1" i="1" smtClean="0">
                          <a:solidFill>
                            <a:srgbClr val="C00000"/>
                          </a:solidFill>
                          <a:latin typeface="Cambria Math" panose="02040503050406030204" pitchFamily="18" charset="0"/>
                        </a:rPr>
                        <m:t> =</m:t>
                      </m:r>
                      <m:f>
                        <m:fPr>
                          <m:ctrlPr>
                            <a:rPr lang="en-NZ" altLang="ja-JP" sz="1600" b="1" i="1" smtClean="0">
                              <a:solidFill>
                                <a:srgbClr val="C00000"/>
                              </a:solidFill>
                              <a:latin typeface="Cambria Math" panose="02040503050406030204" pitchFamily="18" charset="0"/>
                            </a:rPr>
                          </m:ctrlPr>
                        </m:fPr>
                        <m:num>
                          <m:r>
                            <a:rPr lang="en-NZ" altLang="ja-JP" sz="1600" b="1" i="1" smtClean="0">
                              <a:solidFill>
                                <a:srgbClr val="C00000"/>
                              </a:solidFill>
                              <a:latin typeface="Cambria Math" panose="02040503050406030204" pitchFamily="18" charset="0"/>
                            </a:rPr>
                            <m:t>𝑺𝑺𝑻</m:t>
                          </m:r>
                        </m:num>
                        <m:den>
                          <m:r>
                            <a:rPr lang="en-NZ" altLang="ja-JP" sz="1600" b="1" i="1" smtClean="0">
                              <a:solidFill>
                                <a:srgbClr val="C00000"/>
                              </a:solidFill>
                              <a:latin typeface="Cambria Math" panose="02040503050406030204" pitchFamily="18" charset="0"/>
                            </a:rPr>
                            <m:t>𝒌</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𝟏</m:t>
                          </m:r>
                        </m:den>
                      </m:f>
                      <m:r>
                        <a:rPr lang="en-NZ" altLang="ja-JP" sz="1600" b="1" i="1" smtClean="0">
                          <a:solidFill>
                            <a:srgbClr val="C00000"/>
                          </a:solidFill>
                          <a:latin typeface="Cambria Math" panose="02040503050406030204" pitchFamily="18" charset="0"/>
                        </a:rPr>
                        <m:t> = </m:t>
                      </m:r>
                      <m:f>
                        <m:fPr>
                          <m:ctrlPr>
                            <a:rPr lang="en-NZ" altLang="ja-JP" sz="1600" b="1" i="1" smtClean="0">
                              <a:solidFill>
                                <a:srgbClr val="C00000"/>
                              </a:solidFill>
                              <a:latin typeface="Cambria Math" panose="02040503050406030204" pitchFamily="18" charset="0"/>
                            </a:rPr>
                          </m:ctrlPr>
                        </m:fPr>
                        <m:num>
                          <m:r>
                            <a:rPr lang="en-NZ" altLang="ja-JP" sz="1600" b="1" i="1" smtClean="0">
                              <a:solidFill>
                                <a:srgbClr val="C00000"/>
                              </a:solidFill>
                              <a:latin typeface="Cambria Math" panose="02040503050406030204" pitchFamily="18" charset="0"/>
                            </a:rPr>
                            <m:t>𝟗</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𝟎𝟓𝟔</m:t>
                          </m:r>
                        </m:num>
                        <m:den>
                          <m:r>
                            <a:rPr lang="en-NZ" altLang="ja-JP" sz="1600" b="1" i="1" smtClean="0">
                              <a:solidFill>
                                <a:srgbClr val="C00000"/>
                              </a:solidFill>
                              <a:latin typeface="Cambria Math" panose="02040503050406030204" pitchFamily="18" charset="0"/>
                            </a:rPr>
                            <m:t>𝟒</m:t>
                          </m:r>
                        </m:den>
                      </m:f>
                      <m:r>
                        <a:rPr lang="en-NZ" altLang="ja-JP" sz="1600" b="1" i="1" smtClean="0">
                          <a:solidFill>
                            <a:srgbClr val="C00000"/>
                          </a:solidFill>
                          <a:latin typeface="Cambria Math" panose="02040503050406030204" pitchFamily="18" charset="0"/>
                        </a:rPr>
                        <m:t> = </m:t>
                      </m:r>
                      <m:r>
                        <a:rPr lang="en-NZ" altLang="ja-JP" sz="1600" b="1" i="1" smtClean="0">
                          <a:solidFill>
                            <a:srgbClr val="C00000"/>
                          </a:solidFill>
                          <a:latin typeface="Cambria Math" panose="02040503050406030204" pitchFamily="18" charset="0"/>
                        </a:rPr>
                        <m:t>𝟐</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𝟐𝟔𝟑</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𝟖𝟗</m:t>
                      </m:r>
                    </m:oMath>
                  </m:oMathPara>
                </a14:m>
                <a:endParaRPr lang="en-NZ" altLang="ja-JP" sz="1600" b="1" i="1" dirty="0">
                  <a:solidFill>
                    <a:srgbClr val="C00000"/>
                  </a:solidFill>
                </a:endParaRPr>
              </a:p>
            </p:txBody>
          </p:sp>
        </mc:Choice>
        <mc:Fallback>
          <p:sp>
            <p:nvSpPr>
              <p:cNvPr id="31" name="Text Placeholder 5">
                <a:extLst>
                  <a:ext uri="{FF2B5EF4-FFF2-40B4-BE49-F238E27FC236}">
                    <a16:creationId xmlns:a16="http://schemas.microsoft.com/office/drawing/2014/main" id="{41FA1C00-1F47-4312-6B2B-A3EABDCB53D4}"/>
                  </a:ext>
                </a:extLst>
              </p:cNvPr>
              <p:cNvSpPr txBox="1">
                <a:spLocks noRot="1" noChangeAspect="1" noMove="1" noResize="1" noEditPoints="1" noAdjustHandles="1" noChangeArrowheads="1" noChangeShapeType="1" noTextEdit="1"/>
              </p:cNvSpPr>
              <p:nvPr/>
            </p:nvSpPr>
            <p:spPr>
              <a:xfrm>
                <a:off x="7612808" y="1199630"/>
                <a:ext cx="4473266" cy="1453812"/>
              </a:xfrm>
              <a:prstGeom prst="rect">
                <a:avLst/>
              </a:prstGeom>
              <a:blipFill>
                <a:blip r:embed="rId5"/>
                <a:stretch>
                  <a:fillRect/>
                </a:stretch>
              </a:blipFill>
            </p:spPr>
            <p:txBody>
              <a:bodyPr/>
              <a:lstStyle/>
              <a:p>
                <a:r>
                  <a:rPr lang="en-NZ">
                    <a:noFill/>
                  </a:rPr>
                  <a:t> </a:t>
                </a:r>
              </a:p>
            </p:txBody>
          </p:sp>
        </mc:Fallback>
      </mc:AlternateContent>
      <p:sp>
        <p:nvSpPr>
          <p:cNvPr id="34" name="Text Placeholder 5">
            <a:extLst>
              <a:ext uri="{FF2B5EF4-FFF2-40B4-BE49-F238E27FC236}">
                <a16:creationId xmlns:a16="http://schemas.microsoft.com/office/drawing/2014/main" id="{7AAFCF60-AE1C-1C80-8490-830164C34E3C}"/>
              </a:ext>
            </a:extLst>
          </p:cNvPr>
          <p:cNvSpPr txBox="1">
            <a:spLocks/>
          </p:cNvSpPr>
          <p:nvPr/>
        </p:nvSpPr>
        <p:spPr>
          <a:xfrm>
            <a:off x="430830" y="4821013"/>
            <a:ext cx="6679654" cy="13081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chemeClr val="tx1"/>
                </a:solidFill>
              </a:rPr>
              <a:t>You could also work out the p-value of the test manually using the command:</a:t>
            </a:r>
          </a:p>
          <a:p>
            <a:pPr algn="ctr">
              <a:lnSpc>
                <a:spcPct val="100000"/>
              </a:lnSpc>
            </a:pPr>
            <a:r>
              <a:rPr lang="en-NZ" altLang="ja-JP" sz="2200" dirty="0">
                <a:solidFill>
                  <a:srgbClr val="0070C0"/>
                </a:solidFill>
              </a:rPr>
              <a:t>1</a:t>
            </a:r>
            <a:r>
              <a:rPr lang="en-NZ" altLang="ja-JP" sz="2200" dirty="0">
                <a:solidFill>
                  <a:schemeClr val="tx1"/>
                </a:solidFill>
              </a:rPr>
              <a:t> – pf(</a:t>
            </a:r>
            <a:r>
              <a:rPr lang="en-NZ" altLang="ja-JP" sz="2200" dirty="0">
                <a:solidFill>
                  <a:srgbClr val="0070C0"/>
                </a:solidFill>
              </a:rPr>
              <a:t>22.794</a:t>
            </a:r>
            <a:r>
              <a:rPr lang="en-NZ" altLang="ja-JP" sz="2200" dirty="0">
                <a:solidFill>
                  <a:schemeClr val="tx1"/>
                </a:solidFill>
              </a:rPr>
              <a:t>, </a:t>
            </a:r>
            <a:r>
              <a:rPr lang="en-NZ" altLang="ja-JP" sz="2200" dirty="0">
                <a:solidFill>
                  <a:srgbClr val="0070C0"/>
                </a:solidFill>
              </a:rPr>
              <a:t>4</a:t>
            </a:r>
            <a:r>
              <a:rPr lang="en-NZ" altLang="ja-JP" sz="2200" dirty="0">
                <a:solidFill>
                  <a:schemeClr val="tx1"/>
                </a:solidFill>
              </a:rPr>
              <a:t> , </a:t>
            </a:r>
            <a:r>
              <a:rPr lang="en-NZ" altLang="ja-JP" sz="2200" dirty="0">
                <a:solidFill>
                  <a:srgbClr val="0070C0"/>
                </a:solidFill>
              </a:rPr>
              <a:t>4995</a:t>
            </a:r>
            <a:r>
              <a:rPr lang="en-NZ" altLang="ja-JP" sz="2200" dirty="0">
                <a:solidFill>
                  <a:schemeClr val="tx1"/>
                </a:solidFill>
              </a:rPr>
              <a:t>)</a:t>
            </a:r>
          </a:p>
        </p:txBody>
      </p:sp>
    </p:spTree>
    <p:extLst>
      <p:ext uri="{BB962C8B-B14F-4D97-AF65-F5344CB8AC3E}">
        <p14:creationId xmlns:p14="http://schemas.microsoft.com/office/powerpoint/2010/main" val="349520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1" grpId="0"/>
      <p:bldP spid="3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49</a:t>
            </a:fld>
            <a:endParaRPr kumimoji="1" lang="ja-JP" altLang="en-US" dirty="0">
              <a:solidFill>
                <a:srgbClr val="575454">
                  <a:lumMod val="20000"/>
                  <a:lumOff val="80000"/>
                </a:srgbClr>
              </a:solidFill>
              <a:latin typeface="Coo Hew"/>
            </a:endParaRPr>
          </a:p>
        </p:txBody>
      </p:sp>
      <p:sp>
        <p:nvSpPr>
          <p:cNvPr id="10" name="Title 6">
            <a:extLst>
              <a:ext uri="{FF2B5EF4-FFF2-40B4-BE49-F238E27FC236}">
                <a16:creationId xmlns:a16="http://schemas.microsoft.com/office/drawing/2014/main" id="{6C3BAE98-AF00-4622-A76B-31ADCAC732AA}"/>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2.5a – Student IQ Tests Example:</a:t>
            </a:r>
            <a:endParaRPr lang="ja-JP" altLang="en-US" b="1" u="sng" dirty="0">
              <a:latin typeface="+mn-lt"/>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2.5a - Student IQ Tests (ANOVA Example)</a:t>
            </a:r>
            <a:endParaRPr lang="en-US" altLang="ja-JP" sz="1200" b="1" i="1" dirty="0">
              <a:solidFill>
                <a:srgbClr val="C00000"/>
              </a:solidFill>
            </a:endParaRPr>
          </a:p>
        </p:txBody>
      </p:sp>
      <p:sp>
        <p:nvSpPr>
          <p:cNvPr id="14" name="Text Placeholder 5">
            <a:extLst>
              <a:ext uri="{FF2B5EF4-FFF2-40B4-BE49-F238E27FC236}">
                <a16:creationId xmlns:a16="http://schemas.microsoft.com/office/drawing/2014/main" id="{DBCFE434-6C37-483C-A217-1550180707D5}"/>
              </a:ext>
            </a:extLst>
          </p:cNvPr>
          <p:cNvSpPr txBox="1">
            <a:spLocks/>
          </p:cNvSpPr>
          <p:nvPr/>
        </p:nvSpPr>
        <p:spPr>
          <a:xfrm>
            <a:off x="251224" y="960486"/>
            <a:ext cx="1118199"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lnSpc>
                <a:spcPct val="100000"/>
              </a:lnSpc>
            </a:pPr>
            <a:r>
              <a:rPr lang="en-US" altLang="ja-JP" sz="2200" b="1" dirty="0">
                <a:solidFill>
                  <a:srgbClr val="0070C0"/>
                </a:solidFill>
              </a:rPr>
              <a:t>Step 3:</a:t>
            </a:r>
            <a:endParaRPr lang="en-US" altLang="ja-JP" sz="2200" b="1" i="1" dirty="0">
              <a:solidFill>
                <a:srgbClr val="0070C0"/>
              </a:solidFill>
            </a:endParaRPr>
          </a:p>
        </p:txBody>
      </p:sp>
      <p:sp>
        <p:nvSpPr>
          <p:cNvPr id="15" name="Text Placeholder 5">
            <a:extLst>
              <a:ext uri="{FF2B5EF4-FFF2-40B4-BE49-F238E27FC236}">
                <a16:creationId xmlns:a16="http://schemas.microsoft.com/office/drawing/2014/main" id="{D8B3728B-25FD-4D03-BBEF-ABC4E6B302E6}"/>
              </a:ext>
            </a:extLst>
          </p:cNvPr>
          <p:cNvSpPr txBox="1">
            <a:spLocks/>
          </p:cNvSpPr>
          <p:nvPr/>
        </p:nvSpPr>
        <p:spPr>
          <a:xfrm>
            <a:off x="1414298" y="960486"/>
            <a:ext cx="9509476" cy="4707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dirty="0">
                <a:solidFill>
                  <a:srgbClr val="0070C0"/>
                </a:solidFill>
              </a:rPr>
              <a:t>Conduct post-hoc tests</a:t>
            </a:r>
          </a:p>
        </p:txBody>
      </p:sp>
      <p:sp>
        <p:nvSpPr>
          <p:cNvPr id="16" name="Text Placeholder 5">
            <a:extLst>
              <a:ext uri="{FF2B5EF4-FFF2-40B4-BE49-F238E27FC236}">
                <a16:creationId xmlns:a16="http://schemas.microsoft.com/office/drawing/2014/main" id="{74B69715-32C3-4ABB-AF91-43077C59567A}"/>
              </a:ext>
            </a:extLst>
          </p:cNvPr>
          <p:cNvSpPr txBox="1">
            <a:spLocks/>
          </p:cNvSpPr>
          <p:nvPr/>
        </p:nvSpPr>
        <p:spPr>
          <a:xfrm>
            <a:off x="374053" y="1431246"/>
            <a:ext cx="1125383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Given that we have very strong evidence against the null hypothesis that the mean of each group is the same,</a:t>
            </a:r>
          </a:p>
          <a:p>
            <a:pPr algn="just">
              <a:lnSpc>
                <a:spcPct val="100000"/>
              </a:lnSpc>
            </a:pPr>
            <a:r>
              <a:rPr lang="en-NZ" altLang="ja-JP" sz="1800" dirty="0">
                <a:solidFill>
                  <a:schemeClr val="tx1"/>
                </a:solidFill>
              </a:rPr>
              <a:t>We now want to perform post-hoc Tukey HSD tests to determine which groups exhibit significantly different means.</a:t>
            </a:r>
            <a:endParaRPr lang="en-NZ" altLang="ja-JP" sz="1800" dirty="0">
              <a:solidFill>
                <a:srgbClr val="C00000"/>
              </a:solidFill>
            </a:endParaRPr>
          </a:p>
        </p:txBody>
      </p:sp>
      <p:pic>
        <p:nvPicPr>
          <p:cNvPr id="4" name="Picture 3">
            <a:extLst>
              <a:ext uri="{FF2B5EF4-FFF2-40B4-BE49-F238E27FC236}">
                <a16:creationId xmlns:a16="http://schemas.microsoft.com/office/drawing/2014/main" id="{EBC3A190-C336-4206-8457-5B604839FF76}"/>
              </a:ext>
            </a:extLst>
          </p:cNvPr>
          <p:cNvPicPr>
            <a:picLocks noChangeAspect="1"/>
          </p:cNvPicPr>
          <p:nvPr/>
        </p:nvPicPr>
        <p:blipFill>
          <a:blip r:embed="rId2"/>
          <a:stretch>
            <a:fillRect/>
          </a:stretch>
        </p:blipFill>
        <p:spPr>
          <a:xfrm>
            <a:off x="683406" y="2256351"/>
            <a:ext cx="5412594" cy="795552"/>
          </a:xfrm>
          <a:prstGeom prst="rect">
            <a:avLst/>
          </a:prstGeom>
        </p:spPr>
      </p:pic>
      <p:pic>
        <p:nvPicPr>
          <p:cNvPr id="7" name="Picture 6">
            <a:extLst>
              <a:ext uri="{FF2B5EF4-FFF2-40B4-BE49-F238E27FC236}">
                <a16:creationId xmlns:a16="http://schemas.microsoft.com/office/drawing/2014/main" id="{3A3720FA-F1BF-4822-AAA0-0354605B53C7}"/>
              </a:ext>
            </a:extLst>
          </p:cNvPr>
          <p:cNvPicPr>
            <a:picLocks noChangeAspect="1"/>
          </p:cNvPicPr>
          <p:nvPr/>
        </p:nvPicPr>
        <p:blipFill>
          <a:blip r:embed="rId3"/>
          <a:stretch>
            <a:fillRect/>
          </a:stretch>
        </p:blipFill>
        <p:spPr>
          <a:xfrm>
            <a:off x="683406" y="3213685"/>
            <a:ext cx="6290600" cy="2855932"/>
          </a:xfrm>
          <a:prstGeom prst="rect">
            <a:avLst/>
          </a:prstGeom>
        </p:spPr>
      </p:pic>
      <p:sp>
        <p:nvSpPr>
          <p:cNvPr id="17" name="Oval 16">
            <a:extLst>
              <a:ext uri="{FF2B5EF4-FFF2-40B4-BE49-F238E27FC236}">
                <a16:creationId xmlns:a16="http://schemas.microsoft.com/office/drawing/2014/main" id="{37D2273A-D371-447D-9102-24ADBD4A66EE}"/>
              </a:ext>
            </a:extLst>
          </p:cNvPr>
          <p:cNvSpPr/>
          <p:nvPr/>
        </p:nvSpPr>
        <p:spPr>
          <a:xfrm>
            <a:off x="5336275" y="3642253"/>
            <a:ext cx="1380698" cy="24273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9" name="Straight Arrow Connector 18">
            <a:extLst>
              <a:ext uri="{FF2B5EF4-FFF2-40B4-BE49-F238E27FC236}">
                <a16:creationId xmlns:a16="http://schemas.microsoft.com/office/drawing/2014/main" id="{366BF247-0545-42B9-A001-632023587FC7}"/>
              </a:ext>
            </a:extLst>
          </p:cNvPr>
          <p:cNvCxnSpPr>
            <a:cxnSpLocks/>
          </p:cNvCxnSpPr>
          <p:nvPr/>
        </p:nvCxnSpPr>
        <p:spPr>
          <a:xfrm flipV="1">
            <a:off x="6693255" y="3997511"/>
            <a:ext cx="1208799" cy="5045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 Placeholder 5">
            <a:extLst>
              <a:ext uri="{FF2B5EF4-FFF2-40B4-BE49-F238E27FC236}">
                <a16:creationId xmlns:a16="http://schemas.microsoft.com/office/drawing/2014/main" id="{EF3A33ED-EBD7-4AF2-8DF6-22366F054A90}"/>
              </a:ext>
            </a:extLst>
          </p:cNvPr>
          <p:cNvSpPr txBox="1">
            <a:spLocks/>
          </p:cNvSpPr>
          <p:nvPr/>
        </p:nvSpPr>
        <p:spPr>
          <a:xfrm>
            <a:off x="7249555" y="3371598"/>
            <a:ext cx="4778672" cy="113046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dirty="0">
                <a:solidFill>
                  <a:srgbClr val="C00000"/>
                </a:solidFill>
              </a:rPr>
              <a:t>P-value indicating whether the means of the two groups in question are (honestly) significantly different.</a:t>
            </a:r>
            <a:endParaRPr lang="en-NZ" altLang="ja-JP" sz="1800" i="1" dirty="0">
              <a:solidFill>
                <a:srgbClr val="C00000"/>
              </a:solidFill>
            </a:endParaRPr>
          </a:p>
        </p:txBody>
      </p:sp>
    </p:spTree>
    <p:extLst>
      <p:ext uri="{BB962C8B-B14F-4D97-AF65-F5344CB8AC3E}">
        <p14:creationId xmlns:p14="http://schemas.microsoft.com/office/powerpoint/2010/main" val="13408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0006DF80-D045-43F8-B8D6-BFC2AC4DBC5D}"/>
              </a:ext>
            </a:extLst>
          </p:cNvPr>
          <p:cNvSpPr txBox="1">
            <a:spLocks/>
          </p:cNvSpPr>
          <p:nvPr/>
        </p:nvSpPr>
        <p:spPr>
          <a:xfrm>
            <a:off x="409433" y="865507"/>
            <a:ext cx="10975074" cy="196756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An investigator wishes to study lung function in relation to smoking behaviour. People are classified into four categories (populations): </a:t>
            </a:r>
          </a:p>
          <a:p>
            <a:pPr algn="just">
              <a:lnSpc>
                <a:spcPct val="100000"/>
              </a:lnSpc>
            </a:pPr>
            <a:endParaRPr lang="en-NZ" altLang="ja-JP" sz="600" dirty="0">
              <a:solidFill>
                <a:srgbClr val="0070C0"/>
              </a:solidFill>
            </a:endParaRPr>
          </a:p>
          <a:p>
            <a:pPr marL="342900" indent="-342900" algn="ctr">
              <a:lnSpc>
                <a:spcPct val="100000"/>
              </a:lnSpc>
              <a:buAutoNum type="arabicPeriod"/>
            </a:pPr>
            <a:r>
              <a:rPr lang="en-NZ" altLang="ja-JP" sz="1800" dirty="0" err="1">
                <a:solidFill>
                  <a:srgbClr val="0070C0"/>
                </a:solidFill>
              </a:rPr>
              <a:t>Nonsmokers</a:t>
            </a:r>
            <a:r>
              <a:rPr lang="en-NZ" altLang="ja-JP" sz="1800" dirty="0">
                <a:solidFill>
                  <a:srgbClr val="0070C0"/>
                </a:solidFill>
              </a:rPr>
              <a:t>    	2.  Early smokers   	3.  Recent smokers     4.  Current smokers</a:t>
            </a:r>
          </a:p>
          <a:p>
            <a:pPr algn="ctr">
              <a:lnSpc>
                <a:spcPct val="100000"/>
              </a:lnSpc>
            </a:pPr>
            <a:endParaRPr lang="en-NZ" altLang="ja-JP" sz="600" dirty="0">
              <a:solidFill>
                <a:srgbClr val="0070C0"/>
              </a:solidFill>
            </a:endParaRPr>
          </a:p>
          <a:p>
            <a:pPr algn="just">
              <a:lnSpc>
                <a:spcPct val="100000"/>
              </a:lnSpc>
            </a:pPr>
            <a:r>
              <a:rPr lang="en-NZ" altLang="ja-JP" sz="1800" dirty="0">
                <a:solidFill>
                  <a:srgbClr val="0070C0"/>
                </a:solidFill>
              </a:rPr>
              <a:t>Samples of size 6 are drawn from each of these four populations and the lung function of each person is measured. The volume of air that can be forcibly expired in the first second of exhalation (referred to as FEV1) is the measure of lung function that is determined for each individual.</a:t>
            </a:r>
            <a:endParaRPr lang="en-US" altLang="ja-JP" sz="1800" dirty="0">
              <a:solidFill>
                <a:srgbClr val="0070C0"/>
              </a:solidFill>
            </a:endParaRPr>
          </a:p>
        </p:txBody>
      </p:sp>
      <p:sp>
        <p:nvSpPr>
          <p:cNvPr id="18" name="Slide Number Placeholder 3">
            <a:extLst>
              <a:ext uri="{FF2B5EF4-FFF2-40B4-BE49-F238E27FC236}">
                <a16:creationId xmlns:a16="http://schemas.microsoft.com/office/drawing/2014/main" id="{6F5C8215-182F-473A-BCE1-8E79CADD92B8}"/>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50</a:t>
            </a:fld>
            <a:endParaRPr kumimoji="1" lang="ja-JP" altLang="en-US" dirty="0">
              <a:solidFill>
                <a:srgbClr val="575454">
                  <a:lumMod val="20000"/>
                  <a:lumOff val="80000"/>
                </a:srgbClr>
              </a:solidFill>
              <a:latin typeface="Coo Hew"/>
            </a:endParaRPr>
          </a:p>
        </p:txBody>
      </p:sp>
      <p:sp>
        <p:nvSpPr>
          <p:cNvPr id="10" name="Title 6">
            <a:extLst>
              <a:ext uri="{FF2B5EF4-FFF2-40B4-BE49-F238E27FC236}">
                <a16:creationId xmlns:a16="http://schemas.microsoft.com/office/drawing/2014/main" id="{6C3BAE98-AF00-4622-A76B-31ADCAC732AA}"/>
              </a:ext>
            </a:extLst>
          </p:cNvPr>
          <p:cNvSpPr txBox="1">
            <a:spLocks/>
          </p:cNvSpPr>
          <p:nvPr/>
        </p:nvSpPr>
        <p:spPr>
          <a:xfrm>
            <a:off x="251224" y="237833"/>
            <a:ext cx="9206675"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2.5b – Smoking Data Example:</a:t>
            </a:r>
            <a:endParaRPr lang="ja-JP" altLang="en-US" b="1" u="sng" dirty="0">
              <a:latin typeface="+mn-lt"/>
            </a:endParaRPr>
          </a:p>
        </p:txBody>
      </p:sp>
      <p:sp>
        <p:nvSpPr>
          <p:cNvPr id="11" name="Footer Placeholder 2">
            <a:extLst>
              <a:ext uri="{FF2B5EF4-FFF2-40B4-BE49-F238E27FC236}">
                <a16:creationId xmlns:a16="http://schemas.microsoft.com/office/drawing/2014/main" id="{99582063-C7F7-4FD5-98D0-662E13974815}"/>
              </a:ext>
            </a:extLst>
          </p:cNvPr>
          <p:cNvSpPr txBox="1">
            <a:spLocks/>
          </p:cNvSpPr>
          <p:nvPr/>
        </p:nvSpPr>
        <p:spPr>
          <a:xfrm>
            <a:off x="8802806" y="86139"/>
            <a:ext cx="3286559"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2.5 – Computational Examples</a:t>
            </a:r>
            <a:endParaRPr kumimoji="1" lang="ja-JP" altLang="en-US" sz="1600" dirty="0">
              <a:solidFill>
                <a:srgbClr val="DEDDDD"/>
              </a:solidFill>
              <a:latin typeface="Gidole"/>
            </a:endParaRPr>
          </a:p>
        </p:txBody>
      </p:sp>
      <p:sp>
        <p:nvSpPr>
          <p:cNvPr id="12" name="Text Placeholder 5">
            <a:extLst>
              <a:ext uri="{FF2B5EF4-FFF2-40B4-BE49-F238E27FC236}">
                <a16:creationId xmlns:a16="http://schemas.microsoft.com/office/drawing/2014/main" id="{74B00F12-81CA-4C21-8561-E5E7397B758E}"/>
              </a:ext>
            </a:extLst>
          </p:cNvPr>
          <p:cNvSpPr txBox="1">
            <a:spLocks/>
          </p:cNvSpPr>
          <p:nvPr/>
        </p:nvSpPr>
        <p:spPr>
          <a:xfrm>
            <a:off x="7493759" y="4060026"/>
            <a:ext cx="3373271" cy="6166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rgbClr val="0070C0"/>
                </a:solidFill>
              </a:rPr>
              <a:t>Do the mean FEV1 values differ between groups?</a:t>
            </a:r>
            <a:endParaRPr lang="en-US" altLang="ja-JP" sz="1800" dirty="0">
              <a:solidFill>
                <a:srgbClr val="0070C0"/>
              </a:solidFill>
            </a:endParaRPr>
          </a:p>
        </p:txBody>
      </p:sp>
      <p:sp>
        <p:nvSpPr>
          <p:cNvPr id="13" name="Text Placeholder 5">
            <a:extLst>
              <a:ext uri="{FF2B5EF4-FFF2-40B4-BE49-F238E27FC236}">
                <a16:creationId xmlns:a16="http://schemas.microsoft.com/office/drawing/2014/main" id="{052898E9-8B30-4258-BD73-86BCD9101346}"/>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a:t>
            </a:r>
            <a:r>
              <a:rPr lang="en-NZ" altLang="ja-JP" sz="1200" dirty="0">
                <a:solidFill>
                  <a:srgbClr val="C00000"/>
                </a:solidFill>
              </a:rPr>
              <a:t>2.5b - Smoking Data (ANOVA Example))</a:t>
            </a:r>
            <a:endParaRPr lang="en-US" altLang="ja-JP" sz="1200" b="1" i="1" dirty="0">
              <a:solidFill>
                <a:srgbClr val="C00000"/>
              </a:solidFill>
            </a:endParaRPr>
          </a:p>
        </p:txBody>
      </p:sp>
      <p:graphicFrame>
        <p:nvGraphicFramePr>
          <p:cNvPr id="2" name="Table 1">
            <a:extLst>
              <a:ext uri="{FF2B5EF4-FFF2-40B4-BE49-F238E27FC236}">
                <a16:creationId xmlns:a16="http://schemas.microsoft.com/office/drawing/2014/main" id="{8D6EEA7E-CD28-4FDC-A45A-2FBF0A2F1C8C}"/>
              </a:ext>
            </a:extLst>
          </p:cNvPr>
          <p:cNvGraphicFramePr>
            <a:graphicFrameLocks noGrp="1"/>
          </p:cNvGraphicFramePr>
          <p:nvPr>
            <p:extLst>
              <p:ext uri="{D42A27DB-BD31-4B8C-83A1-F6EECF244321}">
                <p14:modId xmlns:p14="http://schemas.microsoft.com/office/powerpoint/2010/main" val="1844012354"/>
              </p:ext>
            </p:extLst>
          </p:nvPr>
        </p:nvGraphicFramePr>
        <p:xfrm>
          <a:off x="807493" y="3094376"/>
          <a:ext cx="6387625" cy="2848113"/>
        </p:xfrm>
        <a:graphic>
          <a:graphicData uri="http://schemas.openxmlformats.org/drawingml/2006/table">
            <a:tbl>
              <a:tblPr/>
              <a:tblGrid>
                <a:gridCol w="1068027">
                  <a:extLst>
                    <a:ext uri="{9D8B030D-6E8A-4147-A177-3AD203B41FA5}">
                      <a16:colId xmlns:a16="http://schemas.microsoft.com/office/drawing/2014/main" val="3955658063"/>
                    </a:ext>
                  </a:extLst>
                </a:gridCol>
                <a:gridCol w="1314495">
                  <a:extLst>
                    <a:ext uri="{9D8B030D-6E8A-4147-A177-3AD203B41FA5}">
                      <a16:colId xmlns:a16="http://schemas.microsoft.com/office/drawing/2014/main" val="3289214135"/>
                    </a:ext>
                  </a:extLst>
                </a:gridCol>
                <a:gridCol w="1437729">
                  <a:extLst>
                    <a:ext uri="{9D8B030D-6E8A-4147-A177-3AD203B41FA5}">
                      <a16:colId xmlns:a16="http://schemas.microsoft.com/office/drawing/2014/main" val="2607889555"/>
                    </a:ext>
                  </a:extLst>
                </a:gridCol>
                <a:gridCol w="1643119">
                  <a:extLst>
                    <a:ext uri="{9D8B030D-6E8A-4147-A177-3AD203B41FA5}">
                      <a16:colId xmlns:a16="http://schemas.microsoft.com/office/drawing/2014/main" val="1890987737"/>
                    </a:ext>
                  </a:extLst>
                </a:gridCol>
                <a:gridCol w="924255">
                  <a:extLst>
                    <a:ext uri="{9D8B030D-6E8A-4147-A177-3AD203B41FA5}">
                      <a16:colId xmlns:a16="http://schemas.microsoft.com/office/drawing/2014/main" val="3015973626"/>
                    </a:ext>
                  </a:extLst>
                </a:gridCol>
              </a:tblGrid>
              <a:tr h="701943">
                <a:tc>
                  <a:txBody>
                    <a:bodyPr/>
                    <a:lstStyle/>
                    <a:p>
                      <a:pPr algn="ctr" fontAlgn="ctr"/>
                      <a:r>
                        <a:rPr lang="en-NZ" sz="1600" b="1" i="0" u="none" strike="noStrike">
                          <a:solidFill>
                            <a:srgbClr val="FFFFFF"/>
                          </a:solidFill>
                          <a:effectLst/>
                          <a:latin typeface="Calibri" panose="020F0502020204030204" pitchFamily="34" charset="0"/>
                        </a:rPr>
                        <a:t>Individual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Nonsmokers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Early smokers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Recent smokers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600" b="1" i="0" u="none" strike="noStrike">
                          <a:solidFill>
                            <a:srgbClr val="FFFFFF"/>
                          </a:solidFill>
                          <a:effectLst/>
                          <a:latin typeface="Calibri" panose="020F0502020204030204" pitchFamily="34" charset="0"/>
                        </a:rPr>
                        <a:t>Smokers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672498908"/>
                  </a:ext>
                </a:extLst>
              </a:tr>
              <a:tr h="357695">
                <a:tc>
                  <a:txBody>
                    <a:bodyPr/>
                    <a:lstStyle/>
                    <a:p>
                      <a:pPr algn="ctr" fontAlgn="ctr"/>
                      <a:r>
                        <a:rPr lang="en-NZ" sz="16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3.54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99946183"/>
                  </a:ext>
                </a:extLst>
              </a:tr>
              <a:tr h="357695">
                <a:tc>
                  <a:txBody>
                    <a:bodyPr/>
                    <a:lstStyle/>
                    <a:p>
                      <a:pPr algn="ctr" fontAlgn="ctr"/>
                      <a:r>
                        <a:rPr lang="en-NZ" sz="16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99924983"/>
                  </a:ext>
                </a:extLst>
              </a:tr>
              <a:tr h="357695">
                <a:tc>
                  <a:txBody>
                    <a:bodyPr/>
                    <a:lstStyle/>
                    <a:p>
                      <a:pPr algn="ctr" fontAlgn="ctr"/>
                      <a:r>
                        <a:rPr lang="en-NZ" sz="16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77210121"/>
                  </a:ext>
                </a:extLst>
              </a:tr>
              <a:tr h="357695">
                <a:tc>
                  <a:txBody>
                    <a:bodyPr/>
                    <a:lstStyle/>
                    <a:p>
                      <a:pPr algn="ctr" fontAlgn="ctr"/>
                      <a:r>
                        <a:rPr lang="en-NZ" sz="16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2.28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50175278"/>
                  </a:ext>
                </a:extLst>
              </a:tr>
              <a:tr h="357695">
                <a:tc>
                  <a:txBody>
                    <a:bodyPr/>
                    <a:lstStyle/>
                    <a:p>
                      <a:pPr algn="ctr" fontAlgn="ctr"/>
                      <a:r>
                        <a:rPr lang="en-NZ" sz="16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4.68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246044422"/>
                  </a:ext>
                </a:extLst>
              </a:tr>
              <a:tr h="357695">
                <a:tc>
                  <a:txBody>
                    <a:bodyPr/>
                    <a:lstStyle/>
                    <a:p>
                      <a:pPr algn="ctr" fontAlgn="ctr"/>
                      <a:r>
                        <a:rPr lang="en-NZ" sz="16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4.38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a:solidFill>
                            <a:srgbClr val="000000"/>
                          </a:solidFill>
                          <a:effectLst/>
                          <a:latin typeface="Calibri" panose="020F0502020204030204" pitchFamily="34" charset="0"/>
                        </a:rPr>
                        <a:t>3.92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600" b="0" i="0" u="none" strike="noStrike" dirty="0">
                          <a:solidFill>
                            <a:srgbClr val="000000"/>
                          </a:solidFill>
                          <a:effectLst/>
                          <a:latin typeface="Calibri" panose="020F0502020204030204" pitchFamily="34" charset="0"/>
                        </a:rPr>
                        <a:t>3.86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69504030"/>
                  </a:ext>
                </a:extLst>
              </a:tr>
            </a:tbl>
          </a:graphicData>
        </a:graphic>
      </p:graphicFrame>
    </p:spTree>
    <p:extLst>
      <p:ext uri="{BB962C8B-B14F-4D97-AF65-F5344CB8AC3E}">
        <p14:creationId xmlns:p14="http://schemas.microsoft.com/office/powerpoint/2010/main" val="2613777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2963</TotalTime>
  <Words>6430</Words>
  <Application>Microsoft Office PowerPoint</Application>
  <PresentationFormat>Widescreen</PresentationFormat>
  <Paragraphs>1345</Paragraphs>
  <Slides>50</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Calibri Light</vt:lpstr>
      <vt:lpstr>Cambria Math</vt:lpstr>
      <vt:lpstr>Coo Hew</vt:lpstr>
      <vt:lpstr>Gidole</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38</cp:revision>
  <dcterms:created xsi:type="dcterms:W3CDTF">2022-04-18T01:04:18Z</dcterms:created>
  <dcterms:modified xsi:type="dcterms:W3CDTF">2022-07-21T13:46:00Z</dcterms:modified>
</cp:coreProperties>
</file>